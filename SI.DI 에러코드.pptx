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Default Extension="xls" ContentType="application/vnd.ms-exce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5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BCD42-BC8F-4F88-9F77-C7830124320B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32C402-02F6-4345-B9D9-18872BA0424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5D455E-1926-42CF-AE2B-C9893B7CF9B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D9652-BB4B-44AF-ABDA-2D4F71C524F6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07B6B2-443E-428A-9F04-3184ACC05E9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95690B-19E6-4B11-A133-E90555B3A6B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D6CC0-EBD6-43D4-A003-D63546A79E1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6AC727-0385-4478-99E6-D0872C612FB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03529B-315D-4B48-A3B1-BB2F4A78FBF0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CD2FE-BED2-49C5-85BD-97B27EDBE3E6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07362C-0C5B-48E3-AE7A-0A0013A57B5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유형을 편집하려면 누르십시오</a:t>
            </a:r>
            <a:r>
              <a:rPr lang="en-US" altLang="ko-KR" smtClean="0"/>
              <a:t>.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문자열 유형을 편집하려면 누르십시오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세째 수준</a:t>
            </a:r>
          </a:p>
          <a:p>
            <a:pPr lvl="3"/>
            <a:r>
              <a:rPr lang="ko-KR" altLang="en-US" smtClean="0"/>
              <a:t>네째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7FE23C7-7B3C-4797-A7A5-AFCAD314E879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____1.xls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5413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5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22838" y="26670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234363" y="457200"/>
            <a:ext cx="833437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ER_SW_WDT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422275" y="838200"/>
            <a:ext cx="4232275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주기적으로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Task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들을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check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발생하였는지 감시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39700" y="1905000"/>
            <a:ext cx="47371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Software(S/W)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내에서 주기적으로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Task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들을 감시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하나의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Task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라도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실행하지 못하는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S/W Watchdog 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현재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Sigma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엘리베이터 운전제어 프로그램은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개의 타스크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(Task)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구성되어 있는데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이러한 각각의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Task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대해서 아래와 같이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유무를 검사한다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Error_Counter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값은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0(zero)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set)</a:t>
            </a:r>
          </a:p>
        </p:txBody>
      </p:sp>
      <p:graphicFrame>
        <p:nvGraphicFramePr>
          <p:cNvPr id="2069" name="Object 21"/>
          <p:cNvGraphicFramePr>
            <a:graphicFrameLocks/>
          </p:cNvGraphicFramePr>
          <p:nvPr/>
        </p:nvGraphicFramePr>
        <p:xfrm>
          <a:off x="1371600" y="3124200"/>
          <a:ext cx="1900238" cy="3365500"/>
        </p:xfrm>
        <a:graphic>
          <a:graphicData uri="http://schemas.openxmlformats.org/presentationml/2006/ole">
            <p:oleObj spid="_x0000_s2069" name="VISIO" r:id="rId3" imgW="2449440" imgH="4338360" progId="Visio.Drawing.4">
              <p:embed/>
            </p:oleObj>
          </a:graphicData>
        </a:graphic>
      </p:graphicFrame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4922838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4994275" y="1066800"/>
            <a:ext cx="4010025" cy="98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278" tIns="43640" rIns="87278" bIns="43640">
            <a:spAutoFit/>
          </a:bodyPr>
          <a:lstStyle/>
          <a:p>
            <a:pPr defTabSz="873125"/>
            <a:r>
              <a:rPr lang="en-US" altLang="ko-KR" sz="900">
                <a:latin typeface="Arial" charset="0"/>
                <a:ea typeface="굴림체" pitchFamily="49" charset="-127"/>
              </a:rPr>
              <a:t>1. DOC-1xx B/D</a:t>
            </a:r>
            <a:r>
              <a:rPr lang="ko-KR" altLang="en-US" sz="9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900">
                <a:latin typeface="Arial" charset="0"/>
                <a:ea typeface="굴림체" pitchFamily="49" charset="-127"/>
              </a:rPr>
              <a:t>SYS1 LED(</a:t>
            </a:r>
            <a:r>
              <a:rPr lang="ko-KR" altLang="en-US" sz="900">
                <a:latin typeface="Arial" charset="0"/>
                <a:ea typeface="굴림체" pitchFamily="49" charset="-127"/>
              </a:rPr>
              <a:t>녹색</a:t>
            </a:r>
            <a:r>
              <a:rPr lang="en-US" altLang="ko-KR" sz="900">
                <a:latin typeface="Arial" charset="0"/>
                <a:ea typeface="굴림체" pitchFamily="49" charset="-127"/>
              </a:rPr>
              <a:t>) </a:t>
            </a:r>
            <a:r>
              <a:rPr lang="ko-KR" altLang="en-US" sz="900">
                <a:latin typeface="Arial" charset="0"/>
                <a:ea typeface="굴림체" pitchFamily="49" charset="-127"/>
              </a:rPr>
              <a:t>점등 또는 소등 </a:t>
            </a:r>
            <a:r>
              <a:rPr lang="en-US" altLang="ko-KR" sz="900">
                <a:latin typeface="Arial" charset="0"/>
                <a:ea typeface="굴림체" pitchFamily="49" charset="-127"/>
              </a:rPr>
              <a:t>(</a:t>
            </a:r>
            <a:r>
              <a:rPr lang="ko-KR" altLang="en-US" sz="900">
                <a:latin typeface="Arial" charset="0"/>
                <a:ea typeface="굴림체" pitchFamily="49" charset="-127"/>
              </a:rPr>
              <a:t>정상 시 점멸</a:t>
            </a:r>
            <a:r>
              <a:rPr lang="en-US" altLang="ko-KR" sz="900">
                <a:latin typeface="Arial" charset="0"/>
                <a:ea typeface="굴림체" pitchFamily="49" charset="-127"/>
              </a:rPr>
              <a:t>)</a:t>
            </a:r>
          </a:p>
          <a:p>
            <a:pPr defTabSz="873125"/>
            <a:r>
              <a:rPr lang="en-US" altLang="ko-KR" sz="900">
                <a:latin typeface="Arial" charset="0"/>
                <a:ea typeface="굴림체" pitchFamily="49" charset="-127"/>
              </a:rPr>
              <a:t>2.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Software Watchdog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발생할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사실은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74HC4538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칩</a:t>
            </a:r>
          </a:p>
          <a:p>
            <a:pPr defTabSz="873125"/>
            <a:r>
              <a:rPr lang="ko-KR" altLang="en-US" sz="1000">
                <a:latin typeface="Arial" charset="0"/>
                <a:ea typeface="굴림체" pitchFamily="49" charset="-127"/>
              </a:rPr>
              <a:t>   으로 전달됨과 동시에 속도 제어부에서 감지하게 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제어 프로그램은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S/W Watchdog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Table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   등록하고  속도 제어부에서는 자동적으로 운전 제어 프로그램을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   리셋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(reset)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4994275" y="2897188"/>
            <a:ext cx="4081463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외부결선과 무관한 현상임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2. SMPS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출력단 전압 체크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(5</a:t>
            </a:r>
            <a:r>
              <a:rPr lang="en-US" altLang="ko-KR" sz="1000">
                <a:ea typeface="바탕체" pitchFamily="17" charset="-127"/>
              </a:rPr>
              <a:t>±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0.1V)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SMPS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3. 2~3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계속 발생시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교환한다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5413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6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ER_MEM_ALLOC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22275" y="838200"/>
            <a:ext cx="4232275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System Memory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할당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211138" y="1905000"/>
            <a:ext cx="464185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S/W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내에서 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Task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들을 생성할 때나 인터럽트 등록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큐 등록 등에서 사용할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Memory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할당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92125" y="2743200"/>
            <a:ext cx="3252788" cy="3459163"/>
            <a:chOff x="363" y="1544"/>
            <a:chExt cx="2219" cy="2179"/>
          </a:xfrm>
        </p:grpSpPr>
        <p:sp>
          <p:nvSpPr>
            <p:cNvPr id="2069" name="Freeform 21"/>
            <p:cNvSpPr>
              <a:spLocks/>
            </p:cNvSpPr>
            <p:nvPr/>
          </p:nvSpPr>
          <p:spPr bwMode="auto">
            <a:xfrm>
              <a:off x="1392" y="2016"/>
              <a:ext cx="825" cy="228"/>
            </a:xfrm>
            <a:custGeom>
              <a:avLst/>
              <a:gdLst/>
              <a:ahLst/>
              <a:cxnLst>
                <a:cxn ang="0">
                  <a:pos x="193" y="456"/>
                </a:cxn>
                <a:cxn ang="0">
                  <a:pos x="1327" y="456"/>
                </a:cxn>
                <a:cxn ang="0">
                  <a:pos x="1521" y="228"/>
                </a:cxn>
                <a:cxn ang="0">
                  <a:pos x="1327" y="0"/>
                </a:cxn>
                <a:cxn ang="0">
                  <a:pos x="193" y="0"/>
                </a:cxn>
                <a:cxn ang="0">
                  <a:pos x="0" y="228"/>
                </a:cxn>
                <a:cxn ang="0">
                  <a:pos x="193" y="456"/>
                </a:cxn>
              </a:cxnLst>
              <a:rect l="0" t="0" r="r" b="b"/>
              <a:pathLst>
                <a:path w="1521" h="456">
                  <a:moveTo>
                    <a:pt x="193" y="456"/>
                  </a:moveTo>
                  <a:lnTo>
                    <a:pt x="1327" y="456"/>
                  </a:lnTo>
                  <a:lnTo>
                    <a:pt x="1521" y="228"/>
                  </a:lnTo>
                  <a:lnTo>
                    <a:pt x="1327" y="0"/>
                  </a:lnTo>
                  <a:lnTo>
                    <a:pt x="193" y="0"/>
                  </a:lnTo>
                  <a:lnTo>
                    <a:pt x="0" y="228"/>
                  </a:lnTo>
                  <a:lnTo>
                    <a:pt x="193" y="456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1507" y="2053"/>
              <a:ext cx="570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메모리 풀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(pool) 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생성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1" name="Rectangle 23"/>
            <p:cNvSpPr>
              <a:spLocks noChangeArrowheads="1"/>
            </p:cNvSpPr>
            <p:nvPr/>
          </p:nvSpPr>
          <p:spPr bwMode="auto">
            <a:xfrm>
              <a:off x="1711" y="2117"/>
              <a:ext cx="172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실패 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?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2" name="Rectangle 24"/>
            <p:cNvSpPr>
              <a:spLocks noChangeArrowheads="1"/>
            </p:cNvSpPr>
            <p:nvPr/>
          </p:nvSpPr>
          <p:spPr bwMode="auto">
            <a:xfrm>
              <a:off x="1219" y="2458"/>
              <a:ext cx="1154" cy="304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3" name="Rectangle 25"/>
            <p:cNvSpPr>
              <a:spLocks noChangeArrowheads="1"/>
            </p:cNvSpPr>
            <p:nvPr/>
          </p:nvSpPr>
          <p:spPr bwMode="auto">
            <a:xfrm>
              <a:off x="1301" y="2516"/>
              <a:ext cx="985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메모리 풀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(pool)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에서 타스크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(Task)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나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4" name="Rectangle 26"/>
            <p:cNvSpPr>
              <a:spLocks noChangeArrowheads="1"/>
            </p:cNvSpPr>
            <p:nvPr/>
          </p:nvSpPr>
          <p:spPr bwMode="auto">
            <a:xfrm>
              <a:off x="1308" y="2580"/>
              <a:ext cx="964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인터럽트 핸들러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(Interrupt handler), 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5" name="Rectangle 27"/>
            <p:cNvSpPr>
              <a:spLocks noChangeArrowheads="1"/>
            </p:cNvSpPr>
            <p:nvPr/>
          </p:nvSpPr>
          <p:spPr bwMode="auto">
            <a:xfrm>
              <a:off x="1295" y="2644"/>
              <a:ext cx="102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큐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(Queue) 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등에서 사용할 메모리 할당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1795" y="2229"/>
              <a:ext cx="1" cy="2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7" name="Freeform 29"/>
            <p:cNvSpPr>
              <a:spLocks/>
            </p:cNvSpPr>
            <p:nvPr/>
          </p:nvSpPr>
          <p:spPr bwMode="auto">
            <a:xfrm>
              <a:off x="1779" y="2428"/>
              <a:ext cx="32" cy="30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30" y="60"/>
                </a:cxn>
                <a:cxn ang="0">
                  <a:pos x="0" y="0"/>
                </a:cxn>
                <a:cxn ang="0">
                  <a:pos x="59" y="0"/>
                </a:cxn>
              </a:cxnLst>
              <a:rect l="0" t="0" r="r" b="b"/>
              <a:pathLst>
                <a:path w="59" h="60">
                  <a:moveTo>
                    <a:pt x="59" y="0"/>
                  </a:moveTo>
                  <a:lnTo>
                    <a:pt x="30" y="60"/>
                  </a:lnTo>
                  <a:lnTo>
                    <a:pt x="0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759" y="2314"/>
              <a:ext cx="73" cy="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9" name="Rectangle 31"/>
            <p:cNvSpPr>
              <a:spLocks noChangeArrowheads="1"/>
            </p:cNvSpPr>
            <p:nvPr/>
          </p:nvSpPr>
          <p:spPr bwMode="auto">
            <a:xfrm>
              <a:off x="1764" y="2320"/>
              <a:ext cx="45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No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0" name="Freeform 32"/>
            <p:cNvSpPr>
              <a:spLocks/>
            </p:cNvSpPr>
            <p:nvPr/>
          </p:nvSpPr>
          <p:spPr bwMode="auto">
            <a:xfrm>
              <a:off x="1383" y="2990"/>
              <a:ext cx="825" cy="229"/>
            </a:xfrm>
            <a:custGeom>
              <a:avLst/>
              <a:gdLst/>
              <a:ahLst/>
              <a:cxnLst>
                <a:cxn ang="0">
                  <a:pos x="193" y="457"/>
                </a:cxn>
                <a:cxn ang="0">
                  <a:pos x="1327" y="457"/>
                </a:cxn>
                <a:cxn ang="0">
                  <a:pos x="1521" y="229"/>
                </a:cxn>
                <a:cxn ang="0">
                  <a:pos x="1327" y="0"/>
                </a:cxn>
                <a:cxn ang="0">
                  <a:pos x="193" y="0"/>
                </a:cxn>
                <a:cxn ang="0">
                  <a:pos x="0" y="229"/>
                </a:cxn>
                <a:cxn ang="0">
                  <a:pos x="193" y="457"/>
                </a:cxn>
              </a:cxnLst>
              <a:rect l="0" t="0" r="r" b="b"/>
              <a:pathLst>
                <a:path w="1521" h="457">
                  <a:moveTo>
                    <a:pt x="193" y="457"/>
                  </a:moveTo>
                  <a:lnTo>
                    <a:pt x="1327" y="457"/>
                  </a:lnTo>
                  <a:lnTo>
                    <a:pt x="1521" y="229"/>
                  </a:lnTo>
                  <a:lnTo>
                    <a:pt x="1327" y="0"/>
                  </a:lnTo>
                  <a:lnTo>
                    <a:pt x="193" y="0"/>
                  </a:lnTo>
                  <a:lnTo>
                    <a:pt x="0" y="229"/>
                  </a:lnTo>
                  <a:lnTo>
                    <a:pt x="193" y="457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1" name="Rectangle 33"/>
            <p:cNvSpPr>
              <a:spLocks noChangeArrowheads="1"/>
            </p:cNvSpPr>
            <p:nvPr/>
          </p:nvSpPr>
          <p:spPr bwMode="auto">
            <a:xfrm>
              <a:off x="1547" y="3075"/>
              <a:ext cx="510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메모리 할당 실패 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?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1795" y="3219"/>
              <a:ext cx="1" cy="2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3" name="Freeform 35"/>
            <p:cNvSpPr>
              <a:spLocks/>
            </p:cNvSpPr>
            <p:nvPr/>
          </p:nvSpPr>
          <p:spPr bwMode="auto">
            <a:xfrm>
              <a:off x="1779" y="3417"/>
              <a:ext cx="32" cy="30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59" y="0"/>
                </a:cxn>
              </a:cxnLst>
              <a:rect l="0" t="0" r="r" b="b"/>
              <a:pathLst>
                <a:path w="59" h="59">
                  <a:moveTo>
                    <a:pt x="59" y="0"/>
                  </a:moveTo>
                  <a:lnTo>
                    <a:pt x="30" y="59"/>
                  </a:lnTo>
                  <a:lnTo>
                    <a:pt x="0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4" name="Rectangle 36"/>
            <p:cNvSpPr>
              <a:spLocks noChangeArrowheads="1"/>
            </p:cNvSpPr>
            <p:nvPr/>
          </p:nvSpPr>
          <p:spPr bwMode="auto">
            <a:xfrm>
              <a:off x="1751" y="3303"/>
              <a:ext cx="90" cy="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1755" y="3308"/>
              <a:ext cx="59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Yes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6" name="Line 38"/>
            <p:cNvSpPr>
              <a:spLocks noChangeShapeType="1"/>
            </p:cNvSpPr>
            <p:nvPr/>
          </p:nvSpPr>
          <p:spPr bwMode="auto">
            <a:xfrm>
              <a:off x="1795" y="2762"/>
              <a:ext cx="1" cy="2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7" name="Freeform 39"/>
            <p:cNvSpPr>
              <a:spLocks/>
            </p:cNvSpPr>
            <p:nvPr/>
          </p:nvSpPr>
          <p:spPr bwMode="auto">
            <a:xfrm>
              <a:off x="1779" y="2960"/>
              <a:ext cx="32" cy="30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59" y="0"/>
                </a:cxn>
              </a:cxnLst>
              <a:rect l="0" t="0" r="r" b="b"/>
              <a:pathLst>
                <a:path w="59" h="59">
                  <a:moveTo>
                    <a:pt x="59" y="0"/>
                  </a:moveTo>
                  <a:lnTo>
                    <a:pt x="30" y="59"/>
                  </a:lnTo>
                  <a:lnTo>
                    <a:pt x="0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8" name="Freeform 40"/>
            <p:cNvSpPr>
              <a:spLocks/>
            </p:cNvSpPr>
            <p:nvPr/>
          </p:nvSpPr>
          <p:spPr bwMode="auto">
            <a:xfrm>
              <a:off x="1437" y="3495"/>
              <a:ext cx="823" cy="228"/>
            </a:xfrm>
            <a:custGeom>
              <a:avLst/>
              <a:gdLst/>
              <a:ahLst/>
              <a:cxnLst>
                <a:cxn ang="0">
                  <a:pos x="0" y="456"/>
                </a:cxn>
                <a:cxn ang="0">
                  <a:pos x="1521" y="456"/>
                </a:cxn>
                <a:cxn ang="0">
                  <a:pos x="1521" y="0"/>
                </a:cxn>
                <a:cxn ang="0">
                  <a:pos x="1425" y="0"/>
                </a:cxn>
                <a:cxn ang="0">
                  <a:pos x="1425" y="359"/>
                </a:cxn>
                <a:cxn ang="0">
                  <a:pos x="0" y="359"/>
                </a:cxn>
                <a:cxn ang="0">
                  <a:pos x="0" y="456"/>
                </a:cxn>
              </a:cxnLst>
              <a:rect l="0" t="0" r="r" b="b"/>
              <a:pathLst>
                <a:path w="1521" h="456">
                  <a:moveTo>
                    <a:pt x="0" y="456"/>
                  </a:moveTo>
                  <a:lnTo>
                    <a:pt x="1521" y="456"/>
                  </a:lnTo>
                  <a:lnTo>
                    <a:pt x="1521" y="0"/>
                  </a:lnTo>
                  <a:lnTo>
                    <a:pt x="1425" y="0"/>
                  </a:lnTo>
                  <a:lnTo>
                    <a:pt x="1425" y="359"/>
                  </a:lnTo>
                  <a:lnTo>
                    <a:pt x="0" y="359"/>
                  </a:lnTo>
                  <a:lnTo>
                    <a:pt x="0" y="45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9" name="Freeform 41"/>
            <p:cNvSpPr>
              <a:spLocks/>
            </p:cNvSpPr>
            <p:nvPr/>
          </p:nvSpPr>
          <p:spPr bwMode="auto">
            <a:xfrm>
              <a:off x="1437" y="3495"/>
              <a:ext cx="823" cy="228"/>
            </a:xfrm>
            <a:custGeom>
              <a:avLst/>
              <a:gdLst/>
              <a:ahLst/>
              <a:cxnLst>
                <a:cxn ang="0">
                  <a:pos x="0" y="456"/>
                </a:cxn>
                <a:cxn ang="0">
                  <a:pos x="1521" y="456"/>
                </a:cxn>
                <a:cxn ang="0">
                  <a:pos x="1521" y="0"/>
                </a:cxn>
                <a:cxn ang="0">
                  <a:pos x="1425" y="0"/>
                </a:cxn>
                <a:cxn ang="0">
                  <a:pos x="1425" y="359"/>
                </a:cxn>
                <a:cxn ang="0">
                  <a:pos x="0" y="359"/>
                </a:cxn>
              </a:cxnLst>
              <a:rect l="0" t="0" r="r" b="b"/>
              <a:pathLst>
                <a:path w="1521" h="456">
                  <a:moveTo>
                    <a:pt x="0" y="456"/>
                  </a:moveTo>
                  <a:lnTo>
                    <a:pt x="1521" y="456"/>
                  </a:lnTo>
                  <a:lnTo>
                    <a:pt x="1521" y="0"/>
                  </a:lnTo>
                  <a:lnTo>
                    <a:pt x="1425" y="0"/>
                  </a:lnTo>
                  <a:lnTo>
                    <a:pt x="1425" y="359"/>
                  </a:lnTo>
                  <a:lnTo>
                    <a:pt x="0" y="359"/>
                  </a:lnTo>
                </a:path>
              </a:pathLst>
            </a:custGeom>
            <a:noFill/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0" name="Rectangle 42"/>
            <p:cNvSpPr>
              <a:spLocks noChangeArrowheads="1"/>
            </p:cNvSpPr>
            <p:nvPr/>
          </p:nvSpPr>
          <p:spPr bwMode="auto">
            <a:xfrm>
              <a:off x="1383" y="3447"/>
              <a:ext cx="825" cy="228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1" name="Rectangle 43"/>
            <p:cNvSpPr>
              <a:spLocks noChangeArrowheads="1"/>
            </p:cNvSpPr>
            <p:nvPr/>
          </p:nvSpPr>
          <p:spPr bwMode="auto">
            <a:xfrm>
              <a:off x="1497" y="3531"/>
              <a:ext cx="612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메모리 할당 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Error 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발생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2" name="Rectangle 44"/>
            <p:cNvSpPr>
              <a:spLocks noChangeArrowheads="1"/>
            </p:cNvSpPr>
            <p:nvPr/>
          </p:nvSpPr>
          <p:spPr bwMode="auto">
            <a:xfrm>
              <a:off x="1383" y="1544"/>
              <a:ext cx="825" cy="229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3" name="Rectangle 45"/>
            <p:cNvSpPr>
              <a:spLocks noChangeArrowheads="1"/>
            </p:cNvSpPr>
            <p:nvPr/>
          </p:nvSpPr>
          <p:spPr bwMode="auto">
            <a:xfrm>
              <a:off x="1554" y="1597"/>
              <a:ext cx="503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시스템에서 사용할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4" name="Rectangle 46"/>
            <p:cNvSpPr>
              <a:spLocks noChangeArrowheads="1"/>
            </p:cNvSpPr>
            <p:nvPr/>
          </p:nvSpPr>
          <p:spPr bwMode="auto">
            <a:xfrm>
              <a:off x="1517" y="1661"/>
              <a:ext cx="554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메모리 풀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(pool) 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생성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5" name="Line 47"/>
            <p:cNvSpPr>
              <a:spLocks noChangeShapeType="1"/>
            </p:cNvSpPr>
            <p:nvPr/>
          </p:nvSpPr>
          <p:spPr bwMode="auto">
            <a:xfrm>
              <a:off x="1795" y="1773"/>
              <a:ext cx="1" cy="2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6" name="Freeform 48"/>
            <p:cNvSpPr>
              <a:spLocks/>
            </p:cNvSpPr>
            <p:nvPr/>
          </p:nvSpPr>
          <p:spPr bwMode="auto">
            <a:xfrm>
              <a:off x="1779" y="1971"/>
              <a:ext cx="32" cy="30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30" y="59"/>
                </a:cxn>
                <a:cxn ang="0">
                  <a:pos x="0" y="0"/>
                </a:cxn>
                <a:cxn ang="0">
                  <a:pos x="59" y="0"/>
                </a:cxn>
              </a:cxnLst>
              <a:rect l="0" t="0" r="r" b="b"/>
              <a:pathLst>
                <a:path w="59" h="59">
                  <a:moveTo>
                    <a:pt x="59" y="0"/>
                  </a:moveTo>
                  <a:lnTo>
                    <a:pt x="30" y="59"/>
                  </a:lnTo>
                  <a:lnTo>
                    <a:pt x="0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7" name="Freeform 49"/>
            <p:cNvSpPr>
              <a:spLocks/>
            </p:cNvSpPr>
            <p:nvPr/>
          </p:nvSpPr>
          <p:spPr bwMode="auto">
            <a:xfrm>
              <a:off x="1823" y="2115"/>
              <a:ext cx="714" cy="1256"/>
            </a:xfrm>
            <a:custGeom>
              <a:avLst/>
              <a:gdLst/>
              <a:ahLst/>
              <a:cxnLst>
                <a:cxn ang="0">
                  <a:pos x="710" y="0"/>
                </a:cxn>
                <a:cxn ang="0">
                  <a:pos x="1317" y="0"/>
                </a:cxn>
                <a:cxn ang="0">
                  <a:pos x="1317" y="1256"/>
                </a:cxn>
                <a:cxn ang="0">
                  <a:pos x="1317" y="2511"/>
                </a:cxn>
                <a:cxn ang="0">
                  <a:pos x="0" y="2511"/>
                </a:cxn>
              </a:cxnLst>
              <a:rect l="0" t="0" r="r" b="b"/>
              <a:pathLst>
                <a:path w="1317" h="2511">
                  <a:moveTo>
                    <a:pt x="710" y="0"/>
                  </a:moveTo>
                  <a:lnTo>
                    <a:pt x="1317" y="0"/>
                  </a:lnTo>
                  <a:lnTo>
                    <a:pt x="1317" y="1256"/>
                  </a:lnTo>
                  <a:lnTo>
                    <a:pt x="1317" y="2511"/>
                  </a:lnTo>
                  <a:lnTo>
                    <a:pt x="0" y="2511"/>
                  </a:lnTo>
                </a:path>
              </a:pathLst>
            </a:custGeom>
            <a:noFill/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8" name="Freeform 50"/>
            <p:cNvSpPr>
              <a:spLocks/>
            </p:cNvSpPr>
            <p:nvPr/>
          </p:nvSpPr>
          <p:spPr bwMode="auto">
            <a:xfrm>
              <a:off x="1795" y="3356"/>
              <a:ext cx="33" cy="29"/>
            </a:xfrm>
            <a:custGeom>
              <a:avLst/>
              <a:gdLst/>
              <a:ahLst/>
              <a:cxnLst>
                <a:cxn ang="0">
                  <a:pos x="59" y="59"/>
                </a:cxn>
                <a:cxn ang="0">
                  <a:pos x="0" y="29"/>
                </a:cxn>
                <a:cxn ang="0">
                  <a:pos x="59" y="0"/>
                </a:cxn>
                <a:cxn ang="0">
                  <a:pos x="59" y="59"/>
                </a:cxn>
              </a:cxnLst>
              <a:rect l="0" t="0" r="r" b="b"/>
              <a:pathLst>
                <a:path w="59" h="59">
                  <a:moveTo>
                    <a:pt x="59" y="59"/>
                  </a:moveTo>
                  <a:lnTo>
                    <a:pt x="0" y="29"/>
                  </a:lnTo>
                  <a:lnTo>
                    <a:pt x="59" y="0"/>
                  </a:lnTo>
                  <a:lnTo>
                    <a:pt x="59" y="59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9" name="Rectangle 51"/>
            <p:cNvSpPr>
              <a:spLocks noChangeArrowheads="1"/>
            </p:cNvSpPr>
            <p:nvPr/>
          </p:nvSpPr>
          <p:spPr bwMode="auto">
            <a:xfrm>
              <a:off x="2492" y="2428"/>
              <a:ext cx="90" cy="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0" name="Rectangle 52"/>
            <p:cNvSpPr>
              <a:spLocks noChangeArrowheads="1"/>
            </p:cNvSpPr>
            <p:nvPr/>
          </p:nvSpPr>
          <p:spPr bwMode="auto">
            <a:xfrm>
              <a:off x="2496" y="2434"/>
              <a:ext cx="60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Yes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1" name="Rectangle 53"/>
            <p:cNvSpPr>
              <a:spLocks noChangeArrowheads="1"/>
            </p:cNvSpPr>
            <p:nvPr/>
          </p:nvSpPr>
          <p:spPr bwMode="auto">
            <a:xfrm>
              <a:off x="505" y="3271"/>
              <a:ext cx="537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프로그램 다음 단계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707" y="3335"/>
              <a:ext cx="122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수행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3" name="Freeform 55"/>
            <p:cNvSpPr>
              <a:spLocks/>
            </p:cNvSpPr>
            <p:nvPr/>
          </p:nvSpPr>
          <p:spPr bwMode="auto">
            <a:xfrm>
              <a:off x="766" y="3105"/>
              <a:ext cx="617" cy="83"/>
            </a:xfrm>
            <a:custGeom>
              <a:avLst/>
              <a:gdLst/>
              <a:ahLst/>
              <a:cxnLst>
                <a:cxn ang="0">
                  <a:pos x="1141" y="0"/>
                </a:cxn>
                <a:cxn ang="0">
                  <a:pos x="0" y="0"/>
                </a:cxn>
                <a:cxn ang="0">
                  <a:pos x="0" y="168"/>
                </a:cxn>
              </a:cxnLst>
              <a:rect l="0" t="0" r="r" b="b"/>
              <a:pathLst>
                <a:path w="1141" h="168">
                  <a:moveTo>
                    <a:pt x="1141" y="0"/>
                  </a:moveTo>
                  <a:lnTo>
                    <a:pt x="0" y="0"/>
                  </a:lnTo>
                  <a:lnTo>
                    <a:pt x="0" y="168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4" name="Rectangle 56"/>
            <p:cNvSpPr>
              <a:spLocks noChangeArrowheads="1"/>
            </p:cNvSpPr>
            <p:nvPr/>
          </p:nvSpPr>
          <p:spPr bwMode="auto">
            <a:xfrm>
              <a:off x="1039" y="3075"/>
              <a:ext cx="73" cy="5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5" name="Rectangle 57"/>
            <p:cNvSpPr>
              <a:spLocks noChangeArrowheads="1"/>
            </p:cNvSpPr>
            <p:nvPr/>
          </p:nvSpPr>
          <p:spPr bwMode="auto">
            <a:xfrm>
              <a:off x="1043" y="3080"/>
              <a:ext cx="45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No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6" name="Freeform 58"/>
            <p:cNvSpPr>
              <a:spLocks/>
            </p:cNvSpPr>
            <p:nvPr/>
          </p:nvSpPr>
          <p:spPr bwMode="auto">
            <a:xfrm>
              <a:off x="742" y="3186"/>
              <a:ext cx="40" cy="37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36" y="73"/>
                </a:cxn>
                <a:cxn ang="0">
                  <a:pos x="0" y="0"/>
                </a:cxn>
                <a:cxn ang="0">
                  <a:pos x="73" y="0"/>
                </a:cxn>
              </a:cxnLst>
              <a:rect l="0" t="0" r="r" b="b"/>
              <a:pathLst>
                <a:path w="73" h="73">
                  <a:moveTo>
                    <a:pt x="73" y="0"/>
                  </a:moveTo>
                  <a:lnTo>
                    <a:pt x="36" y="73"/>
                  </a:lnTo>
                  <a:lnTo>
                    <a:pt x="0" y="0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7" name="Rectangle 59"/>
            <p:cNvSpPr>
              <a:spLocks noChangeArrowheads="1"/>
            </p:cNvSpPr>
            <p:nvPr/>
          </p:nvSpPr>
          <p:spPr bwMode="auto">
            <a:xfrm>
              <a:off x="363" y="3221"/>
              <a:ext cx="810" cy="240"/>
            </a:xfrm>
            <a:prstGeom prst="rect">
              <a:avLst/>
            </a:prstGeom>
            <a:noFill/>
            <a:ln w="1651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108" name="Rectangle 60"/>
          <p:cNvSpPr>
            <a:spLocks noChangeArrowheads="1"/>
          </p:cNvSpPr>
          <p:nvPr/>
        </p:nvSpPr>
        <p:spPr bwMode="auto">
          <a:xfrm>
            <a:off x="4994275" y="1066800"/>
            <a:ext cx="4081463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외부결선과 무관한 현상임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2. SMPS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출력단 전압 체크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(5</a:t>
            </a:r>
            <a:r>
              <a:rPr lang="en-US" altLang="ko-KR" sz="1000">
                <a:ea typeface="바탕체" pitchFamily="17" charset="-127"/>
              </a:rPr>
              <a:t>±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0.1V)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SMPS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3. 2~3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계속 발생시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교환한다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109" name="Rectangle 61"/>
          <p:cNvSpPr>
            <a:spLocks noChangeArrowheads="1"/>
          </p:cNvSpPr>
          <p:nvPr/>
        </p:nvSpPr>
        <p:spPr bwMode="auto">
          <a:xfrm>
            <a:off x="8234363" y="457200"/>
            <a:ext cx="833437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5413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7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ER_TASK_CREATE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42338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Task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생성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39700" y="1905000"/>
            <a:ext cx="42354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S/W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내에서 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Task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들을 생성할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703263" y="2895600"/>
            <a:ext cx="2967037" cy="2768600"/>
            <a:chOff x="424" y="1544"/>
            <a:chExt cx="2024" cy="1744"/>
          </a:xfrm>
        </p:grpSpPr>
        <p:sp>
          <p:nvSpPr>
            <p:cNvPr id="2069" name="Rectangle 21"/>
            <p:cNvSpPr>
              <a:spLocks noChangeArrowheads="1"/>
            </p:cNvSpPr>
            <p:nvPr/>
          </p:nvSpPr>
          <p:spPr bwMode="auto">
            <a:xfrm>
              <a:off x="1279" y="2007"/>
              <a:ext cx="1169" cy="307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1364" y="2066"/>
              <a:ext cx="985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메모리 풀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(pool)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에서 타스크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(Task)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나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1" name="Rectangle 23"/>
            <p:cNvSpPr>
              <a:spLocks noChangeArrowheads="1"/>
            </p:cNvSpPr>
            <p:nvPr/>
          </p:nvSpPr>
          <p:spPr bwMode="auto">
            <a:xfrm>
              <a:off x="1322" y="2131"/>
              <a:ext cx="106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인터럽트 핸들러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(Interrupt handler)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에서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2" name="Rectangle 24"/>
            <p:cNvSpPr>
              <a:spLocks noChangeArrowheads="1"/>
            </p:cNvSpPr>
            <p:nvPr/>
          </p:nvSpPr>
          <p:spPr bwMode="auto">
            <a:xfrm>
              <a:off x="1610" y="2196"/>
              <a:ext cx="520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사용할 메모리 할당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863" y="2314"/>
              <a:ext cx="1" cy="206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4" name="Freeform 26"/>
            <p:cNvSpPr>
              <a:spLocks/>
            </p:cNvSpPr>
            <p:nvPr/>
          </p:nvSpPr>
          <p:spPr bwMode="auto">
            <a:xfrm>
              <a:off x="1847" y="2516"/>
              <a:ext cx="33" cy="30"/>
            </a:xfrm>
            <a:custGeom>
              <a:avLst/>
              <a:gdLst/>
              <a:ahLst/>
              <a:cxnLst>
                <a:cxn ang="0">
                  <a:pos x="60" y="0"/>
                </a:cxn>
                <a:cxn ang="0">
                  <a:pos x="30" y="60"/>
                </a:cxn>
                <a:cxn ang="0">
                  <a:pos x="0" y="0"/>
                </a:cxn>
                <a:cxn ang="0">
                  <a:pos x="60" y="0"/>
                </a:cxn>
              </a:cxnLst>
              <a:rect l="0" t="0" r="r" b="b"/>
              <a:pathLst>
                <a:path w="60" h="60">
                  <a:moveTo>
                    <a:pt x="60" y="0"/>
                  </a:moveTo>
                  <a:lnTo>
                    <a:pt x="30" y="60"/>
                  </a:lnTo>
                  <a:lnTo>
                    <a:pt x="0" y="0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5" name="Rectangle 27"/>
            <p:cNvSpPr>
              <a:spLocks noChangeArrowheads="1"/>
            </p:cNvSpPr>
            <p:nvPr/>
          </p:nvSpPr>
          <p:spPr bwMode="auto">
            <a:xfrm>
              <a:off x="1447" y="1544"/>
              <a:ext cx="835" cy="232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6" name="Rectangle 28"/>
            <p:cNvSpPr>
              <a:spLocks noChangeArrowheads="1"/>
            </p:cNvSpPr>
            <p:nvPr/>
          </p:nvSpPr>
          <p:spPr bwMode="auto">
            <a:xfrm>
              <a:off x="1620" y="1598"/>
              <a:ext cx="502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시스템에서 사용할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7" name="Rectangle 29"/>
            <p:cNvSpPr>
              <a:spLocks noChangeArrowheads="1"/>
            </p:cNvSpPr>
            <p:nvPr/>
          </p:nvSpPr>
          <p:spPr bwMode="auto">
            <a:xfrm>
              <a:off x="1582" y="1663"/>
              <a:ext cx="553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메모리 풀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(pool) 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생성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>
              <a:off x="1863" y="1776"/>
              <a:ext cx="1" cy="20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9" name="Freeform 31"/>
            <p:cNvSpPr>
              <a:spLocks/>
            </p:cNvSpPr>
            <p:nvPr/>
          </p:nvSpPr>
          <p:spPr bwMode="auto">
            <a:xfrm>
              <a:off x="1847" y="1977"/>
              <a:ext cx="33" cy="30"/>
            </a:xfrm>
            <a:custGeom>
              <a:avLst/>
              <a:gdLst/>
              <a:ahLst/>
              <a:cxnLst>
                <a:cxn ang="0">
                  <a:pos x="60" y="0"/>
                </a:cxn>
                <a:cxn ang="0">
                  <a:pos x="30" y="60"/>
                </a:cxn>
                <a:cxn ang="0">
                  <a:pos x="0" y="0"/>
                </a:cxn>
                <a:cxn ang="0">
                  <a:pos x="60" y="0"/>
                </a:cxn>
              </a:cxnLst>
              <a:rect l="0" t="0" r="r" b="b"/>
              <a:pathLst>
                <a:path w="60" h="60">
                  <a:moveTo>
                    <a:pt x="60" y="0"/>
                  </a:moveTo>
                  <a:lnTo>
                    <a:pt x="30" y="60"/>
                  </a:lnTo>
                  <a:lnTo>
                    <a:pt x="0" y="0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0" name="Freeform 32"/>
            <p:cNvSpPr>
              <a:spLocks/>
            </p:cNvSpPr>
            <p:nvPr/>
          </p:nvSpPr>
          <p:spPr bwMode="auto">
            <a:xfrm>
              <a:off x="1447" y="2546"/>
              <a:ext cx="835" cy="230"/>
            </a:xfrm>
            <a:custGeom>
              <a:avLst/>
              <a:gdLst/>
              <a:ahLst/>
              <a:cxnLst>
                <a:cxn ang="0">
                  <a:pos x="195" y="462"/>
                </a:cxn>
                <a:cxn ang="0">
                  <a:pos x="1344" y="462"/>
                </a:cxn>
                <a:cxn ang="0">
                  <a:pos x="1539" y="231"/>
                </a:cxn>
                <a:cxn ang="0">
                  <a:pos x="1344" y="0"/>
                </a:cxn>
                <a:cxn ang="0">
                  <a:pos x="195" y="0"/>
                </a:cxn>
                <a:cxn ang="0">
                  <a:pos x="0" y="231"/>
                </a:cxn>
                <a:cxn ang="0">
                  <a:pos x="195" y="462"/>
                </a:cxn>
              </a:cxnLst>
              <a:rect l="0" t="0" r="r" b="b"/>
              <a:pathLst>
                <a:path w="1539" h="462">
                  <a:moveTo>
                    <a:pt x="195" y="462"/>
                  </a:moveTo>
                  <a:lnTo>
                    <a:pt x="1344" y="462"/>
                  </a:lnTo>
                  <a:lnTo>
                    <a:pt x="1539" y="231"/>
                  </a:lnTo>
                  <a:lnTo>
                    <a:pt x="1344" y="0"/>
                  </a:lnTo>
                  <a:lnTo>
                    <a:pt x="195" y="0"/>
                  </a:lnTo>
                  <a:lnTo>
                    <a:pt x="0" y="231"/>
                  </a:lnTo>
                  <a:lnTo>
                    <a:pt x="195" y="462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1" name="Rectangle 33"/>
            <p:cNvSpPr>
              <a:spLocks noChangeArrowheads="1"/>
            </p:cNvSpPr>
            <p:nvPr/>
          </p:nvSpPr>
          <p:spPr bwMode="auto">
            <a:xfrm>
              <a:off x="1629" y="2599"/>
              <a:ext cx="477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타스크 생성 혹은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2" name="Rectangle 34"/>
            <p:cNvSpPr>
              <a:spLocks noChangeArrowheads="1"/>
            </p:cNvSpPr>
            <p:nvPr/>
          </p:nvSpPr>
          <p:spPr bwMode="auto">
            <a:xfrm>
              <a:off x="1583" y="2664"/>
              <a:ext cx="570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인터럽트 등록 실패 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?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3" name="Line 35"/>
            <p:cNvSpPr>
              <a:spLocks noChangeShapeType="1"/>
            </p:cNvSpPr>
            <p:nvPr/>
          </p:nvSpPr>
          <p:spPr bwMode="auto">
            <a:xfrm>
              <a:off x="1863" y="2776"/>
              <a:ext cx="1" cy="20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4" name="Freeform 36"/>
            <p:cNvSpPr>
              <a:spLocks/>
            </p:cNvSpPr>
            <p:nvPr/>
          </p:nvSpPr>
          <p:spPr bwMode="auto">
            <a:xfrm>
              <a:off x="1847" y="2977"/>
              <a:ext cx="33" cy="30"/>
            </a:xfrm>
            <a:custGeom>
              <a:avLst/>
              <a:gdLst/>
              <a:ahLst/>
              <a:cxnLst>
                <a:cxn ang="0">
                  <a:pos x="60" y="0"/>
                </a:cxn>
                <a:cxn ang="0">
                  <a:pos x="30" y="60"/>
                </a:cxn>
                <a:cxn ang="0">
                  <a:pos x="0" y="0"/>
                </a:cxn>
                <a:cxn ang="0">
                  <a:pos x="60" y="0"/>
                </a:cxn>
              </a:cxnLst>
              <a:rect l="0" t="0" r="r" b="b"/>
              <a:pathLst>
                <a:path w="60" h="60">
                  <a:moveTo>
                    <a:pt x="60" y="0"/>
                  </a:moveTo>
                  <a:lnTo>
                    <a:pt x="30" y="60"/>
                  </a:lnTo>
                  <a:lnTo>
                    <a:pt x="0" y="0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1819" y="2862"/>
              <a:ext cx="91" cy="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1823" y="2867"/>
              <a:ext cx="75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Yes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7" name="Freeform 39"/>
            <p:cNvSpPr>
              <a:spLocks/>
            </p:cNvSpPr>
            <p:nvPr/>
          </p:nvSpPr>
          <p:spPr bwMode="auto">
            <a:xfrm>
              <a:off x="1500" y="3056"/>
              <a:ext cx="835" cy="232"/>
            </a:xfrm>
            <a:custGeom>
              <a:avLst/>
              <a:gdLst/>
              <a:ahLst/>
              <a:cxnLst>
                <a:cxn ang="0">
                  <a:pos x="0" y="463"/>
                </a:cxn>
                <a:cxn ang="0">
                  <a:pos x="1539" y="463"/>
                </a:cxn>
                <a:cxn ang="0">
                  <a:pos x="1539" y="0"/>
                </a:cxn>
                <a:cxn ang="0">
                  <a:pos x="1441" y="0"/>
                </a:cxn>
                <a:cxn ang="0">
                  <a:pos x="1441" y="365"/>
                </a:cxn>
                <a:cxn ang="0">
                  <a:pos x="0" y="365"/>
                </a:cxn>
                <a:cxn ang="0">
                  <a:pos x="0" y="463"/>
                </a:cxn>
              </a:cxnLst>
              <a:rect l="0" t="0" r="r" b="b"/>
              <a:pathLst>
                <a:path w="1539" h="463">
                  <a:moveTo>
                    <a:pt x="0" y="463"/>
                  </a:moveTo>
                  <a:lnTo>
                    <a:pt x="1539" y="463"/>
                  </a:lnTo>
                  <a:lnTo>
                    <a:pt x="1539" y="0"/>
                  </a:lnTo>
                  <a:lnTo>
                    <a:pt x="1441" y="0"/>
                  </a:lnTo>
                  <a:lnTo>
                    <a:pt x="1441" y="365"/>
                  </a:lnTo>
                  <a:lnTo>
                    <a:pt x="0" y="365"/>
                  </a:lnTo>
                  <a:lnTo>
                    <a:pt x="0" y="4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8" name="Freeform 40"/>
            <p:cNvSpPr>
              <a:spLocks/>
            </p:cNvSpPr>
            <p:nvPr/>
          </p:nvSpPr>
          <p:spPr bwMode="auto">
            <a:xfrm>
              <a:off x="1500" y="3056"/>
              <a:ext cx="835" cy="232"/>
            </a:xfrm>
            <a:custGeom>
              <a:avLst/>
              <a:gdLst/>
              <a:ahLst/>
              <a:cxnLst>
                <a:cxn ang="0">
                  <a:pos x="0" y="463"/>
                </a:cxn>
                <a:cxn ang="0">
                  <a:pos x="1539" y="463"/>
                </a:cxn>
                <a:cxn ang="0">
                  <a:pos x="1539" y="0"/>
                </a:cxn>
                <a:cxn ang="0">
                  <a:pos x="1441" y="0"/>
                </a:cxn>
                <a:cxn ang="0">
                  <a:pos x="1441" y="365"/>
                </a:cxn>
                <a:cxn ang="0">
                  <a:pos x="0" y="365"/>
                </a:cxn>
              </a:cxnLst>
              <a:rect l="0" t="0" r="r" b="b"/>
              <a:pathLst>
                <a:path w="1539" h="463">
                  <a:moveTo>
                    <a:pt x="0" y="463"/>
                  </a:moveTo>
                  <a:lnTo>
                    <a:pt x="1539" y="463"/>
                  </a:lnTo>
                  <a:lnTo>
                    <a:pt x="1539" y="0"/>
                  </a:lnTo>
                  <a:lnTo>
                    <a:pt x="1441" y="0"/>
                  </a:lnTo>
                  <a:lnTo>
                    <a:pt x="1441" y="365"/>
                  </a:lnTo>
                  <a:lnTo>
                    <a:pt x="0" y="365"/>
                  </a:lnTo>
                </a:path>
              </a:pathLst>
            </a:custGeom>
            <a:noFill/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9" name="Rectangle 41"/>
            <p:cNvSpPr>
              <a:spLocks noChangeArrowheads="1"/>
            </p:cNvSpPr>
            <p:nvPr/>
          </p:nvSpPr>
          <p:spPr bwMode="auto">
            <a:xfrm>
              <a:off x="1447" y="3007"/>
              <a:ext cx="835" cy="232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0" name="Rectangle 42"/>
            <p:cNvSpPr>
              <a:spLocks noChangeArrowheads="1"/>
            </p:cNvSpPr>
            <p:nvPr/>
          </p:nvSpPr>
          <p:spPr bwMode="auto">
            <a:xfrm>
              <a:off x="1561" y="3094"/>
              <a:ext cx="612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타스크 생성 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Error 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발생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1" name="Rectangle 43"/>
            <p:cNvSpPr>
              <a:spLocks noChangeArrowheads="1"/>
            </p:cNvSpPr>
            <p:nvPr/>
          </p:nvSpPr>
          <p:spPr bwMode="auto">
            <a:xfrm>
              <a:off x="529" y="2853"/>
              <a:ext cx="585" cy="2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2" name="Rectangle 44"/>
            <p:cNvSpPr>
              <a:spLocks noChangeArrowheads="1"/>
            </p:cNvSpPr>
            <p:nvPr/>
          </p:nvSpPr>
          <p:spPr bwMode="auto">
            <a:xfrm>
              <a:off x="558" y="2906"/>
              <a:ext cx="537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프로그램 다음 단계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3" name="Rectangle 45"/>
            <p:cNvSpPr>
              <a:spLocks noChangeArrowheads="1"/>
            </p:cNvSpPr>
            <p:nvPr/>
          </p:nvSpPr>
          <p:spPr bwMode="auto">
            <a:xfrm>
              <a:off x="763" y="2972"/>
              <a:ext cx="12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수행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4" name="Freeform 46"/>
            <p:cNvSpPr>
              <a:spLocks/>
            </p:cNvSpPr>
            <p:nvPr/>
          </p:nvSpPr>
          <p:spPr bwMode="auto">
            <a:xfrm>
              <a:off x="821" y="2661"/>
              <a:ext cx="626" cy="162"/>
            </a:xfrm>
            <a:custGeom>
              <a:avLst/>
              <a:gdLst/>
              <a:ahLst/>
              <a:cxnLst>
                <a:cxn ang="0">
                  <a:pos x="1155" y="0"/>
                </a:cxn>
                <a:cxn ang="0">
                  <a:pos x="0" y="0"/>
                </a:cxn>
                <a:cxn ang="0">
                  <a:pos x="0" y="324"/>
                </a:cxn>
              </a:cxnLst>
              <a:rect l="0" t="0" r="r" b="b"/>
              <a:pathLst>
                <a:path w="1155" h="324">
                  <a:moveTo>
                    <a:pt x="1155" y="0"/>
                  </a:moveTo>
                  <a:lnTo>
                    <a:pt x="0" y="0"/>
                  </a:lnTo>
                  <a:lnTo>
                    <a:pt x="0" y="324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5" name="Rectangle 47"/>
            <p:cNvSpPr>
              <a:spLocks noChangeArrowheads="1"/>
            </p:cNvSpPr>
            <p:nvPr/>
          </p:nvSpPr>
          <p:spPr bwMode="auto">
            <a:xfrm>
              <a:off x="1097" y="2631"/>
              <a:ext cx="74" cy="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6" name="Rectangle 48"/>
            <p:cNvSpPr>
              <a:spLocks noChangeArrowheads="1"/>
            </p:cNvSpPr>
            <p:nvPr/>
          </p:nvSpPr>
          <p:spPr bwMode="auto">
            <a:xfrm>
              <a:off x="1102" y="2636"/>
              <a:ext cx="55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No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7" name="Freeform 49"/>
            <p:cNvSpPr>
              <a:spLocks/>
            </p:cNvSpPr>
            <p:nvPr/>
          </p:nvSpPr>
          <p:spPr bwMode="auto">
            <a:xfrm>
              <a:off x="803" y="2812"/>
              <a:ext cx="40" cy="37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36" y="73"/>
                </a:cxn>
                <a:cxn ang="0">
                  <a:pos x="0" y="0"/>
                </a:cxn>
                <a:cxn ang="0">
                  <a:pos x="73" y="0"/>
                </a:cxn>
              </a:cxnLst>
              <a:rect l="0" t="0" r="r" b="b"/>
              <a:pathLst>
                <a:path w="73" h="73">
                  <a:moveTo>
                    <a:pt x="73" y="0"/>
                  </a:moveTo>
                  <a:lnTo>
                    <a:pt x="36" y="73"/>
                  </a:lnTo>
                  <a:lnTo>
                    <a:pt x="0" y="0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8" name="Rectangle 50"/>
            <p:cNvSpPr>
              <a:spLocks noChangeArrowheads="1"/>
            </p:cNvSpPr>
            <p:nvPr/>
          </p:nvSpPr>
          <p:spPr bwMode="auto">
            <a:xfrm>
              <a:off x="424" y="2857"/>
              <a:ext cx="810" cy="240"/>
            </a:xfrm>
            <a:prstGeom prst="rect">
              <a:avLst/>
            </a:prstGeom>
            <a:noFill/>
            <a:ln w="1651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4994275" y="1066800"/>
            <a:ext cx="4081463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외부결선과 무관한 현상임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2. SMPS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출력단 전압 체크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(5</a:t>
            </a:r>
            <a:r>
              <a:rPr lang="en-US" altLang="ko-KR" sz="1000">
                <a:ea typeface="바탕체" pitchFamily="17" charset="-127"/>
              </a:rPr>
              <a:t>±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0.1V)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SMPS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3. 2~3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계속 발생시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교환한다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100" name="Rectangle 52"/>
          <p:cNvSpPr>
            <a:spLocks noChangeArrowheads="1"/>
          </p:cNvSpPr>
          <p:nvPr/>
        </p:nvSpPr>
        <p:spPr bwMode="auto">
          <a:xfrm>
            <a:off x="8234363" y="457200"/>
            <a:ext cx="833437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5413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ER_SEM_CREATE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92125" y="838200"/>
            <a:ext cx="42338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각 세마포아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(Semaphore)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생성시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39700" y="1828800"/>
            <a:ext cx="4643438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S/W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내에서 작업들의 동기화를 맞추어 주기 위한 세마포아 생성할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여러 개의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Task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동시에 수행됨으로써 어떠한 경우에는 같은 작업 또는 같은 프로세스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(process)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엑세스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(access)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할 때가 존재한다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이러한 때 동시에 같은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access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하지 않도록 하기 위하여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Semaphore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사용한다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633413" y="3124200"/>
            <a:ext cx="3074987" cy="2744788"/>
            <a:chOff x="468" y="1929"/>
            <a:chExt cx="2098" cy="1729"/>
          </a:xfrm>
        </p:grpSpPr>
        <p:sp>
          <p:nvSpPr>
            <p:cNvPr id="2069" name="Rectangle 21"/>
            <p:cNvSpPr>
              <a:spLocks noChangeArrowheads="1"/>
            </p:cNvSpPr>
            <p:nvPr/>
          </p:nvSpPr>
          <p:spPr bwMode="auto">
            <a:xfrm>
              <a:off x="1560" y="1929"/>
              <a:ext cx="951" cy="240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1599" y="1984"/>
              <a:ext cx="85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엘리베이터 운전 제어 프로그램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1" name="Rectangle 23"/>
            <p:cNvSpPr>
              <a:spLocks noChangeArrowheads="1"/>
            </p:cNvSpPr>
            <p:nvPr/>
          </p:nvSpPr>
          <p:spPr bwMode="auto">
            <a:xfrm>
              <a:off x="1844" y="2052"/>
              <a:ext cx="38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시스템 초기화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2" name="Rectangle 24"/>
            <p:cNvSpPr>
              <a:spLocks noChangeArrowheads="1"/>
            </p:cNvSpPr>
            <p:nvPr/>
          </p:nvSpPr>
          <p:spPr bwMode="auto">
            <a:xfrm>
              <a:off x="1560" y="2409"/>
              <a:ext cx="951" cy="239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3" name="Rectangle 25"/>
            <p:cNvSpPr>
              <a:spLocks noChangeArrowheads="1"/>
            </p:cNvSpPr>
            <p:nvPr/>
          </p:nvSpPr>
          <p:spPr bwMode="auto">
            <a:xfrm>
              <a:off x="1798" y="2497"/>
              <a:ext cx="452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Semaphore 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생성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>
              <a:off x="2036" y="2169"/>
              <a:ext cx="1" cy="21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5" name="Freeform 27"/>
            <p:cNvSpPr>
              <a:spLocks/>
            </p:cNvSpPr>
            <p:nvPr/>
          </p:nvSpPr>
          <p:spPr bwMode="auto">
            <a:xfrm>
              <a:off x="2018" y="2377"/>
              <a:ext cx="34" cy="32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31" y="62"/>
                </a:cxn>
                <a:cxn ang="0">
                  <a:pos x="0" y="0"/>
                </a:cxn>
                <a:cxn ang="0">
                  <a:pos x="62" y="0"/>
                </a:cxn>
              </a:cxnLst>
              <a:rect l="0" t="0" r="r" b="b"/>
              <a:pathLst>
                <a:path w="62" h="62">
                  <a:moveTo>
                    <a:pt x="62" y="0"/>
                  </a:moveTo>
                  <a:lnTo>
                    <a:pt x="31" y="62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6" name="Freeform 28"/>
            <p:cNvSpPr>
              <a:spLocks/>
            </p:cNvSpPr>
            <p:nvPr/>
          </p:nvSpPr>
          <p:spPr bwMode="auto">
            <a:xfrm>
              <a:off x="1560" y="2888"/>
              <a:ext cx="951" cy="240"/>
            </a:xfrm>
            <a:custGeom>
              <a:avLst/>
              <a:gdLst/>
              <a:ahLst/>
              <a:cxnLst>
                <a:cxn ang="0">
                  <a:pos x="1655" y="479"/>
                </a:cxn>
                <a:cxn ang="0">
                  <a:pos x="1684" y="436"/>
                </a:cxn>
                <a:cxn ang="0">
                  <a:pos x="1710" y="390"/>
                </a:cxn>
                <a:cxn ang="0">
                  <a:pos x="1730" y="341"/>
                </a:cxn>
                <a:cxn ang="0">
                  <a:pos x="1746" y="291"/>
                </a:cxn>
                <a:cxn ang="0">
                  <a:pos x="1757" y="240"/>
                </a:cxn>
                <a:cxn ang="0">
                  <a:pos x="1745" y="189"/>
                </a:cxn>
                <a:cxn ang="0">
                  <a:pos x="1729" y="138"/>
                </a:cxn>
                <a:cxn ang="0">
                  <a:pos x="1708" y="91"/>
                </a:cxn>
                <a:cxn ang="0">
                  <a:pos x="1684" y="44"/>
                </a:cxn>
                <a:cxn ang="0">
                  <a:pos x="1655" y="0"/>
                </a:cxn>
                <a:cxn ang="0">
                  <a:pos x="101" y="0"/>
                </a:cxn>
                <a:cxn ang="0">
                  <a:pos x="73" y="44"/>
                </a:cxn>
                <a:cxn ang="0">
                  <a:pos x="48" y="91"/>
                </a:cxn>
                <a:cxn ang="0">
                  <a:pos x="27" y="138"/>
                </a:cxn>
                <a:cxn ang="0">
                  <a:pos x="10" y="189"/>
                </a:cxn>
                <a:cxn ang="0">
                  <a:pos x="0" y="240"/>
                </a:cxn>
                <a:cxn ang="0">
                  <a:pos x="10" y="291"/>
                </a:cxn>
                <a:cxn ang="0">
                  <a:pos x="27" y="341"/>
                </a:cxn>
                <a:cxn ang="0">
                  <a:pos x="47" y="390"/>
                </a:cxn>
                <a:cxn ang="0">
                  <a:pos x="71" y="436"/>
                </a:cxn>
                <a:cxn ang="0">
                  <a:pos x="101" y="479"/>
                </a:cxn>
                <a:cxn ang="0">
                  <a:pos x="1655" y="479"/>
                </a:cxn>
              </a:cxnLst>
              <a:rect l="0" t="0" r="r" b="b"/>
              <a:pathLst>
                <a:path w="1757" h="479">
                  <a:moveTo>
                    <a:pt x="1655" y="479"/>
                  </a:moveTo>
                  <a:lnTo>
                    <a:pt x="1684" y="436"/>
                  </a:lnTo>
                  <a:lnTo>
                    <a:pt x="1710" y="390"/>
                  </a:lnTo>
                  <a:lnTo>
                    <a:pt x="1730" y="341"/>
                  </a:lnTo>
                  <a:lnTo>
                    <a:pt x="1746" y="291"/>
                  </a:lnTo>
                  <a:lnTo>
                    <a:pt x="1757" y="240"/>
                  </a:lnTo>
                  <a:lnTo>
                    <a:pt x="1745" y="189"/>
                  </a:lnTo>
                  <a:lnTo>
                    <a:pt x="1729" y="138"/>
                  </a:lnTo>
                  <a:lnTo>
                    <a:pt x="1708" y="91"/>
                  </a:lnTo>
                  <a:lnTo>
                    <a:pt x="1684" y="44"/>
                  </a:lnTo>
                  <a:lnTo>
                    <a:pt x="1655" y="0"/>
                  </a:lnTo>
                  <a:lnTo>
                    <a:pt x="101" y="0"/>
                  </a:lnTo>
                  <a:lnTo>
                    <a:pt x="73" y="44"/>
                  </a:lnTo>
                  <a:lnTo>
                    <a:pt x="48" y="91"/>
                  </a:lnTo>
                  <a:lnTo>
                    <a:pt x="27" y="138"/>
                  </a:lnTo>
                  <a:lnTo>
                    <a:pt x="10" y="189"/>
                  </a:lnTo>
                  <a:lnTo>
                    <a:pt x="0" y="240"/>
                  </a:lnTo>
                  <a:lnTo>
                    <a:pt x="10" y="291"/>
                  </a:lnTo>
                  <a:lnTo>
                    <a:pt x="27" y="341"/>
                  </a:lnTo>
                  <a:lnTo>
                    <a:pt x="47" y="390"/>
                  </a:lnTo>
                  <a:lnTo>
                    <a:pt x="71" y="436"/>
                  </a:lnTo>
                  <a:lnTo>
                    <a:pt x="101" y="479"/>
                  </a:lnTo>
                  <a:lnTo>
                    <a:pt x="1655" y="479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7" name="Rectangle 29"/>
            <p:cNvSpPr>
              <a:spLocks noChangeArrowheads="1"/>
            </p:cNvSpPr>
            <p:nvPr/>
          </p:nvSpPr>
          <p:spPr bwMode="auto">
            <a:xfrm>
              <a:off x="1689" y="2977"/>
              <a:ext cx="65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Semaphore 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생성 실패 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? 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>
              <a:off x="2036" y="2648"/>
              <a:ext cx="1" cy="21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9" name="Freeform 31"/>
            <p:cNvSpPr>
              <a:spLocks/>
            </p:cNvSpPr>
            <p:nvPr/>
          </p:nvSpPr>
          <p:spPr bwMode="auto">
            <a:xfrm>
              <a:off x="2018" y="2857"/>
              <a:ext cx="34" cy="31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31" y="62"/>
                </a:cxn>
                <a:cxn ang="0">
                  <a:pos x="0" y="0"/>
                </a:cxn>
                <a:cxn ang="0">
                  <a:pos x="62" y="0"/>
                </a:cxn>
              </a:cxnLst>
              <a:rect l="0" t="0" r="r" b="b"/>
              <a:pathLst>
                <a:path w="62" h="62">
                  <a:moveTo>
                    <a:pt x="62" y="0"/>
                  </a:moveTo>
                  <a:lnTo>
                    <a:pt x="31" y="62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>
              <a:off x="2036" y="3128"/>
              <a:ext cx="1" cy="21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1" name="Freeform 33"/>
            <p:cNvSpPr>
              <a:spLocks/>
            </p:cNvSpPr>
            <p:nvPr/>
          </p:nvSpPr>
          <p:spPr bwMode="auto">
            <a:xfrm>
              <a:off x="2018" y="3336"/>
              <a:ext cx="34" cy="31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31" y="63"/>
                </a:cxn>
                <a:cxn ang="0">
                  <a:pos x="0" y="0"/>
                </a:cxn>
                <a:cxn ang="0">
                  <a:pos x="62" y="0"/>
                </a:cxn>
              </a:cxnLst>
              <a:rect l="0" t="0" r="r" b="b"/>
              <a:pathLst>
                <a:path w="62" h="63">
                  <a:moveTo>
                    <a:pt x="62" y="0"/>
                  </a:moveTo>
                  <a:lnTo>
                    <a:pt x="31" y="63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2" name="Rectangle 34"/>
            <p:cNvSpPr>
              <a:spLocks noChangeArrowheads="1"/>
            </p:cNvSpPr>
            <p:nvPr/>
          </p:nvSpPr>
          <p:spPr bwMode="auto">
            <a:xfrm>
              <a:off x="1989" y="3216"/>
              <a:ext cx="94" cy="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3" name="Rectangle 35"/>
            <p:cNvSpPr>
              <a:spLocks noChangeArrowheads="1"/>
            </p:cNvSpPr>
            <p:nvPr/>
          </p:nvSpPr>
          <p:spPr bwMode="auto">
            <a:xfrm>
              <a:off x="1993" y="3222"/>
              <a:ext cx="75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Yes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4" name="Freeform 36"/>
            <p:cNvSpPr>
              <a:spLocks/>
            </p:cNvSpPr>
            <p:nvPr/>
          </p:nvSpPr>
          <p:spPr bwMode="auto">
            <a:xfrm>
              <a:off x="1615" y="3418"/>
              <a:ext cx="951" cy="240"/>
            </a:xfrm>
            <a:custGeom>
              <a:avLst/>
              <a:gdLst/>
              <a:ahLst/>
              <a:cxnLst>
                <a:cxn ang="0">
                  <a:pos x="0" y="480"/>
                </a:cxn>
                <a:cxn ang="0">
                  <a:pos x="1757" y="480"/>
                </a:cxn>
                <a:cxn ang="0">
                  <a:pos x="1757" y="0"/>
                </a:cxn>
                <a:cxn ang="0">
                  <a:pos x="1656" y="0"/>
                </a:cxn>
                <a:cxn ang="0">
                  <a:pos x="1656" y="379"/>
                </a:cxn>
                <a:cxn ang="0">
                  <a:pos x="0" y="379"/>
                </a:cxn>
                <a:cxn ang="0">
                  <a:pos x="0" y="480"/>
                </a:cxn>
              </a:cxnLst>
              <a:rect l="0" t="0" r="r" b="b"/>
              <a:pathLst>
                <a:path w="1757" h="480">
                  <a:moveTo>
                    <a:pt x="0" y="480"/>
                  </a:moveTo>
                  <a:lnTo>
                    <a:pt x="1757" y="480"/>
                  </a:lnTo>
                  <a:lnTo>
                    <a:pt x="1757" y="0"/>
                  </a:lnTo>
                  <a:lnTo>
                    <a:pt x="1656" y="0"/>
                  </a:lnTo>
                  <a:lnTo>
                    <a:pt x="1656" y="379"/>
                  </a:lnTo>
                  <a:lnTo>
                    <a:pt x="0" y="379"/>
                  </a:lnTo>
                  <a:lnTo>
                    <a:pt x="0" y="48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5" name="Freeform 37"/>
            <p:cNvSpPr>
              <a:spLocks/>
            </p:cNvSpPr>
            <p:nvPr/>
          </p:nvSpPr>
          <p:spPr bwMode="auto">
            <a:xfrm>
              <a:off x="1615" y="3418"/>
              <a:ext cx="951" cy="240"/>
            </a:xfrm>
            <a:custGeom>
              <a:avLst/>
              <a:gdLst/>
              <a:ahLst/>
              <a:cxnLst>
                <a:cxn ang="0">
                  <a:pos x="0" y="480"/>
                </a:cxn>
                <a:cxn ang="0">
                  <a:pos x="1757" y="480"/>
                </a:cxn>
                <a:cxn ang="0">
                  <a:pos x="1757" y="0"/>
                </a:cxn>
                <a:cxn ang="0">
                  <a:pos x="1656" y="0"/>
                </a:cxn>
                <a:cxn ang="0">
                  <a:pos x="1656" y="379"/>
                </a:cxn>
                <a:cxn ang="0">
                  <a:pos x="0" y="379"/>
                </a:cxn>
              </a:cxnLst>
              <a:rect l="0" t="0" r="r" b="b"/>
              <a:pathLst>
                <a:path w="1757" h="480">
                  <a:moveTo>
                    <a:pt x="0" y="480"/>
                  </a:moveTo>
                  <a:lnTo>
                    <a:pt x="1757" y="480"/>
                  </a:lnTo>
                  <a:lnTo>
                    <a:pt x="1757" y="0"/>
                  </a:lnTo>
                  <a:lnTo>
                    <a:pt x="1656" y="0"/>
                  </a:lnTo>
                  <a:lnTo>
                    <a:pt x="1656" y="379"/>
                  </a:lnTo>
                  <a:lnTo>
                    <a:pt x="0" y="379"/>
                  </a:lnTo>
                </a:path>
              </a:pathLst>
            </a:custGeom>
            <a:noFill/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1560" y="3367"/>
              <a:ext cx="951" cy="240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7" name="Rectangle 39"/>
            <p:cNvSpPr>
              <a:spLocks noChangeArrowheads="1"/>
            </p:cNvSpPr>
            <p:nvPr/>
          </p:nvSpPr>
          <p:spPr bwMode="auto">
            <a:xfrm>
              <a:off x="1718" y="3457"/>
              <a:ext cx="604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Semaphore 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생성 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Error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8" name="Freeform 40"/>
            <p:cNvSpPr>
              <a:spLocks/>
            </p:cNvSpPr>
            <p:nvPr/>
          </p:nvSpPr>
          <p:spPr bwMode="auto">
            <a:xfrm>
              <a:off x="868" y="3008"/>
              <a:ext cx="692" cy="168"/>
            </a:xfrm>
            <a:custGeom>
              <a:avLst/>
              <a:gdLst/>
              <a:ahLst/>
              <a:cxnLst>
                <a:cxn ang="0">
                  <a:pos x="1279" y="0"/>
                </a:cxn>
                <a:cxn ang="0">
                  <a:pos x="0" y="0"/>
                </a:cxn>
                <a:cxn ang="0">
                  <a:pos x="0" y="336"/>
                </a:cxn>
              </a:cxnLst>
              <a:rect l="0" t="0" r="r" b="b"/>
              <a:pathLst>
                <a:path w="1279" h="336">
                  <a:moveTo>
                    <a:pt x="1279" y="0"/>
                  </a:moveTo>
                  <a:lnTo>
                    <a:pt x="0" y="0"/>
                  </a:lnTo>
                  <a:lnTo>
                    <a:pt x="0" y="336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9" name="Freeform 41"/>
            <p:cNvSpPr>
              <a:spLocks/>
            </p:cNvSpPr>
            <p:nvPr/>
          </p:nvSpPr>
          <p:spPr bwMode="auto">
            <a:xfrm>
              <a:off x="847" y="3171"/>
              <a:ext cx="40" cy="37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36" y="73"/>
                </a:cxn>
                <a:cxn ang="0">
                  <a:pos x="0" y="0"/>
                </a:cxn>
                <a:cxn ang="0">
                  <a:pos x="73" y="0"/>
                </a:cxn>
              </a:cxnLst>
              <a:rect l="0" t="0" r="r" b="b"/>
              <a:pathLst>
                <a:path w="73" h="73">
                  <a:moveTo>
                    <a:pt x="73" y="0"/>
                  </a:moveTo>
                  <a:lnTo>
                    <a:pt x="36" y="73"/>
                  </a:lnTo>
                  <a:lnTo>
                    <a:pt x="0" y="0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0" name="Rectangle 42"/>
            <p:cNvSpPr>
              <a:spLocks noChangeArrowheads="1"/>
            </p:cNvSpPr>
            <p:nvPr/>
          </p:nvSpPr>
          <p:spPr bwMode="auto">
            <a:xfrm>
              <a:off x="1175" y="2977"/>
              <a:ext cx="76" cy="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1" name="Rectangle 43"/>
            <p:cNvSpPr>
              <a:spLocks noChangeArrowheads="1"/>
            </p:cNvSpPr>
            <p:nvPr/>
          </p:nvSpPr>
          <p:spPr bwMode="auto">
            <a:xfrm>
              <a:off x="1180" y="2983"/>
              <a:ext cx="55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No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2" name="Rectangle 44"/>
            <p:cNvSpPr>
              <a:spLocks noChangeArrowheads="1"/>
            </p:cNvSpPr>
            <p:nvPr/>
          </p:nvSpPr>
          <p:spPr bwMode="auto">
            <a:xfrm>
              <a:off x="533" y="3296"/>
              <a:ext cx="659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프로그램 다음 단계 수행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3" name="Rectangle 45"/>
            <p:cNvSpPr>
              <a:spLocks noChangeArrowheads="1"/>
            </p:cNvSpPr>
            <p:nvPr/>
          </p:nvSpPr>
          <p:spPr bwMode="auto">
            <a:xfrm>
              <a:off x="468" y="3216"/>
              <a:ext cx="810" cy="240"/>
            </a:xfrm>
            <a:prstGeom prst="rect">
              <a:avLst/>
            </a:prstGeom>
            <a:noFill/>
            <a:ln w="1651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094" name="Rectangle 46"/>
          <p:cNvSpPr>
            <a:spLocks noChangeArrowheads="1"/>
          </p:cNvSpPr>
          <p:nvPr/>
        </p:nvSpPr>
        <p:spPr bwMode="auto">
          <a:xfrm>
            <a:off x="4994275" y="1066800"/>
            <a:ext cx="4081463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외부결선과 무관한 현상임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2. SMPS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출력단 전압 체크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(5</a:t>
            </a:r>
            <a:r>
              <a:rPr lang="en-US" altLang="ko-KR" sz="1000">
                <a:ea typeface="바탕체" pitchFamily="17" charset="-127"/>
              </a:rPr>
              <a:t>±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0.1V)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SMPS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3. 2~3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계속 발생시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교환한다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95" name="Rectangle 47"/>
          <p:cNvSpPr>
            <a:spLocks noChangeArrowheads="1"/>
          </p:cNvSpPr>
          <p:nvPr/>
        </p:nvSpPr>
        <p:spPr bwMode="auto">
          <a:xfrm>
            <a:off x="8234363" y="457200"/>
            <a:ext cx="833437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5413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9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ER_WDT_CREATE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22275" y="838200"/>
            <a:ext cx="4232275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S/W Watchdog Timer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생성시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39700" y="1828800"/>
            <a:ext cx="4713288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S/W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내에서 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Task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감시하기 위한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Watchdog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생성 실패 하였을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Watchdog Timer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다른 여러 타스크들과 마찬가지로 주기적으로 작업을 수행함과 아울러 다른 모든 타스크들을 감시하는 역할을 하므로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그 주기가 가장 짧고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(30msec)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우선 순위 또한 가장 높다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633413" y="2819400"/>
            <a:ext cx="3171825" cy="3873500"/>
            <a:chOff x="516" y="1727"/>
            <a:chExt cx="2164" cy="2440"/>
          </a:xfrm>
        </p:grpSpPr>
        <p:sp>
          <p:nvSpPr>
            <p:cNvPr id="2069" name="Rectangle 21"/>
            <p:cNvSpPr>
              <a:spLocks noChangeArrowheads="1"/>
            </p:cNvSpPr>
            <p:nvPr/>
          </p:nvSpPr>
          <p:spPr bwMode="auto">
            <a:xfrm>
              <a:off x="1468" y="3065"/>
              <a:ext cx="1212" cy="283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1555" y="3120"/>
              <a:ext cx="699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메모리 풀</a:t>
              </a:r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(pool)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에서 타스크</a:t>
              </a:r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(Task)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나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1" name="Rectangle 23"/>
            <p:cNvSpPr>
              <a:spLocks noChangeArrowheads="1"/>
            </p:cNvSpPr>
            <p:nvPr/>
          </p:nvSpPr>
          <p:spPr bwMode="auto">
            <a:xfrm>
              <a:off x="1512" y="3180"/>
              <a:ext cx="756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인터럽트 핸들러</a:t>
              </a:r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(Interrupt handler)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에서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2" name="Rectangle 24"/>
            <p:cNvSpPr>
              <a:spLocks noChangeArrowheads="1"/>
            </p:cNvSpPr>
            <p:nvPr/>
          </p:nvSpPr>
          <p:spPr bwMode="auto">
            <a:xfrm>
              <a:off x="1810" y="3239"/>
              <a:ext cx="371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사용할 메모리 할당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2074" y="3348"/>
              <a:ext cx="1" cy="11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4" name="Freeform 26"/>
            <p:cNvSpPr>
              <a:spLocks/>
            </p:cNvSpPr>
            <p:nvPr/>
          </p:nvSpPr>
          <p:spPr bwMode="auto">
            <a:xfrm>
              <a:off x="2056" y="3461"/>
              <a:ext cx="35" cy="27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31" y="55"/>
                </a:cxn>
                <a:cxn ang="0">
                  <a:pos x="0" y="0"/>
                </a:cxn>
                <a:cxn ang="0">
                  <a:pos x="62" y="0"/>
                </a:cxn>
              </a:cxnLst>
              <a:rect l="0" t="0" r="r" b="b"/>
              <a:pathLst>
                <a:path w="62" h="55">
                  <a:moveTo>
                    <a:pt x="62" y="0"/>
                  </a:moveTo>
                  <a:lnTo>
                    <a:pt x="31" y="55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5" name="Rectangle 27"/>
            <p:cNvSpPr>
              <a:spLocks noChangeArrowheads="1"/>
            </p:cNvSpPr>
            <p:nvPr/>
          </p:nvSpPr>
          <p:spPr bwMode="auto">
            <a:xfrm>
              <a:off x="1641" y="1727"/>
              <a:ext cx="866" cy="212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6" name="Rectangle 28"/>
            <p:cNvSpPr>
              <a:spLocks noChangeArrowheads="1"/>
            </p:cNvSpPr>
            <p:nvPr/>
          </p:nvSpPr>
          <p:spPr bwMode="auto">
            <a:xfrm>
              <a:off x="1821" y="1776"/>
              <a:ext cx="359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시스템에서 사용할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7" name="Rectangle 29"/>
            <p:cNvSpPr>
              <a:spLocks noChangeArrowheads="1"/>
            </p:cNvSpPr>
            <p:nvPr/>
          </p:nvSpPr>
          <p:spPr bwMode="auto">
            <a:xfrm>
              <a:off x="1780" y="1836"/>
              <a:ext cx="393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메모리 풀</a:t>
              </a:r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(pool) 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생성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>
              <a:off x="2074" y="1939"/>
              <a:ext cx="1" cy="18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9" name="Freeform 31"/>
            <p:cNvSpPr>
              <a:spLocks/>
            </p:cNvSpPr>
            <p:nvPr/>
          </p:nvSpPr>
          <p:spPr bwMode="auto">
            <a:xfrm>
              <a:off x="2056" y="2122"/>
              <a:ext cx="35" cy="28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31" y="54"/>
                </a:cxn>
                <a:cxn ang="0">
                  <a:pos x="0" y="0"/>
                </a:cxn>
                <a:cxn ang="0">
                  <a:pos x="62" y="0"/>
                </a:cxn>
              </a:cxnLst>
              <a:rect l="0" t="0" r="r" b="b"/>
              <a:pathLst>
                <a:path w="62" h="54">
                  <a:moveTo>
                    <a:pt x="62" y="0"/>
                  </a:moveTo>
                  <a:lnTo>
                    <a:pt x="31" y="54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0" name="Freeform 32"/>
            <p:cNvSpPr>
              <a:spLocks/>
            </p:cNvSpPr>
            <p:nvPr/>
          </p:nvSpPr>
          <p:spPr bwMode="auto">
            <a:xfrm>
              <a:off x="1641" y="3488"/>
              <a:ext cx="866" cy="212"/>
            </a:xfrm>
            <a:custGeom>
              <a:avLst/>
              <a:gdLst/>
              <a:ahLst/>
              <a:cxnLst>
                <a:cxn ang="0">
                  <a:pos x="203" y="422"/>
                </a:cxn>
                <a:cxn ang="0">
                  <a:pos x="1395" y="422"/>
                </a:cxn>
                <a:cxn ang="0">
                  <a:pos x="1598" y="211"/>
                </a:cxn>
                <a:cxn ang="0">
                  <a:pos x="1395" y="0"/>
                </a:cxn>
                <a:cxn ang="0">
                  <a:pos x="203" y="0"/>
                </a:cxn>
                <a:cxn ang="0">
                  <a:pos x="0" y="211"/>
                </a:cxn>
                <a:cxn ang="0">
                  <a:pos x="203" y="422"/>
                </a:cxn>
              </a:cxnLst>
              <a:rect l="0" t="0" r="r" b="b"/>
              <a:pathLst>
                <a:path w="1598" h="422">
                  <a:moveTo>
                    <a:pt x="203" y="422"/>
                  </a:moveTo>
                  <a:lnTo>
                    <a:pt x="1395" y="422"/>
                  </a:lnTo>
                  <a:lnTo>
                    <a:pt x="1598" y="211"/>
                  </a:lnTo>
                  <a:lnTo>
                    <a:pt x="1395" y="0"/>
                  </a:lnTo>
                  <a:lnTo>
                    <a:pt x="203" y="0"/>
                  </a:lnTo>
                  <a:lnTo>
                    <a:pt x="0" y="211"/>
                  </a:lnTo>
                  <a:lnTo>
                    <a:pt x="203" y="422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1" name="Rectangle 33"/>
            <p:cNvSpPr>
              <a:spLocks noChangeArrowheads="1"/>
            </p:cNvSpPr>
            <p:nvPr/>
          </p:nvSpPr>
          <p:spPr bwMode="auto">
            <a:xfrm>
              <a:off x="1830" y="3537"/>
              <a:ext cx="339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타스크 생성 혹은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2" name="Rectangle 34"/>
            <p:cNvSpPr>
              <a:spLocks noChangeArrowheads="1"/>
            </p:cNvSpPr>
            <p:nvPr/>
          </p:nvSpPr>
          <p:spPr bwMode="auto">
            <a:xfrm>
              <a:off x="1782" y="3597"/>
              <a:ext cx="406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인터럽트 등록 실패 </a:t>
              </a:r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?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3" name="Line 35"/>
            <p:cNvSpPr>
              <a:spLocks noChangeShapeType="1"/>
            </p:cNvSpPr>
            <p:nvPr/>
          </p:nvSpPr>
          <p:spPr bwMode="auto">
            <a:xfrm>
              <a:off x="2074" y="3700"/>
              <a:ext cx="1" cy="18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4" name="Freeform 36"/>
            <p:cNvSpPr>
              <a:spLocks/>
            </p:cNvSpPr>
            <p:nvPr/>
          </p:nvSpPr>
          <p:spPr bwMode="auto">
            <a:xfrm>
              <a:off x="2056" y="3884"/>
              <a:ext cx="35" cy="27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31" y="55"/>
                </a:cxn>
                <a:cxn ang="0">
                  <a:pos x="0" y="0"/>
                </a:cxn>
                <a:cxn ang="0">
                  <a:pos x="62" y="0"/>
                </a:cxn>
              </a:cxnLst>
              <a:rect l="0" t="0" r="r" b="b"/>
              <a:pathLst>
                <a:path w="62" h="55">
                  <a:moveTo>
                    <a:pt x="62" y="0"/>
                  </a:moveTo>
                  <a:lnTo>
                    <a:pt x="31" y="55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2027" y="3778"/>
              <a:ext cx="94" cy="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2031" y="3783"/>
              <a:ext cx="60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Yes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7" name="Freeform 39"/>
            <p:cNvSpPr>
              <a:spLocks/>
            </p:cNvSpPr>
            <p:nvPr/>
          </p:nvSpPr>
          <p:spPr bwMode="auto">
            <a:xfrm>
              <a:off x="1697" y="3956"/>
              <a:ext cx="865" cy="211"/>
            </a:xfrm>
            <a:custGeom>
              <a:avLst/>
              <a:gdLst/>
              <a:ahLst/>
              <a:cxnLst>
                <a:cxn ang="0">
                  <a:pos x="0" y="422"/>
                </a:cxn>
                <a:cxn ang="0">
                  <a:pos x="1598" y="422"/>
                </a:cxn>
                <a:cxn ang="0">
                  <a:pos x="1598" y="0"/>
                </a:cxn>
                <a:cxn ang="0">
                  <a:pos x="1497" y="0"/>
                </a:cxn>
                <a:cxn ang="0">
                  <a:pos x="1497" y="333"/>
                </a:cxn>
                <a:cxn ang="0">
                  <a:pos x="0" y="333"/>
                </a:cxn>
                <a:cxn ang="0">
                  <a:pos x="0" y="422"/>
                </a:cxn>
              </a:cxnLst>
              <a:rect l="0" t="0" r="r" b="b"/>
              <a:pathLst>
                <a:path w="1598" h="422">
                  <a:moveTo>
                    <a:pt x="0" y="422"/>
                  </a:moveTo>
                  <a:lnTo>
                    <a:pt x="1598" y="422"/>
                  </a:lnTo>
                  <a:lnTo>
                    <a:pt x="1598" y="0"/>
                  </a:lnTo>
                  <a:lnTo>
                    <a:pt x="1497" y="0"/>
                  </a:lnTo>
                  <a:lnTo>
                    <a:pt x="1497" y="333"/>
                  </a:lnTo>
                  <a:lnTo>
                    <a:pt x="0" y="333"/>
                  </a:lnTo>
                  <a:lnTo>
                    <a:pt x="0" y="42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8" name="Freeform 40"/>
            <p:cNvSpPr>
              <a:spLocks/>
            </p:cNvSpPr>
            <p:nvPr/>
          </p:nvSpPr>
          <p:spPr bwMode="auto">
            <a:xfrm>
              <a:off x="1697" y="3956"/>
              <a:ext cx="865" cy="211"/>
            </a:xfrm>
            <a:custGeom>
              <a:avLst/>
              <a:gdLst/>
              <a:ahLst/>
              <a:cxnLst>
                <a:cxn ang="0">
                  <a:pos x="0" y="422"/>
                </a:cxn>
                <a:cxn ang="0">
                  <a:pos x="1598" y="422"/>
                </a:cxn>
                <a:cxn ang="0">
                  <a:pos x="1598" y="0"/>
                </a:cxn>
                <a:cxn ang="0">
                  <a:pos x="1497" y="0"/>
                </a:cxn>
                <a:cxn ang="0">
                  <a:pos x="1497" y="333"/>
                </a:cxn>
                <a:cxn ang="0">
                  <a:pos x="0" y="333"/>
                </a:cxn>
              </a:cxnLst>
              <a:rect l="0" t="0" r="r" b="b"/>
              <a:pathLst>
                <a:path w="1598" h="422">
                  <a:moveTo>
                    <a:pt x="0" y="422"/>
                  </a:moveTo>
                  <a:lnTo>
                    <a:pt x="1598" y="422"/>
                  </a:lnTo>
                  <a:lnTo>
                    <a:pt x="1598" y="0"/>
                  </a:lnTo>
                  <a:lnTo>
                    <a:pt x="1497" y="0"/>
                  </a:lnTo>
                  <a:lnTo>
                    <a:pt x="1497" y="333"/>
                  </a:lnTo>
                  <a:lnTo>
                    <a:pt x="0" y="333"/>
                  </a:lnTo>
                </a:path>
              </a:pathLst>
            </a:custGeom>
            <a:noFill/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9" name="Rectangle 41"/>
            <p:cNvSpPr>
              <a:spLocks noChangeArrowheads="1"/>
            </p:cNvSpPr>
            <p:nvPr/>
          </p:nvSpPr>
          <p:spPr bwMode="auto">
            <a:xfrm>
              <a:off x="1641" y="3911"/>
              <a:ext cx="866" cy="212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0" name="Rectangle 42"/>
            <p:cNvSpPr>
              <a:spLocks noChangeArrowheads="1"/>
            </p:cNvSpPr>
            <p:nvPr/>
          </p:nvSpPr>
          <p:spPr bwMode="auto">
            <a:xfrm>
              <a:off x="1760" y="3990"/>
              <a:ext cx="435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타스크 생성 </a:t>
              </a:r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Error 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발생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1" name="Rectangle 43"/>
            <p:cNvSpPr>
              <a:spLocks noChangeArrowheads="1"/>
            </p:cNvSpPr>
            <p:nvPr/>
          </p:nvSpPr>
          <p:spPr bwMode="auto">
            <a:xfrm>
              <a:off x="712" y="3766"/>
              <a:ext cx="605" cy="21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2" name="Rectangle 44"/>
            <p:cNvSpPr>
              <a:spLocks noChangeArrowheads="1"/>
            </p:cNvSpPr>
            <p:nvPr/>
          </p:nvSpPr>
          <p:spPr bwMode="auto">
            <a:xfrm>
              <a:off x="741" y="3814"/>
              <a:ext cx="383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프로그램 다음 단계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3" name="Rectangle 45"/>
            <p:cNvSpPr>
              <a:spLocks noChangeArrowheads="1"/>
            </p:cNvSpPr>
            <p:nvPr/>
          </p:nvSpPr>
          <p:spPr bwMode="auto">
            <a:xfrm>
              <a:off x="952" y="3874"/>
              <a:ext cx="87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수행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4" name="Freeform 46"/>
            <p:cNvSpPr>
              <a:spLocks/>
            </p:cNvSpPr>
            <p:nvPr/>
          </p:nvSpPr>
          <p:spPr bwMode="auto">
            <a:xfrm>
              <a:off x="992" y="3594"/>
              <a:ext cx="649" cy="148"/>
            </a:xfrm>
            <a:custGeom>
              <a:avLst/>
              <a:gdLst/>
              <a:ahLst/>
              <a:cxnLst>
                <a:cxn ang="0">
                  <a:pos x="1199" y="0"/>
                </a:cxn>
                <a:cxn ang="0">
                  <a:pos x="0" y="0"/>
                </a:cxn>
                <a:cxn ang="0">
                  <a:pos x="0" y="296"/>
                </a:cxn>
              </a:cxnLst>
              <a:rect l="0" t="0" r="r" b="b"/>
              <a:pathLst>
                <a:path w="1199" h="296">
                  <a:moveTo>
                    <a:pt x="1199" y="0"/>
                  </a:moveTo>
                  <a:lnTo>
                    <a:pt x="0" y="0"/>
                  </a:lnTo>
                  <a:lnTo>
                    <a:pt x="0" y="296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5" name="Rectangle 47"/>
            <p:cNvSpPr>
              <a:spLocks noChangeArrowheads="1"/>
            </p:cNvSpPr>
            <p:nvPr/>
          </p:nvSpPr>
          <p:spPr bwMode="auto">
            <a:xfrm>
              <a:off x="1278" y="3567"/>
              <a:ext cx="76" cy="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6" name="Rectangle 48"/>
            <p:cNvSpPr>
              <a:spLocks noChangeArrowheads="1"/>
            </p:cNvSpPr>
            <p:nvPr/>
          </p:nvSpPr>
          <p:spPr bwMode="auto">
            <a:xfrm>
              <a:off x="1283" y="3571"/>
              <a:ext cx="44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No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7" name="Rectangle 49"/>
            <p:cNvSpPr>
              <a:spLocks noChangeArrowheads="1"/>
            </p:cNvSpPr>
            <p:nvPr/>
          </p:nvSpPr>
          <p:spPr bwMode="auto">
            <a:xfrm>
              <a:off x="1641" y="2150"/>
              <a:ext cx="866" cy="211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8" name="Rectangle 50"/>
            <p:cNvSpPr>
              <a:spLocks noChangeArrowheads="1"/>
            </p:cNvSpPr>
            <p:nvPr/>
          </p:nvSpPr>
          <p:spPr bwMode="auto">
            <a:xfrm>
              <a:off x="1764" y="2228"/>
              <a:ext cx="413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Watchdog Timer 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생성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2074" y="2361"/>
              <a:ext cx="1" cy="18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0" name="Freeform 52"/>
            <p:cNvSpPr>
              <a:spLocks/>
            </p:cNvSpPr>
            <p:nvPr/>
          </p:nvSpPr>
          <p:spPr bwMode="auto">
            <a:xfrm>
              <a:off x="2056" y="2545"/>
              <a:ext cx="35" cy="28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31" y="55"/>
                </a:cxn>
                <a:cxn ang="0">
                  <a:pos x="0" y="0"/>
                </a:cxn>
                <a:cxn ang="0">
                  <a:pos x="62" y="0"/>
                </a:cxn>
              </a:cxnLst>
              <a:rect l="0" t="0" r="r" b="b"/>
              <a:pathLst>
                <a:path w="62" h="55">
                  <a:moveTo>
                    <a:pt x="62" y="0"/>
                  </a:moveTo>
                  <a:lnTo>
                    <a:pt x="31" y="55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1" name="Freeform 53"/>
            <p:cNvSpPr>
              <a:spLocks/>
            </p:cNvSpPr>
            <p:nvPr/>
          </p:nvSpPr>
          <p:spPr bwMode="auto">
            <a:xfrm>
              <a:off x="1641" y="2573"/>
              <a:ext cx="866" cy="211"/>
            </a:xfrm>
            <a:custGeom>
              <a:avLst/>
              <a:gdLst/>
              <a:ahLst/>
              <a:cxnLst>
                <a:cxn ang="0">
                  <a:pos x="203" y="423"/>
                </a:cxn>
                <a:cxn ang="0">
                  <a:pos x="1395" y="423"/>
                </a:cxn>
                <a:cxn ang="0">
                  <a:pos x="1598" y="212"/>
                </a:cxn>
                <a:cxn ang="0">
                  <a:pos x="1395" y="0"/>
                </a:cxn>
                <a:cxn ang="0">
                  <a:pos x="203" y="0"/>
                </a:cxn>
                <a:cxn ang="0">
                  <a:pos x="0" y="212"/>
                </a:cxn>
                <a:cxn ang="0">
                  <a:pos x="203" y="423"/>
                </a:cxn>
              </a:cxnLst>
              <a:rect l="0" t="0" r="r" b="b"/>
              <a:pathLst>
                <a:path w="1598" h="423">
                  <a:moveTo>
                    <a:pt x="203" y="423"/>
                  </a:moveTo>
                  <a:lnTo>
                    <a:pt x="1395" y="423"/>
                  </a:lnTo>
                  <a:lnTo>
                    <a:pt x="1598" y="212"/>
                  </a:lnTo>
                  <a:lnTo>
                    <a:pt x="1395" y="0"/>
                  </a:lnTo>
                  <a:lnTo>
                    <a:pt x="203" y="0"/>
                  </a:lnTo>
                  <a:lnTo>
                    <a:pt x="0" y="212"/>
                  </a:lnTo>
                  <a:lnTo>
                    <a:pt x="203" y="423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1815" y="2621"/>
              <a:ext cx="339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 Watchdog Timer 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1914" y="2681"/>
              <a:ext cx="221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생성 실패 </a:t>
              </a:r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?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4" name="Line 56"/>
            <p:cNvSpPr>
              <a:spLocks noChangeShapeType="1"/>
            </p:cNvSpPr>
            <p:nvPr/>
          </p:nvSpPr>
          <p:spPr bwMode="auto">
            <a:xfrm>
              <a:off x="2074" y="2784"/>
              <a:ext cx="1" cy="258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5" name="Freeform 57"/>
            <p:cNvSpPr>
              <a:spLocks/>
            </p:cNvSpPr>
            <p:nvPr/>
          </p:nvSpPr>
          <p:spPr bwMode="auto">
            <a:xfrm>
              <a:off x="2056" y="3038"/>
              <a:ext cx="35" cy="27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31" y="55"/>
                </a:cxn>
                <a:cxn ang="0">
                  <a:pos x="0" y="0"/>
                </a:cxn>
                <a:cxn ang="0">
                  <a:pos x="62" y="0"/>
                </a:cxn>
              </a:cxnLst>
              <a:rect l="0" t="0" r="r" b="b"/>
              <a:pathLst>
                <a:path w="62" h="55">
                  <a:moveTo>
                    <a:pt x="62" y="0"/>
                  </a:moveTo>
                  <a:lnTo>
                    <a:pt x="31" y="55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6" name="Rectangle 58"/>
            <p:cNvSpPr>
              <a:spLocks noChangeArrowheads="1"/>
            </p:cNvSpPr>
            <p:nvPr/>
          </p:nvSpPr>
          <p:spPr bwMode="auto">
            <a:xfrm>
              <a:off x="2036" y="2897"/>
              <a:ext cx="75" cy="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7" name="Rectangle 59"/>
            <p:cNvSpPr>
              <a:spLocks noChangeArrowheads="1"/>
            </p:cNvSpPr>
            <p:nvPr/>
          </p:nvSpPr>
          <p:spPr bwMode="auto">
            <a:xfrm>
              <a:off x="2040" y="2902"/>
              <a:ext cx="44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No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8" name="Freeform 60"/>
            <p:cNvSpPr>
              <a:spLocks/>
            </p:cNvSpPr>
            <p:nvPr/>
          </p:nvSpPr>
          <p:spPr bwMode="auto">
            <a:xfrm>
              <a:off x="571" y="2899"/>
              <a:ext cx="864" cy="211"/>
            </a:xfrm>
            <a:custGeom>
              <a:avLst/>
              <a:gdLst/>
              <a:ahLst/>
              <a:cxnLst>
                <a:cxn ang="0">
                  <a:pos x="0" y="422"/>
                </a:cxn>
                <a:cxn ang="0">
                  <a:pos x="1598" y="422"/>
                </a:cxn>
                <a:cxn ang="0">
                  <a:pos x="1598" y="0"/>
                </a:cxn>
                <a:cxn ang="0">
                  <a:pos x="1497" y="0"/>
                </a:cxn>
                <a:cxn ang="0">
                  <a:pos x="1497" y="333"/>
                </a:cxn>
                <a:cxn ang="0">
                  <a:pos x="0" y="333"/>
                </a:cxn>
                <a:cxn ang="0">
                  <a:pos x="0" y="422"/>
                </a:cxn>
              </a:cxnLst>
              <a:rect l="0" t="0" r="r" b="b"/>
              <a:pathLst>
                <a:path w="1598" h="422">
                  <a:moveTo>
                    <a:pt x="0" y="422"/>
                  </a:moveTo>
                  <a:lnTo>
                    <a:pt x="1598" y="422"/>
                  </a:lnTo>
                  <a:lnTo>
                    <a:pt x="1598" y="0"/>
                  </a:lnTo>
                  <a:lnTo>
                    <a:pt x="1497" y="0"/>
                  </a:lnTo>
                  <a:lnTo>
                    <a:pt x="1497" y="333"/>
                  </a:lnTo>
                  <a:lnTo>
                    <a:pt x="0" y="333"/>
                  </a:lnTo>
                  <a:lnTo>
                    <a:pt x="0" y="42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9" name="Freeform 61"/>
            <p:cNvSpPr>
              <a:spLocks/>
            </p:cNvSpPr>
            <p:nvPr/>
          </p:nvSpPr>
          <p:spPr bwMode="auto">
            <a:xfrm>
              <a:off x="571" y="2899"/>
              <a:ext cx="864" cy="211"/>
            </a:xfrm>
            <a:custGeom>
              <a:avLst/>
              <a:gdLst/>
              <a:ahLst/>
              <a:cxnLst>
                <a:cxn ang="0">
                  <a:pos x="0" y="422"/>
                </a:cxn>
                <a:cxn ang="0">
                  <a:pos x="1598" y="422"/>
                </a:cxn>
                <a:cxn ang="0">
                  <a:pos x="1598" y="0"/>
                </a:cxn>
                <a:cxn ang="0">
                  <a:pos x="1497" y="0"/>
                </a:cxn>
                <a:cxn ang="0">
                  <a:pos x="1497" y="333"/>
                </a:cxn>
                <a:cxn ang="0">
                  <a:pos x="0" y="333"/>
                </a:cxn>
              </a:cxnLst>
              <a:rect l="0" t="0" r="r" b="b"/>
              <a:pathLst>
                <a:path w="1598" h="422">
                  <a:moveTo>
                    <a:pt x="0" y="422"/>
                  </a:moveTo>
                  <a:lnTo>
                    <a:pt x="1598" y="422"/>
                  </a:lnTo>
                  <a:lnTo>
                    <a:pt x="1598" y="0"/>
                  </a:lnTo>
                  <a:lnTo>
                    <a:pt x="1497" y="0"/>
                  </a:lnTo>
                  <a:lnTo>
                    <a:pt x="1497" y="333"/>
                  </a:lnTo>
                  <a:lnTo>
                    <a:pt x="0" y="333"/>
                  </a:lnTo>
                </a:path>
              </a:pathLst>
            </a:custGeom>
            <a:noFill/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0" name="Rectangle 62"/>
            <p:cNvSpPr>
              <a:spLocks noChangeArrowheads="1"/>
            </p:cNvSpPr>
            <p:nvPr/>
          </p:nvSpPr>
          <p:spPr bwMode="auto">
            <a:xfrm>
              <a:off x="516" y="2854"/>
              <a:ext cx="865" cy="211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1" name="Rectangle 63"/>
            <p:cNvSpPr>
              <a:spLocks noChangeArrowheads="1"/>
            </p:cNvSpPr>
            <p:nvPr/>
          </p:nvSpPr>
          <p:spPr bwMode="auto">
            <a:xfrm>
              <a:off x="628" y="2903"/>
              <a:ext cx="425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Watchdog Timer 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생성 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12" name="Rectangle 64"/>
            <p:cNvSpPr>
              <a:spLocks noChangeArrowheads="1"/>
            </p:cNvSpPr>
            <p:nvPr/>
          </p:nvSpPr>
          <p:spPr bwMode="auto">
            <a:xfrm>
              <a:off x="808" y="2963"/>
              <a:ext cx="19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Error 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발생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13" name="Freeform 65"/>
            <p:cNvSpPr>
              <a:spLocks/>
            </p:cNvSpPr>
            <p:nvPr/>
          </p:nvSpPr>
          <p:spPr bwMode="auto">
            <a:xfrm>
              <a:off x="949" y="2678"/>
              <a:ext cx="692" cy="148"/>
            </a:xfrm>
            <a:custGeom>
              <a:avLst/>
              <a:gdLst/>
              <a:ahLst/>
              <a:cxnLst>
                <a:cxn ang="0">
                  <a:pos x="1279" y="0"/>
                </a:cxn>
                <a:cxn ang="0">
                  <a:pos x="0" y="0"/>
                </a:cxn>
                <a:cxn ang="0">
                  <a:pos x="0" y="295"/>
                </a:cxn>
              </a:cxnLst>
              <a:rect l="0" t="0" r="r" b="b"/>
              <a:pathLst>
                <a:path w="1279" h="295">
                  <a:moveTo>
                    <a:pt x="1279" y="0"/>
                  </a:moveTo>
                  <a:lnTo>
                    <a:pt x="0" y="0"/>
                  </a:lnTo>
                  <a:lnTo>
                    <a:pt x="0" y="295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4" name="Freeform 66"/>
            <p:cNvSpPr>
              <a:spLocks/>
            </p:cNvSpPr>
            <p:nvPr/>
          </p:nvSpPr>
          <p:spPr bwMode="auto">
            <a:xfrm>
              <a:off x="928" y="2822"/>
              <a:ext cx="41" cy="32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36" y="64"/>
                </a:cxn>
                <a:cxn ang="0">
                  <a:pos x="0" y="0"/>
                </a:cxn>
                <a:cxn ang="0">
                  <a:pos x="73" y="0"/>
                </a:cxn>
              </a:cxnLst>
              <a:rect l="0" t="0" r="r" b="b"/>
              <a:pathLst>
                <a:path w="73" h="64">
                  <a:moveTo>
                    <a:pt x="73" y="0"/>
                  </a:moveTo>
                  <a:lnTo>
                    <a:pt x="36" y="64"/>
                  </a:lnTo>
                  <a:lnTo>
                    <a:pt x="0" y="0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5" name="Rectangle 67"/>
            <p:cNvSpPr>
              <a:spLocks noChangeArrowheads="1"/>
            </p:cNvSpPr>
            <p:nvPr/>
          </p:nvSpPr>
          <p:spPr bwMode="auto">
            <a:xfrm>
              <a:off x="1248" y="2651"/>
              <a:ext cx="94" cy="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6" name="Rectangle 68"/>
            <p:cNvSpPr>
              <a:spLocks noChangeArrowheads="1"/>
            </p:cNvSpPr>
            <p:nvPr/>
          </p:nvSpPr>
          <p:spPr bwMode="auto">
            <a:xfrm>
              <a:off x="1252" y="2655"/>
              <a:ext cx="60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Yes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975" y="3722"/>
              <a:ext cx="40" cy="37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36" y="73"/>
                </a:cxn>
                <a:cxn ang="0">
                  <a:pos x="0" y="0"/>
                </a:cxn>
                <a:cxn ang="0">
                  <a:pos x="73" y="0"/>
                </a:cxn>
              </a:cxnLst>
              <a:rect l="0" t="0" r="r" b="b"/>
              <a:pathLst>
                <a:path w="73" h="73">
                  <a:moveTo>
                    <a:pt x="73" y="0"/>
                  </a:moveTo>
                  <a:lnTo>
                    <a:pt x="36" y="73"/>
                  </a:lnTo>
                  <a:lnTo>
                    <a:pt x="0" y="0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8" name="Rectangle 70"/>
            <p:cNvSpPr>
              <a:spLocks noChangeArrowheads="1"/>
            </p:cNvSpPr>
            <p:nvPr/>
          </p:nvSpPr>
          <p:spPr bwMode="auto">
            <a:xfrm>
              <a:off x="652" y="3762"/>
              <a:ext cx="644" cy="209"/>
            </a:xfrm>
            <a:prstGeom prst="rect">
              <a:avLst/>
            </a:prstGeom>
            <a:noFill/>
            <a:ln w="1651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119" name="Rectangle 71"/>
          <p:cNvSpPr>
            <a:spLocks noChangeArrowheads="1"/>
          </p:cNvSpPr>
          <p:nvPr/>
        </p:nvSpPr>
        <p:spPr bwMode="auto">
          <a:xfrm>
            <a:off x="4994275" y="1066800"/>
            <a:ext cx="4081463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외부결선과 무관한 현상임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2. SMPS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출력단 전압 체크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(5</a:t>
            </a:r>
            <a:r>
              <a:rPr lang="en-US" altLang="ko-KR" sz="1000">
                <a:ea typeface="바탕체" pitchFamily="17" charset="-127"/>
              </a:rPr>
              <a:t>±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0.1V)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SMPS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3. 2~3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계속 발생시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교환한다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120" name="Rectangle 72"/>
          <p:cNvSpPr>
            <a:spLocks noChangeArrowheads="1"/>
          </p:cNvSpPr>
          <p:nvPr/>
        </p:nvSpPr>
        <p:spPr bwMode="auto">
          <a:xfrm>
            <a:off x="8234363" y="457200"/>
            <a:ext cx="833437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16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ER_INV_CPU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92125" y="838200"/>
            <a:ext cx="42338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DSP H/W Watchdog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46050" y="1816100"/>
            <a:ext cx="4637088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DSP(INV CPU) H/W Watchdog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발생하면 자동으로 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DSP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RESET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시킨다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DSP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H/W  Watchdog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검출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TASK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주기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최소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60 ~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최대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90ms)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유지될 경우 고장을 검출하고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DSP Reset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신호를 출력한다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48V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/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전압강하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시에는 검출하지 않는다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4953000" y="1066800"/>
            <a:ext cx="4191000" cy="130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DPC-11x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연결하는 통신 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(64P)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제대로 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    꼽혀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이상 시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2. SMPS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출력단 전압 체크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(5</a:t>
            </a:r>
            <a:r>
              <a:rPr lang="en-US" altLang="ko-KR" sz="1000">
                <a:ea typeface="바탕체" pitchFamily="17" charset="-127"/>
              </a:rPr>
              <a:t>±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0.1V)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SMPS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통신 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(64P)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꼬아 준다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접지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5. DPC-11X PCB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2743200"/>
            <a:ext cx="803275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검출 방법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8234363" y="457200"/>
            <a:ext cx="833437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17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ER_INV_RETRY_REPEAT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22275" y="838200"/>
            <a:ext cx="42322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DSP H/W Watch Dog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검출되어 운전에서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DSP Retry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수행하여도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DSP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정상적으로 동작하지 않음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228600" y="1905000"/>
            <a:ext cx="4233863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운전에서 내보내는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RETRY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연속 지속되면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검출하며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E/L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기동 불가 상태로 만든다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4994275" y="1066800"/>
            <a:ext cx="4073525" cy="130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DPC-11x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연결하는 통신 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(64P)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제대로 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    꼽혀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이상 시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 체크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(5</a:t>
            </a:r>
            <a:r>
              <a:rPr lang="en-US" altLang="ko-KR" sz="1000">
                <a:ea typeface="바탕체" pitchFamily="17" charset="-127"/>
              </a:rPr>
              <a:t>±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0.1V)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SMPS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통신 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(64P)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꼬아 준다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접지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5. DPC-11x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28575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참조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228600" y="3162300"/>
            <a:ext cx="4233863" cy="146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Retry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소요 시간</a:t>
            </a: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1)  Reset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동안 유지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2)  Reset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초간 대기</a:t>
            </a: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Retry 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소요시간</a:t>
            </a: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(150ms x 4) + (2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x 4) = 8.6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8234363" y="457200"/>
            <a:ext cx="833437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21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22838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ER_INV_DPRAM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22275" y="838200"/>
            <a:ext cx="42322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운전 측과 속도 측과의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DPRAM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통신 시 전송한 값과 피드백된 값이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연속하여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주기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(120 msec)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동안 다를 때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4994275" y="1066800"/>
            <a:ext cx="4149725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DPC-11x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연결하는 통신 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(64P)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제대로 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    꼽혀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이상 시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통신 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(64P)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꼬아 준다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접지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4. SMPC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출력단 전압 체크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(5</a:t>
            </a:r>
            <a:r>
              <a:rPr lang="en-US" altLang="ko-KR" sz="1000">
                <a:ea typeface="바탕체" pitchFamily="17" charset="-127"/>
              </a:rPr>
              <a:t>±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0.1V)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SMPS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5. 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6. DPC-11x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63500" y="1828800"/>
            <a:ext cx="42354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39700" y="1828800"/>
            <a:ext cx="4713288" cy="252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DPRAM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으로 데이터 전송 시 피드백하여 확인하는 데이터 </a:t>
            </a: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상기 데이터가 연속하여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주기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(120 msec)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동안 서로 상이하면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   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228600" y="2133600"/>
            <a:ext cx="45720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228600" y="2438400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228600" y="2743200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228600" y="3048000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>
            <a:off x="228600" y="3352800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2438400" y="21336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215900" y="2486025"/>
            <a:ext cx="2198688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Coil[RS_SUPPRESS_ON] : 0x91C3</a:t>
            </a:r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2430463" y="2473325"/>
            <a:ext cx="242093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Coil[SV_INV_SUPPRESS_FB] : 0x9208</a:t>
            </a:r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2589213" y="2781300"/>
            <a:ext cx="20701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Coil[SV_INV_C1ST_FB] : 0x920A</a:t>
            </a:r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2586038" y="3084513"/>
            <a:ext cx="20701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Coil[SV_INV_C1BR_FB] : 0x9209</a:t>
            </a:r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2582863" y="3390900"/>
            <a:ext cx="20843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Coil[SV_INV_R5SC_FB] : 0x920B</a:t>
            </a:r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430213" y="2776538"/>
            <a:ext cx="18034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SWD_O[VO_C1ST] : 0x8081</a:t>
            </a:r>
          </a:p>
        </p:txBody>
      </p: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430213" y="3065463"/>
            <a:ext cx="18176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SWD_O[VO_C1BR] : 0x8080</a:t>
            </a:r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423863" y="3381375"/>
            <a:ext cx="18176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SWD_O[VO_R5SC] : 0x8082</a:t>
            </a:r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909638" y="2165350"/>
            <a:ext cx="8445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ko-KR" altLang="en-US" sz="1000">
                <a:latin typeface="Arial" charset="0"/>
                <a:ea typeface="굴림체" pitchFamily="49" charset="-127"/>
              </a:rPr>
              <a:t>전송 데이터</a:t>
            </a:r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2760663" y="2166938"/>
            <a:ext cx="9715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78" tIns="43640" rIns="87278" bIns="43640">
            <a:spAutoFit/>
          </a:bodyPr>
          <a:lstStyle/>
          <a:p>
            <a:pPr defTabSz="873125"/>
            <a:r>
              <a:rPr lang="ko-KR" altLang="en-US" sz="1000">
                <a:latin typeface="Arial" charset="0"/>
                <a:ea typeface="굴림체" pitchFamily="49" charset="-127"/>
              </a:rPr>
              <a:t>피드백 데이터</a:t>
            </a:r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8234363" y="457200"/>
            <a:ext cx="833437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30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인버터 과전류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(ER_INV_OC)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42672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전동기에 흐르는 전류가 제한치를 초과한 경우 전동기 및 인버터 소자를 보호 하기 위하여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95300" y="2103438"/>
            <a:ext cx="3902075" cy="3854450"/>
            <a:chOff x="312" y="1325"/>
            <a:chExt cx="2458" cy="2428"/>
          </a:xfrm>
        </p:grpSpPr>
        <p:grpSp>
          <p:nvGrpSpPr>
            <p:cNvPr id="3" name="Group 21"/>
            <p:cNvGrpSpPr>
              <a:grpSpLocks/>
            </p:cNvGrpSpPr>
            <p:nvPr/>
          </p:nvGrpSpPr>
          <p:grpSpPr bwMode="auto">
            <a:xfrm>
              <a:off x="312" y="1325"/>
              <a:ext cx="2401" cy="2338"/>
              <a:chOff x="312" y="1325"/>
              <a:chExt cx="2401" cy="2338"/>
            </a:xfrm>
          </p:grpSpPr>
          <p:sp>
            <p:nvSpPr>
              <p:cNvPr id="2070" name="Line 22"/>
              <p:cNvSpPr>
                <a:spLocks noChangeShapeType="1"/>
              </p:cNvSpPr>
              <p:nvPr/>
            </p:nvSpPr>
            <p:spPr bwMode="auto">
              <a:xfrm>
                <a:off x="1138" y="3254"/>
                <a:ext cx="1" cy="367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1" name="Freeform 23"/>
              <p:cNvSpPr>
                <a:spLocks/>
              </p:cNvSpPr>
              <p:nvPr/>
            </p:nvSpPr>
            <p:spPr bwMode="auto">
              <a:xfrm>
                <a:off x="1110" y="3609"/>
                <a:ext cx="55" cy="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" y="54"/>
                  </a:cxn>
                  <a:cxn ang="0">
                    <a:pos x="55" y="0"/>
                  </a:cxn>
                  <a:cxn ang="0">
                    <a:pos x="51" y="1"/>
                  </a:cxn>
                  <a:cxn ang="0">
                    <a:pos x="47" y="2"/>
                  </a:cxn>
                  <a:cxn ang="0">
                    <a:pos x="42" y="4"/>
                  </a:cxn>
                  <a:cxn ang="0">
                    <a:pos x="38" y="4"/>
                  </a:cxn>
                  <a:cxn ang="0">
                    <a:pos x="34" y="6"/>
                  </a:cxn>
                  <a:cxn ang="0">
                    <a:pos x="29" y="6"/>
                  </a:cxn>
                  <a:cxn ang="0">
                    <a:pos x="26" y="6"/>
                  </a:cxn>
                  <a:cxn ang="0">
                    <a:pos x="21" y="6"/>
                  </a:cxn>
                  <a:cxn ang="0">
                    <a:pos x="17" y="4"/>
                  </a:cxn>
                  <a:cxn ang="0">
                    <a:pos x="13" y="4"/>
                  </a:cxn>
                  <a:cxn ang="0">
                    <a:pos x="9" y="2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55" h="54">
                    <a:moveTo>
                      <a:pt x="0" y="0"/>
                    </a:moveTo>
                    <a:lnTo>
                      <a:pt x="28" y="54"/>
                    </a:lnTo>
                    <a:lnTo>
                      <a:pt x="55" y="0"/>
                    </a:lnTo>
                    <a:lnTo>
                      <a:pt x="51" y="1"/>
                    </a:lnTo>
                    <a:lnTo>
                      <a:pt x="47" y="2"/>
                    </a:lnTo>
                    <a:lnTo>
                      <a:pt x="42" y="4"/>
                    </a:lnTo>
                    <a:lnTo>
                      <a:pt x="38" y="4"/>
                    </a:lnTo>
                    <a:lnTo>
                      <a:pt x="34" y="6"/>
                    </a:lnTo>
                    <a:lnTo>
                      <a:pt x="29" y="6"/>
                    </a:lnTo>
                    <a:lnTo>
                      <a:pt x="26" y="6"/>
                    </a:lnTo>
                    <a:lnTo>
                      <a:pt x="21" y="6"/>
                    </a:lnTo>
                    <a:lnTo>
                      <a:pt x="17" y="4"/>
                    </a:lnTo>
                    <a:lnTo>
                      <a:pt x="13" y="4"/>
                    </a:lnTo>
                    <a:lnTo>
                      <a:pt x="9" y="2"/>
                    </a:lnTo>
                    <a:lnTo>
                      <a:pt x="4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2" name="Line 24"/>
              <p:cNvSpPr>
                <a:spLocks noChangeShapeType="1"/>
              </p:cNvSpPr>
              <p:nvPr/>
            </p:nvSpPr>
            <p:spPr bwMode="auto">
              <a:xfrm>
                <a:off x="635" y="3254"/>
                <a:ext cx="1" cy="367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3" name="Freeform 25"/>
              <p:cNvSpPr>
                <a:spLocks/>
              </p:cNvSpPr>
              <p:nvPr/>
            </p:nvSpPr>
            <p:spPr bwMode="auto">
              <a:xfrm>
                <a:off x="607" y="3609"/>
                <a:ext cx="54" cy="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" y="54"/>
                  </a:cxn>
                  <a:cxn ang="0">
                    <a:pos x="54" y="0"/>
                  </a:cxn>
                  <a:cxn ang="0">
                    <a:pos x="51" y="1"/>
                  </a:cxn>
                  <a:cxn ang="0">
                    <a:pos x="46" y="2"/>
                  </a:cxn>
                  <a:cxn ang="0">
                    <a:pos x="42" y="4"/>
                  </a:cxn>
                  <a:cxn ang="0">
                    <a:pos x="38" y="4"/>
                  </a:cxn>
                  <a:cxn ang="0">
                    <a:pos x="33" y="6"/>
                  </a:cxn>
                  <a:cxn ang="0">
                    <a:pos x="29" y="6"/>
                  </a:cxn>
                  <a:cxn ang="0">
                    <a:pos x="25" y="6"/>
                  </a:cxn>
                  <a:cxn ang="0">
                    <a:pos x="21" y="6"/>
                  </a:cxn>
                  <a:cxn ang="0">
                    <a:pos x="16" y="4"/>
                  </a:cxn>
                  <a:cxn ang="0">
                    <a:pos x="13" y="4"/>
                  </a:cxn>
                  <a:cxn ang="0">
                    <a:pos x="8" y="2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54" h="54">
                    <a:moveTo>
                      <a:pt x="0" y="0"/>
                    </a:moveTo>
                    <a:lnTo>
                      <a:pt x="28" y="54"/>
                    </a:lnTo>
                    <a:lnTo>
                      <a:pt x="54" y="0"/>
                    </a:lnTo>
                    <a:lnTo>
                      <a:pt x="51" y="1"/>
                    </a:lnTo>
                    <a:lnTo>
                      <a:pt x="46" y="2"/>
                    </a:lnTo>
                    <a:lnTo>
                      <a:pt x="42" y="4"/>
                    </a:lnTo>
                    <a:lnTo>
                      <a:pt x="38" y="4"/>
                    </a:lnTo>
                    <a:lnTo>
                      <a:pt x="33" y="6"/>
                    </a:lnTo>
                    <a:lnTo>
                      <a:pt x="29" y="6"/>
                    </a:lnTo>
                    <a:lnTo>
                      <a:pt x="25" y="6"/>
                    </a:lnTo>
                    <a:lnTo>
                      <a:pt x="21" y="6"/>
                    </a:lnTo>
                    <a:lnTo>
                      <a:pt x="16" y="4"/>
                    </a:lnTo>
                    <a:lnTo>
                      <a:pt x="13" y="4"/>
                    </a:lnTo>
                    <a:lnTo>
                      <a:pt x="8" y="2"/>
                    </a:lnTo>
                    <a:lnTo>
                      <a:pt x="4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4" name="Line 26"/>
              <p:cNvSpPr>
                <a:spLocks noChangeShapeType="1"/>
              </p:cNvSpPr>
              <p:nvPr/>
            </p:nvSpPr>
            <p:spPr bwMode="auto">
              <a:xfrm>
                <a:off x="920" y="1425"/>
                <a:ext cx="680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5" name="Line 27"/>
              <p:cNvSpPr>
                <a:spLocks noChangeShapeType="1"/>
              </p:cNvSpPr>
              <p:nvPr/>
            </p:nvSpPr>
            <p:spPr bwMode="auto">
              <a:xfrm>
                <a:off x="917" y="2158"/>
                <a:ext cx="67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6" name="Line 28"/>
              <p:cNvSpPr>
                <a:spLocks noChangeShapeType="1"/>
              </p:cNvSpPr>
              <p:nvPr/>
            </p:nvSpPr>
            <p:spPr bwMode="auto">
              <a:xfrm>
                <a:off x="1525" y="1425"/>
                <a:ext cx="1" cy="29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1457" y="1765"/>
                <a:ext cx="13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1457" y="1724"/>
                <a:ext cx="13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1525" y="1765"/>
                <a:ext cx="1" cy="39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396" y="1724"/>
                <a:ext cx="517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1" name="Line 33"/>
              <p:cNvSpPr>
                <a:spLocks noChangeShapeType="1"/>
              </p:cNvSpPr>
              <p:nvPr/>
            </p:nvSpPr>
            <p:spPr bwMode="auto">
              <a:xfrm>
                <a:off x="396" y="1779"/>
                <a:ext cx="73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>
                <a:off x="396" y="1833"/>
                <a:ext cx="95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3" name="Rectangle 35"/>
              <p:cNvSpPr>
                <a:spLocks noChangeArrowheads="1"/>
              </p:cNvSpPr>
              <p:nvPr/>
            </p:nvSpPr>
            <p:spPr bwMode="auto">
              <a:xfrm>
                <a:off x="842" y="1325"/>
                <a:ext cx="548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7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       INV U-V-W stack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084" name="Line 36"/>
              <p:cNvSpPr>
                <a:spLocks noChangeShapeType="1"/>
              </p:cNvSpPr>
              <p:nvPr/>
            </p:nvSpPr>
            <p:spPr bwMode="auto">
              <a:xfrm flipV="1">
                <a:off x="553" y="1745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5" name="Line 37"/>
              <p:cNvSpPr>
                <a:spLocks noChangeShapeType="1"/>
              </p:cNvSpPr>
              <p:nvPr/>
            </p:nvSpPr>
            <p:spPr bwMode="auto">
              <a:xfrm flipV="1">
                <a:off x="611" y="1745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6" name="Line 38"/>
              <p:cNvSpPr>
                <a:spLocks noChangeShapeType="1"/>
              </p:cNvSpPr>
              <p:nvPr/>
            </p:nvSpPr>
            <p:spPr bwMode="auto">
              <a:xfrm flipH="1" flipV="1">
                <a:off x="553" y="1746"/>
                <a:ext cx="28" cy="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7" name="Line 39"/>
              <p:cNvSpPr>
                <a:spLocks noChangeShapeType="1"/>
              </p:cNvSpPr>
              <p:nvPr/>
            </p:nvSpPr>
            <p:spPr bwMode="auto">
              <a:xfrm flipV="1">
                <a:off x="581" y="1746"/>
                <a:ext cx="30" cy="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8" name="Line 40"/>
              <p:cNvSpPr>
                <a:spLocks noChangeShapeType="1"/>
              </p:cNvSpPr>
              <p:nvPr/>
            </p:nvSpPr>
            <p:spPr bwMode="auto">
              <a:xfrm flipV="1">
                <a:off x="650" y="1701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9" name="Line 41"/>
              <p:cNvSpPr>
                <a:spLocks noChangeShapeType="1"/>
              </p:cNvSpPr>
              <p:nvPr/>
            </p:nvSpPr>
            <p:spPr bwMode="auto">
              <a:xfrm flipV="1">
                <a:off x="707" y="1701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 flipH="1" flipV="1">
                <a:off x="650" y="1701"/>
                <a:ext cx="27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 flipV="1">
                <a:off x="677" y="1701"/>
                <a:ext cx="30" cy="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 flipH="1">
                <a:off x="1355" y="2308"/>
                <a:ext cx="54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1548" y="2594"/>
                <a:ext cx="2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4" name="Line 46"/>
              <p:cNvSpPr>
                <a:spLocks noChangeShapeType="1"/>
              </p:cNvSpPr>
              <p:nvPr/>
            </p:nvSpPr>
            <p:spPr bwMode="auto">
              <a:xfrm>
                <a:off x="1537" y="2584"/>
                <a:ext cx="4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>
                <a:off x="1525" y="2572"/>
                <a:ext cx="68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6" name="Line 48"/>
              <p:cNvSpPr>
                <a:spLocks noChangeShapeType="1"/>
              </p:cNvSpPr>
              <p:nvPr/>
            </p:nvSpPr>
            <p:spPr bwMode="auto">
              <a:xfrm>
                <a:off x="1560" y="2526"/>
                <a:ext cx="1" cy="4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7" name="Line 49"/>
              <p:cNvSpPr>
                <a:spLocks noChangeShapeType="1"/>
              </p:cNvSpPr>
              <p:nvPr/>
            </p:nvSpPr>
            <p:spPr bwMode="auto">
              <a:xfrm>
                <a:off x="1355" y="2526"/>
                <a:ext cx="20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8" name="Line 50"/>
              <p:cNvSpPr>
                <a:spLocks noChangeShapeType="1"/>
              </p:cNvSpPr>
              <p:nvPr/>
            </p:nvSpPr>
            <p:spPr bwMode="auto">
              <a:xfrm>
                <a:off x="1560" y="2308"/>
                <a:ext cx="1" cy="6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9" name="Line 51"/>
              <p:cNvSpPr>
                <a:spLocks noChangeShapeType="1"/>
              </p:cNvSpPr>
              <p:nvPr/>
            </p:nvSpPr>
            <p:spPr bwMode="auto">
              <a:xfrm>
                <a:off x="1560" y="2458"/>
                <a:ext cx="1" cy="6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0" name="Rectangle 52"/>
              <p:cNvSpPr>
                <a:spLocks noChangeArrowheads="1"/>
              </p:cNvSpPr>
              <p:nvPr/>
            </p:nvSpPr>
            <p:spPr bwMode="auto">
              <a:xfrm>
                <a:off x="1546" y="2376"/>
                <a:ext cx="26" cy="82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1" name="Rectangle 53"/>
              <p:cNvSpPr>
                <a:spLocks noChangeArrowheads="1"/>
              </p:cNvSpPr>
              <p:nvPr/>
            </p:nvSpPr>
            <p:spPr bwMode="auto">
              <a:xfrm>
                <a:off x="1589" y="2400"/>
                <a:ext cx="59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R44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 flipH="1">
                <a:off x="1560" y="2526"/>
                <a:ext cx="543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3" name="Line 55"/>
              <p:cNvSpPr>
                <a:spLocks noChangeShapeType="1"/>
              </p:cNvSpPr>
              <p:nvPr/>
            </p:nvSpPr>
            <p:spPr bwMode="auto">
              <a:xfrm flipH="1">
                <a:off x="1814" y="2275"/>
                <a:ext cx="8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4" name="Line 56"/>
              <p:cNvSpPr>
                <a:spLocks noChangeShapeType="1"/>
              </p:cNvSpPr>
              <p:nvPr/>
            </p:nvSpPr>
            <p:spPr bwMode="auto">
              <a:xfrm flipH="1">
                <a:off x="2025" y="2296"/>
                <a:ext cx="78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5" name="Rectangle 57"/>
              <p:cNvSpPr>
                <a:spLocks noChangeArrowheads="1"/>
              </p:cNvSpPr>
              <p:nvPr/>
            </p:nvSpPr>
            <p:spPr bwMode="auto">
              <a:xfrm>
                <a:off x="1910" y="2244"/>
                <a:ext cx="11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-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06" name="Rectangle 58"/>
              <p:cNvSpPr>
                <a:spLocks noChangeArrowheads="1"/>
              </p:cNvSpPr>
              <p:nvPr/>
            </p:nvSpPr>
            <p:spPr bwMode="auto">
              <a:xfrm>
                <a:off x="1904" y="2289"/>
                <a:ext cx="19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+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>
                <a:off x="2103" y="2146"/>
                <a:ext cx="1" cy="3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>
                <a:off x="2103" y="2261"/>
                <a:ext cx="1" cy="3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9" name="Rectangle 61"/>
              <p:cNvSpPr>
                <a:spLocks noChangeArrowheads="1"/>
              </p:cNvSpPr>
              <p:nvPr/>
            </p:nvSpPr>
            <p:spPr bwMode="auto">
              <a:xfrm>
                <a:off x="2090" y="2179"/>
                <a:ext cx="27" cy="82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0" name="Rectangle 62"/>
              <p:cNvSpPr>
                <a:spLocks noChangeArrowheads="1"/>
              </p:cNvSpPr>
              <p:nvPr/>
            </p:nvSpPr>
            <p:spPr bwMode="auto">
              <a:xfrm>
                <a:off x="2132" y="2203"/>
                <a:ext cx="59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R18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>
                <a:off x="2103" y="2296"/>
                <a:ext cx="1" cy="11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2103" y="2416"/>
                <a:ext cx="1" cy="11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3" name="Freeform 65"/>
              <p:cNvSpPr>
                <a:spLocks/>
              </p:cNvSpPr>
              <p:nvPr/>
            </p:nvSpPr>
            <p:spPr bwMode="auto">
              <a:xfrm>
                <a:off x="2083" y="2416"/>
                <a:ext cx="41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1" y="0"/>
                  </a:cxn>
                  <a:cxn ang="0">
                    <a:pos x="0" y="0"/>
                  </a:cxn>
                </a:cxnLst>
                <a:rect l="0" t="0" r="r" b="b"/>
                <a:pathLst>
                  <a:path w="41">
                    <a:moveTo>
                      <a:pt x="0" y="0"/>
                    </a:moveTo>
                    <a:lnTo>
                      <a:pt x="4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2083" y="2416"/>
                <a:ext cx="4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>
                <a:off x="2083" y="2406"/>
                <a:ext cx="4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6" name="Rectangle 68"/>
              <p:cNvSpPr>
                <a:spLocks noChangeArrowheads="1"/>
              </p:cNvSpPr>
              <p:nvPr/>
            </p:nvSpPr>
            <p:spPr bwMode="auto">
              <a:xfrm>
                <a:off x="2140" y="2393"/>
                <a:ext cx="59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C88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17" name="Rectangle 69"/>
              <p:cNvSpPr>
                <a:spLocks noChangeArrowheads="1"/>
              </p:cNvSpPr>
              <p:nvPr/>
            </p:nvSpPr>
            <p:spPr bwMode="auto">
              <a:xfrm>
                <a:off x="2532" y="2224"/>
                <a:ext cx="84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OCT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 flipH="1">
                <a:off x="2433" y="2292"/>
                <a:ext cx="21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9" name="Freeform 71"/>
              <p:cNvSpPr>
                <a:spLocks/>
              </p:cNvSpPr>
              <p:nvPr/>
            </p:nvSpPr>
            <p:spPr bwMode="auto">
              <a:xfrm>
                <a:off x="2641" y="2280"/>
                <a:ext cx="27" cy="26"/>
              </a:xfrm>
              <a:custGeom>
                <a:avLst/>
                <a:gdLst/>
                <a:ahLst/>
                <a:cxnLst>
                  <a:cxn ang="0">
                    <a:pos x="0" y="26"/>
                  </a:cxn>
                  <a:cxn ang="0">
                    <a:pos x="27" y="12"/>
                  </a:cxn>
                  <a:cxn ang="0">
                    <a:pos x="0" y="0"/>
                  </a:cxn>
                  <a:cxn ang="0">
                    <a:pos x="0" y="26"/>
                  </a:cxn>
                </a:cxnLst>
                <a:rect l="0" t="0" r="r" b="b"/>
                <a:pathLst>
                  <a:path w="27" h="26">
                    <a:moveTo>
                      <a:pt x="0" y="26"/>
                    </a:moveTo>
                    <a:lnTo>
                      <a:pt x="27" y="12"/>
                    </a:lnTo>
                    <a:lnTo>
                      <a:pt x="0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0" name="Rectangle 72"/>
              <p:cNvSpPr>
                <a:spLocks noChangeArrowheads="1"/>
              </p:cNvSpPr>
              <p:nvPr/>
            </p:nvSpPr>
            <p:spPr bwMode="auto">
              <a:xfrm>
                <a:off x="771" y="2272"/>
                <a:ext cx="107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VB - 03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21" name="Freeform 73"/>
              <p:cNvSpPr>
                <a:spLocks/>
              </p:cNvSpPr>
              <p:nvPr/>
            </p:nvSpPr>
            <p:spPr bwMode="auto">
              <a:xfrm>
                <a:off x="2093" y="2134"/>
                <a:ext cx="21" cy="20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2" y="4"/>
                  </a:cxn>
                  <a:cxn ang="0">
                    <a:pos x="8" y="0"/>
                  </a:cxn>
                  <a:cxn ang="0">
                    <a:pos x="14" y="0"/>
                  </a:cxn>
                  <a:cxn ang="0">
                    <a:pos x="18" y="4"/>
                  </a:cxn>
                  <a:cxn ang="0">
                    <a:pos x="21" y="10"/>
                  </a:cxn>
                  <a:cxn ang="0">
                    <a:pos x="18" y="15"/>
                  </a:cxn>
                  <a:cxn ang="0">
                    <a:pos x="14" y="20"/>
                  </a:cxn>
                  <a:cxn ang="0">
                    <a:pos x="8" y="20"/>
                  </a:cxn>
                  <a:cxn ang="0">
                    <a:pos x="2" y="15"/>
                  </a:cxn>
                  <a:cxn ang="0">
                    <a:pos x="0" y="10"/>
                  </a:cxn>
                </a:cxnLst>
                <a:rect l="0" t="0" r="r" b="b"/>
                <a:pathLst>
                  <a:path w="21" h="20">
                    <a:moveTo>
                      <a:pt x="0" y="10"/>
                    </a:moveTo>
                    <a:lnTo>
                      <a:pt x="2" y="4"/>
                    </a:lnTo>
                    <a:lnTo>
                      <a:pt x="8" y="0"/>
                    </a:lnTo>
                    <a:lnTo>
                      <a:pt x="14" y="0"/>
                    </a:lnTo>
                    <a:lnTo>
                      <a:pt x="18" y="4"/>
                    </a:lnTo>
                    <a:lnTo>
                      <a:pt x="21" y="10"/>
                    </a:lnTo>
                    <a:lnTo>
                      <a:pt x="18" y="15"/>
                    </a:lnTo>
                    <a:lnTo>
                      <a:pt x="14" y="20"/>
                    </a:lnTo>
                    <a:lnTo>
                      <a:pt x="8" y="20"/>
                    </a:lnTo>
                    <a:lnTo>
                      <a:pt x="2" y="15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2" name="Line 74"/>
              <p:cNvSpPr>
                <a:spLocks noChangeShapeType="1"/>
              </p:cNvSpPr>
              <p:nvPr/>
            </p:nvSpPr>
            <p:spPr bwMode="auto">
              <a:xfrm>
                <a:off x="947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>
                <a:off x="975" y="2214"/>
                <a:ext cx="1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4" name="Line 76"/>
              <p:cNvSpPr>
                <a:spLocks noChangeShapeType="1"/>
              </p:cNvSpPr>
              <p:nvPr/>
            </p:nvSpPr>
            <p:spPr bwMode="auto">
              <a:xfrm>
                <a:off x="1002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5" name="Line 77"/>
              <p:cNvSpPr>
                <a:spLocks noChangeShapeType="1"/>
              </p:cNvSpPr>
              <p:nvPr/>
            </p:nvSpPr>
            <p:spPr bwMode="auto">
              <a:xfrm>
                <a:off x="1030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6" name="Line 78"/>
              <p:cNvSpPr>
                <a:spLocks noChangeShapeType="1"/>
              </p:cNvSpPr>
              <p:nvPr/>
            </p:nvSpPr>
            <p:spPr bwMode="auto">
              <a:xfrm>
                <a:off x="1057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7" name="Line 79"/>
              <p:cNvSpPr>
                <a:spLocks noChangeShapeType="1"/>
              </p:cNvSpPr>
              <p:nvPr/>
            </p:nvSpPr>
            <p:spPr bwMode="auto">
              <a:xfrm>
                <a:off x="1085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>
                <a:off x="1113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9" name="Line 81"/>
              <p:cNvSpPr>
                <a:spLocks noChangeShapeType="1"/>
              </p:cNvSpPr>
              <p:nvPr/>
            </p:nvSpPr>
            <p:spPr bwMode="auto">
              <a:xfrm>
                <a:off x="1140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>
                <a:off x="1168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>
                <a:off x="1196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>
                <a:off x="1223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>
                <a:off x="1251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4" name="Line 86"/>
              <p:cNvSpPr>
                <a:spLocks noChangeShapeType="1"/>
              </p:cNvSpPr>
              <p:nvPr/>
            </p:nvSpPr>
            <p:spPr bwMode="auto">
              <a:xfrm>
                <a:off x="1279" y="2214"/>
                <a:ext cx="1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5" name="Line 87"/>
              <p:cNvSpPr>
                <a:spLocks noChangeShapeType="1"/>
              </p:cNvSpPr>
              <p:nvPr/>
            </p:nvSpPr>
            <p:spPr bwMode="auto">
              <a:xfrm>
                <a:off x="1306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6" name="Line 88"/>
              <p:cNvSpPr>
                <a:spLocks noChangeShapeType="1"/>
              </p:cNvSpPr>
              <p:nvPr/>
            </p:nvSpPr>
            <p:spPr bwMode="auto">
              <a:xfrm>
                <a:off x="1334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7" name="Line 89"/>
              <p:cNvSpPr>
                <a:spLocks noChangeShapeType="1"/>
              </p:cNvSpPr>
              <p:nvPr/>
            </p:nvSpPr>
            <p:spPr bwMode="auto">
              <a:xfrm>
                <a:off x="1362" y="2214"/>
                <a:ext cx="1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8" name="Line 90"/>
              <p:cNvSpPr>
                <a:spLocks noChangeShapeType="1"/>
              </p:cNvSpPr>
              <p:nvPr/>
            </p:nvSpPr>
            <p:spPr bwMode="auto">
              <a:xfrm>
                <a:off x="1389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>
                <a:off x="1417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>
                <a:off x="1445" y="2214"/>
                <a:ext cx="1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1" name="Line 93"/>
              <p:cNvSpPr>
                <a:spLocks noChangeShapeType="1"/>
              </p:cNvSpPr>
              <p:nvPr/>
            </p:nvSpPr>
            <p:spPr bwMode="auto">
              <a:xfrm>
                <a:off x="1472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>
                <a:off x="1500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>
                <a:off x="1527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>
                <a:off x="1555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>
                <a:off x="1583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>
                <a:off x="1610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>
                <a:off x="1638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>
                <a:off x="1666" y="2214"/>
                <a:ext cx="1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1693" y="2214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0" name="Rectangle 102"/>
              <p:cNvSpPr>
                <a:spLocks noChangeArrowheads="1"/>
              </p:cNvSpPr>
              <p:nvPr/>
            </p:nvSpPr>
            <p:spPr bwMode="auto">
              <a:xfrm>
                <a:off x="2307" y="2479"/>
                <a:ext cx="406" cy="140"/>
              </a:xfrm>
              <a:prstGeom prst="rect">
                <a:avLst/>
              </a:prstGeom>
              <a:solidFill>
                <a:srgbClr val="E6E6E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1" name="Rectangle 103"/>
              <p:cNvSpPr>
                <a:spLocks noChangeArrowheads="1"/>
              </p:cNvSpPr>
              <p:nvPr/>
            </p:nvSpPr>
            <p:spPr bwMode="auto">
              <a:xfrm>
                <a:off x="2372" y="2509"/>
                <a:ext cx="278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8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DPC-1XX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52" name="Rectangle 104"/>
              <p:cNvSpPr>
                <a:spLocks noChangeArrowheads="1"/>
              </p:cNvSpPr>
              <p:nvPr/>
            </p:nvSpPr>
            <p:spPr bwMode="auto">
              <a:xfrm>
                <a:off x="1116" y="3068"/>
                <a:ext cx="298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7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HCT </a:t>
                </a:r>
                <a:r>
                  <a:rPr lang="ko-KR" altLang="en-US" sz="7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커넥터</a:t>
                </a:r>
                <a:endParaRPr lang="ko-KR" altLang="en-US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53" name="Rectangle 105"/>
              <p:cNvSpPr>
                <a:spLocks noChangeArrowheads="1"/>
              </p:cNvSpPr>
              <p:nvPr/>
            </p:nvSpPr>
            <p:spPr bwMode="auto">
              <a:xfrm>
                <a:off x="312" y="1803"/>
                <a:ext cx="38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W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54" name="Rectangle 106"/>
              <p:cNvSpPr>
                <a:spLocks noChangeArrowheads="1"/>
              </p:cNvSpPr>
              <p:nvPr/>
            </p:nvSpPr>
            <p:spPr bwMode="auto">
              <a:xfrm>
                <a:off x="319" y="1749"/>
                <a:ext cx="27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55" name="Rectangle 107"/>
              <p:cNvSpPr>
                <a:spLocks noChangeArrowheads="1"/>
              </p:cNvSpPr>
              <p:nvPr/>
            </p:nvSpPr>
            <p:spPr bwMode="auto">
              <a:xfrm>
                <a:off x="318" y="1696"/>
                <a:ext cx="29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U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56" name="Line 108"/>
              <p:cNvSpPr>
                <a:spLocks noChangeShapeType="1"/>
              </p:cNvSpPr>
              <p:nvPr/>
            </p:nvSpPr>
            <p:spPr bwMode="auto">
              <a:xfrm>
                <a:off x="835" y="1516"/>
                <a:ext cx="1" cy="1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7" name="Line 109"/>
              <p:cNvSpPr>
                <a:spLocks noChangeShapeType="1"/>
              </p:cNvSpPr>
              <p:nvPr/>
            </p:nvSpPr>
            <p:spPr bwMode="auto">
              <a:xfrm>
                <a:off x="854" y="1475"/>
                <a:ext cx="1" cy="2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auto">
              <a:xfrm flipH="1">
                <a:off x="854" y="1475"/>
                <a:ext cx="61" cy="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9" name="Line 111"/>
              <p:cNvSpPr>
                <a:spLocks noChangeShapeType="1"/>
              </p:cNvSpPr>
              <p:nvPr/>
            </p:nvSpPr>
            <p:spPr bwMode="auto">
              <a:xfrm>
                <a:off x="854" y="1624"/>
                <a:ext cx="33" cy="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0" name="Freeform 112"/>
              <p:cNvSpPr>
                <a:spLocks/>
              </p:cNvSpPr>
              <p:nvPr/>
            </p:nvSpPr>
            <p:spPr bwMode="auto">
              <a:xfrm>
                <a:off x="864" y="1645"/>
                <a:ext cx="51" cy="54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51" y="54"/>
                  </a:cxn>
                  <a:cxn ang="0">
                    <a:pos x="0" y="31"/>
                  </a:cxn>
                  <a:cxn ang="0">
                    <a:pos x="39" y="0"/>
                  </a:cxn>
                </a:cxnLst>
                <a:rect l="0" t="0" r="r" b="b"/>
                <a:pathLst>
                  <a:path w="51" h="54">
                    <a:moveTo>
                      <a:pt x="39" y="0"/>
                    </a:moveTo>
                    <a:lnTo>
                      <a:pt x="51" y="54"/>
                    </a:lnTo>
                    <a:lnTo>
                      <a:pt x="0" y="31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1" name="Line 113"/>
              <p:cNvSpPr>
                <a:spLocks noChangeShapeType="1"/>
              </p:cNvSpPr>
              <p:nvPr/>
            </p:nvSpPr>
            <p:spPr bwMode="auto">
              <a:xfrm>
                <a:off x="915" y="1425"/>
                <a:ext cx="1" cy="5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2" name="Line 114"/>
              <p:cNvSpPr>
                <a:spLocks noChangeShapeType="1"/>
              </p:cNvSpPr>
              <p:nvPr/>
            </p:nvSpPr>
            <p:spPr bwMode="auto">
              <a:xfrm>
                <a:off x="946" y="1599"/>
                <a:ext cx="1" cy="1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3" name="Freeform 115"/>
              <p:cNvSpPr>
                <a:spLocks/>
              </p:cNvSpPr>
              <p:nvPr/>
            </p:nvSpPr>
            <p:spPr bwMode="auto">
              <a:xfrm>
                <a:off x="930" y="1557"/>
                <a:ext cx="31" cy="42"/>
              </a:xfrm>
              <a:custGeom>
                <a:avLst/>
                <a:gdLst/>
                <a:ahLst/>
                <a:cxnLst>
                  <a:cxn ang="0">
                    <a:pos x="31" y="42"/>
                  </a:cxn>
                  <a:cxn ang="0">
                    <a:pos x="0" y="42"/>
                  </a:cxn>
                  <a:cxn ang="0">
                    <a:pos x="16" y="0"/>
                  </a:cxn>
                  <a:cxn ang="0">
                    <a:pos x="31" y="42"/>
                  </a:cxn>
                </a:cxnLst>
                <a:rect l="0" t="0" r="r" b="b"/>
                <a:pathLst>
                  <a:path w="31" h="42">
                    <a:moveTo>
                      <a:pt x="31" y="42"/>
                    </a:moveTo>
                    <a:lnTo>
                      <a:pt x="0" y="42"/>
                    </a:lnTo>
                    <a:lnTo>
                      <a:pt x="16" y="0"/>
                    </a:lnTo>
                    <a:lnTo>
                      <a:pt x="31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4" name="Freeform 116"/>
              <p:cNvSpPr>
                <a:spLocks/>
              </p:cNvSpPr>
              <p:nvPr/>
            </p:nvSpPr>
            <p:spPr bwMode="auto">
              <a:xfrm>
                <a:off x="915" y="1475"/>
                <a:ext cx="31" cy="8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" y="0"/>
                  </a:cxn>
                  <a:cxn ang="0">
                    <a:pos x="31" y="82"/>
                  </a:cxn>
                </a:cxnLst>
                <a:rect l="0" t="0" r="r" b="b"/>
                <a:pathLst>
                  <a:path w="31" h="82">
                    <a:moveTo>
                      <a:pt x="0" y="0"/>
                    </a:moveTo>
                    <a:lnTo>
                      <a:pt x="31" y="0"/>
                    </a:lnTo>
                    <a:lnTo>
                      <a:pt x="31" y="8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5" name="Line 117"/>
              <p:cNvSpPr>
                <a:spLocks noChangeShapeType="1"/>
              </p:cNvSpPr>
              <p:nvPr/>
            </p:nvSpPr>
            <p:spPr bwMode="auto">
              <a:xfrm>
                <a:off x="915" y="1699"/>
                <a:ext cx="3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 flipH="1">
                <a:off x="811" y="1640"/>
                <a:ext cx="2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835" y="1924"/>
                <a:ext cx="1" cy="1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854" y="1882"/>
                <a:ext cx="1" cy="2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 flipH="1">
                <a:off x="854" y="1882"/>
                <a:ext cx="61" cy="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>
                <a:off x="854" y="2032"/>
                <a:ext cx="33" cy="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1" name="Freeform 123"/>
              <p:cNvSpPr>
                <a:spLocks/>
              </p:cNvSpPr>
              <p:nvPr/>
            </p:nvSpPr>
            <p:spPr bwMode="auto">
              <a:xfrm>
                <a:off x="864" y="2053"/>
                <a:ext cx="51" cy="54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51" y="54"/>
                  </a:cxn>
                  <a:cxn ang="0">
                    <a:pos x="0" y="31"/>
                  </a:cxn>
                  <a:cxn ang="0">
                    <a:pos x="39" y="0"/>
                  </a:cxn>
                </a:cxnLst>
                <a:rect l="0" t="0" r="r" b="b"/>
                <a:pathLst>
                  <a:path w="51" h="54">
                    <a:moveTo>
                      <a:pt x="39" y="0"/>
                    </a:moveTo>
                    <a:lnTo>
                      <a:pt x="51" y="54"/>
                    </a:lnTo>
                    <a:lnTo>
                      <a:pt x="0" y="31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>
                <a:off x="911" y="1698"/>
                <a:ext cx="1" cy="19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>
                <a:off x="915" y="2107"/>
                <a:ext cx="1" cy="5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>
                <a:off x="946" y="2007"/>
                <a:ext cx="1" cy="1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5" name="Freeform 127"/>
              <p:cNvSpPr>
                <a:spLocks/>
              </p:cNvSpPr>
              <p:nvPr/>
            </p:nvSpPr>
            <p:spPr bwMode="auto">
              <a:xfrm>
                <a:off x="930" y="1965"/>
                <a:ext cx="31" cy="42"/>
              </a:xfrm>
              <a:custGeom>
                <a:avLst/>
                <a:gdLst/>
                <a:ahLst/>
                <a:cxnLst>
                  <a:cxn ang="0">
                    <a:pos x="31" y="42"/>
                  </a:cxn>
                  <a:cxn ang="0">
                    <a:pos x="0" y="42"/>
                  </a:cxn>
                  <a:cxn ang="0">
                    <a:pos x="16" y="0"/>
                  </a:cxn>
                  <a:cxn ang="0">
                    <a:pos x="31" y="42"/>
                  </a:cxn>
                </a:cxnLst>
                <a:rect l="0" t="0" r="r" b="b"/>
                <a:pathLst>
                  <a:path w="31" h="42">
                    <a:moveTo>
                      <a:pt x="31" y="42"/>
                    </a:moveTo>
                    <a:lnTo>
                      <a:pt x="0" y="42"/>
                    </a:lnTo>
                    <a:lnTo>
                      <a:pt x="16" y="0"/>
                    </a:lnTo>
                    <a:lnTo>
                      <a:pt x="31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6" name="Freeform 128"/>
              <p:cNvSpPr>
                <a:spLocks/>
              </p:cNvSpPr>
              <p:nvPr/>
            </p:nvSpPr>
            <p:spPr bwMode="auto">
              <a:xfrm>
                <a:off x="915" y="1882"/>
                <a:ext cx="31" cy="8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" y="0"/>
                  </a:cxn>
                  <a:cxn ang="0">
                    <a:pos x="31" y="83"/>
                  </a:cxn>
                </a:cxnLst>
                <a:rect l="0" t="0" r="r" b="b"/>
                <a:pathLst>
                  <a:path w="31" h="83">
                    <a:moveTo>
                      <a:pt x="0" y="0"/>
                    </a:moveTo>
                    <a:lnTo>
                      <a:pt x="31" y="0"/>
                    </a:lnTo>
                    <a:lnTo>
                      <a:pt x="31" y="8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>
                <a:off x="915" y="2107"/>
                <a:ext cx="3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 flipH="1">
                <a:off x="811" y="2048"/>
                <a:ext cx="2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9" name="Freeform 131"/>
              <p:cNvSpPr>
                <a:spLocks/>
              </p:cNvSpPr>
              <p:nvPr/>
            </p:nvSpPr>
            <p:spPr bwMode="auto">
              <a:xfrm>
                <a:off x="907" y="1720"/>
                <a:ext cx="6" cy="14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" y="2"/>
                  </a:cxn>
                  <a:cxn ang="0">
                    <a:pos x="3" y="0"/>
                  </a:cxn>
                  <a:cxn ang="0">
                    <a:pos x="5" y="2"/>
                  </a:cxn>
                  <a:cxn ang="0">
                    <a:pos x="6" y="7"/>
                  </a:cxn>
                  <a:cxn ang="0">
                    <a:pos x="5" y="11"/>
                  </a:cxn>
                  <a:cxn ang="0">
                    <a:pos x="3" y="14"/>
                  </a:cxn>
                  <a:cxn ang="0">
                    <a:pos x="1" y="11"/>
                  </a:cxn>
                  <a:cxn ang="0">
                    <a:pos x="0" y="7"/>
                  </a:cxn>
                </a:cxnLst>
                <a:rect l="0" t="0" r="r" b="b"/>
                <a:pathLst>
                  <a:path w="6" h="14">
                    <a:moveTo>
                      <a:pt x="0" y="7"/>
                    </a:moveTo>
                    <a:lnTo>
                      <a:pt x="1" y="2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6" y="7"/>
                    </a:lnTo>
                    <a:lnTo>
                      <a:pt x="5" y="11"/>
                    </a:lnTo>
                    <a:lnTo>
                      <a:pt x="3" y="14"/>
                    </a:lnTo>
                    <a:lnTo>
                      <a:pt x="1" y="11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0" name="Line 132"/>
              <p:cNvSpPr>
                <a:spLocks noChangeShapeType="1"/>
              </p:cNvSpPr>
              <p:nvPr/>
            </p:nvSpPr>
            <p:spPr bwMode="auto">
              <a:xfrm>
                <a:off x="926" y="1965"/>
                <a:ext cx="37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1" name="Freeform 133"/>
              <p:cNvSpPr>
                <a:spLocks/>
              </p:cNvSpPr>
              <p:nvPr/>
            </p:nvSpPr>
            <p:spPr bwMode="auto">
              <a:xfrm>
                <a:off x="1129" y="1773"/>
                <a:ext cx="7" cy="14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" y="2"/>
                  </a:cxn>
                  <a:cxn ang="0">
                    <a:pos x="3" y="0"/>
                  </a:cxn>
                  <a:cxn ang="0">
                    <a:pos x="6" y="2"/>
                  </a:cxn>
                  <a:cxn ang="0">
                    <a:pos x="7" y="7"/>
                  </a:cxn>
                  <a:cxn ang="0">
                    <a:pos x="6" y="11"/>
                  </a:cxn>
                  <a:cxn ang="0">
                    <a:pos x="3" y="14"/>
                  </a:cxn>
                  <a:cxn ang="0">
                    <a:pos x="1" y="11"/>
                  </a:cxn>
                  <a:cxn ang="0">
                    <a:pos x="0" y="7"/>
                  </a:cxn>
                </a:cxnLst>
                <a:rect l="0" t="0" r="r" b="b"/>
                <a:pathLst>
                  <a:path w="7" h="14">
                    <a:moveTo>
                      <a:pt x="0" y="7"/>
                    </a:moveTo>
                    <a:lnTo>
                      <a:pt x="1" y="2"/>
                    </a:lnTo>
                    <a:lnTo>
                      <a:pt x="3" y="0"/>
                    </a:lnTo>
                    <a:lnTo>
                      <a:pt x="6" y="2"/>
                    </a:lnTo>
                    <a:lnTo>
                      <a:pt x="7" y="7"/>
                    </a:lnTo>
                    <a:lnTo>
                      <a:pt x="6" y="11"/>
                    </a:lnTo>
                    <a:lnTo>
                      <a:pt x="3" y="14"/>
                    </a:lnTo>
                    <a:lnTo>
                      <a:pt x="1" y="11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2" name="Line 134"/>
              <p:cNvSpPr>
                <a:spLocks noChangeShapeType="1"/>
              </p:cNvSpPr>
              <p:nvPr/>
            </p:nvSpPr>
            <p:spPr bwMode="auto">
              <a:xfrm>
                <a:off x="1057" y="1509"/>
                <a:ext cx="1" cy="1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3" name="Line 135"/>
              <p:cNvSpPr>
                <a:spLocks noChangeShapeType="1"/>
              </p:cNvSpPr>
              <p:nvPr/>
            </p:nvSpPr>
            <p:spPr bwMode="auto">
              <a:xfrm>
                <a:off x="1076" y="1468"/>
                <a:ext cx="1" cy="2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4" name="Line 136"/>
              <p:cNvSpPr>
                <a:spLocks noChangeShapeType="1"/>
              </p:cNvSpPr>
              <p:nvPr/>
            </p:nvSpPr>
            <p:spPr bwMode="auto">
              <a:xfrm flipH="1">
                <a:off x="1076" y="1468"/>
                <a:ext cx="61" cy="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auto">
              <a:xfrm>
                <a:off x="1076" y="1617"/>
                <a:ext cx="33" cy="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6" name="Freeform 138"/>
              <p:cNvSpPr>
                <a:spLocks/>
              </p:cNvSpPr>
              <p:nvPr/>
            </p:nvSpPr>
            <p:spPr bwMode="auto">
              <a:xfrm>
                <a:off x="1086" y="1638"/>
                <a:ext cx="51" cy="54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51" y="54"/>
                  </a:cxn>
                  <a:cxn ang="0">
                    <a:pos x="0" y="31"/>
                  </a:cxn>
                  <a:cxn ang="0">
                    <a:pos x="39" y="0"/>
                  </a:cxn>
                </a:cxnLst>
                <a:rect l="0" t="0" r="r" b="b"/>
                <a:pathLst>
                  <a:path w="51" h="54">
                    <a:moveTo>
                      <a:pt x="39" y="0"/>
                    </a:moveTo>
                    <a:lnTo>
                      <a:pt x="51" y="54"/>
                    </a:lnTo>
                    <a:lnTo>
                      <a:pt x="0" y="31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>
                <a:off x="1137" y="1425"/>
                <a:ext cx="1" cy="4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8" name="Line 140"/>
              <p:cNvSpPr>
                <a:spLocks noChangeShapeType="1"/>
              </p:cNvSpPr>
              <p:nvPr/>
            </p:nvSpPr>
            <p:spPr bwMode="auto">
              <a:xfrm>
                <a:off x="1168" y="1592"/>
                <a:ext cx="1" cy="1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9" name="Freeform 141"/>
              <p:cNvSpPr>
                <a:spLocks/>
              </p:cNvSpPr>
              <p:nvPr/>
            </p:nvSpPr>
            <p:spPr bwMode="auto">
              <a:xfrm>
                <a:off x="1152" y="1551"/>
                <a:ext cx="31" cy="41"/>
              </a:xfrm>
              <a:custGeom>
                <a:avLst/>
                <a:gdLst/>
                <a:ahLst/>
                <a:cxnLst>
                  <a:cxn ang="0">
                    <a:pos x="31" y="41"/>
                  </a:cxn>
                  <a:cxn ang="0">
                    <a:pos x="0" y="41"/>
                  </a:cxn>
                  <a:cxn ang="0">
                    <a:pos x="16" y="0"/>
                  </a:cxn>
                  <a:cxn ang="0">
                    <a:pos x="31" y="41"/>
                  </a:cxn>
                </a:cxnLst>
                <a:rect l="0" t="0" r="r" b="b"/>
                <a:pathLst>
                  <a:path w="31" h="41">
                    <a:moveTo>
                      <a:pt x="31" y="41"/>
                    </a:moveTo>
                    <a:lnTo>
                      <a:pt x="0" y="41"/>
                    </a:lnTo>
                    <a:lnTo>
                      <a:pt x="16" y="0"/>
                    </a:lnTo>
                    <a:lnTo>
                      <a:pt x="31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0" name="Freeform 142"/>
              <p:cNvSpPr>
                <a:spLocks/>
              </p:cNvSpPr>
              <p:nvPr/>
            </p:nvSpPr>
            <p:spPr bwMode="auto">
              <a:xfrm>
                <a:off x="1137" y="1468"/>
                <a:ext cx="31" cy="8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" y="0"/>
                  </a:cxn>
                  <a:cxn ang="0">
                    <a:pos x="31" y="83"/>
                  </a:cxn>
                </a:cxnLst>
                <a:rect l="0" t="0" r="r" b="b"/>
                <a:pathLst>
                  <a:path w="31" h="83">
                    <a:moveTo>
                      <a:pt x="0" y="0"/>
                    </a:moveTo>
                    <a:lnTo>
                      <a:pt x="31" y="0"/>
                    </a:lnTo>
                    <a:lnTo>
                      <a:pt x="31" y="8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1" name="Line 143"/>
              <p:cNvSpPr>
                <a:spLocks noChangeShapeType="1"/>
              </p:cNvSpPr>
              <p:nvPr/>
            </p:nvSpPr>
            <p:spPr bwMode="auto">
              <a:xfrm>
                <a:off x="1137" y="1692"/>
                <a:ext cx="3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2" name="Line 144"/>
              <p:cNvSpPr>
                <a:spLocks noChangeShapeType="1"/>
              </p:cNvSpPr>
              <p:nvPr/>
            </p:nvSpPr>
            <p:spPr bwMode="auto">
              <a:xfrm flipH="1">
                <a:off x="1033" y="1633"/>
                <a:ext cx="2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3" name="Line 145"/>
              <p:cNvSpPr>
                <a:spLocks noChangeShapeType="1"/>
              </p:cNvSpPr>
              <p:nvPr/>
            </p:nvSpPr>
            <p:spPr bwMode="auto">
              <a:xfrm>
                <a:off x="1057" y="1917"/>
                <a:ext cx="1" cy="1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4" name="Line 146"/>
              <p:cNvSpPr>
                <a:spLocks noChangeShapeType="1"/>
              </p:cNvSpPr>
              <p:nvPr/>
            </p:nvSpPr>
            <p:spPr bwMode="auto">
              <a:xfrm>
                <a:off x="1076" y="1875"/>
                <a:ext cx="1" cy="2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5" name="Line 147"/>
              <p:cNvSpPr>
                <a:spLocks noChangeShapeType="1"/>
              </p:cNvSpPr>
              <p:nvPr/>
            </p:nvSpPr>
            <p:spPr bwMode="auto">
              <a:xfrm flipH="1">
                <a:off x="1076" y="1875"/>
                <a:ext cx="61" cy="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6" name="Line 148"/>
              <p:cNvSpPr>
                <a:spLocks noChangeShapeType="1"/>
              </p:cNvSpPr>
              <p:nvPr/>
            </p:nvSpPr>
            <p:spPr bwMode="auto">
              <a:xfrm>
                <a:off x="1076" y="2025"/>
                <a:ext cx="33" cy="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7" name="Freeform 149"/>
              <p:cNvSpPr>
                <a:spLocks/>
              </p:cNvSpPr>
              <p:nvPr/>
            </p:nvSpPr>
            <p:spPr bwMode="auto">
              <a:xfrm>
                <a:off x="1086" y="2046"/>
                <a:ext cx="51" cy="54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51" y="54"/>
                  </a:cxn>
                  <a:cxn ang="0">
                    <a:pos x="0" y="31"/>
                  </a:cxn>
                  <a:cxn ang="0">
                    <a:pos x="39" y="0"/>
                  </a:cxn>
                </a:cxnLst>
                <a:rect l="0" t="0" r="r" b="b"/>
                <a:pathLst>
                  <a:path w="51" h="54">
                    <a:moveTo>
                      <a:pt x="39" y="0"/>
                    </a:moveTo>
                    <a:lnTo>
                      <a:pt x="51" y="54"/>
                    </a:lnTo>
                    <a:lnTo>
                      <a:pt x="0" y="31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8" name="Line 150"/>
              <p:cNvSpPr>
                <a:spLocks noChangeShapeType="1"/>
              </p:cNvSpPr>
              <p:nvPr/>
            </p:nvSpPr>
            <p:spPr bwMode="auto">
              <a:xfrm>
                <a:off x="1133" y="1691"/>
                <a:ext cx="1" cy="19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9" name="Line 151"/>
              <p:cNvSpPr>
                <a:spLocks noChangeShapeType="1"/>
              </p:cNvSpPr>
              <p:nvPr/>
            </p:nvSpPr>
            <p:spPr bwMode="auto">
              <a:xfrm>
                <a:off x="1137" y="2100"/>
                <a:ext cx="1" cy="58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0" name="Line 152"/>
              <p:cNvSpPr>
                <a:spLocks noChangeShapeType="1"/>
              </p:cNvSpPr>
              <p:nvPr/>
            </p:nvSpPr>
            <p:spPr bwMode="auto">
              <a:xfrm>
                <a:off x="1168" y="2000"/>
                <a:ext cx="1" cy="1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1" name="Freeform 153"/>
              <p:cNvSpPr>
                <a:spLocks/>
              </p:cNvSpPr>
              <p:nvPr/>
            </p:nvSpPr>
            <p:spPr bwMode="auto">
              <a:xfrm>
                <a:off x="1152" y="1958"/>
                <a:ext cx="31" cy="42"/>
              </a:xfrm>
              <a:custGeom>
                <a:avLst/>
                <a:gdLst/>
                <a:ahLst/>
                <a:cxnLst>
                  <a:cxn ang="0">
                    <a:pos x="31" y="42"/>
                  </a:cxn>
                  <a:cxn ang="0">
                    <a:pos x="0" y="42"/>
                  </a:cxn>
                  <a:cxn ang="0">
                    <a:pos x="16" y="0"/>
                  </a:cxn>
                  <a:cxn ang="0">
                    <a:pos x="31" y="42"/>
                  </a:cxn>
                </a:cxnLst>
                <a:rect l="0" t="0" r="r" b="b"/>
                <a:pathLst>
                  <a:path w="31" h="42">
                    <a:moveTo>
                      <a:pt x="31" y="42"/>
                    </a:moveTo>
                    <a:lnTo>
                      <a:pt x="0" y="42"/>
                    </a:lnTo>
                    <a:lnTo>
                      <a:pt x="16" y="0"/>
                    </a:lnTo>
                    <a:lnTo>
                      <a:pt x="31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2" name="Freeform 154"/>
              <p:cNvSpPr>
                <a:spLocks/>
              </p:cNvSpPr>
              <p:nvPr/>
            </p:nvSpPr>
            <p:spPr bwMode="auto">
              <a:xfrm>
                <a:off x="1137" y="1875"/>
                <a:ext cx="31" cy="8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" y="0"/>
                  </a:cxn>
                  <a:cxn ang="0">
                    <a:pos x="31" y="83"/>
                  </a:cxn>
                </a:cxnLst>
                <a:rect l="0" t="0" r="r" b="b"/>
                <a:pathLst>
                  <a:path w="31" h="83">
                    <a:moveTo>
                      <a:pt x="0" y="0"/>
                    </a:moveTo>
                    <a:lnTo>
                      <a:pt x="31" y="0"/>
                    </a:lnTo>
                    <a:lnTo>
                      <a:pt x="31" y="8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3" name="Line 155"/>
              <p:cNvSpPr>
                <a:spLocks noChangeShapeType="1"/>
              </p:cNvSpPr>
              <p:nvPr/>
            </p:nvSpPr>
            <p:spPr bwMode="auto">
              <a:xfrm>
                <a:off x="1137" y="2100"/>
                <a:ext cx="3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4" name="Line 156"/>
              <p:cNvSpPr>
                <a:spLocks noChangeShapeType="1"/>
              </p:cNvSpPr>
              <p:nvPr/>
            </p:nvSpPr>
            <p:spPr bwMode="auto">
              <a:xfrm flipH="1">
                <a:off x="1033" y="2042"/>
                <a:ext cx="2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5" name="Freeform 157"/>
              <p:cNvSpPr>
                <a:spLocks/>
              </p:cNvSpPr>
              <p:nvPr/>
            </p:nvSpPr>
            <p:spPr bwMode="auto">
              <a:xfrm>
                <a:off x="1345" y="1827"/>
                <a:ext cx="7" cy="8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3" y="0"/>
                  </a:cxn>
                  <a:cxn ang="0">
                    <a:pos x="5" y="0"/>
                  </a:cxn>
                  <a:cxn ang="0">
                    <a:pos x="7" y="3"/>
                  </a:cxn>
                  <a:cxn ang="0">
                    <a:pos x="5" y="8"/>
                  </a:cxn>
                  <a:cxn ang="0">
                    <a:pos x="3" y="8"/>
                  </a:cxn>
                  <a:cxn ang="0">
                    <a:pos x="0" y="3"/>
                  </a:cxn>
                </a:cxnLst>
                <a:rect l="0" t="0" r="r" b="b"/>
                <a:pathLst>
                  <a:path w="7" h="8">
                    <a:moveTo>
                      <a:pt x="0" y="3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7" y="3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6" name="Line 158"/>
              <p:cNvSpPr>
                <a:spLocks noChangeShapeType="1"/>
              </p:cNvSpPr>
              <p:nvPr/>
            </p:nvSpPr>
            <p:spPr bwMode="auto">
              <a:xfrm>
                <a:off x="1273" y="1507"/>
                <a:ext cx="1" cy="1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7" name="Line 159"/>
              <p:cNvSpPr>
                <a:spLocks noChangeShapeType="1"/>
              </p:cNvSpPr>
              <p:nvPr/>
            </p:nvSpPr>
            <p:spPr bwMode="auto">
              <a:xfrm>
                <a:off x="1291" y="1465"/>
                <a:ext cx="1" cy="2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8" name="Line 160"/>
              <p:cNvSpPr>
                <a:spLocks noChangeShapeType="1"/>
              </p:cNvSpPr>
              <p:nvPr/>
            </p:nvSpPr>
            <p:spPr bwMode="auto">
              <a:xfrm flipH="1">
                <a:off x="1291" y="1465"/>
                <a:ext cx="61" cy="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>
                <a:off x="1291" y="1615"/>
                <a:ext cx="34" cy="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0" name="Freeform 162"/>
              <p:cNvSpPr>
                <a:spLocks/>
              </p:cNvSpPr>
              <p:nvPr/>
            </p:nvSpPr>
            <p:spPr bwMode="auto">
              <a:xfrm>
                <a:off x="1302" y="1636"/>
                <a:ext cx="50" cy="54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50" y="54"/>
                  </a:cxn>
                  <a:cxn ang="0">
                    <a:pos x="0" y="31"/>
                  </a:cxn>
                  <a:cxn ang="0">
                    <a:pos x="39" y="0"/>
                  </a:cxn>
                </a:cxnLst>
                <a:rect l="0" t="0" r="r" b="b"/>
                <a:pathLst>
                  <a:path w="50" h="54">
                    <a:moveTo>
                      <a:pt x="39" y="0"/>
                    </a:moveTo>
                    <a:lnTo>
                      <a:pt x="50" y="54"/>
                    </a:lnTo>
                    <a:lnTo>
                      <a:pt x="0" y="31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1" name="Line 163"/>
              <p:cNvSpPr>
                <a:spLocks noChangeShapeType="1"/>
              </p:cNvSpPr>
              <p:nvPr/>
            </p:nvSpPr>
            <p:spPr bwMode="auto">
              <a:xfrm>
                <a:off x="1352" y="1424"/>
                <a:ext cx="1" cy="4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2" name="Line 164"/>
              <p:cNvSpPr>
                <a:spLocks noChangeShapeType="1"/>
              </p:cNvSpPr>
              <p:nvPr/>
            </p:nvSpPr>
            <p:spPr bwMode="auto">
              <a:xfrm>
                <a:off x="1383" y="1590"/>
                <a:ext cx="1" cy="1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3" name="Freeform 165"/>
              <p:cNvSpPr>
                <a:spLocks/>
              </p:cNvSpPr>
              <p:nvPr/>
            </p:nvSpPr>
            <p:spPr bwMode="auto">
              <a:xfrm>
                <a:off x="1367" y="1548"/>
                <a:ext cx="31" cy="42"/>
              </a:xfrm>
              <a:custGeom>
                <a:avLst/>
                <a:gdLst/>
                <a:ahLst/>
                <a:cxnLst>
                  <a:cxn ang="0">
                    <a:pos x="31" y="42"/>
                  </a:cxn>
                  <a:cxn ang="0">
                    <a:pos x="0" y="42"/>
                  </a:cxn>
                  <a:cxn ang="0">
                    <a:pos x="16" y="0"/>
                  </a:cxn>
                  <a:cxn ang="0">
                    <a:pos x="31" y="42"/>
                  </a:cxn>
                </a:cxnLst>
                <a:rect l="0" t="0" r="r" b="b"/>
                <a:pathLst>
                  <a:path w="31" h="42">
                    <a:moveTo>
                      <a:pt x="31" y="42"/>
                    </a:moveTo>
                    <a:lnTo>
                      <a:pt x="0" y="42"/>
                    </a:lnTo>
                    <a:lnTo>
                      <a:pt x="16" y="0"/>
                    </a:lnTo>
                    <a:lnTo>
                      <a:pt x="31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4" name="Freeform 166"/>
              <p:cNvSpPr>
                <a:spLocks/>
              </p:cNvSpPr>
              <p:nvPr/>
            </p:nvSpPr>
            <p:spPr bwMode="auto">
              <a:xfrm>
                <a:off x="1352" y="1465"/>
                <a:ext cx="31" cy="8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" y="0"/>
                  </a:cxn>
                  <a:cxn ang="0">
                    <a:pos x="31" y="83"/>
                  </a:cxn>
                </a:cxnLst>
                <a:rect l="0" t="0" r="r" b="b"/>
                <a:pathLst>
                  <a:path w="31" h="83">
                    <a:moveTo>
                      <a:pt x="0" y="0"/>
                    </a:moveTo>
                    <a:lnTo>
                      <a:pt x="31" y="0"/>
                    </a:lnTo>
                    <a:lnTo>
                      <a:pt x="31" y="8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>
                <a:off x="1352" y="1690"/>
                <a:ext cx="3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 flipH="1">
                <a:off x="1249" y="1631"/>
                <a:ext cx="2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>
                <a:off x="1273" y="1915"/>
                <a:ext cx="1" cy="1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8" name="Line 170"/>
              <p:cNvSpPr>
                <a:spLocks noChangeShapeType="1"/>
              </p:cNvSpPr>
              <p:nvPr/>
            </p:nvSpPr>
            <p:spPr bwMode="auto">
              <a:xfrm>
                <a:off x="1291" y="1873"/>
                <a:ext cx="1" cy="2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 flipH="1">
                <a:off x="1291" y="1873"/>
                <a:ext cx="61" cy="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0" name="Line 172"/>
              <p:cNvSpPr>
                <a:spLocks noChangeShapeType="1"/>
              </p:cNvSpPr>
              <p:nvPr/>
            </p:nvSpPr>
            <p:spPr bwMode="auto">
              <a:xfrm>
                <a:off x="1291" y="2023"/>
                <a:ext cx="34" cy="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1" name="Freeform 173"/>
              <p:cNvSpPr>
                <a:spLocks/>
              </p:cNvSpPr>
              <p:nvPr/>
            </p:nvSpPr>
            <p:spPr bwMode="auto">
              <a:xfrm>
                <a:off x="1302" y="2043"/>
                <a:ext cx="50" cy="55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50" y="55"/>
                  </a:cxn>
                  <a:cxn ang="0">
                    <a:pos x="0" y="32"/>
                  </a:cxn>
                  <a:cxn ang="0">
                    <a:pos x="39" y="0"/>
                  </a:cxn>
                </a:cxnLst>
                <a:rect l="0" t="0" r="r" b="b"/>
                <a:pathLst>
                  <a:path w="50" h="55">
                    <a:moveTo>
                      <a:pt x="39" y="0"/>
                    </a:moveTo>
                    <a:lnTo>
                      <a:pt x="50" y="55"/>
                    </a:lnTo>
                    <a:lnTo>
                      <a:pt x="0" y="32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2" name="Line 174"/>
              <p:cNvSpPr>
                <a:spLocks noChangeShapeType="1"/>
              </p:cNvSpPr>
              <p:nvPr/>
            </p:nvSpPr>
            <p:spPr bwMode="auto">
              <a:xfrm>
                <a:off x="1349" y="1689"/>
                <a:ext cx="1" cy="19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3" name="Line 175"/>
              <p:cNvSpPr>
                <a:spLocks noChangeShapeType="1"/>
              </p:cNvSpPr>
              <p:nvPr/>
            </p:nvSpPr>
            <p:spPr bwMode="auto">
              <a:xfrm>
                <a:off x="1352" y="2098"/>
                <a:ext cx="1" cy="57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4" name="Line 176"/>
              <p:cNvSpPr>
                <a:spLocks noChangeShapeType="1"/>
              </p:cNvSpPr>
              <p:nvPr/>
            </p:nvSpPr>
            <p:spPr bwMode="auto">
              <a:xfrm>
                <a:off x="1383" y="1997"/>
                <a:ext cx="1" cy="1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5" name="Freeform 177"/>
              <p:cNvSpPr>
                <a:spLocks/>
              </p:cNvSpPr>
              <p:nvPr/>
            </p:nvSpPr>
            <p:spPr bwMode="auto">
              <a:xfrm>
                <a:off x="1367" y="1956"/>
                <a:ext cx="31" cy="41"/>
              </a:xfrm>
              <a:custGeom>
                <a:avLst/>
                <a:gdLst/>
                <a:ahLst/>
                <a:cxnLst>
                  <a:cxn ang="0">
                    <a:pos x="31" y="41"/>
                  </a:cxn>
                  <a:cxn ang="0">
                    <a:pos x="0" y="41"/>
                  </a:cxn>
                  <a:cxn ang="0">
                    <a:pos x="16" y="0"/>
                  </a:cxn>
                  <a:cxn ang="0">
                    <a:pos x="31" y="41"/>
                  </a:cxn>
                </a:cxnLst>
                <a:rect l="0" t="0" r="r" b="b"/>
                <a:pathLst>
                  <a:path w="31" h="41">
                    <a:moveTo>
                      <a:pt x="31" y="41"/>
                    </a:moveTo>
                    <a:lnTo>
                      <a:pt x="0" y="41"/>
                    </a:lnTo>
                    <a:lnTo>
                      <a:pt x="16" y="0"/>
                    </a:lnTo>
                    <a:lnTo>
                      <a:pt x="31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6" name="Freeform 178"/>
              <p:cNvSpPr>
                <a:spLocks/>
              </p:cNvSpPr>
              <p:nvPr/>
            </p:nvSpPr>
            <p:spPr bwMode="auto">
              <a:xfrm>
                <a:off x="1352" y="1873"/>
                <a:ext cx="31" cy="8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" y="0"/>
                  </a:cxn>
                  <a:cxn ang="0">
                    <a:pos x="31" y="83"/>
                  </a:cxn>
                </a:cxnLst>
                <a:rect l="0" t="0" r="r" b="b"/>
                <a:pathLst>
                  <a:path w="31" h="83">
                    <a:moveTo>
                      <a:pt x="0" y="0"/>
                    </a:moveTo>
                    <a:lnTo>
                      <a:pt x="31" y="0"/>
                    </a:lnTo>
                    <a:lnTo>
                      <a:pt x="31" y="8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7" name="Line 179"/>
              <p:cNvSpPr>
                <a:spLocks noChangeShapeType="1"/>
              </p:cNvSpPr>
              <p:nvPr/>
            </p:nvSpPr>
            <p:spPr bwMode="auto">
              <a:xfrm>
                <a:off x="1352" y="2098"/>
                <a:ext cx="3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8" name="Line 180"/>
              <p:cNvSpPr>
                <a:spLocks noChangeShapeType="1"/>
              </p:cNvSpPr>
              <p:nvPr/>
            </p:nvSpPr>
            <p:spPr bwMode="auto">
              <a:xfrm flipH="1">
                <a:off x="1249" y="2040"/>
                <a:ext cx="2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9" name="Freeform 181"/>
              <p:cNvSpPr>
                <a:spLocks/>
              </p:cNvSpPr>
              <p:nvPr/>
            </p:nvSpPr>
            <p:spPr bwMode="auto">
              <a:xfrm>
                <a:off x="1555" y="2524"/>
                <a:ext cx="7" cy="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2" y="0"/>
                  </a:cxn>
                  <a:cxn ang="0">
                    <a:pos x="6" y="0"/>
                  </a:cxn>
                  <a:cxn ang="0">
                    <a:pos x="7" y="2"/>
                  </a:cxn>
                  <a:cxn ang="0">
                    <a:pos x="6" y="6"/>
                  </a:cxn>
                  <a:cxn ang="0">
                    <a:pos x="2" y="6"/>
                  </a:cxn>
                  <a:cxn ang="0">
                    <a:pos x="0" y="2"/>
                  </a:cxn>
                </a:cxnLst>
                <a:rect l="0" t="0" r="r" b="b"/>
                <a:pathLst>
                  <a:path w="7" h="6">
                    <a:moveTo>
                      <a:pt x="0" y="2"/>
                    </a:moveTo>
                    <a:lnTo>
                      <a:pt x="2" y="0"/>
                    </a:lnTo>
                    <a:lnTo>
                      <a:pt x="6" y="0"/>
                    </a:lnTo>
                    <a:lnTo>
                      <a:pt x="7" y="2"/>
                    </a:lnTo>
                    <a:lnTo>
                      <a:pt x="6" y="6"/>
                    </a:lnTo>
                    <a:lnTo>
                      <a:pt x="2" y="6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0" name="Freeform 182"/>
              <p:cNvSpPr>
                <a:spLocks/>
              </p:cNvSpPr>
              <p:nvPr/>
            </p:nvSpPr>
            <p:spPr bwMode="auto">
              <a:xfrm>
                <a:off x="1557" y="2306"/>
                <a:ext cx="7" cy="6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3" y="0"/>
                  </a:cxn>
                  <a:cxn ang="0">
                    <a:pos x="5" y="0"/>
                  </a:cxn>
                  <a:cxn ang="0">
                    <a:pos x="7" y="4"/>
                  </a:cxn>
                  <a:cxn ang="0">
                    <a:pos x="5" y="6"/>
                  </a:cxn>
                  <a:cxn ang="0">
                    <a:pos x="3" y="6"/>
                  </a:cxn>
                  <a:cxn ang="0">
                    <a:pos x="0" y="4"/>
                  </a:cxn>
                </a:cxnLst>
                <a:rect l="0" t="0" r="r" b="b"/>
                <a:pathLst>
                  <a:path w="7" h="6">
                    <a:moveTo>
                      <a:pt x="0" y="4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7" y="4"/>
                    </a:lnTo>
                    <a:lnTo>
                      <a:pt x="5" y="6"/>
                    </a:lnTo>
                    <a:lnTo>
                      <a:pt x="3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1" name="Freeform 183"/>
              <p:cNvSpPr>
                <a:spLocks/>
              </p:cNvSpPr>
              <p:nvPr/>
            </p:nvSpPr>
            <p:spPr bwMode="auto">
              <a:xfrm>
                <a:off x="2101" y="2292"/>
                <a:ext cx="6" cy="6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" y="0"/>
                  </a:cxn>
                  <a:cxn ang="0">
                    <a:pos x="5" y="0"/>
                  </a:cxn>
                  <a:cxn ang="0">
                    <a:pos x="6" y="3"/>
                  </a:cxn>
                  <a:cxn ang="0">
                    <a:pos x="5" y="6"/>
                  </a:cxn>
                  <a:cxn ang="0">
                    <a:pos x="1" y="6"/>
                  </a:cxn>
                  <a:cxn ang="0">
                    <a:pos x="0" y="3"/>
                  </a:cxn>
                </a:cxnLst>
                <a:rect l="0" t="0" r="r" b="b"/>
                <a:pathLst>
                  <a:path w="6" h="6">
                    <a:moveTo>
                      <a:pt x="0" y="3"/>
                    </a:moveTo>
                    <a:lnTo>
                      <a:pt x="1" y="0"/>
                    </a:lnTo>
                    <a:lnTo>
                      <a:pt x="5" y="0"/>
                    </a:lnTo>
                    <a:lnTo>
                      <a:pt x="6" y="3"/>
                    </a:lnTo>
                    <a:lnTo>
                      <a:pt x="5" y="6"/>
                    </a:lnTo>
                    <a:lnTo>
                      <a:pt x="1" y="6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2" name="Line 184"/>
              <p:cNvSpPr>
                <a:spLocks noChangeShapeType="1"/>
              </p:cNvSpPr>
              <p:nvPr/>
            </p:nvSpPr>
            <p:spPr bwMode="auto">
              <a:xfrm>
                <a:off x="1150" y="1962"/>
                <a:ext cx="3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3" name="Line 185"/>
              <p:cNvSpPr>
                <a:spLocks noChangeShapeType="1"/>
              </p:cNvSpPr>
              <p:nvPr/>
            </p:nvSpPr>
            <p:spPr bwMode="auto">
              <a:xfrm>
                <a:off x="1366" y="1954"/>
                <a:ext cx="37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>
                <a:off x="928" y="1554"/>
                <a:ext cx="37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5" name="Line 187"/>
              <p:cNvSpPr>
                <a:spLocks noChangeShapeType="1"/>
              </p:cNvSpPr>
              <p:nvPr/>
            </p:nvSpPr>
            <p:spPr bwMode="auto">
              <a:xfrm>
                <a:off x="1150" y="1549"/>
                <a:ext cx="3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6" name="Line 188"/>
              <p:cNvSpPr>
                <a:spLocks noChangeShapeType="1"/>
              </p:cNvSpPr>
              <p:nvPr/>
            </p:nvSpPr>
            <p:spPr bwMode="auto">
              <a:xfrm>
                <a:off x="1366" y="1546"/>
                <a:ext cx="37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7" name="Line 189"/>
              <p:cNvSpPr>
                <a:spLocks noChangeShapeType="1"/>
              </p:cNvSpPr>
              <p:nvPr/>
            </p:nvSpPr>
            <p:spPr bwMode="auto">
              <a:xfrm>
                <a:off x="583" y="1809"/>
                <a:ext cx="1" cy="60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8" name="Line 190"/>
              <p:cNvSpPr>
                <a:spLocks noChangeShapeType="1"/>
              </p:cNvSpPr>
              <p:nvPr/>
            </p:nvSpPr>
            <p:spPr bwMode="auto">
              <a:xfrm>
                <a:off x="677" y="1759"/>
                <a:ext cx="1" cy="57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>
                <a:off x="677" y="2338"/>
                <a:ext cx="369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0" name="Freeform 192"/>
              <p:cNvSpPr>
                <a:spLocks/>
              </p:cNvSpPr>
              <p:nvPr/>
            </p:nvSpPr>
            <p:spPr bwMode="auto">
              <a:xfrm>
                <a:off x="1042" y="2326"/>
                <a:ext cx="27" cy="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" y="12"/>
                  </a:cxn>
                  <a:cxn ang="0">
                    <a:pos x="0" y="26"/>
                  </a:cxn>
                  <a:cxn ang="0">
                    <a:pos x="0" y="0"/>
                  </a:cxn>
                </a:cxnLst>
                <a:rect l="0" t="0" r="r" b="b"/>
                <a:pathLst>
                  <a:path w="27" h="26">
                    <a:moveTo>
                      <a:pt x="0" y="0"/>
                    </a:moveTo>
                    <a:lnTo>
                      <a:pt x="27" y="12"/>
                    </a:lnTo>
                    <a:lnTo>
                      <a:pt x="0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1" name="Line 193"/>
              <p:cNvSpPr>
                <a:spLocks noChangeShapeType="1"/>
              </p:cNvSpPr>
              <p:nvPr/>
            </p:nvSpPr>
            <p:spPr bwMode="auto">
              <a:xfrm>
                <a:off x="586" y="2418"/>
                <a:ext cx="460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2" name="Freeform 194"/>
              <p:cNvSpPr>
                <a:spLocks/>
              </p:cNvSpPr>
              <p:nvPr/>
            </p:nvSpPr>
            <p:spPr bwMode="auto">
              <a:xfrm>
                <a:off x="1042" y="2404"/>
                <a:ext cx="27" cy="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" y="14"/>
                  </a:cxn>
                  <a:cxn ang="0">
                    <a:pos x="0" y="26"/>
                  </a:cxn>
                  <a:cxn ang="0">
                    <a:pos x="0" y="0"/>
                  </a:cxn>
                </a:cxnLst>
                <a:rect l="0" t="0" r="r" b="b"/>
                <a:pathLst>
                  <a:path w="27" h="26">
                    <a:moveTo>
                      <a:pt x="0" y="0"/>
                    </a:moveTo>
                    <a:lnTo>
                      <a:pt x="27" y="14"/>
                    </a:lnTo>
                    <a:lnTo>
                      <a:pt x="0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3" name="Rectangle 195"/>
              <p:cNvSpPr>
                <a:spLocks noChangeArrowheads="1"/>
              </p:cNvSpPr>
              <p:nvPr/>
            </p:nvSpPr>
            <p:spPr bwMode="auto">
              <a:xfrm>
                <a:off x="403" y="3369"/>
                <a:ext cx="979" cy="166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4" name="Freeform 196"/>
              <p:cNvSpPr>
                <a:spLocks/>
              </p:cNvSpPr>
              <p:nvPr/>
            </p:nvSpPr>
            <p:spPr bwMode="auto">
              <a:xfrm>
                <a:off x="430" y="3434"/>
                <a:ext cx="41" cy="38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" y="10"/>
                  </a:cxn>
                  <a:cxn ang="0">
                    <a:pos x="8" y="3"/>
                  </a:cxn>
                  <a:cxn ang="0">
                    <a:pos x="16" y="0"/>
                  </a:cxn>
                  <a:cxn ang="0">
                    <a:pos x="25" y="0"/>
                  </a:cxn>
                  <a:cxn ang="0">
                    <a:pos x="33" y="3"/>
                  </a:cxn>
                  <a:cxn ang="0">
                    <a:pos x="39" y="10"/>
                  </a:cxn>
                  <a:cxn ang="0">
                    <a:pos x="41" y="18"/>
                  </a:cxn>
                  <a:cxn ang="0">
                    <a:pos x="39" y="27"/>
                  </a:cxn>
                  <a:cxn ang="0">
                    <a:pos x="33" y="34"/>
                  </a:cxn>
                  <a:cxn ang="0">
                    <a:pos x="25" y="38"/>
                  </a:cxn>
                  <a:cxn ang="0">
                    <a:pos x="16" y="38"/>
                  </a:cxn>
                  <a:cxn ang="0">
                    <a:pos x="8" y="34"/>
                  </a:cxn>
                  <a:cxn ang="0">
                    <a:pos x="2" y="27"/>
                  </a:cxn>
                  <a:cxn ang="0">
                    <a:pos x="0" y="18"/>
                  </a:cxn>
                </a:cxnLst>
                <a:rect l="0" t="0" r="r" b="b"/>
                <a:pathLst>
                  <a:path w="41" h="38">
                    <a:moveTo>
                      <a:pt x="0" y="18"/>
                    </a:moveTo>
                    <a:lnTo>
                      <a:pt x="2" y="10"/>
                    </a:lnTo>
                    <a:lnTo>
                      <a:pt x="8" y="3"/>
                    </a:lnTo>
                    <a:lnTo>
                      <a:pt x="16" y="0"/>
                    </a:lnTo>
                    <a:lnTo>
                      <a:pt x="25" y="0"/>
                    </a:lnTo>
                    <a:lnTo>
                      <a:pt x="33" y="3"/>
                    </a:lnTo>
                    <a:lnTo>
                      <a:pt x="39" y="10"/>
                    </a:lnTo>
                    <a:lnTo>
                      <a:pt x="41" y="18"/>
                    </a:lnTo>
                    <a:lnTo>
                      <a:pt x="39" y="27"/>
                    </a:lnTo>
                    <a:lnTo>
                      <a:pt x="33" y="34"/>
                    </a:lnTo>
                    <a:lnTo>
                      <a:pt x="25" y="38"/>
                    </a:lnTo>
                    <a:lnTo>
                      <a:pt x="16" y="38"/>
                    </a:lnTo>
                    <a:lnTo>
                      <a:pt x="8" y="34"/>
                    </a:lnTo>
                    <a:lnTo>
                      <a:pt x="2" y="27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5" name="Freeform 197"/>
              <p:cNvSpPr>
                <a:spLocks/>
              </p:cNvSpPr>
              <p:nvPr/>
            </p:nvSpPr>
            <p:spPr bwMode="auto">
              <a:xfrm>
                <a:off x="1321" y="3434"/>
                <a:ext cx="42" cy="38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3" y="10"/>
                  </a:cxn>
                  <a:cxn ang="0">
                    <a:pos x="8" y="3"/>
                  </a:cxn>
                  <a:cxn ang="0">
                    <a:pos x="16" y="0"/>
                  </a:cxn>
                  <a:cxn ang="0">
                    <a:pos x="26" y="0"/>
                  </a:cxn>
                  <a:cxn ang="0">
                    <a:pos x="34" y="3"/>
                  </a:cxn>
                  <a:cxn ang="0">
                    <a:pos x="39" y="10"/>
                  </a:cxn>
                  <a:cxn ang="0">
                    <a:pos x="42" y="18"/>
                  </a:cxn>
                  <a:cxn ang="0">
                    <a:pos x="39" y="27"/>
                  </a:cxn>
                  <a:cxn ang="0">
                    <a:pos x="34" y="34"/>
                  </a:cxn>
                  <a:cxn ang="0">
                    <a:pos x="26" y="38"/>
                  </a:cxn>
                  <a:cxn ang="0">
                    <a:pos x="16" y="38"/>
                  </a:cxn>
                  <a:cxn ang="0">
                    <a:pos x="8" y="34"/>
                  </a:cxn>
                  <a:cxn ang="0">
                    <a:pos x="3" y="27"/>
                  </a:cxn>
                  <a:cxn ang="0">
                    <a:pos x="0" y="18"/>
                  </a:cxn>
                </a:cxnLst>
                <a:rect l="0" t="0" r="r" b="b"/>
                <a:pathLst>
                  <a:path w="42" h="38">
                    <a:moveTo>
                      <a:pt x="0" y="18"/>
                    </a:moveTo>
                    <a:lnTo>
                      <a:pt x="3" y="10"/>
                    </a:lnTo>
                    <a:lnTo>
                      <a:pt x="8" y="3"/>
                    </a:lnTo>
                    <a:lnTo>
                      <a:pt x="16" y="0"/>
                    </a:lnTo>
                    <a:lnTo>
                      <a:pt x="26" y="0"/>
                    </a:lnTo>
                    <a:lnTo>
                      <a:pt x="34" y="3"/>
                    </a:lnTo>
                    <a:lnTo>
                      <a:pt x="39" y="10"/>
                    </a:lnTo>
                    <a:lnTo>
                      <a:pt x="42" y="18"/>
                    </a:lnTo>
                    <a:lnTo>
                      <a:pt x="39" y="27"/>
                    </a:lnTo>
                    <a:lnTo>
                      <a:pt x="34" y="34"/>
                    </a:lnTo>
                    <a:lnTo>
                      <a:pt x="26" y="38"/>
                    </a:lnTo>
                    <a:lnTo>
                      <a:pt x="16" y="38"/>
                    </a:lnTo>
                    <a:lnTo>
                      <a:pt x="8" y="34"/>
                    </a:lnTo>
                    <a:lnTo>
                      <a:pt x="3" y="27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6" name="Rectangle 198"/>
              <p:cNvSpPr>
                <a:spLocks noChangeArrowheads="1"/>
              </p:cNvSpPr>
              <p:nvPr/>
            </p:nvSpPr>
            <p:spPr bwMode="auto">
              <a:xfrm>
                <a:off x="485" y="3370"/>
                <a:ext cx="822" cy="163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7" name="Freeform 199"/>
              <p:cNvSpPr>
                <a:spLocks/>
              </p:cNvSpPr>
              <p:nvPr/>
            </p:nvSpPr>
            <p:spPr bwMode="auto">
              <a:xfrm>
                <a:off x="1069" y="3383"/>
                <a:ext cx="69" cy="137"/>
              </a:xfrm>
              <a:custGeom>
                <a:avLst/>
                <a:gdLst/>
                <a:ahLst/>
                <a:cxnLst>
                  <a:cxn ang="0">
                    <a:pos x="52" y="0"/>
                  </a:cxn>
                  <a:cxn ang="0">
                    <a:pos x="17" y="0"/>
                  </a:cxn>
                  <a:cxn ang="0">
                    <a:pos x="17" y="120"/>
                  </a:cxn>
                  <a:cxn ang="0">
                    <a:pos x="0" y="120"/>
                  </a:cxn>
                  <a:cxn ang="0">
                    <a:pos x="35" y="137"/>
                  </a:cxn>
                  <a:cxn ang="0">
                    <a:pos x="69" y="120"/>
                  </a:cxn>
                  <a:cxn ang="0">
                    <a:pos x="52" y="120"/>
                  </a:cxn>
                  <a:cxn ang="0">
                    <a:pos x="52" y="0"/>
                  </a:cxn>
                </a:cxnLst>
                <a:rect l="0" t="0" r="r" b="b"/>
                <a:pathLst>
                  <a:path w="69" h="137">
                    <a:moveTo>
                      <a:pt x="52" y="0"/>
                    </a:moveTo>
                    <a:lnTo>
                      <a:pt x="17" y="0"/>
                    </a:lnTo>
                    <a:lnTo>
                      <a:pt x="17" y="120"/>
                    </a:lnTo>
                    <a:lnTo>
                      <a:pt x="0" y="120"/>
                    </a:lnTo>
                    <a:lnTo>
                      <a:pt x="35" y="137"/>
                    </a:lnTo>
                    <a:lnTo>
                      <a:pt x="69" y="120"/>
                    </a:lnTo>
                    <a:lnTo>
                      <a:pt x="52" y="120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8" name="Freeform 200"/>
              <p:cNvSpPr>
                <a:spLocks/>
              </p:cNvSpPr>
              <p:nvPr/>
            </p:nvSpPr>
            <p:spPr bwMode="auto">
              <a:xfrm>
                <a:off x="640" y="3383"/>
                <a:ext cx="68" cy="137"/>
              </a:xfrm>
              <a:custGeom>
                <a:avLst/>
                <a:gdLst/>
                <a:ahLst/>
                <a:cxnLst>
                  <a:cxn ang="0">
                    <a:pos x="52" y="0"/>
                  </a:cxn>
                  <a:cxn ang="0">
                    <a:pos x="18" y="0"/>
                  </a:cxn>
                  <a:cxn ang="0">
                    <a:pos x="18" y="120"/>
                  </a:cxn>
                  <a:cxn ang="0">
                    <a:pos x="0" y="120"/>
                  </a:cxn>
                  <a:cxn ang="0">
                    <a:pos x="35" y="137"/>
                  </a:cxn>
                  <a:cxn ang="0">
                    <a:pos x="68" y="120"/>
                  </a:cxn>
                  <a:cxn ang="0">
                    <a:pos x="52" y="120"/>
                  </a:cxn>
                  <a:cxn ang="0">
                    <a:pos x="52" y="0"/>
                  </a:cxn>
                </a:cxnLst>
                <a:rect l="0" t="0" r="r" b="b"/>
                <a:pathLst>
                  <a:path w="68" h="137">
                    <a:moveTo>
                      <a:pt x="52" y="0"/>
                    </a:moveTo>
                    <a:lnTo>
                      <a:pt x="18" y="0"/>
                    </a:lnTo>
                    <a:lnTo>
                      <a:pt x="18" y="120"/>
                    </a:lnTo>
                    <a:lnTo>
                      <a:pt x="0" y="120"/>
                    </a:lnTo>
                    <a:lnTo>
                      <a:pt x="35" y="137"/>
                    </a:lnTo>
                    <a:lnTo>
                      <a:pt x="68" y="120"/>
                    </a:lnTo>
                    <a:lnTo>
                      <a:pt x="52" y="120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9" name="Line 201"/>
              <p:cNvSpPr>
                <a:spLocks noChangeShapeType="1"/>
              </p:cNvSpPr>
              <p:nvPr/>
            </p:nvSpPr>
            <p:spPr bwMode="auto">
              <a:xfrm>
                <a:off x="586" y="3370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0" name="Line 202"/>
              <p:cNvSpPr>
                <a:spLocks noChangeShapeType="1"/>
              </p:cNvSpPr>
              <p:nvPr/>
            </p:nvSpPr>
            <p:spPr bwMode="auto">
              <a:xfrm>
                <a:off x="586" y="3398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1" name="Line 203"/>
              <p:cNvSpPr>
                <a:spLocks noChangeShapeType="1"/>
              </p:cNvSpPr>
              <p:nvPr/>
            </p:nvSpPr>
            <p:spPr bwMode="auto">
              <a:xfrm>
                <a:off x="586" y="3426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2" name="Line 204"/>
              <p:cNvSpPr>
                <a:spLocks noChangeShapeType="1"/>
              </p:cNvSpPr>
              <p:nvPr/>
            </p:nvSpPr>
            <p:spPr bwMode="auto">
              <a:xfrm>
                <a:off x="586" y="3453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3" name="Line 205"/>
              <p:cNvSpPr>
                <a:spLocks noChangeShapeType="1"/>
              </p:cNvSpPr>
              <p:nvPr/>
            </p:nvSpPr>
            <p:spPr bwMode="auto">
              <a:xfrm>
                <a:off x="586" y="3481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4" name="Line 206"/>
              <p:cNvSpPr>
                <a:spLocks noChangeShapeType="1"/>
              </p:cNvSpPr>
              <p:nvPr/>
            </p:nvSpPr>
            <p:spPr bwMode="auto">
              <a:xfrm>
                <a:off x="586" y="3509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5" name="Line 207"/>
              <p:cNvSpPr>
                <a:spLocks noChangeShapeType="1"/>
              </p:cNvSpPr>
              <p:nvPr/>
            </p:nvSpPr>
            <p:spPr bwMode="auto">
              <a:xfrm>
                <a:off x="771" y="3370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6" name="Line 208"/>
              <p:cNvSpPr>
                <a:spLocks noChangeShapeType="1"/>
              </p:cNvSpPr>
              <p:nvPr/>
            </p:nvSpPr>
            <p:spPr bwMode="auto">
              <a:xfrm>
                <a:off x="771" y="3398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7" name="Line 209"/>
              <p:cNvSpPr>
                <a:spLocks noChangeShapeType="1"/>
              </p:cNvSpPr>
              <p:nvPr/>
            </p:nvSpPr>
            <p:spPr bwMode="auto">
              <a:xfrm>
                <a:off x="771" y="3426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8" name="Line 210"/>
              <p:cNvSpPr>
                <a:spLocks noChangeShapeType="1"/>
              </p:cNvSpPr>
              <p:nvPr/>
            </p:nvSpPr>
            <p:spPr bwMode="auto">
              <a:xfrm>
                <a:off x="771" y="3453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9" name="Line 211"/>
              <p:cNvSpPr>
                <a:spLocks noChangeShapeType="1"/>
              </p:cNvSpPr>
              <p:nvPr/>
            </p:nvSpPr>
            <p:spPr bwMode="auto">
              <a:xfrm>
                <a:off x="771" y="3481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0" name="Line 212"/>
              <p:cNvSpPr>
                <a:spLocks noChangeShapeType="1"/>
              </p:cNvSpPr>
              <p:nvPr/>
            </p:nvSpPr>
            <p:spPr bwMode="auto">
              <a:xfrm>
                <a:off x="771" y="3509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1" name="Line 213"/>
              <p:cNvSpPr>
                <a:spLocks noChangeShapeType="1"/>
              </p:cNvSpPr>
              <p:nvPr/>
            </p:nvSpPr>
            <p:spPr bwMode="auto">
              <a:xfrm>
                <a:off x="1011" y="3370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2" name="Line 214"/>
              <p:cNvSpPr>
                <a:spLocks noChangeShapeType="1"/>
              </p:cNvSpPr>
              <p:nvPr/>
            </p:nvSpPr>
            <p:spPr bwMode="auto">
              <a:xfrm>
                <a:off x="1011" y="3398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3" name="Line 215"/>
              <p:cNvSpPr>
                <a:spLocks noChangeShapeType="1"/>
              </p:cNvSpPr>
              <p:nvPr/>
            </p:nvSpPr>
            <p:spPr bwMode="auto">
              <a:xfrm>
                <a:off x="1011" y="3426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4" name="Line 216"/>
              <p:cNvSpPr>
                <a:spLocks noChangeShapeType="1"/>
              </p:cNvSpPr>
              <p:nvPr/>
            </p:nvSpPr>
            <p:spPr bwMode="auto">
              <a:xfrm>
                <a:off x="1011" y="3453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5" name="Line 217"/>
              <p:cNvSpPr>
                <a:spLocks noChangeShapeType="1"/>
              </p:cNvSpPr>
              <p:nvPr/>
            </p:nvSpPr>
            <p:spPr bwMode="auto">
              <a:xfrm>
                <a:off x="1011" y="3481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6" name="Line 218"/>
              <p:cNvSpPr>
                <a:spLocks noChangeShapeType="1"/>
              </p:cNvSpPr>
              <p:nvPr/>
            </p:nvSpPr>
            <p:spPr bwMode="auto">
              <a:xfrm>
                <a:off x="1011" y="3509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7" name="Line 219"/>
              <p:cNvSpPr>
                <a:spLocks noChangeShapeType="1"/>
              </p:cNvSpPr>
              <p:nvPr/>
            </p:nvSpPr>
            <p:spPr bwMode="auto">
              <a:xfrm>
                <a:off x="1196" y="3370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8" name="Line 220"/>
              <p:cNvSpPr>
                <a:spLocks noChangeShapeType="1"/>
              </p:cNvSpPr>
              <p:nvPr/>
            </p:nvSpPr>
            <p:spPr bwMode="auto">
              <a:xfrm>
                <a:off x="1196" y="3398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9" name="Line 221"/>
              <p:cNvSpPr>
                <a:spLocks noChangeShapeType="1"/>
              </p:cNvSpPr>
              <p:nvPr/>
            </p:nvSpPr>
            <p:spPr bwMode="auto">
              <a:xfrm>
                <a:off x="1196" y="3426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4" name="Group 222"/>
            <p:cNvGrpSpPr>
              <a:grpSpLocks/>
            </p:cNvGrpSpPr>
            <p:nvPr/>
          </p:nvGrpSpPr>
          <p:grpSpPr bwMode="auto">
            <a:xfrm>
              <a:off x="433" y="1777"/>
              <a:ext cx="2204" cy="1939"/>
              <a:chOff x="433" y="1777"/>
              <a:chExt cx="2204" cy="1939"/>
            </a:xfrm>
          </p:grpSpPr>
          <p:sp>
            <p:nvSpPr>
              <p:cNvPr id="2271" name="Line 223"/>
              <p:cNvSpPr>
                <a:spLocks noChangeShapeType="1"/>
              </p:cNvSpPr>
              <p:nvPr/>
            </p:nvSpPr>
            <p:spPr bwMode="auto">
              <a:xfrm>
                <a:off x="1196" y="3453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2" name="Line 224"/>
              <p:cNvSpPr>
                <a:spLocks noChangeShapeType="1"/>
              </p:cNvSpPr>
              <p:nvPr/>
            </p:nvSpPr>
            <p:spPr bwMode="auto">
              <a:xfrm>
                <a:off x="1196" y="3481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3" name="Line 225"/>
              <p:cNvSpPr>
                <a:spLocks noChangeShapeType="1"/>
              </p:cNvSpPr>
              <p:nvPr/>
            </p:nvSpPr>
            <p:spPr bwMode="auto">
              <a:xfrm>
                <a:off x="1196" y="3509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4" name="Rectangle 226"/>
              <p:cNvSpPr>
                <a:spLocks noChangeArrowheads="1"/>
              </p:cNvSpPr>
              <p:nvPr/>
            </p:nvSpPr>
            <p:spPr bwMode="auto">
              <a:xfrm>
                <a:off x="757" y="3330"/>
                <a:ext cx="279" cy="3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5" name="Line 227"/>
              <p:cNvSpPr>
                <a:spLocks noChangeShapeType="1"/>
              </p:cNvSpPr>
              <p:nvPr/>
            </p:nvSpPr>
            <p:spPr bwMode="auto">
              <a:xfrm>
                <a:off x="757" y="33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6" name="Line 228"/>
              <p:cNvSpPr>
                <a:spLocks noChangeShapeType="1"/>
              </p:cNvSpPr>
              <p:nvPr/>
            </p:nvSpPr>
            <p:spPr bwMode="auto">
              <a:xfrm>
                <a:off x="766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7" name="Line 229"/>
              <p:cNvSpPr>
                <a:spLocks noChangeShapeType="1"/>
              </p:cNvSpPr>
              <p:nvPr/>
            </p:nvSpPr>
            <p:spPr bwMode="auto">
              <a:xfrm>
                <a:off x="775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8" name="Line 230"/>
              <p:cNvSpPr>
                <a:spLocks noChangeShapeType="1"/>
              </p:cNvSpPr>
              <p:nvPr/>
            </p:nvSpPr>
            <p:spPr bwMode="auto">
              <a:xfrm>
                <a:off x="784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9" name="Line 231"/>
              <p:cNvSpPr>
                <a:spLocks noChangeShapeType="1"/>
              </p:cNvSpPr>
              <p:nvPr/>
            </p:nvSpPr>
            <p:spPr bwMode="auto">
              <a:xfrm>
                <a:off x="794" y="33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0" name="Line 232"/>
              <p:cNvSpPr>
                <a:spLocks noChangeShapeType="1"/>
              </p:cNvSpPr>
              <p:nvPr/>
            </p:nvSpPr>
            <p:spPr bwMode="auto">
              <a:xfrm>
                <a:off x="803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1" name="Line 233"/>
              <p:cNvSpPr>
                <a:spLocks noChangeShapeType="1"/>
              </p:cNvSpPr>
              <p:nvPr/>
            </p:nvSpPr>
            <p:spPr bwMode="auto">
              <a:xfrm>
                <a:off x="812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2" name="Line 234"/>
              <p:cNvSpPr>
                <a:spLocks noChangeShapeType="1"/>
              </p:cNvSpPr>
              <p:nvPr/>
            </p:nvSpPr>
            <p:spPr bwMode="auto">
              <a:xfrm>
                <a:off x="821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3" name="Line 235"/>
              <p:cNvSpPr>
                <a:spLocks noChangeShapeType="1"/>
              </p:cNvSpPr>
              <p:nvPr/>
            </p:nvSpPr>
            <p:spPr bwMode="auto">
              <a:xfrm>
                <a:off x="831" y="33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4" name="Line 236"/>
              <p:cNvSpPr>
                <a:spLocks noChangeShapeType="1"/>
              </p:cNvSpPr>
              <p:nvPr/>
            </p:nvSpPr>
            <p:spPr bwMode="auto">
              <a:xfrm>
                <a:off x="840" y="33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5" name="Line 237"/>
              <p:cNvSpPr>
                <a:spLocks noChangeShapeType="1"/>
              </p:cNvSpPr>
              <p:nvPr/>
            </p:nvSpPr>
            <p:spPr bwMode="auto">
              <a:xfrm>
                <a:off x="849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6" name="Line 238"/>
              <p:cNvSpPr>
                <a:spLocks noChangeShapeType="1"/>
              </p:cNvSpPr>
              <p:nvPr/>
            </p:nvSpPr>
            <p:spPr bwMode="auto">
              <a:xfrm>
                <a:off x="858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7" name="Line 239"/>
              <p:cNvSpPr>
                <a:spLocks noChangeShapeType="1"/>
              </p:cNvSpPr>
              <p:nvPr/>
            </p:nvSpPr>
            <p:spPr bwMode="auto">
              <a:xfrm>
                <a:off x="867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8" name="Line 240"/>
              <p:cNvSpPr>
                <a:spLocks noChangeShapeType="1"/>
              </p:cNvSpPr>
              <p:nvPr/>
            </p:nvSpPr>
            <p:spPr bwMode="auto">
              <a:xfrm>
                <a:off x="877" y="33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9" name="Line 241"/>
              <p:cNvSpPr>
                <a:spLocks noChangeShapeType="1"/>
              </p:cNvSpPr>
              <p:nvPr/>
            </p:nvSpPr>
            <p:spPr bwMode="auto">
              <a:xfrm>
                <a:off x="886" y="33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0" name="Line 242"/>
              <p:cNvSpPr>
                <a:spLocks noChangeShapeType="1"/>
              </p:cNvSpPr>
              <p:nvPr/>
            </p:nvSpPr>
            <p:spPr bwMode="auto">
              <a:xfrm>
                <a:off x="895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1" name="Line 243"/>
              <p:cNvSpPr>
                <a:spLocks noChangeShapeType="1"/>
              </p:cNvSpPr>
              <p:nvPr/>
            </p:nvSpPr>
            <p:spPr bwMode="auto">
              <a:xfrm>
                <a:off x="904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2" name="Line 244"/>
              <p:cNvSpPr>
                <a:spLocks noChangeShapeType="1"/>
              </p:cNvSpPr>
              <p:nvPr/>
            </p:nvSpPr>
            <p:spPr bwMode="auto">
              <a:xfrm>
                <a:off x="913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3" name="Line 245"/>
              <p:cNvSpPr>
                <a:spLocks noChangeShapeType="1"/>
              </p:cNvSpPr>
              <p:nvPr/>
            </p:nvSpPr>
            <p:spPr bwMode="auto">
              <a:xfrm>
                <a:off x="923" y="33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4" name="Line 246"/>
              <p:cNvSpPr>
                <a:spLocks noChangeShapeType="1"/>
              </p:cNvSpPr>
              <p:nvPr/>
            </p:nvSpPr>
            <p:spPr bwMode="auto">
              <a:xfrm>
                <a:off x="932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5" name="Line 247"/>
              <p:cNvSpPr>
                <a:spLocks noChangeShapeType="1"/>
              </p:cNvSpPr>
              <p:nvPr/>
            </p:nvSpPr>
            <p:spPr bwMode="auto">
              <a:xfrm>
                <a:off x="941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6" name="Line 248"/>
              <p:cNvSpPr>
                <a:spLocks noChangeShapeType="1"/>
              </p:cNvSpPr>
              <p:nvPr/>
            </p:nvSpPr>
            <p:spPr bwMode="auto">
              <a:xfrm>
                <a:off x="950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7" name="Line 249"/>
              <p:cNvSpPr>
                <a:spLocks noChangeShapeType="1"/>
              </p:cNvSpPr>
              <p:nvPr/>
            </p:nvSpPr>
            <p:spPr bwMode="auto">
              <a:xfrm>
                <a:off x="960" y="33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8" name="Line 250"/>
              <p:cNvSpPr>
                <a:spLocks noChangeShapeType="1"/>
              </p:cNvSpPr>
              <p:nvPr/>
            </p:nvSpPr>
            <p:spPr bwMode="auto">
              <a:xfrm>
                <a:off x="969" y="33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9" name="Line 251"/>
              <p:cNvSpPr>
                <a:spLocks noChangeShapeType="1"/>
              </p:cNvSpPr>
              <p:nvPr/>
            </p:nvSpPr>
            <p:spPr bwMode="auto">
              <a:xfrm>
                <a:off x="978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0" name="Line 252"/>
              <p:cNvSpPr>
                <a:spLocks noChangeShapeType="1"/>
              </p:cNvSpPr>
              <p:nvPr/>
            </p:nvSpPr>
            <p:spPr bwMode="auto">
              <a:xfrm>
                <a:off x="987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1" name="Line 253"/>
              <p:cNvSpPr>
                <a:spLocks noChangeShapeType="1"/>
              </p:cNvSpPr>
              <p:nvPr/>
            </p:nvSpPr>
            <p:spPr bwMode="auto">
              <a:xfrm>
                <a:off x="996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2" name="Line 254"/>
              <p:cNvSpPr>
                <a:spLocks noChangeShapeType="1"/>
              </p:cNvSpPr>
              <p:nvPr/>
            </p:nvSpPr>
            <p:spPr bwMode="auto">
              <a:xfrm>
                <a:off x="1006" y="33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3" name="Line 255"/>
              <p:cNvSpPr>
                <a:spLocks noChangeShapeType="1"/>
              </p:cNvSpPr>
              <p:nvPr/>
            </p:nvSpPr>
            <p:spPr bwMode="auto">
              <a:xfrm>
                <a:off x="1015" y="33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4" name="Line 256"/>
              <p:cNvSpPr>
                <a:spLocks noChangeShapeType="1"/>
              </p:cNvSpPr>
              <p:nvPr/>
            </p:nvSpPr>
            <p:spPr bwMode="auto">
              <a:xfrm>
                <a:off x="1024" y="33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5" name="Freeform 257"/>
              <p:cNvSpPr>
                <a:spLocks/>
              </p:cNvSpPr>
              <p:nvPr/>
            </p:nvSpPr>
            <p:spPr bwMode="auto">
              <a:xfrm>
                <a:off x="1033" y="3361"/>
                <a:ext cx="3" cy="2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2" y="2"/>
                  </a:cxn>
                  <a:cxn ang="0">
                    <a:pos x="2" y="0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2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6" name="Line 258"/>
              <p:cNvSpPr>
                <a:spLocks noChangeShapeType="1"/>
              </p:cNvSpPr>
              <p:nvPr/>
            </p:nvSpPr>
            <p:spPr bwMode="auto">
              <a:xfrm flipV="1">
                <a:off x="1036" y="335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7" name="Line 259"/>
              <p:cNvSpPr>
                <a:spLocks noChangeShapeType="1"/>
              </p:cNvSpPr>
              <p:nvPr/>
            </p:nvSpPr>
            <p:spPr bwMode="auto">
              <a:xfrm flipV="1">
                <a:off x="1036" y="334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8" name="Line 260"/>
              <p:cNvSpPr>
                <a:spLocks noChangeShapeType="1"/>
              </p:cNvSpPr>
              <p:nvPr/>
            </p:nvSpPr>
            <p:spPr bwMode="auto">
              <a:xfrm flipV="1">
                <a:off x="1036" y="333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9" name="Line 261"/>
              <p:cNvSpPr>
                <a:spLocks noChangeShapeType="1"/>
              </p:cNvSpPr>
              <p:nvPr/>
            </p:nvSpPr>
            <p:spPr bwMode="auto">
              <a:xfrm flipH="1">
                <a:off x="1030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0" name="Line 262"/>
              <p:cNvSpPr>
                <a:spLocks noChangeShapeType="1"/>
              </p:cNvSpPr>
              <p:nvPr/>
            </p:nvSpPr>
            <p:spPr bwMode="auto">
              <a:xfrm flipH="1">
                <a:off x="1021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1" name="Line 263"/>
              <p:cNvSpPr>
                <a:spLocks noChangeShapeType="1"/>
              </p:cNvSpPr>
              <p:nvPr/>
            </p:nvSpPr>
            <p:spPr bwMode="auto">
              <a:xfrm flipH="1">
                <a:off x="1011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2" name="Line 264"/>
              <p:cNvSpPr>
                <a:spLocks noChangeShapeType="1"/>
              </p:cNvSpPr>
              <p:nvPr/>
            </p:nvSpPr>
            <p:spPr bwMode="auto">
              <a:xfrm flipH="1">
                <a:off x="1002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3" name="Line 265"/>
              <p:cNvSpPr>
                <a:spLocks noChangeShapeType="1"/>
              </p:cNvSpPr>
              <p:nvPr/>
            </p:nvSpPr>
            <p:spPr bwMode="auto">
              <a:xfrm flipH="1">
                <a:off x="993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4" name="Line 266"/>
              <p:cNvSpPr>
                <a:spLocks noChangeShapeType="1"/>
              </p:cNvSpPr>
              <p:nvPr/>
            </p:nvSpPr>
            <p:spPr bwMode="auto">
              <a:xfrm flipH="1">
                <a:off x="984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5" name="Line 267"/>
              <p:cNvSpPr>
                <a:spLocks noChangeShapeType="1"/>
              </p:cNvSpPr>
              <p:nvPr/>
            </p:nvSpPr>
            <p:spPr bwMode="auto">
              <a:xfrm flipH="1">
                <a:off x="975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6" name="Line 268"/>
              <p:cNvSpPr>
                <a:spLocks noChangeShapeType="1"/>
              </p:cNvSpPr>
              <p:nvPr/>
            </p:nvSpPr>
            <p:spPr bwMode="auto">
              <a:xfrm flipH="1">
                <a:off x="965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7" name="Line 269"/>
              <p:cNvSpPr>
                <a:spLocks noChangeShapeType="1"/>
              </p:cNvSpPr>
              <p:nvPr/>
            </p:nvSpPr>
            <p:spPr bwMode="auto">
              <a:xfrm flipH="1">
                <a:off x="956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8" name="Line 270"/>
              <p:cNvSpPr>
                <a:spLocks noChangeShapeType="1"/>
              </p:cNvSpPr>
              <p:nvPr/>
            </p:nvSpPr>
            <p:spPr bwMode="auto">
              <a:xfrm flipH="1">
                <a:off x="947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9" name="Line 271"/>
              <p:cNvSpPr>
                <a:spLocks noChangeShapeType="1"/>
              </p:cNvSpPr>
              <p:nvPr/>
            </p:nvSpPr>
            <p:spPr bwMode="auto">
              <a:xfrm flipH="1">
                <a:off x="938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0" name="Line 272"/>
              <p:cNvSpPr>
                <a:spLocks noChangeShapeType="1"/>
              </p:cNvSpPr>
              <p:nvPr/>
            </p:nvSpPr>
            <p:spPr bwMode="auto">
              <a:xfrm flipH="1">
                <a:off x="928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1" name="Line 273"/>
              <p:cNvSpPr>
                <a:spLocks noChangeShapeType="1"/>
              </p:cNvSpPr>
              <p:nvPr/>
            </p:nvSpPr>
            <p:spPr bwMode="auto">
              <a:xfrm flipH="1">
                <a:off x="919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2" name="Line 274"/>
              <p:cNvSpPr>
                <a:spLocks noChangeShapeType="1"/>
              </p:cNvSpPr>
              <p:nvPr/>
            </p:nvSpPr>
            <p:spPr bwMode="auto">
              <a:xfrm flipH="1">
                <a:off x="910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3" name="Line 275"/>
              <p:cNvSpPr>
                <a:spLocks noChangeShapeType="1"/>
              </p:cNvSpPr>
              <p:nvPr/>
            </p:nvSpPr>
            <p:spPr bwMode="auto">
              <a:xfrm flipH="1">
                <a:off x="901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4" name="Line 276"/>
              <p:cNvSpPr>
                <a:spLocks noChangeShapeType="1"/>
              </p:cNvSpPr>
              <p:nvPr/>
            </p:nvSpPr>
            <p:spPr bwMode="auto">
              <a:xfrm flipH="1">
                <a:off x="892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5" name="Line 277"/>
              <p:cNvSpPr>
                <a:spLocks noChangeShapeType="1"/>
              </p:cNvSpPr>
              <p:nvPr/>
            </p:nvSpPr>
            <p:spPr bwMode="auto">
              <a:xfrm flipH="1">
                <a:off x="882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6" name="Line 278"/>
              <p:cNvSpPr>
                <a:spLocks noChangeShapeType="1"/>
              </p:cNvSpPr>
              <p:nvPr/>
            </p:nvSpPr>
            <p:spPr bwMode="auto">
              <a:xfrm flipH="1">
                <a:off x="873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7" name="Line 279"/>
              <p:cNvSpPr>
                <a:spLocks noChangeShapeType="1"/>
              </p:cNvSpPr>
              <p:nvPr/>
            </p:nvSpPr>
            <p:spPr bwMode="auto">
              <a:xfrm flipH="1">
                <a:off x="864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8" name="Line 280"/>
              <p:cNvSpPr>
                <a:spLocks noChangeShapeType="1"/>
              </p:cNvSpPr>
              <p:nvPr/>
            </p:nvSpPr>
            <p:spPr bwMode="auto">
              <a:xfrm flipH="1">
                <a:off x="855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9" name="Line 281"/>
              <p:cNvSpPr>
                <a:spLocks noChangeShapeType="1"/>
              </p:cNvSpPr>
              <p:nvPr/>
            </p:nvSpPr>
            <p:spPr bwMode="auto">
              <a:xfrm flipH="1">
                <a:off x="846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0" name="Line 282"/>
              <p:cNvSpPr>
                <a:spLocks noChangeShapeType="1"/>
              </p:cNvSpPr>
              <p:nvPr/>
            </p:nvSpPr>
            <p:spPr bwMode="auto">
              <a:xfrm flipH="1">
                <a:off x="836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1" name="Line 283"/>
              <p:cNvSpPr>
                <a:spLocks noChangeShapeType="1"/>
              </p:cNvSpPr>
              <p:nvPr/>
            </p:nvSpPr>
            <p:spPr bwMode="auto">
              <a:xfrm flipH="1">
                <a:off x="827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2" name="Line 284"/>
              <p:cNvSpPr>
                <a:spLocks noChangeShapeType="1"/>
              </p:cNvSpPr>
              <p:nvPr/>
            </p:nvSpPr>
            <p:spPr bwMode="auto">
              <a:xfrm flipH="1">
                <a:off x="818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3" name="Line 285"/>
              <p:cNvSpPr>
                <a:spLocks noChangeShapeType="1"/>
              </p:cNvSpPr>
              <p:nvPr/>
            </p:nvSpPr>
            <p:spPr bwMode="auto">
              <a:xfrm flipH="1">
                <a:off x="809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4" name="Line 286"/>
              <p:cNvSpPr>
                <a:spLocks noChangeShapeType="1"/>
              </p:cNvSpPr>
              <p:nvPr/>
            </p:nvSpPr>
            <p:spPr bwMode="auto">
              <a:xfrm flipH="1">
                <a:off x="799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5" name="Line 287"/>
              <p:cNvSpPr>
                <a:spLocks noChangeShapeType="1"/>
              </p:cNvSpPr>
              <p:nvPr/>
            </p:nvSpPr>
            <p:spPr bwMode="auto">
              <a:xfrm flipH="1">
                <a:off x="790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6" name="Line 288"/>
              <p:cNvSpPr>
                <a:spLocks noChangeShapeType="1"/>
              </p:cNvSpPr>
              <p:nvPr/>
            </p:nvSpPr>
            <p:spPr bwMode="auto">
              <a:xfrm flipH="1">
                <a:off x="781" y="333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7" name="Line 289"/>
              <p:cNvSpPr>
                <a:spLocks noChangeShapeType="1"/>
              </p:cNvSpPr>
              <p:nvPr/>
            </p:nvSpPr>
            <p:spPr bwMode="auto">
              <a:xfrm flipH="1">
                <a:off x="772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8" name="Line 290"/>
              <p:cNvSpPr>
                <a:spLocks noChangeShapeType="1"/>
              </p:cNvSpPr>
              <p:nvPr/>
            </p:nvSpPr>
            <p:spPr bwMode="auto">
              <a:xfrm flipH="1">
                <a:off x="763" y="333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9" name="Freeform 291"/>
              <p:cNvSpPr>
                <a:spLocks/>
              </p:cNvSpPr>
              <p:nvPr/>
            </p:nvSpPr>
            <p:spPr bwMode="auto">
              <a:xfrm>
                <a:off x="757" y="3330"/>
                <a:ext cx="1" cy="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3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0" name="Line 292"/>
              <p:cNvSpPr>
                <a:spLocks noChangeShapeType="1"/>
              </p:cNvSpPr>
              <p:nvPr/>
            </p:nvSpPr>
            <p:spPr bwMode="auto">
              <a:xfrm>
                <a:off x="757" y="333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1" name="Line 293"/>
              <p:cNvSpPr>
                <a:spLocks noChangeShapeType="1"/>
              </p:cNvSpPr>
              <p:nvPr/>
            </p:nvSpPr>
            <p:spPr bwMode="auto">
              <a:xfrm>
                <a:off x="757" y="334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2" name="Line 294"/>
              <p:cNvSpPr>
                <a:spLocks noChangeShapeType="1"/>
              </p:cNvSpPr>
              <p:nvPr/>
            </p:nvSpPr>
            <p:spPr bwMode="auto">
              <a:xfrm>
                <a:off x="757" y="335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3" name="Line 295"/>
              <p:cNvSpPr>
                <a:spLocks noChangeShapeType="1"/>
              </p:cNvSpPr>
              <p:nvPr/>
            </p:nvSpPr>
            <p:spPr bwMode="auto">
              <a:xfrm>
                <a:off x="964" y="3327"/>
                <a:ext cx="1" cy="3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4" name="Line 296"/>
              <p:cNvSpPr>
                <a:spLocks noChangeShapeType="1"/>
              </p:cNvSpPr>
              <p:nvPr/>
            </p:nvSpPr>
            <p:spPr bwMode="auto">
              <a:xfrm>
                <a:off x="918" y="3327"/>
                <a:ext cx="1" cy="3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5" name="Line 297"/>
              <p:cNvSpPr>
                <a:spLocks noChangeShapeType="1"/>
              </p:cNvSpPr>
              <p:nvPr/>
            </p:nvSpPr>
            <p:spPr bwMode="auto">
              <a:xfrm>
                <a:off x="873" y="3327"/>
                <a:ext cx="1" cy="3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6" name="Line 298"/>
              <p:cNvSpPr>
                <a:spLocks noChangeShapeType="1"/>
              </p:cNvSpPr>
              <p:nvPr/>
            </p:nvSpPr>
            <p:spPr bwMode="auto">
              <a:xfrm>
                <a:off x="828" y="3328"/>
                <a:ext cx="1" cy="3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7" name="Line 299"/>
              <p:cNvSpPr>
                <a:spLocks noChangeShapeType="1"/>
              </p:cNvSpPr>
              <p:nvPr/>
            </p:nvSpPr>
            <p:spPr bwMode="auto">
              <a:xfrm>
                <a:off x="782" y="3328"/>
                <a:ext cx="1" cy="3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8" name="Line 300"/>
              <p:cNvSpPr>
                <a:spLocks noChangeShapeType="1"/>
              </p:cNvSpPr>
              <p:nvPr/>
            </p:nvSpPr>
            <p:spPr bwMode="auto">
              <a:xfrm>
                <a:off x="1009" y="3327"/>
                <a:ext cx="1" cy="3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9" name="Rectangle 301"/>
              <p:cNvSpPr>
                <a:spLocks noChangeArrowheads="1"/>
              </p:cNvSpPr>
              <p:nvPr/>
            </p:nvSpPr>
            <p:spPr bwMode="auto">
              <a:xfrm>
                <a:off x="757" y="3194"/>
                <a:ext cx="279" cy="118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0" name="Rectangle 302"/>
              <p:cNvSpPr>
                <a:spLocks noChangeArrowheads="1"/>
              </p:cNvSpPr>
              <p:nvPr/>
            </p:nvSpPr>
            <p:spPr bwMode="auto">
              <a:xfrm>
                <a:off x="774" y="3223"/>
                <a:ext cx="20" cy="66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1" name="Rectangle 303"/>
              <p:cNvSpPr>
                <a:spLocks noChangeArrowheads="1"/>
              </p:cNvSpPr>
              <p:nvPr/>
            </p:nvSpPr>
            <p:spPr bwMode="auto">
              <a:xfrm>
                <a:off x="819" y="3223"/>
                <a:ext cx="20" cy="66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2" name="Rectangle 304"/>
              <p:cNvSpPr>
                <a:spLocks noChangeArrowheads="1"/>
              </p:cNvSpPr>
              <p:nvPr/>
            </p:nvSpPr>
            <p:spPr bwMode="auto">
              <a:xfrm>
                <a:off x="864" y="3223"/>
                <a:ext cx="21" cy="66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3" name="Rectangle 305"/>
              <p:cNvSpPr>
                <a:spLocks noChangeArrowheads="1"/>
              </p:cNvSpPr>
              <p:nvPr/>
            </p:nvSpPr>
            <p:spPr bwMode="auto">
              <a:xfrm>
                <a:off x="909" y="3223"/>
                <a:ext cx="21" cy="66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4" name="Rectangle 306"/>
              <p:cNvSpPr>
                <a:spLocks noChangeArrowheads="1"/>
              </p:cNvSpPr>
              <p:nvPr/>
            </p:nvSpPr>
            <p:spPr bwMode="auto">
              <a:xfrm>
                <a:off x="954" y="3223"/>
                <a:ext cx="21" cy="66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5" name="Rectangle 307"/>
              <p:cNvSpPr>
                <a:spLocks noChangeArrowheads="1"/>
              </p:cNvSpPr>
              <p:nvPr/>
            </p:nvSpPr>
            <p:spPr bwMode="auto">
              <a:xfrm>
                <a:off x="1000" y="3224"/>
                <a:ext cx="19" cy="66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6" name="Rectangle 308"/>
              <p:cNvSpPr>
                <a:spLocks noChangeArrowheads="1"/>
              </p:cNvSpPr>
              <p:nvPr/>
            </p:nvSpPr>
            <p:spPr bwMode="auto">
              <a:xfrm>
                <a:off x="714" y="3225"/>
                <a:ext cx="22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1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57" name="Rectangle 309"/>
              <p:cNvSpPr>
                <a:spLocks noChangeArrowheads="1"/>
              </p:cNvSpPr>
              <p:nvPr/>
            </p:nvSpPr>
            <p:spPr bwMode="auto">
              <a:xfrm>
                <a:off x="1055" y="3225"/>
                <a:ext cx="22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6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58" name="Line 310"/>
              <p:cNvSpPr>
                <a:spLocks noChangeShapeType="1"/>
              </p:cNvSpPr>
              <p:nvPr/>
            </p:nvSpPr>
            <p:spPr bwMode="auto">
              <a:xfrm flipH="1">
                <a:off x="783" y="3096"/>
                <a:ext cx="102" cy="1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9" name="Line 311"/>
              <p:cNvSpPr>
                <a:spLocks noChangeShapeType="1"/>
              </p:cNvSpPr>
              <p:nvPr/>
            </p:nvSpPr>
            <p:spPr bwMode="auto">
              <a:xfrm flipV="1">
                <a:off x="829" y="3094"/>
                <a:ext cx="66" cy="12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0" name="Line 312"/>
              <p:cNvSpPr>
                <a:spLocks noChangeShapeType="1"/>
              </p:cNvSpPr>
              <p:nvPr/>
            </p:nvSpPr>
            <p:spPr bwMode="auto">
              <a:xfrm flipH="1">
                <a:off x="874" y="3092"/>
                <a:ext cx="33" cy="13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1" name="Line 313"/>
              <p:cNvSpPr>
                <a:spLocks noChangeShapeType="1"/>
              </p:cNvSpPr>
              <p:nvPr/>
            </p:nvSpPr>
            <p:spPr bwMode="auto">
              <a:xfrm flipV="1">
                <a:off x="919" y="3085"/>
                <a:ext cx="4" cy="13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2" name="Line 314"/>
              <p:cNvSpPr>
                <a:spLocks noChangeShapeType="1"/>
              </p:cNvSpPr>
              <p:nvPr/>
            </p:nvSpPr>
            <p:spPr bwMode="auto">
              <a:xfrm>
                <a:off x="933" y="3080"/>
                <a:ext cx="31" cy="1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3" name="Line 315"/>
              <p:cNvSpPr>
                <a:spLocks noChangeShapeType="1"/>
              </p:cNvSpPr>
              <p:nvPr/>
            </p:nvSpPr>
            <p:spPr bwMode="auto">
              <a:xfrm flipH="1" flipV="1">
                <a:off x="945" y="3078"/>
                <a:ext cx="64" cy="14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4" name="Freeform 316"/>
              <p:cNvSpPr>
                <a:spLocks/>
              </p:cNvSpPr>
              <p:nvPr/>
            </p:nvSpPr>
            <p:spPr bwMode="auto">
              <a:xfrm>
                <a:off x="851" y="3085"/>
                <a:ext cx="72" cy="9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59" y="5"/>
                  </a:cxn>
                  <a:cxn ang="0">
                    <a:pos x="44" y="9"/>
                  </a:cxn>
                  <a:cxn ang="0">
                    <a:pos x="29" y="9"/>
                  </a:cxn>
                  <a:cxn ang="0">
                    <a:pos x="14" y="5"/>
                  </a:cxn>
                  <a:cxn ang="0">
                    <a:pos x="0" y="0"/>
                  </a:cxn>
                </a:cxnLst>
                <a:rect l="0" t="0" r="r" b="b"/>
                <a:pathLst>
                  <a:path w="72" h="9">
                    <a:moveTo>
                      <a:pt x="72" y="0"/>
                    </a:moveTo>
                    <a:lnTo>
                      <a:pt x="59" y="5"/>
                    </a:lnTo>
                    <a:lnTo>
                      <a:pt x="44" y="9"/>
                    </a:lnTo>
                    <a:lnTo>
                      <a:pt x="29" y="9"/>
                    </a:lnTo>
                    <a:lnTo>
                      <a:pt x="14" y="5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5" name="Freeform 317"/>
              <p:cNvSpPr>
                <a:spLocks/>
              </p:cNvSpPr>
              <p:nvPr/>
            </p:nvSpPr>
            <p:spPr bwMode="auto">
              <a:xfrm>
                <a:off x="923" y="3074"/>
                <a:ext cx="71" cy="11"/>
              </a:xfrm>
              <a:custGeom>
                <a:avLst/>
                <a:gdLst/>
                <a:ahLst/>
                <a:cxnLst>
                  <a:cxn ang="0">
                    <a:pos x="71" y="11"/>
                  </a:cxn>
                  <a:cxn ang="0">
                    <a:pos x="58" y="4"/>
                  </a:cxn>
                  <a:cxn ang="0">
                    <a:pos x="43" y="0"/>
                  </a:cxn>
                  <a:cxn ang="0">
                    <a:pos x="28" y="0"/>
                  </a:cxn>
                  <a:cxn ang="0">
                    <a:pos x="14" y="4"/>
                  </a:cxn>
                  <a:cxn ang="0">
                    <a:pos x="0" y="11"/>
                  </a:cxn>
                </a:cxnLst>
                <a:rect l="0" t="0" r="r" b="b"/>
                <a:pathLst>
                  <a:path w="71" h="11">
                    <a:moveTo>
                      <a:pt x="71" y="11"/>
                    </a:moveTo>
                    <a:lnTo>
                      <a:pt x="58" y="4"/>
                    </a:lnTo>
                    <a:lnTo>
                      <a:pt x="43" y="0"/>
                    </a:lnTo>
                    <a:lnTo>
                      <a:pt x="28" y="0"/>
                    </a:lnTo>
                    <a:lnTo>
                      <a:pt x="14" y="4"/>
                    </a:lnTo>
                    <a:lnTo>
                      <a:pt x="0" y="1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6" name="Rectangle 318"/>
              <p:cNvSpPr>
                <a:spLocks noChangeArrowheads="1"/>
              </p:cNvSpPr>
              <p:nvPr/>
            </p:nvSpPr>
            <p:spPr bwMode="auto">
              <a:xfrm>
                <a:off x="433" y="3296"/>
                <a:ext cx="114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7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HCT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67" name="Rectangle 319"/>
              <p:cNvSpPr>
                <a:spLocks noChangeArrowheads="1"/>
              </p:cNvSpPr>
              <p:nvPr/>
            </p:nvSpPr>
            <p:spPr bwMode="auto">
              <a:xfrm>
                <a:off x="1859" y="2235"/>
                <a:ext cx="36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10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68" name="Rectangle 320"/>
              <p:cNvSpPr>
                <a:spLocks noChangeArrowheads="1"/>
              </p:cNvSpPr>
              <p:nvPr/>
            </p:nvSpPr>
            <p:spPr bwMode="auto">
              <a:xfrm>
                <a:off x="1343" y="3581"/>
                <a:ext cx="538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7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HCT</a:t>
                </a:r>
                <a:r>
                  <a:rPr lang="ko-KR" altLang="en-US" sz="7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의 방향이 아래로</a:t>
                </a:r>
                <a:endParaRPr lang="ko-KR" altLang="en-US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69" name="Rectangle 321"/>
              <p:cNvSpPr>
                <a:spLocks noChangeArrowheads="1"/>
              </p:cNvSpPr>
              <p:nvPr/>
            </p:nvSpPr>
            <p:spPr bwMode="auto">
              <a:xfrm>
                <a:off x="1436" y="3649"/>
                <a:ext cx="352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ko-KR" altLang="en-US" sz="7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향해야 정상임</a:t>
                </a:r>
                <a:endParaRPr lang="ko-KR" altLang="en-US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70" name="Freeform 322"/>
              <p:cNvSpPr>
                <a:spLocks/>
              </p:cNvSpPr>
              <p:nvPr/>
            </p:nvSpPr>
            <p:spPr bwMode="auto">
              <a:xfrm>
                <a:off x="1143" y="3481"/>
                <a:ext cx="131" cy="198"/>
              </a:xfrm>
              <a:custGeom>
                <a:avLst/>
                <a:gdLst/>
                <a:ahLst/>
                <a:cxnLst>
                  <a:cxn ang="0">
                    <a:pos x="131" y="198"/>
                  </a:cxn>
                  <a:cxn ang="0">
                    <a:pos x="101" y="174"/>
                  </a:cxn>
                  <a:cxn ang="0">
                    <a:pos x="75" y="146"/>
                  </a:cxn>
                  <a:cxn ang="0">
                    <a:pos x="52" y="116"/>
                  </a:cxn>
                  <a:cxn ang="0">
                    <a:pos x="32" y="84"/>
                  </a:cxn>
                  <a:cxn ang="0">
                    <a:pos x="16" y="51"/>
                  </a:cxn>
                  <a:cxn ang="0">
                    <a:pos x="3" y="15"/>
                  </a:cxn>
                  <a:cxn ang="0">
                    <a:pos x="0" y="0"/>
                  </a:cxn>
                </a:cxnLst>
                <a:rect l="0" t="0" r="r" b="b"/>
                <a:pathLst>
                  <a:path w="131" h="198">
                    <a:moveTo>
                      <a:pt x="131" y="198"/>
                    </a:moveTo>
                    <a:lnTo>
                      <a:pt x="101" y="174"/>
                    </a:lnTo>
                    <a:lnTo>
                      <a:pt x="75" y="146"/>
                    </a:lnTo>
                    <a:lnTo>
                      <a:pt x="52" y="116"/>
                    </a:lnTo>
                    <a:lnTo>
                      <a:pt x="32" y="84"/>
                    </a:lnTo>
                    <a:lnTo>
                      <a:pt x="16" y="51"/>
                    </a:lnTo>
                    <a:lnTo>
                      <a:pt x="3" y="15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1" name="Freeform 323"/>
              <p:cNvSpPr>
                <a:spLocks/>
              </p:cNvSpPr>
              <p:nvPr/>
            </p:nvSpPr>
            <p:spPr bwMode="auto">
              <a:xfrm>
                <a:off x="1130" y="3458"/>
                <a:ext cx="25" cy="29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8" y="0"/>
                  </a:cxn>
                  <a:cxn ang="0">
                    <a:pos x="25" y="24"/>
                  </a:cxn>
                  <a:cxn ang="0">
                    <a:pos x="0" y="29"/>
                  </a:cxn>
                </a:cxnLst>
                <a:rect l="0" t="0" r="r" b="b"/>
                <a:pathLst>
                  <a:path w="25" h="29">
                    <a:moveTo>
                      <a:pt x="0" y="29"/>
                    </a:moveTo>
                    <a:lnTo>
                      <a:pt x="8" y="0"/>
                    </a:lnTo>
                    <a:lnTo>
                      <a:pt x="25" y="24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2" name="Line 324"/>
              <p:cNvSpPr>
                <a:spLocks noChangeShapeType="1"/>
              </p:cNvSpPr>
              <p:nvPr/>
            </p:nvSpPr>
            <p:spPr bwMode="auto">
              <a:xfrm flipH="1" flipV="1">
                <a:off x="1896" y="2228"/>
                <a:ext cx="129" cy="6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3" name="Line 325"/>
              <p:cNvSpPr>
                <a:spLocks noChangeShapeType="1"/>
              </p:cNvSpPr>
              <p:nvPr/>
            </p:nvSpPr>
            <p:spPr bwMode="auto">
              <a:xfrm flipH="1">
                <a:off x="1895" y="2296"/>
                <a:ext cx="130" cy="5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4" name="Line 326"/>
              <p:cNvSpPr>
                <a:spLocks noChangeShapeType="1"/>
              </p:cNvSpPr>
              <p:nvPr/>
            </p:nvSpPr>
            <p:spPr bwMode="auto">
              <a:xfrm flipV="1">
                <a:off x="1896" y="2228"/>
                <a:ext cx="1" cy="12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5" name="Rectangle 327"/>
              <p:cNvSpPr>
                <a:spLocks noChangeArrowheads="1"/>
              </p:cNvSpPr>
              <p:nvPr/>
            </p:nvSpPr>
            <p:spPr bwMode="auto">
              <a:xfrm>
                <a:off x="1952" y="2328"/>
                <a:ext cx="87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U6HD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76" name="Line 328"/>
              <p:cNvSpPr>
                <a:spLocks noChangeShapeType="1"/>
              </p:cNvSpPr>
              <p:nvPr/>
            </p:nvSpPr>
            <p:spPr bwMode="auto">
              <a:xfrm flipH="1" flipV="1">
                <a:off x="2297" y="2227"/>
                <a:ext cx="129" cy="6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7" name="Line 329"/>
              <p:cNvSpPr>
                <a:spLocks noChangeShapeType="1"/>
              </p:cNvSpPr>
              <p:nvPr/>
            </p:nvSpPr>
            <p:spPr bwMode="auto">
              <a:xfrm flipH="1">
                <a:off x="2296" y="2295"/>
                <a:ext cx="130" cy="5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8" name="Line 330"/>
              <p:cNvSpPr>
                <a:spLocks noChangeShapeType="1"/>
              </p:cNvSpPr>
              <p:nvPr/>
            </p:nvSpPr>
            <p:spPr bwMode="auto">
              <a:xfrm flipV="1">
                <a:off x="2297" y="2227"/>
                <a:ext cx="1" cy="12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9" name="Rectangle 331"/>
              <p:cNvSpPr>
                <a:spLocks noChangeArrowheads="1"/>
              </p:cNvSpPr>
              <p:nvPr/>
            </p:nvSpPr>
            <p:spPr bwMode="auto">
              <a:xfrm>
                <a:off x="2353" y="2327"/>
                <a:ext cx="85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U5HA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80" name="Freeform 332"/>
              <p:cNvSpPr>
                <a:spLocks/>
              </p:cNvSpPr>
              <p:nvPr/>
            </p:nvSpPr>
            <p:spPr bwMode="auto">
              <a:xfrm>
                <a:off x="2427" y="2281"/>
                <a:ext cx="16" cy="18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2" y="3"/>
                  </a:cxn>
                  <a:cxn ang="0">
                    <a:pos x="6" y="0"/>
                  </a:cxn>
                  <a:cxn ang="0">
                    <a:pos x="10" y="0"/>
                  </a:cxn>
                  <a:cxn ang="0">
                    <a:pos x="15" y="3"/>
                  </a:cxn>
                  <a:cxn ang="0">
                    <a:pos x="16" y="9"/>
                  </a:cxn>
                  <a:cxn ang="0">
                    <a:pos x="15" y="15"/>
                  </a:cxn>
                  <a:cxn ang="0">
                    <a:pos x="10" y="18"/>
                  </a:cxn>
                  <a:cxn ang="0">
                    <a:pos x="6" y="18"/>
                  </a:cxn>
                  <a:cxn ang="0">
                    <a:pos x="2" y="15"/>
                  </a:cxn>
                  <a:cxn ang="0">
                    <a:pos x="0" y="9"/>
                  </a:cxn>
                </a:cxnLst>
                <a:rect l="0" t="0" r="r" b="b"/>
                <a:pathLst>
                  <a:path w="16" h="18">
                    <a:moveTo>
                      <a:pt x="0" y="9"/>
                    </a:moveTo>
                    <a:lnTo>
                      <a:pt x="2" y="3"/>
                    </a:lnTo>
                    <a:lnTo>
                      <a:pt x="6" y="0"/>
                    </a:lnTo>
                    <a:lnTo>
                      <a:pt x="10" y="0"/>
                    </a:lnTo>
                    <a:lnTo>
                      <a:pt x="15" y="3"/>
                    </a:lnTo>
                    <a:lnTo>
                      <a:pt x="16" y="9"/>
                    </a:lnTo>
                    <a:lnTo>
                      <a:pt x="15" y="15"/>
                    </a:lnTo>
                    <a:lnTo>
                      <a:pt x="10" y="18"/>
                    </a:lnTo>
                    <a:lnTo>
                      <a:pt x="6" y="18"/>
                    </a:lnTo>
                    <a:lnTo>
                      <a:pt x="2" y="1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1" name="Line 333"/>
              <p:cNvSpPr>
                <a:spLocks noChangeShapeType="1"/>
              </p:cNvSpPr>
              <p:nvPr/>
            </p:nvSpPr>
            <p:spPr bwMode="auto">
              <a:xfrm>
                <a:off x="2103" y="2293"/>
                <a:ext cx="19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2" name="Freeform 334"/>
              <p:cNvSpPr>
                <a:spLocks/>
              </p:cNvSpPr>
              <p:nvPr/>
            </p:nvSpPr>
            <p:spPr bwMode="auto">
              <a:xfrm>
                <a:off x="1814" y="1988"/>
                <a:ext cx="641" cy="287"/>
              </a:xfrm>
              <a:custGeom>
                <a:avLst/>
                <a:gdLst/>
                <a:ahLst/>
                <a:cxnLst>
                  <a:cxn ang="0">
                    <a:pos x="0" y="287"/>
                  </a:cxn>
                  <a:cxn ang="0">
                    <a:pos x="0" y="84"/>
                  </a:cxn>
                  <a:cxn ang="0">
                    <a:pos x="641" y="84"/>
                  </a:cxn>
                  <a:cxn ang="0">
                    <a:pos x="641" y="0"/>
                  </a:cxn>
                </a:cxnLst>
                <a:rect l="0" t="0" r="r" b="b"/>
                <a:pathLst>
                  <a:path w="641" h="287">
                    <a:moveTo>
                      <a:pt x="0" y="287"/>
                    </a:moveTo>
                    <a:lnTo>
                      <a:pt x="0" y="84"/>
                    </a:lnTo>
                    <a:lnTo>
                      <a:pt x="641" y="84"/>
                    </a:lnTo>
                    <a:lnTo>
                      <a:pt x="641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3" name="Freeform 335"/>
              <p:cNvSpPr>
                <a:spLocks/>
              </p:cNvSpPr>
              <p:nvPr/>
            </p:nvSpPr>
            <p:spPr bwMode="auto">
              <a:xfrm>
                <a:off x="1828" y="1843"/>
                <a:ext cx="21" cy="20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2" y="5"/>
                  </a:cxn>
                  <a:cxn ang="0">
                    <a:pos x="7" y="0"/>
                  </a:cxn>
                  <a:cxn ang="0">
                    <a:pos x="14" y="0"/>
                  </a:cxn>
                  <a:cxn ang="0">
                    <a:pos x="19" y="5"/>
                  </a:cxn>
                  <a:cxn ang="0">
                    <a:pos x="21" y="10"/>
                  </a:cxn>
                  <a:cxn ang="0">
                    <a:pos x="19" y="16"/>
                  </a:cxn>
                  <a:cxn ang="0">
                    <a:pos x="14" y="20"/>
                  </a:cxn>
                  <a:cxn ang="0">
                    <a:pos x="7" y="20"/>
                  </a:cxn>
                  <a:cxn ang="0">
                    <a:pos x="2" y="16"/>
                  </a:cxn>
                  <a:cxn ang="0">
                    <a:pos x="0" y="10"/>
                  </a:cxn>
                </a:cxnLst>
                <a:rect l="0" t="0" r="r" b="b"/>
                <a:pathLst>
                  <a:path w="21" h="20">
                    <a:moveTo>
                      <a:pt x="0" y="10"/>
                    </a:moveTo>
                    <a:lnTo>
                      <a:pt x="2" y="5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19" y="5"/>
                    </a:lnTo>
                    <a:lnTo>
                      <a:pt x="21" y="10"/>
                    </a:lnTo>
                    <a:lnTo>
                      <a:pt x="19" y="16"/>
                    </a:lnTo>
                    <a:lnTo>
                      <a:pt x="14" y="20"/>
                    </a:lnTo>
                    <a:lnTo>
                      <a:pt x="7" y="20"/>
                    </a:lnTo>
                    <a:lnTo>
                      <a:pt x="2" y="1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4" name="Rectangle 336"/>
              <p:cNvSpPr>
                <a:spLocks noChangeArrowheads="1"/>
              </p:cNvSpPr>
              <p:nvPr/>
            </p:nvSpPr>
            <p:spPr bwMode="auto">
              <a:xfrm>
                <a:off x="1777" y="1777"/>
                <a:ext cx="76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+15V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85" name="Line 337"/>
              <p:cNvSpPr>
                <a:spLocks noChangeShapeType="1"/>
              </p:cNvSpPr>
              <p:nvPr/>
            </p:nvSpPr>
            <p:spPr bwMode="auto">
              <a:xfrm flipH="1">
                <a:off x="1961" y="1853"/>
                <a:ext cx="3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6" name="Line 338"/>
              <p:cNvSpPr>
                <a:spLocks noChangeShapeType="1"/>
              </p:cNvSpPr>
              <p:nvPr/>
            </p:nvSpPr>
            <p:spPr bwMode="auto">
              <a:xfrm flipH="1">
                <a:off x="1845" y="1853"/>
                <a:ext cx="3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7" name="Rectangle 339"/>
              <p:cNvSpPr>
                <a:spLocks noChangeArrowheads="1"/>
              </p:cNvSpPr>
              <p:nvPr/>
            </p:nvSpPr>
            <p:spPr bwMode="auto">
              <a:xfrm>
                <a:off x="1879" y="1840"/>
                <a:ext cx="82" cy="27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8" name="Rectangle 340"/>
              <p:cNvSpPr>
                <a:spLocks noChangeArrowheads="1"/>
              </p:cNvSpPr>
              <p:nvPr/>
            </p:nvSpPr>
            <p:spPr bwMode="auto">
              <a:xfrm>
                <a:off x="1894" y="1871"/>
                <a:ext cx="59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R10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89" name="Line 341"/>
              <p:cNvSpPr>
                <a:spLocks noChangeShapeType="1"/>
              </p:cNvSpPr>
              <p:nvPr/>
            </p:nvSpPr>
            <p:spPr bwMode="auto">
              <a:xfrm flipH="1">
                <a:off x="2111" y="1853"/>
                <a:ext cx="3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0" name="Line 342"/>
              <p:cNvSpPr>
                <a:spLocks noChangeShapeType="1"/>
              </p:cNvSpPr>
              <p:nvPr/>
            </p:nvSpPr>
            <p:spPr bwMode="auto">
              <a:xfrm flipH="1">
                <a:off x="1996" y="1853"/>
                <a:ext cx="3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1" name="Rectangle 343"/>
              <p:cNvSpPr>
                <a:spLocks noChangeArrowheads="1"/>
              </p:cNvSpPr>
              <p:nvPr/>
            </p:nvSpPr>
            <p:spPr bwMode="auto">
              <a:xfrm>
                <a:off x="2030" y="1840"/>
                <a:ext cx="81" cy="27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2" name="Rectangle 344"/>
              <p:cNvSpPr>
                <a:spLocks noChangeArrowheads="1"/>
              </p:cNvSpPr>
              <p:nvPr/>
            </p:nvSpPr>
            <p:spPr bwMode="auto">
              <a:xfrm>
                <a:off x="2053" y="1871"/>
                <a:ext cx="41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R9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93" name="Line 345"/>
              <p:cNvSpPr>
                <a:spLocks noChangeShapeType="1"/>
              </p:cNvSpPr>
              <p:nvPr/>
            </p:nvSpPr>
            <p:spPr bwMode="auto">
              <a:xfrm flipH="1">
                <a:off x="2260" y="1853"/>
                <a:ext cx="33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4" name="Line 346"/>
              <p:cNvSpPr>
                <a:spLocks noChangeShapeType="1"/>
              </p:cNvSpPr>
              <p:nvPr/>
            </p:nvSpPr>
            <p:spPr bwMode="auto">
              <a:xfrm flipH="1">
                <a:off x="2145" y="1853"/>
                <a:ext cx="33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5" name="Rectangle 347"/>
              <p:cNvSpPr>
                <a:spLocks noChangeArrowheads="1"/>
              </p:cNvSpPr>
              <p:nvPr/>
            </p:nvSpPr>
            <p:spPr bwMode="auto">
              <a:xfrm>
                <a:off x="2178" y="1840"/>
                <a:ext cx="82" cy="27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6" name="Rectangle 348"/>
              <p:cNvSpPr>
                <a:spLocks noChangeArrowheads="1"/>
              </p:cNvSpPr>
              <p:nvPr/>
            </p:nvSpPr>
            <p:spPr bwMode="auto">
              <a:xfrm>
                <a:off x="2192" y="1871"/>
                <a:ext cx="59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R11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97" name="Line 349"/>
              <p:cNvSpPr>
                <a:spLocks noChangeShapeType="1"/>
              </p:cNvSpPr>
              <p:nvPr/>
            </p:nvSpPr>
            <p:spPr bwMode="auto">
              <a:xfrm flipH="1">
                <a:off x="2410" y="1853"/>
                <a:ext cx="33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8" name="Line 350"/>
              <p:cNvSpPr>
                <a:spLocks noChangeShapeType="1"/>
              </p:cNvSpPr>
              <p:nvPr/>
            </p:nvSpPr>
            <p:spPr bwMode="auto">
              <a:xfrm flipH="1">
                <a:off x="2293" y="1853"/>
                <a:ext cx="3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9" name="Rectangle 351"/>
              <p:cNvSpPr>
                <a:spLocks noChangeArrowheads="1"/>
              </p:cNvSpPr>
              <p:nvPr/>
            </p:nvSpPr>
            <p:spPr bwMode="auto">
              <a:xfrm>
                <a:off x="2328" y="1840"/>
                <a:ext cx="82" cy="27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0" name="Rectangle 352"/>
              <p:cNvSpPr>
                <a:spLocks noChangeArrowheads="1"/>
              </p:cNvSpPr>
              <p:nvPr/>
            </p:nvSpPr>
            <p:spPr bwMode="auto">
              <a:xfrm>
                <a:off x="2342" y="1871"/>
                <a:ext cx="59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R12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01" name="Rectangle 353"/>
              <p:cNvSpPr>
                <a:spLocks noChangeArrowheads="1"/>
              </p:cNvSpPr>
              <p:nvPr/>
            </p:nvSpPr>
            <p:spPr bwMode="auto">
              <a:xfrm>
                <a:off x="2306" y="1951"/>
                <a:ext cx="107" cy="75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2" name="Freeform 354"/>
              <p:cNvSpPr>
                <a:spLocks/>
              </p:cNvSpPr>
              <p:nvPr/>
            </p:nvSpPr>
            <p:spPr bwMode="auto">
              <a:xfrm>
                <a:off x="2145" y="1853"/>
                <a:ext cx="161" cy="1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49"/>
                  </a:cxn>
                  <a:cxn ang="0">
                    <a:pos x="161" y="149"/>
                  </a:cxn>
                </a:cxnLst>
                <a:rect l="0" t="0" r="r" b="b"/>
                <a:pathLst>
                  <a:path w="161" h="149">
                    <a:moveTo>
                      <a:pt x="0" y="0"/>
                    </a:moveTo>
                    <a:lnTo>
                      <a:pt x="0" y="149"/>
                    </a:lnTo>
                    <a:lnTo>
                      <a:pt x="161" y="14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3" name="Freeform 355"/>
              <p:cNvSpPr>
                <a:spLocks/>
              </p:cNvSpPr>
              <p:nvPr/>
            </p:nvSpPr>
            <p:spPr bwMode="auto">
              <a:xfrm>
                <a:off x="2273" y="1853"/>
                <a:ext cx="33" cy="1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0"/>
                  </a:cxn>
                  <a:cxn ang="0">
                    <a:pos x="33" y="120"/>
                  </a:cxn>
                </a:cxnLst>
                <a:rect l="0" t="0" r="r" b="b"/>
                <a:pathLst>
                  <a:path w="33" h="120">
                    <a:moveTo>
                      <a:pt x="0" y="0"/>
                    </a:moveTo>
                    <a:lnTo>
                      <a:pt x="0" y="120"/>
                    </a:lnTo>
                    <a:lnTo>
                      <a:pt x="33" y="12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4" name="Rectangle 356"/>
              <p:cNvSpPr>
                <a:spLocks noChangeArrowheads="1"/>
              </p:cNvSpPr>
              <p:nvPr/>
            </p:nvSpPr>
            <p:spPr bwMode="auto">
              <a:xfrm>
                <a:off x="2326" y="1907"/>
                <a:ext cx="57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J5H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05" name="Rectangle 357"/>
              <p:cNvSpPr>
                <a:spLocks noChangeArrowheads="1"/>
              </p:cNvSpPr>
              <p:nvPr/>
            </p:nvSpPr>
            <p:spPr bwMode="auto">
              <a:xfrm>
                <a:off x="2319" y="1956"/>
                <a:ext cx="90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1      2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06" name="Rectangle 358"/>
              <p:cNvSpPr>
                <a:spLocks noChangeArrowheads="1"/>
              </p:cNvSpPr>
              <p:nvPr/>
            </p:nvSpPr>
            <p:spPr bwMode="auto">
              <a:xfrm>
                <a:off x="2319" y="1991"/>
                <a:ext cx="90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3      4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07" name="Line 359"/>
              <p:cNvSpPr>
                <a:spLocks noChangeShapeType="1"/>
              </p:cNvSpPr>
              <p:nvPr/>
            </p:nvSpPr>
            <p:spPr bwMode="auto">
              <a:xfrm>
                <a:off x="2414" y="1971"/>
                <a:ext cx="4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8" name="Line 360"/>
              <p:cNvSpPr>
                <a:spLocks noChangeShapeType="1"/>
              </p:cNvSpPr>
              <p:nvPr/>
            </p:nvSpPr>
            <p:spPr bwMode="auto">
              <a:xfrm>
                <a:off x="2414" y="2001"/>
                <a:ext cx="4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9" name="Line 361"/>
              <p:cNvSpPr>
                <a:spLocks noChangeShapeType="1"/>
              </p:cNvSpPr>
              <p:nvPr/>
            </p:nvSpPr>
            <p:spPr bwMode="auto">
              <a:xfrm>
                <a:off x="2455" y="1971"/>
                <a:ext cx="1" cy="3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0" name="Line 362"/>
              <p:cNvSpPr>
                <a:spLocks noChangeShapeType="1"/>
              </p:cNvSpPr>
              <p:nvPr/>
            </p:nvSpPr>
            <p:spPr bwMode="auto">
              <a:xfrm flipH="1">
                <a:off x="2570" y="1987"/>
                <a:ext cx="3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1" name="Line 363"/>
              <p:cNvSpPr>
                <a:spLocks noChangeShapeType="1"/>
              </p:cNvSpPr>
              <p:nvPr/>
            </p:nvSpPr>
            <p:spPr bwMode="auto">
              <a:xfrm flipH="1">
                <a:off x="2455" y="1987"/>
                <a:ext cx="33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2" name="Rectangle 364"/>
              <p:cNvSpPr>
                <a:spLocks noChangeArrowheads="1"/>
              </p:cNvSpPr>
              <p:nvPr/>
            </p:nvSpPr>
            <p:spPr bwMode="auto">
              <a:xfrm>
                <a:off x="2488" y="1973"/>
                <a:ext cx="82" cy="28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3" name="Rectangle 365"/>
              <p:cNvSpPr>
                <a:spLocks noChangeArrowheads="1"/>
              </p:cNvSpPr>
              <p:nvPr/>
            </p:nvSpPr>
            <p:spPr bwMode="auto">
              <a:xfrm>
                <a:off x="2503" y="2006"/>
                <a:ext cx="59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R78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14" name="Line 366"/>
              <p:cNvSpPr>
                <a:spLocks noChangeShapeType="1"/>
              </p:cNvSpPr>
              <p:nvPr/>
            </p:nvSpPr>
            <p:spPr bwMode="auto">
              <a:xfrm>
                <a:off x="2592" y="2054"/>
                <a:ext cx="2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5" name="Line 367"/>
              <p:cNvSpPr>
                <a:spLocks noChangeShapeType="1"/>
              </p:cNvSpPr>
              <p:nvPr/>
            </p:nvSpPr>
            <p:spPr bwMode="auto">
              <a:xfrm>
                <a:off x="2580" y="2042"/>
                <a:ext cx="4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6" name="Line 368"/>
              <p:cNvSpPr>
                <a:spLocks noChangeShapeType="1"/>
              </p:cNvSpPr>
              <p:nvPr/>
            </p:nvSpPr>
            <p:spPr bwMode="auto">
              <a:xfrm>
                <a:off x="2569" y="2031"/>
                <a:ext cx="68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7" name="Line 369"/>
              <p:cNvSpPr>
                <a:spLocks noChangeShapeType="1"/>
              </p:cNvSpPr>
              <p:nvPr/>
            </p:nvSpPr>
            <p:spPr bwMode="auto">
              <a:xfrm>
                <a:off x="2603" y="1986"/>
                <a:ext cx="1" cy="4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8" name="Freeform 370"/>
              <p:cNvSpPr>
                <a:spLocks/>
              </p:cNvSpPr>
              <p:nvPr/>
            </p:nvSpPr>
            <p:spPr bwMode="auto">
              <a:xfrm>
                <a:off x="2443" y="1853"/>
                <a:ext cx="160" cy="13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0" y="0"/>
                  </a:cxn>
                  <a:cxn ang="0">
                    <a:pos x="160" y="133"/>
                  </a:cxn>
                </a:cxnLst>
                <a:rect l="0" t="0" r="r" b="b"/>
                <a:pathLst>
                  <a:path w="160" h="133">
                    <a:moveTo>
                      <a:pt x="0" y="0"/>
                    </a:moveTo>
                    <a:lnTo>
                      <a:pt x="160" y="0"/>
                    </a:lnTo>
                    <a:lnTo>
                      <a:pt x="160" y="13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9" name="Rectangle 371"/>
              <p:cNvSpPr>
                <a:spLocks noChangeArrowheads="1"/>
              </p:cNvSpPr>
              <p:nvPr/>
            </p:nvSpPr>
            <p:spPr bwMode="auto">
              <a:xfrm>
                <a:off x="771" y="2369"/>
                <a:ext cx="107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VB - 07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20" name="Line 372"/>
              <p:cNvSpPr>
                <a:spLocks noChangeShapeType="1"/>
              </p:cNvSpPr>
              <p:nvPr/>
            </p:nvSpPr>
            <p:spPr bwMode="auto">
              <a:xfrm flipH="1">
                <a:off x="1182" y="2399"/>
                <a:ext cx="6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1" name="Freeform 373"/>
              <p:cNvSpPr>
                <a:spLocks/>
              </p:cNvSpPr>
              <p:nvPr/>
            </p:nvSpPr>
            <p:spPr bwMode="auto">
              <a:xfrm>
                <a:off x="1189" y="2399"/>
                <a:ext cx="54" cy="58"/>
              </a:xfrm>
              <a:custGeom>
                <a:avLst/>
                <a:gdLst/>
                <a:ahLst/>
                <a:cxnLst>
                  <a:cxn ang="0">
                    <a:pos x="54" y="58"/>
                  </a:cxn>
                  <a:cxn ang="0">
                    <a:pos x="0" y="58"/>
                  </a:cxn>
                  <a:cxn ang="0">
                    <a:pos x="26" y="0"/>
                  </a:cxn>
                  <a:cxn ang="0">
                    <a:pos x="54" y="58"/>
                  </a:cxn>
                </a:cxnLst>
                <a:rect l="0" t="0" r="r" b="b"/>
                <a:pathLst>
                  <a:path w="54" h="58">
                    <a:moveTo>
                      <a:pt x="54" y="58"/>
                    </a:moveTo>
                    <a:lnTo>
                      <a:pt x="0" y="58"/>
                    </a:lnTo>
                    <a:lnTo>
                      <a:pt x="26" y="0"/>
                    </a:lnTo>
                    <a:lnTo>
                      <a:pt x="54" y="58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2" name="Line 374"/>
              <p:cNvSpPr>
                <a:spLocks noChangeShapeType="1"/>
              </p:cNvSpPr>
              <p:nvPr/>
            </p:nvSpPr>
            <p:spPr bwMode="auto">
              <a:xfrm flipV="1">
                <a:off x="1215" y="2346"/>
                <a:ext cx="1" cy="17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3" name="Line 375"/>
              <p:cNvSpPr>
                <a:spLocks noChangeShapeType="1"/>
              </p:cNvSpPr>
              <p:nvPr/>
            </p:nvSpPr>
            <p:spPr bwMode="auto">
              <a:xfrm flipH="1">
                <a:off x="1069" y="2608"/>
                <a:ext cx="286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4" name="Line 376"/>
              <p:cNvSpPr>
                <a:spLocks noChangeShapeType="1"/>
              </p:cNvSpPr>
              <p:nvPr/>
            </p:nvSpPr>
            <p:spPr bwMode="auto">
              <a:xfrm flipH="1">
                <a:off x="1069" y="2254"/>
                <a:ext cx="286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5" name="Line 377"/>
              <p:cNvSpPr>
                <a:spLocks noChangeShapeType="1"/>
              </p:cNvSpPr>
              <p:nvPr/>
            </p:nvSpPr>
            <p:spPr bwMode="auto">
              <a:xfrm flipV="1">
                <a:off x="1069" y="2254"/>
                <a:ext cx="1" cy="35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6" name="Line 378"/>
              <p:cNvSpPr>
                <a:spLocks noChangeShapeType="1"/>
              </p:cNvSpPr>
              <p:nvPr/>
            </p:nvSpPr>
            <p:spPr bwMode="auto">
              <a:xfrm flipV="1">
                <a:off x="1355" y="2254"/>
                <a:ext cx="1" cy="35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7" name="Rectangle 379"/>
              <p:cNvSpPr>
                <a:spLocks noChangeArrowheads="1"/>
              </p:cNvSpPr>
              <p:nvPr/>
            </p:nvSpPr>
            <p:spPr bwMode="auto">
              <a:xfrm>
                <a:off x="1859" y="2313"/>
                <a:ext cx="36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11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28" name="Rectangle 380"/>
              <p:cNvSpPr>
                <a:spLocks noChangeArrowheads="1"/>
              </p:cNvSpPr>
              <p:nvPr/>
            </p:nvSpPr>
            <p:spPr bwMode="auto">
              <a:xfrm>
                <a:off x="2033" y="2253"/>
                <a:ext cx="36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13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29" name="Rectangle 381"/>
              <p:cNvSpPr>
                <a:spLocks noChangeArrowheads="1"/>
              </p:cNvSpPr>
              <p:nvPr/>
            </p:nvSpPr>
            <p:spPr bwMode="auto">
              <a:xfrm>
                <a:off x="2000" y="2109"/>
                <a:ext cx="58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+5V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30" name="Line 382"/>
              <p:cNvSpPr>
                <a:spLocks noChangeShapeType="1"/>
              </p:cNvSpPr>
              <p:nvPr/>
            </p:nvSpPr>
            <p:spPr bwMode="auto">
              <a:xfrm>
                <a:off x="947" y="2214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1" name="Line 383"/>
              <p:cNvSpPr>
                <a:spLocks noChangeShapeType="1"/>
              </p:cNvSpPr>
              <p:nvPr/>
            </p:nvSpPr>
            <p:spPr bwMode="auto">
              <a:xfrm>
                <a:off x="947" y="2242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2" name="Line 384"/>
              <p:cNvSpPr>
                <a:spLocks noChangeShapeType="1"/>
              </p:cNvSpPr>
              <p:nvPr/>
            </p:nvSpPr>
            <p:spPr bwMode="auto">
              <a:xfrm>
                <a:off x="947" y="2269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3" name="Line 385"/>
              <p:cNvSpPr>
                <a:spLocks noChangeShapeType="1"/>
              </p:cNvSpPr>
              <p:nvPr/>
            </p:nvSpPr>
            <p:spPr bwMode="auto">
              <a:xfrm>
                <a:off x="947" y="2297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4" name="Line 386"/>
              <p:cNvSpPr>
                <a:spLocks noChangeShapeType="1"/>
              </p:cNvSpPr>
              <p:nvPr/>
            </p:nvSpPr>
            <p:spPr bwMode="auto">
              <a:xfrm>
                <a:off x="947" y="2325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5" name="Line 387"/>
              <p:cNvSpPr>
                <a:spLocks noChangeShapeType="1"/>
              </p:cNvSpPr>
              <p:nvPr/>
            </p:nvSpPr>
            <p:spPr bwMode="auto">
              <a:xfrm>
                <a:off x="947" y="2352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6" name="Line 388"/>
              <p:cNvSpPr>
                <a:spLocks noChangeShapeType="1"/>
              </p:cNvSpPr>
              <p:nvPr/>
            </p:nvSpPr>
            <p:spPr bwMode="auto">
              <a:xfrm>
                <a:off x="947" y="2380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7" name="Line 389"/>
              <p:cNvSpPr>
                <a:spLocks noChangeShapeType="1"/>
              </p:cNvSpPr>
              <p:nvPr/>
            </p:nvSpPr>
            <p:spPr bwMode="auto">
              <a:xfrm>
                <a:off x="947" y="2407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8" name="Line 390"/>
              <p:cNvSpPr>
                <a:spLocks noChangeShapeType="1"/>
              </p:cNvSpPr>
              <p:nvPr/>
            </p:nvSpPr>
            <p:spPr bwMode="auto">
              <a:xfrm>
                <a:off x="947" y="2435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9" name="Line 391"/>
              <p:cNvSpPr>
                <a:spLocks noChangeShapeType="1"/>
              </p:cNvSpPr>
              <p:nvPr/>
            </p:nvSpPr>
            <p:spPr bwMode="auto">
              <a:xfrm>
                <a:off x="947" y="2463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0" name="Line 392"/>
              <p:cNvSpPr>
                <a:spLocks noChangeShapeType="1"/>
              </p:cNvSpPr>
              <p:nvPr/>
            </p:nvSpPr>
            <p:spPr bwMode="auto">
              <a:xfrm>
                <a:off x="947" y="2490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1" name="Line 393"/>
              <p:cNvSpPr>
                <a:spLocks noChangeShapeType="1"/>
              </p:cNvSpPr>
              <p:nvPr/>
            </p:nvSpPr>
            <p:spPr bwMode="auto">
              <a:xfrm>
                <a:off x="947" y="2518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2" name="Line 394"/>
              <p:cNvSpPr>
                <a:spLocks noChangeShapeType="1"/>
              </p:cNvSpPr>
              <p:nvPr/>
            </p:nvSpPr>
            <p:spPr bwMode="auto">
              <a:xfrm>
                <a:off x="947" y="2546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3" name="Line 395"/>
              <p:cNvSpPr>
                <a:spLocks noChangeShapeType="1"/>
              </p:cNvSpPr>
              <p:nvPr/>
            </p:nvSpPr>
            <p:spPr bwMode="auto">
              <a:xfrm>
                <a:off x="947" y="2573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4" name="Line 396"/>
              <p:cNvSpPr>
                <a:spLocks noChangeShapeType="1"/>
              </p:cNvSpPr>
              <p:nvPr/>
            </p:nvSpPr>
            <p:spPr bwMode="auto">
              <a:xfrm>
                <a:off x="947" y="2601"/>
                <a:ext cx="1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5" name="Line 397"/>
              <p:cNvSpPr>
                <a:spLocks noChangeShapeType="1"/>
              </p:cNvSpPr>
              <p:nvPr/>
            </p:nvSpPr>
            <p:spPr bwMode="auto">
              <a:xfrm>
                <a:off x="947" y="2629"/>
                <a:ext cx="1" cy="1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6" name="Line 398"/>
              <p:cNvSpPr>
                <a:spLocks noChangeShapeType="1"/>
              </p:cNvSpPr>
              <p:nvPr/>
            </p:nvSpPr>
            <p:spPr bwMode="auto">
              <a:xfrm>
                <a:off x="947" y="2656"/>
                <a:ext cx="1" cy="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7" name="Line 399"/>
              <p:cNvSpPr>
                <a:spLocks noChangeShapeType="1"/>
              </p:cNvSpPr>
              <p:nvPr/>
            </p:nvSpPr>
            <p:spPr bwMode="auto">
              <a:xfrm>
                <a:off x="947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8" name="Line 400"/>
              <p:cNvSpPr>
                <a:spLocks noChangeShapeType="1"/>
              </p:cNvSpPr>
              <p:nvPr/>
            </p:nvSpPr>
            <p:spPr bwMode="auto">
              <a:xfrm>
                <a:off x="975" y="2662"/>
                <a:ext cx="1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9" name="Line 401"/>
              <p:cNvSpPr>
                <a:spLocks noChangeShapeType="1"/>
              </p:cNvSpPr>
              <p:nvPr/>
            </p:nvSpPr>
            <p:spPr bwMode="auto">
              <a:xfrm>
                <a:off x="1002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0" name="Line 402"/>
              <p:cNvSpPr>
                <a:spLocks noChangeShapeType="1"/>
              </p:cNvSpPr>
              <p:nvPr/>
            </p:nvSpPr>
            <p:spPr bwMode="auto">
              <a:xfrm>
                <a:off x="1030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1" name="Line 403"/>
              <p:cNvSpPr>
                <a:spLocks noChangeShapeType="1"/>
              </p:cNvSpPr>
              <p:nvPr/>
            </p:nvSpPr>
            <p:spPr bwMode="auto">
              <a:xfrm>
                <a:off x="1057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2" name="Line 404"/>
              <p:cNvSpPr>
                <a:spLocks noChangeShapeType="1"/>
              </p:cNvSpPr>
              <p:nvPr/>
            </p:nvSpPr>
            <p:spPr bwMode="auto">
              <a:xfrm>
                <a:off x="1085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3" name="Line 405"/>
              <p:cNvSpPr>
                <a:spLocks noChangeShapeType="1"/>
              </p:cNvSpPr>
              <p:nvPr/>
            </p:nvSpPr>
            <p:spPr bwMode="auto">
              <a:xfrm>
                <a:off x="1113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4" name="Line 406"/>
              <p:cNvSpPr>
                <a:spLocks noChangeShapeType="1"/>
              </p:cNvSpPr>
              <p:nvPr/>
            </p:nvSpPr>
            <p:spPr bwMode="auto">
              <a:xfrm>
                <a:off x="1140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5" name="Line 407"/>
              <p:cNvSpPr>
                <a:spLocks noChangeShapeType="1"/>
              </p:cNvSpPr>
              <p:nvPr/>
            </p:nvSpPr>
            <p:spPr bwMode="auto">
              <a:xfrm>
                <a:off x="1168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6" name="Line 408"/>
              <p:cNvSpPr>
                <a:spLocks noChangeShapeType="1"/>
              </p:cNvSpPr>
              <p:nvPr/>
            </p:nvSpPr>
            <p:spPr bwMode="auto">
              <a:xfrm>
                <a:off x="1196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7" name="Line 409"/>
              <p:cNvSpPr>
                <a:spLocks noChangeShapeType="1"/>
              </p:cNvSpPr>
              <p:nvPr/>
            </p:nvSpPr>
            <p:spPr bwMode="auto">
              <a:xfrm>
                <a:off x="1223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8" name="Line 410"/>
              <p:cNvSpPr>
                <a:spLocks noChangeShapeType="1"/>
              </p:cNvSpPr>
              <p:nvPr/>
            </p:nvSpPr>
            <p:spPr bwMode="auto">
              <a:xfrm>
                <a:off x="1251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9" name="Line 411"/>
              <p:cNvSpPr>
                <a:spLocks noChangeShapeType="1"/>
              </p:cNvSpPr>
              <p:nvPr/>
            </p:nvSpPr>
            <p:spPr bwMode="auto">
              <a:xfrm>
                <a:off x="1279" y="2662"/>
                <a:ext cx="1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0" name="Line 412"/>
              <p:cNvSpPr>
                <a:spLocks noChangeShapeType="1"/>
              </p:cNvSpPr>
              <p:nvPr/>
            </p:nvSpPr>
            <p:spPr bwMode="auto">
              <a:xfrm>
                <a:off x="1306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1" name="Line 413"/>
              <p:cNvSpPr>
                <a:spLocks noChangeShapeType="1"/>
              </p:cNvSpPr>
              <p:nvPr/>
            </p:nvSpPr>
            <p:spPr bwMode="auto">
              <a:xfrm>
                <a:off x="1334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2" name="Line 414"/>
              <p:cNvSpPr>
                <a:spLocks noChangeShapeType="1"/>
              </p:cNvSpPr>
              <p:nvPr/>
            </p:nvSpPr>
            <p:spPr bwMode="auto">
              <a:xfrm>
                <a:off x="1362" y="2662"/>
                <a:ext cx="1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3" name="Line 415"/>
              <p:cNvSpPr>
                <a:spLocks noChangeShapeType="1"/>
              </p:cNvSpPr>
              <p:nvPr/>
            </p:nvSpPr>
            <p:spPr bwMode="auto">
              <a:xfrm>
                <a:off x="1389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4" name="Line 416"/>
              <p:cNvSpPr>
                <a:spLocks noChangeShapeType="1"/>
              </p:cNvSpPr>
              <p:nvPr/>
            </p:nvSpPr>
            <p:spPr bwMode="auto">
              <a:xfrm>
                <a:off x="1417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5" name="Line 417"/>
              <p:cNvSpPr>
                <a:spLocks noChangeShapeType="1"/>
              </p:cNvSpPr>
              <p:nvPr/>
            </p:nvSpPr>
            <p:spPr bwMode="auto">
              <a:xfrm>
                <a:off x="1445" y="2662"/>
                <a:ext cx="1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6" name="Line 418"/>
              <p:cNvSpPr>
                <a:spLocks noChangeShapeType="1"/>
              </p:cNvSpPr>
              <p:nvPr/>
            </p:nvSpPr>
            <p:spPr bwMode="auto">
              <a:xfrm>
                <a:off x="1472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7" name="Line 419"/>
              <p:cNvSpPr>
                <a:spLocks noChangeShapeType="1"/>
              </p:cNvSpPr>
              <p:nvPr/>
            </p:nvSpPr>
            <p:spPr bwMode="auto">
              <a:xfrm>
                <a:off x="1500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8" name="Line 420"/>
              <p:cNvSpPr>
                <a:spLocks noChangeShapeType="1"/>
              </p:cNvSpPr>
              <p:nvPr/>
            </p:nvSpPr>
            <p:spPr bwMode="auto">
              <a:xfrm>
                <a:off x="1527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9" name="Line 421"/>
              <p:cNvSpPr>
                <a:spLocks noChangeShapeType="1"/>
              </p:cNvSpPr>
              <p:nvPr/>
            </p:nvSpPr>
            <p:spPr bwMode="auto">
              <a:xfrm>
                <a:off x="1555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70" name="Line 422"/>
              <p:cNvSpPr>
                <a:spLocks noChangeShapeType="1"/>
              </p:cNvSpPr>
              <p:nvPr/>
            </p:nvSpPr>
            <p:spPr bwMode="auto">
              <a:xfrm>
                <a:off x="1583" y="2662"/>
                <a:ext cx="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471" name="Line 423"/>
            <p:cNvSpPr>
              <a:spLocks noChangeShapeType="1"/>
            </p:cNvSpPr>
            <p:nvPr/>
          </p:nvSpPr>
          <p:spPr bwMode="auto">
            <a:xfrm>
              <a:off x="1610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2" name="Line 424"/>
            <p:cNvSpPr>
              <a:spLocks noChangeShapeType="1"/>
            </p:cNvSpPr>
            <p:nvPr/>
          </p:nvSpPr>
          <p:spPr bwMode="auto">
            <a:xfrm>
              <a:off x="1638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3" name="Line 425"/>
            <p:cNvSpPr>
              <a:spLocks noChangeShapeType="1"/>
            </p:cNvSpPr>
            <p:nvPr/>
          </p:nvSpPr>
          <p:spPr bwMode="auto">
            <a:xfrm>
              <a:off x="1666" y="2662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4" name="Line 426"/>
            <p:cNvSpPr>
              <a:spLocks noChangeShapeType="1"/>
            </p:cNvSpPr>
            <p:nvPr/>
          </p:nvSpPr>
          <p:spPr bwMode="auto">
            <a:xfrm>
              <a:off x="1693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5" name="Line 427"/>
            <p:cNvSpPr>
              <a:spLocks noChangeShapeType="1"/>
            </p:cNvSpPr>
            <p:nvPr/>
          </p:nvSpPr>
          <p:spPr bwMode="auto">
            <a:xfrm>
              <a:off x="1721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6" name="Line 428"/>
            <p:cNvSpPr>
              <a:spLocks noChangeShapeType="1"/>
            </p:cNvSpPr>
            <p:nvPr/>
          </p:nvSpPr>
          <p:spPr bwMode="auto">
            <a:xfrm>
              <a:off x="1749" y="2662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7" name="Line 429"/>
            <p:cNvSpPr>
              <a:spLocks noChangeShapeType="1"/>
            </p:cNvSpPr>
            <p:nvPr/>
          </p:nvSpPr>
          <p:spPr bwMode="auto">
            <a:xfrm>
              <a:off x="1776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8" name="Line 430"/>
            <p:cNvSpPr>
              <a:spLocks noChangeShapeType="1"/>
            </p:cNvSpPr>
            <p:nvPr/>
          </p:nvSpPr>
          <p:spPr bwMode="auto">
            <a:xfrm>
              <a:off x="1804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9" name="Line 431"/>
            <p:cNvSpPr>
              <a:spLocks noChangeShapeType="1"/>
            </p:cNvSpPr>
            <p:nvPr/>
          </p:nvSpPr>
          <p:spPr bwMode="auto">
            <a:xfrm>
              <a:off x="1832" y="2662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0" name="Line 432"/>
            <p:cNvSpPr>
              <a:spLocks noChangeShapeType="1"/>
            </p:cNvSpPr>
            <p:nvPr/>
          </p:nvSpPr>
          <p:spPr bwMode="auto">
            <a:xfrm>
              <a:off x="1859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1" name="Line 433"/>
            <p:cNvSpPr>
              <a:spLocks noChangeShapeType="1"/>
            </p:cNvSpPr>
            <p:nvPr/>
          </p:nvSpPr>
          <p:spPr bwMode="auto">
            <a:xfrm>
              <a:off x="1887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2" name="Line 434"/>
            <p:cNvSpPr>
              <a:spLocks noChangeShapeType="1"/>
            </p:cNvSpPr>
            <p:nvPr/>
          </p:nvSpPr>
          <p:spPr bwMode="auto">
            <a:xfrm>
              <a:off x="1914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3" name="Line 435"/>
            <p:cNvSpPr>
              <a:spLocks noChangeShapeType="1"/>
            </p:cNvSpPr>
            <p:nvPr/>
          </p:nvSpPr>
          <p:spPr bwMode="auto">
            <a:xfrm>
              <a:off x="1942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4" name="Line 436"/>
            <p:cNvSpPr>
              <a:spLocks noChangeShapeType="1"/>
            </p:cNvSpPr>
            <p:nvPr/>
          </p:nvSpPr>
          <p:spPr bwMode="auto">
            <a:xfrm>
              <a:off x="1970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5" name="Line 437"/>
            <p:cNvSpPr>
              <a:spLocks noChangeShapeType="1"/>
            </p:cNvSpPr>
            <p:nvPr/>
          </p:nvSpPr>
          <p:spPr bwMode="auto">
            <a:xfrm>
              <a:off x="1997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6" name="Line 438"/>
            <p:cNvSpPr>
              <a:spLocks noChangeShapeType="1"/>
            </p:cNvSpPr>
            <p:nvPr/>
          </p:nvSpPr>
          <p:spPr bwMode="auto">
            <a:xfrm>
              <a:off x="2025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7" name="Line 439"/>
            <p:cNvSpPr>
              <a:spLocks noChangeShapeType="1"/>
            </p:cNvSpPr>
            <p:nvPr/>
          </p:nvSpPr>
          <p:spPr bwMode="auto">
            <a:xfrm>
              <a:off x="2053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8" name="Line 440"/>
            <p:cNvSpPr>
              <a:spLocks noChangeShapeType="1"/>
            </p:cNvSpPr>
            <p:nvPr/>
          </p:nvSpPr>
          <p:spPr bwMode="auto">
            <a:xfrm>
              <a:off x="2080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9" name="Line 441"/>
            <p:cNvSpPr>
              <a:spLocks noChangeShapeType="1"/>
            </p:cNvSpPr>
            <p:nvPr/>
          </p:nvSpPr>
          <p:spPr bwMode="auto">
            <a:xfrm>
              <a:off x="2108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0" name="Line 442"/>
            <p:cNvSpPr>
              <a:spLocks noChangeShapeType="1"/>
            </p:cNvSpPr>
            <p:nvPr/>
          </p:nvSpPr>
          <p:spPr bwMode="auto">
            <a:xfrm>
              <a:off x="2136" y="2662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1" name="Line 443"/>
            <p:cNvSpPr>
              <a:spLocks noChangeShapeType="1"/>
            </p:cNvSpPr>
            <p:nvPr/>
          </p:nvSpPr>
          <p:spPr bwMode="auto">
            <a:xfrm>
              <a:off x="2163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2" name="Line 444"/>
            <p:cNvSpPr>
              <a:spLocks noChangeShapeType="1"/>
            </p:cNvSpPr>
            <p:nvPr/>
          </p:nvSpPr>
          <p:spPr bwMode="auto">
            <a:xfrm>
              <a:off x="2191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3" name="Line 445"/>
            <p:cNvSpPr>
              <a:spLocks noChangeShapeType="1"/>
            </p:cNvSpPr>
            <p:nvPr/>
          </p:nvSpPr>
          <p:spPr bwMode="auto">
            <a:xfrm>
              <a:off x="2219" y="2662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4" name="Line 446"/>
            <p:cNvSpPr>
              <a:spLocks noChangeShapeType="1"/>
            </p:cNvSpPr>
            <p:nvPr/>
          </p:nvSpPr>
          <p:spPr bwMode="auto">
            <a:xfrm>
              <a:off x="2246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5" name="Line 447"/>
            <p:cNvSpPr>
              <a:spLocks noChangeShapeType="1"/>
            </p:cNvSpPr>
            <p:nvPr/>
          </p:nvSpPr>
          <p:spPr bwMode="auto">
            <a:xfrm>
              <a:off x="2274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6" name="Line 448"/>
            <p:cNvSpPr>
              <a:spLocks noChangeShapeType="1"/>
            </p:cNvSpPr>
            <p:nvPr/>
          </p:nvSpPr>
          <p:spPr bwMode="auto">
            <a:xfrm>
              <a:off x="2302" y="2662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7" name="Line 449"/>
            <p:cNvSpPr>
              <a:spLocks noChangeShapeType="1"/>
            </p:cNvSpPr>
            <p:nvPr/>
          </p:nvSpPr>
          <p:spPr bwMode="auto">
            <a:xfrm>
              <a:off x="2329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8" name="Line 450"/>
            <p:cNvSpPr>
              <a:spLocks noChangeShapeType="1"/>
            </p:cNvSpPr>
            <p:nvPr/>
          </p:nvSpPr>
          <p:spPr bwMode="auto">
            <a:xfrm>
              <a:off x="2357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9" name="Line 451"/>
            <p:cNvSpPr>
              <a:spLocks noChangeShapeType="1"/>
            </p:cNvSpPr>
            <p:nvPr/>
          </p:nvSpPr>
          <p:spPr bwMode="auto">
            <a:xfrm>
              <a:off x="2384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0" name="Line 452"/>
            <p:cNvSpPr>
              <a:spLocks noChangeShapeType="1"/>
            </p:cNvSpPr>
            <p:nvPr/>
          </p:nvSpPr>
          <p:spPr bwMode="auto">
            <a:xfrm>
              <a:off x="2412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1" name="Line 453"/>
            <p:cNvSpPr>
              <a:spLocks noChangeShapeType="1"/>
            </p:cNvSpPr>
            <p:nvPr/>
          </p:nvSpPr>
          <p:spPr bwMode="auto">
            <a:xfrm>
              <a:off x="2440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2" name="Line 454"/>
            <p:cNvSpPr>
              <a:spLocks noChangeShapeType="1"/>
            </p:cNvSpPr>
            <p:nvPr/>
          </p:nvSpPr>
          <p:spPr bwMode="auto">
            <a:xfrm>
              <a:off x="2467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3" name="Line 455"/>
            <p:cNvSpPr>
              <a:spLocks noChangeShapeType="1"/>
            </p:cNvSpPr>
            <p:nvPr/>
          </p:nvSpPr>
          <p:spPr bwMode="auto">
            <a:xfrm>
              <a:off x="2495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4" name="Line 456"/>
            <p:cNvSpPr>
              <a:spLocks noChangeShapeType="1"/>
            </p:cNvSpPr>
            <p:nvPr/>
          </p:nvSpPr>
          <p:spPr bwMode="auto">
            <a:xfrm>
              <a:off x="2523" y="2662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5" name="Line 457"/>
            <p:cNvSpPr>
              <a:spLocks noChangeShapeType="1"/>
            </p:cNvSpPr>
            <p:nvPr/>
          </p:nvSpPr>
          <p:spPr bwMode="auto">
            <a:xfrm>
              <a:off x="2550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6" name="Line 458"/>
            <p:cNvSpPr>
              <a:spLocks noChangeShapeType="1"/>
            </p:cNvSpPr>
            <p:nvPr/>
          </p:nvSpPr>
          <p:spPr bwMode="auto">
            <a:xfrm>
              <a:off x="2578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7" name="Line 459"/>
            <p:cNvSpPr>
              <a:spLocks noChangeShapeType="1"/>
            </p:cNvSpPr>
            <p:nvPr/>
          </p:nvSpPr>
          <p:spPr bwMode="auto">
            <a:xfrm>
              <a:off x="2606" y="2662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8" name="Line 460"/>
            <p:cNvSpPr>
              <a:spLocks noChangeShapeType="1"/>
            </p:cNvSpPr>
            <p:nvPr/>
          </p:nvSpPr>
          <p:spPr bwMode="auto">
            <a:xfrm>
              <a:off x="2633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9" name="Line 461"/>
            <p:cNvSpPr>
              <a:spLocks noChangeShapeType="1"/>
            </p:cNvSpPr>
            <p:nvPr/>
          </p:nvSpPr>
          <p:spPr bwMode="auto">
            <a:xfrm>
              <a:off x="2661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0" name="Line 462"/>
            <p:cNvSpPr>
              <a:spLocks noChangeShapeType="1"/>
            </p:cNvSpPr>
            <p:nvPr/>
          </p:nvSpPr>
          <p:spPr bwMode="auto">
            <a:xfrm>
              <a:off x="2689" y="2662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1" name="Line 463"/>
            <p:cNvSpPr>
              <a:spLocks noChangeShapeType="1"/>
            </p:cNvSpPr>
            <p:nvPr/>
          </p:nvSpPr>
          <p:spPr bwMode="auto">
            <a:xfrm>
              <a:off x="2716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2" name="Line 464"/>
            <p:cNvSpPr>
              <a:spLocks noChangeShapeType="1"/>
            </p:cNvSpPr>
            <p:nvPr/>
          </p:nvSpPr>
          <p:spPr bwMode="auto">
            <a:xfrm>
              <a:off x="2744" y="2662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3" name="Line 465"/>
            <p:cNvSpPr>
              <a:spLocks noChangeShapeType="1"/>
            </p:cNvSpPr>
            <p:nvPr/>
          </p:nvSpPr>
          <p:spPr bwMode="auto">
            <a:xfrm>
              <a:off x="1709" y="1690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4" name="Line 466"/>
            <p:cNvSpPr>
              <a:spLocks noChangeShapeType="1"/>
            </p:cNvSpPr>
            <p:nvPr/>
          </p:nvSpPr>
          <p:spPr bwMode="auto">
            <a:xfrm>
              <a:off x="1709" y="1718"/>
              <a:ext cx="1" cy="1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5" name="Line 467"/>
            <p:cNvSpPr>
              <a:spLocks noChangeShapeType="1"/>
            </p:cNvSpPr>
            <p:nvPr/>
          </p:nvSpPr>
          <p:spPr bwMode="auto">
            <a:xfrm>
              <a:off x="1709" y="1745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6" name="Line 468"/>
            <p:cNvSpPr>
              <a:spLocks noChangeShapeType="1"/>
            </p:cNvSpPr>
            <p:nvPr/>
          </p:nvSpPr>
          <p:spPr bwMode="auto">
            <a:xfrm>
              <a:off x="1709" y="1773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7" name="Line 469"/>
            <p:cNvSpPr>
              <a:spLocks noChangeShapeType="1"/>
            </p:cNvSpPr>
            <p:nvPr/>
          </p:nvSpPr>
          <p:spPr bwMode="auto">
            <a:xfrm>
              <a:off x="1709" y="1800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8" name="Line 470"/>
            <p:cNvSpPr>
              <a:spLocks noChangeShapeType="1"/>
            </p:cNvSpPr>
            <p:nvPr/>
          </p:nvSpPr>
          <p:spPr bwMode="auto">
            <a:xfrm>
              <a:off x="1709" y="1828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9" name="Line 471"/>
            <p:cNvSpPr>
              <a:spLocks noChangeShapeType="1"/>
            </p:cNvSpPr>
            <p:nvPr/>
          </p:nvSpPr>
          <p:spPr bwMode="auto">
            <a:xfrm>
              <a:off x="1709" y="1856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0" name="Line 472"/>
            <p:cNvSpPr>
              <a:spLocks noChangeShapeType="1"/>
            </p:cNvSpPr>
            <p:nvPr/>
          </p:nvSpPr>
          <p:spPr bwMode="auto">
            <a:xfrm>
              <a:off x="1709" y="1883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1" name="Line 473"/>
            <p:cNvSpPr>
              <a:spLocks noChangeShapeType="1"/>
            </p:cNvSpPr>
            <p:nvPr/>
          </p:nvSpPr>
          <p:spPr bwMode="auto">
            <a:xfrm>
              <a:off x="1709" y="1911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2" name="Line 474"/>
            <p:cNvSpPr>
              <a:spLocks noChangeShapeType="1"/>
            </p:cNvSpPr>
            <p:nvPr/>
          </p:nvSpPr>
          <p:spPr bwMode="auto">
            <a:xfrm>
              <a:off x="1709" y="1939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3" name="Line 475"/>
            <p:cNvSpPr>
              <a:spLocks noChangeShapeType="1"/>
            </p:cNvSpPr>
            <p:nvPr/>
          </p:nvSpPr>
          <p:spPr bwMode="auto">
            <a:xfrm>
              <a:off x="1709" y="1966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4" name="Line 476"/>
            <p:cNvSpPr>
              <a:spLocks noChangeShapeType="1"/>
            </p:cNvSpPr>
            <p:nvPr/>
          </p:nvSpPr>
          <p:spPr bwMode="auto">
            <a:xfrm>
              <a:off x="1709" y="1994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5" name="Line 477"/>
            <p:cNvSpPr>
              <a:spLocks noChangeShapeType="1"/>
            </p:cNvSpPr>
            <p:nvPr/>
          </p:nvSpPr>
          <p:spPr bwMode="auto">
            <a:xfrm>
              <a:off x="1709" y="2022"/>
              <a:ext cx="1" cy="1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6" name="Line 478"/>
            <p:cNvSpPr>
              <a:spLocks noChangeShapeType="1"/>
            </p:cNvSpPr>
            <p:nvPr/>
          </p:nvSpPr>
          <p:spPr bwMode="auto">
            <a:xfrm>
              <a:off x="1709" y="2049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7" name="Line 479"/>
            <p:cNvSpPr>
              <a:spLocks noChangeShapeType="1"/>
            </p:cNvSpPr>
            <p:nvPr/>
          </p:nvSpPr>
          <p:spPr bwMode="auto">
            <a:xfrm>
              <a:off x="1709" y="2077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8" name="Line 480"/>
            <p:cNvSpPr>
              <a:spLocks noChangeShapeType="1"/>
            </p:cNvSpPr>
            <p:nvPr/>
          </p:nvSpPr>
          <p:spPr bwMode="auto">
            <a:xfrm>
              <a:off x="1709" y="2105"/>
              <a:ext cx="1" cy="1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9" name="Line 481"/>
            <p:cNvSpPr>
              <a:spLocks noChangeShapeType="1"/>
            </p:cNvSpPr>
            <p:nvPr/>
          </p:nvSpPr>
          <p:spPr bwMode="auto">
            <a:xfrm>
              <a:off x="1709" y="2132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0" name="Line 482"/>
            <p:cNvSpPr>
              <a:spLocks noChangeShapeType="1"/>
            </p:cNvSpPr>
            <p:nvPr/>
          </p:nvSpPr>
          <p:spPr bwMode="auto">
            <a:xfrm>
              <a:off x="1709" y="2160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1" name="Line 483"/>
            <p:cNvSpPr>
              <a:spLocks noChangeShapeType="1"/>
            </p:cNvSpPr>
            <p:nvPr/>
          </p:nvSpPr>
          <p:spPr bwMode="auto">
            <a:xfrm>
              <a:off x="1709" y="2187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2" name="Line 484"/>
            <p:cNvSpPr>
              <a:spLocks noChangeShapeType="1"/>
            </p:cNvSpPr>
            <p:nvPr/>
          </p:nvSpPr>
          <p:spPr bwMode="auto">
            <a:xfrm>
              <a:off x="1712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3" name="Line 485"/>
            <p:cNvSpPr>
              <a:spLocks noChangeShapeType="1"/>
            </p:cNvSpPr>
            <p:nvPr/>
          </p:nvSpPr>
          <p:spPr bwMode="auto">
            <a:xfrm>
              <a:off x="1739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4" name="Line 486"/>
            <p:cNvSpPr>
              <a:spLocks noChangeShapeType="1"/>
            </p:cNvSpPr>
            <p:nvPr/>
          </p:nvSpPr>
          <p:spPr bwMode="auto">
            <a:xfrm>
              <a:off x="1767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5" name="Line 487"/>
            <p:cNvSpPr>
              <a:spLocks noChangeShapeType="1"/>
            </p:cNvSpPr>
            <p:nvPr/>
          </p:nvSpPr>
          <p:spPr bwMode="auto">
            <a:xfrm>
              <a:off x="1795" y="1690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6" name="Line 488"/>
            <p:cNvSpPr>
              <a:spLocks noChangeShapeType="1"/>
            </p:cNvSpPr>
            <p:nvPr/>
          </p:nvSpPr>
          <p:spPr bwMode="auto">
            <a:xfrm>
              <a:off x="1822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7" name="Line 489"/>
            <p:cNvSpPr>
              <a:spLocks noChangeShapeType="1"/>
            </p:cNvSpPr>
            <p:nvPr/>
          </p:nvSpPr>
          <p:spPr bwMode="auto">
            <a:xfrm>
              <a:off x="1850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8" name="Line 490"/>
            <p:cNvSpPr>
              <a:spLocks noChangeShapeType="1"/>
            </p:cNvSpPr>
            <p:nvPr/>
          </p:nvSpPr>
          <p:spPr bwMode="auto">
            <a:xfrm>
              <a:off x="1878" y="1690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9" name="Line 491"/>
            <p:cNvSpPr>
              <a:spLocks noChangeShapeType="1"/>
            </p:cNvSpPr>
            <p:nvPr/>
          </p:nvSpPr>
          <p:spPr bwMode="auto">
            <a:xfrm>
              <a:off x="1905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0" name="Line 492"/>
            <p:cNvSpPr>
              <a:spLocks noChangeShapeType="1"/>
            </p:cNvSpPr>
            <p:nvPr/>
          </p:nvSpPr>
          <p:spPr bwMode="auto">
            <a:xfrm>
              <a:off x="1933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1" name="Line 493"/>
            <p:cNvSpPr>
              <a:spLocks noChangeShapeType="1"/>
            </p:cNvSpPr>
            <p:nvPr/>
          </p:nvSpPr>
          <p:spPr bwMode="auto">
            <a:xfrm>
              <a:off x="1961" y="1690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2" name="Line 494"/>
            <p:cNvSpPr>
              <a:spLocks noChangeShapeType="1"/>
            </p:cNvSpPr>
            <p:nvPr/>
          </p:nvSpPr>
          <p:spPr bwMode="auto">
            <a:xfrm>
              <a:off x="1988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3" name="Line 495"/>
            <p:cNvSpPr>
              <a:spLocks noChangeShapeType="1"/>
            </p:cNvSpPr>
            <p:nvPr/>
          </p:nvSpPr>
          <p:spPr bwMode="auto">
            <a:xfrm>
              <a:off x="2016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4" name="Line 496"/>
            <p:cNvSpPr>
              <a:spLocks noChangeShapeType="1"/>
            </p:cNvSpPr>
            <p:nvPr/>
          </p:nvSpPr>
          <p:spPr bwMode="auto">
            <a:xfrm>
              <a:off x="2043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5" name="Line 497"/>
            <p:cNvSpPr>
              <a:spLocks noChangeShapeType="1"/>
            </p:cNvSpPr>
            <p:nvPr/>
          </p:nvSpPr>
          <p:spPr bwMode="auto">
            <a:xfrm>
              <a:off x="2071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6" name="Line 498"/>
            <p:cNvSpPr>
              <a:spLocks noChangeShapeType="1"/>
            </p:cNvSpPr>
            <p:nvPr/>
          </p:nvSpPr>
          <p:spPr bwMode="auto">
            <a:xfrm>
              <a:off x="2099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7" name="Line 499"/>
            <p:cNvSpPr>
              <a:spLocks noChangeShapeType="1"/>
            </p:cNvSpPr>
            <p:nvPr/>
          </p:nvSpPr>
          <p:spPr bwMode="auto">
            <a:xfrm>
              <a:off x="2126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8" name="Line 500"/>
            <p:cNvSpPr>
              <a:spLocks noChangeShapeType="1"/>
            </p:cNvSpPr>
            <p:nvPr/>
          </p:nvSpPr>
          <p:spPr bwMode="auto">
            <a:xfrm>
              <a:off x="2154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9" name="Line 501"/>
            <p:cNvSpPr>
              <a:spLocks noChangeShapeType="1"/>
            </p:cNvSpPr>
            <p:nvPr/>
          </p:nvSpPr>
          <p:spPr bwMode="auto">
            <a:xfrm>
              <a:off x="2182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0" name="Line 502"/>
            <p:cNvSpPr>
              <a:spLocks noChangeShapeType="1"/>
            </p:cNvSpPr>
            <p:nvPr/>
          </p:nvSpPr>
          <p:spPr bwMode="auto">
            <a:xfrm>
              <a:off x="2209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1" name="Line 503"/>
            <p:cNvSpPr>
              <a:spLocks noChangeShapeType="1"/>
            </p:cNvSpPr>
            <p:nvPr/>
          </p:nvSpPr>
          <p:spPr bwMode="auto">
            <a:xfrm>
              <a:off x="2237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2" name="Line 504"/>
            <p:cNvSpPr>
              <a:spLocks noChangeShapeType="1"/>
            </p:cNvSpPr>
            <p:nvPr/>
          </p:nvSpPr>
          <p:spPr bwMode="auto">
            <a:xfrm>
              <a:off x="2265" y="1690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3" name="Line 505"/>
            <p:cNvSpPr>
              <a:spLocks noChangeShapeType="1"/>
            </p:cNvSpPr>
            <p:nvPr/>
          </p:nvSpPr>
          <p:spPr bwMode="auto">
            <a:xfrm>
              <a:off x="2292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4" name="Line 506"/>
            <p:cNvSpPr>
              <a:spLocks noChangeShapeType="1"/>
            </p:cNvSpPr>
            <p:nvPr/>
          </p:nvSpPr>
          <p:spPr bwMode="auto">
            <a:xfrm>
              <a:off x="2320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5" name="Line 507"/>
            <p:cNvSpPr>
              <a:spLocks noChangeShapeType="1"/>
            </p:cNvSpPr>
            <p:nvPr/>
          </p:nvSpPr>
          <p:spPr bwMode="auto">
            <a:xfrm>
              <a:off x="2348" y="1690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6" name="Line 508"/>
            <p:cNvSpPr>
              <a:spLocks noChangeShapeType="1"/>
            </p:cNvSpPr>
            <p:nvPr/>
          </p:nvSpPr>
          <p:spPr bwMode="auto">
            <a:xfrm>
              <a:off x="2375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7" name="Line 509"/>
            <p:cNvSpPr>
              <a:spLocks noChangeShapeType="1"/>
            </p:cNvSpPr>
            <p:nvPr/>
          </p:nvSpPr>
          <p:spPr bwMode="auto">
            <a:xfrm>
              <a:off x="2403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8" name="Line 510"/>
            <p:cNvSpPr>
              <a:spLocks noChangeShapeType="1"/>
            </p:cNvSpPr>
            <p:nvPr/>
          </p:nvSpPr>
          <p:spPr bwMode="auto">
            <a:xfrm>
              <a:off x="2431" y="1690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9" name="Line 511"/>
            <p:cNvSpPr>
              <a:spLocks noChangeShapeType="1"/>
            </p:cNvSpPr>
            <p:nvPr/>
          </p:nvSpPr>
          <p:spPr bwMode="auto">
            <a:xfrm>
              <a:off x="2458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60" name="Line 512"/>
            <p:cNvSpPr>
              <a:spLocks noChangeShapeType="1"/>
            </p:cNvSpPr>
            <p:nvPr/>
          </p:nvSpPr>
          <p:spPr bwMode="auto">
            <a:xfrm>
              <a:off x="2486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61" name="Line 513"/>
            <p:cNvSpPr>
              <a:spLocks noChangeShapeType="1"/>
            </p:cNvSpPr>
            <p:nvPr/>
          </p:nvSpPr>
          <p:spPr bwMode="auto">
            <a:xfrm>
              <a:off x="2513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62" name="Line 514"/>
            <p:cNvSpPr>
              <a:spLocks noChangeShapeType="1"/>
            </p:cNvSpPr>
            <p:nvPr/>
          </p:nvSpPr>
          <p:spPr bwMode="auto">
            <a:xfrm>
              <a:off x="2541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63" name="Line 515"/>
            <p:cNvSpPr>
              <a:spLocks noChangeShapeType="1"/>
            </p:cNvSpPr>
            <p:nvPr/>
          </p:nvSpPr>
          <p:spPr bwMode="auto">
            <a:xfrm>
              <a:off x="2569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64" name="Line 516"/>
            <p:cNvSpPr>
              <a:spLocks noChangeShapeType="1"/>
            </p:cNvSpPr>
            <p:nvPr/>
          </p:nvSpPr>
          <p:spPr bwMode="auto">
            <a:xfrm>
              <a:off x="2596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65" name="Line 517"/>
            <p:cNvSpPr>
              <a:spLocks noChangeShapeType="1"/>
            </p:cNvSpPr>
            <p:nvPr/>
          </p:nvSpPr>
          <p:spPr bwMode="auto">
            <a:xfrm>
              <a:off x="2624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66" name="Line 518"/>
            <p:cNvSpPr>
              <a:spLocks noChangeShapeType="1"/>
            </p:cNvSpPr>
            <p:nvPr/>
          </p:nvSpPr>
          <p:spPr bwMode="auto">
            <a:xfrm>
              <a:off x="2652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67" name="Line 519"/>
            <p:cNvSpPr>
              <a:spLocks noChangeShapeType="1"/>
            </p:cNvSpPr>
            <p:nvPr/>
          </p:nvSpPr>
          <p:spPr bwMode="auto">
            <a:xfrm>
              <a:off x="2679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68" name="Line 520"/>
            <p:cNvSpPr>
              <a:spLocks noChangeShapeType="1"/>
            </p:cNvSpPr>
            <p:nvPr/>
          </p:nvSpPr>
          <p:spPr bwMode="auto">
            <a:xfrm>
              <a:off x="2707" y="1690"/>
              <a:ext cx="1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69" name="Line 521"/>
            <p:cNvSpPr>
              <a:spLocks noChangeShapeType="1"/>
            </p:cNvSpPr>
            <p:nvPr/>
          </p:nvSpPr>
          <p:spPr bwMode="auto">
            <a:xfrm>
              <a:off x="2735" y="1690"/>
              <a:ext cx="13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70" name="Line 522"/>
            <p:cNvSpPr>
              <a:spLocks noChangeShapeType="1"/>
            </p:cNvSpPr>
            <p:nvPr/>
          </p:nvSpPr>
          <p:spPr bwMode="auto">
            <a:xfrm>
              <a:off x="2762" y="1690"/>
              <a:ext cx="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71" name="Line 523"/>
            <p:cNvSpPr>
              <a:spLocks noChangeShapeType="1"/>
            </p:cNvSpPr>
            <p:nvPr/>
          </p:nvSpPr>
          <p:spPr bwMode="auto">
            <a:xfrm>
              <a:off x="2766" y="1690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72" name="Line 524"/>
            <p:cNvSpPr>
              <a:spLocks noChangeShapeType="1"/>
            </p:cNvSpPr>
            <p:nvPr/>
          </p:nvSpPr>
          <p:spPr bwMode="auto">
            <a:xfrm>
              <a:off x="2766" y="1718"/>
              <a:ext cx="1" cy="1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73" name="Line 525"/>
            <p:cNvSpPr>
              <a:spLocks noChangeShapeType="1"/>
            </p:cNvSpPr>
            <p:nvPr/>
          </p:nvSpPr>
          <p:spPr bwMode="auto">
            <a:xfrm>
              <a:off x="2766" y="1745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74" name="Line 526"/>
            <p:cNvSpPr>
              <a:spLocks noChangeShapeType="1"/>
            </p:cNvSpPr>
            <p:nvPr/>
          </p:nvSpPr>
          <p:spPr bwMode="auto">
            <a:xfrm>
              <a:off x="2766" y="1773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75" name="Line 527"/>
            <p:cNvSpPr>
              <a:spLocks noChangeShapeType="1"/>
            </p:cNvSpPr>
            <p:nvPr/>
          </p:nvSpPr>
          <p:spPr bwMode="auto">
            <a:xfrm>
              <a:off x="2766" y="1800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76" name="Line 528"/>
            <p:cNvSpPr>
              <a:spLocks noChangeShapeType="1"/>
            </p:cNvSpPr>
            <p:nvPr/>
          </p:nvSpPr>
          <p:spPr bwMode="auto">
            <a:xfrm>
              <a:off x="2766" y="1828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77" name="Line 529"/>
            <p:cNvSpPr>
              <a:spLocks noChangeShapeType="1"/>
            </p:cNvSpPr>
            <p:nvPr/>
          </p:nvSpPr>
          <p:spPr bwMode="auto">
            <a:xfrm>
              <a:off x="2766" y="1856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78" name="Line 530"/>
            <p:cNvSpPr>
              <a:spLocks noChangeShapeType="1"/>
            </p:cNvSpPr>
            <p:nvPr/>
          </p:nvSpPr>
          <p:spPr bwMode="auto">
            <a:xfrm>
              <a:off x="2766" y="1883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79" name="Line 531"/>
            <p:cNvSpPr>
              <a:spLocks noChangeShapeType="1"/>
            </p:cNvSpPr>
            <p:nvPr/>
          </p:nvSpPr>
          <p:spPr bwMode="auto">
            <a:xfrm>
              <a:off x="2766" y="1911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80" name="Line 532"/>
            <p:cNvSpPr>
              <a:spLocks noChangeShapeType="1"/>
            </p:cNvSpPr>
            <p:nvPr/>
          </p:nvSpPr>
          <p:spPr bwMode="auto">
            <a:xfrm>
              <a:off x="2766" y="1939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81" name="Line 533"/>
            <p:cNvSpPr>
              <a:spLocks noChangeShapeType="1"/>
            </p:cNvSpPr>
            <p:nvPr/>
          </p:nvSpPr>
          <p:spPr bwMode="auto">
            <a:xfrm>
              <a:off x="2766" y="1966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82" name="Line 534"/>
            <p:cNvSpPr>
              <a:spLocks noChangeShapeType="1"/>
            </p:cNvSpPr>
            <p:nvPr/>
          </p:nvSpPr>
          <p:spPr bwMode="auto">
            <a:xfrm>
              <a:off x="2766" y="1994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83" name="Line 535"/>
            <p:cNvSpPr>
              <a:spLocks noChangeShapeType="1"/>
            </p:cNvSpPr>
            <p:nvPr/>
          </p:nvSpPr>
          <p:spPr bwMode="auto">
            <a:xfrm>
              <a:off x="2766" y="2022"/>
              <a:ext cx="1" cy="1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84" name="Line 536"/>
            <p:cNvSpPr>
              <a:spLocks noChangeShapeType="1"/>
            </p:cNvSpPr>
            <p:nvPr/>
          </p:nvSpPr>
          <p:spPr bwMode="auto">
            <a:xfrm>
              <a:off x="2766" y="2049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85" name="Line 537"/>
            <p:cNvSpPr>
              <a:spLocks noChangeShapeType="1"/>
            </p:cNvSpPr>
            <p:nvPr/>
          </p:nvSpPr>
          <p:spPr bwMode="auto">
            <a:xfrm>
              <a:off x="2766" y="2077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86" name="Line 538"/>
            <p:cNvSpPr>
              <a:spLocks noChangeShapeType="1"/>
            </p:cNvSpPr>
            <p:nvPr/>
          </p:nvSpPr>
          <p:spPr bwMode="auto">
            <a:xfrm>
              <a:off x="2766" y="2105"/>
              <a:ext cx="1" cy="1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87" name="Line 539"/>
            <p:cNvSpPr>
              <a:spLocks noChangeShapeType="1"/>
            </p:cNvSpPr>
            <p:nvPr/>
          </p:nvSpPr>
          <p:spPr bwMode="auto">
            <a:xfrm>
              <a:off x="2766" y="2132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88" name="Line 540"/>
            <p:cNvSpPr>
              <a:spLocks noChangeShapeType="1"/>
            </p:cNvSpPr>
            <p:nvPr/>
          </p:nvSpPr>
          <p:spPr bwMode="auto">
            <a:xfrm>
              <a:off x="2766" y="2160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89" name="Line 541"/>
            <p:cNvSpPr>
              <a:spLocks noChangeShapeType="1"/>
            </p:cNvSpPr>
            <p:nvPr/>
          </p:nvSpPr>
          <p:spPr bwMode="auto">
            <a:xfrm>
              <a:off x="2766" y="2187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90" name="Line 542"/>
            <p:cNvSpPr>
              <a:spLocks noChangeShapeType="1"/>
            </p:cNvSpPr>
            <p:nvPr/>
          </p:nvSpPr>
          <p:spPr bwMode="auto">
            <a:xfrm>
              <a:off x="2766" y="2215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91" name="Line 543"/>
            <p:cNvSpPr>
              <a:spLocks noChangeShapeType="1"/>
            </p:cNvSpPr>
            <p:nvPr/>
          </p:nvSpPr>
          <p:spPr bwMode="auto">
            <a:xfrm>
              <a:off x="2766" y="2243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92" name="Line 544"/>
            <p:cNvSpPr>
              <a:spLocks noChangeShapeType="1"/>
            </p:cNvSpPr>
            <p:nvPr/>
          </p:nvSpPr>
          <p:spPr bwMode="auto">
            <a:xfrm>
              <a:off x="2766" y="2270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93" name="Line 545"/>
            <p:cNvSpPr>
              <a:spLocks noChangeShapeType="1"/>
            </p:cNvSpPr>
            <p:nvPr/>
          </p:nvSpPr>
          <p:spPr bwMode="auto">
            <a:xfrm>
              <a:off x="2766" y="2298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94" name="Line 546"/>
            <p:cNvSpPr>
              <a:spLocks noChangeShapeType="1"/>
            </p:cNvSpPr>
            <p:nvPr/>
          </p:nvSpPr>
          <p:spPr bwMode="auto">
            <a:xfrm>
              <a:off x="2766" y="2326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95" name="Line 547"/>
            <p:cNvSpPr>
              <a:spLocks noChangeShapeType="1"/>
            </p:cNvSpPr>
            <p:nvPr/>
          </p:nvSpPr>
          <p:spPr bwMode="auto">
            <a:xfrm>
              <a:off x="2766" y="2353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96" name="Line 548"/>
            <p:cNvSpPr>
              <a:spLocks noChangeShapeType="1"/>
            </p:cNvSpPr>
            <p:nvPr/>
          </p:nvSpPr>
          <p:spPr bwMode="auto">
            <a:xfrm>
              <a:off x="2766" y="2381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97" name="Line 549"/>
            <p:cNvSpPr>
              <a:spLocks noChangeShapeType="1"/>
            </p:cNvSpPr>
            <p:nvPr/>
          </p:nvSpPr>
          <p:spPr bwMode="auto">
            <a:xfrm>
              <a:off x="2766" y="2409"/>
              <a:ext cx="1" cy="1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98" name="Line 550"/>
            <p:cNvSpPr>
              <a:spLocks noChangeShapeType="1"/>
            </p:cNvSpPr>
            <p:nvPr/>
          </p:nvSpPr>
          <p:spPr bwMode="auto">
            <a:xfrm>
              <a:off x="2766" y="2436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99" name="Line 551"/>
            <p:cNvSpPr>
              <a:spLocks noChangeShapeType="1"/>
            </p:cNvSpPr>
            <p:nvPr/>
          </p:nvSpPr>
          <p:spPr bwMode="auto">
            <a:xfrm>
              <a:off x="2766" y="2464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00" name="Line 552"/>
            <p:cNvSpPr>
              <a:spLocks noChangeShapeType="1"/>
            </p:cNvSpPr>
            <p:nvPr/>
          </p:nvSpPr>
          <p:spPr bwMode="auto">
            <a:xfrm>
              <a:off x="2766" y="2492"/>
              <a:ext cx="1" cy="1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01" name="Line 553"/>
            <p:cNvSpPr>
              <a:spLocks noChangeShapeType="1"/>
            </p:cNvSpPr>
            <p:nvPr/>
          </p:nvSpPr>
          <p:spPr bwMode="auto">
            <a:xfrm>
              <a:off x="2766" y="2519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02" name="Line 554"/>
            <p:cNvSpPr>
              <a:spLocks noChangeShapeType="1"/>
            </p:cNvSpPr>
            <p:nvPr/>
          </p:nvSpPr>
          <p:spPr bwMode="auto">
            <a:xfrm>
              <a:off x="2766" y="2547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03" name="Line 555"/>
            <p:cNvSpPr>
              <a:spLocks noChangeShapeType="1"/>
            </p:cNvSpPr>
            <p:nvPr/>
          </p:nvSpPr>
          <p:spPr bwMode="auto">
            <a:xfrm>
              <a:off x="2766" y="2574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04" name="Line 556"/>
            <p:cNvSpPr>
              <a:spLocks noChangeShapeType="1"/>
            </p:cNvSpPr>
            <p:nvPr/>
          </p:nvSpPr>
          <p:spPr bwMode="auto">
            <a:xfrm>
              <a:off x="2766" y="2602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05" name="Line 557"/>
            <p:cNvSpPr>
              <a:spLocks noChangeShapeType="1"/>
            </p:cNvSpPr>
            <p:nvPr/>
          </p:nvSpPr>
          <p:spPr bwMode="auto">
            <a:xfrm>
              <a:off x="2766" y="2630"/>
              <a:ext cx="1" cy="1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06" name="Line 558"/>
            <p:cNvSpPr>
              <a:spLocks noChangeShapeType="1"/>
            </p:cNvSpPr>
            <p:nvPr/>
          </p:nvSpPr>
          <p:spPr bwMode="auto">
            <a:xfrm>
              <a:off x="2766" y="2657"/>
              <a:ext cx="1" cy="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07" name="Rectangle 559"/>
            <p:cNvSpPr>
              <a:spLocks noChangeArrowheads="1"/>
            </p:cNvSpPr>
            <p:nvPr/>
          </p:nvSpPr>
          <p:spPr bwMode="auto">
            <a:xfrm>
              <a:off x="566" y="1620"/>
              <a:ext cx="114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HCT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08" name="Freeform 560"/>
            <p:cNvSpPr>
              <a:spLocks/>
            </p:cNvSpPr>
            <p:nvPr/>
          </p:nvSpPr>
          <p:spPr bwMode="auto">
            <a:xfrm>
              <a:off x="851" y="2928"/>
              <a:ext cx="137" cy="108"/>
            </a:xfrm>
            <a:custGeom>
              <a:avLst/>
              <a:gdLst/>
              <a:ahLst/>
              <a:cxnLst>
                <a:cxn ang="0">
                  <a:pos x="35" y="108"/>
                </a:cxn>
                <a:cxn ang="0">
                  <a:pos x="103" y="108"/>
                </a:cxn>
                <a:cxn ang="0">
                  <a:pos x="103" y="27"/>
                </a:cxn>
                <a:cxn ang="0">
                  <a:pos x="137" y="27"/>
                </a:cxn>
                <a:cxn ang="0">
                  <a:pos x="69" y="0"/>
                </a:cxn>
                <a:cxn ang="0">
                  <a:pos x="0" y="27"/>
                </a:cxn>
                <a:cxn ang="0">
                  <a:pos x="35" y="27"/>
                </a:cxn>
                <a:cxn ang="0">
                  <a:pos x="35" y="108"/>
                </a:cxn>
              </a:cxnLst>
              <a:rect l="0" t="0" r="r" b="b"/>
              <a:pathLst>
                <a:path w="137" h="108">
                  <a:moveTo>
                    <a:pt x="35" y="108"/>
                  </a:moveTo>
                  <a:lnTo>
                    <a:pt x="103" y="108"/>
                  </a:lnTo>
                  <a:lnTo>
                    <a:pt x="103" y="27"/>
                  </a:lnTo>
                  <a:lnTo>
                    <a:pt x="137" y="27"/>
                  </a:lnTo>
                  <a:lnTo>
                    <a:pt x="69" y="0"/>
                  </a:lnTo>
                  <a:lnTo>
                    <a:pt x="0" y="27"/>
                  </a:lnTo>
                  <a:lnTo>
                    <a:pt x="35" y="27"/>
                  </a:lnTo>
                  <a:lnTo>
                    <a:pt x="35" y="108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09" name="Rectangle 561"/>
            <p:cNvSpPr>
              <a:spLocks noChangeArrowheads="1"/>
            </p:cNvSpPr>
            <p:nvPr/>
          </p:nvSpPr>
          <p:spPr bwMode="auto">
            <a:xfrm>
              <a:off x="828" y="2816"/>
              <a:ext cx="16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DPC-111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10" name="Rectangle 562"/>
            <p:cNvSpPr>
              <a:spLocks noChangeArrowheads="1"/>
            </p:cNvSpPr>
            <p:nvPr/>
          </p:nvSpPr>
          <p:spPr bwMode="auto">
            <a:xfrm>
              <a:off x="806" y="2873"/>
              <a:ext cx="21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VB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커넥터로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11" name="Freeform 563"/>
            <p:cNvSpPr>
              <a:spLocks/>
            </p:cNvSpPr>
            <p:nvPr/>
          </p:nvSpPr>
          <p:spPr bwMode="auto">
            <a:xfrm>
              <a:off x="721" y="3472"/>
              <a:ext cx="553" cy="207"/>
            </a:xfrm>
            <a:custGeom>
              <a:avLst/>
              <a:gdLst/>
              <a:ahLst/>
              <a:cxnLst>
                <a:cxn ang="0">
                  <a:pos x="553" y="207"/>
                </a:cxn>
                <a:cxn ang="0">
                  <a:pos x="484" y="200"/>
                </a:cxn>
                <a:cxn ang="0">
                  <a:pos x="416" y="189"/>
                </a:cxn>
                <a:cxn ang="0">
                  <a:pos x="349" y="172"/>
                </a:cxn>
                <a:cxn ang="0">
                  <a:pos x="282" y="152"/>
                </a:cxn>
                <a:cxn ang="0">
                  <a:pos x="218" y="126"/>
                </a:cxn>
                <a:cxn ang="0">
                  <a:pos x="156" y="98"/>
                </a:cxn>
                <a:cxn ang="0">
                  <a:pos x="95" y="64"/>
                </a:cxn>
                <a:cxn ang="0">
                  <a:pos x="37" y="27"/>
                </a:cxn>
                <a:cxn ang="0">
                  <a:pos x="0" y="0"/>
                </a:cxn>
              </a:cxnLst>
              <a:rect l="0" t="0" r="r" b="b"/>
              <a:pathLst>
                <a:path w="553" h="207">
                  <a:moveTo>
                    <a:pt x="553" y="207"/>
                  </a:moveTo>
                  <a:lnTo>
                    <a:pt x="484" y="200"/>
                  </a:lnTo>
                  <a:lnTo>
                    <a:pt x="416" y="189"/>
                  </a:lnTo>
                  <a:lnTo>
                    <a:pt x="349" y="172"/>
                  </a:lnTo>
                  <a:lnTo>
                    <a:pt x="282" y="152"/>
                  </a:lnTo>
                  <a:lnTo>
                    <a:pt x="218" y="126"/>
                  </a:lnTo>
                  <a:lnTo>
                    <a:pt x="156" y="98"/>
                  </a:lnTo>
                  <a:lnTo>
                    <a:pt x="95" y="64"/>
                  </a:lnTo>
                  <a:lnTo>
                    <a:pt x="37" y="27"/>
                  </a:lnTo>
                  <a:lnTo>
                    <a:pt x="0" y="0"/>
                  </a:lnTo>
                </a:path>
              </a:pathLst>
            </a:custGeom>
            <a:noFill/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12" name="Freeform 564"/>
            <p:cNvSpPr>
              <a:spLocks/>
            </p:cNvSpPr>
            <p:nvPr/>
          </p:nvSpPr>
          <p:spPr bwMode="auto">
            <a:xfrm>
              <a:off x="703" y="3458"/>
              <a:ext cx="28" cy="28"/>
            </a:xfrm>
            <a:custGeom>
              <a:avLst/>
              <a:gdLst/>
              <a:ahLst/>
              <a:cxnLst>
                <a:cxn ang="0">
                  <a:pos x="12" y="28"/>
                </a:cxn>
                <a:cxn ang="0">
                  <a:pos x="0" y="0"/>
                </a:cxn>
                <a:cxn ang="0">
                  <a:pos x="28" y="6"/>
                </a:cxn>
                <a:cxn ang="0">
                  <a:pos x="12" y="28"/>
                </a:cxn>
              </a:cxnLst>
              <a:rect l="0" t="0" r="r" b="b"/>
              <a:pathLst>
                <a:path w="28" h="28">
                  <a:moveTo>
                    <a:pt x="12" y="28"/>
                  </a:moveTo>
                  <a:lnTo>
                    <a:pt x="0" y="0"/>
                  </a:lnTo>
                  <a:lnTo>
                    <a:pt x="28" y="6"/>
                  </a:lnTo>
                  <a:lnTo>
                    <a:pt x="12" y="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13" name="Rectangle 565"/>
            <p:cNvSpPr>
              <a:spLocks noChangeArrowheads="1"/>
            </p:cNvSpPr>
            <p:nvPr/>
          </p:nvSpPr>
          <p:spPr bwMode="auto">
            <a:xfrm>
              <a:off x="1473" y="3070"/>
              <a:ext cx="810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   1        2       3       4       5       6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14" name="Rectangle 566"/>
            <p:cNvSpPr>
              <a:spLocks noChangeArrowheads="1"/>
            </p:cNvSpPr>
            <p:nvPr/>
          </p:nvSpPr>
          <p:spPr bwMode="auto">
            <a:xfrm>
              <a:off x="1473" y="3164"/>
              <a:ext cx="83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+15V  -15V  IAS  GND  IBS  GND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15" name="Line 567"/>
            <p:cNvSpPr>
              <a:spLocks noChangeShapeType="1"/>
            </p:cNvSpPr>
            <p:nvPr/>
          </p:nvSpPr>
          <p:spPr bwMode="auto">
            <a:xfrm flipH="1">
              <a:off x="1450" y="3268"/>
              <a:ext cx="91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16" name="Line 568"/>
            <p:cNvSpPr>
              <a:spLocks noChangeShapeType="1"/>
            </p:cNvSpPr>
            <p:nvPr/>
          </p:nvSpPr>
          <p:spPr bwMode="auto">
            <a:xfrm flipH="1">
              <a:off x="1450" y="3036"/>
              <a:ext cx="91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17" name="Line 569"/>
            <p:cNvSpPr>
              <a:spLocks noChangeShapeType="1"/>
            </p:cNvSpPr>
            <p:nvPr/>
          </p:nvSpPr>
          <p:spPr bwMode="auto">
            <a:xfrm flipV="1">
              <a:off x="1450" y="3036"/>
              <a:ext cx="1" cy="23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18" name="Line 570"/>
            <p:cNvSpPr>
              <a:spLocks noChangeShapeType="1"/>
            </p:cNvSpPr>
            <p:nvPr/>
          </p:nvSpPr>
          <p:spPr bwMode="auto">
            <a:xfrm flipV="1">
              <a:off x="2363" y="3036"/>
              <a:ext cx="1" cy="23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19" name="Line 571"/>
            <p:cNvSpPr>
              <a:spLocks noChangeShapeType="1"/>
            </p:cNvSpPr>
            <p:nvPr/>
          </p:nvSpPr>
          <p:spPr bwMode="auto">
            <a:xfrm flipH="1">
              <a:off x="1450" y="3153"/>
              <a:ext cx="91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20" name="Line 572"/>
            <p:cNvSpPr>
              <a:spLocks noChangeShapeType="1"/>
            </p:cNvSpPr>
            <p:nvPr/>
          </p:nvSpPr>
          <p:spPr bwMode="auto">
            <a:xfrm flipV="1">
              <a:off x="1628" y="3036"/>
              <a:ext cx="1" cy="23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21" name="Line 573"/>
            <p:cNvSpPr>
              <a:spLocks noChangeShapeType="1"/>
            </p:cNvSpPr>
            <p:nvPr/>
          </p:nvSpPr>
          <p:spPr bwMode="auto">
            <a:xfrm flipV="1">
              <a:off x="1777" y="3036"/>
              <a:ext cx="1" cy="23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22" name="Line 574"/>
            <p:cNvSpPr>
              <a:spLocks noChangeShapeType="1"/>
            </p:cNvSpPr>
            <p:nvPr/>
          </p:nvSpPr>
          <p:spPr bwMode="auto">
            <a:xfrm flipV="1">
              <a:off x="1906" y="3036"/>
              <a:ext cx="1" cy="23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23" name="Line 575"/>
            <p:cNvSpPr>
              <a:spLocks noChangeShapeType="1"/>
            </p:cNvSpPr>
            <p:nvPr/>
          </p:nvSpPr>
          <p:spPr bwMode="auto">
            <a:xfrm flipV="1">
              <a:off x="2063" y="3036"/>
              <a:ext cx="1" cy="23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24" name="Line 576"/>
            <p:cNvSpPr>
              <a:spLocks noChangeShapeType="1"/>
            </p:cNvSpPr>
            <p:nvPr/>
          </p:nvSpPr>
          <p:spPr bwMode="auto">
            <a:xfrm flipV="1">
              <a:off x="2199" y="3036"/>
              <a:ext cx="1" cy="23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25" name="Rectangle 577"/>
            <p:cNvSpPr>
              <a:spLocks noChangeArrowheads="1"/>
            </p:cNvSpPr>
            <p:nvPr/>
          </p:nvSpPr>
          <p:spPr bwMode="auto">
            <a:xfrm>
              <a:off x="596" y="3686"/>
              <a:ext cx="96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U</a:t>
              </a:r>
              <a:r>
                <a:rPr lang="ko-KR" altLang="en-US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상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26" name="Rectangle 578"/>
            <p:cNvSpPr>
              <a:spLocks noChangeArrowheads="1"/>
            </p:cNvSpPr>
            <p:nvPr/>
          </p:nvSpPr>
          <p:spPr bwMode="auto">
            <a:xfrm>
              <a:off x="1101" y="3686"/>
              <a:ext cx="93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</a:t>
              </a:r>
              <a:r>
                <a:rPr lang="ko-KR" altLang="en-US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상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27" name="Line 579"/>
            <p:cNvSpPr>
              <a:spLocks noChangeShapeType="1"/>
            </p:cNvSpPr>
            <p:nvPr/>
          </p:nvSpPr>
          <p:spPr bwMode="auto">
            <a:xfrm flipH="1">
              <a:off x="1052" y="3104"/>
              <a:ext cx="53" cy="6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28" name="Freeform 580"/>
            <p:cNvSpPr>
              <a:spLocks/>
            </p:cNvSpPr>
            <p:nvPr/>
          </p:nvSpPr>
          <p:spPr bwMode="auto">
            <a:xfrm>
              <a:off x="1034" y="3155"/>
              <a:ext cx="32" cy="35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35"/>
                </a:cxn>
                <a:cxn ang="0">
                  <a:pos x="32" y="21"/>
                </a:cxn>
                <a:cxn ang="0">
                  <a:pos x="8" y="0"/>
                </a:cxn>
              </a:cxnLst>
              <a:rect l="0" t="0" r="r" b="b"/>
              <a:pathLst>
                <a:path w="32" h="35">
                  <a:moveTo>
                    <a:pt x="8" y="0"/>
                  </a:moveTo>
                  <a:lnTo>
                    <a:pt x="0" y="35"/>
                  </a:lnTo>
                  <a:lnTo>
                    <a:pt x="32" y="2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629" name="Rectangle 581"/>
            <p:cNvSpPr>
              <a:spLocks noChangeArrowheads="1"/>
            </p:cNvSpPr>
            <p:nvPr/>
          </p:nvSpPr>
          <p:spPr bwMode="auto">
            <a:xfrm>
              <a:off x="706" y="3371"/>
              <a:ext cx="37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A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30" name="Rectangle 582"/>
            <p:cNvSpPr>
              <a:spLocks noChangeArrowheads="1"/>
            </p:cNvSpPr>
            <p:nvPr/>
          </p:nvSpPr>
          <p:spPr bwMode="auto">
            <a:xfrm>
              <a:off x="1135" y="3371"/>
              <a:ext cx="37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B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</p:grpSp>
      <p:sp>
        <p:nvSpPr>
          <p:cNvPr id="2631" name="Rectangle 583"/>
          <p:cNvSpPr>
            <a:spLocks noChangeArrowheads="1"/>
          </p:cNvSpPr>
          <p:nvPr/>
        </p:nvSpPr>
        <p:spPr bwMode="auto">
          <a:xfrm>
            <a:off x="5029200" y="1066800"/>
            <a:ext cx="4048125" cy="557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DPC-1XX(INV)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HCT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케이블이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연결된 상태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방향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(⇒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표시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아래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(HCT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커넥터가 위 방향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향하고 있으면  정상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HCT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+15V,-15V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확인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J5H JUMPER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TURN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수를 아래 표에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의거 확인 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endParaRPr lang="ko-KR" altLang="en-US" sz="1000">
              <a:latin typeface="Arial" charset="0"/>
              <a:ea typeface="굴림체" pitchFamily="49" charset="-127"/>
            </a:endParaRPr>
          </a:p>
          <a:p>
            <a:pPr algn="just" defTabSz="873125" eaLnBrk="0" latinLnBrk="0" hangingPunct="0">
              <a:lnSpc>
                <a:spcPct val="150000"/>
              </a:lnSpc>
            </a:pPr>
            <a:endParaRPr lang="ko-KR" altLang="en-US" sz="1000">
              <a:latin typeface="Arial" charset="0"/>
              <a:ea typeface="굴림체" pitchFamily="49" charset="-127"/>
            </a:endParaRPr>
          </a:p>
          <a:p>
            <a:pPr algn="just" defTabSz="873125" eaLnBrk="0" latinLnBrk="0" hangingPunct="0">
              <a:lnSpc>
                <a:spcPct val="150000"/>
              </a:lnSpc>
            </a:pPr>
            <a:endParaRPr lang="ko-KR" altLang="en-US" sz="1000">
              <a:latin typeface="Arial" charset="0"/>
              <a:ea typeface="굴림체" pitchFamily="49" charset="-127"/>
            </a:endParaRPr>
          </a:p>
          <a:p>
            <a:pPr algn="just" defTabSz="873125" eaLnBrk="0" latinLnBrk="0" hangingPunct="0">
              <a:lnSpc>
                <a:spcPct val="150000"/>
              </a:lnSpc>
            </a:pPr>
            <a:endParaRPr lang="ko-KR" altLang="en-US" sz="1000">
              <a:latin typeface="Arial" charset="0"/>
              <a:ea typeface="굴림체" pitchFamily="49" charset="-127"/>
            </a:endParaRPr>
          </a:p>
          <a:p>
            <a:pPr algn="just" defTabSz="873125" eaLnBrk="0" latinLnBrk="0" hangingPunct="0">
              <a:lnSpc>
                <a:spcPct val="150000"/>
              </a:lnSpc>
            </a:pPr>
            <a:endParaRPr lang="ko-KR" altLang="en-US" sz="1000">
              <a:latin typeface="Arial" charset="0"/>
              <a:ea typeface="굴림체" pitchFamily="49" charset="-127"/>
            </a:endParaRPr>
          </a:p>
          <a:p>
            <a:pPr algn="just" defTabSz="873125" eaLnBrk="0" latinLnBrk="0" hangingPunct="0">
              <a:lnSpc>
                <a:spcPct val="150000"/>
              </a:lnSpc>
            </a:pPr>
            <a:endParaRPr lang="ko-KR" altLang="en-US" sz="1000">
              <a:latin typeface="Arial" charset="0"/>
              <a:ea typeface="굴림체" pitchFamily="49" charset="-127"/>
            </a:endParaRP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CP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접지선이 건물접지와의 연결상태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건물측 접지선이 접지 되었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는지 확인 할 것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좌도에서 저항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R9,10,11,12,78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정확하게 취부 되었는지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R9: 10K, R10:1.5K, R11:5K, R12:12K, R78:1M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이며 이 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J5H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1-2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Short 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삽입되었을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U6H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6.26±0.31[V], J5H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3-4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Short 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삽입되었을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U6H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8.89±0.44[V]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전위가 걸리는지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HCT Cable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교환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ENCODER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체크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단선 여부를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TCD 92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조치사항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교환</a:t>
            </a:r>
            <a:endParaRPr lang="ko-KR" altLang="en-US" sz="900">
              <a:latin typeface="Arial" charset="0"/>
              <a:ea typeface="굴림체" pitchFamily="49" charset="-127"/>
            </a:endParaRPr>
          </a:p>
        </p:txBody>
      </p:sp>
      <p:grpSp>
        <p:nvGrpSpPr>
          <p:cNvPr id="5" name="Group 584"/>
          <p:cNvGrpSpPr>
            <a:grpSpLocks/>
          </p:cNvGrpSpPr>
          <p:nvPr/>
        </p:nvGrpSpPr>
        <p:grpSpPr bwMode="auto">
          <a:xfrm>
            <a:off x="5181600" y="2743200"/>
            <a:ext cx="3271838" cy="1090613"/>
            <a:chOff x="3264" y="1632"/>
            <a:chExt cx="2061" cy="687"/>
          </a:xfrm>
        </p:grpSpPr>
        <p:sp>
          <p:nvSpPr>
            <p:cNvPr id="2633" name="Rectangle 585"/>
            <p:cNvSpPr>
              <a:spLocks noChangeArrowheads="1"/>
            </p:cNvSpPr>
            <p:nvPr/>
          </p:nvSpPr>
          <p:spPr bwMode="auto">
            <a:xfrm>
              <a:off x="3264" y="1632"/>
              <a:ext cx="399" cy="184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4" name="Rectangle 586"/>
            <p:cNvSpPr>
              <a:spLocks noChangeArrowheads="1"/>
            </p:cNvSpPr>
            <p:nvPr/>
          </p:nvSpPr>
          <p:spPr bwMode="auto">
            <a:xfrm>
              <a:off x="3314" y="1646"/>
              <a:ext cx="3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IPM, IGBT</a:t>
              </a:r>
            </a:p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  </a:t>
              </a:r>
              <a:r>
                <a:rPr lang="ko-KR" altLang="en-US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용량</a:t>
              </a:r>
              <a:endParaRPr lang="ko-KR" altLang="en-US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35" name="Rectangle 587"/>
            <p:cNvSpPr>
              <a:spLocks noChangeArrowheads="1"/>
            </p:cNvSpPr>
            <p:nvPr/>
          </p:nvSpPr>
          <p:spPr bwMode="auto">
            <a:xfrm>
              <a:off x="3663" y="1632"/>
              <a:ext cx="400" cy="184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6" name="Rectangle 588"/>
            <p:cNvSpPr>
              <a:spLocks noChangeArrowheads="1"/>
            </p:cNvSpPr>
            <p:nvPr/>
          </p:nvSpPr>
          <p:spPr bwMode="auto">
            <a:xfrm>
              <a:off x="3796" y="1648"/>
              <a:ext cx="13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HCT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37" name="Rectangle 589"/>
            <p:cNvSpPr>
              <a:spLocks noChangeArrowheads="1"/>
            </p:cNvSpPr>
            <p:nvPr/>
          </p:nvSpPr>
          <p:spPr bwMode="auto">
            <a:xfrm>
              <a:off x="3740" y="1726"/>
              <a:ext cx="24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TURN</a:t>
              </a:r>
              <a:r>
                <a:rPr lang="ko-KR" altLang="en-US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수</a:t>
              </a:r>
              <a:endParaRPr lang="ko-KR" altLang="en-US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38" name="Rectangle 590"/>
            <p:cNvSpPr>
              <a:spLocks noChangeArrowheads="1"/>
            </p:cNvSpPr>
            <p:nvPr/>
          </p:nvSpPr>
          <p:spPr bwMode="auto">
            <a:xfrm>
              <a:off x="4063" y="1632"/>
              <a:ext cx="543" cy="184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9" name="Rectangle 591"/>
            <p:cNvSpPr>
              <a:spLocks noChangeArrowheads="1"/>
            </p:cNvSpPr>
            <p:nvPr/>
          </p:nvSpPr>
          <p:spPr bwMode="auto">
            <a:xfrm>
              <a:off x="4150" y="1648"/>
              <a:ext cx="35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J5H SHORT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40" name="Rectangle 592"/>
            <p:cNvSpPr>
              <a:spLocks noChangeArrowheads="1"/>
            </p:cNvSpPr>
            <p:nvPr/>
          </p:nvSpPr>
          <p:spPr bwMode="auto">
            <a:xfrm>
              <a:off x="4139" y="1726"/>
              <a:ext cx="38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PIN </a:t>
              </a:r>
              <a:r>
                <a:rPr lang="ko-KR" altLang="en-US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삽입위치</a:t>
              </a:r>
              <a:endParaRPr lang="ko-KR" altLang="en-US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41" name="Rectangle 593"/>
            <p:cNvSpPr>
              <a:spLocks noChangeArrowheads="1"/>
            </p:cNvSpPr>
            <p:nvPr/>
          </p:nvSpPr>
          <p:spPr bwMode="auto">
            <a:xfrm>
              <a:off x="4606" y="1632"/>
              <a:ext cx="719" cy="184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2" name="Rectangle 594"/>
            <p:cNvSpPr>
              <a:spLocks noChangeArrowheads="1"/>
            </p:cNvSpPr>
            <p:nvPr/>
          </p:nvSpPr>
          <p:spPr bwMode="auto">
            <a:xfrm>
              <a:off x="4714" y="1648"/>
              <a:ext cx="49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MOTOR</a:t>
              </a:r>
              <a:r>
                <a:rPr lang="ko-KR" altLang="en-US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최대용량</a:t>
              </a:r>
              <a:endParaRPr lang="ko-KR" altLang="en-US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43" name="Rectangle 595"/>
            <p:cNvSpPr>
              <a:spLocks noChangeArrowheads="1"/>
            </p:cNvSpPr>
            <p:nvPr/>
          </p:nvSpPr>
          <p:spPr bwMode="auto">
            <a:xfrm>
              <a:off x="4809" y="1726"/>
              <a:ext cx="298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</a:t>
              </a:r>
              <a:r>
                <a:rPr lang="ko-KR" altLang="en-US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명판확인</a:t>
              </a:r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)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44" name="Rectangle 596"/>
            <p:cNvSpPr>
              <a:spLocks noChangeArrowheads="1"/>
            </p:cNvSpPr>
            <p:nvPr/>
          </p:nvSpPr>
          <p:spPr bwMode="auto">
            <a:xfrm>
              <a:off x="3264" y="1816"/>
              <a:ext cx="399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5" name="Rectangle 597"/>
            <p:cNvSpPr>
              <a:spLocks noChangeArrowheads="1"/>
            </p:cNvSpPr>
            <p:nvPr/>
          </p:nvSpPr>
          <p:spPr bwMode="auto">
            <a:xfrm>
              <a:off x="3404" y="1843"/>
              <a:ext cx="24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75A</a:t>
              </a:r>
              <a:r>
                <a:rPr lang="ko-KR" altLang="en-US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이하</a:t>
              </a:r>
              <a:endParaRPr lang="ko-KR" altLang="en-US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46" name="Rectangle 598"/>
            <p:cNvSpPr>
              <a:spLocks noChangeArrowheads="1"/>
            </p:cNvSpPr>
            <p:nvPr/>
          </p:nvSpPr>
          <p:spPr bwMode="auto">
            <a:xfrm>
              <a:off x="3663" y="1816"/>
              <a:ext cx="400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7" name="Rectangle 599"/>
            <p:cNvSpPr>
              <a:spLocks noChangeArrowheads="1"/>
            </p:cNvSpPr>
            <p:nvPr/>
          </p:nvSpPr>
          <p:spPr bwMode="auto">
            <a:xfrm>
              <a:off x="3844" y="1843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2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48" name="Rectangle 600"/>
            <p:cNvSpPr>
              <a:spLocks noChangeArrowheads="1"/>
            </p:cNvSpPr>
            <p:nvPr/>
          </p:nvSpPr>
          <p:spPr bwMode="auto">
            <a:xfrm>
              <a:off x="4063" y="1816"/>
              <a:ext cx="543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9" name="Rectangle 601"/>
            <p:cNvSpPr>
              <a:spLocks noChangeArrowheads="1"/>
            </p:cNvSpPr>
            <p:nvPr/>
          </p:nvSpPr>
          <p:spPr bwMode="auto">
            <a:xfrm>
              <a:off x="4269" y="1843"/>
              <a:ext cx="9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1-2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50" name="Rectangle 602"/>
            <p:cNvSpPr>
              <a:spLocks noChangeArrowheads="1"/>
            </p:cNvSpPr>
            <p:nvPr/>
          </p:nvSpPr>
          <p:spPr bwMode="auto">
            <a:xfrm>
              <a:off x="4606" y="1816"/>
              <a:ext cx="719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1" name="Rectangle 603"/>
            <p:cNvSpPr>
              <a:spLocks noChangeArrowheads="1"/>
            </p:cNvSpPr>
            <p:nvPr/>
          </p:nvSpPr>
          <p:spPr bwMode="auto">
            <a:xfrm>
              <a:off x="4724" y="1843"/>
              <a:ext cx="437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4.5kW ~ 7.5kW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52" name="Rectangle 604"/>
            <p:cNvSpPr>
              <a:spLocks noChangeArrowheads="1"/>
            </p:cNvSpPr>
            <p:nvPr/>
          </p:nvSpPr>
          <p:spPr bwMode="auto">
            <a:xfrm>
              <a:off x="3264" y="1943"/>
              <a:ext cx="399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3" name="Rectangle 605"/>
            <p:cNvSpPr>
              <a:spLocks noChangeArrowheads="1"/>
            </p:cNvSpPr>
            <p:nvPr/>
          </p:nvSpPr>
          <p:spPr bwMode="auto">
            <a:xfrm>
              <a:off x="3386" y="1970"/>
              <a:ext cx="15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100A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54" name="Rectangle 606"/>
            <p:cNvSpPr>
              <a:spLocks noChangeArrowheads="1"/>
            </p:cNvSpPr>
            <p:nvPr/>
          </p:nvSpPr>
          <p:spPr bwMode="auto">
            <a:xfrm>
              <a:off x="3663" y="1943"/>
              <a:ext cx="400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5" name="Rectangle 607"/>
            <p:cNvSpPr>
              <a:spLocks noChangeArrowheads="1"/>
            </p:cNvSpPr>
            <p:nvPr/>
          </p:nvSpPr>
          <p:spPr bwMode="auto">
            <a:xfrm>
              <a:off x="3844" y="1970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2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56" name="Rectangle 608"/>
            <p:cNvSpPr>
              <a:spLocks noChangeArrowheads="1"/>
            </p:cNvSpPr>
            <p:nvPr/>
          </p:nvSpPr>
          <p:spPr bwMode="auto">
            <a:xfrm>
              <a:off x="4063" y="1943"/>
              <a:ext cx="543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7" name="Rectangle 609"/>
            <p:cNvSpPr>
              <a:spLocks noChangeArrowheads="1"/>
            </p:cNvSpPr>
            <p:nvPr/>
          </p:nvSpPr>
          <p:spPr bwMode="auto">
            <a:xfrm>
              <a:off x="4269" y="1970"/>
              <a:ext cx="9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3-4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58" name="Rectangle 610"/>
            <p:cNvSpPr>
              <a:spLocks noChangeArrowheads="1"/>
            </p:cNvSpPr>
            <p:nvPr/>
          </p:nvSpPr>
          <p:spPr bwMode="auto">
            <a:xfrm>
              <a:off x="4606" y="1943"/>
              <a:ext cx="719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9" name="Rectangle 611"/>
            <p:cNvSpPr>
              <a:spLocks noChangeArrowheads="1"/>
            </p:cNvSpPr>
            <p:nvPr/>
          </p:nvSpPr>
          <p:spPr bwMode="auto">
            <a:xfrm>
              <a:off x="4735" y="1970"/>
              <a:ext cx="419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9.5kW ~ 11kW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60" name="Rectangle 612"/>
            <p:cNvSpPr>
              <a:spLocks noChangeArrowheads="1"/>
            </p:cNvSpPr>
            <p:nvPr/>
          </p:nvSpPr>
          <p:spPr bwMode="auto">
            <a:xfrm>
              <a:off x="3264" y="2070"/>
              <a:ext cx="399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1" name="Rectangle 613"/>
            <p:cNvSpPr>
              <a:spLocks noChangeArrowheads="1"/>
            </p:cNvSpPr>
            <p:nvPr/>
          </p:nvSpPr>
          <p:spPr bwMode="auto">
            <a:xfrm>
              <a:off x="3386" y="2097"/>
              <a:ext cx="15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150A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62" name="Rectangle 614"/>
            <p:cNvSpPr>
              <a:spLocks noChangeArrowheads="1"/>
            </p:cNvSpPr>
            <p:nvPr/>
          </p:nvSpPr>
          <p:spPr bwMode="auto">
            <a:xfrm>
              <a:off x="3663" y="2070"/>
              <a:ext cx="400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3" name="Rectangle 615"/>
            <p:cNvSpPr>
              <a:spLocks noChangeArrowheads="1"/>
            </p:cNvSpPr>
            <p:nvPr/>
          </p:nvSpPr>
          <p:spPr bwMode="auto">
            <a:xfrm>
              <a:off x="3844" y="2097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64" name="Rectangle 616"/>
            <p:cNvSpPr>
              <a:spLocks noChangeArrowheads="1"/>
            </p:cNvSpPr>
            <p:nvPr/>
          </p:nvSpPr>
          <p:spPr bwMode="auto">
            <a:xfrm>
              <a:off x="4063" y="2070"/>
              <a:ext cx="543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5" name="Rectangle 617"/>
            <p:cNvSpPr>
              <a:spLocks noChangeArrowheads="1"/>
            </p:cNvSpPr>
            <p:nvPr/>
          </p:nvSpPr>
          <p:spPr bwMode="auto">
            <a:xfrm>
              <a:off x="4269" y="2097"/>
              <a:ext cx="9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1-2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66" name="Rectangle 618"/>
            <p:cNvSpPr>
              <a:spLocks noChangeArrowheads="1"/>
            </p:cNvSpPr>
            <p:nvPr/>
          </p:nvSpPr>
          <p:spPr bwMode="auto">
            <a:xfrm>
              <a:off x="4606" y="2070"/>
              <a:ext cx="719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7" name="Rectangle 619"/>
            <p:cNvSpPr>
              <a:spLocks noChangeArrowheads="1"/>
            </p:cNvSpPr>
            <p:nvPr/>
          </p:nvSpPr>
          <p:spPr bwMode="auto">
            <a:xfrm>
              <a:off x="4748" y="2097"/>
              <a:ext cx="40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13kW ~ 15kW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68" name="Rectangle 620"/>
            <p:cNvSpPr>
              <a:spLocks noChangeArrowheads="1"/>
            </p:cNvSpPr>
            <p:nvPr/>
          </p:nvSpPr>
          <p:spPr bwMode="auto">
            <a:xfrm>
              <a:off x="3264" y="2192"/>
              <a:ext cx="400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9" name="Rectangle 621"/>
            <p:cNvSpPr>
              <a:spLocks noChangeArrowheads="1"/>
            </p:cNvSpPr>
            <p:nvPr/>
          </p:nvSpPr>
          <p:spPr bwMode="auto">
            <a:xfrm>
              <a:off x="3390" y="2221"/>
              <a:ext cx="15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200A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70" name="Rectangle 622"/>
            <p:cNvSpPr>
              <a:spLocks noChangeArrowheads="1"/>
            </p:cNvSpPr>
            <p:nvPr/>
          </p:nvSpPr>
          <p:spPr bwMode="auto">
            <a:xfrm>
              <a:off x="3664" y="2191"/>
              <a:ext cx="400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71" name="Rectangle 623"/>
            <p:cNvSpPr>
              <a:spLocks noChangeArrowheads="1"/>
            </p:cNvSpPr>
            <p:nvPr/>
          </p:nvSpPr>
          <p:spPr bwMode="auto">
            <a:xfrm>
              <a:off x="3848" y="2221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72" name="Rectangle 624"/>
            <p:cNvSpPr>
              <a:spLocks noChangeArrowheads="1"/>
            </p:cNvSpPr>
            <p:nvPr/>
          </p:nvSpPr>
          <p:spPr bwMode="auto">
            <a:xfrm>
              <a:off x="4063" y="2192"/>
              <a:ext cx="543" cy="125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73" name="Rectangle 625"/>
            <p:cNvSpPr>
              <a:spLocks noChangeArrowheads="1"/>
            </p:cNvSpPr>
            <p:nvPr/>
          </p:nvSpPr>
          <p:spPr bwMode="auto">
            <a:xfrm>
              <a:off x="4273" y="2221"/>
              <a:ext cx="9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3-4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674" name="Rectangle 626"/>
            <p:cNvSpPr>
              <a:spLocks noChangeArrowheads="1"/>
            </p:cNvSpPr>
            <p:nvPr/>
          </p:nvSpPr>
          <p:spPr bwMode="auto">
            <a:xfrm>
              <a:off x="4605" y="2191"/>
              <a:ext cx="720" cy="12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75" name="Rectangle 627"/>
            <p:cNvSpPr>
              <a:spLocks noChangeArrowheads="1"/>
            </p:cNvSpPr>
            <p:nvPr/>
          </p:nvSpPr>
          <p:spPr bwMode="auto">
            <a:xfrm>
              <a:off x="4752" y="2221"/>
              <a:ext cx="40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18kW ~ 22kW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19088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00088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19088"/>
            <a:ext cx="0" cy="376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19088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25438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25438"/>
            <a:ext cx="0" cy="376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27025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458913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395288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31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776288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0" y="1538288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5080000" y="39528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7432675" y="377825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6202363" y="319088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1143000" y="395288"/>
            <a:ext cx="37338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인버터 과전압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[ER_INV_DC_LINK_OV]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457200" y="776288"/>
            <a:ext cx="44958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DC LINK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770V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이상인 상태가 검출된 경우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인버터 소자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콘덴서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IPM, IGBT)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소손을 방지하기 위하여 스위칭을 중단함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0" y="5500688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4953000" y="776288"/>
            <a:ext cx="4038600" cy="607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검출직후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LINK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 전압을 측정하여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770V±60V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       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전압이 측정되는 지 확인할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770V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근처의 전압이 측정되지 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않으면  과전압 설정용 가변저항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(OV)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위치가 흑색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MARKING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된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위치에 있는지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.(DPP-111,121,131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가변 저항 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( 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R31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양단전압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DPP-12X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OV+(TP80)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N9XL(TP71)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양단 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DPP-13X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TE40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TE100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양단 전압이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DPP-101,120,130 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의 경우 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8.02±0.5[V]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범위에 있고	</a:t>
            </a:r>
          </a:p>
          <a:p>
            <a:pPr defTabSz="873125">
              <a:lnSpc>
                <a:spcPct val="110000"/>
              </a:lnSpc>
            </a:pP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   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DPP-111,121,131 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의 경우 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7.9±0.5[V]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범위에 있을것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.)</a:t>
            </a:r>
          </a:p>
          <a:p>
            <a:pPr defTabSz="873125">
              <a:lnSpc>
                <a:spcPct val="110000"/>
              </a:lnSpc>
            </a:pPr>
            <a:r>
              <a:rPr lang="en-US" altLang="ko-KR" sz="1000"/>
              <a:t>      (DPP-111,121,131</a:t>
            </a:r>
            <a:r>
              <a:rPr lang="ko-KR" altLang="en-US" sz="1000"/>
              <a:t>의 경우 회생전압과 과전압의 차이가 </a:t>
            </a:r>
            <a:r>
              <a:rPr lang="en-US" altLang="ko-KR" sz="1000"/>
              <a:t>0.25~0.36V</a:t>
            </a:r>
          </a:p>
          <a:p>
            <a:pPr defTabSz="873125">
              <a:lnSpc>
                <a:spcPct val="120000"/>
              </a:lnSpc>
            </a:pPr>
            <a:r>
              <a:rPr lang="en-US" altLang="ko-KR" sz="1000"/>
              <a:t>        </a:t>
            </a:r>
            <a:r>
              <a:rPr lang="ko-KR" altLang="en-US" sz="1000"/>
              <a:t>사이에 있을 것</a:t>
            </a:r>
            <a:r>
              <a:rPr lang="en-US" altLang="ko-KR" sz="1000"/>
              <a:t>.)</a:t>
            </a:r>
            <a:r>
              <a:rPr lang="en-US" altLang="ko-KR"/>
              <a:t> 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  </a:t>
            </a:r>
          </a:p>
          <a:p>
            <a:pPr defTabSz="873125"/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정상 위치인 경우에는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 STACK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결선불량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DPP- 1XX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불량임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/>
            <a:r>
              <a:rPr lang="en-US" altLang="ko-KR" sz="1000">
                <a:latin typeface="Arial" charset="0"/>
                <a:ea typeface="굴림체" pitchFamily="49" charset="-127"/>
              </a:rPr>
              <a:t>5.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회생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정상적으로 동작되는 지 확인  할 것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회생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 참조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회생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 시 과전압  발생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CP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입력전원이 정상치인지 확인할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E/L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운행중이 않을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31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검출되면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DPC- 1XX B/D 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 , GA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커넥터를 확인하고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 B/D VA, GA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13,14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연결여부를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  (Short Check-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연결되어 있으면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).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LINK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전압이 방전되면 회생 저항부의 저항이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정상인지 체크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 b="1">
                <a:latin typeface="Arial" charset="0"/>
                <a:ea typeface="굴림체" pitchFamily="49" charset="-127"/>
              </a:rPr>
              <a:t>*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주의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: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전원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후라도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DC LINK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단에 전압이 남아 있으므로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 b="1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DPP-1XX B/D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LED(CHG)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가 완전히 소등된 후 전압계로 전압을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 b="1">
                <a:latin typeface="Arial" charset="0"/>
                <a:ea typeface="굴림체" pitchFamily="49" charset="-127"/>
              </a:rPr>
              <a:t>  체크 하여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50V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이하임을 확인한 후 조치 할 것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.</a:t>
            </a:r>
            <a:endParaRPr lang="en-US" altLang="ko-KR" sz="1000">
              <a:latin typeface="Arial" charset="0"/>
              <a:ea typeface="굴림체" pitchFamily="49" charset="-127"/>
            </a:endParaRPr>
          </a:p>
          <a:p>
            <a:pPr algn="just" defTabSz="873125" eaLnBrk="0" latinLnBrk="0" hangingPunct="0">
              <a:lnSpc>
                <a:spcPct val="150000"/>
              </a:lnSpc>
            </a:pPr>
            <a:endParaRPr lang="en-US" altLang="ko-KR" sz="10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en-US" altLang="ko-KR" sz="900">
              <a:latin typeface="Arial" charset="0"/>
              <a:ea typeface="굴림체" pitchFamily="49" charset="-127"/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5805488"/>
            <a:ext cx="47244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278" tIns="43640" rIns="87278" bIns="43640">
            <a:spAutoFit/>
          </a:bodyPr>
          <a:lstStyle/>
          <a:p>
            <a:pPr defTabSz="873125" latinLnBrk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DPC-1XX(INV)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상태  확인 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 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확인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 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각종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(GW, GP, GX)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상태 확인할 것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100013" y="1995488"/>
            <a:ext cx="4718050" cy="2182812"/>
            <a:chOff x="63" y="1296"/>
            <a:chExt cx="2972" cy="1375"/>
          </a:xfrm>
        </p:grpSpPr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63" y="1452"/>
              <a:ext cx="2816" cy="1219"/>
              <a:chOff x="64" y="1452"/>
              <a:chExt cx="2815" cy="1219"/>
            </a:xfrm>
          </p:grpSpPr>
          <p:sp>
            <p:nvSpPr>
              <p:cNvPr id="2071" name="Freeform 23"/>
              <p:cNvSpPr>
                <a:spLocks/>
              </p:cNvSpPr>
              <p:nvPr/>
            </p:nvSpPr>
            <p:spPr bwMode="auto">
              <a:xfrm>
                <a:off x="2434" y="1624"/>
                <a:ext cx="445" cy="143"/>
              </a:xfrm>
              <a:custGeom>
                <a:avLst/>
                <a:gdLst/>
                <a:ahLst/>
                <a:cxnLst>
                  <a:cxn ang="0">
                    <a:pos x="377" y="143"/>
                  </a:cxn>
                  <a:cxn ang="0">
                    <a:pos x="392" y="140"/>
                  </a:cxn>
                  <a:cxn ang="0">
                    <a:pos x="407" y="136"/>
                  </a:cxn>
                  <a:cxn ang="0">
                    <a:pos x="419" y="128"/>
                  </a:cxn>
                  <a:cxn ang="0">
                    <a:pos x="431" y="117"/>
                  </a:cxn>
                  <a:cxn ang="0">
                    <a:pos x="439" y="103"/>
                  </a:cxn>
                  <a:cxn ang="0">
                    <a:pos x="444" y="90"/>
                  </a:cxn>
                  <a:cxn ang="0">
                    <a:pos x="445" y="75"/>
                  </a:cxn>
                  <a:cxn ang="0">
                    <a:pos x="445" y="68"/>
                  </a:cxn>
                  <a:cxn ang="0">
                    <a:pos x="444" y="53"/>
                  </a:cxn>
                  <a:cxn ang="0">
                    <a:pos x="439" y="38"/>
                  </a:cxn>
                  <a:cxn ang="0">
                    <a:pos x="431" y="25"/>
                  </a:cxn>
                  <a:cxn ang="0">
                    <a:pos x="419" y="15"/>
                  </a:cxn>
                  <a:cxn ang="0">
                    <a:pos x="407" y="7"/>
                  </a:cxn>
                  <a:cxn ang="0">
                    <a:pos x="392" y="1"/>
                  </a:cxn>
                  <a:cxn ang="0">
                    <a:pos x="377" y="0"/>
                  </a:cxn>
                  <a:cxn ang="0">
                    <a:pos x="68" y="0"/>
                  </a:cxn>
                  <a:cxn ang="0">
                    <a:pos x="53" y="1"/>
                  </a:cxn>
                  <a:cxn ang="0">
                    <a:pos x="38" y="7"/>
                  </a:cxn>
                  <a:cxn ang="0">
                    <a:pos x="25" y="15"/>
                  </a:cxn>
                  <a:cxn ang="0">
                    <a:pos x="15" y="25"/>
                  </a:cxn>
                  <a:cxn ang="0">
                    <a:pos x="7" y="38"/>
                  </a:cxn>
                  <a:cxn ang="0">
                    <a:pos x="1" y="53"/>
                  </a:cxn>
                  <a:cxn ang="0">
                    <a:pos x="0" y="68"/>
                  </a:cxn>
                  <a:cxn ang="0">
                    <a:pos x="0" y="75"/>
                  </a:cxn>
                  <a:cxn ang="0">
                    <a:pos x="1" y="90"/>
                  </a:cxn>
                  <a:cxn ang="0">
                    <a:pos x="7" y="103"/>
                  </a:cxn>
                  <a:cxn ang="0">
                    <a:pos x="15" y="117"/>
                  </a:cxn>
                  <a:cxn ang="0">
                    <a:pos x="25" y="128"/>
                  </a:cxn>
                  <a:cxn ang="0">
                    <a:pos x="38" y="136"/>
                  </a:cxn>
                  <a:cxn ang="0">
                    <a:pos x="53" y="140"/>
                  </a:cxn>
                  <a:cxn ang="0">
                    <a:pos x="68" y="143"/>
                  </a:cxn>
                  <a:cxn ang="0">
                    <a:pos x="377" y="143"/>
                  </a:cxn>
                </a:cxnLst>
                <a:rect l="0" t="0" r="r" b="b"/>
                <a:pathLst>
                  <a:path w="445" h="143">
                    <a:moveTo>
                      <a:pt x="377" y="143"/>
                    </a:moveTo>
                    <a:lnTo>
                      <a:pt x="392" y="140"/>
                    </a:lnTo>
                    <a:lnTo>
                      <a:pt x="407" y="136"/>
                    </a:lnTo>
                    <a:lnTo>
                      <a:pt x="419" y="128"/>
                    </a:lnTo>
                    <a:lnTo>
                      <a:pt x="431" y="117"/>
                    </a:lnTo>
                    <a:lnTo>
                      <a:pt x="439" y="103"/>
                    </a:lnTo>
                    <a:lnTo>
                      <a:pt x="444" y="90"/>
                    </a:lnTo>
                    <a:lnTo>
                      <a:pt x="445" y="75"/>
                    </a:lnTo>
                    <a:lnTo>
                      <a:pt x="445" y="68"/>
                    </a:lnTo>
                    <a:lnTo>
                      <a:pt x="444" y="53"/>
                    </a:lnTo>
                    <a:lnTo>
                      <a:pt x="439" y="38"/>
                    </a:lnTo>
                    <a:lnTo>
                      <a:pt x="431" y="25"/>
                    </a:lnTo>
                    <a:lnTo>
                      <a:pt x="419" y="15"/>
                    </a:lnTo>
                    <a:lnTo>
                      <a:pt x="407" y="7"/>
                    </a:lnTo>
                    <a:lnTo>
                      <a:pt x="392" y="1"/>
                    </a:lnTo>
                    <a:lnTo>
                      <a:pt x="377" y="0"/>
                    </a:lnTo>
                    <a:lnTo>
                      <a:pt x="68" y="0"/>
                    </a:lnTo>
                    <a:lnTo>
                      <a:pt x="53" y="1"/>
                    </a:lnTo>
                    <a:lnTo>
                      <a:pt x="38" y="7"/>
                    </a:lnTo>
                    <a:lnTo>
                      <a:pt x="25" y="15"/>
                    </a:lnTo>
                    <a:lnTo>
                      <a:pt x="15" y="25"/>
                    </a:lnTo>
                    <a:lnTo>
                      <a:pt x="7" y="38"/>
                    </a:lnTo>
                    <a:lnTo>
                      <a:pt x="1" y="53"/>
                    </a:lnTo>
                    <a:lnTo>
                      <a:pt x="0" y="68"/>
                    </a:lnTo>
                    <a:lnTo>
                      <a:pt x="0" y="75"/>
                    </a:lnTo>
                    <a:lnTo>
                      <a:pt x="1" y="90"/>
                    </a:lnTo>
                    <a:lnTo>
                      <a:pt x="7" y="103"/>
                    </a:lnTo>
                    <a:lnTo>
                      <a:pt x="15" y="117"/>
                    </a:lnTo>
                    <a:lnTo>
                      <a:pt x="25" y="128"/>
                    </a:lnTo>
                    <a:lnTo>
                      <a:pt x="38" y="136"/>
                    </a:lnTo>
                    <a:lnTo>
                      <a:pt x="53" y="140"/>
                    </a:lnTo>
                    <a:lnTo>
                      <a:pt x="68" y="143"/>
                    </a:lnTo>
                    <a:lnTo>
                      <a:pt x="377" y="143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2" name="Rectangle 24"/>
              <p:cNvSpPr>
                <a:spLocks noChangeArrowheads="1"/>
              </p:cNvSpPr>
              <p:nvPr/>
            </p:nvSpPr>
            <p:spPr bwMode="auto">
              <a:xfrm>
                <a:off x="64" y="1452"/>
                <a:ext cx="2249" cy="121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3" name="Line 25"/>
              <p:cNvSpPr>
                <a:spLocks noChangeShapeType="1"/>
              </p:cNvSpPr>
              <p:nvPr/>
            </p:nvSpPr>
            <p:spPr bwMode="auto">
              <a:xfrm>
                <a:off x="6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4" name="Line 26"/>
              <p:cNvSpPr>
                <a:spLocks noChangeShapeType="1"/>
              </p:cNvSpPr>
              <p:nvPr/>
            </p:nvSpPr>
            <p:spPr bwMode="auto">
              <a:xfrm>
                <a:off x="7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5" name="Line 27"/>
              <p:cNvSpPr>
                <a:spLocks noChangeShapeType="1"/>
              </p:cNvSpPr>
              <p:nvPr/>
            </p:nvSpPr>
            <p:spPr bwMode="auto">
              <a:xfrm>
                <a:off x="8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6" name="Line 28"/>
              <p:cNvSpPr>
                <a:spLocks noChangeShapeType="1"/>
              </p:cNvSpPr>
              <p:nvPr/>
            </p:nvSpPr>
            <p:spPr bwMode="auto">
              <a:xfrm>
                <a:off x="9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10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11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11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12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1" name="Line 33"/>
              <p:cNvSpPr>
                <a:spLocks noChangeShapeType="1"/>
              </p:cNvSpPr>
              <p:nvPr/>
            </p:nvSpPr>
            <p:spPr bwMode="auto">
              <a:xfrm>
                <a:off x="13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>
                <a:off x="14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3" name="Line 35"/>
              <p:cNvSpPr>
                <a:spLocks noChangeShapeType="1"/>
              </p:cNvSpPr>
              <p:nvPr/>
            </p:nvSpPr>
            <p:spPr bwMode="auto">
              <a:xfrm>
                <a:off x="15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4" name="Line 36"/>
              <p:cNvSpPr>
                <a:spLocks noChangeShapeType="1"/>
              </p:cNvSpPr>
              <p:nvPr/>
            </p:nvSpPr>
            <p:spPr bwMode="auto">
              <a:xfrm>
                <a:off x="16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5" name="Line 37"/>
              <p:cNvSpPr>
                <a:spLocks noChangeShapeType="1"/>
              </p:cNvSpPr>
              <p:nvPr/>
            </p:nvSpPr>
            <p:spPr bwMode="auto">
              <a:xfrm>
                <a:off x="17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6" name="Line 38"/>
              <p:cNvSpPr>
                <a:spLocks noChangeShapeType="1"/>
              </p:cNvSpPr>
              <p:nvPr/>
            </p:nvSpPr>
            <p:spPr bwMode="auto">
              <a:xfrm>
                <a:off x="18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7" name="Line 39"/>
              <p:cNvSpPr>
                <a:spLocks noChangeShapeType="1"/>
              </p:cNvSpPr>
              <p:nvPr/>
            </p:nvSpPr>
            <p:spPr bwMode="auto">
              <a:xfrm>
                <a:off x="19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8" name="Line 40"/>
              <p:cNvSpPr>
                <a:spLocks noChangeShapeType="1"/>
              </p:cNvSpPr>
              <p:nvPr/>
            </p:nvSpPr>
            <p:spPr bwMode="auto">
              <a:xfrm>
                <a:off x="20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9" name="Line 41"/>
              <p:cNvSpPr>
                <a:spLocks noChangeShapeType="1"/>
              </p:cNvSpPr>
              <p:nvPr/>
            </p:nvSpPr>
            <p:spPr bwMode="auto">
              <a:xfrm>
                <a:off x="21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>
                <a:off x="22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>
                <a:off x="23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23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24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4" name="Line 46"/>
              <p:cNvSpPr>
                <a:spLocks noChangeShapeType="1"/>
              </p:cNvSpPr>
              <p:nvPr/>
            </p:nvSpPr>
            <p:spPr bwMode="auto">
              <a:xfrm>
                <a:off x="25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>
                <a:off x="26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6" name="Line 48"/>
              <p:cNvSpPr>
                <a:spLocks noChangeShapeType="1"/>
              </p:cNvSpPr>
              <p:nvPr/>
            </p:nvSpPr>
            <p:spPr bwMode="auto">
              <a:xfrm>
                <a:off x="27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7" name="Line 49"/>
              <p:cNvSpPr>
                <a:spLocks noChangeShapeType="1"/>
              </p:cNvSpPr>
              <p:nvPr/>
            </p:nvSpPr>
            <p:spPr bwMode="auto">
              <a:xfrm>
                <a:off x="28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8" name="Line 50"/>
              <p:cNvSpPr>
                <a:spLocks noChangeShapeType="1"/>
              </p:cNvSpPr>
              <p:nvPr/>
            </p:nvSpPr>
            <p:spPr bwMode="auto">
              <a:xfrm>
                <a:off x="29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9" name="Line 51"/>
              <p:cNvSpPr>
                <a:spLocks noChangeShapeType="1"/>
              </p:cNvSpPr>
              <p:nvPr/>
            </p:nvSpPr>
            <p:spPr bwMode="auto">
              <a:xfrm>
                <a:off x="30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0" name="Line 52"/>
              <p:cNvSpPr>
                <a:spLocks noChangeShapeType="1"/>
              </p:cNvSpPr>
              <p:nvPr/>
            </p:nvSpPr>
            <p:spPr bwMode="auto">
              <a:xfrm>
                <a:off x="31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1" name="Line 53"/>
              <p:cNvSpPr>
                <a:spLocks noChangeShapeType="1"/>
              </p:cNvSpPr>
              <p:nvPr/>
            </p:nvSpPr>
            <p:spPr bwMode="auto">
              <a:xfrm>
                <a:off x="32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>
                <a:off x="33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3" name="Line 55"/>
              <p:cNvSpPr>
                <a:spLocks noChangeShapeType="1"/>
              </p:cNvSpPr>
              <p:nvPr/>
            </p:nvSpPr>
            <p:spPr bwMode="auto">
              <a:xfrm>
                <a:off x="34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4" name="Line 56"/>
              <p:cNvSpPr>
                <a:spLocks noChangeShapeType="1"/>
              </p:cNvSpPr>
              <p:nvPr/>
            </p:nvSpPr>
            <p:spPr bwMode="auto">
              <a:xfrm>
                <a:off x="35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5" name="Line 57"/>
              <p:cNvSpPr>
                <a:spLocks noChangeShapeType="1"/>
              </p:cNvSpPr>
              <p:nvPr/>
            </p:nvSpPr>
            <p:spPr bwMode="auto">
              <a:xfrm>
                <a:off x="35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>
                <a:off x="36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>
                <a:off x="37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>
                <a:off x="38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>
                <a:off x="39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>
                <a:off x="40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>
                <a:off x="41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42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>
                <a:off x="43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44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>
                <a:off x="45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>
                <a:off x="46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>
                <a:off x="47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>
                <a:off x="47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>
                <a:off x="48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>
                <a:off x="49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>
                <a:off x="50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2" name="Line 74"/>
              <p:cNvSpPr>
                <a:spLocks noChangeShapeType="1"/>
              </p:cNvSpPr>
              <p:nvPr/>
            </p:nvSpPr>
            <p:spPr bwMode="auto">
              <a:xfrm>
                <a:off x="51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>
                <a:off x="52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4" name="Line 76"/>
              <p:cNvSpPr>
                <a:spLocks noChangeShapeType="1"/>
              </p:cNvSpPr>
              <p:nvPr/>
            </p:nvSpPr>
            <p:spPr bwMode="auto">
              <a:xfrm>
                <a:off x="53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5" name="Line 77"/>
              <p:cNvSpPr>
                <a:spLocks noChangeShapeType="1"/>
              </p:cNvSpPr>
              <p:nvPr/>
            </p:nvSpPr>
            <p:spPr bwMode="auto">
              <a:xfrm>
                <a:off x="54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6" name="Line 78"/>
              <p:cNvSpPr>
                <a:spLocks noChangeShapeType="1"/>
              </p:cNvSpPr>
              <p:nvPr/>
            </p:nvSpPr>
            <p:spPr bwMode="auto">
              <a:xfrm>
                <a:off x="55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7" name="Line 79"/>
              <p:cNvSpPr>
                <a:spLocks noChangeShapeType="1"/>
              </p:cNvSpPr>
              <p:nvPr/>
            </p:nvSpPr>
            <p:spPr bwMode="auto">
              <a:xfrm>
                <a:off x="56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>
                <a:off x="57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9" name="Line 81"/>
              <p:cNvSpPr>
                <a:spLocks noChangeShapeType="1"/>
              </p:cNvSpPr>
              <p:nvPr/>
            </p:nvSpPr>
            <p:spPr bwMode="auto">
              <a:xfrm>
                <a:off x="58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>
                <a:off x="58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>
                <a:off x="59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>
                <a:off x="60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>
                <a:off x="61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4" name="Line 86"/>
              <p:cNvSpPr>
                <a:spLocks noChangeShapeType="1"/>
              </p:cNvSpPr>
              <p:nvPr/>
            </p:nvSpPr>
            <p:spPr bwMode="auto">
              <a:xfrm>
                <a:off x="62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5" name="Line 87"/>
              <p:cNvSpPr>
                <a:spLocks noChangeShapeType="1"/>
              </p:cNvSpPr>
              <p:nvPr/>
            </p:nvSpPr>
            <p:spPr bwMode="auto">
              <a:xfrm>
                <a:off x="63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6" name="Line 88"/>
              <p:cNvSpPr>
                <a:spLocks noChangeShapeType="1"/>
              </p:cNvSpPr>
              <p:nvPr/>
            </p:nvSpPr>
            <p:spPr bwMode="auto">
              <a:xfrm>
                <a:off x="64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7" name="Line 89"/>
              <p:cNvSpPr>
                <a:spLocks noChangeShapeType="1"/>
              </p:cNvSpPr>
              <p:nvPr/>
            </p:nvSpPr>
            <p:spPr bwMode="auto">
              <a:xfrm>
                <a:off x="65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8" name="Line 90"/>
              <p:cNvSpPr>
                <a:spLocks noChangeShapeType="1"/>
              </p:cNvSpPr>
              <p:nvPr/>
            </p:nvSpPr>
            <p:spPr bwMode="auto">
              <a:xfrm>
                <a:off x="66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>
                <a:off x="67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>
                <a:off x="68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1" name="Line 93"/>
              <p:cNvSpPr>
                <a:spLocks noChangeShapeType="1"/>
              </p:cNvSpPr>
              <p:nvPr/>
            </p:nvSpPr>
            <p:spPr bwMode="auto">
              <a:xfrm>
                <a:off x="69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>
                <a:off x="70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>
                <a:off x="70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>
                <a:off x="71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>
                <a:off x="72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>
                <a:off x="73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>
                <a:off x="74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>
                <a:off x="75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76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0" name="Line 102"/>
              <p:cNvSpPr>
                <a:spLocks noChangeShapeType="1"/>
              </p:cNvSpPr>
              <p:nvPr/>
            </p:nvSpPr>
            <p:spPr bwMode="auto">
              <a:xfrm>
                <a:off x="77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1" name="Line 103"/>
              <p:cNvSpPr>
                <a:spLocks noChangeShapeType="1"/>
              </p:cNvSpPr>
              <p:nvPr/>
            </p:nvSpPr>
            <p:spPr bwMode="auto">
              <a:xfrm>
                <a:off x="78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2" name="Line 104"/>
              <p:cNvSpPr>
                <a:spLocks noChangeShapeType="1"/>
              </p:cNvSpPr>
              <p:nvPr/>
            </p:nvSpPr>
            <p:spPr bwMode="auto">
              <a:xfrm>
                <a:off x="79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3" name="Line 105"/>
              <p:cNvSpPr>
                <a:spLocks noChangeShapeType="1"/>
              </p:cNvSpPr>
              <p:nvPr/>
            </p:nvSpPr>
            <p:spPr bwMode="auto">
              <a:xfrm>
                <a:off x="80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4" name="Line 106"/>
              <p:cNvSpPr>
                <a:spLocks noChangeShapeType="1"/>
              </p:cNvSpPr>
              <p:nvPr/>
            </p:nvSpPr>
            <p:spPr bwMode="auto">
              <a:xfrm>
                <a:off x="81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5" name="Line 107"/>
              <p:cNvSpPr>
                <a:spLocks noChangeShapeType="1"/>
              </p:cNvSpPr>
              <p:nvPr/>
            </p:nvSpPr>
            <p:spPr bwMode="auto">
              <a:xfrm>
                <a:off x="82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6" name="Line 108"/>
              <p:cNvSpPr>
                <a:spLocks noChangeShapeType="1"/>
              </p:cNvSpPr>
              <p:nvPr/>
            </p:nvSpPr>
            <p:spPr bwMode="auto">
              <a:xfrm>
                <a:off x="82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7" name="Line 109"/>
              <p:cNvSpPr>
                <a:spLocks noChangeShapeType="1"/>
              </p:cNvSpPr>
              <p:nvPr/>
            </p:nvSpPr>
            <p:spPr bwMode="auto">
              <a:xfrm>
                <a:off x="83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auto">
              <a:xfrm>
                <a:off x="84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9" name="Line 111"/>
              <p:cNvSpPr>
                <a:spLocks noChangeShapeType="1"/>
              </p:cNvSpPr>
              <p:nvPr/>
            </p:nvSpPr>
            <p:spPr bwMode="auto">
              <a:xfrm>
                <a:off x="85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0" name="Line 112"/>
              <p:cNvSpPr>
                <a:spLocks noChangeShapeType="1"/>
              </p:cNvSpPr>
              <p:nvPr/>
            </p:nvSpPr>
            <p:spPr bwMode="auto">
              <a:xfrm>
                <a:off x="86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1" name="Line 113"/>
              <p:cNvSpPr>
                <a:spLocks noChangeShapeType="1"/>
              </p:cNvSpPr>
              <p:nvPr/>
            </p:nvSpPr>
            <p:spPr bwMode="auto">
              <a:xfrm>
                <a:off x="87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2" name="Line 114"/>
              <p:cNvSpPr>
                <a:spLocks noChangeShapeType="1"/>
              </p:cNvSpPr>
              <p:nvPr/>
            </p:nvSpPr>
            <p:spPr bwMode="auto">
              <a:xfrm>
                <a:off x="88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3" name="Line 115"/>
              <p:cNvSpPr>
                <a:spLocks noChangeShapeType="1"/>
              </p:cNvSpPr>
              <p:nvPr/>
            </p:nvSpPr>
            <p:spPr bwMode="auto">
              <a:xfrm>
                <a:off x="89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4" name="Line 116"/>
              <p:cNvSpPr>
                <a:spLocks noChangeShapeType="1"/>
              </p:cNvSpPr>
              <p:nvPr/>
            </p:nvSpPr>
            <p:spPr bwMode="auto">
              <a:xfrm>
                <a:off x="90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5" name="Line 117"/>
              <p:cNvSpPr>
                <a:spLocks noChangeShapeType="1"/>
              </p:cNvSpPr>
              <p:nvPr/>
            </p:nvSpPr>
            <p:spPr bwMode="auto">
              <a:xfrm>
                <a:off x="91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>
                <a:off x="92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93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94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94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>
                <a:off x="95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>
                <a:off x="96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>
                <a:off x="97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>
                <a:off x="98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>
                <a:off x="99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>
                <a:off x="100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>
                <a:off x="101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>
                <a:off x="102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>
                <a:off x="103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9" name="Line 131"/>
              <p:cNvSpPr>
                <a:spLocks noChangeShapeType="1"/>
              </p:cNvSpPr>
              <p:nvPr/>
            </p:nvSpPr>
            <p:spPr bwMode="auto">
              <a:xfrm>
                <a:off x="104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0" name="Line 132"/>
              <p:cNvSpPr>
                <a:spLocks noChangeShapeType="1"/>
              </p:cNvSpPr>
              <p:nvPr/>
            </p:nvSpPr>
            <p:spPr bwMode="auto">
              <a:xfrm>
                <a:off x="105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1" name="Line 133"/>
              <p:cNvSpPr>
                <a:spLocks noChangeShapeType="1"/>
              </p:cNvSpPr>
              <p:nvPr/>
            </p:nvSpPr>
            <p:spPr bwMode="auto">
              <a:xfrm>
                <a:off x="106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2" name="Line 134"/>
              <p:cNvSpPr>
                <a:spLocks noChangeShapeType="1"/>
              </p:cNvSpPr>
              <p:nvPr/>
            </p:nvSpPr>
            <p:spPr bwMode="auto">
              <a:xfrm>
                <a:off x="106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3" name="Line 135"/>
              <p:cNvSpPr>
                <a:spLocks noChangeShapeType="1"/>
              </p:cNvSpPr>
              <p:nvPr/>
            </p:nvSpPr>
            <p:spPr bwMode="auto">
              <a:xfrm>
                <a:off x="107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4" name="Line 136"/>
              <p:cNvSpPr>
                <a:spLocks noChangeShapeType="1"/>
              </p:cNvSpPr>
              <p:nvPr/>
            </p:nvSpPr>
            <p:spPr bwMode="auto">
              <a:xfrm>
                <a:off x="108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auto">
              <a:xfrm>
                <a:off x="109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6" name="Line 138"/>
              <p:cNvSpPr>
                <a:spLocks noChangeShapeType="1"/>
              </p:cNvSpPr>
              <p:nvPr/>
            </p:nvSpPr>
            <p:spPr bwMode="auto">
              <a:xfrm>
                <a:off x="110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>
                <a:off x="111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8" name="Line 140"/>
              <p:cNvSpPr>
                <a:spLocks noChangeShapeType="1"/>
              </p:cNvSpPr>
              <p:nvPr/>
            </p:nvSpPr>
            <p:spPr bwMode="auto">
              <a:xfrm>
                <a:off x="112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9" name="Line 141"/>
              <p:cNvSpPr>
                <a:spLocks noChangeShapeType="1"/>
              </p:cNvSpPr>
              <p:nvPr/>
            </p:nvSpPr>
            <p:spPr bwMode="auto">
              <a:xfrm>
                <a:off x="113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0" name="Line 142"/>
              <p:cNvSpPr>
                <a:spLocks noChangeShapeType="1"/>
              </p:cNvSpPr>
              <p:nvPr/>
            </p:nvSpPr>
            <p:spPr bwMode="auto">
              <a:xfrm>
                <a:off x="114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1" name="Line 143"/>
              <p:cNvSpPr>
                <a:spLocks noChangeShapeType="1"/>
              </p:cNvSpPr>
              <p:nvPr/>
            </p:nvSpPr>
            <p:spPr bwMode="auto">
              <a:xfrm>
                <a:off x="115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2" name="Line 144"/>
              <p:cNvSpPr>
                <a:spLocks noChangeShapeType="1"/>
              </p:cNvSpPr>
              <p:nvPr/>
            </p:nvSpPr>
            <p:spPr bwMode="auto">
              <a:xfrm>
                <a:off x="116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3" name="Line 145"/>
              <p:cNvSpPr>
                <a:spLocks noChangeShapeType="1"/>
              </p:cNvSpPr>
              <p:nvPr/>
            </p:nvSpPr>
            <p:spPr bwMode="auto">
              <a:xfrm>
                <a:off x="117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4" name="Line 146"/>
              <p:cNvSpPr>
                <a:spLocks noChangeShapeType="1"/>
              </p:cNvSpPr>
              <p:nvPr/>
            </p:nvSpPr>
            <p:spPr bwMode="auto">
              <a:xfrm>
                <a:off x="117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5" name="Line 147"/>
              <p:cNvSpPr>
                <a:spLocks noChangeShapeType="1"/>
              </p:cNvSpPr>
              <p:nvPr/>
            </p:nvSpPr>
            <p:spPr bwMode="auto">
              <a:xfrm>
                <a:off x="118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6" name="Line 148"/>
              <p:cNvSpPr>
                <a:spLocks noChangeShapeType="1"/>
              </p:cNvSpPr>
              <p:nvPr/>
            </p:nvSpPr>
            <p:spPr bwMode="auto">
              <a:xfrm>
                <a:off x="119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7" name="Line 149"/>
              <p:cNvSpPr>
                <a:spLocks noChangeShapeType="1"/>
              </p:cNvSpPr>
              <p:nvPr/>
            </p:nvSpPr>
            <p:spPr bwMode="auto">
              <a:xfrm>
                <a:off x="120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8" name="Line 150"/>
              <p:cNvSpPr>
                <a:spLocks noChangeShapeType="1"/>
              </p:cNvSpPr>
              <p:nvPr/>
            </p:nvSpPr>
            <p:spPr bwMode="auto">
              <a:xfrm>
                <a:off x="121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9" name="Line 151"/>
              <p:cNvSpPr>
                <a:spLocks noChangeShapeType="1"/>
              </p:cNvSpPr>
              <p:nvPr/>
            </p:nvSpPr>
            <p:spPr bwMode="auto">
              <a:xfrm>
                <a:off x="122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0" name="Line 152"/>
              <p:cNvSpPr>
                <a:spLocks noChangeShapeType="1"/>
              </p:cNvSpPr>
              <p:nvPr/>
            </p:nvSpPr>
            <p:spPr bwMode="auto">
              <a:xfrm>
                <a:off x="123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1" name="Line 153"/>
              <p:cNvSpPr>
                <a:spLocks noChangeShapeType="1"/>
              </p:cNvSpPr>
              <p:nvPr/>
            </p:nvSpPr>
            <p:spPr bwMode="auto">
              <a:xfrm>
                <a:off x="124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2" name="Line 154"/>
              <p:cNvSpPr>
                <a:spLocks noChangeShapeType="1"/>
              </p:cNvSpPr>
              <p:nvPr/>
            </p:nvSpPr>
            <p:spPr bwMode="auto">
              <a:xfrm>
                <a:off x="125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3" name="Line 155"/>
              <p:cNvSpPr>
                <a:spLocks noChangeShapeType="1"/>
              </p:cNvSpPr>
              <p:nvPr/>
            </p:nvSpPr>
            <p:spPr bwMode="auto">
              <a:xfrm>
                <a:off x="126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4" name="Line 156"/>
              <p:cNvSpPr>
                <a:spLocks noChangeShapeType="1"/>
              </p:cNvSpPr>
              <p:nvPr/>
            </p:nvSpPr>
            <p:spPr bwMode="auto">
              <a:xfrm>
                <a:off x="127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5" name="Line 157"/>
              <p:cNvSpPr>
                <a:spLocks noChangeShapeType="1"/>
              </p:cNvSpPr>
              <p:nvPr/>
            </p:nvSpPr>
            <p:spPr bwMode="auto">
              <a:xfrm>
                <a:off x="128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6" name="Line 158"/>
              <p:cNvSpPr>
                <a:spLocks noChangeShapeType="1"/>
              </p:cNvSpPr>
              <p:nvPr/>
            </p:nvSpPr>
            <p:spPr bwMode="auto">
              <a:xfrm>
                <a:off x="129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7" name="Line 159"/>
              <p:cNvSpPr>
                <a:spLocks noChangeShapeType="1"/>
              </p:cNvSpPr>
              <p:nvPr/>
            </p:nvSpPr>
            <p:spPr bwMode="auto">
              <a:xfrm>
                <a:off x="129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8" name="Line 160"/>
              <p:cNvSpPr>
                <a:spLocks noChangeShapeType="1"/>
              </p:cNvSpPr>
              <p:nvPr/>
            </p:nvSpPr>
            <p:spPr bwMode="auto">
              <a:xfrm>
                <a:off x="130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>
                <a:off x="131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0" name="Line 162"/>
              <p:cNvSpPr>
                <a:spLocks noChangeShapeType="1"/>
              </p:cNvSpPr>
              <p:nvPr/>
            </p:nvSpPr>
            <p:spPr bwMode="auto">
              <a:xfrm>
                <a:off x="132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1" name="Line 163"/>
              <p:cNvSpPr>
                <a:spLocks noChangeShapeType="1"/>
              </p:cNvSpPr>
              <p:nvPr/>
            </p:nvSpPr>
            <p:spPr bwMode="auto">
              <a:xfrm>
                <a:off x="133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2" name="Line 164"/>
              <p:cNvSpPr>
                <a:spLocks noChangeShapeType="1"/>
              </p:cNvSpPr>
              <p:nvPr/>
            </p:nvSpPr>
            <p:spPr bwMode="auto">
              <a:xfrm>
                <a:off x="134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3" name="Line 165"/>
              <p:cNvSpPr>
                <a:spLocks noChangeShapeType="1"/>
              </p:cNvSpPr>
              <p:nvPr/>
            </p:nvSpPr>
            <p:spPr bwMode="auto">
              <a:xfrm>
                <a:off x="135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4" name="Line 166"/>
              <p:cNvSpPr>
                <a:spLocks noChangeShapeType="1"/>
              </p:cNvSpPr>
              <p:nvPr/>
            </p:nvSpPr>
            <p:spPr bwMode="auto">
              <a:xfrm>
                <a:off x="136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>
                <a:off x="137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>
                <a:off x="138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>
                <a:off x="139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8" name="Line 170"/>
              <p:cNvSpPr>
                <a:spLocks noChangeShapeType="1"/>
              </p:cNvSpPr>
              <p:nvPr/>
            </p:nvSpPr>
            <p:spPr bwMode="auto">
              <a:xfrm>
                <a:off x="140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>
                <a:off x="141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0" name="Line 172"/>
              <p:cNvSpPr>
                <a:spLocks noChangeShapeType="1"/>
              </p:cNvSpPr>
              <p:nvPr/>
            </p:nvSpPr>
            <p:spPr bwMode="auto">
              <a:xfrm>
                <a:off x="141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1" name="Line 173"/>
              <p:cNvSpPr>
                <a:spLocks noChangeShapeType="1"/>
              </p:cNvSpPr>
              <p:nvPr/>
            </p:nvSpPr>
            <p:spPr bwMode="auto">
              <a:xfrm>
                <a:off x="142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2" name="Line 174"/>
              <p:cNvSpPr>
                <a:spLocks noChangeShapeType="1"/>
              </p:cNvSpPr>
              <p:nvPr/>
            </p:nvSpPr>
            <p:spPr bwMode="auto">
              <a:xfrm>
                <a:off x="143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3" name="Line 175"/>
              <p:cNvSpPr>
                <a:spLocks noChangeShapeType="1"/>
              </p:cNvSpPr>
              <p:nvPr/>
            </p:nvSpPr>
            <p:spPr bwMode="auto">
              <a:xfrm>
                <a:off x="144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4" name="Line 176"/>
              <p:cNvSpPr>
                <a:spLocks noChangeShapeType="1"/>
              </p:cNvSpPr>
              <p:nvPr/>
            </p:nvSpPr>
            <p:spPr bwMode="auto">
              <a:xfrm>
                <a:off x="145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5" name="Line 177"/>
              <p:cNvSpPr>
                <a:spLocks noChangeShapeType="1"/>
              </p:cNvSpPr>
              <p:nvPr/>
            </p:nvSpPr>
            <p:spPr bwMode="auto">
              <a:xfrm>
                <a:off x="146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6" name="Line 178"/>
              <p:cNvSpPr>
                <a:spLocks noChangeShapeType="1"/>
              </p:cNvSpPr>
              <p:nvPr/>
            </p:nvSpPr>
            <p:spPr bwMode="auto">
              <a:xfrm>
                <a:off x="147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7" name="Line 179"/>
              <p:cNvSpPr>
                <a:spLocks noChangeShapeType="1"/>
              </p:cNvSpPr>
              <p:nvPr/>
            </p:nvSpPr>
            <p:spPr bwMode="auto">
              <a:xfrm>
                <a:off x="148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8" name="Line 180"/>
              <p:cNvSpPr>
                <a:spLocks noChangeShapeType="1"/>
              </p:cNvSpPr>
              <p:nvPr/>
            </p:nvSpPr>
            <p:spPr bwMode="auto">
              <a:xfrm>
                <a:off x="149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9" name="Line 181"/>
              <p:cNvSpPr>
                <a:spLocks noChangeShapeType="1"/>
              </p:cNvSpPr>
              <p:nvPr/>
            </p:nvSpPr>
            <p:spPr bwMode="auto">
              <a:xfrm>
                <a:off x="150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0" name="Line 182"/>
              <p:cNvSpPr>
                <a:spLocks noChangeShapeType="1"/>
              </p:cNvSpPr>
              <p:nvPr/>
            </p:nvSpPr>
            <p:spPr bwMode="auto">
              <a:xfrm>
                <a:off x="151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1" name="Line 183"/>
              <p:cNvSpPr>
                <a:spLocks noChangeShapeType="1"/>
              </p:cNvSpPr>
              <p:nvPr/>
            </p:nvSpPr>
            <p:spPr bwMode="auto">
              <a:xfrm>
                <a:off x="152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2" name="Line 184"/>
              <p:cNvSpPr>
                <a:spLocks noChangeShapeType="1"/>
              </p:cNvSpPr>
              <p:nvPr/>
            </p:nvSpPr>
            <p:spPr bwMode="auto">
              <a:xfrm>
                <a:off x="153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3" name="Line 185"/>
              <p:cNvSpPr>
                <a:spLocks noChangeShapeType="1"/>
              </p:cNvSpPr>
              <p:nvPr/>
            </p:nvSpPr>
            <p:spPr bwMode="auto">
              <a:xfrm>
                <a:off x="153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>
                <a:off x="154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5" name="Line 187"/>
              <p:cNvSpPr>
                <a:spLocks noChangeShapeType="1"/>
              </p:cNvSpPr>
              <p:nvPr/>
            </p:nvSpPr>
            <p:spPr bwMode="auto">
              <a:xfrm>
                <a:off x="155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6" name="Line 188"/>
              <p:cNvSpPr>
                <a:spLocks noChangeShapeType="1"/>
              </p:cNvSpPr>
              <p:nvPr/>
            </p:nvSpPr>
            <p:spPr bwMode="auto">
              <a:xfrm>
                <a:off x="156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7" name="Line 189"/>
              <p:cNvSpPr>
                <a:spLocks noChangeShapeType="1"/>
              </p:cNvSpPr>
              <p:nvPr/>
            </p:nvSpPr>
            <p:spPr bwMode="auto">
              <a:xfrm>
                <a:off x="157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8" name="Line 190"/>
              <p:cNvSpPr>
                <a:spLocks noChangeShapeType="1"/>
              </p:cNvSpPr>
              <p:nvPr/>
            </p:nvSpPr>
            <p:spPr bwMode="auto">
              <a:xfrm>
                <a:off x="158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>
                <a:off x="159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0" name="Line 192"/>
              <p:cNvSpPr>
                <a:spLocks noChangeShapeType="1"/>
              </p:cNvSpPr>
              <p:nvPr/>
            </p:nvSpPr>
            <p:spPr bwMode="auto">
              <a:xfrm>
                <a:off x="160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1" name="Line 193"/>
              <p:cNvSpPr>
                <a:spLocks noChangeShapeType="1"/>
              </p:cNvSpPr>
              <p:nvPr/>
            </p:nvSpPr>
            <p:spPr bwMode="auto">
              <a:xfrm>
                <a:off x="161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2" name="Line 194"/>
              <p:cNvSpPr>
                <a:spLocks noChangeShapeType="1"/>
              </p:cNvSpPr>
              <p:nvPr/>
            </p:nvSpPr>
            <p:spPr bwMode="auto">
              <a:xfrm>
                <a:off x="162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3" name="Line 195"/>
              <p:cNvSpPr>
                <a:spLocks noChangeShapeType="1"/>
              </p:cNvSpPr>
              <p:nvPr/>
            </p:nvSpPr>
            <p:spPr bwMode="auto">
              <a:xfrm>
                <a:off x="163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4" name="Line 196"/>
              <p:cNvSpPr>
                <a:spLocks noChangeShapeType="1"/>
              </p:cNvSpPr>
              <p:nvPr/>
            </p:nvSpPr>
            <p:spPr bwMode="auto">
              <a:xfrm>
                <a:off x="164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5" name="Line 197"/>
              <p:cNvSpPr>
                <a:spLocks noChangeShapeType="1"/>
              </p:cNvSpPr>
              <p:nvPr/>
            </p:nvSpPr>
            <p:spPr bwMode="auto">
              <a:xfrm>
                <a:off x="164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6" name="Line 198"/>
              <p:cNvSpPr>
                <a:spLocks noChangeShapeType="1"/>
              </p:cNvSpPr>
              <p:nvPr/>
            </p:nvSpPr>
            <p:spPr bwMode="auto">
              <a:xfrm>
                <a:off x="165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7" name="Line 199"/>
              <p:cNvSpPr>
                <a:spLocks noChangeShapeType="1"/>
              </p:cNvSpPr>
              <p:nvPr/>
            </p:nvSpPr>
            <p:spPr bwMode="auto">
              <a:xfrm>
                <a:off x="166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8" name="Line 200"/>
              <p:cNvSpPr>
                <a:spLocks noChangeShapeType="1"/>
              </p:cNvSpPr>
              <p:nvPr/>
            </p:nvSpPr>
            <p:spPr bwMode="auto">
              <a:xfrm>
                <a:off x="167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9" name="Line 201"/>
              <p:cNvSpPr>
                <a:spLocks noChangeShapeType="1"/>
              </p:cNvSpPr>
              <p:nvPr/>
            </p:nvSpPr>
            <p:spPr bwMode="auto">
              <a:xfrm>
                <a:off x="168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0" name="Line 202"/>
              <p:cNvSpPr>
                <a:spLocks noChangeShapeType="1"/>
              </p:cNvSpPr>
              <p:nvPr/>
            </p:nvSpPr>
            <p:spPr bwMode="auto">
              <a:xfrm>
                <a:off x="169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1" name="Line 203"/>
              <p:cNvSpPr>
                <a:spLocks noChangeShapeType="1"/>
              </p:cNvSpPr>
              <p:nvPr/>
            </p:nvSpPr>
            <p:spPr bwMode="auto">
              <a:xfrm>
                <a:off x="170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2" name="Line 204"/>
              <p:cNvSpPr>
                <a:spLocks noChangeShapeType="1"/>
              </p:cNvSpPr>
              <p:nvPr/>
            </p:nvSpPr>
            <p:spPr bwMode="auto">
              <a:xfrm>
                <a:off x="171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3" name="Line 205"/>
              <p:cNvSpPr>
                <a:spLocks noChangeShapeType="1"/>
              </p:cNvSpPr>
              <p:nvPr/>
            </p:nvSpPr>
            <p:spPr bwMode="auto">
              <a:xfrm>
                <a:off x="172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4" name="Line 206"/>
              <p:cNvSpPr>
                <a:spLocks noChangeShapeType="1"/>
              </p:cNvSpPr>
              <p:nvPr/>
            </p:nvSpPr>
            <p:spPr bwMode="auto">
              <a:xfrm>
                <a:off x="173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5" name="Line 207"/>
              <p:cNvSpPr>
                <a:spLocks noChangeShapeType="1"/>
              </p:cNvSpPr>
              <p:nvPr/>
            </p:nvSpPr>
            <p:spPr bwMode="auto">
              <a:xfrm>
                <a:off x="174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6" name="Line 208"/>
              <p:cNvSpPr>
                <a:spLocks noChangeShapeType="1"/>
              </p:cNvSpPr>
              <p:nvPr/>
            </p:nvSpPr>
            <p:spPr bwMode="auto">
              <a:xfrm>
                <a:off x="175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7" name="Line 209"/>
              <p:cNvSpPr>
                <a:spLocks noChangeShapeType="1"/>
              </p:cNvSpPr>
              <p:nvPr/>
            </p:nvSpPr>
            <p:spPr bwMode="auto">
              <a:xfrm>
                <a:off x="176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8" name="Line 210"/>
              <p:cNvSpPr>
                <a:spLocks noChangeShapeType="1"/>
              </p:cNvSpPr>
              <p:nvPr/>
            </p:nvSpPr>
            <p:spPr bwMode="auto">
              <a:xfrm>
                <a:off x="176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9" name="Line 211"/>
              <p:cNvSpPr>
                <a:spLocks noChangeShapeType="1"/>
              </p:cNvSpPr>
              <p:nvPr/>
            </p:nvSpPr>
            <p:spPr bwMode="auto">
              <a:xfrm>
                <a:off x="177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0" name="Line 212"/>
              <p:cNvSpPr>
                <a:spLocks noChangeShapeType="1"/>
              </p:cNvSpPr>
              <p:nvPr/>
            </p:nvSpPr>
            <p:spPr bwMode="auto">
              <a:xfrm>
                <a:off x="178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1" name="Line 213"/>
              <p:cNvSpPr>
                <a:spLocks noChangeShapeType="1"/>
              </p:cNvSpPr>
              <p:nvPr/>
            </p:nvSpPr>
            <p:spPr bwMode="auto">
              <a:xfrm>
                <a:off x="179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2" name="Line 214"/>
              <p:cNvSpPr>
                <a:spLocks noChangeShapeType="1"/>
              </p:cNvSpPr>
              <p:nvPr/>
            </p:nvSpPr>
            <p:spPr bwMode="auto">
              <a:xfrm>
                <a:off x="180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3" name="Line 215"/>
              <p:cNvSpPr>
                <a:spLocks noChangeShapeType="1"/>
              </p:cNvSpPr>
              <p:nvPr/>
            </p:nvSpPr>
            <p:spPr bwMode="auto">
              <a:xfrm>
                <a:off x="181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4" name="Line 216"/>
              <p:cNvSpPr>
                <a:spLocks noChangeShapeType="1"/>
              </p:cNvSpPr>
              <p:nvPr/>
            </p:nvSpPr>
            <p:spPr bwMode="auto">
              <a:xfrm>
                <a:off x="182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5" name="Line 217"/>
              <p:cNvSpPr>
                <a:spLocks noChangeShapeType="1"/>
              </p:cNvSpPr>
              <p:nvPr/>
            </p:nvSpPr>
            <p:spPr bwMode="auto">
              <a:xfrm>
                <a:off x="183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6" name="Line 218"/>
              <p:cNvSpPr>
                <a:spLocks noChangeShapeType="1"/>
              </p:cNvSpPr>
              <p:nvPr/>
            </p:nvSpPr>
            <p:spPr bwMode="auto">
              <a:xfrm>
                <a:off x="184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7" name="Line 219"/>
              <p:cNvSpPr>
                <a:spLocks noChangeShapeType="1"/>
              </p:cNvSpPr>
              <p:nvPr/>
            </p:nvSpPr>
            <p:spPr bwMode="auto">
              <a:xfrm>
                <a:off x="185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8" name="Line 220"/>
              <p:cNvSpPr>
                <a:spLocks noChangeShapeType="1"/>
              </p:cNvSpPr>
              <p:nvPr/>
            </p:nvSpPr>
            <p:spPr bwMode="auto">
              <a:xfrm>
                <a:off x="186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9" name="Line 221"/>
              <p:cNvSpPr>
                <a:spLocks noChangeShapeType="1"/>
              </p:cNvSpPr>
              <p:nvPr/>
            </p:nvSpPr>
            <p:spPr bwMode="auto">
              <a:xfrm>
                <a:off x="187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0" name="Line 222"/>
              <p:cNvSpPr>
                <a:spLocks noChangeShapeType="1"/>
              </p:cNvSpPr>
              <p:nvPr/>
            </p:nvSpPr>
            <p:spPr bwMode="auto">
              <a:xfrm>
                <a:off x="188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" name="Group 223"/>
            <p:cNvGrpSpPr>
              <a:grpSpLocks/>
            </p:cNvGrpSpPr>
            <p:nvPr/>
          </p:nvGrpSpPr>
          <p:grpSpPr bwMode="auto">
            <a:xfrm>
              <a:off x="1888" y="1452"/>
              <a:ext cx="426" cy="1219"/>
              <a:chOff x="1889" y="1452"/>
              <a:chExt cx="425" cy="1219"/>
            </a:xfrm>
          </p:grpSpPr>
          <p:sp>
            <p:nvSpPr>
              <p:cNvPr id="2272" name="Line 224"/>
              <p:cNvSpPr>
                <a:spLocks noChangeShapeType="1"/>
              </p:cNvSpPr>
              <p:nvPr/>
            </p:nvSpPr>
            <p:spPr bwMode="auto">
              <a:xfrm>
                <a:off x="188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3" name="Line 225"/>
              <p:cNvSpPr>
                <a:spLocks noChangeShapeType="1"/>
              </p:cNvSpPr>
              <p:nvPr/>
            </p:nvSpPr>
            <p:spPr bwMode="auto">
              <a:xfrm>
                <a:off x="189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4" name="Line 226"/>
              <p:cNvSpPr>
                <a:spLocks noChangeShapeType="1"/>
              </p:cNvSpPr>
              <p:nvPr/>
            </p:nvSpPr>
            <p:spPr bwMode="auto">
              <a:xfrm>
                <a:off x="190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5" name="Line 227"/>
              <p:cNvSpPr>
                <a:spLocks noChangeShapeType="1"/>
              </p:cNvSpPr>
              <p:nvPr/>
            </p:nvSpPr>
            <p:spPr bwMode="auto">
              <a:xfrm>
                <a:off x="191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6" name="Line 228"/>
              <p:cNvSpPr>
                <a:spLocks noChangeShapeType="1"/>
              </p:cNvSpPr>
              <p:nvPr/>
            </p:nvSpPr>
            <p:spPr bwMode="auto">
              <a:xfrm>
                <a:off x="192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7" name="Line 229"/>
              <p:cNvSpPr>
                <a:spLocks noChangeShapeType="1"/>
              </p:cNvSpPr>
              <p:nvPr/>
            </p:nvSpPr>
            <p:spPr bwMode="auto">
              <a:xfrm>
                <a:off x="193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8" name="Line 230"/>
              <p:cNvSpPr>
                <a:spLocks noChangeShapeType="1"/>
              </p:cNvSpPr>
              <p:nvPr/>
            </p:nvSpPr>
            <p:spPr bwMode="auto">
              <a:xfrm>
                <a:off x="194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9" name="Line 231"/>
              <p:cNvSpPr>
                <a:spLocks noChangeShapeType="1"/>
              </p:cNvSpPr>
              <p:nvPr/>
            </p:nvSpPr>
            <p:spPr bwMode="auto">
              <a:xfrm>
                <a:off x="195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0" name="Line 232"/>
              <p:cNvSpPr>
                <a:spLocks noChangeShapeType="1"/>
              </p:cNvSpPr>
              <p:nvPr/>
            </p:nvSpPr>
            <p:spPr bwMode="auto">
              <a:xfrm>
                <a:off x="196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1" name="Line 233"/>
              <p:cNvSpPr>
                <a:spLocks noChangeShapeType="1"/>
              </p:cNvSpPr>
              <p:nvPr/>
            </p:nvSpPr>
            <p:spPr bwMode="auto">
              <a:xfrm>
                <a:off x="197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2" name="Line 234"/>
              <p:cNvSpPr>
                <a:spLocks noChangeShapeType="1"/>
              </p:cNvSpPr>
              <p:nvPr/>
            </p:nvSpPr>
            <p:spPr bwMode="auto">
              <a:xfrm>
                <a:off x="198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3" name="Line 235"/>
              <p:cNvSpPr>
                <a:spLocks noChangeShapeType="1"/>
              </p:cNvSpPr>
              <p:nvPr/>
            </p:nvSpPr>
            <p:spPr bwMode="auto">
              <a:xfrm>
                <a:off x="199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4" name="Line 236"/>
              <p:cNvSpPr>
                <a:spLocks noChangeShapeType="1"/>
              </p:cNvSpPr>
              <p:nvPr/>
            </p:nvSpPr>
            <p:spPr bwMode="auto">
              <a:xfrm>
                <a:off x="200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5" name="Line 237"/>
              <p:cNvSpPr>
                <a:spLocks noChangeShapeType="1"/>
              </p:cNvSpPr>
              <p:nvPr/>
            </p:nvSpPr>
            <p:spPr bwMode="auto">
              <a:xfrm>
                <a:off x="200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6" name="Line 238"/>
              <p:cNvSpPr>
                <a:spLocks noChangeShapeType="1"/>
              </p:cNvSpPr>
              <p:nvPr/>
            </p:nvSpPr>
            <p:spPr bwMode="auto">
              <a:xfrm>
                <a:off x="201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7" name="Line 239"/>
              <p:cNvSpPr>
                <a:spLocks noChangeShapeType="1"/>
              </p:cNvSpPr>
              <p:nvPr/>
            </p:nvSpPr>
            <p:spPr bwMode="auto">
              <a:xfrm>
                <a:off x="202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8" name="Line 240"/>
              <p:cNvSpPr>
                <a:spLocks noChangeShapeType="1"/>
              </p:cNvSpPr>
              <p:nvPr/>
            </p:nvSpPr>
            <p:spPr bwMode="auto">
              <a:xfrm>
                <a:off x="203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9" name="Line 241"/>
              <p:cNvSpPr>
                <a:spLocks noChangeShapeType="1"/>
              </p:cNvSpPr>
              <p:nvPr/>
            </p:nvSpPr>
            <p:spPr bwMode="auto">
              <a:xfrm>
                <a:off x="204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0" name="Line 242"/>
              <p:cNvSpPr>
                <a:spLocks noChangeShapeType="1"/>
              </p:cNvSpPr>
              <p:nvPr/>
            </p:nvSpPr>
            <p:spPr bwMode="auto">
              <a:xfrm>
                <a:off x="205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1" name="Line 243"/>
              <p:cNvSpPr>
                <a:spLocks noChangeShapeType="1"/>
              </p:cNvSpPr>
              <p:nvPr/>
            </p:nvSpPr>
            <p:spPr bwMode="auto">
              <a:xfrm>
                <a:off x="206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2" name="Line 244"/>
              <p:cNvSpPr>
                <a:spLocks noChangeShapeType="1"/>
              </p:cNvSpPr>
              <p:nvPr/>
            </p:nvSpPr>
            <p:spPr bwMode="auto">
              <a:xfrm>
                <a:off x="207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3" name="Line 245"/>
              <p:cNvSpPr>
                <a:spLocks noChangeShapeType="1"/>
              </p:cNvSpPr>
              <p:nvPr/>
            </p:nvSpPr>
            <p:spPr bwMode="auto">
              <a:xfrm>
                <a:off x="208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4" name="Line 246"/>
              <p:cNvSpPr>
                <a:spLocks noChangeShapeType="1"/>
              </p:cNvSpPr>
              <p:nvPr/>
            </p:nvSpPr>
            <p:spPr bwMode="auto">
              <a:xfrm>
                <a:off x="209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5" name="Line 247"/>
              <p:cNvSpPr>
                <a:spLocks noChangeShapeType="1"/>
              </p:cNvSpPr>
              <p:nvPr/>
            </p:nvSpPr>
            <p:spPr bwMode="auto">
              <a:xfrm>
                <a:off x="210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6" name="Line 248"/>
              <p:cNvSpPr>
                <a:spLocks noChangeShapeType="1"/>
              </p:cNvSpPr>
              <p:nvPr/>
            </p:nvSpPr>
            <p:spPr bwMode="auto">
              <a:xfrm>
                <a:off x="211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7" name="Line 249"/>
              <p:cNvSpPr>
                <a:spLocks noChangeShapeType="1"/>
              </p:cNvSpPr>
              <p:nvPr/>
            </p:nvSpPr>
            <p:spPr bwMode="auto">
              <a:xfrm>
                <a:off x="212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8" name="Line 250"/>
              <p:cNvSpPr>
                <a:spLocks noChangeShapeType="1"/>
              </p:cNvSpPr>
              <p:nvPr/>
            </p:nvSpPr>
            <p:spPr bwMode="auto">
              <a:xfrm>
                <a:off x="212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9" name="Line 251"/>
              <p:cNvSpPr>
                <a:spLocks noChangeShapeType="1"/>
              </p:cNvSpPr>
              <p:nvPr/>
            </p:nvSpPr>
            <p:spPr bwMode="auto">
              <a:xfrm>
                <a:off x="213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0" name="Line 252"/>
              <p:cNvSpPr>
                <a:spLocks noChangeShapeType="1"/>
              </p:cNvSpPr>
              <p:nvPr/>
            </p:nvSpPr>
            <p:spPr bwMode="auto">
              <a:xfrm>
                <a:off x="214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1" name="Line 253"/>
              <p:cNvSpPr>
                <a:spLocks noChangeShapeType="1"/>
              </p:cNvSpPr>
              <p:nvPr/>
            </p:nvSpPr>
            <p:spPr bwMode="auto">
              <a:xfrm>
                <a:off x="215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2" name="Line 254"/>
              <p:cNvSpPr>
                <a:spLocks noChangeShapeType="1"/>
              </p:cNvSpPr>
              <p:nvPr/>
            </p:nvSpPr>
            <p:spPr bwMode="auto">
              <a:xfrm>
                <a:off x="216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3" name="Line 255"/>
              <p:cNvSpPr>
                <a:spLocks noChangeShapeType="1"/>
              </p:cNvSpPr>
              <p:nvPr/>
            </p:nvSpPr>
            <p:spPr bwMode="auto">
              <a:xfrm>
                <a:off x="217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4" name="Line 256"/>
              <p:cNvSpPr>
                <a:spLocks noChangeShapeType="1"/>
              </p:cNvSpPr>
              <p:nvPr/>
            </p:nvSpPr>
            <p:spPr bwMode="auto">
              <a:xfrm>
                <a:off x="218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5" name="Line 257"/>
              <p:cNvSpPr>
                <a:spLocks noChangeShapeType="1"/>
              </p:cNvSpPr>
              <p:nvPr/>
            </p:nvSpPr>
            <p:spPr bwMode="auto">
              <a:xfrm>
                <a:off x="219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6" name="Line 258"/>
              <p:cNvSpPr>
                <a:spLocks noChangeShapeType="1"/>
              </p:cNvSpPr>
              <p:nvPr/>
            </p:nvSpPr>
            <p:spPr bwMode="auto">
              <a:xfrm>
                <a:off x="220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7" name="Line 259"/>
              <p:cNvSpPr>
                <a:spLocks noChangeShapeType="1"/>
              </p:cNvSpPr>
              <p:nvPr/>
            </p:nvSpPr>
            <p:spPr bwMode="auto">
              <a:xfrm>
                <a:off x="221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8" name="Line 260"/>
              <p:cNvSpPr>
                <a:spLocks noChangeShapeType="1"/>
              </p:cNvSpPr>
              <p:nvPr/>
            </p:nvSpPr>
            <p:spPr bwMode="auto">
              <a:xfrm>
                <a:off x="222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9" name="Line 261"/>
              <p:cNvSpPr>
                <a:spLocks noChangeShapeType="1"/>
              </p:cNvSpPr>
              <p:nvPr/>
            </p:nvSpPr>
            <p:spPr bwMode="auto">
              <a:xfrm>
                <a:off x="223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0" name="Line 262"/>
              <p:cNvSpPr>
                <a:spLocks noChangeShapeType="1"/>
              </p:cNvSpPr>
              <p:nvPr/>
            </p:nvSpPr>
            <p:spPr bwMode="auto">
              <a:xfrm>
                <a:off x="223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1" name="Line 263"/>
              <p:cNvSpPr>
                <a:spLocks noChangeShapeType="1"/>
              </p:cNvSpPr>
              <p:nvPr/>
            </p:nvSpPr>
            <p:spPr bwMode="auto">
              <a:xfrm>
                <a:off x="224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2" name="Line 264"/>
              <p:cNvSpPr>
                <a:spLocks noChangeShapeType="1"/>
              </p:cNvSpPr>
              <p:nvPr/>
            </p:nvSpPr>
            <p:spPr bwMode="auto">
              <a:xfrm>
                <a:off x="225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3" name="Line 265"/>
              <p:cNvSpPr>
                <a:spLocks noChangeShapeType="1"/>
              </p:cNvSpPr>
              <p:nvPr/>
            </p:nvSpPr>
            <p:spPr bwMode="auto">
              <a:xfrm>
                <a:off x="226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4" name="Line 266"/>
              <p:cNvSpPr>
                <a:spLocks noChangeShapeType="1"/>
              </p:cNvSpPr>
              <p:nvPr/>
            </p:nvSpPr>
            <p:spPr bwMode="auto">
              <a:xfrm>
                <a:off x="227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5" name="Line 267"/>
              <p:cNvSpPr>
                <a:spLocks noChangeShapeType="1"/>
              </p:cNvSpPr>
              <p:nvPr/>
            </p:nvSpPr>
            <p:spPr bwMode="auto">
              <a:xfrm>
                <a:off x="228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6" name="Line 268"/>
              <p:cNvSpPr>
                <a:spLocks noChangeShapeType="1"/>
              </p:cNvSpPr>
              <p:nvPr/>
            </p:nvSpPr>
            <p:spPr bwMode="auto">
              <a:xfrm>
                <a:off x="229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7" name="Line 269"/>
              <p:cNvSpPr>
                <a:spLocks noChangeShapeType="1"/>
              </p:cNvSpPr>
              <p:nvPr/>
            </p:nvSpPr>
            <p:spPr bwMode="auto">
              <a:xfrm>
                <a:off x="230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8" name="Line 270"/>
              <p:cNvSpPr>
                <a:spLocks noChangeShapeType="1"/>
              </p:cNvSpPr>
              <p:nvPr/>
            </p:nvSpPr>
            <p:spPr bwMode="auto">
              <a:xfrm flipV="1">
                <a:off x="2313" y="266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9" name="Line 271"/>
              <p:cNvSpPr>
                <a:spLocks noChangeShapeType="1"/>
              </p:cNvSpPr>
              <p:nvPr/>
            </p:nvSpPr>
            <p:spPr bwMode="auto">
              <a:xfrm flipV="1">
                <a:off x="2313" y="265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0" name="Line 272"/>
              <p:cNvSpPr>
                <a:spLocks noChangeShapeType="1"/>
              </p:cNvSpPr>
              <p:nvPr/>
            </p:nvSpPr>
            <p:spPr bwMode="auto">
              <a:xfrm flipV="1">
                <a:off x="2313" y="264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1" name="Line 273"/>
              <p:cNvSpPr>
                <a:spLocks noChangeShapeType="1"/>
              </p:cNvSpPr>
              <p:nvPr/>
            </p:nvSpPr>
            <p:spPr bwMode="auto">
              <a:xfrm flipV="1">
                <a:off x="2313" y="263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2" name="Line 274"/>
              <p:cNvSpPr>
                <a:spLocks noChangeShapeType="1"/>
              </p:cNvSpPr>
              <p:nvPr/>
            </p:nvSpPr>
            <p:spPr bwMode="auto">
              <a:xfrm flipV="1">
                <a:off x="2313" y="262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3" name="Line 275"/>
              <p:cNvSpPr>
                <a:spLocks noChangeShapeType="1"/>
              </p:cNvSpPr>
              <p:nvPr/>
            </p:nvSpPr>
            <p:spPr bwMode="auto">
              <a:xfrm flipV="1">
                <a:off x="2313" y="261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4" name="Line 276"/>
              <p:cNvSpPr>
                <a:spLocks noChangeShapeType="1"/>
              </p:cNvSpPr>
              <p:nvPr/>
            </p:nvSpPr>
            <p:spPr bwMode="auto">
              <a:xfrm flipV="1">
                <a:off x="2313" y="261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5" name="Line 277"/>
              <p:cNvSpPr>
                <a:spLocks noChangeShapeType="1"/>
              </p:cNvSpPr>
              <p:nvPr/>
            </p:nvSpPr>
            <p:spPr bwMode="auto">
              <a:xfrm flipV="1">
                <a:off x="2313" y="260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6" name="Line 278"/>
              <p:cNvSpPr>
                <a:spLocks noChangeShapeType="1"/>
              </p:cNvSpPr>
              <p:nvPr/>
            </p:nvSpPr>
            <p:spPr bwMode="auto">
              <a:xfrm flipV="1">
                <a:off x="2313" y="259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7" name="Line 279"/>
              <p:cNvSpPr>
                <a:spLocks noChangeShapeType="1"/>
              </p:cNvSpPr>
              <p:nvPr/>
            </p:nvSpPr>
            <p:spPr bwMode="auto">
              <a:xfrm flipV="1">
                <a:off x="2313" y="258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8" name="Line 280"/>
              <p:cNvSpPr>
                <a:spLocks noChangeShapeType="1"/>
              </p:cNvSpPr>
              <p:nvPr/>
            </p:nvSpPr>
            <p:spPr bwMode="auto">
              <a:xfrm flipV="1">
                <a:off x="2313" y="257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9" name="Line 281"/>
              <p:cNvSpPr>
                <a:spLocks noChangeShapeType="1"/>
              </p:cNvSpPr>
              <p:nvPr/>
            </p:nvSpPr>
            <p:spPr bwMode="auto">
              <a:xfrm flipV="1">
                <a:off x="2313" y="256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0" name="Line 282"/>
              <p:cNvSpPr>
                <a:spLocks noChangeShapeType="1"/>
              </p:cNvSpPr>
              <p:nvPr/>
            </p:nvSpPr>
            <p:spPr bwMode="auto">
              <a:xfrm flipV="1">
                <a:off x="2313" y="255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1" name="Line 283"/>
              <p:cNvSpPr>
                <a:spLocks noChangeShapeType="1"/>
              </p:cNvSpPr>
              <p:nvPr/>
            </p:nvSpPr>
            <p:spPr bwMode="auto">
              <a:xfrm flipV="1">
                <a:off x="2313" y="254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2" name="Line 284"/>
              <p:cNvSpPr>
                <a:spLocks noChangeShapeType="1"/>
              </p:cNvSpPr>
              <p:nvPr/>
            </p:nvSpPr>
            <p:spPr bwMode="auto">
              <a:xfrm flipV="1">
                <a:off x="2313" y="253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3" name="Line 285"/>
              <p:cNvSpPr>
                <a:spLocks noChangeShapeType="1"/>
              </p:cNvSpPr>
              <p:nvPr/>
            </p:nvSpPr>
            <p:spPr bwMode="auto">
              <a:xfrm flipV="1">
                <a:off x="2313" y="252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4" name="Line 286"/>
              <p:cNvSpPr>
                <a:spLocks noChangeShapeType="1"/>
              </p:cNvSpPr>
              <p:nvPr/>
            </p:nvSpPr>
            <p:spPr bwMode="auto">
              <a:xfrm flipV="1">
                <a:off x="2313" y="251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5" name="Line 287"/>
              <p:cNvSpPr>
                <a:spLocks noChangeShapeType="1"/>
              </p:cNvSpPr>
              <p:nvPr/>
            </p:nvSpPr>
            <p:spPr bwMode="auto">
              <a:xfrm flipV="1">
                <a:off x="2313" y="250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6" name="Line 288"/>
              <p:cNvSpPr>
                <a:spLocks noChangeShapeType="1"/>
              </p:cNvSpPr>
              <p:nvPr/>
            </p:nvSpPr>
            <p:spPr bwMode="auto">
              <a:xfrm flipV="1">
                <a:off x="2313" y="24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7" name="Line 289"/>
              <p:cNvSpPr>
                <a:spLocks noChangeShapeType="1"/>
              </p:cNvSpPr>
              <p:nvPr/>
            </p:nvSpPr>
            <p:spPr bwMode="auto">
              <a:xfrm flipV="1">
                <a:off x="2313" y="249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8" name="Line 290"/>
              <p:cNvSpPr>
                <a:spLocks noChangeShapeType="1"/>
              </p:cNvSpPr>
              <p:nvPr/>
            </p:nvSpPr>
            <p:spPr bwMode="auto">
              <a:xfrm flipV="1">
                <a:off x="2313" y="248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9" name="Line 291"/>
              <p:cNvSpPr>
                <a:spLocks noChangeShapeType="1"/>
              </p:cNvSpPr>
              <p:nvPr/>
            </p:nvSpPr>
            <p:spPr bwMode="auto">
              <a:xfrm flipV="1">
                <a:off x="2313" y="247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0" name="Line 292"/>
              <p:cNvSpPr>
                <a:spLocks noChangeShapeType="1"/>
              </p:cNvSpPr>
              <p:nvPr/>
            </p:nvSpPr>
            <p:spPr bwMode="auto">
              <a:xfrm flipV="1">
                <a:off x="2313" y="246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1" name="Line 293"/>
              <p:cNvSpPr>
                <a:spLocks noChangeShapeType="1"/>
              </p:cNvSpPr>
              <p:nvPr/>
            </p:nvSpPr>
            <p:spPr bwMode="auto">
              <a:xfrm flipV="1">
                <a:off x="2313" y="245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2" name="Line 294"/>
              <p:cNvSpPr>
                <a:spLocks noChangeShapeType="1"/>
              </p:cNvSpPr>
              <p:nvPr/>
            </p:nvSpPr>
            <p:spPr bwMode="auto">
              <a:xfrm flipV="1">
                <a:off x="2313" y="244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3" name="Line 295"/>
              <p:cNvSpPr>
                <a:spLocks noChangeShapeType="1"/>
              </p:cNvSpPr>
              <p:nvPr/>
            </p:nvSpPr>
            <p:spPr bwMode="auto">
              <a:xfrm flipV="1">
                <a:off x="2313" y="243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4" name="Line 296"/>
              <p:cNvSpPr>
                <a:spLocks noChangeShapeType="1"/>
              </p:cNvSpPr>
              <p:nvPr/>
            </p:nvSpPr>
            <p:spPr bwMode="auto">
              <a:xfrm flipV="1">
                <a:off x="2313" y="242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5" name="Line 297"/>
              <p:cNvSpPr>
                <a:spLocks noChangeShapeType="1"/>
              </p:cNvSpPr>
              <p:nvPr/>
            </p:nvSpPr>
            <p:spPr bwMode="auto">
              <a:xfrm flipV="1">
                <a:off x="2313" y="241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6" name="Line 298"/>
              <p:cNvSpPr>
                <a:spLocks noChangeShapeType="1"/>
              </p:cNvSpPr>
              <p:nvPr/>
            </p:nvSpPr>
            <p:spPr bwMode="auto">
              <a:xfrm flipV="1">
                <a:off x="2313" y="240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7" name="Line 299"/>
              <p:cNvSpPr>
                <a:spLocks noChangeShapeType="1"/>
              </p:cNvSpPr>
              <p:nvPr/>
            </p:nvSpPr>
            <p:spPr bwMode="auto">
              <a:xfrm flipV="1">
                <a:off x="2313" y="239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8" name="Line 300"/>
              <p:cNvSpPr>
                <a:spLocks noChangeShapeType="1"/>
              </p:cNvSpPr>
              <p:nvPr/>
            </p:nvSpPr>
            <p:spPr bwMode="auto">
              <a:xfrm flipV="1">
                <a:off x="2313" y="238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9" name="Line 301"/>
              <p:cNvSpPr>
                <a:spLocks noChangeShapeType="1"/>
              </p:cNvSpPr>
              <p:nvPr/>
            </p:nvSpPr>
            <p:spPr bwMode="auto">
              <a:xfrm flipV="1">
                <a:off x="2313" y="238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0" name="Line 302"/>
              <p:cNvSpPr>
                <a:spLocks noChangeShapeType="1"/>
              </p:cNvSpPr>
              <p:nvPr/>
            </p:nvSpPr>
            <p:spPr bwMode="auto">
              <a:xfrm flipV="1">
                <a:off x="2313" y="237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1" name="Line 303"/>
              <p:cNvSpPr>
                <a:spLocks noChangeShapeType="1"/>
              </p:cNvSpPr>
              <p:nvPr/>
            </p:nvSpPr>
            <p:spPr bwMode="auto">
              <a:xfrm flipV="1">
                <a:off x="2313" y="236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2" name="Line 304"/>
              <p:cNvSpPr>
                <a:spLocks noChangeShapeType="1"/>
              </p:cNvSpPr>
              <p:nvPr/>
            </p:nvSpPr>
            <p:spPr bwMode="auto">
              <a:xfrm flipV="1">
                <a:off x="2313" y="235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3" name="Line 305"/>
              <p:cNvSpPr>
                <a:spLocks noChangeShapeType="1"/>
              </p:cNvSpPr>
              <p:nvPr/>
            </p:nvSpPr>
            <p:spPr bwMode="auto">
              <a:xfrm flipV="1">
                <a:off x="2313" y="234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4" name="Line 306"/>
              <p:cNvSpPr>
                <a:spLocks noChangeShapeType="1"/>
              </p:cNvSpPr>
              <p:nvPr/>
            </p:nvSpPr>
            <p:spPr bwMode="auto">
              <a:xfrm flipV="1">
                <a:off x="2313" y="233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5" name="Line 307"/>
              <p:cNvSpPr>
                <a:spLocks noChangeShapeType="1"/>
              </p:cNvSpPr>
              <p:nvPr/>
            </p:nvSpPr>
            <p:spPr bwMode="auto">
              <a:xfrm flipV="1">
                <a:off x="2313" y="232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6" name="Line 308"/>
              <p:cNvSpPr>
                <a:spLocks noChangeShapeType="1"/>
              </p:cNvSpPr>
              <p:nvPr/>
            </p:nvSpPr>
            <p:spPr bwMode="auto">
              <a:xfrm flipV="1">
                <a:off x="2313" y="231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7" name="Line 309"/>
              <p:cNvSpPr>
                <a:spLocks noChangeShapeType="1"/>
              </p:cNvSpPr>
              <p:nvPr/>
            </p:nvSpPr>
            <p:spPr bwMode="auto">
              <a:xfrm flipV="1">
                <a:off x="2313" y="230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8" name="Line 310"/>
              <p:cNvSpPr>
                <a:spLocks noChangeShapeType="1"/>
              </p:cNvSpPr>
              <p:nvPr/>
            </p:nvSpPr>
            <p:spPr bwMode="auto">
              <a:xfrm flipV="1">
                <a:off x="2313" y="229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9" name="Line 311"/>
              <p:cNvSpPr>
                <a:spLocks noChangeShapeType="1"/>
              </p:cNvSpPr>
              <p:nvPr/>
            </p:nvSpPr>
            <p:spPr bwMode="auto">
              <a:xfrm flipV="1">
                <a:off x="2313" y="228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0" name="Line 312"/>
              <p:cNvSpPr>
                <a:spLocks noChangeShapeType="1"/>
              </p:cNvSpPr>
              <p:nvPr/>
            </p:nvSpPr>
            <p:spPr bwMode="auto">
              <a:xfrm flipV="1">
                <a:off x="2313" y="227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1" name="Line 313"/>
              <p:cNvSpPr>
                <a:spLocks noChangeShapeType="1"/>
              </p:cNvSpPr>
              <p:nvPr/>
            </p:nvSpPr>
            <p:spPr bwMode="auto">
              <a:xfrm flipV="1">
                <a:off x="2313" y="226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2" name="Line 314"/>
              <p:cNvSpPr>
                <a:spLocks noChangeShapeType="1"/>
              </p:cNvSpPr>
              <p:nvPr/>
            </p:nvSpPr>
            <p:spPr bwMode="auto">
              <a:xfrm flipV="1">
                <a:off x="2313" y="226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3" name="Line 315"/>
              <p:cNvSpPr>
                <a:spLocks noChangeShapeType="1"/>
              </p:cNvSpPr>
              <p:nvPr/>
            </p:nvSpPr>
            <p:spPr bwMode="auto">
              <a:xfrm flipV="1">
                <a:off x="2313" y="225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4" name="Line 316"/>
              <p:cNvSpPr>
                <a:spLocks noChangeShapeType="1"/>
              </p:cNvSpPr>
              <p:nvPr/>
            </p:nvSpPr>
            <p:spPr bwMode="auto">
              <a:xfrm flipV="1">
                <a:off x="2313" y="224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5" name="Line 317"/>
              <p:cNvSpPr>
                <a:spLocks noChangeShapeType="1"/>
              </p:cNvSpPr>
              <p:nvPr/>
            </p:nvSpPr>
            <p:spPr bwMode="auto">
              <a:xfrm flipV="1">
                <a:off x="2313" y="223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6" name="Line 318"/>
              <p:cNvSpPr>
                <a:spLocks noChangeShapeType="1"/>
              </p:cNvSpPr>
              <p:nvPr/>
            </p:nvSpPr>
            <p:spPr bwMode="auto">
              <a:xfrm flipV="1">
                <a:off x="2313" y="222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7" name="Line 319"/>
              <p:cNvSpPr>
                <a:spLocks noChangeShapeType="1"/>
              </p:cNvSpPr>
              <p:nvPr/>
            </p:nvSpPr>
            <p:spPr bwMode="auto">
              <a:xfrm flipV="1">
                <a:off x="2313" y="221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8" name="Line 320"/>
              <p:cNvSpPr>
                <a:spLocks noChangeShapeType="1"/>
              </p:cNvSpPr>
              <p:nvPr/>
            </p:nvSpPr>
            <p:spPr bwMode="auto">
              <a:xfrm flipV="1">
                <a:off x="2313" y="22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9" name="Line 321"/>
              <p:cNvSpPr>
                <a:spLocks noChangeShapeType="1"/>
              </p:cNvSpPr>
              <p:nvPr/>
            </p:nvSpPr>
            <p:spPr bwMode="auto">
              <a:xfrm flipV="1">
                <a:off x="2313" y="219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0" name="Line 322"/>
              <p:cNvSpPr>
                <a:spLocks noChangeShapeType="1"/>
              </p:cNvSpPr>
              <p:nvPr/>
            </p:nvSpPr>
            <p:spPr bwMode="auto">
              <a:xfrm flipV="1">
                <a:off x="2313" y="218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1" name="Line 323"/>
              <p:cNvSpPr>
                <a:spLocks noChangeShapeType="1"/>
              </p:cNvSpPr>
              <p:nvPr/>
            </p:nvSpPr>
            <p:spPr bwMode="auto">
              <a:xfrm flipV="1">
                <a:off x="2313" y="217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2" name="Line 324"/>
              <p:cNvSpPr>
                <a:spLocks noChangeShapeType="1"/>
              </p:cNvSpPr>
              <p:nvPr/>
            </p:nvSpPr>
            <p:spPr bwMode="auto">
              <a:xfrm flipV="1">
                <a:off x="2313" y="216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3" name="Line 325"/>
              <p:cNvSpPr>
                <a:spLocks noChangeShapeType="1"/>
              </p:cNvSpPr>
              <p:nvPr/>
            </p:nvSpPr>
            <p:spPr bwMode="auto">
              <a:xfrm flipV="1">
                <a:off x="2313" y="21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4" name="Line 326"/>
              <p:cNvSpPr>
                <a:spLocks noChangeShapeType="1"/>
              </p:cNvSpPr>
              <p:nvPr/>
            </p:nvSpPr>
            <p:spPr bwMode="auto">
              <a:xfrm flipV="1">
                <a:off x="2313" y="214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5" name="Line 327"/>
              <p:cNvSpPr>
                <a:spLocks noChangeShapeType="1"/>
              </p:cNvSpPr>
              <p:nvPr/>
            </p:nvSpPr>
            <p:spPr bwMode="auto">
              <a:xfrm flipV="1">
                <a:off x="2313" y="214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6" name="Line 328"/>
              <p:cNvSpPr>
                <a:spLocks noChangeShapeType="1"/>
              </p:cNvSpPr>
              <p:nvPr/>
            </p:nvSpPr>
            <p:spPr bwMode="auto">
              <a:xfrm flipV="1">
                <a:off x="2313" y="213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7" name="Line 329"/>
              <p:cNvSpPr>
                <a:spLocks noChangeShapeType="1"/>
              </p:cNvSpPr>
              <p:nvPr/>
            </p:nvSpPr>
            <p:spPr bwMode="auto">
              <a:xfrm flipV="1">
                <a:off x="2313" y="212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8" name="Line 330"/>
              <p:cNvSpPr>
                <a:spLocks noChangeShapeType="1"/>
              </p:cNvSpPr>
              <p:nvPr/>
            </p:nvSpPr>
            <p:spPr bwMode="auto">
              <a:xfrm flipV="1">
                <a:off x="2313" y="211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9" name="Line 331"/>
              <p:cNvSpPr>
                <a:spLocks noChangeShapeType="1"/>
              </p:cNvSpPr>
              <p:nvPr/>
            </p:nvSpPr>
            <p:spPr bwMode="auto">
              <a:xfrm flipV="1">
                <a:off x="2313" y="210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0" name="Line 332"/>
              <p:cNvSpPr>
                <a:spLocks noChangeShapeType="1"/>
              </p:cNvSpPr>
              <p:nvPr/>
            </p:nvSpPr>
            <p:spPr bwMode="auto">
              <a:xfrm flipV="1">
                <a:off x="2313" y="209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1" name="Line 333"/>
              <p:cNvSpPr>
                <a:spLocks noChangeShapeType="1"/>
              </p:cNvSpPr>
              <p:nvPr/>
            </p:nvSpPr>
            <p:spPr bwMode="auto">
              <a:xfrm flipV="1">
                <a:off x="2313" y="208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2" name="Line 334"/>
              <p:cNvSpPr>
                <a:spLocks noChangeShapeType="1"/>
              </p:cNvSpPr>
              <p:nvPr/>
            </p:nvSpPr>
            <p:spPr bwMode="auto">
              <a:xfrm flipV="1">
                <a:off x="2313" y="20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3" name="Line 335"/>
              <p:cNvSpPr>
                <a:spLocks noChangeShapeType="1"/>
              </p:cNvSpPr>
              <p:nvPr/>
            </p:nvSpPr>
            <p:spPr bwMode="auto">
              <a:xfrm flipV="1">
                <a:off x="2313" y="206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4" name="Line 336"/>
              <p:cNvSpPr>
                <a:spLocks noChangeShapeType="1"/>
              </p:cNvSpPr>
              <p:nvPr/>
            </p:nvSpPr>
            <p:spPr bwMode="auto">
              <a:xfrm flipV="1">
                <a:off x="2313" y="205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5" name="Line 337"/>
              <p:cNvSpPr>
                <a:spLocks noChangeShapeType="1"/>
              </p:cNvSpPr>
              <p:nvPr/>
            </p:nvSpPr>
            <p:spPr bwMode="auto">
              <a:xfrm flipV="1">
                <a:off x="2313" y="204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6" name="Line 338"/>
              <p:cNvSpPr>
                <a:spLocks noChangeShapeType="1"/>
              </p:cNvSpPr>
              <p:nvPr/>
            </p:nvSpPr>
            <p:spPr bwMode="auto">
              <a:xfrm flipV="1">
                <a:off x="2313" y="203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7" name="Line 339"/>
              <p:cNvSpPr>
                <a:spLocks noChangeShapeType="1"/>
              </p:cNvSpPr>
              <p:nvPr/>
            </p:nvSpPr>
            <p:spPr bwMode="auto">
              <a:xfrm flipV="1">
                <a:off x="2313" y="202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8" name="Line 340"/>
              <p:cNvSpPr>
                <a:spLocks noChangeShapeType="1"/>
              </p:cNvSpPr>
              <p:nvPr/>
            </p:nvSpPr>
            <p:spPr bwMode="auto">
              <a:xfrm flipV="1">
                <a:off x="2313" y="202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9" name="Line 341"/>
              <p:cNvSpPr>
                <a:spLocks noChangeShapeType="1"/>
              </p:cNvSpPr>
              <p:nvPr/>
            </p:nvSpPr>
            <p:spPr bwMode="auto">
              <a:xfrm flipV="1">
                <a:off x="2313" y="201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0" name="Line 342"/>
              <p:cNvSpPr>
                <a:spLocks noChangeShapeType="1"/>
              </p:cNvSpPr>
              <p:nvPr/>
            </p:nvSpPr>
            <p:spPr bwMode="auto">
              <a:xfrm flipV="1">
                <a:off x="2313" y="200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1" name="Line 343"/>
              <p:cNvSpPr>
                <a:spLocks noChangeShapeType="1"/>
              </p:cNvSpPr>
              <p:nvPr/>
            </p:nvSpPr>
            <p:spPr bwMode="auto">
              <a:xfrm flipV="1">
                <a:off x="2313" y="199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2" name="Line 344"/>
              <p:cNvSpPr>
                <a:spLocks noChangeShapeType="1"/>
              </p:cNvSpPr>
              <p:nvPr/>
            </p:nvSpPr>
            <p:spPr bwMode="auto">
              <a:xfrm flipV="1">
                <a:off x="2313" y="198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3" name="Line 345"/>
              <p:cNvSpPr>
                <a:spLocks noChangeShapeType="1"/>
              </p:cNvSpPr>
              <p:nvPr/>
            </p:nvSpPr>
            <p:spPr bwMode="auto">
              <a:xfrm flipV="1">
                <a:off x="2313" y="197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4" name="Line 346"/>
              <p:cNvSpPr>
                <a:spLocks noChangeShapeType="1"/>
              </p:cNvSpPr>
              <p:nvPr/>
            </p:nvSpPr>
            <p:spPr bwMode="auto">
              <a:xfrm flipV="1">
                <a:off x="2313" y="196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5" name="Line 347"/>
              <p:cNvSpPr>
                <a:spLocks noChangeShapeType="1"/>
              </p:cNvSpPr>
              <p:nvPr/>
            </p:nvSpPr>
            <p:spPr bwMode="auto">
              <a:xfrm flipV="1">
                <a:off x="2313" y="195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6" name="Line 348"/>
              <p:cNvSpPr>
                <a:spLocks noChangeShapeType="1"/>
              </p:cNvSpPr>
              <p:nvPr/>
            </p:nvSpPr>
            <p:spPr bwMode="auto">
              <a:xfrm flipV="1">
                <a:off x="2313" y="194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7" name="Line 349"/>
              <p:cNvSpPr>
                <a:spLocks noChangeShapeType="1"/>
              </p:cNvSpPr>
              <p:nvPr/>
            </p:nvSpPr>
            <p:spPr bwMode="auto">
              <a:xfrm flipV="1">
                <a:off x="2313" y="193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8" name="Line 350"/>
              <p:cNvSpPr>
                <a:spLocks noChangeShapeType="1"/>
              </p:cNvSpPr>
              <p:nvPr/>
            </p:nvSpPr>
            <p:spPr bwMode="auto">
              <a:xfrm flipV="1">
                <a:off x="2313" y="192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9" name="Line 351"/>
              <p:cNvSpPr>
                <a:spLocks noChangeShapeType="1"/>
              </p:cNvSpPr>
              <p:nvPr/>
            </p:nvSpPr>
            <p:spPr bwMode="auto">
              <a:xfrm flipV="1">
                <a:off x="2313" y="191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0" name="Line 352"/>
              <p:cNvSpPr>
                <a:spLocks noChangeShapeType="1"/>
              </p:cNvSpPr>
              <p:nvPr/>
            </p:nvSpPr>
            <p:spPr bwMode="auto">
              <a:xfrm flipV="1">
                <a:off x="2313" y="191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1" name="Line 353"/>
              <p:cNvSpPr>
                <a:spLocks noChangeShapeType="1"/>
              </p:cNvSpPr>
              <p:nvPr/>
            </p:nvSpPr>
            <p:spPr bwMode="auto">
              <a:xfrm flipV="1">
                <a:off x="2313" y="190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2" name="Line 354"/>
              <p:cNvSpPr>
                <a:spLocks noChangeShapeType="1"/>
              </p:cNvSpPr>
              <p:nvPr/>
            </p:nvSpPr>
            <p:spPr bwMode="auto">
              <a:xfrm flipV="1">
                <a:off x="2313" y="189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3" name="Line 355"/>
              <p:cNvSpPr>
                <a:spLocks noChangeShapeType="1"/>
              </p:cNvSpPr>
              <p:nvPr/>
            </p:nvSpPr>
            <p:spPr bwMode="auto">
              <a:xfrm flipV="1">
                <a:off x="2313" y="188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4" name="Line 356"/>
              <p:cNvSpPr>
                <a:spLocks noChangeShapeType="1"/>
              </p:cNvSpPr>
              <p:nvPr/>
            </p:nvSpPr>
            <p:spPr bwMode="auto">
              <a:xfrm flipV="1">
                <a:off x="2313" y="187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5" name="Line 357"/>
              <p:cNvSpPr>
                <a:spLocks noChangeShapeType="1"/>
              </p:cNvSpPr>
              <p:nvPr/>
            </p:nvSpPr>
            <p:spPr bwMode="auto">
              <a:xfrm flipV="1">
                <a:off x="2313" y="186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6" name="Line 358"/>
              <p:cNvSpPr>
                <a:spLocks noChangeShapeType="1"/>
              </p:cNvSpPr>
              <p:nvPr/>
            </p:nvSpPr>
            <p:spPr bwMode="auto">
              <a:xfrm flipV="1">
                <a:off x="2313" y="185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7" name="Line 359"/>
              <p:cNvSpPr>
                <a:spLocks noChangeShapeType="1"/>
              </p:cNvSpPr>
              <p:nvPr/>
            </p:nvSpPr>
            <p:spPr bwMode="auto">
              <a:xfrm flipV="1">
                <a:off x="2313" y="184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8" name="Line 360"/>
              <p:cNvSpPr>
                <a:spLocks noChangeShapeType="1"/>
              </p:cNvSpPr>
              <p:nvPr/>
            </p:nvSpPr>
            <p:spPr bwMode="auto">
              <a:xfrm flipV="1">
                <a:off x="2313" y="183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9" name="Line 361"/>
              <p:cNvSpPr>
                <a:spLocks noChangeShapeType="1"/>
              </p:cNvSpPr>
              <p:nvPr/>
            </p:nvSpPr>
            <p:spPr bwMode="auto">
              <a:xfrm flipV="1">
                <a:off x="2313" y="182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0" name="Line 362"/>
              <p:cNvSpPr>
                <a:spLocks noChangeShapeType="1"/>
              </p:cNvSpPr>
              <p:nvPr/>
            </p:nvSpPr>
            <p:spPr bwMode="auto">
              <a:xfrm flipV="1">
                <a:off x="2313" y="181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1" name="Line 363"/>
              <p:cNvSpPr>
                <a:spLocks noChangeShapeType="1"/>
              </p:cNvSpPr>
              <p:nvPr/>
            </p:nvSpPr>
            <p:spPr bwMode="auto">
              <a:xfrm flipV="1">
                <a:off x="2313" y="180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2" name="Line 364"/>
              <p:cNvSpPr>
                <a:spLocks noChangeShapeType="1"/>
              </p:cNvSpPr>
              <p:nvPr/>
            </p:nvSpPr>
            <p:spPr bwMode="auto">
              <a:xfrm flipV="1">
                <a:off x="2313" y="17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3" name="Line 365"/>
              <p:cNvSpPr>
                <a:spLocks noChangeShapeType="1"/>
              </p:cNvSpPr>
              <p:nvPr/>
            </p:nvSpPr>
            <p:spPr bwMode="auto">
              <a:xfrm flipV="1">
                <a:off x="2313" y="179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4" name="Line 366"/>
              <p:cNvSpPr>
                <a:spLocks noChangeShapeType="1"/>
              </p:cNvSpPr>
              <p:nvPr/>
            </p:nvSpPr>
            <p:spPr bwMode="auto">
              <a:xfrm flipV="1">
                <a:off x="2313" y="178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5" name="Line 367"/>
              <p:cNvSpPr>
                <a:spLocks noChangeShapeType="1"/>
              </p:cNvSpPr>
              <p:nvPr/>
            </p:nvSpPr>
            <p:spPr bwMode="auto">
              <a:xfrm flipV="1">
                <a:off x="2313" y="177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6" name="Line 368"/>
              <p:cNvSpPr>
                <a:spLocks noChangeShapeType="1"/>
              </p:cNvSpPr>
              <p:nvPr/>
            </p:nvSpPr>
            <p:spPr bwMode="auto">
              <a:xfrm flipV="1">
                <a:off x="2313" y="176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7" name="Line 369"/>
              <p:cNvSpPr>
                <a:spLocks noChangeShapeType="1"/>
              </p:cNvSpPr>
              <p:nvPr/>
            </p:nvSpPr>
            <p:spPr bwMode="auto">
              <a:xfrm flipV="1">
                <a:off x="2313" y="175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8" name="Line 370"/>
              <p:cNvSpPr>
                <a:spLocks noChangeShapeType="1"/>
              </p:cNvSpPr>
              <p:nvPr/>
            </p:nvSpPr>
            <p:spPr bwMode="auto">
              <a:xfrm flipV="1">
                <a:off x="2313" y="174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9" name="Line 371"/>
              <p:cNvSpPr>
                <a:spLocks noChangeShapeType="1"/>
              </p:cNvSpPr>
              <p:nvPr/>
            </p:nvSpPr>
            <p:spPr bwMode="auto">
              <a:xfrm flipV="1">
                <a:off x="2313" y="173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0" name="Line 372"/>
              <p:cNvSpPr>
                <a:spLocks noChangeShapeType="1"/>
              </p:cNvSpPr>
              <p:nvPr/>
            </p:nvSpPr>
            <p:spPr bwMode="auto">
              <a:xfrm flipV="1">
                <a:off x="2313" y="172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1" name="Line 373"/>
              <p:cNvSpPr>
                <a:spLocks noChangeShapeType="1"/>
              </p:cNvSpPr>
              <p:nvPr/>
            </p:nvSpPr>
            <p:spPr bwMode="auto">
              <a:xfrm flipV="1">
                <a:off x="2313" y="171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2" name="Line 374"/>
              <p:cNvSpPr>
                <a:spLocks noChangeShapeType="1"/>
              </p:cNvSpPr>
              <p:nvPr/>
            </p:nvSpPr>
            <p:spPr bwMode="auto">
              <a:xfrm flipV="1">
                <a:off x="2313" y="170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3" name="Line 375"/>
              <p:cNvSpPr>
                <a:spLocks noChangeShapeType="1"/>
              </p:cNvSpPr>
              <p:nvPr/>
            </p:nvSpPr>
            <p:spPr bwMode="auto">
              <a:xfrm flipV="1">
                <a:off x="2313" y="169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4" name="Line 376"/>
              <p:cNvSpPr>
                <a:spLocks noChangeShapeType="1"/>
              </p:cNvSpPr>
              <p:nvPr/>
            </p:nvSpPr>
            <p:spPr bwMode="auto">
              <a:xfrm flipV="1">
                <a:off x="2313" y="168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5" name="Line 377"/>
              <p:cNvSpPr>
                <a:spLocks noChangeShapeType="1"/>
              </p:cNvSpPr>
              <p:nvPr/>
            </p:nvSpPr>
            <p:spPr bwMode="auto">
              <a:xfrm flipV="1">
                <a:off x="2313" y="167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6" name="Line 378"/>
              <p:cNvSpPr>
                <a:spLocks noChangeShapeType="1"/>
              </p:cNvSpPr>
              <p:nvPr/>
            </p:nvSpPr>
            <p:spPr bwMode="auto">
              <a:xfrm flipV="1">
                <a:off x="2313" y="167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7" name="Line 379"/>
              <p:cNvSpPr>
                <a:spLocks noChangeShapeType="1"/>
              </p:cNvSpPr>
              <p:nvPr/>
            </p:nvSpPr>
            <p:spPr bwMode="auto">
              <a:xfrm flipV="1">
                <a:off x="2313" y="166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8" name="Line 380"/>
              <p:cNvSpPr>
                <a:spLocks noChangeShapeType="1"/>
              </p:cNvSpPr>
              <p:nvPr/>
            </p:nvSpPr>
            <p:spPr bwMode="auto">
              <a:xfrm flipV="1">
                <a:off x="2313" y="165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9" name="Line 381"/>
              <p:cNvSpPr>
                <a:spLocks noChangeShapeType="1"/>
              </p:cNvSpPr>
              <p:nvPr/>
            </p:nvSpPr>
            <p:spPr bwMode="auto">
              <a:xfrm flipV="1">
                <a:off x="2313" y="164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0" name="Line 382"/>
              <p:cNvSpPr>
                <a:spLocks noChangeShapeType="1"/>
              </p:cNvSpPr>
              <p:nvPr/>
            </p:nvSpPr>
            <p:spPr bwMode="auto">
              <a:xfrm flipV="1">
                <a:off x="2313" y="163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1" name="Line 383"/>
              <p:cNvSpPr>
                <a:spLocks noChangeShapeType="1"/>
              </p:cNvSpPr>
              <p:nvPr/>
            </p:nvSpPr>
            <p:spPr bwMode="auto">
              <a:xfrm flipV="1">
                <a:off x="2313" y="162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2" name="Line 384"/>
              <p:cNvSpPr>
                <a:spLocks noChangeShapeType="1"/>
              </p:cNvSpPr>
              <p:nvPr/>
            </p:nvSpPr>
            <p:spPr bwMode="auto">
              <a:xfrm flipV="1">
                <a:off x="2313" y="161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3" name="Line 385"/>
              <p:cNvSpPr>
                <a:spLocks noChangeShapeType="1"/>
              </p:cNvSpPr>
              <p:nvPr/>
            </p:nvSpPr>
            <p:spPr bwMode="auto">
              <a:xfrm flipV="1">
                <a:off x="2313" y="160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4" name="Line 386"/>
              <p:cNvSpPr>
                <a:spLocks noChangeShapeType="1"/>
              </p:cNvSpPr>
              <p:nvPr/>
            </p:nvSpPr>
            <p:spPr bwMode="auto">
              <a:xfrm flipV="1">
                <a:off x="2313" y="159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5" name="Line 387"/>
              <p:cNvSpPr>
                <a:spLocks noChangeShapeType="1"/>
              </p:cNvSpPr>
              <p:nvPr/>
            </p:nvSpPr>
            <p:spPr bwMode="auto">
              <a:xfrm flipV="1">
                <a:off x="2313" y="158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6" name="Line 388"/>
              <p:cNvSpPr>
                <a:spLocks noChangeShapeType="1"/>
              </p:cNvSpPr>
              <p:nvPr/>
            </p:nvSpPr>
            <p:spPr bwMode="auto">
              <a:xfrm flipV="1">
                <a:off x="2313" y="157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7" name="Line 389"/>
              <p:cNvSpPr>
                <a:spLocks noChangeShapeType="1"/>
              </p:cNvSpPr>
              <p:nvPr/>
            </p:nvSpPr>
            <p:spPr bwMode="auto">
              <a:xfrm flipV="1">
                <a:off x="2313" y="156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8" name="Line 390"/>
              <p:cNvSpPr>
                <a:spLocks noChangeShapeType="1"/>
              </p:cNvSpPr>
              <p:nvPr/>
            </p:nvSpPr>
            <p:spPr bwMode="auto">
              <a:xfrm flipV="1">
                <a:off x="2313" y="155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9" name="Line 391"/>
              <p:cNvSpPr>
                <a:spLocks noChangeShapeType="1"/>
              </p:cNvSpPr>
              <p:nvPr/>
            </p:nvSpPr>
            <p:spPr bwMode="auto">
              <a:xfrm flipV="1">
                <a:off x="2313" y="155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0" name="Line 392"/>
              <p:cNvSpPr>
                <a:spLocks noChangeShapeType="1"/>
              </p:cNvSpPr>
              <p:nvPr/>
            </p:nvSpPr>
            <p:spPr bwMode="auto">
              <a:xfrm flipV="1">
                <a:off x="2313" y="154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1" name="Line 393"/>
              <p:cNvSpPr>
                <a:spLocks noChangeShapeType="1"/>
              </p:cNvSpPr>
              <p:nvPr/>
            </p:nvSpPr>
            <p:spPr bwMode="auto">
              <a:xfrm flipV="1">
                <a:off x="2313" y="153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2" name="Line 394"/>
              <p:cNvSpPr>
                <a:spLocks noChangeShapeType="1"/>
              </p:cNvSpPr>
              <p:nvPr/>
            </p:nvSpPr>
            <p:spPr bwMode="auto">
              <a:xfrm flipV="1">
                <a:off x="2313" y="152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3" name="Line 395"/>
              <p:cNvSpPr>
                <a:spLocks noChangeShapeType="1"/>
              </p:cNvSpPr>
              <p:nvPr/>
            </p:nvSpPr>
            <p:spPr bwMode="auto">
              <a:xfrm flipV="1">
                <a:off x="2313" y="151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4" name="Line 396"/>
              <p:cNvSpPr>
                <a:spLocks noChangeShapeType="1"/>
              </p:cNvSpPr>
              <p:nvPr/>
            </p:nvSpPr>
            <p:spPr bwMode="auto">
              <a:xfrm flipV="1">
                <a:off x="2313" y="15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5" name="Line 397"/>
              <p:cNvSpPr>
                <a:spLocks noChangeShapeType="1"/>
              </p:cNvSpPr>
              <p:nvPr/>
            </p:nvSpPr>
            <p:spPr bwMode="auto">
              <a:xfrm flipV="1">
                <a:off x="2313" y="149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6" name="Line 398"/>
              <p:cNvSpPr>
                <a:spLocks noChangeShapeType="1"/>
              </p:cNvSpPr>
              <p:nvPr/>
            </p:nvSpPr>
            <p:spPr bwMode="auto">
              <a:xfrm flipV="1">
                <a:off x="2313" y="148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7" name="Line 399"/>
              <p:cNvSpPr>
                <a:spLocks noChangeShapeType="1"/>
              </p:cNvSpPr>
              <p:nvPr/>
            </p:nvSpPr>
            <p:spPr bwMode="auto">
              <a:xfrm flipV="1">
                <a:off x="2313" y="147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8" name="Line 400"/>
              <p:cNvSpPr>
                <a:spLocks noChangeShapeType="1"/>
              </p:cNvSpPr>
              <p:nvPr/>
            </p:nvSpPr>
            <p:spPr bwMode="auto">
              <a:xfrm flipV="1">
                <a:off x="2313" y="146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9" name="Line 401"/>
              <p:cNvSpPr>
                <a:spLocks noChangeShapeType="1"/>
              </p:cNvSpPr>
              <p:nvPr/>
            </p:nvSpPr>
            <p:spPr bwMode="auto">
              <a:xfrm flipV="1">
                <a:off x="2313" y="14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0" name="Freeform 402"/>
              <p:cNvSpPr>
                <a:spLocks/>
              </p:cNvSpPr>
              <p:nvPr/>
            </p:nvSpPr>
            <p:spPr bwMode="auto">
              <a:xfrm>
                <a:off x="2310" y="1452"/>
                <a:ext cx="3" cy="1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3" y="0"/>
                  </a:cxn>
                  <a:cxn ang="0">
                    <a:pos x="0" y="0"/>
                  </a:cxn>
                </a:cxnLst>
                <a:rect l="0" t="0" r="r" b="b"/>
                <a:pathLst>
                  <a:path w="3" h="1">
                    <a:moveTo>
                      <a:pt x="3" y="1"/>
                    </a:move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1" name="Line 403"/>
              <p:cNvSpPr>
                <a:spLocks noChangeShapeType="1"/>
              </p:cNvSpPr>
              <p:nvPr/>
            </p:nvSpPr>
            <p:spPr bwMode="auto">
              <a:xfrm flipH="1">
                <a:off x="230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2" name="Line 404"/>
              <p:cNvSpPr>
                <a:spLocks noChangeShapeType="1"/>
              </p:cNvSpPr>
              <p:nvPr/>
            </p:nvSpPr>
            <p:spPr bwMode="auto">
              <a:xfrm flipH="1">
                <a:off x="229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3" name="Line 405"/>
              <p:cNvSpPr>
                <a:spLocks noChangeShapeType="1"/>
              </p:cNvSpPr>
              <p:nvPr/>
            </p:nvSpPr>
            <p:spPr bwMode="auto">
              <a:xfrm flipH="1">
                <a:off x="228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4" name="Line 406"/>
              <p:cNvSpPr>
                <a:spLocks noChangeShapeType="1"/>
              </p:cNvSpPr>
              <p:nvPr/>
            </p:nvSpPr>
            <p:spPr bwMode="auto">
              <a:xfrm flipH="1">
                <a:off x="227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5" name="Line 407"/>
              <p:cNvSpPr>
                <a:spLocks noChangeShapeType="1"/>
              </p:cNvSpPr>
              <p:nvPr/>
            </p:nvSpPr>
            <p:spPr bwMode="auto">
              <a:xfrm flipH="1">
                <a:off x="226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6" name="Line 408"/>
              <p:cNvSpPr>
                <a:spLocks noChangeShapeType="1"/>
              </p:cNvSpPr>
              <p:nvPr/>
            </p:nvSpPr>
            <p:spPr bwMode="auto">
              <a:xfrm flipH="1">
                <a:off x="225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7" name="Line 409"/>
              <p:cNvSpPr>
                <a:spLocks noChangeShapeType="1"/>
              </p:cNvSpPr>
              <p:nvPr/>
            </p:nvSpPr>
            <p:spPr bwMode="auto">
              <a:xfrm flipH="1">
                <a:off x="224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8" name="Line 410"/>
              <p:cNvSpPr>
                <a:spLocks noChangeShapeType="1"/>
              </p:cNvSpPr>
              <p:nvPr/>
            </p:nvSpPr>
            <p:spPr bwMode="auto">
              <a:xfrm flipH="1">
                <a:off x="223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9" name="Line 411"/>
              <p:cNvSpPr>
                <a:spLocks noChangeShapeType="1"/>
              </p:cNvSpPr>
              <p:nvPr/>
            </p:nvSpPr>
            <p:spPr bwMode="auto">
              <a:xfrm flipH="1">
                <a:off x="222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0" name="Line 412"/>
              <p:cNvSpPr>
                <a:spLocks noChangeShapeType="1"/>
              </p:cNvSpPr>
              <p:nvPr/>
            </p:nvSpPr>
            <p:spPr bwMode="auto">
              <a:xfrm flipH="1">
                <a:off x="221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1" name="Line 413"/>
              <p:cNvSpPr>
                <a:spLocks noChangeShapeType="1"/>
              </p:cNvSpPr>
              <p:nvPr/>
            </p:nvSpPr>
            <p:spPr bwMode="auto">
              <a:xfrm flipH="1">
                <a:off x="220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2" name="Line 414"/>
              <p:cNvSpPr>
                <a:spLocks noChangeShapeType="1"/>
              </p:cNvSpPr>
              <p:nvPr/>
            </p:nvSpPr>
            <p:spPr bwMode="auto">
              <a:xfrm flipH="1">
                <a:off x="219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3" name="Line 415"/>
              <p:cNvSpPr>
                <a:spLocks noChangeShapeType="1"/>
              </p:cNvSpPr>
              <p:nvPr/>
            </p:nvSpPr>
            <p:spPr bwMode="auto">
              <a:xfrm flipH="1">
                <a:off x="219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4" name="Line 416"/>
              <p:cNvSpPr>
                <a:spLocks noChangeShapeType="1"/>
              </p:cNvSpPr>
              <p:nvPr/>
            </p:nvSpPr>
            <p:spPr bwMode="auto">
              <a:xfrm flipH="1">
                <a:off x="218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5" name="Line 417"/>
              <p:cNvSpPr>
                <a:spLocks noChangeShapeType="1"/>
              </p:cNvSpPr>
              <p:nvPr/>
            </p:nvSpPr>
            <p:spPr bwMode="auto">
              <a:xfrm flipH="1">
                <a:off x="217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6" name="Line 418"/>
              <p:cNvSpPr>
                <a:spLocks noChangeShapeType="1"/>
              </p:cNvSpPr>
              <p:nvPr/>
            </p:nvSpPr>
            <p:spPr bwMode="auto">
              <a:xfrm flipH="1">
                <a:off x="216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7" name="Line 419"/>
              <p:cNvSpPr>
                <a:spLocks noChangeShapeType="1"/>
              </p:cNvSpPr>
              <p:nvPr/>
            </p:nvSpPr>
            <p:spPr bwMode="auto">
              <a:xfrm flipH="1">
                <a:off x="215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8" name="Line 420"/>
              <p:cNvSpPr>
                <a:spLocks noChangeShapeType="1"/>
              </p:cNvSpPr>
              <p:nvPr/>
            </p:nvSpPr>
            <p:spPr bwMode="auto">
              <a:xfrm flipH="1">
                <a:off x="214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9" name="Line 421"/>
              <p:cNvSpPr>
                <a:spLocks noChangeShapeType="1"/>
              </p:cNvSpPr>
              <p:nvPr/>
            </p:nvSpPr>
            <p:spPr bwMode="auto">
              <a:xfrm flipH="1">
                <a:off x="213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0" name="Line 422"/>
              <p:cNvSpPr>
                <a:spLocks noChangeShapeType="1"/>
              </p:cNvSpPr>
              <p:nvPr/>
            </p:nvSpPr>
            <p:spPr bwMode="auto">
              <a:xfrm flipH="1">
                <a:off x="212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1" name="Line 423"/>
              <p:cNvSpPr>
                <a:spLocks noChangeShapeType="1"/>
              </p:cNvSpPr>
              <p:nvPr/>
            </p:nvSpPr>
            <p:spPr bwMode="auto">
              <a:xfrm flipH="1">
                <a:off x="211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" name="Group 424"/>
            <p:cNvGrpSpPr>
              <a:grpSpLocks/>
            </p:cNvGrpSpPr>
            <p:nvPr/>
          </p:nvGrpSpPr>
          <p:grpSpPr bwMode="auto">
            <a:xfrm>
              <a:off x="273" y="1452"/>
              <a:ext cx="1838" cy="1"/>
              <a:chOff x="273" y="1452"/>
              <a:chExt cx="1838" cy="1"/>
            </a:xfrm>
          </p:grpSpPr>
          <p:sp>
            <p:nvSpPr>
              <p:cNvPr id="2473" name="Line 425"/>
              <p:cNvSpPr>
                <a:spLocks noChangeShapeType="1"/>
              </p:cNvSpPr>
              <p:nvPr/>
            </p:nvSpPr>
            <p:spPr bwMode="auto">
              <a:xfrm flipH="1">
                <a:off x="210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4" name="Line 426"/>
              <p:cNvSpPr>
                <a:spLocks noChangeShapeType="1"/>
              </p:cNvSpPr>
              <p:nvPr/>
            </p:nvSpPr>
            <p:spPr bwMode="auto">
              <a:xfrm flipH="1">
                <a:off x="209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5" name="Line 427"/>
              <p:cNvSpPr>
                <a:spLocks noChangeShapeType="1"/>
              </p:cNvSpPr>
              <p:nvPr/>
            </p:nvSpPr>
            <p:spPr bwMode="auto">
              <a:xfrm flipH="1">
                <a:off x="208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6" name="Line 428"/>
              <p:cNvSpPr>
                <a:spLocks noChangeShapeType="1"/>
              </p:cNvSpPr>
              <p:nvPr/>
            </p:nvSpPr>
            <p:spPr bwMode="auto">
              <a:xfrm flipH="1">
                <a:off x="207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7" name="Line 429"/>
              <p:cNvSpPr>
                <a:spLocks noChangeShapeType="1"/>
              </p:cNvSpPr>
              <p:nvPr/>
            </p:nvSpPr>
            <p:spPr bwMode="auto">
              <a:xfrm flipH="1">
                <a:off x="207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8" name="Line 430"/>
              <p:cNvSpPr>
                <a:spLocks noChangeShapeType="1"/>
              </p:cNvSpPr>
              <p:nvPr/>
            </p:nvSpPr>
            <p:spPr bwMode="auto">
              <a:xfrm flipH="1">
                <a:off x="206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9" name="Line 431"/>
              <p:cNvSpPr>
                <a:spLocks noChangeShapeType="1"/>
              </p:cNvSpPr>
              <p:nvPr/>
            </p:nvSpPr>
            <p:spPr bwMode="auto">
              <a:xfrm flipH="1">
                <a:off x="205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0" name="Line 432"/>
              <p:cNvSpPr>
                <a:spLocks noChangeShapeType="1"/>
              </p:cNvSpPr>
              <p:nvPr/>
            </p:nvSpPr>
            <p:spPr bwMode="auto">
              <a:xfrm flipH="1">
                <a:off x="204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1" name="Line 433"/>
              <p:cNvSpPr>
                <a:spLocks noChangeShapeType="1"/>
              </p:cNvSpPr>
              <p:nvPr/>
            </p:nvSpPr>
            <p:spPr bwMode="auto">
              <a:xfrm flipH="1">
                <a:off x="203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2" name="Line 434"/>
              <p:cNvSpPr>
                <a:spLocks noChangeShapeType="1"/>
              </p:cNvSpPr>
              <p:nvPr/>
            </p:nvSpPr>
            <p:spPr bwMode="auto">
              <a:xfrm flipH="1">
                <a:off x="202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3" name="Line 435"/>
              <p:cNvSpPr>
                <a:spLocks noChangeShapeType="1"/>
              </p:cNvSpPr>
              <p:nvPr/>
            </p:nvSpPr>
            <p:spPr bwMode="auto">
              <a:xfrm flipH="1">
                <a:off x="201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4" name="Line 436"/>
              <p:cNvSpPr>
                <a:spLocks noChangeShapeType="1"/>
              </p:cNvSpPr>
              <p:nvPr/>
            </p:nvSpPr>
            <p:spPr bwMode="auto">
              <a:xfrm flipH="1">
                <a:off x="200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5" name="Line 437"/>
              <p:cNvSpPr>
                <a:spLocks noChangeShapeType="1"/>
              </p:cNvSpPr>
              <p:nvPr/>
            </p:nvSpPr>
            <p:spPr bwMode="auto">
              <a:xfrm flipH="1">
                <a:off x="199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6" name="Line 438"/>
              <p:cNvSpPr>
                <a:spLocks noChangeShapeType="1"/>
              </p:cNvSpPr>
              <p:nvPr/>
            </p:nvSpPr>
            <p:spPr bwMode="auto">
              <a:xfrm flipH="1">
                <a:off x="198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7" name="Line 439"/>
              <p:cNvSpPr>
                <a:spLocks noChangeShapeType="1"/>
              </p:cNvSpPr>
              <p:nvPr/>
            </p:nvSpPr>
            <p:spPr bwMode="auto">
              <a:xfrm flipH="1">
                <a:off x="197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8" name="Line 440"/>
              <p:cNvSpPr>
                <a:spLocks noChangeShapeType="1"/>
              </p:cNvSpPr>
              <p:nvPr/>
            </p:nvSpPr>
            <p:spPr bwMode="auto">
              <a:xfrm flipH="1">
                <a:off x="196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9" name="Line 441"/>
              <p:cNvSpPr>
                <a:spLocks noChangeShapeType="1"/>
              </p:cNvSpPr>
              <p:nvPr/>
            </p:nvSpPr>
            <p:spPr bwMode="auto">
              <a:xfrm flipH="1">
                <a:off x="195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0" name="Line 442"/>
              <p:cNvSpPr>
                <a:spLocks noChangeShapeType="1"/>
              </p:cNvSpPr>
              <p:nvPr/>
            </p:nvSpPr>
            <p:spPr bwMode="auto">
              <a:xfrm flipH="1">
                <a:off x="195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1" name="Line 443"/>
              <p:cNvSpPr>
                <a:spLocks noChangeShapeType="1"/>
              </p:cNvSpPr>
              <p:nvPr/>
            </p:nvSpPr>
            <p:spPr bwMode="auto">
              <a:xfrm flipH="1">
                <a:off x="194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2" name="Line 444"/>
              <p:cNvSpPr>
                <a:spLocks noChangeShapeType="1"/>
              </p:cNvSpPr>
              <p:nvPr/>
            </p:nvSpPr>
            <p:spPr bwMode="auto">
              <a:xfrm flipH="1">
                <a:off x="193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3" name="Line 445"/>
              <p:cNvSpPr>
                <a:spLocks noChangeShapeType="1"/>
              </p:cNvSpPr>
              <p:nvPr/>
            </p:nvSpPr>
            <p:spPr bwMode="auto">
              <a:xfrm flipH="1">
                <a:off x="192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4" name="Line 446"/>
              <p:cNvSpPr>
                <a:spLocks noChangeShapeType="1"/>
              </p:cNvSpPr>
              <p:nvPr/>
            </p:nvSpPr>
            <p:spPr bwMode="auto">
              <a:xfrm flipH="1">
                <a:off x="191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5" name="Line 447"/>
              <p:cNvSpPr>
                <a:spLocks noChangeShapeType="1"/>
              </p:cNvSpPr>
              <p:nvPr/>
            </p:nvSpPr>
            <p:spPr bwMode="auto">
              <a:xfrm flipH="1">
                <a:off x="190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6" name="Line 448"/>
              <p:cNvSpPr>
                <a:spLocks noChangeShapeType="1"/>
              </p:cNvSpPr>
              <p:nvPr/>
            </p:nvSpPr>
            <p:spPr bwMode="auto">
              <a:xfrm flipH="1">
                <a:off x="189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7" name="Line 449"/>
              <p:cNvSpPr>
                <a:spLocks noChangeShapeType="1"/>
              </p:cNvSpPr>
              <p:nvPr/>
            </p:nvSpPr>
            <p:spPr bwMode="auto">
              <a:xfrm flipH="1">
                <a:off x="188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8" name="Line 450"/>
              <p:cNvSpPr>
                <a:spLocks noChangeShapeType="1"/>
              </p:cNvSpPr>
              <p:nvPr/>
            </p:nvSpPr>
            <p:spPr bwMode="auto">
              <a:xfrm flipH="1">
                <a:off x="187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9" name="Line 451"/>
              <p:cNvSpPr>
                <a:spLocks noChangeShapeType="1"/>
              </p:cNvSpPr>
              <p:nvPr/>
            </p:nvSpPr>
            <p:spPr bwMode="auto">
              <a:xfrm flipH="1">
                <a:off x="186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0" name="Line 452"/>
              <p:cNvSpPr>
                <a:spLocks noChangeShapeType="1"/>
              </p:cNvSpPr>
              <p:nvPr/>
            </p:nvSpPr>
            <p:spPr bwMode="auto">
              <a:xfrm flipH="1">
                <a:off x="185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1" name="Line 453"/>
              <p:cNvSpPr>
                <a:spLocks noChangeShapeType="1"/>
              </p:cNvSpPr>
              <p:nvPr/>
            </p:nvSpPr>
            <p:spPr bwMode="auto">
              <a:xfrm flipH="1">
                <a:off x="184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2" name="Line 454"/>
              <p:cNvSpPr>
                <a:spLocks noChangeShapeType="1"/>
              </p:cNvSpPr>
              <p:nvPr/>
            </p:nvSpPr>
            <p:spPr bwMode="auto">
              <a:xfrm flipH="1">
                <a:off x="184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3" name="Line 455"/>
              <p:cNvSpPr>
                <a:spLocks noChangeShapeType="1"/>
              </p:cNvSpPr>
              <p:nvPr/>
            </p:nvSpPr>
            <p:spPr bwMode="auto">
              <a:xfrm flipH="1">
                <a:off x="183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4" name="Line 456"/>
              <p:cNvSpPr>
                <a:spLocks noChangeShapeType="1"/>
              </p:cNvSpPr>
              <p:nvPr/>
            </p:nvSpPr>
            <p:spPr bwMode="auto">
              <a:xfrm flipH="1">
                <a:off x="182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5" name="Line 457"/>
              <p:cNvSpPr>
                <a:spLocks noChangeShapeType="1"/>
              </p:cNvSpPr>
              <p:nvPr/>
            </p:nvSpPr>
            <p:spPr bwMode="auto">
              <a:xfrm flipH="1">
                <a:off x="181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6" name="Line 458"/>
              <p:cNvSpPr>
                <a:spLocks noChangeShapeType="1"/>
              </p:cNvSpPr>
              <p:nvPr/>
            </p:nvSpPr>
            <p:spPr bwMode="auto">
              <a:xfrm flipH="1">
                <a:off x="180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7" name="Line 459"/>
              <p:cNvSpPr>
                <a:spLocks noChangeShapeType="1"/>
              </p:cNvSpPr>
              <p:nvPr/>
            </p:nvSpPr>
            <p:spPr bwMode="auto">
              <a:xfrm flipH="1">
                <a:off x="179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8" name="Line 460"/>
              <p:cNvSpPr>
                <a:spLocks noChangeShapeType="1"/>
              </p:cNvSpPr>
              <p:nvPr/>
            </p:nvSpPr>
            <p:spPr bwMode="auto">
              <a:xfrm flipH="1">
                <a:off x="178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9" name="Line 461"/>
              <p:cNvSpPr>
                <a:spLocks noChangeShapeType="1"/>
              </p:cNvSpPr>
              <p:nvPr/>
            </p:nvSpPr>
            <p:spPr bwMode="auto">
              <a:xfrm flipH="1">
                <a:off x="177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0" name="Line 462"/>
              <p:cNvSpPr>
                <a:spLocks noChangeShapeType="1"/>
              </p:cNvSpPr>
              <p:nvPr/>
            </p:nvSpPr>
            <p:spPr bwMode="auto">
              <a:xfrm flipH="1">
                <a:off x="176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1" name="Line 463"/>
              <p:cNvSpPr>
                <a:spLocks noChangeShapeType="1"/>
              </p:cNvSpPr>
              <p:nvPr/>
            </p:nvSpPr>
            <p:spPr bwMode="auto">
              <a:xfrm flipH="1">
                <a:off x="175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2" name="Line 464"/>
              <p:cNvSpPr>
                <a:spLocks noChangeShapeType="1"/>
              </p:cNvSpPr>
              <p:nvPr/>
            </p:nvSpPr>
            <p:spPr bwMode="auto">
              <a:xfrm flipH="1">
                <a:off x="174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3" name="Line 465"/>
              <p:cNvSpPr>
                <a:spLocks noChangeShapeType="1"/>
              </p:cNvSpPr>
              <p:nvPr/>
            </p:nvSpPr>
            <p:spPr bwMode="auto">
              <a:xfrm flipH="1">
                <a:off x="173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4" name="Line 466"/>
              <p:cNvSpPr>
                <a:spLocks noChangeShapeType="1"/>
              </p:cNvSpPr>
              <p:nvPr/>
            </p:nvSpPr>
            <p:spPr bwMode="auto">
              <a:xfrm flipH="1">
                <a:off x="172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5" name="Line 467"/>
              <p:cNvSpPr>
                <a:spLocks noChangeShapeType="1"/>
              </p:cNvSpPr>
              <p:nvPr/>
            </p:nvSpPr>
            <p:spPr bwMode="auto">
              <a:xfrm flipH="1">
                <a:off x="172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6" name="Line 468"/>
              <p:cNvSpPr>
                <a:spLocks noChangeShapeType="1"/>
              </p:cNvSpPr>
              <p:nvPr/>
            </p:nvSpPr>
            <p:spPr bwMode="auto">
              <a:xfrm flipH="1">
                <a:off x="171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7" name="Line 469"/>
              <p:cNvSpPr>
                <a:spLocks noChangeShapeType="1"/>
              </p:cNvSpPr>
              <p:nvPr/>
            </p:nvSpPr>
            <p:spPr bwMode="auto">
              <a:xfrm flipH="1">
                <a:off x="170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8" name="Line 470"/>
              <p:cNvSpPr>
                <a:spLocks noChangeShapeType="1"/>
              </p:cNvSpPr>
              <p:nvPr/>
            </p:nvSpPr>
            <p:spPr bwMode="auto">
              <a:xfrm flipH="1">
                <a:off x="169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9" name="Line 471"/>
              <p:cNvSpPr>
                <a:spLocks noChangeShapeType="1"/>
              </p:cNvSpPr>
              <p:nvPr/>
            </p:nvSpPr>
            <p:spPr bwMode="auto">
              <a:xfrm flipH="1">
                <a:off x="168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0" name="Line 472"/>
              <p:cNvSpPr>
                <a:spLocks noChangeShapeType="1"/>
              </p:cNvSpPr>
              <p:nvPr/>
            </p:nvSpPr>
            <p:spPr bwMode="auto">
              <a:xfrm flipH="1">
                <a:off x="167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1" name="Line 473"/>
              <p:cNvSpPr>
                <a:spLocks noChangeShapeType="1"/>
              </p:cNvSpPr>
              <p:nvPr/>
            </p:nvSpPr>
            <p:spPr bwMode="auto">
              <a:xfrm flipH="1">
                <a:off x="166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2" name="Line 474"/>
              <p:cNvSpPr>
                <a:spLocks noChangeShapeType="1"/>
              </p:cNvSpPr>
              <p:nvPr/>
            </p:nvSpPr>
            <p:spPr bwMode="auto">
              <a:xfrm flipH="1">
                <a:off x="165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3" name="Line 475"/>
              <p:cNvSpPr>
                <a:spLocks noChangeShapeType="1"/>
              </p:cNvSpPr>
              <p:nvPr/>
            </p:nvSpPr>
            <p:spPr bwMode="auto">
              <a:xfrm flipH="1">
                <a:off x="164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4" name="Line 476"/>
              <p:cNvSpPr>
                <a:spLocks noChangeShapeType="1"/>
              </p:cNvSpPr>
              <p:nvPr/>
            </p:nvSpPr>
            <p:spPr bwMode="auto">
              <a:xfrm flipH="1">
                <a:off x="163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5" name="Line 477"/>
              <p:cNvSpPr>
                <a:spLocks noChangeShapeType="1"/>
              </p:cNvSpPr>
              <p:nvPr/>
            </p:nvSpPr>
            <p:spPr bwMode="auto">
              <a:xfrm flipH="1">
                <a:off x="162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6" name="Line 478"/>
              <p:cNvSpPr>
                <a:spLocks noChangeShapeType="1"/>
              </p:cNvSpPr>
              <p:nvPr/>
            </p:nvSpPr>
            <p:spPr bwMode="auto">
              <a:xfrm flipH="1">
                <a:off x="161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7" name="Line 479"/>
              <p:cNvSpPr>
                <a:spLocks noChangeShapeType="1"/>
              </p:cNvSpPr>
              <p:nvPr/>
            </p:nvSpPr>
            <p:spPr bwMode="auto">
              <a:xfrm flipH="1">
                <a:off x="160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8" name="Line 480"/>
              <p:cNvSpPr>
                <a:spLocks noChangeShapeType="1"/>
              </p:cNvSpPr>
              <p:nvPr/>
            </p:nvSpPr>
            <p:spPr bwMode="auto">
              <a:xfrm flipH="1">
                <a:off x="160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9" name="Line 481"/>
              <p:cNvSpPr>
                <a:spLocks noChangeShapeType="1"/>
              </p:cNvSpPr>
              <p:nvPr/>
            </p:nvSpPr>
            <p:spPr bwMode="auto">
              <a:xfrm flipH="1">
                <a:off x="159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0" name="Line 482"/>
              <p:cNvSpPr>
                <a:spLocks noChangeShapeType="1"/>
              </p:cNvSpPr>
              <p:nvPr/>
            </p:nvSpPr>
            <p:spPr bwMode="auto">
              <a:xfrm flipH="1">
                <a:off x="158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1" name="Line 483"/>
              <p:cNvSpPr>
                <a:spLocks noChangeShapeType="1"/>
              </p:cNvSpPr>
              <p:nvPr/>
            </p:nvSpPr>
            <p:spPr bwMode="auto">
              <a:xfrm flipH="1">
                <a:off x="157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2" name="Line 484"/>
              <p:cNvSpPr>
                <a:spLocks noChangeShapeType="1"/>
              </p:cNvSpPr>
              <p:nvPr/>
            </p:nvSpPr>
            <p:spPr bwMode="auto">
              <a:xfrm flipH="1">
                <a:off x="156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3" name="Line 485"/>
              <p:cNvSpPr>
                <a:spLocks noChangeShapeType="1"/>
              </p:cNvSpPr>
              <p:nvPr/>
            </p:nvSpPr>
            <p:spPr bwMode="auto">
              <a:xfrm flipH="1">
                <a:off x="155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4" name="Line 486"/>
              <p:cNvSpPr>
                <a:spLocks noChangeShapeType="1"/>
              </p:cNvSpPr>
              <p:nvPr/>
            </p:nvSpPr>
            <p:spPr bwMode="auto">
              <a:xfrm flipH="1">
                <a:off x="154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5" name="Line 487"/>
              <p:cNvSpPr>
                <a:spLocks noChangeShapeType="1"/>
              </p:cNvSpPr>
              <p:nvPr/>
            </p:nvSpPr>
            <p:spPr bwMode="auto">
              <a:xfrm flipH="1">
                <a:off x="153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6" name="Line 488"/>
              <p:cNvSpPr>
                <a:spLocks noChangeShapeType="1"/>
              </p:cNvSpPr>
              <p:nvPr/>
            </p:nvSpPr>
            <p:spPr bwMode="auto">
              <a:xfrm flipH="1">
                <a:off x="152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7" name="Line 489"/>
              <p:cNvSpPr>
                <a:spLocks noChangeShapeType="1"/>
              </p:cNvSpPr>
              <p:nvPr/>
            </p:nvSpPr>
            <p:spPr bwMode="auto">
              <a:xfrm flipH="1">
                <a:off x="151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8" name="Line 490"/>
              <p:cNvSpPr>
                <a:spLocks noChangeShapeType="1"/>
              </p:cNvSpPr>
              <p:nvPr/>
            </p:nvSpPr>
            <p:spPr bwMode="auto">
              <a:xfrm flipH="1">
                <a:off x="150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9" name="Line 491"/>
              <p:cNvSpPr>
                <a:spLocks noChangeShapeType="1"/>
              </p:cNvSpPr>
              <p:nvPr/>
            </p:nvSpPr>
            <p:spPr bwMode="auto">
              <a:xfrm flipH="1">
                <a:off x="149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0" name="Line 492"/>
              <p:cNvSpPr>
                <a:spLocks noChangeShapeType="1"/>
              </p:cNvSpPr>
              <p:nvPr/>
            </p:nvSpPr>
            <p:spPr bwMode="auto">
              <a:xfrm flipH="1">
                <a:off x="148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1" name="Line 493"/>
              <p:cNvSpPr>
                <a:spLocks noChangeShapeType="1"/>
              </p:cNvSpPr>
              <p:nvPr/>
            </p:nvSpPr>
            <p:spPr bwMode="auto">
              <a:xfrm flipH="1">
                <a:off x="148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2" name="Line 494"/>
              <p:cNvSpPr>
                <a:spLocks noChangeShapeType="1"/>
              </p:cNvSpPr>
              <p:nvPr/>
            </p:nvSpPr>
            <p:spPr bwMode="auto">
              <a:xfrm flipH="1">
                <a:off x="147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3" name="Line 495"/>
              <p:cNvSpPr>
                <a:spLocks noChangeShapeType="1"/>
              </p:cNvSpPr>
              <p:nvPr/>
            </p:nvSpPr>
            <p:spPr bwMode="auto">
              <a:xfrm flipH="1">
                <a:off x="146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4" name="Line 496"/>
              <p:cNvSpPr>
                <a:spLocks noChangeShapeType="1"/>
              </p:cNvSpPr>
              <p:nvPr/>
            </p:nvSpPr>
            <p:spPr bwMode="auto">
              <a:xfrm flipH="1">
                <a:off x="145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5" name="Line 497"/>
              <p:cNvSpPr>
                <a:spLocks noChangeShapeType="1"/>
              </p:cNvSpPr>
              <p:nvPr/>
            </p:nvSpPr>
            <p:spPr bwMode="auto">
              <a:xfrm flipH="1">
                <a:off x="144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6" name="Line 498"/>
              <p:cNvSpPr>
                <a:spLocks noChangeShapeType="1"/>
              </p:cNvSpPr>
              <p:nvPr/>
            </p:nvSpPr>
            <p:spPr bwMode="auto">
              <a:xfrm flipH="1">
                <a:off x="143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7" name="Line 499"/>
              <p:cNvSpPr>
                <a:spLocks noChangeShapeType="1"/>
              </p:cNvSpPr>
              <p:nvPr/>
            </p:nvSpPr>
            <p:spPr bwMode="auto">
              <a:xfrm flipH="1">
                <a:off x="142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8" name="Line 500"/>
              <p:cNvSpPr>
                <a:spLocks noChangeShapeType="1"/>
              </p:cNvSpPr>
              <p:nvPr/>
            </p:nvSpPr>
            <p:spPr bwMode="auto">
              <a:xfrm flipH="1">
                <a:off x="141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9" name="Line 501"/>
              <p:cNvSpPr>
                <a:spLocks noChangeShapeType="1"/>
              </p:cNvSpPr>
              <p:nvPr/>
            </p:nvSpPr>
            <p:spPr bwMode="auto">
              <a:xfrm flipH="1">
                <a:off x="140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0" name="Line 502"/>
              <p:cNvSpPr>
                <a:spLocks noChangeShapeType="1"/>
              </p:cNvSpPr>
              <p:nvPr/>
            </p:nvSpPr>
            <p:spPr bwMode="auto">
              <a:xfrm flipH="1">
                <a:off x="139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1" name="Line 503"/>
              <p:cNvSpPr>
                <a:spLocks noChangeShapeType="1"/>
              </p:cNvSpPr>
              <p:nvPr/>
            </p:nvSpPr>
            <p:spPr bwMode="auto">
              <a:xfrm flipH="1">
                <a:off x="138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2" name="Line 504"/>
              <p:cNvSpPr>
                <a:spLocks noChangeShapeType="1"/>
              </p:cNvSpPr>
              <p:nvPr/>
            </p:nvSpPr>
            <p:spPr bwMode="auto">
              <a:xfrm flipH="1">
                <a:off x="137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3" name="Line 505"/>
              <p:cNvSpPr>
                <a:spLocks noChangeShapeType="1"/>
              </p:cNvSpPr>
              <p:nvPr/>
            </p:nvSpPr>
            <p:spPr bwMode="auto">
              <a:xfrm flipH="1">
                <a:off x="136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4" name="Line 506"/>
              <p:cNvSpPr>
                <a:spLocks noChangeShapeType="1"/>
              </p:cNvSpPr>
              <p:nvPr/>
            </p:nvSpPr>
            <p:spPr bwMode="auto">
              <a:xfrm flipH="1">
                <a:off x="136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5" name="Line 507"/>
              <p:cNvSpPr>
                <a:spLocks noChangeShapeType="1"/>
              </p:cNvSpPr>
              <p:nvPr/>
            </p:nvSpPr>
            <p:spPr bwMode="auto">
              <a:xfrm flipH="1">
                <a:off x="135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6" name="Line 508"/>
              <p:cNvSpPr>
                <a:spLocks noChangeShapeType="1"/>
              </p:cNvSpPr>
              <p:nvPr/>
            </p:nvSpPr>
            <p:spPr bwMode="auto">
              <a:xfrm flipH="1">
                <a:off x="134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7" name="Line 509"/>
              <p:cNvSpPr>
                <a:spLocks noChangeShapeType="1"/>
              </p:cNvSpPr>
              <p:nvPr/>
            </p:nvSpPr>
            <p:spPr bwMode="auto">
              <a:xfrm flipH="1">
                <a:off x="133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8" name="Line 510"/>
              <p:cNvSpPr>
                <a:spLocks noChangeShapeType="1"/>
              </p:cNvSpPr>
              <p:nvPr/>
            </p:nvSpPr>
            <p:spPr bwMode="auto">
              <a:xfrm flipH="1">
                <a:off x="132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9" name="Line 511"/>
              <p:cNvSpPr>
                <a:spLocks noChangeShapeType="1"/>
              </p:cNvSpPr>
              <p:nvPr/>
            </p:nvSpPr>
            <p:spPr bwMode="auto">
              <a:xfrm flipH="1">
                <a:off x="131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0" name="Line 512"/>
              <p:cNvSpPr>
                <a:spLocks noChangeShapeType="1"/>
              </p:cNvSpPr>
              <p:nvPr/>
            </p:nvSpPr>
            <p:spPr bwMode="auto">
              <a:xfrm flipH="1">
                <a:off x="130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1" name="Line 513"/>
              <p:cNvSpPr>
                <a:spLocks noChangeShapeType="1"/>
              </p:cNvSpPr>
              <p:nvPr/>
            </p:nvSpPr>
            <p:spPr bwMode="auto">
              <a:xfrm flipH="1">
                <a:off x="129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2" name="Line 514"/>
              <p:cNvSpPr>
                <a:spLocks noChangeShapeType="1"/>
              </p:cNvSpPr>
              <p:nvPr/>
            </p:nvSpPr>
            <p:spPr bwMode="auto">
              <a:xfrm flipH="1">
                <a:off x="128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3" name="Line 515"/>
              <p:cNvSpPr>
                <a:spLocks noChangeShapeType="1"/>
              </p:cNvSpPr>
              <p:nvPr/>
            </p:nvSpPr>
            <p:spPr bwMode="auto">
              <a:xfrm flipH="1">
                <a:off x="127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4" name="Line 516"/>
              <p:cNvSpPr>
                <a:spLocks noChangeShapeType="1"/>
              </p:cNvSpPr>
              <p:nvPr/>
            </p:nvSpPr>
            <p:spPr bwMode="auto">
              <a:xfrm flipH="1">
                <a:off x="126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5" name="Line 517"/>
              <p:cNvSpPr>
                <a:spLocks noChangeShapeType="1"/>
              </p:cNvSpPr>
              <p:nvPr/>
            </p:nvSpPr>
            <p:spPr bwMode="auto">
              <a:xfrm flipH="1">
                <a:off x="125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6" name="Line 518"/>
              <p:cNvSpPr>
                <a:spLocks noChangeShapeType="1"/>
              </p:cNvSpPr>
              <p:nvPr/>
            </p:nvSpPr>
            <p:spPr bwMode="auto">
              <a:xfrm flipH="1">
                <a:off x="125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7" name="Line 519"/>
              <p:cNvSpPr>
                <a:spLocks noChangeShapeType="1"/>
              </p:cNvSpPr>
              <p:nvPr/>
            </p:nvSpPr>
            <p:spPr bwMode="auto">
              <a:xfrm flipH="1">
                <a:off x="124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8" name="Line 520"/>
              <p:cNvSpPr>
                <a:spLocks noChangeShapeType="1"/>
              </p:cNvSpPr>
              <p:nvPr/>
            </p:nvSpPr>
            <p:spPr bwMode="auto">
              <a:xfrm flipH="1">
                <a:off x="123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9" name="Line 521"/>
              <p:cNvSpPr>
                <a:spLocks noChangeShapeType="1"/>
              </p:cNvSpPr>
              <p:nvPr/>
            </p:nvSpPr>
            <p:spPr bwMode="auto">
              <a:xfrm flipH="1">
                <a:off x="122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0" name="Line 522"/>
              <p:cNvSpPr>
                <a:spLocks noChangeShapeType="1"/>
              </p:cNvSpPr>
              <p:nvPr/>
            </p:nvSpPr>
            <p:spPr bwMode="auto">
              <a:xfrm flipH="1">
                <a:off x="121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1" name="Line 523"/>
              <p:cNvSpPr>
                <a:spLocks noChangeShapeType="1"/>
              </p:cNvSpPr>
              <p:nvPr/>
            </p:nvSpPr>
            <p:spPr bwMode="auto">
              <a:xfrm flipH="1">
                <a:off x="120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2" name="Line 524"/>
              <p:cNvSpPr>
                <a:spLocks noChangeShapeType="1"/>
              </p:cNvSpPr>
              <p:nvPr/>
            </p:nvSpPr>
            <p:spPr bwMode="auto">
              <a:xfrm flipH="1">
                <a:off x="119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3" name="Line 525"/>
              <p:cNvSpPr>
                <a:spLocks noChangeShapeType="1"/>
              </p:cNvSpPr>
              <p:nvPr/>
            </p:nvSpPr>
            <p:spPr bwMode="auto">
              <a:xfrm flipH="1">
                <a:off x="118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4" name="Line 526"/>
              <p:cNvSpPr>
                <a:spLocks noChangeShapeType="1"/>
              </p:cNvSpPr>
              <p:nvPr/>
            </p:nvSpPr>
            <p:spPr bwMode="auto">
              <a:xfrm flipH="1">
                <a:off x="117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5" name="Line 527"/>
              <p:cNvSpPr>
                <a:spLocks noChangeShapeType="1"/>
              </p:cNvSpPr>
              <p:nvPr/>
            </p:nvSpPr>
            <p:spPr bwMode="auto">
              <a:xfrm flipH="1">
                <a:off x="116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6" name="Line 528"/>
              <p:cNvSpPr>
                <a:spLocks noChangeShapeType="1"/>
              </p:cNvSpPr>
              <p:nvPr/>
            </p:nvSpPr>
            <p:spPr bwMode="auto">
              <a:xfrm flipH="1">
                <a:off x="115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7" name="Line 529"/>
              <p:cNvSpPr>
                <a:spLocks noChangeShapeType="1"/>
              </p:cNvSpPr>
              <p:nvPr/>
            </p:nvSpPr>
            <p:spPr bwMode="auto">
              <a:xfrm flipH="1">
                <a:off x="114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8" name="Line 530"/>
              <p:cNvSpPr>
                <a:spLocks noChangeShapeType="1"/>
              </p:cNvSpPr>
              <p:nvPr/>
            </p:nvSpPr>
            <p:spPr bwMode="auto">
              <a:xfrm flipH="1">
                <a:off x="113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9" name="Line 531"/>
              <p:cNvSpPr>
                <a:spLocks noChangeShapeType="1"/>
              </p:cNvSpPr>
              <p:nvPr/>
            </p:nvSpPr>
            <p:spPr bwMode="auto">
              <a:xfrm flipH="1">
                <a:off x="113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0" name="Line 532"/>
              <p:cNvSpPr>
                <a:spLocks noChangeShapeType="1"/>
              </p:cNvSpPr>
              <p:nvPr/>
            </p:nvSpPr>
            <p:spPr bwMode="auto">
              <a:xfrm flipH="1">
                <a:off x="112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1" name="Line 533"/>
              <p:cNvSpPr>
                <a:spLocks noChangeShapeType="1"/>
              </p:cNvSpPr>
              <p:nvPr/>
            </p:nvSpPr>
            <p:spPr bwMode="auto">
              <a:xfrm flipH="1">
                <a:off x="111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2" name="Line 534"/>
              <p:cNvSpPr>
                <a:spLocks noChangeShapeType="1"/>
              </p:cNvSpPr>
              <p:nvPr/>
            </p:nvSpPr>
            <p:spPr bwMode="auto">
              <a:xfrm flipH="1">
                <a:off x="110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3" name="Line 535"/>
              <p:cNvSpPr>
                <a:spLocks noChangeShapeType="1"/>
              </p:cNvSpPr>
              <p:nvPr/>
            </p:nvSpPr>
            <p:spPr bwMode="auto">
              <a:xfrm flipH="1">
                <a:off x="109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4" name="Line 536"/>
              <p:cNvSpPr>
                <a:spLocks noChangeShapeType="1"/>
              </p:cNvSpPr>
              <p:nvPr/>
            </p:nvSpPr>
            <p:spPr bwMode="auto">
              <a:xfrm flipH="1">
                <a:off x="108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5" name="Line 537"/>
              <p:cNvSpPr>
                <a:spLocks noChangeShapeType="1"/>
              </p:cNvSpPr>
              <p:nvPr/>
            </p:nvSpPr>
            <p:spPr bwMode="auto">
              <a:xfrm flipH="1">
                <a:off x="107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6" name="Line 538"/>
              <p:cNvSpPr>
                <a:spLocks noChangeShapeType="1"/>
              </p:cNvSpPr>
              <p:nvPr/>
            </p:nvSpPr>
            <p:spPr bwMode="auto">
              <a:xfrm flipH="1">
                <a:off x="106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7" name="Line 539"/>
              <p:cNvSpPr>
                <a:spLocks noChangeShapeType="1"/>
              </p:cNvSpPr>
              <p:nvPr/>
            </p:nvSpPr>
            <p:spPr bwMode="auto">
              <a:xfrm flipH="1">
                <a:off x="105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8" name="Line 540"/>
              <p:cNvSpPr>
                <a:spLocks noChangeShapeType="1"/>
              </p:cNvSpPr>
              <p:nvPr/>
            </p:nvSpPr>
            <p:spPr bwMode="auto">
              <a:xfrm flipH="1">
                <a:off x="104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9" name="Line 541"/>
              <p:cNvSpPr>
                <a:spLocks noChangeShapeType="1"/>
              </p:cNvSpPr>
              <p:nvPr/>
            </p:nvSpPr>
            <p:spPr bwMode="auto">
              <a:xfrm flipH="1">
                <a:off x="103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0" name="Line 542"/>
              <p:cNvSpPr>
                <a:spLocks noChangeShapeType="1"/>
              </p:cNvSpPr>
              <p:nvPr/>
            </p:nvSpPr>
            <p:spPr bwMode="auto">
              <a:xfrm flipH="1">
                <a:off x="102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1" name="Line 543"/>
              <p:cNvSpPr>
                <a:spLocks noChangeShapeType="1"/>
              </p:cNvSpPr>
              <p:nvPr/>
            </p:nvSpPr>
            <p:spPr bwMode="auto">
              <a:xfrm flipH="1">
                <a:off x="101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2" name="Line 544"/>
              <p:cNvSpPr>
                <a:spLocks noChangeShapeType="1"/>
              </p:cNvSpPr>
              <p:nvPr/>
            </p:nvSpPr>
            <p:spPr bwMode="auto">
              <a:xfrm flipH="1">
                <a:off x="101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3" name="Line 545"/>
              <p:cNvSpPr>
                <a:spLocks noChangeShapeType="1"/>
              </p:cNvSpPr>
              <p:nvPr/>
            </p:nvSpPr>
            <p:spPr bwMode="auto">
              <a:xfrm flipH="1">
                <a:off x="100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4" name="Line 546"/>
              <p:cNvSpPr>
                <a:spLocks noChangeShapeType="1"/>
              </p:cNvSpPr>
              <p:nvPr/>
            </p:nvSpPr>
            <p:spPr bwMode="auto">
              <a:xfrm flipH="1">
                <a:off x="99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5" name="Line 547"/>
              <p:cNvSpPr>
                <a:spLocks noChangeShapeType="1"/>
              </p:cNvSpPr>
              <p:nvPr/>
            </p:nvSpPr>
            <p:spPr bwMode="auto">
              <a:xfrm flipH="1">
                <a:off x="98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6" name="Line 548"/>
              <p:cNvSpPr>
                <a:spLocks noChangeShapeType="1"/>
              </p:cNvSpPr>
              <p:nvPr/>
            </p:nvSpPr>
            <p:spPr bwMode="auto">
              <a:xfrm flipH="1">
                <a:off x="97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7" name="Line 549"/>
              <p:cNvSpPr>
                <a:spLocks noChangeShapeType="1"/>
              </p:cNvSpPr>
              <p:nvPr/>
            </p:nvSpPr>
            <p:spPr bwMode="auto">
              <a:xfrm flipH="1">
                <a:off x="96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8" name="Line 550"/>
              <p:cNvSpPr>
                <a:spLocks noChangeShapeType="1"/>
              </p:cNvSpPr>
              <p:nvPr/>
            </p:nvSpPr>
            <p:spPr bwMode="auto">
              <a:xfrm flipH="1">
                <a:off x="95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9" name="Line 551"/>
              <p:cNvSpPr>
                <a:spLocks noChangeShapeType="1"/>
              </p:cNvSpPr>
              <p:nvPr/>
            </p:nvSpPr>
            <p:spPr bwMode="auto">
              <a:xfrm flipH="1">
                <a:off x="94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0" name="Line 552"/>
              <p:cNvSpPr>
                <a:spLocks noChangeShapeType="1"/>
              </p:cNvSpPr>
              <p:nvPr/>
            </p:nvSpPr>
            <p:spPr bwMode="auto">
              <a:xfrm flipH="1">
                <a:off x="93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1" name="Line 553"/>
              <p:cNvSpPr>
                <a:spLocks noChangeShapeType="1"/>
              </p:cNvSpPr>
              <p:nvPr/>
            </p:nvSpPr>
            <p:spPr bwMode="auto">
              <a:xfrm flipH="1">
                <a:off x="92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2" name="Line 554"/>
              <p:cNvSpPr>
                <a:spLocks noChangeShapeType="1"/>
              </p:cNvSpPr>
              <p:nvPr/>
            </p:nvSpPr>
            <p:spPr bwMode="auto">
              <a:xfrm flipH="1">
                <a:off x="91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3" name="Line 555"/>
              <p:cNvSpPr>
                <a:spLocks noChangeShapeType="1"/>
              </p:cNvSpPr>
              <p:nvPr/>
            </p:nvSpPr>
            <p:spPr bwMode="auto">
              <a:xfrm flipH="1">
                <a:off x="90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4" name="Line 556"/>
              <p:cNvSpPr>
                <a:spLocks noChangeShapeType="1"/>
              </p:cNvSpPr>
              <p:nvPr/>
            </p:nvSpPr>
            <p:spPr bwMode="auto">
              <a:xfrm flipH="1">
                <a:off x="89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5" name="Line 557"/>
              <p:cNvSpPr>
                <a:spLocks noChangeShapeType="1"/>
              </p:cNvSpPr>
              <p:nvPr/>
            </p:nvSpPr>
            <p:spPr bwMode="auto">
              <a:xfrm flipH="1">
                <a:off x="89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6" name="Line 558"/>
              <p:cNvSpPr>
                <a:spLocks noChangeShapeType="1"/>
              </p:cNvSpPr>
              <p:nvPr/>
            </p:nvSpPr>
            <p:spPr bwMode="auto">
              <a:xfrm flipH="1">
                <a:off x="88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7" name="Line 559"/>
              <p:cNvSpPr>
                <a:spLocks noChangeShapeType="1"/>
              </p:cNvSpPr>
              <p:nvPr/>
            </p:nvSpPr>
            <p:spPr bwMode="auto">
              <a:xfrm flipH="1">
                <a:off x="87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8" name="Line 560"/>
              <p:cNvSpPr>
                <a:spLocks noChangeShapeType="1"/>
              </p:cNvSpPr>
              <p:nvPr/>
            </p:nvSpPr>
            <p:spPr bwMode="auto">
              <a:xfrm flipH="1">
                <a:off x="86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9" name="Line 561"/>
              <p:cNvSpPr>
                <a:spLocks noChangeShapeType="1"/>
              </p:cNvSpPr>
              <p:nvPr/>
            </p:nvSpPr>
            <p:spPr bwMode="auto">
              <a:xfrm flipH="1">
                <a:off x="85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0" name="Line 562"/>
              <p:cNvSpPr>
                <a:spLocks noChangeShapeType="1"/>
              </p:cNvSpPr>
              <p:nvPr/>
            </p:nvSpPr>
            <p:spPr bwMode="auto">
              <a:xfrm flipH="1">
                <a:off x="84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1" name="Line 563"/>
              <p:cNvSpPr>
                <a:spLocks noChangeShapeType="1"/>
              </p:cNvSpPr>
              <p:nvPr/>
            </p:nvSpPr>
            <p:spPr bwMode="auto">
              <a:xfrm flipH="1">
                <a:off x="83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2" name="Line 564"/>
              <p:cNvSpPr>
                <a:spLocks noChangeShapeType="1"/>
              </p:cNvSpPr>
              <p:nvPr/>
            </p:nvSpPr>
            <p:spPr bwMode="auto">
              <a:xfrm flipH="1">
                <a:off x="82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3" name="Line 565"/>
              <p:cNvSpPr>
                <a:spLocks noChangeShapeType="1"/>
              </p:cNvSpPr>
              <p:nvPr/>
            </p:nvSpPr>
            <p:spPr bwMode="auto">
              <a:xfrm flipH="1">
                <a:off x="81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4" name="Line 566"/>
              <p:cNvSpPr>
                <a:spLocks noChangeShapeType="1"/>
              </p:cNvSpPr>
              <p:nvPr/>
            </p:nvSpPr>
            <p:spPr bwMode="auto">
              <a:xfrm flipH="1">
                <a:off x="80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5" name="Line 567"/>
              <p:cNvSpPr>
                <a:spLocks noChangeShapeType="1"/>
              </p:cNvSpPr>
              <p:nvPr/>
            </p:nvSpPr>
            <p:spPr bwMode="auto">
              <a:xfrm flipH="1">
                <a:off x="79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6" name="Line 568"/>
              <p:cNvSpPr>
                <a:spLocks noChangeShapeType="1"/>
              </p:cNvSpPr>
              <p:nvPr/>
            </p:nvSpPr>
            <p:spPr bwMode="auto">
              <a:xfrm flipH="1">
                <a:off x="78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7" name="Line 569"/>
              <p:cNvSpPr>
                <a:spLocks noChangeShapeType="1"/>
              </p:cNvSpPr>
              <p:nvPr/>
            </p:nvSpPr>
            <p:spPr bwMode="auto">
              <a:xfrm flipH="1">
                <a:off x="78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8" name="Line 570"/>
              <p:cNvSpPr>
                <a:spLocks noChangeShapeType="1"/>
              </p:cNvSpPr>
              <p:nvPr/>
            </p:nvSpPr>
            <p:spPr bwMode="auto">
              <a:xfrm flipH="1">
                <a:off x="77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9" name="Line 571"/>
              <p:cNvSpPr>
                <a:spLocks noChangeShapeType="1"/>
              </p:cNvSpPr>
              <p:nvPr/>
            </p:nvSpPr>
            <p:spPr bwMode="auto">
              <a:xfrm flipH="1">
                <a:off x="76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0" name="Line 572"/>
              <p:cNvSpPr>
                <a:spLocks noChangeShapeType="1"/>
              </p:cNvSpPr>
              <p:nvPr/>
            </p:nvSpPr>
            <p:spPr bwMode="auto">
              <a:xfrm flipH="1">
                <a:off x="75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1" name="Line 573"/>
              <p:cNvSpPr>
                <a:spLocks noChangeShapeType="1"/>
              </p:cNvSpPr>
              <p:nvPr/>
            </p:nvSpPr>
            <p:spPr bwMode="auto">
              <a:xfrm flipH="1">
                <a:off x="74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2" name="Line 574"/>
              <p:cNvSpPr>
                <a:spLocks noChangeShapeType="1"/>
              </p:cNvSpPr>
              <p:nvPr/>
            </p:nvSpPr>
            <p:spPr bwMode="auto">
              <a:xfrm flipH="1">
                <a:off x="73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3" name="Line 575"/>
              <p:cNvSpPr>
                <a:spLocks noChangeShapeType="1"/>
              </p:cNvSpPr>
              <p:nvPr/>
            </p:nvSpPr>
            <p:spPr bwMode="auto">
              <a:xfrm flipH="1">
                <a:off x="72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4" name="Line 576"/>
              <p:cNvSpPr>
                <a:spLocks noChangeShapeType="1"/>
              </p:cNvSpPr>
              <p:nvPr/>
            </p:nvSpPr>
            <p:spPr bwMode="auto">
              <a:xfrm flipH="1">
                <a:off x="71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5" name="Line 577"/>
              <p:cNvSpPr>
                <a:spLocks noChangeShapeType="1"/>
              </p:cNvSpPr>
              <p:nvPr/>
            </p:nvSpPr>
            <p:spPr bwMode="auto">
              <a:xfrm flipH="1">
                <a:off x="70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6" name="Line 578"/>
              <p:cNvSpPr>
                <a:spLocks noChangeShapeType="1"/>
              </p:cNvSpPr>
              <p:nvPr/>
            </p:nvSpPr>
            <p:spPr bwMode="auto">
              <a:xfrm flipH="1">
                <a:off x="69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7" name="Line 579"/>
              <p:cNvSpPr>
                <a:spLocks noChangeShapeType="1"/>
              </p:cNvSpPr>
              <p:nvPr/>
            </p:nvSpPr>
            <p:spPr bwMode="auto">
              <a:xfrm flipH="1">
                <a:off x="68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8" name="Line 580"/>
              <p:cNvSpPr>
                <a:spLocks noChangeShapeType="1"/>
              </p:cNvSpPr>
              <p:nvPr/>
            </p:nvSpPr>
            <p:spPr bwMode="auto">
              <a:xfrm flipH="1">
                <a:off x="67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9" name="Line 581"/>
              <p:cNvSpPr>
                <a:spLocks noChangeShapeType="1"/>
              </p:cNvSpPr>
              <p:nvPr/>
            </p:nvSpPr>
            <p:spPr bwMode="auto">
              <a:xfrm flipH="1">
                <a:off x="66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0" name="Line 582"/>
              <p:cNvSpPr>
                <a:spLocks noChangeShapeType="1"/>
              </p:cNvSpPr>
              <p:nvPr/>
            </p:nvSpPr>
            <p:spPr bwMode="auto">
              <a:xfrm flipH="1">
                <a:off x="66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1" name="Line 583"/>
              <p:cNvSpPr>
                <a:spLocks noChangeShapeType="1"/>
              </p:cNvSpPr>
              <p:nvPr/>
            </p:nvSpPr>
            <p:spPr bwMode="auto">
              <a:xfrm flipH="1">
                <a:off x="65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2" name="Line 584"/>
              <p:cNvSpPr>
                <a:spLocks noChangeShapeType="1"/>
              </p:cNvSpPr>
              <p:nvPr/>
            </p:nvSpPr>
            <p:spPr bwMode="auto">
              <a:xfrm flipH="1">
                <a:off x="64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3" name="Line 585"/>
              <p:cNvSpPr>
                <a:spLocks noChangeShapeType="1"/>
              </p:cNvSpPr>
              <p:nvPr/>
            </p:nvSpPr>
            <p:spPr bwMode="auto">
              <a:xfrm flipH="1">
                <a:off x="63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4" name="Line 586"/>
              <p:cNvSpPr>
                <a:spLocks noChangeShapeType="1"/>
              </p:cNvSpPr>
              <p:nvPr/>
            </p:nvSpPr>
            <p:spPr bwMode="auto">
              <a:xfrm flipH="1">
                <a:off x="62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5" name="Line 587"/>
              <p:cNvSpPr>
                <a:spLocks noChangeShapeType="1"/>
              </p:cNvSpPr>
              <p:nvPr/>
            </p:nvSpPr>
            <p:spPr bwMode="auto">
              <a:xfrm flipH="1">
                <a:off x="61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6" name="Line 588"/>
              <p:cNvSpPr>
                <a:spLocks noChangeShapeType="1"/>
              </p:cNvSpPr>
              <p:nvPr/>
            </p:nvSpPr>
            <p:spPr bwMode="auto">
              <a:xfrm flipH="1">
                <a:off x="60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7" name="Line 589"/>
              <p:cNvSpPr>
                <a:spLocks noChangeShapeType="1"/>
              </p:cNvSpPr>
              <p:nvPr/>
            </p:nvSpPr>
            <p:spPr bwMode="auto">
              <a:xfrm flipH="1">
                <a:off x="59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8" name="Line 590"/>
              <p:cNvSpPr>
                <a:spLocks noChangeShapeType="1"/>
              </p:cNvSpPr>
              <p:nvPr/>
            </p:nvSpPr>
            <p:spPr bwMode="auto">
              <a:xfrm flipH="1">
                <a:off x="58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9" name="Line 591"/>
              <p:cNvSpPr>
                <a:spLocks noChangeShapeType="1"/>
              </p:cNvSpPr>
              <p:nvPr/>
            </p:nvSpPr>
            <p:spPr bwMode="auto">
              <a:xfrm flipH="1">
                <a:off x="57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0" name="Line 592"/>
              <p:cNvSpPr>
                <a:spLocks noChangeShapeType="1"/>
              </p:cNvSpPr>
              <p:nvPr/>
            </p:nvSpPr>
            <p:spPr bwMode="auto">
              <a:xfrm flipH="1">
                <a:off x="56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1" name="Line 593"/>
              <p:cNvSpPr>
                <a:spLocks noChangeShapeType="1"/>
              </p:cNvSpPr>
              <p:nvPr/>
            </p:nvSpPr>
            <p:spPr bwMode="auto">
              <a:xfrm flipH="1">
                <a:off x="55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2" name="Line 594"/>
              <p:cNvSpPr>
                <a:spLocks noChangeShapeType="1"/>
              </p:cNvSpPr>
              <p:nvPr/>
            </p:nvSpPr>
            <p:spPr bwMode="auto">
              <a:xfrm flipH="1">
                <a:off x="54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3" name="Line 595"/>
              <p:cNvSpPr>
                <a:spLocks noChangeShapeType="1"/>
              </p:cNvSpPr>
              <p:nvPr/>
            </p:nvSpPr>
            <p:spPr bwMode="auto">
              <a:xfrm flipH="1">
                <a:off x="54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4" name="Line 596"/>
              <p:cNvSpPr>
                <a:spLocks noChangeShapeType="1"/>
              </p:cNvSpPr>
              <p:nvPr/>
            </p:nvSpPr>
            <p:spPr bwMode="auto">
              <a:xfrm flipH="1">
                <a:off x="53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5" name="Line 597"/>
              <p:cNvSpPr>
                <a:spLocks noChangeShapeType="1"/>
              </p:cNvSpPr>
              <p:nvPr/>
            </p:nvSpPr>
            <p:spPr bwMode="auto">
              <a:xfrm flipH="1">
                <a:off x="52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6" name="Line 598"/>
              <p:cNvSpPr>
                <a:spLocks noChangeShapeType="1"/>
              </p:cNvSpPr>
              <p:nvPr/>
            </p:nvSpPr>
            <p:spPr bwMode="auto">
              <a:xfrm flipH="1">
                <a:off x="51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7" name="Line 599"/>
              <p:cNvSpPr>
                <a:spLocks noChangeShapeType="1"/>
              </p:cNvSpPr>
              <p:nvPr/>
            </p:nvSpPr>
            <p:spPr bwMode="auto">
              <a:xfrm flipH="1">
                <a:off x="50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8" name="Line 600"/>
              <p:cNvSpPr>
                <a:spLocks noChangeShapeType="1"/>
              </p:cNvSpPr>
              <p:nvPr/>
            </p:nvSpPr>
            <p:spPr bwMode="auto">
              <a:xfrm flipH="1">
                <a:off x="49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9" name="Line 601"/>
              <p:cNvSpPr>
                <a:spLocks noChangeShapeType="1"/>
              </p:cNvSpPr>
              <p:nvPr/>
            </p:nvSpPr>
            <p:spPr bwMode="auto">
              <a:xfrm flipH="1">
                <a:off x="48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0" name="Line 602"/>
              <p:cNvSpPr>
                <a:spLocks noChangeShapeType="1"/>
              </p:cNvSpPr>
              <p:nvPr/>
            </p:nvSpPr>
            <p:spPr bwMode="auto">
              <a:xfrm flipH="1">
                <a:off x="47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1" name="Line 603"/>
              <p:cNvSpPr>
                <a:spLocks noChangeShapeType="1"/>
              </p:cNvSpPr>
              <p:nvPr/>
            </p:nvSpPr>
            <p:spPr bwMode="auto">
              <a:xfrm flipH="1">
                <a:off x="46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2" name="Line 604"/>
              <p:cNvSpPr>
                <a:spLocks noChangeShapeType="1"/>
              </p:cNvSpPr>
              <p:nvPr/>
            </p:nvSpPr>
            <p:spPr bwMode="auto">
              <a:xfrm flipH="1">
                <a:off x="45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3" name="Line 605"/>
              <p:cNvSpPr>
                <a:spLocks noChangeShapeType="1"/>
              </p:cNvSpPr>
              <p:nvPr/>
            </p:nvSpPr>
            <p:spPr bwMode="auto">
              <a:xfrm flipH="1">
                <a:off x="44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4" name="Line 606"/>
              <p:cNvSpPr>
                <a:spLocks noChangeShapeType="1"/>
              </p:cNvSpPr>
              <p:nvPr/>
            </p:nvSpPr>
            <p:spPr bwMode="auto">
              <a:xfrm flipH="1">
                <a:off x="43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5" name="Line 607"/>
              <p:cNvSpPr>
                <a:spLocks noChangeShapeType="1"/>
              </p:cNvSpPr>
              <p:nvPr/>
            </p:nvSpPr>
            <p:spPr bwMode="auto">
              <a:xfrm flipH="1">
                <a:off x="42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6" name="Line 608"/>
              <p:cNvSpPr>
                <a:spLocks noChangeShapeType="1"/>
              </p:cNvSpPr>
              <p:nvPr/>
            </p:nvSpPr>
            <p:spPr bwMode="auto">
              <a:xfrm flipH="1">
                <a:off x="42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7" name="Line 609"/>
              <p:cNvSpPr>
                <a:spLocks noChangeShapeType="1"/>
              </p:cNvSpPr>
              <p:nvPr/>
            </p:nvSpPr>
            <p:spPr bwMode="auto">
              <a:xfrm flipH="1">
                <a:off x="41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8" name="Line 610"/>
              <p:cNvSpPr>
                <a:spLocks noChangeShapeType="1"/>
              </p:cNvSpPr>
              <p:nvPr/>
            </p:nvSpPr>
            <p:spPr bwMode="auto">
              <a:xfrm flipH="1">
                <a:off x="40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9" name="Line 611"/>
              <p:cNvSpPr>
                <a:spLocks noChangeShapeType="1"/>
              </p:cNvSpPr>
              <p:nvPr/>
            </p:nvSpPr>
            <p:spPr bwMode="auto">
              <a:xfrm flipH="1">
                <a:off x="39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0" name="Line 612"/>
              <p:cNvSpPr>
                <a:spLocks noChangeShapeType="1"/>
              </p:cNvSpPr>
              <p:nvPr/>
            </p:nvSpPr>
            <p:spPr bwMode="auto">
              <a:xfrm flipH="1">
                <a:off x="38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1" name="Line 613"/>
              <p:cNvSpPr>
                <a:spLocks noChangeShapeType="1"/>
              </p:cNvSpPr>
              <p:nvPr/>
            </p:nvSpPr>
            <p:spPr bwMode="auto">
              <a:xfrm flipH="1">
                <a:off x="37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2" name="Line 614"/>
              <p:cNvSpPr>
                <a:spLocks noChangeShapeType="1"/>
              </p:cNvSpPr>
              <p:nvPr/>
            </p:nvSpPr>
            <p:spPr bwMode="auto">
              <a:xfrm flipH="1">
                <a:off x="36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3" name="Line 615"/>
              <p:cNvSpPr>
                <a:spLocks noChangeShapeType="1"/>
              </p:cNvSpPr>
              <p:nvPr/>
            </p:nvSpPr>
            <p:spPr bwMode="auto">
              <a:xfrm flipH="1">
                <a:off x="35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4" name="Line 616"/>
              <p:cNvSpPr>
                <a:spLocks noChangeShapeType="1"/>
              </p:cNvSpPr>
              <p:nvPr/>
            </p:nvSpPr>
            <p:spPr bwMode="auto">
              <a:xfrm flipH="1">
                <a:off x="34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5" name="Line 617"/>
              <p:cNvSpPr>
                <a:spLocks noChangeShapeType="1"/>
              </p:cNvSpPr>
              <p:nvPr/>
            </p:nvSpPr>
            <p:spPr bwMode="auto">
              <a:xfrm flipH="1">
                <a:off x="33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6" name="Line 618"/>
              <p:cNvSpPr>
                <a:spLocks noChangeShapeType="1"/>
              </p:cNvSpPr>
              <p:nvPr/>
            </p:nvSpPr>
            <p:spPr bwMode="auto">
              <a:xfrm flipH="1">
                <a:off x="32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7" name="Line 619"/>
              <p:cNvSpPr>
                <a:spLocks noChangeShapeType="1"/>
              </p:cNvSpPr>
              <p:nvPr/>
            </p:nvSpPr>
            <p:spPr bwMode="auto">
              <a:xfrm flipH="1">
                <a:off x="31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8" name="Line 620"/>
              <p:cNvSpPr>
                <a:spLocks noChangeShapeType="1"/>
              </p:cNvSpPr>
              <p:nvPr/>
            </p:nvSpPr>
            <p:spPr bwMode="auto">
              <a:xfrm flipH="1">
                <a:off x="30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9" name="Line 621"/>
              <p:cNvSpPr>
                <a:spLocks noChangeShapeType="1"/>
              </p:cNvSpPr>
              <p:nvPr/>
            </p:nvSpPr>
            <p:spPr bwMode="auto">
              <a:xfrm flipH="1">
                <a:off x="30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0" name="Line 622"/>
              <p:cNvSpPr>
                <a:spLocks noChangeShapeType="1"/>
              </p:cNvSpPr>
              <p:nvPr/>
            </p:nvSpPr>
            <p:spPr bwMode="auto">
              <a:xfrm flipH="1">
                <a:off x="29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1" name="Line 623"/>
              <p:cNvSpPr>
                <a:spLocks noChangeShapeType="1"/>
              </p:cNvSpPr>
              <p:nvPr/>
            </p:nvSpPr>
            <p:spPr bwMode="auto">
              <a:xfrm flipH="1">
                <a:off x="28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2" name="Line 624"/>
              <p:cNvSpPr>
                <a:spLocks noChangeShapeType="1"/>
              </p:cNvSpPr>
              <p:nvPr/>
            </p:nvSpPr>
            <p:spPr bwMode="auto">
              <a:xfrm flipH="1">
                <a:off x="27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6" name="Group 625"/>
            <p:cNvGrpSpPr>
              <a:grpSpLocks/>
            </p:cNvGrpSpPr>
            <p:nvPr/>
          </p:nvGrpSpPr>
          <p:grpSpPr bwMode="auto">
            <a:xfrm>
              <a:off x="63" y="1452"/>
              <a:ext cx="1945" cy="1218"/>
              <a:chOff x="64" y="1452"/>
              <a:chExt cx="1945" cy="1218"/>
            </a:xfrm>
          </p:grpSpPr>
          <p:sp>
            <p:nvSpPr>
              <p:cNvPr id="2674" name="Line 626"/>
              <p:cNvSpPr>
                <a:spLocks noChangeShapeType="1"/>
              </p:cNvSpPr>
              <p:nvPr/>
            </p:nvSpPr>
            <p:spPr bwMode="auto">
              <a:xfrm flipH="1">
                <a:off x="26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5" name="Line 627"/>
              <p:cNvSpPr>
                <a:spLocks noChangeShapeType="1"/>
              </p:cNvSpPr>
              <p:nvPr/>
            </p:nvSpPr>
            <p:spPr bwMode="auto">
              <a:xfrm flipH="1">
                <a:off x="25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6" name="Line 628"/>
              <p:cNvSpPr>
                <a:spLocks noChangeShapeType="1"/>
              </p:cNvSpPr>
              <p:nvPr/>
            </p:nvSpPr>
            <p:spPr bwMode="auto">
              <a:xfrm flipH="1">
                <a:off x="24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7" name="Line 629"/>
              <p:cNvSpPr>
                <a:spLocks noChangeShapeType="1"/>
              </p:cNvSpPr>
              <p:nvPr/>
            </p:nvSpPr>
            <p:spPr bwMode="auto">
              <a:xfrm flipH="1">
                <a:off x="23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8" name="Line 630"/>
              <p:cNvSpPr>
                <a:spLocks noChangeShapeType="1"/>
              </p:cNvSpPr>
              <p:nvPr/>
            </p:nvSpPr>
            <p:spPr bwMode="auto">
              <a:xfrm flipH="1">
                <a:off x="22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9" name="Line 631"/>
              <p:cNvSpPr>
                <a:spLocks noChangeShapeType="1"/>
              </p:cNvSpPr>
              <p:nvPr/>
            </p:nvSpPr>
            <p:spPr bwMode="auto">
              <a:xfrm flipH="1">
                <a:off x="21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0" name="Line 632"/>
              <p:cNvSpPr>
                <a:spLocks noChangeShapeType="1"/>
              </p:cNvSpPr>
              <p:nvPr/>
            </p:nvSpPr>
            <p:spPr bwMode="auto">
              <a:xfrm flipH="1">
                <a:off x="20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1" name="Line 633"/>
              <p:cNvSpPr>
                <a:spLocks noChangeShapeType="1"/>
              </p:cNvSpPr>
              <p:nvPr/>
            </p:nvSpPr>
            <p:spPr bwMode="auto">
              <a:xfrm flipH="1">
                <a:off x="19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2" name="Line 634"/>
              <p:cNvSpPr>
                <a:spLocks noChangeShapeType="1"/>
              </p:cNvSpPr>
              <p:nvPr/>
            </p:nvSpPr>
            <p:spPr bwMode="auto">
              <a:xfrm flipH="1">
                <a:off x="19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3" name="Line 635"/>
              <p:cNvSpPr>
                <a:spLocks noChangeShapeType="1"/>
              </p:cNvSpPr>
              <p:nvPr/>
            </p:nvSpPr>
            <p:spPr bwMode="auto">
              <a:xfrm flipH="1">
                <a:off x="18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4" name="Line 636"/>
              <p:cNvSpPr>
                <a:spLocks noChangeShapeType="1"/>
              </p:cNvSpPr>
              <p:nvPr/>
            </p:nvSpPr>
            <p:spPr bwMode="auto">
              <a:xfrm flipH="1">
                <a:off x="17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5" name="Line 637"/>
              <p:cNvSpPr>
                <a:spLocks noChangeShapeType="1"/>
              </p:cNvSpPr>
              <p:nvPr/>
            </p:nvSpPr>
            <p:spPr bwMode="auto">
              <a:xfrm flipH="1">
                <a:off x="16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6" name="Line 638"/>
              <p:cNvSpPr>
                <a:spLocks noChangeShapeType="1"/>
              </p:cNvSpPr>
              <p:nvPr/>
            </p:nvSpPr>
            <p:spPr bwMode="auto">
              <a:xfrm flipH="1">
                <a:off x="15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7" name="Line 639"/>
              <p:cNvSpPr>
                <a:spLocks noChangeShapeType="1"/>
              </p:cNvSpPr>
              <p:nvPr/>
            </p:nvSpPr>
            <p:spPr bwMode="auto">
              <a:xfrm flipH="1">
                <a:off x="14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8" name="Line 640"/>
              <p:cNvSpPr>
                <a:spLocks noChangeShapeType="1"/>
              </p:cNvSpPr>
              <p:nvPr/>
            </p:nvSpPr>
            <p:spPr bwMode="auto">
              <a:xfrm flipH="1">
                <a:off x="13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9" name="Line 641"/>
              <p:cNvSpPr>
                <a:spLocks noChangeShapeType="1"/>
              </p:cNvSpPr>
              <p:nvPr/>
            </p:nvSpPr>
            <p:spPr bwMode="auto">
              <a:xfrm flipH="1">
                <a:off x="12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0" name="Line 642"/>
              <p:cNvSpPr>
                <a:spLocks noChangeShapeType="1"/>
              </p:cNvSpPr>
              <p:nvPr/>
            </p:nvSpPr>
            <p:spPr bwMode="auto">
              <a:xfrm flipH="1">
                <a:off x="11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1" name="Line 643"/>
              <p:cNvSpPr>
                <a:spLocks noChangeShapeType="1"/>
              </p:cNvSpPr>
              <p:nvPr/>
            </p:nvSpPr>
            <p:spPr bwMode="auto">
              <a:xfrm flipH="1">
                <a:off x="10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2" name="Line 644"/>
              <p:cNvSpPr>
                <a:spLocks noChangeShapeType="1"/>
              </p:cNvSpPr>
              <p:nvPr/>
            </p:nvSpPr>
            <p:spPr bwMode="auto">
              <a:xfrm flipH="1">
                <a:off x="9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3" name="Line 645"/>
              <p:cNvSpPr>
                <a:spLocks noChangeShapeType="1"/>
              </p:cNvSpPr>
              <p:nvPr/>
            </p:nvSpPr>
            <p:spPr bwMode="auto">
              <a:xfrm flipH="1">
                <a:off x="8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4" name="Line 646"/>
              <p:cNvSpPr>
                <a:spLocks noChangeShapeType="1"/>
              </p:cNvSpPr>
              <p:nvPr/>
            </p:nvSpPr>
            <p:spPr bwMode="auto">
              <a:xfrm flipH="1">
                <a:off x="7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5" name="Line 647"/>
              <p:cNvSpPr>
                <a:spLocks noChangeShapeType="1"/>
              </p:cNvSpPr>
              <p:nvPr/>
            </p:nvSpPr>
            <p:spPr bwMode="auto">
              <a:xfrm flipH="1">
                <a:off x="7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6" name="Freeform 648"/>
              <p:cNvSpPr>
                <a:spLocks/>
              </p:cNvSpPr>
              <p:nvPr/>
            </p:nvSpPr>
            <p:spPr bwMode="auto">
              <a:xfrm>
                <a:off x="64" y="1452"/>
                <a:ext cx="1" cy="4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3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7" name="Line 649"/>
              <p:cNvSpPr>
                <a:spLocks noChangeShapeType="1"/>
              </p:cNvSpPr>
              <p:nvPr/>
            </p:nvSpPr>
            <p:spPr bwMode="auto">
              <a:xfrm>
                <a:off x="64" y="146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8" name="Line 650"/>
              <p:cNvSpPr>
                <a:spLocks noChangeShapeType="1"/>
              </p:cNvSpPr>
              <p:nvPr/>
            </p:nvSpPr>
            <p:spPr bwMode="auto">
              <a:xfrm>
                <a:off x="64" y="146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9" name="Line 651"/>
              <p:cNvSpPr>
                <a:spLocks noChangeShapeType="1"/>
              </p:cNvSpPr>
              <p:nvPr/>
            </p:nvSpPr>
            <p:spPr bwMode="auto">
              <a:xfrm>
                <a:off x="64" y="147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0" name="Line 652"/>
              <p:cNvSpPr>
                <a:spLocks noChangeShapeType="1"/>
              </p:cNvSpPr>
              <p:nvPr/>
            </p:nvSpPr>
            <p:spPr bwMode="auto">
              <a:xfrm>
                <a:off x="64" y="148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1" name="Line 653"/>
              <p:cNvSpPr>
                <a:spLocks noChangeShapeType="1"/>
              </p:cNvSpPr>
              <p:nvPr/>
            </p:nvSpPr>
            <p:spPr bwMode="auto">
              <a:xfrm>
                <a:off x="64" y="149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2" name="Line 654"/>
              <p:cNvSpPr>
                <a:spLocks noChangeShapeType="1"/>
              </p:cNvSpPr>
              <p:nvPr/>
            </p:nvSpPr>
            <p:spPr bwMode="auto">
              <a:xfrm>
                <a:off x="64" y="150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3" name="Line 655"/>
              <p:cNvSpPr>
                <a:spLocks noChangeShapeType="1"/>
              </p:cNvSpPr>
              <p:nvPr/>
            </p:nvSpPr>
            <p:spPr bwMode="auto">
              <a:xfrm>
                <a:off x="64" y="151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4" name="Line 656"/>
              <p:cNvSpPr>
                <a:spLocks noChangeShapeType="1"/>
              </p:cNvSpPr>
              <p:nvPr/>
            </p:nvSpPr>
            <p:spPr bwMode="auto">
              <a:xfrm>
                <a:off x="64" y="152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5" name="Line 657"/>
              <p:cNvSpPr>
                <a:spLocks noChangeShapeType="1"/>
              </p:cNvSpPr>
              <p:nvPr/>
            </p:nvSpPr>
            <p:spPr bwMode="auto">
              <a:xfrm>
                <a:off x="64" y="153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6" name="Line 658"/>
              <p:cNvSpPr>
                <a:spLocks noChangeShapeType="1"/>
              </p:cNvSpPr>
              <p:nvPr/>
            </p:nvSpPr>
            <p:spPr bwMode="auto">
              <a:xfrm>
                <a:off x="64" y="154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7" name="Line 659"/>
              <p:cNvSpPr>
                <a:spLocks noChangeShapeType="1"/>
              </p:cNvSpPr>
              <p:nvPr/>
            </p:nvSpPr>
            <p:spPr bwMode="auto">
              <a:xfrm>
                <a:off x="64" y="155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8" name="Line 660"/>
              <p:cNvSpPr>
                <a:spLocks noChangeShapeType="1"/>
              </p:cNvSpPr>
              <p:nvPr/>
            </p:nvSpPr>
            <p:spPr bwMode="auto">
              <a:xfrm>
                <a:off x="64" y="156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9" name="Line 661"/>
              <p:cNvSpPr>
                <a:spLocks noChangeShapeType="1"/>
              </p:cNvSpPr>
              <p:nvPr/>
            </p:nvSpPr>
            <p:spPr bwMode="auto">
              <a:xfrm>
                <a:off x="64" y="157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0" name="Line 662"/>
              <p:cNvSpPr>
                <a:spLocks noChangeShapeType="1"/>
              </p:cNvSpPr>
              <p:nvPr/>
            </p:nvSpPr>
            <p:spPr bwMode="auto">
              <a:xfrm>
                <a:off x="64" y="158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1" name="Line 663"/>
              <p:cNvSpPr>
                <a:spLocks noChangeShapeType="1"/>
              </p:cNvSpPr>
              <p:nvPr/>
            </p:nvSpPr>
            <p:spPr bwMode="auto">
              <a:xfrm>
                <a:off x="64" y="158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2" name="Line 664"/>
              <p:cNvSpPr>
                <a:spLocks noChangeShapeType="1"/>
              </p:cNvSpPr>
              <p:nvPr/>
            </p:nvSpPr>
            <p:spPr bwMode="auto">
              <a:xfrm>
                <a:off x="64" y="159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3" name="Line 665"/>
              <p:cNvSpPr>
                <a:spLocks noChangeShapeType="1"/>
              </p:cNvSpPr>
              <p:nvPr/>
            </p:nvSpPr>
            <p:spPr bwMode="auto">
              <a:xfrm>
                <a:off x="64" y="160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4" name="Line 666"/>
              <p:cNvSpPr>
                <a:spLocks noChangeShapeType="1"/>
              </p:cNvSpPr>
              <p:nvPr/>
            </p:nvSpPr>
            <p:spPr bwMode="auto">
              <a:xfrm>
                <a:off x="64" y="161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5" name="Line 667"/>
              <p:cNvSpPr>
                <a:spLocks noChangeShapeType="1"/>
              </p:cNvSpPr>
              <p:nvPr/>
            </p:nvSpPr>
            <p:spPr bwMode="auto">
              <a:xfrm>
                <a:off x="64" y="162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6" name="Line 668"/>
              <p:cNvSpPr>
                <a:spLocks noChangeShapeType="1"/>
              </p:cNvSpPr>
              <p:nvPr/>
            </p:nvSpPr>
            <p:spPr bwMode="auto">
              <a:xfrm>
                <a:off x="64" y="163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7" name="Line 669"/>
              <p:cNvSpPr>
                <a:spLocks noChangeShapeType="1"/>
              </p:cNvSpPr>
              <p:nvPr/>
            </p:nvSpPr>
            <p:spPr bwMode="auto">
              <a:xfrm>
                <a:off x="64" y="164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8" name="Line 670"/>
              <p:cNvSpPr>
                <a:spLocks noChangeShapeType="1"/>
              </p:cNvSpPr>
              <p:nvPr/>
            </p:nvSpPr>
            <p:spPr bwMode="auto">
              <a:xfrm>
                <a:off x="64" y="165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9" name="Line 671"/>
              <p:cNvSpPr>
                <a:spLocks noChangeShapeType="1"/>
              </p:cNvSpPr>
              <p:nvPr/>
            </p:nvSpPr>
            <p:spPr bwMode="auto">
              <a:xfrm>
                <a:off x="64" y="166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0" name="Line 672"/>
              <p:cNvSpPr>
                <a:spLocks noChangeShapeType="1"/>
              </p:cNvSpPr>
              <p:nvPr/>
            </p:nvSpPr>
            <p:spPr bwMode="auto">
              <a:xfrm>
                <a:off x="64" y="167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1" name="Line 673"/>
              <p:cNvSpPr>
                <a:spLocks noChangeShapeType="1"/>
              </p:cNvSpPr>
              <p:nvPr/>
            </p:nvSpPr>
            <p:spPr bwMode="auto">
              <a:xfrm>
                <a:off x="64" y="168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2" name="Line 674"/>
              <p:cNvSpPr>
                <a:spLocks noChangeShapeType="1"/>
              </p:cNvSpPr>
              <p:nvPr/>
            </p:nvSpPr>
            <p:spPr bwMode="auto">
              <a:xfrm>
                <a:off x="64" y="169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3" name="Line 675"/>
              <p:cNvSpPr>
                <a:spLocks noChangeShapeType="1"/>
              </p:cNvSpPr>
              <p:nvPr/>
            </p:nvSpPr>
            <p:spPr bwMode="auto">
              <a:xfrm>
                <a:off x="64" y="170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4" name="Line 676"/>
              <p:cNvSpPr>
                <a:spLocks noChangeShapeType="1"/>
              </p:cNvSpPr>
              <p:nvPr/>
            </p:nvSpPr>
            <p:spPr bwMode="auto">
              <a:xfrm>
                <a:off x="64" y="170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5" name="Line 677"/>
              <p:cNvSpPr>
                <a:spLocks noChangeShapeType="1"/>
              </p:cNvSpPr>
              <p:nvPr/>
            </p:nvSpPr>
            <p:spPr bwMode="auto">
              <a:xfrm>
                <a:off x="64" y="171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6" name="Line 678"/>
              <p:cNvSpPr>
                <a:spLocks noChangeShapeType="1"/>
              </p:cNvSpPr>
              <p:nvPr/>
            </p:nvSpPr>
            <p:spPr bwMode="auto">
              <a:xfrm>
                <a:off x="64" y="172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7" name="Line 679"/>
              <p:cNvSpPr>
                <a:spLocks noChangeShapeType="1"/>
              </p:cNvSpPr>
              <p:nvPr/>
            </p:nvSpPr>
            <p:spPr bwMode="auto">
              <a:xfrm>
                <a:off x="64" y="173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8" name="Line 680"/>
              <p:cNvSpPr>
                <a:spLocks noChangeShapeType="1"/>
              </p:cNvSpPr>
              <p:nvPr/>
            </p:nvSpPr>
            <p:spPr bwMode="auto">
              <a:xfrm>
                <a:off x="64" y="174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9" name="Line 681"/>
              <p:cNvSpPr>
                <a:spLocks noChangeShapeType="1"/>
              </p:cNvSpPr>
              <p:nvPr/>
            </p:nvSpPr>
            <p:spPr bwMode="auto">
              <a:xfrm>
                <a:off x="64" y="175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0" name="Line 682"/>
              <p:cNvSpPr>
                <a:spLocks noChangeShapeType="1"/>
              </p:cNvSpPr>
              <p:nvPr/>
            </p:nvSpPr>
            <p:spPr bwMode="auto">
              <a:xfrm>
                <a:off x="64" y="176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1" name="Line 683"/>
              <p:cNvSpPr>
                <a:spLocks noChangeShapeType="1"/>
              </p:cNvSpPr>
              <p:nvPr/>
            </p:nvSpPr>
            <p:spPr bwMode="auto">
              <a:xfrm>
                <a:off x="64" y="177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2" name="Line 684"/>
              <p:cNvSpPr>
                <a:spLocks noChangeShapeType="1"/>
              </p:cNvSpPr>
              <p:nvPr/>
            </p:nvSpPr>
            <p:spPr bwMode="auto">
              <a:xfrm>
                <a:off x="64" y="178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3" name="Line 685"/>
              <p:cNvSpPr>
                <a:spLocks noChangeShapeType="1"/>
              </p:cNvSpPr>
              <p:nvPr/>
            </p:nvSpPr>
            <p:spPr bwMode="auto">
              <a:xfrm>
                <a:off x="64" y="179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4" name="Line 686"/>
              <p:cNvSpPr>
                <a:spLocks noChangeShapeType="1"/>
              </p:cNvSpPr>
              <p:nvPr/>
            </p:nvSpPr>
            <p:spPr bwMode="auto">
              <a:xfrm>
                <a:off x="64" y="180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5" name="Line 687"/>
              <p:cNvSpPr>
                <a:spLocks noChangeShapeType="1"/>
              </p:cNvSpPr>
              <p:nvPr/>
            </p:nvSpPr>
            <p:spPr bwMode="auto">
              <a:xfrm>
                <a:off x="64" y="181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6" name="Line 688"/>
              <p:cNvSpPr>
                <a:spLocks noChangeShapeType="1"/>
              </p:cNvSpPr>
              <p:nvPr/>
            </p:nvSpPr>
            <p:spPr bwMode="auto">
              <a:xfrm>
                <a:off x="64" y="182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7" name="Line 689"/>
              <p:cNvSpPr>
                <a:spLocks noChangeShapeType="1"/>
              </p:cNvSpPr>
              <p:nvPr/>
            </p:nvSpPr>
            <p:spPr bwMode="auto">
              <a:xfrm>
                <a:off x="64" y="182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8" name="Line 690"/>
              <p:cNvSpPr>
                <a:spLocks noChangeShapeType="1"/>
              </p:cNvSpPr>
              <p:nvPr/>
            </p:nvSpPr>
            <p:spPr bwMode="auto">
              <a:xfrm>
                <a:off x="64" y="183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9" name="Line 691"/>
              <p:cNvSpPr>
                <a:spLocks noChangeShapeType="1"/>
              </p:cNvSpPr>
              <p:nvPr/>
            </p:nvSpPr>
            <p:spPr bwMode="auto">
              <a:xfrm>
                <a:off x="64" y="184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0" name="Line 692"/>
              <p:cNvSpPr>
                <a:spLocks noChangeShapeType="1"/>
              </p:cNvSpPr>
              <p:nvPr/>
            </p:nvSpPr>
            <p:spPr bwMode="auto">
              <a:xfrm>
                <a:off x="64" y="185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1" name="Line 693"/>
              <p:cNvSpPr>
                <a:spLocks noChangeShapeType="1"/>
              </p:cNvSpPr>
              <p:nvPr/>
            </p:nvSpPr>
            <p:spPr bwMode="auto">
              <a:xfrm>
                <a:off x="64" y="186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2" name="Line 694"/>
              <p:cNvSpPr>
                <a:spLocks noChangeShapeType="1"/>
              </p:cNvSpPr>
              <p:nvPr/>
            </p:nvSpPr>
            <p:spPr bwMode="auto">
              <a:xfrm>
                <a:off x="64" y="18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3" name="Line 695"/>
              <p:cNvSpPr>
                <a:spLocks noChangeShapeType="1"/>
              </p:cNvSpPr>
              <p:nvPr/>
            </p:nvSpPr>
            <p:spPr bwMode="auto">
              <a:xfrm>
                <a:off x="64" y="188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4" name="Line 696"/>
              <p:cNvSpPr>
                <a:spLocks noChangeShapeType="1"/>
              </p:cNvSpPr>
              <p:nvPr/>
            </p:nvSpPr>
            <p:spPr bwMode="auto">
              <a:xfrm>
                <a:off x="64" y="189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5" name="Line 697"/>
              <p:cNvSpPr>
                <a:spLocks noChangeShapeType="1"/>
              </p:cNvSpPr>
              <p:nvPr/>
            </p:nvSpPr>
            <p:spPr bwMode="auto">
              <a:xfrm>
                <a:off x="64" y="190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6" name="Line 698"/>
              <p:cNvSpPr>
                <a:spLocks noChangeShapeType="1"/>
              </p:cNvSpPr>
              <p:nvPr/>
            </p:nvSpPr>
            <p:spPr bwMode="auto">
              <a:xfrm>
                <a:off x="64" y="191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7" name="Line 699"/>
              <p:cNvSpPr>
                <a:spLocks noChangeShapeType="1"/>
              </p:cNvSpPr>
              <p:nvPr/>
            </p:nvSpPr>
            <p:spPr bwMode="auto">
              <a:xfrm>
                <a:off x="64" y="192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8" name="Line 700"/>
              <p:cNvSpPr>
                <a:spLocks noChangeShapeType="1"/>
              </p:cNvSpPr>
              <p:nvPr/>
            </p:nvSpPr>
            <p:spPr bwMode="auto">
              <a:xfrm>
                <a:off x="64" y="193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9" name="Line 701"/>
              <p:cNvSpPr>
                <a:spLocks noChangeShapeType="1"/>
              </p:cNvSpPr>
              <p:nvPr/>
            </p:nvSpPr>
            <p:spPr bwMode="auto">
              <a:xfrm>
                <a:off x="64" y="193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0" name="Line 702"/>
              <p:cNvSpPr>
                <a:spLocks noChangeShapeType="1"/>
              </p:cNvSpPr>
              <p:nvPr/>
            </p:nvSpPr>
            <p:spPr bwMode="auto">
              <a:xfrm>
                <a:off x="64" y="194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1" name="Line 703"/>
              <p:cNvSpPr>
                <a:spLocks noChangeShapeType="1"/>
              </p:cNvSpPr>
              <p:nvPr/>
            </p:nvSpPr>
            <p:spPr bwMode="auto">
              <a:xfrm>
                <a:off x="64" y="19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2" name="Line 704"/>
              <p:cNvSpPr>
                <a:spLocks noChangeShapeType="1"/>
              </p:cNvSpPr>
              <p:nvPr/>
            </p:nvSpPr>
            <p:spPr bwMode="auto">
              <a:xfrm>
                <a:off x="64" y="196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3" name="Line 705"/>
              <p:cNvSpPr>
                <a:spLocks noChangeShapeType="1"/>
              </p:cNvSpPr>
              <p:nvPr/>
            </p:nvSpPr>
            <p:spPr bwMode="auto">
              <a:xfrm>
                <a:off x="64" y="197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4" name="Line 706"/>
              <p:cNvSpPr>
                <a:spLocks noChangeShapeType="1"/>
              </p:cNvSpPr>
              <p:nvPr/>
            </p:nvSpPr>
            <p:spPr bwMode="auto">
              <a:xfrm>
                <a:off x="64" y="198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5" name="Line 707"/>
              <p:cNvSpPr>
                <a:spLocks noChangeShapeType="1"/>
              </p:cNvSpPr>
              <p:nvPr/>
            </p:nvSpPr>
            <p:spPr bwMode="auto">
              <a:xfrm>
                <a:off x="64" y="199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6" name="Line 708"/>
              <p:cNvSpPr>
                <a:spLocks noChangeShapeType="1"/>
              </p:cNvSpPr>
              <p:nvPr/>
            </p:nvSpPr>
            <p:spPr bwMode="auto">
              <a:xfrm>
                <a:off x="64" y="20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7" name="Line 709"/>
              <p:cNvSpPr>
                <a:spLocks noChangeShapeType="1"/>
              </p:cNvSpPr>
              <p:nvPr/>
            </p:nvSpPr>
            <p:spPr bwMode="auto">
              <a:xfrm>
                <a:off x="64" y="201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8" name="Line 710"/>
              <p:cNvSpPr>
                <a:spLocks noChangeShapeType="1"/>
              </p:cNvSpPr>
              <p:nvPr/>
            </p:nvSpPr>
            <p:spPr bwMode="auto">
              <a:xfrm>
                <a:off x="64" y="202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9" name="Line 711"/>
              <p:cNvSpPr>
                <a:spLocks noChangeShapeType="1"/>
              </p:cNvSpPr>
              <p:nvPr/>
            </p:nvSpPr>
            <p:spPr bwMode="auto">
              <a:xfrm>
                <a:off x="64" y="203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0" name="Line 712"/>
              <p:cNvSpPr>
                <a:spLocks noChangeShapeType="1"/>
              </p:cNvSpPr>
              <p:nvPr/>
            </p:nvSpPr>
            <p:spPr bwMode="auto">
              <a:xfrm>
                <a:off x="64" y="204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1" name="Line 713"/>
              <p:cNvSpPr>
                <a:spLocks noChangeShapeType="1"/>
              </p:cNvSpPr>
              <p:nvPr/>
            </p:nvSpPr>
            <p:spPr bwMode="auto">
              <a:xfrm>
                <a:off x="64" y="205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2" name="Line 714"/>
              <p:cNvSpPr>
                <a:spLocks noChangeShapeType="1"/>
              </p:cNvSpPr>
              <p:nvPr/>
            </p:nvSpPr>
            <p:spPr bwMode="auto">
              <a:xfrm>
                <a:off x="64" y="205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3" name="Line 715"/>
              <p:cNvSpPr>
                <a:spLocks noChangeShapeType="1"/>
              </p:cNvSpPr>
              <p:nvPr/>
            </p:nvSpPr>
            <p:spPr bwMode="auto">
              <a:xfrm>
                <a:off x="64" y="206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4" name="Line 716"/>
              <p:cNvSpPr>
                <a:spLocks noChangeShapeType="1"/>
              </p:cNvSpPr>
              <p:nvPr/>
            </p:nvSpPr>
            <p:spPr bwMode="auto">
              <a:xfrm>
                <a:off x="64" y="207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5" name="Line 717"/>
              <p:cNvSpPr>
                <a:spLocks noChangeShapeType="1"/>
              </p:cNvSpPr>
              <p:nvPr/>
            </p:nvSpPr>
            <p:spPr bwMode="auto">
              <a:xfrm>
                <a:off x="64" y="208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6" name="Line 718"/>
              <p:cNvSpPr>
                <a:spLocks noChangeShapeType="1"/>
              </p:cNvSpPr>
              <p:nvPr/>
            </p:nvSpPr>
            <p:spPr bwMode="auto">
              <a:xfrm>
                <a:off x="64" y="209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7" name="Line 719"/>
              <p:cNvSpPr>
                <a:spLocks noChangeShapeType="1"/>
              </p:cNvSpPr>
              <p:nvPr/>
            </p:nvSpPr>
            <p:spPr bwMode="auto">
              <a:xfrm>
                <a:off x="64" y="210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8" name="Line 720"/>
              <p:cNvSpPr>
                <a:spLocks noChangeShapeType="1"/>
              </p:cNvSpPr>
              <p:nvPr/>
            </p:nvSpPr>
            <p:spPr bwMode="auto">
              <a:xfrm>
                <a:off x="64" y="211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9" name="Line 721"/>
              <p:cNvSpPr>
                <a:spLocks noChangeShapeType="1"/>
              </p:cNvSpPr>
              <p:nvPr/>
            </p:nvSpPr>
            <p:spPr bwMode="auto">
              <a:xfrm>
                <a:off x="64" y="212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0" name="Line 722"/>
              <p:cNvSpPr>
                <a:spLocks noChangeShapeType="1"/>
              </p:cNvSpPr>
              <p:nvPr/>
            </p:nvSpPr>
            <p:spPr bwMode="auto">
              <a:xfrm>
                <a:off x="64" y="213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1" name="Line 723"/>
              <p:cNvSpPr>
                <a:spLocks noChangeShapeType="1"/>
              </p:cNvSpPr>
              <p:nvPr/>
            </p:nvSpPr>
            <p:spPr bwMode="auto">
              <a:xfrm>
                <a:off x="64" y="214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2" name="Line 724"/>
              <p:cNvSpPr>
                <a:spLocks noChangeShapeType="1"/>
              </p:cNvSpPr>
              <p:nvPr/>
            </p:nvSpPr>
            <p:spPr bwMode="auto">
              <a:xfrm>
                <a:off x="64" y="215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3" name="Line 725"/>
              <p:cNvSpPr>
                <a:spLocks noChangeShapeType="1"/>
              </p:cNvSpPr>
              <p:nvPr/>
            </p:nvSpPr>
            <p:spPr bwMode="auto">
              <a:xfrm>
                <a:off x="64" y="216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4" name="Line 726"/>
              <p:cNvSpPr>
                <a:spLocks noChangeShapeType="1"/>
              </p:cNvSpPr>
              <p:nvPr/>
            </p:nvSpPr>
            <p:spPr bwMode="auto">
              <a:xfrm>
                <a:off x="64" y="217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5" name="Line 727"/>
              <p:cNvSpPr>
                <a:spLocks noChangeShapeType="1"/>
              </p:cNvSpPr>
              <p:nvPr/>
            </p:nvSpPr>
            <p:spPr bwMode="auto">
              <a:xfrm>
                <a:off x="64" y="217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6" name="Line 728"/>
              <p:cNvSpPr>
                <a:spLocks noChangeShapeType="1"/>
              </p:cNvSpPr>
              <p:nvPr/>
            </p:nvSpPr>
            <p:spPr bwMode="auto">
              <a:xfrm>
                <a:off x="64" y="218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7" name="Line 729"/>
              <p:cNvSpPr>
                <a:spLocks noChangeShapeType="1"/>
              </p:cNvSpPr>
              <p:nvPr/>
            </p:nvSpPr>
            <p:spPr bwMode="auto">
              <a:xfrm>
                <a:off x="64" y="219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8" name="Line 730"/>
              <p:cNvSpPr>
                <a:spLocks noChangeShapeType="1"/>
              </p:cNvSpPr>
              <p:nvPr/>
            </p:nvSpPr>
            <p:spPr bwMode="auto">
              <a:xfrm>
                <a:off x="64" y="220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9" name="Line 731"/>
              <p:cNvSpPr>
                <a:spLocks noChangeShapeType="1"/>
              </p:cNvSpPr>
              <p:nvPr/>
            </p:nvSpPr>
            <p:spPr bwMode="auto">
              <a:xfrm>
                <a:off x="64" y="221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0" name="Line 732"/>
              <p:cNvSpPr>
                <a:spLocks noChangeShapeType="1"/>
              </p:cNvSpPr>
              <p:nvPr/>
            </p:nvSpPr>
            <p:spPr bwMode="auto">
              <a:xfrm>
                <a:off x="64" y="222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1" name="Line 733"/>
              <p:cNvSpPr>
                <a:spLocks noChangeShapeType="1"/>
              </p:cNvSpPr>
              <p:nvPr/>
            </p:nvSpPr>
            <p:spPr bwMode="auto">
              <a:xfrm>
                <a:off x="64" y="223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2" name="Line 734"/>
              <p:cNvSpPr>
                <a:spLocks noChangeShapeType="1"/>
              </p:cNvSpPr>
              <p:nvPr/>
            </p:nvSpPr>
            <p:spPr bwMode="auto">
              <a:xfrm>
                <a:off x="64" y="224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3" name="Line 735"/>
              <p:cNvSpPr>
                <a:spLocks noChangeShapeType="1"/>
              </p:cNvSpPr>
              <p:nvPr/>
            </p:nvSpPr>
            <p:spPr bwMode="auto">
              <a:xfrm>
                <a:off x="64" y="225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4" name="Line 736"/>
              <p:cNvSpPr>
                <a:spLocks noChangeShapeType="1"/>
              </p:cNvSpPr>
              <p:nvPr/>
            </p:nvSpPr>
            <p:spPr bwMode="auto">
              <a:xfrm>
                <a:off x="64" y="226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5" name="Line 737"/>
              <p:cNvSpPr>
                <a:spLocks noChangeShapeType="1"/>
              </p:cNvSpPr>
              <p:nvPr/>
            </p:nvSpPr>
            <p:spPr bwMode="auto">
              <a:xfrm>
                <a:off x="64" y="227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6" name="Line 738"/>
              <p:cNvSpPr>
                <a:spLocks noChangeShapeType="1"/>
              </p:cNvSpPr>
              <p:nvPr/>
            </p:nvSpPr>
            <p:spPr bwMode="auto">
              <a:xfrm>
                <a:off x="64" y="228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7" name="Line 739"/>
              <p:cNvSpPr>
                <a:spLocks noChangeShapeType="1"/>
              </p:cNvSpPr>
              <p:nvPr/>
            </p:nvSpPr>
            <p:spPr bwMode="auto">
              <a:xfrm>
                <a:off x="64" y="229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8" name="Line 740"/>
              <p:cNvSpPr>
                <a:spLocks noChangeShapeType="1"/>
              </p:cNvSpPr>
              <p:nvPr/>
            </p:nvSpPr>
            <p:spPr bwMode="auto">
              <a:xfrm>
                <a:off x="64" y="22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9" name="Line 741"/>
              <p:cNvSpPr>
                <a:spLocks noChangeShapeType="1"/>
              </p:cNvSpPr>
              <p:nvPr/>
            </p:nvSpPr>
            <p:spPr bwMode="auto">
              <a:xfrm>
                <a:off x="64" y="230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0" name="Line 742"/>
              <p:cNvSpPr>
                <a:spLocks noChangeShapeType="1"/>
              </p:cNvSpPr>
              <p:nvPr/>
            </p:nvSpPr>
            <p:spPr bwMode="auto">
              <a:xfrm>
                <a:off x="64" y="231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1" name="Line 743"/>
              <p:cNvSpPr>
                <a:spLocks noChangeShapeType="1"/>
              </p:cNvSpPr>
              <p:nvPr/>
            </p:nvSpPr>
            <p:spPr bwMode="auto">
              <a:xfrm>
                <a:off x="64" y="232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2" name="Line 744"/>
              <p:cNvSpPr>
                <a:spLocks noChangeShapeType="1"/>
              </p:cNvSpPr>
              <p:nvPr/>
            </p:nvSpPr>
            <p:spPr bwMode="auto">
              <a:xfrm>
                <a:off x="64" y="233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3" name="Line 745"/>
              <p:cNvSpPr>
                <a:spLocks noChangeShapeType="1"/>
              </p:cNvSpPr>
              <p:nvPr/>
            </p:nvSpPr>
            <p:spPr bwMode="auto">
              <a:xfrm>
                <a:off x="64" y="234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4" name="Line 746"/>
              <p:cNvSpPr>
                <a:spLocks noChangeShapeType="1"/>
              </p:cNvSpPr>
              <p:nvPr/>
            </p:nvSpPr>
            <p:spPr bwMode="auto">
              <a:xfrm>
                <a:off x="64" y="235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5" name="Line 747"/>
              <p:cNvSpPr>
                <a:spLocks noChangeShapeType="1"/>
              </p:cNvSpPr>
              <p:nvPr/>
            </p:nvSpPr>
            <p:spPr bwMode="auto">
              <a:xfrm>
                <a:off x="64" y="236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6" name="Line 748"/>
              <p:cNvSpPr>
                <a:spLocks noChangeShapeType="1"/>
              </p:cNvSpPr>
              <p:nvPr/>
            </p:nvSpPr>
            <p:spPr bwMode="auto">
              <a:xfrm>
                <a:off x="64" y="237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7" name="Line 749"/>
              <p:cNvSpPr>
                <a:spLocks noChangeShapeType="1"/>
              </p:cNvSpPr>
              <p:nvPr/>
            </p:nvSpPr>
            <p:spPr bwMode="auto">
              <a:xfrm>
                <a:off x="64" y="238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8" name="Line 750"/>
              <p:cNvSpPr>
                <a:spLocks noChangeShapeType="1"/>
              </p:cNvSpPr>
              <p:nvPr/>
            </p:nvSpPr>
            <p:spPr bwMode="auto">
              <a:xfrm>
                <a:off x="64" y="239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9" name="Line 751"/>
              <p:cNvSpPr>
                <a:spLocks noChangeShapeType="1"/>
              </p:cNvSpPr>
              <p:nvPr/>
            </p:nvSpPr>
            <p:spPr bwMode="auto">
              <a:xfrm>
                <a:off x="64" y="240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0" name="Line 752"/>
              <p:cNvSpPr>
                <a:spLocks noChangeShapeType="1"/>
              </p:cNvSpPr>
              <p:nvPr/>
            </p:nvSpPr>
            <p:spPr bwMode="auto">
              <a:xfrm>
                <a:off x="64" y="241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1" name="Line 753"/>
              <p:cNvSpPr>
                <a:spLocks noChangeShapeType="1"/>
              </p:cNvSpPr>
              <p:nvPr/>
            </p:nvSpPr>
            <p:spPr bwMode="auto">
              <a:xfrm>
                <a:off x="64" y="241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2" name="Line 754"/>
              <p:cNvSpPr>
                <a:spLocks noChangeShapeType="1"/>
              </p:cNvSpPr>
              <p:nvPr/>
            </p:nvSpPr>
            <p:spPr bwMode="auto">
              <a:xfrm>
                <a:off x="64" y="242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3" name="Line 755"/>
              <p:cNvSpPr>
                <a:spLocks noChangeShapeType="1"/>
              </p:cNvSpPr>
              <p:nvPr/>
            </p:nvSpPr>
            <p:spPr bwMode="auto">
              <a:xfrm>
                <a:off x="64" y="243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4" name="Line 756"/>
              <p:cNvSpPr>
                <a:spLocks noChangeShapeType="1"/>
              </p:cNvSpPr>
              <p:nvPr/>
            </p:nvSpPr>
            <p:spPr bwMode="auto">
              <a:xfrm>
                <a:off x="64" y="244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5" name="Line 757"/>
              <p:cNvSpPr>
                <a:spLocks noChangeShapeType="1"/>
              </p:cNvSpPr>
              <p:nvPr/>
            </p:nvSpPr>
            <p:spPr bwMode="auto">
              <a:xfrm>
                <a:off x="64" y="245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6" name="Line 758"/>
              <p:cNvSpPr>
                <a:spLocks noChangeShapeType="1"/>
              </p:cNvSpPr>
              <p:nvPr/>
            </p:nvSpPr>
            <p:spPr bwMode="auto">
              <a:xfrm>
                <a:off x="64" y="246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7" name="Line 759"/>
              <p:cNvSpPr>
                <a:spLocks noChangeShapeType="1"/>
              </p:cNvSpPr>
              <p:nvPr/>
            </p:nvSpPr>
            <p:spPr bwMode="auto">
              <a:xfrm>
                <a:off x="64" y="247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8" name="Line 760"/>
              <p:cNvSpPr>
                <a:spLocks noChangeShapeType="1"/>
              </p:cNvSpPr>
              <p:nvPr/>
            </p:nvSpPr>
            <p:spPr bwMode="auto">
              <a:xfrm>
                <a:off x="64" y="248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9" name="Line 761"/>
              <p:cNvSpPr>
                <a:spLocks noChangeShapeType="1"/>
              </p:cNvSpPr>
              <p:nvPr/>
            </p:nvSpPr>
            <p:spPr bwMode="auto">
              <a:xfrm>
                <a:off x="64" y="249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0" name="Line 762"/>
              <p:cNvSpPr>
                <a:spLocks noChangeShapeType="1"/>
              </p:cNvSpPr>
              <p:nvPr/>
            </p:nvSpPr>
            <p:spPr bwMode="auto">
              <a:xfrm>
                <a:off x="64" y="250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1" name="Line 763"/>
              <p:cNvSpPr>
                <a:spLocks noChangeShapeType="1"/>
              </p:cNvSpPr>
              <p:nvPr/>
            </p:nvSpPr>
            <p:spPr bwMode="auto">
              <a:xfrm>
                <a:off x="64" y="251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2" name="Line 764"/>
              <p:cNvSpPr>
                <a:spLocks noChangeShapeType="1"/>
              </p:cNvSpPr>
              <p:nvPr/>
            </p:nvSpPr>
            <p:spPr bwMode="auto">
              <a:xfrm>
                <a:off x="64" y="252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3" name="Line 765"/>
              <p:cNvSpPr>
                <a:spLocks noChangeShapeType="1"/>
              </p:cNvSpPr>
              <p:nvPr/>
            </p:nvSpPr>
            <p:spPr bwMode="auto">
              <a:xfrm>
                <a:off x="64" y="252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4" name="Line 766"/>
              <p:cNvSpPr>
                <a:spLocks noChangeShapeType="1"/>
              </p:cNvSpPr>
              <p:nvPr/>
            </p:nvSpPr>
            <p:spPr bwMode="auto">
              <a:xfrm>
                <a:off x="64" y="253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5" name="Line 767"/>
              <p:cNvSpPr>
                <a:spLocks noChangeShapeType="1"/>
              </p:cNvSpPr>
              <p:nvPr/>
            </p:nvSpPr>
            <p:spPr bwMode="auto">
              <a:xfrm>
                <a:off x="64" y="254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6" name="Line 768"/>
              <p:cNvSpPr>
                <a:spLocks noChangeShapeType="1"/>
              </p:cNvSpPr>
              <p:nvPr/>
            </p:nvSpPr>
            <p:spPr bwMode="auto">
              <a:xfrm>
                <a:off x="64" y="255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7" name="Line 769"/>
              <p:cNvSpPr>
                <a:spLocks noChangeShapeType="1"/>
              </p:cNvSpPr>
              <p:nvPr/>
            </p:nvSpPr>
            <p:spPr bwMode="auto">
              <a:xfrm>
                <a:off x="64" y="256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8" name="Line 770"/>
              <p:cNvSpPr>
                <a:spLocks noChangeShapeType="1"/>
              </p:cNvSpPr>
              <p:nvPr/>
            </p:nvSpPr>
            <p:spPr bwMode="auto">
              <a:xfrm>
                <a:off x="64" y="25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9" name="Line 771"/>
              <p:cNvSpPr>
                <a:spLocks noChangeShapeType="1"/>
              </p:cNvSpPr>
              <p:nvPr/>
            </p:nvSpPr>
            <p:spPr bwMode="auto">
              <a:xfrm>
                <a:off x="64" y="258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0" name="Line 772"/>
              <p:cNvSpPr>
                <a:spLocks noChangeShapeType="1"/>
              </p:cNvSpPr>
              <p:nvPr/>
            </p:nvSpPr>
            <p:spPr bwMode="auto">
              <a:xfrm>
                <a:off x="64" y="259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1" name="Line 773"/>
              <p:cNvSpPr>
                <a:spLocks noChangeShapeType="1"/>
              </p:cNvSpPr>
              <p:nvPr/>
            </p:nvSpPr>
            <p:spPr bwMode="auto">
              <a:xfrm>
                <a:off x="64" y="260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2" name="Line 774"/>
              <p:cNvSpPr>
                <a:spLocks noChangeShapeType="1"/>
              </p:cNvSpPr>
              <p:nvPr/>
            </p:nvSpPr>
            <p:spPr bwMode="auto">
              <a:xfrm>
                <a:off x="64" y="261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3" name="Line 775"/>
              <p:cNvSpPr>
                <a:spLocks noChangeShapeType="1"/>
              </p:cNvSpPr>
              <p:nvPr/>
            </p:nvSpPr>
            <p:spPr bwMode="auto">
              <a:xfrm>
                <a:off x="64" y="262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4" name="Line 776"/>
              <p:cNvSpPr>
                <a:spLocks noChangeShapeType="1"/>
              </p:cNvSpPr>
              <p:nvPr/>
            </p:nvSpPr>
            <p:spPr bwMode="auto">
              <a:xfrm>
                <a:off x="64" y="263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5" name="Line 777"/>
              <p:cNvSpPr>
                <a:spLocks noChangeShapeType="1"/>
              </p:cNvSpPr>
              <p:nvPr/>
            </p:nvSpPr>
            <p:spPr bwMode="auto">
              <a:xfrm>
                <a:off x="64" y="264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6" name="Line 778"/>
              <p:cNvSpPr>
                <a:spLocks noChangeShapeType="1"/>
              </p:cNvSpPr>
              <p:nvPr/>
            </p:nvSpPr>
            <p:spPr bwMode="auto">
              <a:xfrm>
                <a:off x="64" y="264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7" name="Line 779"/>
              <p:cNvSpPr>
                <a:spLocks noChangeShapeType="1"/>
              </p:cNvSpPr>
              <p:nvPr/>
            </p:nvSpPr>
            <p:spPr bwMode="auto">
              <a:xfrm>
                <a:off x="64" y="26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8" name="Line 780"/>
              <p:cNvSpPr>
                <a:spLocks noChangeShapeType="1"/>
              </p:cNvSpPr>
              <p:nvPr/>
            </p:nvSpPr>
            <p:spPr bwMode="auto">
              <a:xfrm>
                <a:off x="64" y="2668"/>
                <a:ext cx="1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9" name="Rectangle 781"/>
              <p:cNvSpPr>
                <a:spLocks noChangeArrowheads="1"/>
              </p:cNvSpPr>
              <p:nvPr/>
            </p:nvSpPr>
            <p:spPr bwMode="auto">
              <a:xfrm>
                <a:off x="1864" y="2088"/>
                <a:ext cx="144" cy="14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0" name="Line 782"/>
              <p:cNvSpPr>
                <a:spLocks noChangeShapeType="1"/>
              </p:cNvSpPr>
              <p:nvPr/>
            </p:nvSpPr>
            <p:spPr bwMode="auto">
              <a:xfrm>
                <a:off x="1864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1" name="Line 783"/>
              <p:cNvSpPr>
                <a:spLocks noChangeShapeType="1"/>
              </p:cNvSpPr>
              <p:nvPr/>
            </p:nvSpPr>
            <p:spPr bwMode="auto">
              <a:xfrm>
                <a:off x="1873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2" name="Line 784"/>
              <p:cNvSpPr>
                <a:spLocks noChangeShapeType="1"/>
              </p:cNvSpPr>
              <p:nvPr/>
            </p:nvSpPr>
            <p:spPr bwMode="auto">
              <a:xfrm>
                <a:off x="1882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3" name="Line 785"/>
              <p:cNvSpPr>
                <a:spLocks noChangeShapeType="1"/>
              </p:cNvSpPr>
              <p:nvPr/>
            </p:nvSpPr>
            <p:spPr bwMode="auto">
              <a:xfrm>
                <a:off x="1891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4" name="Line 786"/>
              <p:cNvSpPr>
                <a:spLocks noChangeShapeType="1"/>
              </p:cNvSpPr>
              <p:nvPr/>
            </p:nvSpPr>
            <p:spPr bwMode="auto">
              <a:xfrm>
                <a:off x="1901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5" name="Line 787"/>
              <p:cNvSpPr>
                <a:spLocks noChangeShapeType="1"/>
              </p:cNvSpPr>
              <p:nvPr/>
            </p:nvSpPr>
            <p:spPr bwMode="auto">
              <a:xfrm>
                <a:off x="1910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6" name="Line 788"/>
              <p:cNvSpPr>
                <a:spLocks noChangeShapeType="1"/>
              </p:cNvSpPr>
              <p:nvPr/>
            </p:nvSpPr>
            <p:spPr bwMode="auto">
              <a:xfrm>
                <a:off x="1919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7" name="Line 789"/>
              <p:cNvSpPr>
                <a:spLocks noChangeShapeType="1"/>
              </p:cNvSpPr>
              <p:nvPr/>
            </p:nvSpPr>
            <p:spPr bwMode="auto">
              <a:xfrm>
                <a:off x="1928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8" name="Line 790"/>
              <p:cNvSpPr>
                <a:spLocks noChangeShapeType="1"/>
              </p:cNvSpPr>
              <p:nvPr/>
            </p:nvSpPr>
            <p:spPr bwMode="auto">
              <a:xfrm>
                <a:off x="1937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9" name="Line 791"/>
              <p:cNvSpPr>
                <a:spLocks noChangeShapeType="1"/>
              </p:cNvSpPr>
              <p:nvPr/>
            </p:nvSpPr>
            <p:spPr bwMode="auto">
              <a:xfrm>
                <a:off x="1947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0" name="Line 792"/>
              <p:cNvSpPr>
                <a:spLocks noChangeShapeType="1"/>
              </p:cNvSpPr>
              <p:nvPr/>
            </p:nvSpPr>
            <p:spPr bwMode="auto">
              <a:xfrm>
                <a:off x="1956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1" name="Line 793"/>
              <p:cNvSpPr>
                <a:spLocks noChangeShapeType="1"/>
              </p:cNvSpPr>
              <p:nvPr/>
            </p:nvSpPr>
            <p:spPr bwMode="auto">
              <a:xfrm>
                <a:off x="1965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2" name="Line 794"/>
              <p:cNvSpPr>
                <a:spLocks noChangeShapeType="1"/>
              </p:cNvSpPr>
              <p:nvPr/>
            </p:nvSpPr>
            <p:spPr bwMode="auto">
              <a:xfrm>
                <a:off x="1974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3" name="Line 795"/>
              <p:cNvSpPr>
                <a:spLocks noChangeShapeType="1"/>
              </p:cNvSpPr>
              <p:nvPr/>
            </p:nvSpPr>
            <p:spPr bwMode="auto">
              <a:xfrm>
                <a:off x="1984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4" name="Line 796"/>
              <p:cNvSpPr>
                <a:spLocks noChangeShapeType="1"/>
              </p:cNvSpPr>
              <p:nvPr/>
            </p:nvSpPr>
            <p:spPr bwMode="auto">
              <a:xfrm>
                <a:off x="1993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5" name="Line 797"/>
              <p:cNvSpPr>
                <a:spLocks noChangeShapeType="1"/>
              </p:cNvSpPr>
              <p:nvPr/>
            </p:nvSpPr>
            <p:spPr bwMode="auto">
              <a:xfrm>
                <a:off x="2002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6" name="Line 798"/>
              <p:cNvSpPr>
                <a:spLocks noChangeShapeType="1"/>
              </p:cNvSpPr>
              <p:nvPr/>
            </p:nvSpPr>
            <p:spPr bwMode="auto">
              <a:xfrm flipV="1">
                <a:off x="2008" y="222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7" name="Line 799"/>
              <p:cNvSpPr>
                <a:spLocks noChangeShapeType="1"/>
              </p:cNvSpPr>
              <p:nvPr/>
            </p:nvSpPr>
            <p:spPr bwMode="auto">
              <a:xfrm flipV="1">
                <a:off x="2008" y="221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8" name="Line 800"/>
              <p:cNvSpPr>
                <a:spLocks noChangeShapeType="1"/>
              </p:cNvSpPr>
              <p:nvPr/>
            </p:nvSpPr>
            <p:spPr bwMode="auto">
              <a:xfrm flipV="1">
                <a:off x="2008" y="22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9" name="Line 801"/>
              <p:cNvSpPr>
                <a:spLocks noChangeShapeType="1"/>
              </p:cNvSpPr>
              <p:nvPr/>
            </p:nvSpPr>
            <p:spPr bwMode="auto">
              <a:xfrm flipV="1">
                <a:off x="2008" y="219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0" name="Line 802"/>
              <p:cNvSpPr>
                <a:spLocks noChangeShapeType="1"/>
              </p:cNvSpPr>
              <p:nvPr/>
            </p:nvSpPr>
            <p:spPr bwMode="auto">
              <a:xfrm flipV="1">
                <a:off x="2008" y="218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1" name="Line 803"/>
              <p:cNvSpPr>
                <a:spLocks noChangeShapeType="1"/>
              </p:cNvSpPr>
              <p:nvPr/>
            </p:nvSpPr>
            <p:spPr bwMode="auto">
              <a:xfrm flipV="1">
                <a:off x="2008" y="217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2" name="Line 804"/>
              <p:cNvSpPr>
                <a:spLocks noChangeShapeType="1"/>
              </p:cNvSpPr>
              <p:nvPr/>
            </p:nvSpPr>
            <p:spPr bwMode="auto">
              <a:xfrm flipV="1">
                <a:off x="2008" y="216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3" name="Line 805"/>
              <p:cNvSpPr>
                <a:spLocks noChangeShapeType="1"/>
              </p:cNvSpPr>
              <p:nvPr/>
            </p:nvSpPr>
            <p:spPr bwMode="auto">
              <a:xfrm flipV="1">
                <a:off x="2008" y="21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4" name="Line 806"/>
              <p:cNvSpPr>
                <a:spLocks noChangeShapeType="1"/>
              </p:cNvSpPr>
              <p:nvPr/>
            </p:nvSpPr>
            <p:spPr bwMode="auto">
              <a:xfrm flipV="1">
                <a:off x="2008" y="214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5" name="Line 807"/>
              <p:cNvSpPr>
                <a:spLocks noChangeShapeType="1"/>
              </p:cNvSpPr>
              <p:nvPr/>
            </p:nvSpPr>
            <p:spPr bwMode="auto">
              <a:xfrm flipV="1">
                <a:off x="2008" y="214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6" name="Line 808"/>
              <p:cNvSpPr>
                <a:spLocks noChangeShapeType="1"/>
              </p:cNvSpPr>
              <p:nvPr/>
            </p:nvSpPr>
            <p:spPr bwMode="auto">
              <a:xfrm flipV="1">
                <a:off x="2008" y="213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7" name="Line 809"/>
              <p:cNvSpPr>
                <a:spLocks noChangeShapeType="1"/>
              </p:cNvSpPr>
              <p:nvPr/>
            </p:nvSpPr>
            <p:spPr bwMode="auto">
              <a:xfrm flipV="1">
                <a:off x="2008" y="212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8" name="Line 810"/>
              <p:cNvSpPr>
                <a:spLocks noChangeShapeType="1"/>
              </p:cNvSpPr>
              <p:nvPr/>
            </p:nvSpPr>
            <p:spPr bwMode="auto">
              <a:xfrm flipV="1">
                <a:off x="2008" y="211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9" name="Line 811"/>
              <p:cNvSpPr>
                <a:spLocks noChangeShapeType="1"/>
              </p:cNvSpPr>
              <p:nvPr/>
            </p:nvSpPr>
            <p:spPr bwMode="auto">
              <a:xfrm flipV="1">
                <a:off x="2008" y="210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0" name="Line 812"/>
              <p:cNvSpPr>
                <a:spLocks noChangeShapeType="1"/>
              </p:cNvSpPr>
              <p:nvPr/>
            </p:nvSpPr>
            <p:spPr bwMode="auto">
              <a:xfrm flipV="1">
                <a:off x="2008" y="209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1" name="Freeform 813"/>
              <p:cNvSpPr>
                <a:spLocks/>
              </p:cNvSpPr>
              <p:nvPr/>
            </p:nvSpPr>
            <p:spPr bwMode="auto">
              <a:xfrm>
                <a:off x="2004" y="2088"/>
                <a:ext cx="4" cy="1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3" y="0"/>
                  </a:cxn>
                  <a:cxn ang="0">
                    <a:pos x="0" y="0"/>
                  </a:cxn>
                </a:cxnLst>
                <a:rect l="0" t="0" r="r" b="b"/>
                <a:pathLst>
                  <a:path w="3" h="1">
                    <a:moveTo>
                      <a:pt x="3" y="1"/>
                    </a:move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2" name="Line 814"/>
              <p:cNvSpPr>
                <a:spLocks noChangeShapeType="1"/>
              </p:cNvSpPr>
              <p:nvPr/>
            </p:nvSpPr>
            <p:spPr bwMode="auto">
              <a:xfrm flipH="1">
                <a:off x="1995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3" name="Line 815"/>
              <p:cNvSpPr>
                <a:spLocks noChangeShapeType="1"/>
              </p:cNvSpPr>
              <p:nvPr/>
            </p:nvSpPr>
            <p:spPr bwMode="auto">
              <a:xfrm flipH="1">
                <a:off x="1986" y="2088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4" name="Line 816"/>
              <p:cNvSpPr>
                <a:spLocks noChangeShapeType="1"/>
              </p:cNvSpPr>
              <p:nvPr/>
            </p:nvSpPr>
            <p:spPr bwMode="auto">
              <a:xfrm flipH="1">
                <a:off x="1977" y="2088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5" name="Line 817"/>
              <p:cNvSpPr>
                <a:spLocks noChangeShapeType="1"/>
              </p:cNvSpPr>
              <p:nvPr/>
            </p:nvSpPr>
            <p:spPr bwMode="auto">
              <a:xfrm flipH="1">
                <a:off x="1967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6" name="Line 818"/>
              <p:cNvSpPr>
                <a:spLocks noChangeShapeType="1"/>
              </p:cNvSpPr>
              <p:nvPr/>
            </p:nvSpPr>
            <p:spPr bwMode="auto">
              <a:xfrm flipH="1">
                <a:off x="1958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7" name="Line 819"/>
              <p:cNvSpPr>
                <a:spLocks noChangeShapeType="1"/>
              </p:cNvSpPr>
              <p:nvPr/>
            </p:nvSpPr>
            <p:spPr bwMode="auto">
              <a:xfrm flipH="1">
                <a:off x="1949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8" name="Line 820"/>
              <p:cNvSpPr>
                <a:spLocks noChangeShapeType="1"/>
              </p:cNvSpPr>
              <p:nvPr/>
            </p:nvSpPr>
            <p:spPr bwMode="auto">
              <a:xfrm flipH="1">
                <a:off x="1940" y="2088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9" name="Line 821"/>
              <p:cNvSpPr>
                <a:spLocks noChangeShapeType="1"/>
              </p:cNvSpPr>
              <p:nvPr/>
            </p:nvSpPr>
            <p:spPr bwMode="auto">
              <a:xfrm flipH="1">
                <a:off x="1931" y="2088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70" name="Line 822"/>
              <p:cNvSpPr>
                <a:spLocks noChangeShapeType="1"/>
              </p:cNvSpPr>
              <p:nvPr/>
            </p:nvSpPr>
            <p:spPr bwMode="auto">
              <a:xfrm flipH="1">
                <a:off x="1921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71" name="Line 823"/>
              <p:cNvSpPr>
                <a:spLocks noChangeShapeType="1"/>
              </p:cNvSpPr>
              <p:nvPr/>
            </p:nvSpPr>
            <p:spPr bwMode="auto">
              <a:xfrm flipH="1">
                <a:off x="1912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72" name="Line 824"/>
              <p:cNvSpPr>
                <a:spLocks noChangeShapeType="1"/>
              </p:cNvSpPr>
              <p:nvPr/>
            </p:nvSpPr>
            <p:spPr bwMode="auto">
              <a:xfrm flipH="1">
                <a:off x="1903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73" name="Line 825"/>
              <p:cNvSpPr>
                <a:spLocks noChangeShapeType="1"/>
              </p:cNvSpPr>
              <p:nvPr/>
            </p:nvSpPr>
            <p:spPr bwMode="auto">
              <a:xfrm flipH="1">
                <a:off x="1894" y="2088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" name="Group 826"/>
            <p:cNvGrpSpPr>
              <a:grpSpLocks/>
            </p:cNvGrpSpPr>
            <p:nvPr/>
          </p:nvGrpSpPr>
          <p:grpSpPr bwMode="auto">
            <a:xfrm>
              <a:off x="96" y="1296"/>
              <a:ext cx="2939" cy="1268"/>
              <a:chOff x="116" y="1300"/>
              <a:chExt cx="2939" cy="1268"/>
            </a:xfrm>
          </p:grpSpPr>
          <p:sp>
            <p:nvSpPr>
              <p:cNvPr id="2875" name="Line 827"/>
              <p:cNvSpPr>
                <a:spLocks noChangeShapeType="1"/>
              </p:cNvSpPr>
              <p:nvPr/>
            </p:nvSpPr>
            <p:spPr bwMode="auto">
              <a:xfrm flipH="1">
                <a:off x="1884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76" name="Line 828"/>
              <p:cNvSpPr>
                <a:spLocks noChangeShapeType="1"/>
              </p:cNvSpPr>
              <p:nvPr/>
            </p:nvSpPr>
            <p:spPr bwMode="auto">
              <a:xfrm flipH="1">
                <a:off x="1875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77" name="Line 829"/>
              <p:cNvSpPr>
                <a:spLocks noChangeShapeType="1"/>
              </p:cNvSpPr>
              <p:nvPr/>
            </p:nvSpPr>
            <p:spPr bwMode="auto">
              <a:xfrm flipH="1">
                <a:off x="1866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78" name="Line 830"/>
              <p:cNvSpPr>
                <a:spLocks noChangeShapeType="1"/>
              </p:cNvSpPr>
              <p:nvPr/>
            </p:nvSpPr>
            <p:spPr bwMode="auto">
              <a:xfrm>
                <a:off x="1864" y="209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79" name="Line 831"/>
              <p:cNvSpPr>
                <a:spLocks noChangeShapeType="1"/>
              </p:cNvSpPr>
              <p:nvPr/>
            </p:nvSpPr>
            <p:spPr bwMode="auto">
              <a:xfrm>
                <a:off x="1864" y="210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0" name="Line 832"/>
              <p:cNvSpPr>
                <a:spLocks noChangeShapeType="1"/>
              </p:cNvSpPr>
              <p:nvPr/>
            </p:nvSpPr>
            <p:spPr bwMode="auto">
              <a:xfrm>
                <a:off x="1864" y="210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1" name="Line 833"/>
              <p:cNvSpPr>
                <a:spLocks noChangeShapeType="1"/>
              </p:cNvSpPr>
              <p:nvPr/>
            </p:nvSpPr>
            <p:spPr bwMode="auto">
              <a:xfrm>
                <a:off x="1864" y="211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2" name="Line 834"/>
              <p:cNvSpPr>
                <a:spLocks noChangeShapeType="1"/>
              </p:cNvSpPr>
              <p:nvPr/>
            </p:nvSpPr>
            <p:spPr bwMode="auto">
              <a:xfrm>
                <a:off x="1864" y="212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3" name="Line 835"/>
              <p:cNvSpPr>
                <a:spLocks noChangeShapeType="1"/>
              </p:cNvSpPr>
              <p:nvPr/>
            </p:nvSpPr>
            <p:spPr bwMode="auto">
              <a:xfrm>
                <a:off x="1864" y="213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4" name="Line 836"/>
              <p:cNvSpPr>
                <a:spLocks noChangeShapeType="1"/>
              </p:cNvSpPr>
              <p:nvPr/>
            </p:nvSpPr>
            <p:spPr bwMode="auto">
              <a:xfrm>
                <a:off x="1864" y="214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5" name="Line 837"/>
              <p:cNvSpPr>
                <a:spLocks noChangeShapeType="1"/>
              </p:cNvSpPr>
              <p:nvPr/>
            </p:nvSpPr>
            <p:spPr bwMode="auto">
              <a:xfrm>
                <a:off x="1864" y="215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6" name="Line 838"/>
              <p:cNvSpPr>
                <a:spLocks noChangeShapeType="1"/>
              </p:cNvSpPr>
              <p:nvPr/>
            </p:nvSpPr>
            <p:spPr bwMode="auto">
              <a:xfrm>
                <a:off x="1864" y="216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7" name="Line 839"/>
              <p:cNvSpPr>
                <a:spLocks noChangeShapeType="1"/>
              </p:cNvSpPr>
              <p:nvPr/>
            </p:nvSpPr>
            <p:spPr bwMode="auto">
              <a:xfrm>
                <a:off x="1864" y="217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8" name="Line 840"/>
              <p:cNvSpPr>
                <a:spLocks noChangeShapeType="1"/>
              </p:cNvSpPr>
              <p:nvPr/>
            </p:nvSpPr>
            <p:spPr bwMode="auto">
              <a:xfrm>
                <a:off x="1864" y="218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9" name="Line 841"/>
              <p:cNvSpPr>
                <a:spLocks noChangeShapeType="1"/>
              </p:cNvSpPr>
              <p:nvPr/>
            </p:nvSpPr>
            <p:spPr bwMode="auto">
              <a:xfrm>
                <a:off x="1864" y="219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0" name="Line 842"/>
              <p:cNvSpPr>
                <a:spLocks noChangeShapeType="1"/>
              </p:cNvSpPr>
              <p:nvPr/>
            </p:nvSpPr>
            <p:spPr bwMode="auto">
              <a:xfrm>
                <a:off x="1864" y="220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1" name="Line 843"/>
              <p:cNvSpPr>
                <a:spLocks noChangeShapeType="1"/>
              </p:cNvSpPr>
              <p:nvPr/>
            </p:nvSpPr>
            <p:spPr bwMode="auto">
              <a:xfrm>
                <a:off x="1864" y="221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2" name="Line 844"/>
              <p:cNvSpPr>
                <a:spLocks noChangeShapeType="1"/>
              </p:cNvSpPr>
              <p:nvPr/>
            </p:nvSpPr>
            <p:spPr bwMode="auto">
              <a:xfrm>
                <a:off x="1864" y="221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3" name="Line 845"/>
              <p:cNvSpPr>
                <a:spLocks noChangeShapeType="1"/>
              </p:cNvSpPr>
              <p:nvPr/>
            </p:nvSpPr>
            <p:spPr bwMode="auto">
              <a:xfrm>
                <a:off x="1864" y="2229"/>
                <a:ext cx="1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4" name="Line 846"/>
              <p:cNvSpPr>
                <a:spLocks noChangeShapeType="1"/>
              </p:cNvSpPr>
              <p:nvPr/>
            </p:nvSpPr>
            <p:spPr bwMode="auto">
              <a:xfrm flipV="1">
                <a:off x="766" y="1931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5" name="Line 847"/>
              <p:cNvSpPr>
                <a:spLocks noChangeShapeType="1"/>
              </p:cNvSpPr>
              <p:nvPr/>
            </p:nvSpPr>
            <p:spPr bwMode="auto">
              <a:xfrm flipV="1">
                <a:off x="766" y="1836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6" name="Rectangle 848"/>
              <p:cNvSpPr>
                <a:spLocks noChangeArrowheads="1"/>
              </p:cNvSpPr>
              <p:nvPr/>
            </p:nvSpPr>
            <p:spPr bwMode="auto">
              <a:xfrm>
                <a:off x="753" y="1858"/>
                <a:ext cx="24" cy="7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7" name="Rectangle 849"/>
              <p:cNvSpPr>
                <a:spLocks noChangeArrowheads="1"/>
              </p:cNvSpPr>
              <p:nvPr/>
            </p:nvSpPr>
            <p:spPr bwMode="auto">
              <a:xfrm>
                <a:off x="651" y="1870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898" name="Line 850"/>
              <p:cNvSpPr>
                <a:spLocks noChangeShapeType="1"/>
              </p:cNvSpPr>
              <p:nvPr/>
            </p:nvSpPr>
            <p:spPr bwMode="auto">
              <a:xfrm flipV="1">
                <a:off x="766" y="2050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9" name="Line 851"/>
              <p:cNvSpPr>
                <a:spLocks noChangeShapeType="1"/>
              </p:cNvSpPr>
              <p:nvPr/>
            </p:nvSpPr>
            <p:spPr bwMode="auto">
              <a:xfrm flipV="1">
                <a:off x="766" y="1954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0" name="Rectangle 852"/>
              <p:cNvSpPr>
                <a:spLocks noChangeArrowheads="1"/>
              </p:cNvSpPr>
              <p:nvPr/>
            </p:nvSpPr>
            <p:spPr bwMode="auto">
              <a:xfrm>
                <a:off x="753" y="1976"/>
                <a:ext cx="24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1" name="Rectangle 853"/>
              <p:cNvSpPr>
                <a:spLocks noChangeArrowheads="1"/>
              </p:cNvSpPr>
              <p:nvPr/>
            </p:nvSpPr>
            <p:spPr bwMode="auto">
              <a:xfrm>
                <a:off x="651" y="1989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02" name="Freeform 854"/>
              <p:cNvSpPr>
                <a:spLocks/>
              </p:cNvSpPr>
              <p:nvPr/>
            </p:nvSpPr>
            <p:spPr bwMode="auto">
              <a:xfrm>
                <a:off x="808" y="1817"/>
                <a:ext cx="33" cy="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7"/>
                  </a:cxn>
                  <a:cxn ang="0">
                    <a:pos x="33" y="19"/>
                  </a:cxn>
                  <a:cxn ang="0">
                    <a:pos x="0" y="0"/>
                  </a:cxn>
                </a:cxnLst>
                <a:rect l="0" t="0" r="r" b="b"/>
                <a:pathLst>
                  <a:path w="33" h="37">
                    <a:moveTo>
                      <a:pt x="0" y="0"/>
                    </a:moveTo>
                    <a:lnTo>
                      <a:pt x="0" y="37"/>
                    </a:lnTo>
                    <a:lnTo>
                      <a:pt x="33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3" name="Line 855"/>
              <p:cNvSpPr>
                <a:spLocks noChangeShapeType="1"/>
              </p:cNvSpPr>
              <p:nvPr/>
            </p:nvSpPr>
            <p:spPr bwMode="auto">
              <a:xfrm>
                <a:off x="766" y="1836"/>
                <a:ext cx="4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4" name="Line 856"/>
              <p:cNvSpPr>
                <a:spLocks noChangeShapeType="1"/>
              </p:cNvSpPr>
              <p:nvPr/>
            </p:nvSpPr>
            <p:spPr bwMode="auto">
              <a:xfrm>
                <a:off x="841" y="1836"/>
                <a:ext cx="4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5" name="Line 857"/>
              <p:cNvSpPr>
                <a:spLocks noChangeShapeType="1"/>
              </p:cNvSpPr>
              <p:nvPr/>
            </p:nvSpPr>
            <p:spPr bwMode="auto">
              <a:xfrm flipV="1">
                <a:off x="839" y="1817"/>
                <a:ext cx="1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6" name="Line 858"/>
              <p:cNvSpPr>
                <a:spLocks noChangeShapeType="1"/>
              </p:cNvSpPr>
              <p:nvPr/>
            </p:nvSpPr>
            <p:spPr bwMode="auto">
              <a:xfrm flipV="1">
                <a:off x="766" y="2170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7" name="Line 859"/>
              <p:cNvSpPr>
                <a:spLocks noChangeShapeType="1"/>
              </p:cNvSpPr>
              <p:nvPr/>
            </p:nvSpPr>
            <p:spPr bwMode="auto">
              <a:xfrm flipV="1">
                <a:off x="766" y="2072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8" name="Rectangle 860"/>
              <p:cNvSpPr>
                <a:spLocks noChangeArrowheads="1"/>
              </p:cNvSpPr>
              <p:nvPr/>
            </p:nvSpPr>
            <p:spPr bwMode="auto">
              <a:xfrm>
                <a:off x="753" y="2096"/>
                <a:ext cx="24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9" name="Rectangle 861"/>
              <p:cNvSpPr>
                <a:spLocks noChangeArrowheads="1"/>
              </p:cNvSpPr>
              <p:nvPr/>
            </p:nvSpPr>
            <p:spPr bwMode="auto">
              <a:xfrm>
                <a:off x="651" y="2109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10" name="Line 862"/>
              <p:cNvSpPr>
                <a:spLocks noChangeShapeType="1"/>
              </p:cNvSpPr>
              <p:nvPr/>
            </p:nvSpPr>
            <p:spPr bwMode="auto">
              <a:xfrm flipV="1">
                <a:off x="792" y="2355"/>
                <a:ext cx="14" cy="1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1" name="Line 863"/>
              <p:cNvSpPr>
                <a:spLocks noChangeShapeType="1"/>
              </p:cNvSpPr>
              <p:nvPr/>
            </p:nvSpPr>
            <p:spPr bwMode="auto">
              <a:xfrm>
                <a:off x="806" y="2354"/>
                <a:ext cx="8" cy="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2" name="Freeform 864"/>
              <p:cNvSpPr>
                <a:spLocks/>
              </p:cNvSpPr>
              <p:nvPr/>
            </p:nvSpPr>
            <p:spPr bwMode="auto">
              <a:xfrm>
                <a:off x="814" y="2340"/>
                <a:ext cx="13" cy="21"/>
              </a:xfrm>
              <a:custGeom>
                <a:avLst/>
                <a:gdLst/>
                <a:ahLst/>
                <a:cxnLst>
                  <a:cxn ang="0">
                    <a:pos x="0" y="21"/>
                  </a:cxn>
                  <a:cxn ang="0">
                    <a:pos x="12" y="0"/>
                  </a:cxn>
                  <a:cxn ang="0">
                    <a:pos x="13" y="10"/>
                  </a:cxn>
                </a:cxnLst>
                <a:rect l="0" t="0" r="r" b="b"/>
                <a:pathLst>
                  <a:path w="13" h="21">
                    <a:moveTo>
                      <a:pt x="0" y="21"/>
                    </a:moveTo>
                    <a:lnTo>
                      <a:pt x="12" y="0"/>
                    </a:lnTo>
                    <a:lnTo>
                      <a:pt x="13" y="1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3" name="Line 865"/>
              <p:cNvSpPr>
                <a:spLocks noChangeShapeType="1"/>
              </p:cNvSpPr>
              <p:nvPr/>
            </p:nvSpPr>
            <p:spPr bwMode="auto">
              <a:xfrm flipH="1">
                <a:off x="819" y="2340"/>
                <a:ext cx="7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4" name="Line 866"/>
              <p:cNvSpPr>
                <a:spLocks noChangeShapeType="1"/>
              </p:cNvSpPr>
              <p:nvPr/>
            </p:nvSpPr>
            <p:spPr bwMode="auto">
              <a:xfrm flipV="1">
                <a:off x="789" y="2338"/>
                <a:ext cx="14" cy="1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5" name="Line 867"/>
              <p:cNvSpPr>
                <a:spLocks noChangeShapeType="1"/>
              </p:cNvSpPr>
              <p:nvPr/>
            </p:nvSpPr>
            <p:spPr bwMode="auto">
              <a:xfrm>
                <a:off x="803" y="2338"/>
                <a:ext cx="8" cy="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6" name="Freeform 868"/>
              <p:cNvSpPr>
                <a:spLocks/>
              </p:cNvSpPr>
              <p:nvPr/>
            </p:nvSpPr>
            <p:spPr bwMode="auto">
              <a:xfrm>
                <a:off x="811" y="2323"/>
                <a:ext cx="12" cy="2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12" y="0"/>
                  </a:cxn>
                  <a:cxn ang="0">
                    <a:pos x="12" y="9"/>
                  </a:cxn>
                </a:cxnLst>
                <a:rect l="0" t="0" r="r" b="b"/>
                <a:pathLst>
                  <a:path w="12" h="22">
                    <a:moveTo>
                      <a:pt x="0" y="22"/>
                    </a:moveTo>
                    <a:lnTo>
                      <a:pt x="12" y="0"/>
                    </a:lnTo>
                    <a:lnTo>
                      <a:pt x="12" y="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7" name="Line 869"/>
              <p:cNvSpPr>
                <a:spLocks noChangeShapeType="1"/>
              </p:cNvSpPr>
              <p:nvPr/>
            </p:nvSpPr>
            <p:spPr bwMode="auto">
              <a:xfrm flipH="1">
                <a:off x="816" y="2323"/>
                <a:ext cx="7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8" name="Freeform 870"/>
              <p:cNvSpPr>
                <a:spLocks/>
              </p:cNvSpPr>
              <p:nvPr/>
            </p:nvSpPr>
            <p:spPr bwMode="auto">
              <a:xfrm>
                <a:off x="747" y="2357"/>
                <a:ext cx="36" cy="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" y="0"/>
                  </a:cxn>
                  <a:cxn ang="0">
                    <a:pos x="19" y="32"/>
                  </a:cxn>
                  <a:cxn ang="0">
                    <a:pos x="0" y="0"/>
                  </a:cxn>
                </a:cxnLst>
                <a:rect l="0" t="0" r="r" b="b"/>
                <a:pathLst>
                  <a:path w="36" h="32">
                    <a:moveTo>
                      <a:pt x="0" y="0"/>
                    </a:moveTo>
                    <a:lnTo>
                      <a:pt x="36" y="0"/>
                    </a:lnTo>
                    <a:lnTo>
                      <a:pt x="19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9" name="Line 871"/>
              <p:cNvSpPr>
                <a:spLocks noChangeShapeType="1"/>
              </p:cNvSpPr>
              <p:nvPr/>
            </p:nvSpPr>
            <p:spPr bwMode="auto">
              <a:xfrm>
                <a:off x="766" y="2314"/>
                <a:ext cx="1" cy="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0" name="Line 872"/>
              <p:cNvSpPr>
                <a:spLocks noChangeShapeType="1"/>
              </p:cNvSpPr>
              <p:nvPr/>
            </p:nvSpPr>
            <p:spPr bwMode="auto">
              <a:xfrm>
                <a:off x="766" y="2389"/>
                <a:ext cx="1" cy="4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1" name="Rectangle 873"/>
              <p:cNvSpPr>
                <a:spLocks noChangeArrowheads="1"/>
              </p:cNvSpPr>
              <p:nvPr/>
            </p:nvSpPr>
            <p:spPr bwMode="auto">
              <a:xfrm>
                <a:off x="642" y="2348"/>
                <a:ext cx="62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LED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22" name="Line 874"/>
              <p:cNvSpPr>
                <a:spLocks noChangeShapeType="1"/>
              </p:cNvSpPr>
              <p:nvPr/>
            </p:nvSpPr>
            <p:spPr bwMode="auto">
              <a:xfrm flipH="1">
                <a:off x="746" y="2390"/>
                <a:ext cx="39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3" name="Line 875"/>
              <p:cNvSpPr>
                <a:spLocks noChangeShapeType="1"/>
              </p:cNvSpPr>
              <p:nvPr/>
            </p:nvSpPr>
            <p:spPr bwMode="auto">
              <a:xfrm>
                <a:off x="757" y="2472"/>
                <a:ext cx="17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4" name="Line 876"/>
              <p:cNvSpPr>
                <a:spLocks noChangeShapeType="1"/>
              </p:cNvSpPr>
              <p:nvPr/>
            </p:nvSpPr>
            <p:spPr bwMode="auto">
              <a:xfrm>
                <a:off x="748" y="2464"/>
                <a:ext cx="3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5" name="Line 877"/>
              <p:cNvSpPr>
                <a:spLocks noChangeShapeType="1"/>
              </p:cNvSpPr>
              <p:nvPr/>
            </p:nvSpPr>
            <p:spPr bwMode="auto">
              <a:xfrm>
                <a:off x="740" y="2456"/>
                <a:ext cx="50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6" name="Line 878"/>
              <p:cNvSpPr>
                <a:spLocks noChangeShapeType="1"/>
              </p:cNvSpPr>
              <p:nvPr/>
            </p:nvSpPr>
            <p:spPr bwMode="auto">
              <a:xfrm>
                <a:off x="766" y="2431"/>
                <a:ext cx="1" cy="2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7" name="Line 879"/>
              <p:cNvSpPr>
                <a:spLocks noChangeShapeType="1"/>
              </p:cNvSpPr>
              <p:nvPr/>
            </p:nvSpPr>
            <p:spPr bwMode="auto">
              <a:xfrm>
                <a:off x="883" y="1836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8" name="Line 880"/>
              <p:cNvSpPr>
                <a:spLocks noChangeShapeType="1"/>
              </p:cNvSpPr>
              <p:nvPr/>
            </p:nvSpPr>
            <p:spPr bwMode="auto">
              <a:xfrm>
                <a:off x="883" y="1931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9" name="Rectangle 881"/>
              <p:cNvSpPr>
                <a:spLocks noChangeArrowheads="1"/>
              </p:cNvSpPr>
              <p:nvPr/>
            </p:nvSpPr>
            <p:spPr bwMode="auto">
              <a:xfrm>
                <a:off x="872" y="1858"/>
                <a:ext cx="24" cy="7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0" name="Rectangle 882"/>
              <p:cNvSpPr>
                <a:spLocks noChangeArrowheads="1"/>
              </p:cNvSpPr>
              <p:nvPr/>
            </p:nvSpPr>
            <p:spPr bwMode="auto">
              <a:xfrm>
                <a:off x="919" y="1870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31" name="Line 883"/>
              <p:cNvSpPr>
                <a:spLocks noChangeShapeType="1"/>
              </p:cNvSpPr>
              <p:nvPr/>
            </p:nvSpPr>
            <p:spPr bwMode="auto">
              <a:xfrm>
                <a:off x="883" y="1954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2" name="Line 884"/>
              <p:cNvSpPr>
                <a:spLocks noChangeShapeType="1"/>
              </p:cNvSpPr>
              <p:nvPr/>
            </p:nvSpPr>
            <p:spPr bwMode="auto">
              <a:xfrm>
                <a:off x="883" y="2051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3" name="Rectangle 885"/>
              <p:cNvSpPr>
                <a:spLocks noChangeArrowheads="1"/>
              </p:cNvSpPr>
              <p:nvPr/>
            </p:nvSpPr>
            <p:spPr bwMode="auto">
              <a:xfrm>
                <a:off x="872" y="1978"/>
                <a:ext cx="24" cy="7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4" name="Rectangle 886"/>
              <p:cNvSpPr>
                <a:spLocks noChangeArrowheads="1"/>
              </p:cNvSpPr>
              <p:nvPr/>
            </p:nvSpPr>
            <p:spPr bwMode="auto">
              <a:xfrm>
                <a:off x="919" y="1990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35" name="Line 887"/>
              <p:cNvSpPr>
                <a:spLocks noChangeShapeType="1"/>
              </p:cNvSpPr>
              <p:nvPr/>
            </p:nvSpPr>
            <p:spPr bwMode="auto">
              <a:xfrm>
                <a:off x="884" y="2194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6" name="Line 888"/>
              <p:cNvSpPr>
                <a:spLocks noChangeShapeType="1"/>
              </p:cNvSpPr>
              <p:nvPr/>
            </p:nvSpPr>
            <p:spPr bwMode="auto">
              <a:xfrm>
                <a:off x="884" y="2290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7" name="Rectangle 889"/>
              <p:cNvSpPr>
                <a:spLocks noChangeArrowheads="1"/>
              </p:cNvSpPr>
              <p:nvPr/>
            </p:nvSpPr>
            <p:spPr bwMode="auto">
              <a:xfrm>
                <a:off x="872" y="2216"/>
                <a:ext cx="25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8" name="Rectangle 890"/>
              <p:cNvSpPr>
                <a:spLocks noChangeArrowheads="1"/>
              </p:cNvSpPr>
              <p:nvPr/>
            </p:nvSpPr>
            <p:spPr bwMode="auto">
              <a:xfrm>
                <a:off x="919" y="2228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39" name="Line 891"/>
              <p:cNvSpPr>
                <a:spLocks noChangeShapeType="1"/>
              </p:cNvSpPr>
              <p:nvPr/>
            </p:nvSpPr>
            <p:spPr bwMode="auto">
              <a:xfrm>
                <a:off x="883" y="2074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0" name="Line 892"/>
              <p:cNvSpPr>
                <a:spLocks noChangeShapeType="1"/>
              </p:cNvSpPr>
              <p:nvPr/>
            </p:nvSpPr>
            <p:spPr bwMode="auto">
              <a:xfrm>
                <a:off x="883" y="2171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1" name="Rectangle 893"/>
              <p:cNvSpPr>
                <a:spLocks noChangeArrowheads="1"/>
              </p:cNvSpPr>
              <p:nvPr/>
            </p:nvSpPr>
            <p:spPr bwMode="auto">
              <a:xfrm>
                <a:off x="872" y="2097"/>
                <a:ext cx="24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2" name="Rectangle 894"/>
              <p:cNvSpPr>
                <a:spLocks noChangeArrowheads="1"/>
              </p:cNvSpPr>
              <p:nvPr/>
            </p:nvSpPr>
            <p:spPr bwMode="auto">
              <a:xfrm>
                <a:off x="919" y="2110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43" name="Line 895"/>
              <p:cNvSpPr>
                <a:spLocks noChangeShapeType="1"/>
              </p:cNvSpPr>
              <p:nvPr/>
            </p:nvSpPr>
            <p:spPr bwMode="auto">
              <a:xfrm flipV="1">
                <a:off x="766" y="2292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4" name="Line 896"/>
              <p:cNvSpPr>
                <a:spLocks noChangeShapeType="1"/>
              </p:cNvSpPr>
              <p:nvPr/>
            </p:nvSpPr>
            <p:spPr bwMode="auto">
              <a:xfrm flipV="1">
                <a:off x="766" y="2194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5" name="Rectangle 897"/>
              <p:cNvSpPr>
                <a:spLocks noChangeArrowheads="1"/>
              </p:cNvSpPr>
              <p:nvPr/>
            </p:nvSpPr>
            <p:spPr bwMode="auto">
              <a:xfrm>
                <a:off x="753" y="2218"/>
                <a:ext cx="24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6" name="Rectangle 898"/>
              <p:cNvSpPr>
                <a:spLocks noChangeArrowheads="1"/>
              </p:cNvSpPr>
              <p:nvPr/>
            </p:nvSpPr>
            <p:spPr bwMode="auto">
              <a:xfrm>
                <a:off x="651" y="2231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47" name="Line 899"/>
              <p:cNvSpPr>
                <a:spLocks noChangeShapeType="1"/>
              </p:cNvSpPr>
              <p:nvPr/>
            </p:nvSpPr>
            <p:spPr bwMode="auto">
              <a:xfrm>
                <a:off x="884" y="2313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8" name="Line 900"/>
              <p:cNvSpPr>
                <a:spLocks noChangeShapeType="1"/>
              </p:cNvSpPr>
              <p:nvPr/>
            </p:nvSpPr>
            <p:spPr bwMode="auto">
              <a:xfrm>
                <a:off x="884" y="2408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9" name="Rectangle 901"/>
              <p:cNvSpPr>
                <a:spLocks noChangeArrowheads="1"/>
              </p:cNvSpPr>
              <p:nvPr/>
            </p:nvSpPr>
            <p:spPr bwMode="auto">
              <a:xfrm>
                <a:off x="872" y="2335"/>
                <a:ext cx="25" cy="7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0" name="Rectangle 902"/>
              <p:cNvSpPr>
                <a:spLocks noChangeArrowheads="1"/>
              </p:cNvSpPr>
              <p:nvPr/>
            </p:nvSpPr>
            <p:spPr bwMode="auto">
              <a:xfrm>
                <a:off x="919" y="2347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51" name="Line 903"/>
              <p:cNvSpPr>
                <a:spLocks noChangeShapeType="1"/>
              </p:cNvSpPr>
              <p:nvPr/>
            </p:nvSpPr>
            <p:spPr bwMode="auto">
              <a:xfrm>
                <a:off x="884" y="2430"/>
                <a:ext cx="1" cy="6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2" name="Freeform 904"/>
              <p:cNvSpPr>
                <a:spLocks/>
              </p:cNvSpPr>
              <p:nvPr/>
            </p:nvSpPr>
            <p:spPr bwMode="auto">
              <a:xfrm>
                <a:off x="876" y="2491"/>
                <a:ext cx="16" cy="16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3" y="4"/>
                  </a:cxn>
                  <a:cxn ang="0">
                    <a:pos x="6" y="0"/>
                  </a:cxn>
                  <a:cxn ang="0">
                    <a:pos x="11" y="0"/>
                  </a:cxn>
                  <a:cxn ang="0">
                    <a:pos x="15" y="4"/>
                  </a:cxn>
                  <a:cxn ang="0">
                    <a:pos x="16" y="8"/>
                  </a:cxn>
                  <a:cxn ang="0">
                    <a:pos x="15" y="13"/>
                  </a:cxn>
                  <a:cxn ang="0">
                    <a:pos x="11" y="16"/>
                  </a:cxn>
                  <a:cxn ang="0">
                    <a:pos x="6" y="16"/>
                  </a:cxn>
                  <a:cxn ang="0">
                    <a:pos x="3" y="13"/>
                  </a:cxn>
                  <a:cxn ang="0">
                    <a:pos x="0" y="8"/>
                  </a:cxn>
                </a:cxnLst>
                <a:rect l="0" t="0" r="r" b="b"/>
                <a:pathLst>
                  <a:path w="16" h="16">
                    <a:moveTo>
                      <a:pt x="0" y="8"/>
                    </a:moveTo>
                    <a:lnTo>
                      <a:pt x="3" y="4"/>
                    </a:lnTo>
                    <a:lnTo>
                      <a:pt x="6" y="0"/>
                    </a:lnTo>
                    <a:lnTo>
                      <a:pt x="11" y="0"/>
                    </a:lnTo>
                    <a:lnTo>
                      <a:pt x="15" y="4"/>
                    </a:lnTo>
                    <a:lnTo>
                      <a:pt x="16" y="8"/>
                    </a:lnTo>
                    <a:lnTo>
                      <a:pt x="15" y="13"/>
                    </a:lnTo>
                    <a:lnTo>
                      <a:pt x="11" y="16"/>
                    </a:lnTo>
                    <a:lnTo>
                      <a:pt x="6" y="16"/>
                    </a:lnTo>
                    <a:lnTo>
                      <a:pt x="3" y="13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3" name="Rectangle 905"/>
              <p:cNvSpPr>
                <a:spLocks noChangeArrowheads="1"/>
              </p:cNvSpPr>
              <p:nvPr/>
            </p:nvSpPr>
            <p:spPr bwMode="auto">
              <a:xfrm>
                <a:off x="854" y="2530"/>
                <a:ext cx="50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-9V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54" name="Line 906"/>
              <p:cNvSpPr>
                <a:spLocks noChangeShapeType="1"/>
              </p:cNvSpPr>
              <p:nvPr/>
            </p:nvSpPr>
            <p:spPr bwMode="auto">
              <a:xfrm>
                <a:off x="1020" y="2312"/>
                <a:ext cx="1" cy="5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5" name="Line 907"/>
              <p:cNvSpPr>
                <a:spLocks noChangeShapeType="1"/>
              </p:cNvSpPr>
              <p:nvPr/>
            </p:nvSpPr>
            <p:spPr bwMode="auto">
              <a:xfrm>
                <a:off x="1020" y="2377"/>
                <a:ext cx="1" cy="5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6" name="Freeform 908"/>
              <p:cNvSpPr>
                <a:spLocks/>
              </p:cNvSpPr>
              <p:nvPr/>
            </p:nvSpPr>
            <p:spPr bwMode="auto">
              <a:xfrm>
                <a:off x="998" y="2377"/>
                <a:ext cx="44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4" y="0"/>
                  </a:cxn>
                  <a:cxn ang="0">
                    <a:pos x="0" y="0"/>
                  </a:cxn>
                </a:cxnLst>
                <a:rect l="0" t="0" r="r" b="b"/>
                <a:pathLst>
                  <a:path w="44">
                    <a:moveTo>
                      <a:pt x="0" y="0"/>
                    </a:moveTo>
                    <a:lnTo>
                      <a:pt x="4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7" name="Line 909"/>
              <p:cNvSpPr>
                <a:spLocks noChangeShapeType="1"/>
              </p:cNvSpPr>
              <p:nvPr/>
            </p:nvSpPr>
            <p:spPr bwMode="auto">
              <a:xfrm>
                <a:off x="998" y="2377"/>
                <a:ext cx="4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8" name="Line 910"/>
              <p:cNvSpPr>
                <a:spLocks noChangeShapeType="1"/>
              </p:cNvSpPr>
              <p:nvPr/>
            </p:nvSpPr>
            <p:spPr bwMode="auto">
              <a:xfrm>
                <a:off x="998" y="2366"/>
                <a:ext cx="4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9" name="Rectangle 911"/>
              <p:cNvSpPr>
                <a:spLocks noChangeArrowheads="1"/>
              </p:cNvSpPr>
              <p:nvPr/>
            </p:nvSpPr>
            <p:spPr bwMode="auto">
              <a:xfrm>
                <a:off x="1076" y="2347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60" name="Line 912"/>
              <p:cNvSpPr>
                <a:spLocks noChangeShapeType="1"/>
              </p:cNvSpPr>
              <p:nvPr/>
            </p:nvSpPr>
            <p:spPr bwMode="auto">
              <a:xfrm>
                <a:off x="884" y="2313"/>
                <a:ext cx="33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1" name="Line 913"/>
              <p:cNvSpPr>
                <a:spLocks noChangeShapeType="1"/>
              </p:cNvSpPr>
              <p:nvPr/>
            </p:nvSpPr>
            <p:spPr bwMode="auto">
              <a:xfrm>
                <a:off x="884" y="2430"/>
                <a:ext cx="136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2" name="Line 914"/>
              <p:cNvSpPr>
                <a:spLocks noChangeShapeType="1"/>
              </p:cNvSpPr>
              <p:nvPr/>
            </p:nvSpPr>
            <p:spPr bwMode="auto">
              <a:xfrm flipV="1">
                <a:off x="1217" y="2171"/>
                <a:ext cx="1" cy="20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3" name="Line 915"/>
              <p:cNvSpPr>
                <a:spLocks noChangeShapeType="1"/>
              </p:cNvSpPr>
              <p:nvPr/>
            </p:nvSpPr>
            <p:spPr bwMode="auto">
              <a:xfrm flipV="1">
                <a:off x="1217" y="2271"/>
                <a:ext cx="171" cy="10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4" name="Line 916"/>
              <p:cNvSpPr>
                <a:spLocks noChangeShapeType="1"/>
              </p:cNvSpPr>
              <p:nvPr/>
            </p:nvSpPr>
            <p:spPr bwMode="auto">
              <a:xfrm>
                <a:off x="1217" y="2171"/>
                <a:ext cx="171" cy="10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5" name="Rectangle 917"/>
              <p:cNvSpPr>
                <a:spLocks noChangeArrowheads="1"/>
              </p:cNvSpPr>
              <p:nvPr/>
            </p:nvSpPr>
            <p:spPr bwMode="auto">
              <a:xfrm>
                <a:off x="1235" y="2286"/>
                <a:ext cx="23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+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66" name="Rectangle 918"/>
              <p:cNvSpPr>
                <a:spLocks noChangeArrowheads="1"/>
              </p:cNvSpPr>
              <p:nvPr/>
            </p:nvSpPr>
            <p:spPr bwMode="auto">
              <a:xfrm>
                <a:off x="1236" y="2199"/>
                <a:ext cx="13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-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67" name="Line 919"/>
              <p:cNvSpPr>
                <a:spLocks noChangeShapeType="1"/>
              </p:cNvSpPr>
              <p:nvPr/>
            </p:nvSpPr>
            <p:spPr bwMode="auto">
              <a:xfrm>
                <a:off x="1296" y="1754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8" name="Line 920"/>
              <p:cNvSpPr>
                <a:spLocks noChangeShapeType="1"/>
              </p:cNvSpPr>
              <p:nvPr/>
            </p:nvSpPr>
            <p:spPr bwMode="auto">
              <a:xfrm>
                <a:off x="1296" y="1851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9" name="Rectangle 921"/>
              <p:cNvSpPr>
                <a:spLocks noChangeArrowheads="1"/>
              </p:cNvSpPr>
              <p:nvPr/>
            </p:nvSpPr>
            <p:spPr bwMode="auto">
              <a:xfrm>
                <a:off x="1283" y="1777"/>
                <a:ext cx="25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0" name="Rectangle 922"/>
              <p:cNvSpPr>
                <a:spLocks noChangeArrowheads="1"/>
              </p:cNvSpPr>
              <p:nvPr/>
            </p:nvSpPr>
            <p:spPr bwMode="auto">
              <a:xfrm>
                <a:off x="1338" y="1789"/>
                <a:ext cx="46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OV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71" name="Line 923"/>
              <p:cNvSpPr>
                <a:spLocks noChangeShapeType="1"/>
              </p:cNvSpPr>
              <p:nvPr/>
            </p:nvSpPr>
            <p:spPr bwMode="auto">
              <a:xfrm>
                <a:off x="1296" y="1992"/>
                <a:ext cx="1" cy="6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2" name="Freeform 924"/>
              <p:cNvSpPr>
                <a:spLocks/>
              </p:cNvSpPr>
              <p:nvPr/>
            </p:nvSpPr>
            <p:spPr bwMode="auto">
              <a:xfrm>
                <a:off x="1288" y="2054"/>
                <a:ext cx="16" cy="15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1" y="2"/>
                  </a:cxn>
                  <a:cxn ang="0">
                    <a:pos x="5" y="0"/>
                  </a:cxn>
                  <a:cxn ang="0">
                    <a:pos x="10" y="0"/>
                  </a:cxn>
                  <a:cxn ang="0">
                    <a:pos x="15" y="2"/>
                  </a:cxn>
                  <a:cxn ang="0">
                    <a:pos x="16" y="8"/>
                  </a:cxn>
                  <a:cxn ang="0">
                    <a:pos x="15" y="12"/>
                  </a:cxn>
                  <a:cxn ang="0">
                    <a:pos x="10" y="15"/>
                  </a:cxn>
                  <a:cxn ang="0">
                    <a:pos x="5" y="15"/>
                  </a:cxn>
                  <a:cxn ang="0">
                    <a:pos x="1" y="12"/>
                  </a:cxn>
                  <a:cxn ang="0">
                    <a:pos x="0" y="8"/>
                  </a:cxn>
                </a:cxnLst>
                <a:rect l="0" t="0" r="r" b="b"/>
                <a:pathLst>
                  <a:path w="16" h="15">
                    <a:moveTo>
                      <a:pt x="0" y="8"/>
                    </a:moveTo>
                    <a:lnTo>
                      <a:pt x="1" y="2"/>
                    </a:lnTo>
                    <a:lnTo>
                      <a:pt x="5" y="0"/>
                    </a:lnTo>
                    <a:lnTo>
                      <a:pt x="10" y="0"/>
                    </a:lnTo>
                    <a:lnTo>
                      <a:pt x="15" y="2"/>
                    </a:lnTo>
                    <a:lnTo>
                      <a:pt x="16" y="8"/>
                    </a:lnTo>
                    <a:lnTo>
                      <a:pt x="15" y="12"/>
                    </a:lnTo>
                    <a:lnTo>
                      <a:pt x="10" y="15"/>
                    </a:lnTo>
                    <a:lnTo>
                      <a:pt x="5" y="15"/>
                    </a:lnTo>
                    <a:lnTo>
                      <a:pt x="1" y="12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3" name="Rectangle 925"/>
              <p:cNvSpPr>
                <a:spLocks noChangeArrowheads="1"/>
              </p:cNvSpPr>
              <p:nvPr/>
            </p:nvSpPr>
            <p:spPr bwMode="auto">
              <a:xfrm>
                <a:off x="1261" y="2089"/>
                <a:ext cx="62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-9V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74" name="Line 926"/>
              <p:cNvSpPr>
                <a:spLocks noChangeShapeType="1"/>
              </p:cNvSpPr>
              <p:nvPr/>
            </p:nvSpPr>
            <p:spPr bwMode="auto">
              <a:xfrm>
                <a:off x="1296" y="1873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5" name="Line 927"/>
              <p:cNvSpPr>
                <a:spLocks noChangeShapeType="1"/>
              </p:cNvSpPr>
              <p:nvPr/>
            </p:nvSpPr>
            <p:spPr bwMode="auto">
              <a:xfrm>
                <a:off x="1296" y="1968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6" name="Rectangle 928"/>
              <p:cNvSpPr>
                <a:spLocks noChangeArrowheads="1"/>
              </p:cNvSpPr>
              <p:nvPr/>
            </p:nvSpPr>
            <p:spPr bwMode="auto">
              <a:xfrm>
                <a:off x="1283" y="1896"/>
                <a:ext cx="25" cy="72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7" name="Rectangle 929"/>
              <p:cNvSpPr>
                <a:spLocks noChangeArrowheads="1"/>
              </p:cNvSpPr>
              <p:nvPr/>
            </p:nvSpPr>
            <p:spPr bwMode="auto">
              <a:xfrm>
                <a:off x="1331" y="1907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78" name="Line 930"/>
              <p:cNvSpPr>
                <a:spLocks noChangeShapeType="1"/>
              </p:cNvSpPr>
              <p:nvPr/>
            </p:nvSpPr>
            <p:spPr bwMode="auto">
              <a:xfrm>
                <a:off x="1603" y="2034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9" name="Freeform 931"/>
              <p:cNvSpPr>
                <a:spLocks/>
              </p:cNvSpPr>
              <p:nvPr/>
            </p:nvSpPr>
            <p:spPr bwMode="auto">
              <a:xfrm>
                <a:off x="1596" y="2020"/>
                <a:ext cx="17" cy="1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7" y="7"/>
                  </a:cxn>
                  <a:cxn ang="0">
                    <a:pos x="14" y="12"/>
                  </a:cxn>
                  <a:cxn ang="0">
                    <a:pos x="11" y="15"/>
                  </a:cxn>
                  <a:cxn ang="0">
                    <a:pos x="6" y="15"/>
                  </a:cxn>
                  <a:cxn ang="0">
                    <a:pos x="2" y="12"/>
                  </a:cxn>
                  <a:cxn ang="0">
                    <a:pos x="0" y="7"/>
                  </a:cxn>
                </a:cxnLst>
                <a:rect l="0" t="0" r="r" b="b"/>
                <a:pathLst>
                  <a:path w="17" h="15">
                    <a:moveTo>
                      <a:pt x="0" y="7"/>
                    </a:moveTo>
                    <a:lnTo>
                      <a:pt x="2" y="2"/>
                    </a:lnTo>
                    <a:lnTo>
                      <a:pt x="6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7" y="7"/>
                    </a:lnTo>
                    <a:lnTo>
                      <a:pt x="14" y="12"/>
                    </a:lnTo>
                    <a:lnTo>
                      <a:pt x="11" y="15"/>
                    </a:lnTo>
                    <a:lnTo>
                      <a:pt x="6" y="15"/>
                    </a:lnTo>
                    <a:lnTo>
                      <a:pt x="2" y="12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0" name="Rectangle 932"/>
              <p:cNvSpPr>
                <a:spLocks noChangeArrowheads="1"/>
              </p:cNvSpPr>
              <p:nvPr/>
            </p:nvSpPr>
            <p:spPr bwMode="auto">
              <a:xfrm>
                <a:off x="1564" y="1953"/>
                <a:ext cx="57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15V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81" name="Freeform 933"/>
              <p:cNvSpPr>
                <a:spLocks/>
              </p:cNvSpPr>
              <p:nvPr/>
            </p:nvSpPr>
            <p:spPr bwMode="auto">
              <a:xfrm>
                <a:off x="1128" y="1810"/>
                <a:ext cx="127" cy="418"/>
              </a:xfrm>
              <a:custGeom>
                <a:avLst/>
                <a:gdLst/>
                <a:ahLst/>
                <a:cxnLst>
                  <a:cxn ang="0">
                    <a:pos x="88" y="418"/>
                  </a:cxn>
                  <a:cxn ang="0">
                    <a:pos x="0" y="418"/>
                  </a:cxn>
                  <a:cxn ang="0">
                    <a:pos x="0" y="0"/>
                  </a:cxn>
                  <a:cxn ang="0">
                    <a:pos x="127" y="0"/>
                  </a:cxn>
                </a:cxnLst>
                <a:rect l="0" t="0" r="r" b="b"/>
                <a:pathLst>
                  <a:path w="127" h="418">
                    <a:moveTo>
                      <a:pt x="88" y="418"/>
                    </a:moveTo>
                    <a:lnTo>
                      <a:pt x="0" y="418"/>
                    </a:lnTo>
                    <a:lnTo>
                      <a:pt x="0" y="0"/>
                    </a:lnTo>
                    <a:lnTo>
                      <a:pt x="12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2" name="Freeform 934"/>
              <p:cNvSpPr>
                <a:spLocks/>
              </p:cNvSpPr>
              <p:nvPr/>
            </p:nvSpPr>
            <p:spPr bwMode="auto">
              <a:xfrm>
                <a:off x="1252" y="1797"/>
                <a:ext cx="26" cy="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6" y="13"/>
                  </a:cxn>
                  <a:cxn ang="0">
                    <a:pos x="0" y="26"/>
                  </a:cxn>
                  <a:cxn ang="0">
                    <a:pos x="0" y="0"/>
                  </a:cxn>
                </a:cxnLst>
                <a:rect l="0" t="0" r="r" b="b"/>
                <a:pathLst>
                  <a:path w="26" h="26">
                    <a:moveTo>
                      <a:pt x="0" y="0"/>
                    </a:moveTo>
                    <a:lnTo>
                      <a:pt x="26" y="13"/>
                    </a:lnTo>
                    <a:lnTo>
                      <a:pt x="0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3" name="Line 935"/>
              <p:cNvSpPr>
                <a:spLocks noChangeShapeType="1"/>
              </p:cNvSpPr>
              <p:nvPr/>
            </p:nvSpPr>
            <p:spPr bwMode="auto">
              <a:xfrm>
                <a:off x="1388" y="2272"/>
                <a:ext cx="7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4" name="Line 936"/>
              <p:cNvSpPr>
                <a:spLocks noChangeShapeType="1"/>
              </p:cNvSpPr>
              <p:nvPr/>
            </p:nvSpPr>
            <p:spPr bwMode="auto">
              <a:xfrm>
                <a:off x="1533" y="2272"/>
                <a:ext cx="7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5" name="Rectangle 937"/>
              <p:cNvSpPr>
                <a:spLocks noChangeArrowheads="1"/>
              </p:cNvSpPr>
              <p:nvPr/>
            </p:nvSpPr>
            <p:spPr bwMode="auto">
              <a:xfrm>
                <a:off x="1459" y="2261"/>
                <a:ext cx="74" cy="2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6" name="Rectangle 938"/>
              <p:cNvSpPr>
                <a:spLocks noChangeArrowheads="1"/>
              </p:cNvSpPr>
              <p:nvPr/>
            </p:nvSpPr>
            <p:spPr bwMode="auto">
              <a:xfrm>
                <a:off x="1462" y="2208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87" name="Line 939"/>
              <p:cNvSpPr>
                <a:spLocks noChangeShapeType="1"/>
              </p:cNvSpPr>
              <p:nvPr/>
            </p:nvSpPr>
            <p:spPr bwMode="auto">
              <a:xfrm flipV="1">
                <a:off x="1605" y="2202"/>
                <a:ext cx="1" cy="7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8" name="Line 940"/>
              <p:cNvSpPr>
                <a:spLocks noChangeShapeType="1"/>
              </p:cNvSpPr>
              <p:nvPr/>
            </p:nvSpPr>
            <p:spPr bwMode="auto">
              <a:xfrm flipV="1">
                <a:off x="1605" y="2058"/>
                <a:ext cx="1" cy="7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9" name="Rectangle 941"/>
              <p:cNvSpPr>
                <a:spLocks noChangeArrowheads="1"/>
              </p:cNvSpPr>
              <p:nvPr/>
            </p:nvSpPr>
            <p:spPr bwMode="auto">
              <a:xfrm>
                <a:off x="1592" y="2128"/>
                <a:ext cx="24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0" name="Rectangle 942"/>
              <p:cNvSpPr>
                <a:spLocks noChangeArrowheads="1"/>
              </p:cNvSpPr>
              <p:nvPr/>
            </p:nvSpPr>
            <p:spPr bwMode="auto">
              <a:xfrm>
                <a:off x="1500" y="2141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91" name="Line 943"/>
              <p:cNvSpPr>
                <a:spLocks noChangeShapeType="1"/>
              </p:cNvSpPr>
              <p:nvPr/>
            </p:nvSpPr>
            <p:spPr bwMode="auto">
              <a:xfrm>
                <a:off x="1683" y="2056"/>
                <a:ext cx="1" cy="10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2" name="Line 944"/>
              <p:cNvSpPr>
                <a:spLocks noChangeShapeType="1"/>
              </p:cNvSpPr>
              <p:nvPr/>
            </p:nvSpPr>
            <p:spPr bwMode="auto">
              <a:xfrm>
                <a:off x="1683" y="2171"/>
                <a:ext cx="1" cy="10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3" name="Freeform 945"/>
              <p:cNvSpPr>
                <a:spLocks/>
              </p:cNvSpPr>
              <p:nvPr/>
            </p:nvSpPr>
            <p:spPr bwMode="auto">
              <a:xfrm>
                <a:off x="1660" y="2171"/>
                <a:ext cx="45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5" y="0"/>
                  </a:cxn>
                  <a:cxn ang="0">
                    <a:pos x="0" y="0"/>
                  </a:cxn>
                </a:cxnLst>
                <a:rect l="0" t="0" r="r" b="b"/>
                <a:pathLst>
                  <a:path w="45">
                    <a:moveTo>
                      <a:pt x="0" y="0"/>
                    </a:moveTo>
                    <a:lnTo>
                      <a:pt x="4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4" name="Line 946"/>
              <p:cNvSpPr>
                <a:spLocks noChangeShapeType="1"/>
              </p:cNvSpPr>
              <p:nvPr/>
            </p:nvSpPr>
            <p:spPr bwMode="auto">
              <a:xfrm>
                <a:off x="1660" y="2171"/>
                <a:ext cx="4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5" name="Line 947"/>
              <p:cNvSpPr>
                <a:spLocks noChangeShapeType="1"/>
              </p:cNvSpPr>
              <p:nvPr/>
            </p:nvSpPr>
            <p:spPr bwMode="auto">
              <a:xfrm>
                <a:off x="1660" y="2160"/>
                <a:ext cx="4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6" name="Line 948"/>
              <p:cNvSpPr>
                <a:spLocks noChangeShapeType="1"/>
              </p:cNvSpPr>
              <p:nvPr/>
            </p:nvSpPr>
            <p:spPr bwMode="auto">
              <a:xfrm>
                <a:off x="1605" y="2272"/>
                <a:ext cx="29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7" name="Freeform 949"/>
              <p:cNvSpPr>
                <a:spLocks/>
              </p:cNvSpPr>
              <p:nvPr/>
            </p:nvSpPr>
            <p:spPr bwMode="auto">
              <a:xfrm>
                <a:off x="1743" y="2149"/>
                <a:ext cx="37" cy="32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37" y="32"/>
                  </a:cxn>
                  <a:cxn ang="0">
                    <a:pos x="18" y="0"/>
                  </a:cxn>
                  <a:cxn ang="0">
                    <a:pos x="0" y="32"/>
                  </a:cxn>
                </a:cxnLst>
                <a:rect l="0" t="0" r="r" b="b"/>
                <a:pathLst>
                  <a:path w="37" h="32">
                    <a:moveTo>
                      <a:pt x="0" y="32"/>
                    </a:moveTo>
                    <a:lnTo>
                      <a:pt x="37" y="32"/>
                    </a:lnTo>
                    <a:lnTo>
                      <a:pt x="18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8" name="Line 950"/>
              <p:cNvSpPr>
                <a:spLocks noChangeShapeType="1"/>
              </p:cNvSpPr>
              <p:nvPr/>
            </p:nvSpPr>
            <p:spPr bwMode="auto">
              <a:xfrm flipV="1">
                <a:off x="1761" y="2181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9" name="Line 951"/>
              <p:cNvSpPr>
                <a:spLocks noChangeShapeType="1"/>
              </p:cNvSpPr>
              <p:nvPr/>
            </p:nvSpPr>
            <p:spPr bwMode="auto">
              <a:xfrm flipV="1">
                <a:off x="1761" y="2058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0" name="Line 952"/>
              <p:cNvSpPr>
                <a:spLocks noChangeShapeType="1"/>
              </p:cNvSpPr>
              <p:nvPr/>
            </p:nvSpPr>
            <p:spPr bwMode="auto">
              <a:xfrm flipH="1">
                <a:off x="1742" y="2147"/>
                <a:ext cx="39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1" name="Line 953"/>
              <p:cNvSpPr>
                <a:spLocks noChangeShapeType="1"/>
              </p:cNvSpPr>
              <p:nvPr/>
            </p:nvSpPr>
            <p:spPr bwMode="auto">
              <a:xfrm>
                <a:off x="1605" y="2058"/>
                <a:ext cx="29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2" name="Freeform 954"/>
              <p:cNvSpPr>
                <a:spLocks/>
              </p:cNvSpPr>
              <p:nvPr/>
            </p:nvSpPr>
            <p:spPr bwMode="auto">
              <a:xfrm>
                <a:off x="1879" y="2149"/>
                <a:ext cx="37" cy="32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0" y="0"/>
                  </a:cxn>
                  <a:cxn ang="0">
                    <a:pos x="18" y="32"/>
                  </a:cxn>
                  <a:cxn ang="0">
                    <a:pos x="37" y="0"/>
                  </a:cxn>
                </a:cxnLst>
                <a:rect l="0" t="0" r="r" b="b"/>
                <a:pathLst>
                  <a:path w="37" h="32">
                    <a:moveTo>
                      <a:pt x="37" y="0"/>
                    </a:moveTo>
                    <a:lnTo>
                      <a:pt x="0" y="0"/>
                    </a:lnTo>
                    <a:lnTo>
                      <a:pt x="18" y="3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3" name="Line 955"/>
              <p:cNvSpPr>
                <a:spLocks noChangeShapeType="1"/>
              </p:cNvSpPr>
              <p:nvPr/>
            </p:nvSpPr>
            <p:spPr bwMode="auto">
              <a:xfrm>
                <a:off x="1897" y="2058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4" name="Line 956"/>
              <p:cNvSpPr>
                <a:spLocks noChangeShapeType="1"/>
              </p:cNvSpPr>
              <p:nvPr/>
            </p:nvSpPr>
            <p:spPr bwMode="auto">
              <a:xfrm>
                <a:off x="1897" y="2181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5" name="Line 957"/>
              <p:cNvSpPr>
                <a:spLocks noChangeShapeType="1"/>
              </p:cNvSpPr>
              <p:nvPr/>
            </p:nvSpPr>
            <p:spPr bwMode="auto">
              <a:xfrm>
                <a:off x="1878" y="2181"/>
                <a:ext cx="39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6" name="Line 958"/>
              <p:cNvSpPr>
                <a:spLocks noChangeShapeType="1"/>
              </p:cNvSpPr>
              <p:nvPr/>
            </p:nvSpPr>
            <p:spPr bwMode="auto">
              <a:xfrm flipV="1">
                <a:off x="1974" y="2057"/>
                <a:ext cx="1" cy="5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7" name="Line 959"/>
              <p:cNvSpPr>
                <a:spLocks noChangeShapeType="1"/>
              </p:cNvSpPr>
              <p:nvPr/>
            </p:nvSpPr>
            <p:spPr bwMode="auto">
              <a:xfrm flipV="1">
                <a:off x="1974" y="2209"/>
                <a:ext cx="1" cy="6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8" name="Line 960"/>
              <p:cNvSpPr>
                <a:spLocks noChangeShapeType="1"/>
              </p:cNvSpPr>
              <p:nvPr/>
            </p:nvSpPr>
            <p:spPr bwMode="auto">
              <a:xfrm flipV="1">
                <a:off x="1934" y="2105"/>
                <a:ext cx="1" cy="11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9" name="Line 961"/>
              <p:cNvSpPr>
                <a:spLocks noChangeShapeType="1"/>
              </p:cNvSpPr>
              <p:nvPr/>
            </p:nvSpPr>
            <p:spPr bwMode="auto">
              <a:xfrm flipH="1" flipV="1">
                <a:off x="1934" y="2181"/>
                <a:ext cx="21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0" name="Freeform 962"/>
              <p:cNvSpPr>
                <a:spLocks/>
              </p:cNvSpPr>
              <p:nvPr/>
            </p:nvSpPr>
            <p:spPr bwMode="auto">
              <a:xfrm>
                <a:off x="1946" y="2184"/>
                <a:ext cx="28" cy="25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28" y="25"/>
                  </a:cxn>
                  <a:cxn ang="0">
                    <a:pos x="0" y="22"/>
                  </a:cxn>
                  <a:cxn ang="0">
                    <a:pos x="15" y="0"/>
                  </a:cxn>
                </a:cxnLst>
                <a:rect l="0" t="0" r="r" b="b"/>
                <a:pathLst>
                  <a:path w="28" h="25">
                    <a:moveTo>
                      <a:pt x="15" y="0"/>
                    </a:moveTo>
                    <a:lnTo>
                      <a:pt x="28" y="25"/>
                    </a:lnTo>
                    <a:lnTo>
                      <a:pt x="0" y="2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1" name="Line 963"/>
              <p:cNvSpPr>
                <a:spLocks noChangeShapeType="1"/>
              </p:cNvSpPr>
              <p:nvPr/>
            </p:nvSpPr>
            <p:spPr bwMode="auto">
              <a:xfrm flipV="1">
                <a:off x="1934" y="2116"/>
                <a:ext cx="40" cy="2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2" name="Line 964"/>
              <p:cNvSpPr>
                <a:spLocks noChangeShapeType="1"/>
              </p:cNvSpPr>
              <p:nvPr/>
            </p:nvSpPr>
            <p:spPr bwMode="auto">
              <a:xfrm>
                <a:off x="1974" y="2271"/>
                <a:ext cx="537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3" name="Line 965"/>
              <p:cNvSpPr>
                <a:spLocks noChangeShapeType="1"/>
              </p:cNvSpPr>
              <p:nvPr/>
            </p:nvSpPr>
            <p:spPr bwMode="auto">
              <a:xfrm>
                <a:off x="1973" y="2058"/>
                <a:ext cx="538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4" name="Line 966"/>
              <p:cNvSpPr>
                <a:spLocks noChangeShapeType="1"/>
              </p:cNvSpPr>
              <p:nvPr/>
            </p:nvSpPr>
            <p:spPr bwMode="auto">
              <a:xfrm>
                <a:off x="1296" y="1731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5" name="Freeform 967"/>
              <p:cNvSpPr>
                <a:spLocks/>
              </p:cNvSpPr>
              <p:nvPr/>
            </p:nvSpPr>
            <p:spPr bwMode="auto">
              <a:xfrm>
                <a:off x="1288" y="1716"/>
                <a:ext cx="16" cy="16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1" y="3"/>
                  </a:cxn>
                  <a:cxn ang="0">
                    <a:pos x="5" y="0"/>
                  </a:cxn>
                  <a:cxn ang="0">
                    <a:pos x="10" y="0"/>
                  </a:cxn>
                  <a:cxn ang="0">
                    <a:pos x="15" y="3"/>
                  </a:cxn>
                  <a:cxn ang="0">
                    <a:pos x="16" y="8"/>
                  </a:cxn>
                  <a:cxn ang="0">
                    <a:pos x="15" y="13"/>
                  </a:cxn>
                  <a:cxn ang="0">
                    <a:pos x="10" y="16"/>
                  </a:cxn>
                  <a:cxn ang="0">
                    <a:pos x="5" y="16"/>
                  </a:cxn>
                  <a:cxn ang="0">
                    <a:pos x="1" y="13"/>
                  </a:cxn>
                  <a:cxn ang="0">
                    <a:pos x="0" y="8"/>
                  </a:cxn>
                </a:cxnLst>
                <a:rect l="0" t="0" r="r" b="b"/>
                <a:pathLst>
                  <a:path w="16" h="16">
                    <a:moveTo>
                      <a:pt x="0" y="8"/>
                    </a:moveTo>
                    <a:lnTo>
                      <a:pt x="1" y="3"/>
                    </a:lnTo>
                    <a:lnTo>
                      <a:pt x="5" y="0"/>
                    </a:lnTo>
                    <a:lnTo>
                      <a:pt x="10" y="0"/>
                    </a:lnTo>
                    <a:lnTo>
                      <a:pt x="15" y="3"/>
                    </a:lnTo>
                    <a:lnTo>
                      <a:pt x="16" y="8"/>
                    </a:lnTo>
                    <a:lnTo>
                      <a:pt x="15" y="13"/>
                    </a:lnTo>
                    <a:lnTo>
                      <a:pt x="10" y="16"/>
                    </a:lnTo>
                    <a:lnTo>
                      <a:pt x="5" y="16"/>
                    </a:lnTo>
                    <a:lnTo>
                      <a:pt x="1" y="13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6" name="Rectangle 968"/>
              <p:cNvSpPr>
                <a:spLocks noChangeArrowheads="1"/>
              </p:cNvSpPr>
              <p:nvPr/>
            </p:nvSpPr>
            <p:spPr bwMode="auto">
              <a:xfrm>
                <a:off x="1257" y="1650"/>
                <a:ext cx="57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15V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17" name="Freeform 969"/>
              <p:cNvSpPr>
                <a:spLocks/>
              </p:cNvSpPr>
              <p:nvPr/>
            </p:nvSpPr>
            <p:spPr bwMode="auto">
              <a:xfrm>
                <a:off x="2042" y="2149"/>
                <a:ext cx="37" cy="32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37" y="32"/>
                  </a:cxn>
                  <a:cxn ang="0">
                    <a:pos x="19" y="0"/>
                  </a:cxn>
                  <a:cxn ang="0">
                    <a:pos x="0" y="32"/>
                  </a:cxn>
                </a:cxnLst>
                <a:rect l="0" t="0" r="r" b="b"/>
                <a:pathLst>
                  <a:path w="37" h="32">
                    <a:moveTo>
                      <a:pt x="0" y="32"/>
                    </a:moveTo>
                    <a:lnTo>
                      <a:pt x="37" y="32"/>
                    </a:lnTo>
                    <a:lnTo>
                      <a:pt x="19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8" name="Line 970"/>
              <p:cNvSpPr>
                <a:spLocks noChangeShapeType="1"/>
              </p:cNvSpPr>
              <p:nvPr/>
            </p:nvSpPr>
            <p:spPr bwMode="auto">
              <a:xfrm flipV="1">
                <a:off x="2061" y="2181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9" name="Line 971"/>
              <p:cNvSpPr>
                <a:spLocks noChangeShapeType="1"/>
              </p:cNvSpPr>
              <p:nvPr/>
            </p:nvSpPr>
            <p:spPr bwMode="auto">
              <a:xfrm flipV="1">
                <a:off x="2061" y="2058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0" name="Line 972"/>
              <p:cNvSpPr>
                <a:spLocks noChangeShapeType="1"/>
              </p:cNvSpPr>
              <p:nvPr/>
            </p:nvSpPr>
            <p:spPr bwMode="auto">
              <a:xfrm flipH="1">
                <a:off x="2041" y="2147"/>
                <a:ext cx="39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1" name="Line 973"/>
              <p:cNvSpPr>
                <a:spLocks noChangeShapeType="1"/>
              </p:cNvSpPr>
              <p:nvPr/>
            </p:nvSpPr>
            <p:spPr bwMode="auto">
              <a:xfrm flipV="1">
                <a:off x="2151" y="2161"/>
                <a:ext cx="1" cy="3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2" name="Line 974"/>
              <p:cNvSpPr>
                <a:spLocks noChangeShapeType="1"/>
              </p:cNvSpPr>
              <p:nvPr/>
            </p:nvSpPr>
            <p:spPr bwMode="auto">
              <a:xfrm flipV="1">
                <a:off x="2151" y="2058"/>
                <a:ext cx="1" cy="3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3" name="Rectangle 975"/>
              <p:cNvSpPr>
                <a:spLocks noChangeArrowheads="1"/>
              </p:cNvSpPr>
              <p:nvPr/>
            </p:nvSpPr>
            <p:spPr bwMode="auto">
              <a:xfrm>
                <a:off x="2139" y="2088"/>
                <a:ext cx="24" cy="7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4" name="Line 976"/>
              <p:cNvSpPr>
                <a:spLocks noChangeShapeType="1"/>
              </p:cNvSpPr>
              <p:nvPr/>
            </p:nvSpPr>
            <p:spPr bwMode="auto">
              <a:xfrm>
                <a:off x="2151" y="2191"/>
                <a:ext cx="1" cy="3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5" name="Line 977"/>
              <p:cNvSpPr>
                <a:spLocks noChangeShapeType="1"/>
              </p:cNvSpPr>
              <p:nvPr/>
            </p:nvSpPr>
            <p:spPr bwMode="auto">
              <a:xfrm>
                <a:off x="2151" y="2238"/>
                <a:ext cx="1" cy="3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6" name="Freeform 978"/>
              <p:cNvSpPr>
                <a:spLocks/>
              </p:cNvSpPr>
              <p:nvPr/>
            </p:nvSpPr>
            <p:spPr bwMode="auto">
              <a:xfrm>
                <a:off x="2129" y="2238"/>
                <a:ext cx="45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5" y="0"/>
                  </a:cxn>
                  <a:cxn ang="0">
                    <a:pos x="0" y="0"/>
                  </a:cxn>
                </a:cxnLst>
                <a:rect l="0" t="0" r="r" b="b"/>
                <a:pathLst>
                  <a:path w="45">
                    <a:moveTo>
                      <a:pt x="0" y="0"/>
                    </a:moveTo>
                    <a:lnTo>
                      <a:pt x="4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7" name="Line 979"/>
              <p:cNvSpPr>
                <a:spLocks noChangeShapeType="1"/>
              </p:cNvSpPr>
              <p:nvPr/>
            </p:nvSpPr>
            <p:spPr bwMode="auto">
              <a:xfrm>
                <a:off x="2129" y="2238"/>
                <a:ext cx="4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8" name="Line 980"/>
              <p:cNvSpPr>
                <a:spLocks noChangeShapeType="1"/>
              </p:cNvSpPr>
              <p:nvPr/>
            </p:nvSpPr>
            <p:spPr bwMode="auto">
              <a:xfrm>
                <a:off x="2129" y="2226"/>
                <a:ext cx="4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9" name="Rectangle 981"/>
              <p:cNvSpPr>
                <a:spLocks noChangeArrowheads="1"/>
              </p:cNvSpPr>
              <p:nvPr/>
            </p:nvSpPr>
            <p:spPr bwMode="auto">
              <a:xfrm>
                <a:off x="1901" y="1988"/>
                <a:ext cx="44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PC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0" name="Rectangle 982"/>
              <p:cNvSpPr>
                <a:spLocks noChangeArrowheads="1"/>
              </p:cNvSpPr>
              <p:nvPr/>
            </p:nvSpPr>
            <p:spPr bwMode="auto">
              <a:xfrm>
                <a:off x="1655" y="1991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1" name="Rectangle 983"/>
              <p:cNvSpPr>
                <a:spLocks noChangeArrowheads="1"/>
              </p:cNvSpPr>
              <p:nvPr/>
            </p:nvSpPr>
            <p:spPr bwMode="auto">
              <a:xfrm>
                <a:off x="1728" y="1991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2" name="Rectangle 984"/>
              <p:cNvSpPr>
                <a:spLocks noChangeArrowheads="1"/>
              </p:cNvSpPr>
              <p:nvPr/>
            </p:nvSpPr>
            <p:spPr bwMode="auto">
              <a:xfrm>
                <a:off x="2007" y="1998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3" name="Rectangle 985"/>
              <p:cNvSpPr>
                <a:spLocks noChangeArrowheads="1"/>
              </p:cNvSpPr>
              <p:nvPr/>
            </p:nvSpPr>
            <p:spPr bwMode="auto">
              <a:xfrm>
                <a:off x="2189" y="2099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4" name="Rectangle 986"/>
              <p:cNvSpPr>
                <a:spLocks noChangeArrowheads="1"/>
              </p:cNvSpPr>
              <p:nvPr/>
            </p:nvSpPr>
            <p:spPr bwMode="auto">
              <a:xfrm>
                <a:off x="2199" y="2205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5" name="Rectangle 987"/>
              <p:cNvSpPr>
                <a:spLocks noChangeArrowheads="1"/>
              </p:cNvSpPr>
              <p:nvPr/>
            </p:nvSpPr>
            <p:spPr bwMode="auto">
              <a:xfrm>
                <a:off x="2510" y="1926"/>
                <a:ext cx="545" cy="54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36" name="Rectangle 988"/>
              <p:cNvSpPr>
                <a:spLocks noChangeArrowheads="1"/>
              </p:cNvSpPr>
              <p:nvPr/>
            </p:nvSpPr>
            <p:spPr bwMode="auto">
              <a:xfrm>
                <a:off x="2646" y="2116"/>
                <a:ext cx="278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8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DPC-1XX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7" name="Rectangle 989"/>
              <p:cNvSpPr>
                <a:spLocks noChangeArrowheads="1"/>
              </p:cNvSpPr>
              <p:nvPr/>
            </p:nvSpPr>
            <p:spPr bwMode="auto">
              <a:xfrm>
                <a:off x="2706" y="2196"/>
                <a:ext cx="149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8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(INV)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8" name="Rectangle 990"/>
              <p:cNvSpPr>
                <a:spLocks noChangeArrowheads="1"/>
              </p:cNvSpPr>
              <p:nvPr/>
            </p:nvSpPr>
            <p:spPr bwMode="auto">
              <a:xfrm>
                <a:off x="116" y="1544"/>
                <a:ext cx="294" cy="65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39" name="Rectangle 991"/>
              <p:cNvSpPr>
                <a:spLocks noChangeArrowheads="1"/>
              </p:cNvSpPr>
              <p:nvPr/>
            </p:nvSpPr>
            <p:spPr bwMode="auto">
              <a:xfrm>
                <a:off x="179" y="1550"/>
                <a:ext cx="134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VDC(+)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0" name="Rectangle 992"/>
              <p:cNvSpPr>
                <a:spLocks noChangeArrowheads="1"/>
              </p:cNvSpPr>
              <p:nvPr/>
            </p:nvSpPr>
            <p:spPr bwMode="auto">
              <a:xfrm>
                <a:off x="116" y="1752"/>
                <a:ext cx="294" cy="6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41" name="Rectangle 993"/>
              <p:cNvSpPr>
                <a:spLocks noChangeArrowheads="1"/>
              </p:cNvSpPr>
              <p:nvPr/>
            </p:nvSpPr>
            <p:spPr bwMode="auto">
              <a:xfrm>
                <a:off x="186" y="1758"/>
                <a:ext cx="124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VDC(-)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2" name="Freeform 994"/>
              <p:cNvSpPr>
                <a:spLocks/>
              </p:cNvSpPr>
              <p:nvPr/>
            </p:nvSpPr>
            <p:spPr bwMode="auto">
              <a:xfrm>
                <a:off x="410" y="1577"/>
                <a:ext cx="356" cy="2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56" y="0"/>
                  </a:cxn>
                  <a:cxn ang="0">
                    <a:pos x="356" y="259"/>
                  </a:cxn>
                </a:cxnLst>
                <a:rect l="0" t="0" r="r" b="b"/>
                <a:pathLst>
                  <a:path w="356" h="259">
                    <a:moveTo>
                      <a:pt x="0" y="0"/>
                    </a:moveTo>
                    <a:lnTo>
                      <a:pt x="356" y="0"/>
                    </a:lnTo>
                    <a:lnTo>
                      <a:pt x="356" y="25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43" name="Freeform 995"/>
              <p:cNvSpPr>
                <a:spLocks/>
              </p:cNvSpPr>
              <p:nvPr/>
            </p:nvSpPr>
            <p:spPr bwMode="auto">
              <a:xfrm>
                <a:off x="410" y="1784"/>
                <a:ext cx="356" cy="6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0" y="0"/>
                  </a:cxn>
                  <a:cxn ang="0">
                    <a:pos x="90" y="647"/>
                  </a:cxn>
                  <a:cxn ang="0">
                    <a:pos x="356" y="647"/>
                  </a:cxn>
                </a:cxnLst>
                <a:rect l="0" t="0" r="r" b="b"/>
                <a:pathLst>
                  <a:path w="356" h="647">
                    <a:moveTo>
                      <a:pt x="0" y="0"/>
                    </a:moveTo>
                    <a:lnTo>
                      <a:pt x="90" y="0"/>
                    </a:lnTo>
                    <a:lnTo>
                      <a:pt x="90" y="647"/>
                    </a:lnTo>
                    <a:lnTo>
                      <a:pt x="356" y="64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44" name="Rectangle 996"/>
              <p:cNvSpPr>
                <a:spLocks noChangeArrowheads="1"/>
              </p:cNvSpPr>
              <p:nvPr/>
            </p:nvSpPr>
            <p:spPr bwMode="auto">
              <a:xfrm>
                <a:off x="467" y="1510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5" name="Rectangle 997"/>
              <p:cNvSpPr>
                <a:spLocks noChangeArrowheads="1"/>
              </p:cNvSpPr>
              <p:nvPr/>
            </p:nvSpPr>
            <p:spPr bwMode="auto">
              <a:xfrm>
                <a:off x="457" y="1721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6" name="Rectangle 998"/>
              <p:cNvSpPr>
                <a:spLocks noChangeArrowheads="1"/>
              </p:cNvSpPr>
              <p:nvPr/>
            </p:nvSpPr>
            <p:spPr bwMode="auto">
              <a:xfrm>
                <a:off x="1727" y="1524"/>
                <a:ext cx="446" cy="200"/>
              </a:xfrm>
              <a:prstGeom prst="rect">
                <a:avLst/>
              </a:prstGeom>
              <a:solidFill>
                <a:srgbClr val="E6E6E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47" name="Rectangle 999"/>
              <p:cNvSpPr>
                <a:spLocks noChangeArrowheads="1"/>
              </p:cNvSpPr>
              <p:nvPr/>
            </p:nvSpPr>
            <p:spPr bwMode="auto">
              <a:xfrm>
                <a:off x="1811" y="1543"/>
                <a:ext cx="275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8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DPP-1XX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8" name="Rectangle 1000"/>
              <p:cNvSpPr>
                <a:spLocks noChangeArrowheads="1"/>
              </p:cNvSpPr>
              <p:nvPr/>
            </p:nvSpPr>
            <p:spPr bwMode="auto">
              <a:xfrm>
                <a:off x="1853" y="1624"/>
                <a:ext cx="18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8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(GDC)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9" name="Rectangle 1001"/>
              <p:cNvSpPr>
                <a:spLocks noChangeArrowheads="1"/>
              </p:cNvSpPr>
              <p:nvPr/>
            </p:nvSpPr>
            <p:spPr bwMode="auto">
              <a:xfrm>
                <a:off x="1342" y="2345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0" name="Rectangle 1002"/>
              <p:cNvSpPr>
                <a:spLocks noChangeArrowheads="1"/>
              </p:cNvSpPr>
              <p:nvPr/>
            </p:nvSpPr>
            <p:spPr bwMode="auto">
              <a:xfrm>
                <a:off x="806" y="1756"/>
                <a:ext cx="23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D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1" name="Rectangle 1003"/>
              <p:cNvSpPr>
                <a:spLocks noChangeArrowheads="1"/>
              </p:cNvSpPr>
              <p:nvPr/>
            </p:nvSpPr>
            <p:spPr bwMode="auto">
              <a:xfrm>
                <a:off x="856" y="1300"/>
                <a:ext cx="640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ko-KR" altLang="en-US" sz="11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과전압 검출회로</a:t>
                </a:r>
                <a:endParaRPr lang="ko-KR" altLang="en-US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2" name="Rectangle 1004"/>
              <p:cNvSpPr>
                <a:spLocks noChangeArrowheads="1"/>
              </p:cNvSpPr>
              <p:nvPr/>
            </p:nvSpPr>
            <p:spPr bwMode="auto">
              <a:xfrm>
                <a:off x="2532" y="2035"/>
                <a:ext cx="111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VG - 13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3" name="Rectangle 1005"/>
              <p:cNvSpPr>
                <a:spLocks noChangeArrowheads="1"/>
              </p:cNvSpPr>
              <p:nvPr/>
            </p:nvSpPr>
            <p:spPr bwMode="auto">
              <a:xfrm>
                <a:off x="2531" y="2256"/>
                <a:ext cx="111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VG - 14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4" name="Rectangle 1006"/>
              <p:cNvSpPr>
                <a:spLocks noChangeArrowheads="1"/>
              </p:cNvSpPr>
              <p:nvPr/>
            </p:nvSpPr>
            <p:spPr bwMode="auto">
              <a:xfrm>
                <a:off x="1177" y="2174"/>
                <a:ext cx="18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4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5" name="Rectangle 1007"/>
              <p:cNvSpPr>
                <a:spLocks noChangeArrowheads="1"/>
              </p:cNvSpPr>
              <p:nvPr/>
            </p:nvSpPr>
            <p:spPr bwMode="auto">
              <a:xfrm>
                <a:off x="1177" y="2259"/>
                <a:ext cx="18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5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6" name="Rectangle 1008"/>
              <p:cNvSpPr>
                <a:spLocks noChangeArrowheads="1"/>
              </p:cNvSpPr>
              <p:nvPr/>
            </p:nvSpPr>
            <p:spPr bwMode="auto">
              <a:xfrm>
                <a:off x="1388" y="2219"/>
                <a:ext cx="18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2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7" name="Freeform 1009"/>
              <p:cNvSpPr>
                <a:spLocks/>
              </p:cNvSpPr>
              <p:nvPr/>
            </p:nvSpPr>
            <p:spPr bwMode="auto">
              <a:xfrm>
                <a:off x="880" y="2308"/>
                <a:ext cx="10" cy="11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1"/>
                  </a:cxn>
                  <a:cxn ang="0">
                    <a:pos x="4" y="0"/>
                  </a:cxn>
                  <a:cxn ang="0">
                    <a:pos x="9" y="1"/>
                  </a:cxn>
                  <a:cxn ang="0">
                    <a:pos x="10" y="6"/>
                  </a:cxn>
                  <a:cxn ang="0">
                    <a:pos x="9" y="9"/>
                  </a:cxn>
                  <a:cxn ang="0">
                    <a:pos x="4" y="11"/>
                  </a:cxn>
                  <a:cxn ang="0">
                    <a:pos x="1" y="9"/>
                  </a:cxn>
                  <a:cxn ang="0">
                    <a:pos x="0" y="6"/>
                  </a:cxn>
                </a:cxnLst>
                <a:rect l="0" t="0" r="r" b="b"/>
                <a:pathLst>
                  <a:path w="10" h="11">
                    <a:moveTo>
                      <a:pt x="0" y="6"/>
                    </a:moveTo>
                    <a:lnTo>
                      <a:pt x="1" y="1"/>
                    </a:lnTo>
                    <a:lnTo>
                      <a:pt x="4" y="0"/>
                    </a:lnTo>
                    <a:lnTo>
                      <a:pt x="9" y="1"/>
                    </a:lnTo>
                    <a:lnTo>
                      <a:pt x="10" y="6"/>
                    </a:lnTo>
                    <a:lnTo>
                      <a:pt x="9" y="9"/>
                    </a:lnTo>
                    <a:lnTo>
                      <a:pt x="4" y="11"/>
                    </a:lnTo>
                    <a:lnTo>
                      <a:pt x="1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58" name="Freeform 1010"/>
              <p:cNvSpPr>
                <a:spLocks/>
              </p:cNvSpPr>
              <p:nvPr/>
            </p:nvSpPr>
            <p:spPr bwMode="auto">
              <a:xfrm>
                <a:off x="760" y="1830"/>
                <a:ext cx="10" cy="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1"/>
                  </a:cxn>
                  <a:cxn ang="0">
                    <a:pos x="6" y="0"/>
                  </a:cxn>
                  <a:cxn ang="0">
                    <a:pos x="9" y="1"/>
                  </a:cxn>
                  <a:cxn ang="0">
                    <a:pos x="10" y="6"/>
                  </a:cxn>
                  <a:cxn ang="0">
                    <a:pos x="9" y="9"/>
                  </a:cxn>
                  <a:cxn ang="0">
                    <a:pos x="6" y="10"/>
                  </a:cxn>
                  <a:cxn ang="0">
                    <a:pos x="1" y="9"/>
                  </a:cxn>
                  <a:cxn ang="0">
                    <a:pos x="0" y="6"/>
                  </a:cxn>
                </a:cxnLst>
                <a:rect l="0" t="0" r="r" b="b"/>
                <a:pathLst>
                  <a:path w="10" h="10">
                    <a:moveTo>
                      <a:pt x="0" y="6"/>
                    </a:moveTo>
                    <a:lnTo>
                      <a:pt x="1" y="1"/>
                    </a:lnTo>
                    <a:lnTo>
                      <a:pt x="6" y="0"/>
                    </a:lnTo>
                    <a:lnTo>
                      <a:pt x="9" y="1"/>
                    </a:lnTo>
                    <a:lnTo>
                      <a:pt x="10" y="6"/>
                    </a:lnTo>
                    <a:lnTo>
                      <a:pt x="9" y="9"/>
                    </a:lnTo>
                    <a:lnTo>
                      <a:pt x="6" y="10"/>
                    </a:lnTo>
                    <a:lnTo>
                      <a:pt x="1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59" name="Freeform 1011"/>
              <p:cNvSpPr>
                <a:spLocks/>
              </p:cNvSpPr>
              <p:nvPr/>
            </p:nvSpPr>
            <p:spPr bwMode="auto">
              <a:xfrm>
                <a:off x="759" y="2426"/>
                <a:ext cx="11" cy="11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" y="1"/>
                  </a:cxn>
                  <a:cxn ang="0">
                    <a:pos x="6" y="0"/>
                  </a:cxn>
                  <a:cxn ang="0">
                    <a:pos x="9" y="1"/>
                  </a:cxn>
                  <a:cxn ang="0">
                    <a:pos x="11" y="5"/>
                  </a:cxn>
                  <a:cxn ang="0">
                    <a:pos x="9" y="9"/>
                  </a:cxn>
                  <a:cxn ang="0">
                    <a:pos x="6" y="11"/>
                  </a:cxn>
                  <a:cxn ang="0">
                    <a:pos x="1" y="9"/>
                  </a:cxn>
                  <a:cxn ang="0">
                    <a:pos x="0" y="5"/>
                  </a:cxn>
                </a:cxnLst>
                <a:rect l="0" t="0" r="r" b="b"/>
                <a:pathLst>
                  <a:path w="11" h="11">
                    <a:moveTo>
                      <a:pt x="0" y="5"/>
                    </a:moveTo>
                    <a:lnTo>
                      <a:pt x="1" y="1"/>
                    </a:lnTo>
                    <a:lnTo>
                      <a:pt x="6" y="0"/>
                    </a:lnTo>
                    <a:lnTo>
                      <a:pt x="9" y="1"/>
                    </a:lnTo>
                    <a:lnTo>
                      <a:pt x="11" y="5"/>
                    </a:lnTo>
                    <a:lnTo>
                      <a:pt x="9" y="9"/>
                    </a:lnTo>
                    <a:lnTo>
                      <a:pt x="6" y="11"/>
                    </a:lnTo>
                    <a:lnTo>
                      <a:pt x="1" y="9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0" name="Freeform 1012"/>
              <p:cNvSpPr>
                <a:spLocks/>
              </p:cNvSpPr>
              <p:nvPr/>
            </p:nvSpPr>
            <p:spPr bwMode="auto">
              <a:xfrm>
                <a:off x="880" y="2425"/>
                <a:ext cx="10" cy="11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" y="2"/>
                  </a:cxn>
                  <a:cxn ang="0">
                    <a:pos x="4" y="0"/>
                  </a:cxn>
                  <a:cxn ang="0">
                    <a:pos x="9" y="2"/>
                  </a:cxn>
                  <a:cxn ang="0">
                    <a:pos x="10" y="5"/>
                  </a:cxn>
                  <a:cxn ang="0">
                    <a:pos x="9" y="10"/>
                  </a:cxn>
                  <a:cxn ang="0">
                    <a:pos x="4" y="11"/>
                  </a:cxn>
                  <a:cxn ang="0">
                    <a:pos x="1" y="10"/>
                  </a:cxn>
                  <a:cxn ang="0">
                    <a:pos x="0" y="5"/>
                  </a:cxn>
                </a:cxnLst>
                <a:rect l="0" t="0" r="r" b="b"/>
                <a:pathLst>
                  <a:path w="10" h="11">
                    <a:moveTo>
                      <a:pt x="0" y="5"/>
                    </a:moveTo>
                    <a:lnTo>
                      <a:pt x="1" y="2"/>
                    </a:lnTo>
                    <a:lnTo>
                      <a:pt x="4" y="0"/>
                    </a:lnTo>
                    <a:lnTo>
                      <a:pt x="9" y="2"/>
                    </a:lnTo>
                    <a:lnTo>
                      <a:pt x="10" y="5"/>
                    </a:lnTo>
                    <a:lnTo>
                      <a:pt x="9" y="10"/>
                    </a:lnTo>
                    <a:lnTo>
                      <a:pt x="4" y="11"/>
                    </a:lnTo>
                    <a:lnTo>
                      <a:pt x="1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1" name="Freeform 1013"/>
              <p:cNvSpPr>
                <a:spLocks/>
              </p:cNvSpPr>
              <p:nvPr/>
            </p:nvSpPr>
            <p:spPr bwMode="auto">
              <a:xfrm>
                <a:off x="1016" y="2308"/>
                <a:ext cx="11" cy="11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1"/>
                  </a:cxn>
                  <a:cxn ang="0">
                    <a:pos x="6" y="0"/>
                  </a:cxn>
                  <a:cxn ang="0">
                    <a:pos x="9" y="1"/>
                  </a:cxn>
                  <a:cxn ang="0">
                    <a:pos x="11" y="6"/>
                  </a:cxn>
                  <a:cxn ang="0">
                    <a:pos x="9" y="9"/>
                  </a:cxn>
                  <a:cxn ang="0">
                    <a:pos x="6" y="11"/>
                  </a:cxn>
                  <a:cxn ang="0">
                    <a:pos x="1" y="9"/>
                  </a:cxn>
                  <a:cxn ang="0">
                    <a:pos x="0" y="6"/>
                  </a:cxn>
                </a:cxnLst>
                <a:rect l="0" t="0" r="r" b="b"/>
                <a:pathLst>
                  <a:path w="11" h="11">
                    <a:moveTo>
                      <a:pt x="0" y="6"/>
                    </a:moveTo>
                    <a:lnTo>
                      <a:pt x="1" y="1"/>
                    </a:lnTo>
                    <a:lnTo>
                      <a:pt x="6" y="0"/>
                    </a:lnTo>
                    <a:lnTo>
                      <a:pt x="9" y="1"/>
                    </a:lnTo>
                    <a:lnTo>
                      <a:pt x="11" y="6"/>
                    </a:lnTo>
                    <a:lnTo>
                      <a:pt x="9" y="9"/>
                    </a:lnTo>
                    <a:lnTo>
                      <a:pt x="6" y="11"/>
                    </a:lnTo>
                    <a:lnTo>
                      <a:pt x="1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2" name="Freeform 1014"/>
              <p:cNvSpPr>
                <a:spLocks/>
              </p:cNvSpPr>
              <p:nvPr/>
            </p:nvSpPr>
            <p:spPr bwMode="auto">
              <a:xfrm>
                <a:off x="1599" y="2052"/>
                <a:ext cx="11" cy="1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3"/>
                  </a:cxn>
                  <a:cxn ang="0">
                    <a:pos x="6" y="0"/>
                  </a:cxn>
                  <a:cxn ang="0">
                    <a:pos x="9" y="3"/>
                  </a:cxn>
                  <a:cxn ang="0">
                    <a:pos x="11" y="6"/>
                  </a:cxn>
                  <a:cxn ang="0">
                    <a:pos x="9" y="11"/>
                  </a:cxn>
                  <a:cxn ang="0">
                    <a:pos x="6" y="12"/>
                  </a:cxn>
                  <a:cxn ang="0">
                    <a:pos x="1" y="11"/>
                  </a:cxn>
                  <a:cxn ang="0">
                    <a:pos x="0" y="6"/>
                  </a:cxn>
                </a:cxnLst>
                <a:rect l="0" t="0" r="r" b="b"/>
                <a:pathLst>
                  <a:path w="11" h="12">
                    <a:moveTo>
                      <a:pt x="0" y="6"/>
                    </a:moveTo>
                    <a:lnTo>
                      <a:pt x="1" y="3"/>
                    </a:lnTo>
                    <a:lnTo>
                      <a:pt x="6" y="0"/>
                    </a:lnTo>
                    <a:lnTo>
                      <a:pt x="9" y="3"/>
                    </a:lnTo>
                    <a:lnTo>
                      <a:pt x="11" y="6"/>
                    </a:lnTo>
                    <a:lnTo>
                      <a:pt x="9" y="11"/>
                    </a:lnTo>
                    <a:lnTo>
                      <a:pt x="6" y="12"/>
                    </a:lnTo>
                    <a:lnTo>
                      <a:pt x="1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3" name="Freeform 1015"/>
              <p:cNvSpPr>
                <a:spLocks/>
              </p:cNvSpPr>
              <p:nvPr/>
            </p:nvSpPr>
            <p:spPr bwMode="auto">
              <a:xfrm>
                <a:off x="1677" y="2052"/>
                <a:ext cx="12" cy="1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2" y="3"/>
                  </a:cxn>
                  <a:cxn ang="0">
                    <a:pos x="6" y="0"/>
                  </a:cxn>
                  <a:cxn ang="0">
                    <a:pos x="10" y="3"/>
                  </a:cxn>
                  <a:cxn ang="0">
                    <a:pos x="12" y="6"/>
                  </a:cxn>
                  <a:cxn ang="0">
                    <a:pos x="10" y="11"/>
                  </a:cxn>
                  <a:cxn ang="0">
                    <a:pos x="6" y="12"/>
                  </a:cxn>
                  <a:cxn ang="0">
                    <a:pos x="2" y="11"/>
                  </a:cxn>
                  <a:cxn ang="0">
                    <a:pos x="0" y="6"/>
                  </a:cxn>
                </a:cxnLst>
                <a:rect l="0" t="0" r="r" b="b"/>
                <a:pathLst>
                  <a:path w="12" h="12">
                    <a:moveTo>
                      <a:pt x="0" y="6"/>
                    </a:moveTo>
                    <a:lnTo>
                      <a:pt x="2" y="3"/>
                    </a:lnTo>
                    <a:lnTo>
                      <a:pt x="6" y="0"/>
                    </a:lnTo>
                    <a:lnTo>
                      <a:pt x="10" y="3"/>
                    </a:lnTo>
                    <a:lnTo>
                      <a:pt x="12" y="6"/>
                    </a:lnTo>
                    <a:lnTo>
                      <a:pt x="10" y="11"/>
                    </a:lnTo>
                    <a:lnTo>
                      <a:pt x="6" y="12"/>
                    </a:lnTo>
                    <a:lnTo>
                      <a:pt x="2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4" name="Freeform 1016"/>
              <p:cNvSpPr>
                <a:spLocks/>
              </p:cNvSpPr>
              <p:nvPr/>
            </p:nvSpPr>
            <p:spPr bwMode="auto">
              <a:xfrm>
                <a:off x="1754" y="2052"/>
                <a:ext cx="11" cy="1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3"/>
                  </a:cxn>
                  <a:cxn ang="0">
                    <a:pos x="6" y="0"/>
                  </a:cxn>
                  <a:cxn ang="0">
                    <a:pos x="10" y="3"/>
                  </a:cxn>
                  <a:cxn ang="0">
                    <a:pos x="11" y="6"/>
                  </a:cxn>
                  <a:cxn ang="0">
                    <a:pos x="10" y="11"/>
                  </a:cxn>
                  <a:cxn ang="0">
                    <a:pos x="6" y="12"/>
                  </a:cxn>
                  <a:cxn ang="0">
                    <a:pos x="1" y="11"/>
                  </a:cxn>
                  <a:cxn ang="0">
                    <a:pos x="0" y="6"/>
                  </a:cxn>
                </a:cxnLst>
                <a:rect l="0" t="0" r="r" b="b"/>
                <a:pathLst>
                  <a:path w="11" h="12">
                    <a:moveTo>
                      <a:pt x="0" y="6"/>
                    </a:moveTo>
                    <a:lnTo>
                      <a:pt x="1" y="3"/>
                    </a:lnTo>
                    <a:lnTo>
                      <a:pt x="6" y="0"/>
                    </a:lnTo>
                    <a:lnTo>
                      <a:pt x="10" y="3"/>
                    </a:lnTo>
                    <a:lnTo>
                      <a:pt x="11" y="6"/>
                    </a:lnTo>
                    <a:lnTo>
                      <a:pt x="10" y="11"/>
                    </a:lnTo>
                    <a:lnTo>
                      <a:pt x="6" y="12"/>
                    </a:lnTo>
                    <a:lnTo>
                      <a:pt x="1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5" name="Freeform 1017"/>
              <p:cNvSpPr>
                <a:spLocks/>
              </p:cNvSpPr>
              <p:nvPr/>
            </p:nvSpPr>
            <p:spPr bwMode="auto">
              <a:xfrm>
                <a:off x="1599" y="2267"/>
                <a:ext cx="11" cy="11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" y="2"/>
                  </a:cxn>
                  <a:cxn ang="0">
                    <a:pos x="6" y="0"/>
                  </a:cxn>
                  <a:cxn ang="0">
                    <a:pos x="9" y="2"/>
                  </a:cxn>
                  <a:cxn ang="0">
                    <a:pos x="11" y="5"/>
                  </a:cxn>
                  <a:cxn ang="0">
                    <a:pos x="9" y="10"/>
                  </a:cxn>
                  <a:cxn ang="0">
                    <a:pos x="6" y="11"/>
                  </a:cxn>
                  <a:cxn ang="0">
                    <a:pos x="1" y="10"/>
                  </a:cxn>
                  <a:cxn ang="0">
                    <a:pos x="0" y="5"/>
                  </a:cxn>
                </a:cxnLst>
                <a:rect l="0" t="0" r="r" b="b"/>
                <a:pathLst>
                  <a:path w="11" h="11">
                    <a:moveTo>
                      <a:pt x="0" y="5"/>
                    </a:moveTo>
                    <a:lnTo>
                      <a:pt x="1" y="2"/>
                    </a:lnTo>
                    <a:lnTo>
                      <a:pt x="6" y="0"/>
                    </a:lnTo>
                    <a:lnTo>
                      <a:pt x="9" y="2"/>
                    </a:lnTo>
                    <a:lnTo>
                      <a:pt x="11" y="5"/>
                    </a:lnTo>
                    <a:lnTo>
                      <a:pt x="9" y="10"/>
                    </a:lnTo>
                    <a:lnTo>
                      <a:pt x="6" y="11"/>
                    </a:lnTo>
                    <a:lnTo>
                      <a:pt x="1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6" name="Freeform 1018"/>
              <p:cNvSpPr>
                <a:spLocks/>
              </p:cNvSpPr>
              <p:nvPr/>
            </p:nvSpPr>
            <p:spPr bwMode="auto">
              <a:xfrm>
                <a:off x="1677" y="2267"/>
                <a:ext cx="12" cy="11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10" y="2"/>
                  </a:cxn>
                  <a:cxn ang="0">
                    <a:pos x="12" y="5"/>
                  </a:cxn>
                  <a:cxn ang="0">
                    <a:pos x="10" y="10"/>
                  </a:cxn>
                  <a:cxn ang="0">
                    <a:pos x="6" y="11"/>
                  </a:cxn>
                  <a:cxn ang="0">
                    <a:pos x="2" y="10"/>
                  </a:cxn>
                  <a:cxn ang="0">
                    <a:pos x="0" y="5"/>
                  </a:cxn>
                </a:cxnLst>
                <a:rect l="0" t="0" r="r" b="b"/>
                <a:pathLst>
                  <a:path w="12" h="11">
                    <a:moveTo>
                      <a:pt x="0" y="5"/>
                    </a:moveTo>
                    <a:lnTo>
                      <a:pt x="2" y="2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2" y="5"/>
                    </a:lnTo>
                    <a:lnTo>
                      <a:pt x="10" y="10"/>
                    </a:lnTo>
                    <a:lnTo>
                      <a:pt x="6" y="11"/>
                    </a:lnTo>
                    <a:lnTo>
                      <a:pt x="2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7" name="Freeform 1019"/>
              <p:cNvSpPr>
                <a:spLocks/>
              </p:cNvSpPr>
              <p:nvPr/>
            </p:nvSpPr>
            <p:spPr bwMode="auto">
              <a:xfrm>
                <a:off x="1754" y="2267"/>
                <a:ext cx="11" cy="11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" y="2"/>
                  </a:cxn>
                  <a:cxn ang="0">
                    <a:pos x="6" y="0"/>
                  </a:cxn>
                  <a:cxn ang="0">
                    <a:pos x="10" y="2"/>
                  </a:cxn>
                  <a:cxn ang="0">
                    <a:pos x="11" y="5"/>
                  </a:cxn>
                  <a:cxn ang="0">
                    <a:pos x="10" y="10"/>
                  </a:cxn>
                  <a:cxn ang="0">
                    <a:pos x="6" y="11"/>
                  </a:cxn>
                  <a:cxn ang="0">
                    <a:pos x="1" y="10"/>
                  </a:cxn>
                  <a:cxn ang="0">
                    <a:pos x="0" y="5"/>
                  </a:cxn>
                </a:cxnLst>
                <a:rect l="0" t="0" r="r" b="b"/>
                <a:pathLst>
                  <a:path w="11" h="11">
                    <a:moveTo>
                      <a:pt x="0" y="5"/>
                    </a:moveTo>
                    <a:lnTo>
                      <a:pt x="1" y="2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1" y="5"/>
                    </a:lnTo>
                    <a:lnTo>
                      <a:pt x="10" y="10"/>
                    </a:lnTo>
                    <a:lnTo>
                      <a:pt x="6" y="11"/>
                    </a:lnTo>
                    <a:lnTo>
                      <a:pt x="1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8" name="Freeform 1020"/>
              <p:cNvSpPr>
                <a:spLocks/>
              </p:cNvSpPr>
              <p:nvPr/>
            </p:nvSpPr>
            <p:spPr bwMode="auto">
              <a:xfrm>
                <a:off x="2056" y="2052"/>
                <a:ext cx="12" cy="1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3"/>
                  </a:cxn>
                  <a:cxn ang="0">
                    <a:pos x="6" y="0"/>
                  </a:cxn>
                  <a:cxn ang="0">
                    <a:pos x="9" y="3"/>
                  </a:cxn>
                  <a:cxn ang="0">
                    <a:pos x="12" y="6"/>
                  </a:cxn>
                  <a:cxn ang="0">
                    <a:pos x="9" y="11"/>
                  </a:cxn>
                  <a:cxn ang="0">
                    <a:pos x="6" y="12"/>
                  </a:cxn>
                  <a:cxn ang="0">
                    <a:pos x="1" y="11"/>
                  </a:cxn>
                  <a:cxn ang="0">
                    <a:pos x="0" y="6"/>
                  </a:cxn>
                </a:cxnLst>
                <a:rect l="0" t="0" r="r" b="b"/>
                <a:pathLst>
                  <a:path w="12" h="12">
                    <a:moveTo>
                      <a:pt x="0" y="6"/>
                    </a:moveTo>
                    <a:lnTo>
                      <a:pt x="1" y="3"/>
                    </a:lnTo>
                    <a:lnTo>
                      <a:pt x="6" y="0"/>
                    </a:lnTo>
                    <a:lnTo>
                      <a:pt x="9" y="3"/>
                    </a:lnTo>
                    <a:lnTo>
                      <a:pt x="12" y="6"/>
                    </a:lnTo>
                    <a:lnTo>
                      <a:pt x="9" y="11"/>
                    </a:lnTo>
                    <a:lnTo>
                      <a:pt x="6" y="12"/>
                    </a:lnTo>
                    <a:lnTo>
                      <a:pt x="1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9" name="Freeform 1021"/>
              <p:cNvSpPr>
                <a:spLocks/>
              </p:cNvSpPr>
              <p:nvPr/>
            </p:nvSpPr>
            <p:spPr bwMode="auto">
              <a:xfrm>
                <a:off x="2145" y="2052"/>
                <a:ext cx="11" cy="1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3"/>
                  </a:cxn>
                  <a:cxn ang="0">
                    <a:pos x="6" y="0"/>
                  </a:cxn>
                  <a:cxn ang="0">
                    <a:pos x="9" y="3"/>
                  </a:cxn>
                  <a:cxn ang="0">
                    <a:pos x="11" y="6"/>
                  </a:cxn>
                  <a:cxn ang="0">
                    <a:pos x="9" y="11"/>
                  </a:cxn>
                  <a:cxn ang="0">
                    <a:pos x="6" y="12"/>
                  </a:cxn>
                  <a:cxn ang="0">
                    <a:pos x="1" y="11"/>
                  </a:cxn>
                  <a:cxn ang="0">
                    <a:pos x="0" y="6"/>
                  </a:cxn>
                </a:cxnLst>
                <a:rect l="0" t="0" r="r" b="b"/>
                <a:pathLst>
                  <a:path w="11" h="12">
                    <a:moveTo>
                      <a:pt x="0" y="6"/>
                    </a:moveTo>
                    <a:lnTo>
                      <a:pt x="1" y="3"/>
                    </a:lnTo>
                    <a:lnTo>
                      <a:pt x="6" y="0"/>
                    </a:lnTo>
                    <a:lnTo>
                      <a:pt x="9" y="3"/>
                    </a:lnTo>
                    <a:lnTo>
                      <a:pt x="11" y="6"/>
                    </a:lnTo>
                    <a:lnTo>
                      <a:pt x="9" y="11"/>
                    </a:lnTo>
                    <a:lnTo>
                      <a:pt x="6" y="12"/>
                    </a:lnTo>
                    <a:lnTo>
                      <a:pt x="1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70" name="Freeform 1022"/>
              <p:cNvSpPr>
                <a:spLocks/>
              </p:cNvSpPr>
              <p:nvPr/>
            </p:nvSpPr>
            <p:spPr bwMode="auto">
              <a:xfrm>
                <a:off x="2056" y="2268"/>
                <a:ext cx="12" cy="11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1"/>
                  </a:cxn>
                  <a:cxn ang="0">
                    <a:pos x="6" y="0"/>
                  </a:cxn>
                  <a:cxn ang="0">
                    <a:pos x="9" y="1"/>
                  </a:cxn>
                  <a:cxn ang="0">
                    <a:pos x="12" y="6"/>
                  </a:cxn>
                  <a:cxn ang="0">
                    <a:pos x="9" y="9"/>
                  </a:cxn>
                  <a:cxn ang="0">
                    <a:pos x="6" y="11"/>
                  </a:cxn>
                  <a:cxn ang="0">
                    <a:pos x="1" y="9"/>
                  </a:cxn>
                  <a:cxn ang="0">
                    <a:pos x="0" y="6"/>
                  </a:cxn>
                </a:cxnLst>
                <a:rect l="0" t="0" r="r" b="b"/>
                <a:pathLst>
                  <a:path w="12" h="11">
                    <a:moveTo>
                      <a:pt x="0" y="6"/>
                    </a:moveTo>
                    <a:lnTo>
                      <a:pt x="1" y="1"/>
                    </a:lnTo>
                    <a:lnTo>
                      <a:pt x="6" y="0"/>
                    </a:lnTo>
                    <a:lnTo>
                      <a:pt x="9" y="1"/>
                    </a:lnTo>
                    <a:lnTo>
                      <a:pt x="12" y="6"/>
                    </a:lnTo>
                    <a:lnTo>
                      <a:pt x="9" y="9"/>
                    </a:lnTo>
                    <a:lnTo>
                      <a:pt x="6" y="11"/>
                    </a:lnTo>
                    <a:lnTo>
                      <a:pt x="1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71" name="Freeform 1023"/>
              <p:cNvSpPr>
                <a:spLocks/>
              </p:cNvSpPr>
              <p:nvPr/>
            </p:nvSpPr>
            <p:spPr bwMode="auto">
              <a:xfrm>
                <a:off x="2145" y="2268"/>
                <a:ext cx="11" cy="11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1"/>
                  </a:cxn>
                  <a:cxn ang="0">
                    <a:pos x="6" y="0"/>
                  </a:cxn>
                  <a:cxn ang="0">
                    <a:pos x="9" y="1"/>
                  </a:cxn>
                  <a:cxn ang="0">
                    <a:pos x="11" y="6"/>
                  </a:cxn>
                  <a:cxn ang="0">
                    <a:pos x="9" y="9"/>
                  </a:cxn>
                  <a:cxn ang="0">
                    <a:pos x="6" y="11"/>
                  </a:cxn>
                  <a:cxn ang="0">
                    <a:pos x="1" y="9"/>
                  </a:cxn>
                  <a:cxn ang="0">
                    <a:pos x="0" y="6"/>
                  </a:cxn>
                </a:cxnLst>
                <a:rect l="0" t="0" r="r" b="b"/>
                <a:pathLst>
                  <a:path w="11" h="11">
                    <a:moveTo>
                      <a:pt x="0" y="6"/>
                    </a:moveTo>
                    <a:lnTo>
                      <a:pt x="1" y="1"/>
                    </a:lnTo>
                    <a:lnTo>
                      <a:pt x="6" y="0"/>
                    </a:lnTo>
                    <a:lnTo>
                      <a:pt x="9" y="1"/>
                    </a:lnTo>
                    <a:lnTo>
                      <a:pt x="11" y="6"/>
                    </a:lnTo>
                    <a:lnTo>
                      <a:pt x="9" y="9"/>
                    </a:lnTo>
                    <a:lnTo>
                      <a:pt x="6" y="11"/>
                    </a:lnTo>
                    <a:lnTo>
                      <a:pt x="1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72" name="Line 1024"/>
              <p:cNvSpPr>
                <a:spLocks noChangeShapeType="1"/>
              </p:cNvSpPr>
              <p:nvPr/>
            </p:nvSpPr>
            <p:spPr bwMode="auto">
              <a:xfrm flipH="1">
                <a:off x="2094" y="1695"/>
                <a:ext cx="340" cy="33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73" name="Freeform 1025"/>
              <p:cNvSpPr>
                <a:spLocks/>
              </p:cNvSpPr>
              <p:nvPr/>
            </p:nvSpPr>
            <p:spPr bwMode="auto">
              <a:xfrm>
                <a:off x="2078" y="2017"/>
                <a:ext cx="28" cy="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0" y="27"/>
                  </a:cxn>
                  <a:cxn ang="0">
                    <a:pos x="28" y="18"/>
                  </a:cxn>
                  <a:cxn ang="0">
                    <a:pos x="9" y="0"/>
                  </a:cxn>
                </a:cxnLst>
                <a:rect l="0" t="0" r="r" b="b"/>
                <a:pathLst>
                  <a:path w="28" h="27">
                    <a:moveTo>
                      <a:pt x="9" y="0"/>
                    </a:moveTo>
                    <a:lnTo>
                      <a:pt x="0" y="27"/>
                    </a:lnTo>
                    <a:lnTo>
                      <a:pt x="28" y="1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74" name="Rectangle 1026"/>
              <p:cNvSpPr>
                <a:spLocks noChangeArrowheads="1"/>
              </p:cNvSpPr>
              <p:nvPr/>
            </p:nvSpPr>
            <p:spPr bwMode="auto">
              <a:xfrm>
                <a:off x="2496" y="1647"/>
                <a:ext cx="248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ko-KR" altLang="en-US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정상 시 </a:t>
                </a:r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LOW(0V)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</p:grpSp>
        <p:sp>
          <p:nvSpPr>
            <p:cNvPr id="3075" name="Rectangle 1027"/>
            <p:cNvSpPr>
              <a:spLocks noChangeArrowheads="1"/>
            </p:cNvSpPr>
            <p:nvPr/>
          </p:nvSpPr>
          <p:spPr bwMode="auto">
            <a:xfrm>
              <a:off x="2496" y="1693"/>
              <a:ext cx="273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이상 시 </a:t>
              </a:r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HIGH(15V)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</p:grpSp>
      <p:grpSp>
        <p:nvGrpSpPr>
          <p:cNvPr id="8" name="Group 1028"/>
          <p:cNvGrpSpPr>
            <a:grpSpLocks/>
          </p:cNvGrpSpPr>
          <p:nvPr/>
        </p:nvGrpSpPr>
        <p:grpSpPr bwMode="auto">
          <a:xfrm>
            <a:off x="566738" y="4357688"/>
            <a:ext cx="2600325" cy="774700"/>
            <a:chOff x="357" y="2784"/>
            <a:chExt cx="1638" cy="488"/>
          </a:xfrm>
        </p:grpSpPr>
        <p:sp>
          <p:nvSpPr>
            <p:cNvPr id="3077" name="Rectangle 1029"/>
            <p:cNvSpPr>
              <a:spLocks noChangeArrowheads="1"/>
            </p:cNvSpPr>
            <p:nvPr/>
          </p:nvSpPr>
          <p:spPr bwMode="auto">
            <a:xfrm>
              <a:off x="1179" y="278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78" name="Rectangle 1030"/>
            <p:cNvSpPr>
              <a:spLocks noChangeArrowheads="1"/>
            </p:cNvSpPr>
            <p:nvPr/>
          </p:nvSpPr>
          <p:spPr bwMode="auto">
            <a:xfrm>
              <a:off x="1200" y="2784"/>
              <a:ext cx="384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VDC(+) </a:t>
              </a:r>
            </a:p>
            <a:p>
              <a:pPr algn="ctr"/>
              <a:r>
                <a:rPr lang="ko-KR" altLang="en-US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커넥터명</a:t>
              </a:r>
              <a:r>
                <a:rPr lang="en-US" altLang="ko-KR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, </a:t>
              </a:r>
              <a:r>
                <a:rPr lang="ko-KR" altLang="en-US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위치</a:t>
              </a:r>
              <a:endParaRPr lang="ko-KR" altLang="en-US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079" name="Rectangle 1031"/>
            <p:cNvSpPr>
              <a:spLocks noChangeArrowheads="1"/>
            </p:cNvSpPr>
            <p:nvPr/>
          </p:nvSpPr>
          <p:spPr bwMode="auto">
            <a:xfrm>
              <a:off x="1584" y="278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0" name="Rectangle 1032"/>
            <p:cNvSpPr>
              <a:spLocks noChangeArrowheads="1"/>
            </p:cNvSpPr>
            <p:nvPr/>
          </p:nvSpPr>
          <p:spPr bwMode="auto">
            <a:xfrm>
              <a:off x="1605" y="2784"/>
              <a:ext cx="384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VDC(-) </a:t>
              </a:r>
            </a:p>
            <a:p>
              <a:pPr algn="ctr"/>
              <a:r>
                <a:rPr lang="ko-KR" altLang="en-US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커넥터명</a:t>
              </a:r>
              <a:r>
                <a:rPr lang="en-US" altLang="ko-KR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, </a:t>
              </a:r>
              <a:r>
                <a:rPr lang="ko-KR" altLang="en-US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위치</a:t>
              </a:r>
              <a:endParaRPr lang="ko-KR" altLang="en-US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081" name="Rectangle 1033"/>
            <p:cNvSpPr>
              <a:spLocks noChangeArrowheads="1"/>
            </p:cNvSpPr>
            <p:nvPr/>
          </p:nvSpPr>
          <p:spPr bwMode="auto">
            <a:xfrm>
              <a:off x="768" y="278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2" name="Rectangle 1034"/>
            <p:cNvSpPr>
              <a:spLocks noChangeArrowheads="1"/>
            </p:cNvSpPr>
            <p:nvPr/>
          </p:nvSpPr>
          <p:spPr bwMode="auto">
            <a:xfrm>
              <a:off x="768" y="280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B/D</a:t>
              </a:r>
              <a:r>
                <a:rPr lang="ko-KR" altLang="en-US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명</a:t>
              </a:r>
              <a:endParaRPr lang="ko-KR" altLang="en-US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083" name="Rectangle 1035"/>
            <p:cNvSpPr>
              <a:spLocks noChangeArrowheads="1"/>
            </p:cNvSpPr>
            <p:nvPr/>
          </p:nvSpPr>
          <p:spPr bwMode="auto">
            <a:xfrm>
              <a:off x="1179" y="290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4" name="Rectangle 1036"/>
            <p:cNvSpPr>
              <a:spLocks noChangeArrowheads="1"/>
            </p:cNvSpPr>
            <p:nvPr/>
          </p:nvSpPr>
          <p:spPr bwMode="auto">
            <a:xfrm>
              <a:off x="1584" y="290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5" name="Rectangle 1037"/>
            <p:cNvSpPr>
              <a:spLocks noChangeArrowheads="1"/>
            </p:cNvSpPr>
            <p:nvPr/>
          </p:nvSpPr>
          <p:spPr bwMode="auto">
            <a:xfrm>
              <a:off x="768" y="290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6" name="Rectangle 1038"/>
            <p:cNvSpPr>
              <a:spLocks noChangeArrowheads="1"/>
            </p:cNvSpPr>
            <p:nvPr/>
          </p:nvSpPr>
          <p:spPr bwMode="auto">
            <a:xfrm>
              <a:off x="768" y="292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DPP-13X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087" name="Rectangle 1039"/>
            <p:cNvSpPr>
              <a:spLocks noChangeArrowheads="1"/>
            </p:cNvSpPr>
            <p:nvPr/>
          </p:nvSpPr>
          <p:spPr bwMode="auto">
            <a:xfrm>
              <a:off x="1179" y="302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8" name="Rectangle 1040"/>
            <p:cNvSpPr>
              <a:spLocks noChangeArrowheads="1"/>
            </p:cNvSpPr>
            <p:nvPr/>
          </p:nvSpPr>
          <p:spPr bwMode="auto">
            <a:xfrm>
              <a:off x="1584" y="302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9" name="Rectangle 1041"/>
            <p:cNvSpPr>
              <a:spLocks noChangeArrowheads="1"/>
            </p:cNvSpPr>
            <p:nvPr/>
          </p:nvSpPr>
          <p:spPr bwMode="auto">
            <a:xfrm>
              <a:off x="768" y="302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0" name="Rectangle 1042"/>
            <p:cNvSpPr>
              <a:spLocks noChangeArrowheads="1"/>
            </p:cNvSpPr>
            <p:nvPr/>
          </p:nvSpPr>
          <p:spPr bwMode="auto">
            <a:xfrm>
              <a:off x="768" y="304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DPP-12X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091" name="Rectangle 1043"/>
            <p:cNvSpPr>
              <a:spLocks noChangeArrowheads="1"/>
            </p:cNvSpPr>
            <p:nvPr/>
          </p:nvSpPr>
          <p:spPr bwMode="auto">
            <a:xfrm>
              <a:off x="1179" y="3149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2" name="Rectangle 1044"/>
            <p:cNvSpPr>
              <a:spLocks noChangeArrowheads="1"/>
            </p:cNvSpPr>
            <p:nvPr/>
          </p:nvSpPr>
          <p:spPr bwMode="auto">
            <a:xfrm>
              <a:off x="1200" y="3196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GW-03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093" name="Rectangle 1045"/>
            <p:cNvSpPr>
              <a:spLocks noChangeArrowheads="1"/>
            </p:cNvSpPr>
            <p:nvPr/>
          </p:nvSpPr>
          <p:spPr bwMode="auto">
            <a:xfrm>
              <a:off x="1584" y="3149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4" name="Rectangle 1046"/>
            <p:cNvSpPr>
              <a:spLocks noChangeArrowheads="1"/>
            </p:cNvSpPr>
            <p:nvPr/>
          </p:nvSpPr>
          <p:spPr bwMode="auto">
            <a:xfrm>
              <a:off x="768" y="3149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5" name="Rectangle 1047"/>
            <p:cNvSpPr>
              <a:spLocks noChangeArrowheads="1"/>
            </p:cNvSpPr>
            <p:nvPr/>
          </p:nvSpPr>
          <p:spPr bwMode="auto">
            <a:xfrm>
              <a:off x="768" y="3172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DPP-101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096" name="Rectangle 1048"/>
            <p:cNvSpPr>
              <a:spLocks noChangeArrowheads="1"/>
            </p:cNvSpPr>
            <p:nvPr/>
          </p:nvSpPr>
          <p:spPr bwMode="auto">
            <a:xfrm>
              <a:off x="1584" y="3196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GP-09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097" name="Rectangle 1049"/>
            <p:cNvSpPr>
              <a:spLocks noChangeArrowheads="1"/>
            </p:cNvSpPr>
            <p:nvPr/>
          </p:nvSpPr>
          <p:spPr bwMode="auto">
            <a:xfrm>
              <a:off x="1200" y="2956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GP-01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098" name="Rectangle 1050"/>
            <p:cNvSpPr>
              <a:spLocks noChangeArrowheads="1"/>
            </p:cNvSpPr>
            <p:nvPr/>
          </p:nvSpPr>
          <p:spPr bwMode="auto">
            <a:xfrm>
              <a:off x="1584" y="2956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GP-02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099" name="Rectangle 1051"/>
            <p:cNvSpPr>
              <a:spLocks noChangeArrowheads="1"/>
            </p:cNvSpPr>
            <p:nvPr/>
          </p:nvSpPr>
          <p:spPr bwMode="auto">
            <a:xfrm>
              <a:off x="1200" y="306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GP-01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100" name="Rectangle 1052"/>
            <p:cNvSpPr>
              <a:spLocks noChangeArrowheads="1"/>
            </p:cNvSpPr>
            <p:nvPr/>
          </p:nvSpPr>
          <p:spPr bwMode="auto">
            <a:xfrm>
              <a:off x="1588" y="3076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GP-03</a:t>
              </a:r>
              <a:endParaRPr lang="en-US" altLang="ko-KR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101" name="Rectangle 1053"/>
            <p:cNvSpPr>
              <a:spLocks noChangeArrowheads="1"/>
            </p:cNvSpPr>
            <p:nvPr/>
          </p:nvSpPr>
          <p:spPr bwMode="auto">
            <a:xfrm>
              <a:off x="357" y="278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2" name="Rectangle 1054"/>
            <p:cNvSpPr>
              <a:spLocks noChangeArrowheads="1"/>
            </p:cNvSpPr>
            <p:nvPr/>
          </p:nvSpPr>
          <p:spPr bwMode="auto">
            <a:xfrm>
              <a:off x="357" y="280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ko-KR" altLang="en-US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모터 용량</a:t>
              </a:r>
              <a:endParaRPr lang="ko-KR" altLang="en-US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103" name="Rectangle 1055"/>
            <p:cNvSpPr>
              <a:spLocks noChangeArrowheads="1"/>
            </p:cNvSpPr>
            <p:nvPr/>
          </p:nvSpPr>
          <p:spPr bwMode="auto">
            <a:xfrm>
              <a:off x="357" y="290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4" name="Rectangle 1056"/>
            <p:cNvSpPr>
              <a:spLocks noChangeArrowheads="1"/>
            </p:cNvSpPr>
            <p:nvPr/>
          </p:nvSpPr>
          <p:spPr bwMode="auto">
            <a:xfrm>
              <a:off x="357" y="292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11kW </a:t>
              </a:r>
              <a:r>
                <a:rPr lang="ko-KR" altLang="en-US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이하</a:t>
              </a:r>
              <a:endParaRPr lang="ko-KR" altLang="en-US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105" name="Rectangle 1057"/>
            <p:cNvSpPr>
              <a:spLocks noChangeArrowheads="1"/>
            </p:cNvSpPr>
            <p:nvPr/>
          </p:nvSpPr>
          <p:spPr bwMode="auto">
            <a:xfrm>
              <a:off x="357" y="302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6" name="Rectangle 1058"/>
            <p:cNvSpPr>
              <a:spLocks noChangeArrowheads="1"/>
            </p:cNvSpPr>
            <p:nvPr/>
          </p:nvSpPr>
          <p:spPr bwMode="auto">
            <a:xfrm>
              <a:off x="357" y="304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13~15kW</a:t>
              </a:r>
            </a:p>
          </p:txBody>
        </p:sp>
        <p:sp>
          <p:nvSpPr>
            <p:cNvPr id="3107" name="Rectangle 1059"/>
            <p:cNvSpPr>
              <a:spLocks noChangeArrowheads="1"/>
            </p:cNvSpPr>
            <p:nvPr/>
          </p:nvSpPr>
          <p:spPr bwMode="auto">
            <a:xfrm>
              <a:off x="357" y="3149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8" name="Rectangle 1060"/>
            <p:cNvSpPr>
              <a:spLocks noChangeArrowheads="1"/>
            </p:cNvSpPr>
            <p:nvPr/>
          </p:nvSpPr>
          <p:spPr bwMode="auto">
            <a:xfrm>
              <a:off x="357" y="3172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18~22kW</a:t>
              </a:r>
            </a:p>
          </p:txBody>
        </p:sp>
      </p:grpSp>
      <p:sp>
        <p:nvSpPr>
          <p:cNvPr id="3109" name="Rectangle 1061"/>
          <p:cNvSpPr>
            <a:spLocks noChangeArrowheads="1"/>
          </p:cNvSpPr>
          <p:nvPr/>
        </p:nvSpPr>
        <p:spPr bwMode="auto">
          <a:xfrm>
            <a:off x="8229600" y="395288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60325" y="2152650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32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22098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36576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인버터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 ER_INV_U_IGBT]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070475" y="1066800"/>
            <a:ext cx="4073525" cy="557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DPC-1XX(INV)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및 </a:t>
            </a:r>
          </a:p>
          <a:p>
            <a:pPr defTabSz="873125" latinLnBrk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상태 확인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DPP-10X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GXU, GXL, GU, GW-03 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상태 및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GU, GW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INV STACK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DPP-12X,13X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GU, GV, GW, GX 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상태 및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 STACK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확인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DPP PCB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분리하고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GATE SMPS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출력 전압 확인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(GU-01,02 : 15V, GV-01,02 : 15V, GW-01,02 : 15V, 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GX-01,02 : 15V, GX-03,02 : -9V) 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케이블이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연결된 상태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방향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화살표 방향이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바닥으로 향하고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있으면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전선의 관통방향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-INV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과전류참조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연결상태 확인 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신호선이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VB-03, 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신호선이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VB-07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연결 되었는지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전원 확인 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GATE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단자전압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E/L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운행 중이지 않을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TDC 32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검출되면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DPC- 1XX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커넥터를 확인하고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RA1(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좌표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8I)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+15V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 B/D  VG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DPP-10X B/D VA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연결여부를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(Short Check-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연결되어 있으면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).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DPP-1XX(GDC)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11. DPC-1XX(INV)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12. IPM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검사 후 교체</a:t>
            </a:r>
            <a:endParaRPr lang="ko-KR" altLang="en-US" sz="1000" b="1">
              <a:latin typeface="Arial" charset="0"/>
              <a:ea typeface="굴림체" pitchFamily="49" charset="-127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457200" y="838200"/>
            <a:ext cx="4433888" cy="130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모터의 용량이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11kW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이하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위상 아래상이 동시에 턴 온 되었거나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내부의 회생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단락인 상태에 발생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모터의 용량이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13kW~15kW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위상 아래상이 동시에 턴 온 된 상태에 발생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모터의 용량이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18kW~22kW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 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 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동시에 턴 온 된 상태에 발생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INV STACK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결선불량 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 전원불량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출력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(U,V,W)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Short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된 상태가 발생시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779463" y="6108700"/>
            <a:ext cx="546100" cy="8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6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GATE SMPS </a:t>
            </a:r>
            <a:r>
              <a:rPr lang="ko-KR" altLang="en-US" sz="600" b="1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사용</a:t>
            </a:r>
            <a:endParaRPr lang="ko-KR" altLang="en-US"/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254000" y="2517775"/>
            <a:ext cx="4605338" cy="3659188"/>
            <a:chOff x="160" y="1586"/>
            <a:chExt cx="2901" cy="2305"/>
          </a:xfrm>
        </p:grpSpPr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1196" y="1860"/>
              <a:ext cx="1502" cy="1087"/>
              <a:chOff x="1196" y="1860"/>
              <a:chExt cx="1502" cy="1087"/>
            </a:xfrm>
          </p:grpSpPr>
          <p:sp>
            <p:nvSpPr>
              <p:cNvPr id="2071" name="Rectangle 23"/>
              <p:cNvSpPr>
                <a:spLocks noChangeArrowheads="1"/>
              </p:cNvSpPr>
              <p:nvPr/>
            </p:nvSpPr>
            <p:spPr bwMode="auto">
              <a:xfrm>
                <a:off x="1196" y="1860"/>
                <a:ext cx="1091" cy="108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2" name="Rectangle 24"/>
              <p:cNvSpPr>
                <a:spLocks noChangeArrowheads="1"/>
              </p:cNvSpPr>
              <p:nvPr/>
            </p:nvSpPr>
            <p:spPr bwMode="auto">
              <a:xfrm>
                <a:off x="1430" y="1995"/>
                <a:ext cx="818" cy="91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3" name="Line 25"/>
              <p:cNvSpPr>
                <a:spLocks noChangeShapeType="1"/>
              </p:cNvSpPr>
              <p:nvPr/>
            </p:nvSpPr>
            <p:spPr bwMode="auto">
              <a:xfrm>
                <a:off x="1430" y="2909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4" name="Line 26"/>
              <p:cNvSpPr>
                <a:spLocks noChangeShapeType="1"/>
              </p:cNvSpPr>
              <p:nvPr/>
            </p:nvSpPr>
            <p:spPr bwMode="auto">
              <a:xfrm>
                <a:off x="1511" y="2909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5" name="Line 27"/>
              <p:cNvSpPr>
                <a:spLocks noChangeShapeType="1"/>
              </p:cNvSpPr>
              <p:nvPr/>
            </p:nvSpPr>
            <p:spPr bwMode="auto">
              <a:xfrm>
                <a:off x="1592" y="2909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6" name="Line 28"/>
              <p:cNvSpPr>
                <a:spLocks noChangeShapeType="1"/>
              </p:cNvSpPr>
              <p:nvPr/>
            </p:nvSpPr>
            <p:spPr bwMode="auto">
              <a:xfrm>
                <a:off x="1673" y="2909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1754" y="2909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1835" y="2909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1917" y="2909"/>
                <a:ext cx="4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1998" y="2909"/>
                <a:ext cx="4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1" name="Line 33"/>
              <p:cNvSpPr>
                <a:spLocks noChangeShapeType="1"/>
              </p:cNvSpPr>
              <p:nvPr/>
            </p:nvSpPr>
            <p:spPr bwMode="auto">
              <a:xfrm>
                <a:off x="2079" y="2909"/>
                <a:ext cx="4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>
                <a:off x="2160" y="2909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3" name="Freeform 35"/>
              <p:cNvSpPr>
                <a:spLocks/>
              </p:cNvSpPr>
              <p:nvPr/>
            </p:nvSpPr>
            <p:spPr bwMode="auto">
              <a:xfrm>
                <a:off x="2241" y="2867"/>
                <a:ext cx="7" cy="42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7" y="41"/>
                  </a:cxn>
                  <a:cxn ang="0">
                    <a:pos x="7" y="0"/>
                  </a:cxn>
                </a:cxnLst>
                <a:rect l="0" t="0" r="r" b="b"/>
                <a:pathLst>
                  <a:path w="7" h="41">
                    <a:moveTo>
                      <a:pt x="0" y="41"/>
                    </a:moveTo>
                    <a:lnTo>
                      <a:pt x="7" y="41"/>
                    </a:lnTo>
                    <a:lnTo>
                      <a:pt x="7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4" name="Line 36"/>
              <p:cNvSpPr>
                <a:spLocks noChangeShapeType="1"/>
              </p:cNvSpPr>
              <p:nvPr/>
            </p:nvSpPr>
            <p:spPr bwMode="auto">
              <a:xfrm flipV="1">
                <a:off x="2248" y="2786"/>
                <a:ext cx="1" cy="4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5" name="Line 37"/>
              <p:cNvSpPr>
                <a:spLocks noChangeShapeType="1"/>
              </p:cNvSpPr>
              <p:nvPr/>
            </p:nvSpPr>
            <p:spPr bwMode="auto">
              <a:xfrm flipV="1">
                <a:off x="2248" y="2705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6" name="Line 38"/>
              <p:cNvSpPr>
                <a:spLocks noChangeShapeType="1"/>
              </p:cNvSpPr>
              <p:nvPr/>
            </p:nvSpPr>
            <p:spPr bwMode="auto">
              <a:xfrm flipV="1">
                <a:off x="2248" y="2624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7" name="Line 39"/>
              <p:cNvSpPr>
                <a:spLocks noChangeShapeType="1"/>
              </p:cNvSpPr>
              <p:nvPr/>
            </p:nvSpPr>
            <p:spPr bwMode="auto">
              <a:xfrm flipV="1">
                <a:off x="2248" y="2543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8" name="Line 40"/>
              <p:cNvSpPr>
                <a:spLocks noChangeShapeType="1"/>
              </p:cNvSpPr>
              <p:nvPr/>
            </p:nvSpPr>
            <p:spPr bwMode="auto">
              <a:xfrm flipV="1">
                <a:off x="2248" y="2463"/>
                <a:ext cx="1" cy="4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9" name="Line 41"/>
              <p:cNvSpPr>
                <a:spLocks noChangeShapeType="1"/>
              </p:cNvSpPr>
              <p:nvPr/>
            </p:nvSpPr>
            <p:spPr bwMode="auto">
              <a:xfrm flipV="1">
                <a:off x="2248" y="2382"/>
                <a:ext cx="1" cy="4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 flipV="1">
                <a:off x="2248" y="2301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 flipV="1">
                <a:off x="2248" y="2220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 flipV="1">
                <a:off x="2248" y="2139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 flipV="1">
                <a:off x="2248" y="2058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4" name="Freeform 46"/>
              <p:cNvSpPr>
                <a:spLocks/>
              </p:cNvSpPr>
              <p:nvPr/>
            </p:nvSpPr>
            <p:spPr bwMode="auto">
              <a:xfrm>
                <a:off x="2230" y="1995"/>
                <a:ext cx="18" cy="32"/>
              </a:xfrm>
              <a:custGeom>
                <a:avLst/>
                <a:gdLst/>
                <a:ahLst/>
                <a:cxnLst>
                  <a:cxn ang="0">
                    <a:pos x="17" y="31"/>
                  </a:cxn>
                  <a:cxn ang="0">
                    <a:pos x="17" y="0"/>
                  </a:cxn>
                  <a:cxn ang="0">
                    <a:pos x="0" y="0"/>
                  </a:cxn>
                </a:cxnLst>
                <a:rect l="0" t="0" r="r" b="b"/>
                <a:pathLst>
                  <a:path w="17" h="31">
                    <a:moveTo>
                      <a:pt x="17" y="31"/>
                    </a:moveTo>
                    <a:lnTo>
                      <a:pt x="17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 flipH="1">
                <a:off x="2149" y="1995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6" name="Line 48"/>
              <p:cNvSpPr>
                <a:spLocks noChangeShapeType="1"/>
              </p:cNvSpPr>
              <p:nvPr/>
            </p:nvSpPr>
            <p:spPr bwMode="auto">
              <a:xfrm flipH="1">
                <a:off x="2068" y="1995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7" name="Line 49"/>
              <p:cNvSpPr>
                <a:spLocks noChangeShapeType="1"/>
              </p:cNvSpPr>
              <p:nvPr/>
            </p:nvSpPr>
            <p:spPr bwMode="auto">
              <a:xfrm flipH="1">
                <a:off x="1987" y="1995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8" name="Line 50"/>
              <p:cNvSpPr>
                <a:spLocks noChangeShapeType="1"/>
              </p:cNvSpPr>
              <p:nvPr/>
            </p:nvSpPr>
            <p:spPr bwMode="auto">
              <a:xfrm flipH="1">
                <a:off x="1906" y="1995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9" name="Line 51"/>
              <p:cNvSpPr>
                <a:spLocks noChangeShapeType="1"/>
              </p:cNvSpPr>
              <p:nvPr/>
            </p:nvSpPr>
            <p:spPr bwMode="auto">
              <a:xfrm flipH="1">
                <a:off x="1825" y="1995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0" name="Line 52"/>
              <p:cNvSpPr>
                <a:spLocks noChangeShapeType="1"/>
              </p:cNvSpPr>
              <p:nvPr/>
            </p:nvSpPr>
            <p:spPr bwMode="auto">
              <a:xfrm flipH="1">
                <a:off x="1744" y="1995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1" name="Line 53"/>
              <p:cNvSpPr>
                <a:spLocks noChangeShapeType="1"/>
              </p:cNvSpPr>
              <p:nvPr/>
            </p:nvSpPr>
            <p:spPr bwMode="auto">
              <a:xfrm flipH="1">
                <a:off x="1663" y="1995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 flipH="1">
                <a:off x="1582" y="1995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3" name="Line 55"/>
              <p:cNvSpPr>
                <a:spLocks noChangeShapeType="1"/>
              </p:cNvSpPr>
              <p:nvPr/>
            </p:nvSpPr>
            <p:spPr bwMode="auto">
              <a:xfrm flipH="1">
                <a:off x="1501" y="1995"/>
                <a:ext cx="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4" name="Freeform 56"/>
              <p:cNvSpPr>
                <a:spLocks/>
              </p:cNvSpPr>
              <p:nvPr/>
            </p:nvSpPr>
            <p:spPr bwMode="auto">
              <a:xfrm>
                <a:off x="1430" y="1995"/>
                <a:ext cx="40" cy="11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0" y="0"/>
                  </a:cxn>
                  <a:cxn ang="0">
                    <a:pos x="0" y="10"/>
                  </a:cxn>
                </a:cxnLst>
                <a:rect l="0" t="0" r="r" b="b"/>
                <a:pathLst>
                  <a:path w="38" h="10">
                    <a:moveTo>
                      <a:pt x="38" y="0"/>
                    </a:moveTo>
                    <a:lnTo>
                      <a:pt x="0" y="0"/>
                    </a:lnTo>
                    <a:lnTo>
                      <a:pt x="0" y="1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5" name="Line 57"/>
              <p:cNvSpPr>
                <a:spLocks noChangeShapeType="1"/>
              </p:cNvSpPr>
              <p:nvPr/>
            </p:nvSpPr>
            <p:spPr bwMode="auto">
              <a:xfrm>
                <a:off x="1430" y="2037"/>
                <a:ext cx="1" cy="4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>
                <a:off x="1430" y="2118"/>
                <a:ext cx="1" cy="4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>
                <a:off x="1430" y="2198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>
                <a:off x="1430" y="2279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>
                <a:off x="1430" y="2360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>
                <a:off x="1430" y="2441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>
                <a:off x="1430" y="2522"/>
                <a:ext cx="1" cy="4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1430" y="2602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>
                <a:off x="1430" y="2683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1430" y="2764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>
                <a:off x="1430" y="2845"/>
                <a:ext cx="1" cy="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6" name="Rectangle 68"/>
              <p:cNvSpPr>
                <a:spLocks noChangeArrowheads="1"/>
              </p:cNvSpPr>
              <p:nvPr/>
            </p:nvSpPr>
            <p:spPr bwMode="auto">
              <a:xfrm>
                <a:off x="2502" y="2345"/>
                <a:ext cx="195" cy="19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>
                <a:off x="2502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>
                <a:off x="2514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>
                <a:off x="2526" y="2539"/>
                <a:ext cx="3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>
                <a:off x="2539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>
                <a:off x="2551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2" name="Line 74"/>
              <p:cNvSpPr>
                <a:spLocks noChangeShapeType="1"/>
              </p:cNvSpPr>
              <p:nvPr/>
            </p:nvSpPr>
            <p:spPr bwMode="auto">
              <a:xfrm>
                <a:off x="2564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>
                <a:off x="2576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4" name="Line 76"/>
              <p:cNvSpPr>
                <a:spLocks noChangeShapeType="1"/>
              </p:cNvSpPr>
              <p:nvPr/>
            </p:nvSpPr>
            <p:spPr bwMode="auto">
              <a:xfrm>
                <a:off x="2589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5" name="Line 77"/>
              <p:cNvSpPr>
                <a:spLocks noChangeShapeType="1"/>
              </p:cNvSpPr>
              <p:nvPr/>
            </p:nvSpPr>
            <p:spPr bwMode="auto">
              <a:xfrm>
                <a:off x="2601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6" name="Line 78"/>
              <p:cNvSpPr>
                <a:spLocks noChangeShapeType="1"/>
              </p:cNvSpPr>
              <p:nvPr/>
            </p:nvSpPr>
            <p:spPr bwMode="auto">
              <a:xfrm>
                <a:off x="2614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7" name="Line 79"/>
              <p:cNvSpPr>
                <a:spLocks noChangeShapeType="1"/>
              </p:cNvSpPr>
              <p:nvPr/>
            </p:nvSpPr>
            <p:spPr bwMode="auto">
              <a:xfrm>
                <a:off x="2626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>
                <a:off x="2639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9" name="Line 81"/>
              <p:cNvSpPr>
                <a:spLocks noChangeShapeType="1"/>
              </p:cNvSpPr>
              <p:nvPr/>
            </p:nvSpPr>
            <p:spPr bwMode="auto">
              <a:xfrm>
                <a:off x="2651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>
                <a:off x="2664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>
                <a:off x="2676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>
                <a:off x="2689" y="2539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 flipV="1">
                <a:off x="2697" y="2533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4" name="Line 86"/>
              <p:cNvSpPr>
                <a:spLocks noChangeShapeType="1"/>
              </p:cNvSpPr>
              <p:nvPr/>
            </p:nvSpPr>
            <p:spPr bwMode="auto">
              <a:xfrm flipV="1">
                <a:off x="2697" y="2521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5" name="Line 87"/>
              <p:cNvSpPr>
                <a:spLocks noChangeShapeType="1"/>
              </p:cNvSpPr>
              <p:nvPr/>
            </p:nvSpPr>
            <p:spPr bwMode="auto">
              <a:xfrm flipV="1">
                <a:off x="2697" y="2508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6" name="Line 88"/>
              <p:cNvSpPr>
                <a:spLocks noChangeShapeType="1"/>
              </p:cNvSpPr>
              <p:nvPr/>
            </p:nvSpPr>
            <p:spPr bwMode="auto">
              <a:xfrm flipV="1">
                <a:off x="2697" y="2496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7" name="Line 89"/>
              <p:cNvSpPr>
                <a:spLocks noChangeShapeType="1"/>
              </p:cNvSpPr>
              <p:nvPr/>
            </p:nvSpPr>
            <p:spPr bwMode="auto">
              <a:xfrm flipV="1">
                <a:off x="2697" y="2483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8" name="Line 90"/>
              <p:cNvSpPr>
                <a:spLocks noChangeShapeType="1"/>
              </p:cNvSpPr>
              <p:nvPr/>
            </p:nvSpPr>
            <p:spPr bwMode="auto">
              <a:xfrm flipV="1">
                <a:off x="2697" y="2471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 flipV="1">
                <a:off x="2697" y="2458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 flipV="1">
                <a:off x="2697" y="2446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1" name="Line 93"/>
              <p:cNvSpPr>
                <a:spLocks noChangeShapeType="1"/>
              </p:cNvSpPr>
              <p:nvPr/>
            </p:nvSpPr>
            <p:spPr bwMode="auto">
              <a:xfrm flipV="1">
                <a:off x="2697" y="2434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 flipV="1">
                <a:off x="2697" y="2421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 flipV="1">
                <a:off x="2697" y="2409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 flipV="1">
                <a:off x="2697" y="2396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 flipV="1">
                <a:off x="2697" y="2384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 flipV="1">
                <a:off x="2697" y="2371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 flipV="1">
                <a:off x="2697" y="2359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 flipV="1">
                <a:off x="2697" y="2346"/>
                <a:ext cx="1" cy="3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 flipH="1">
                <a:off x="2685" y="2345"/>
                <a:ext cx="3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0" name="Line 102"/>
              <p:cNvSpPr>
                <a:spLocks noChangeShapeType="1"/>
              </p:cNvSpPr>
              <p:nvPr/>
            </p:nvSpPr>
            <p:spPr bwMode="auto">
              <a:xfrm flipH="1">
                <a:off x="2673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1" name="Line 103"/>
              <p:cNvSpPr>
                <a:spLocks noChangeShapeType="1"/>
              </p:cNvSpPr>
              <p:nvPr/>
            </p:nvSpPr>
            <p:spPr bwMode="auto">
              <a:xfrm flipH="1">
                <a:off x="2661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2" name="Line 104"/>
              <p:cNvSpPr>
                <a:spLocks noChangeShapeType="1"/>
              </p:cNvSpPr>
              <p:nvPr/>
            </p:nvSpPr>
            <p:spPr bwMode="auto">
              <a:xfrm flipH="1">
                <a:off x="2648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3" name="Line 105"/>
              <p:cNvSpPr>
                <a:spLocks noChangeShapeType="1"/>
              </p:cNvSpPr>
              <p:nvPr/>
            </p:nvSpPr>
            <p:spPr bwMode="auto">
              <a:xfrm flipH="1">
                <a:off x="2636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4" name="Line 106"/>
              <p:cNvSpPr>
                <a:spLocks noChangeShapeType="1"/>
              </p:cNvSpPr>
              <p:nvPr/>
            </p:nvSpPr>
            <p:spPr bwMode="auto">
              <a:xfrm flipH="1">
                <a:off x="2623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5" name="Line 107"/>
              <p:cNvSpPr>
                <a:spLocks noChangeShapeType="1"/>
              </p:cNvSpPr>
              <p:nvPr/>
            </p:nvSpPr>
            <p:spPr bwMode="auto">
              <a:xfrm flipH="1">
                <a:off x="2611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6" name="Line 108"/>
              <p:cNvSpPr>
                <a:spLocks noChangeShapeType="1"/>
              </p:cNvSpPr>
              <p:nvPr/>
            </p:nvSpPr>
            <p:spPr bwMode="auto">
              <a:xfrm flipH="1">
                <a:off x="2598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7" name="Line 109"/>
              <p:cNvSpPr>
                <a:spLocks noChangeShapeType="1"/>
              </p:cNvSpPr>
              <p:nvPr/>
            </p:nvSpPr>
            <p:spPr bwMode="auto">
              <a:xfrm flipH="1">
                <a:off x="2586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auto">
              <a:xfrm flipH="1">
                <a:off x="2573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9" name="Line 111"/>
              <p:cNvSpPr>
                <a:spLocks noChangeShapeType="1"/>
              </p:cNvSpPr>
              <p:nvPr/>
            </p:nvSpPr>
            <p:spPr bwMode="auto">
              <a:xfrm flipH="1">
                <a:off x="2561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0" name="Line 112"/>
              <p:cNvSpPr>
                <a:spLocks noChangeShapeType="1"/>
              </p:cNvSpPr>
              <p:nvPr/>
            </p:nvSpPr>
            <p:spPr bwMode="auto">
              <a:xfrm flipH="1">
                <a:off x="2548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1" name="Line 113"/>
              <p:cNvSpPr>
                <a:spLocks noChangeShapeType="1"/>
              </p:cNvSpPr>
              <p:nvPr/>
            </p:nvSpPr>
            <p:spPr bwMode="auto">
              <a:xfrm flipH="1">
                <a:off x="2536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2" name="Line 114"/>
              <p:cNvSpPr>
                <a:spLocks noChangeShapeType="1"/>
              </p:cNvSpPr>
              <p:nvPr/>
            </p:nvSpPr>
            <p:spPr bwMode="auto">
              <a:xfrm flipH="1">
                <a:off x="2523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3" name="Line 115"/>
              <p:cNvSpPr>
                <a:spLocks noChangeShapeType="1"/>
              </p:cNvSpPr>
              <p:nvPr/>
            </p:nvSpPr>
            <p:spPr bwMode="auto">
              <a:xfrm flipH="1">
                <a:off x="2511" y="2345"/>
                <a:ext cx="2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4" name="Line 116"/>
              <p:cNvSpPr>
                <a:spLocks noChangeShapeType="1"/>
              </p:cNvSpPr>
              <p:nvPr/>
            </p:nvSpPr>
            <p:spPr bwMode="auto">
              <a:xfrm>
                <a:off x="2502" y="2346"/>
                <a:ext cx="1" cy="3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5" name="Line 117"/>
              <p:cNvSpPr>
                <a:spLocks noChangeShapeType="1"/>
              </p:cNvSpPr>
              <p:nvPr/>
            </p:nvSpPr>
            <p:spPr bwMode="auto">
              <a:xfrm>
                <a:off x="2502" y="2359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>
                <a:off x="2502" y="2371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2502" y="2384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2502" y="2396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2502" y="2409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>
                <a:off x="2502" y="2421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>
                <a:off x="2502" y="2434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>
                <a:off x="2502" y="2446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>
                <a:off x="2502" y="2458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>
                <a:off x="2502" y="2471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>
                <a:off x="2502" y="2483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>
                <a:off x="2502" y="2496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>
                <a:off x="2502" y="2508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>
                <a:off x="2502" y="2521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9" name="Line 131"/>
              <p:cNvSpPr>
                <a:spLocks noChangeShapeType="1"/>
              </p:cNvSpPr>
              <p:nvPr/>
            </p:nvSpPr>
            <p:spPr bwMode="auto">
              <a:xfrm>
                <a:off x="2502" y="2533"/>
                <a:ext cx="1" cy="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0" name="Line 132"/>
              <p:cNvSpPr>
                <a:spLocks noChangeShapeType="1"/>
              </p:cNvSpPr>
              <p:nvPr/>
            </p:nvSpPr>
            <p:spPr bwMode="auto">
              <a:xfrm>
                <a:off x="1456" y="2806"/>
                <a:ext cx="4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1" name="Line 133"/>
              <p:cNvSpPr>
                <a:spLocks noChangeShapeType="1"/>
              </p:cNvSpPr>
              <p:nvPr/>
            </p:nvSpPr>
            <p:spPr bwMode="auto">
              <a:xfrm>
                <a:off x="1466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2" name="Line 134"/>
              <p:cNvSpPr>
                <a:spLocks noChangeShapeType="1"/>
              </p:cNvSpPr>
              <p:nvPr/>
            </p:nvSpPr>
            <p:spPr bwMode="auto">
              <a:xfrm>
                <a:off x="1476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3" name="Line 135"/>
              <p:cNvSpPr>
                <a:spLocks noChangeShapeType="1"/>
              </p:cNvSpPr>
              <p:nvPr/>
            </p:nvSpPr>
            <p:spPr bwMode="auto">
              <a:xfrm>
                <a:off x="1485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4" name="Line 136"/>
              <p:cNvSpPr>
                <a:spLocks noChangeShapeType="1"/>
              </p:cNvSpPr>
              <p:nvPr/>
            </p:nvSpPr>
            <p:spPr bwMode="auto">
              <a:xfrm>
                <a:off x="1496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auto">
              <a:xfrm>
                <a:off x="1506" y="2806"/>
                <a:ext cx="4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6" name="Line 138"/>
              <p:cNvSpPr>
                <a:spLocks noChangeShapeType="1"/>
              </p:cNvSpPr>
              <p:nvPr/>
            </p:nvSpPr>
            <p:spPr bwMode="auto">
              <a:xfrm>
                <a:off x="1515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>
                <a:off x="1525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8" name="Line 140"/>
              <p:cNvSpPr>
                <a:spLocks noChangeShapeType="1"/>
              </p:cNvSpPr>
              <p:nvPr/>
            </p:nvSpPr>
            <p:spPr bwMode="auto">
              <a:xfrm>
                <a:off x="1534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9" name="Line 141"/>
              <p:cNvSpPr>
                <a:spLocks noChangeShapeType="1"/>
              </p:cNvSpPr>
              <p:nvPr/>
            </p:nvSpPr>
            <p:spPr bwMode="auto">
              <a:xfrm>
                <a:off x="1545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0" name="Line 142"/>
              <p:cNvSpPr>
                <a:spLocks noChangeShapeType="1"/>
              </p:cNvSpPr>
              <p:nvPr/>
            </p:nvSpPr>
            <p:spPr bwMode="auto">
              <a:xfrm>
                <a:off x="1555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1" name="Line 143"/>
              <p:cNvSpPr>
                <a:spLocks noChangeShapeType="1"/>
              </p:cNvSpPr>
              <p:nvPr/>
            </p:nvSpPr>
            <p:spPr bwMode="auto">
              <a:xfrm>
                <a:off x="1564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2" name="Line 144"/>
              <p:cNvSpPr>
                <a:spLocks noChangeShapeType="1"/>
              </p:cNvSpPr>
              <p:nvPr/>
            </p:nvSpPr>
            <p:spPr bwMode="auto">
              <a:xfrm>
                <a:off x="1574" y="2806"/>
                <a:ext cx="6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3" name="Line 145"/>
              <p:cNvSpPr>
                <a:spLocks noChangeShapeType="1"/>
              </p:cNvSpPr>
              <p:nvPr/>
            </p:nvSpPr>
            <p:spPr bwMode="auto">
              <a:xfrm>
                <a:off x="1585" y="2806"/>
                <a:ext cx="4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4" name="Line 146"/>
              <p:cNvSpPr>
                <a:spLocks noChangeShapeType="1"/>
              </p:cNvSpPr>
              <p:nvPr/>
            </p:nvSpPr>
            <p:spPr bwMode="auto">
              <a:xfrm>
                <a:off x="1594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5" name="Line 147"/>
              <p:cNvSpPr>
                <a:spLocks noChangeShapeType="1"/>
              </p:cNvSpPr>
              <p:nvPr/>
            </p:nvSpPr>
            <p:spPr bwMode="auto">
              <a:xfrm>
                <a:off x="1605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6" name="Line 148"/>
              <p:cNvSpPr>
                <a:spLocks noChangeShapeType="1"/>
              </p:cNvSpPr>
              <p:nvPr/>
            </p:nvSpPr>
            <p:spPr bwMode="auto">
              <a:xfrm>
                <a:off x="1614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7" name="Line 149"/>
              <p:cNvSpPr>
                <a:spLocks noChangeShapeType="1"/>
              </p:cNvSpPr>
              <p:nvPr/>
            </p:nvSpPr>
            <p:spPr bwMode="auto">
              <a:xfrm>
                <a:off x="1623" y="2806"/>
                <a:ext cx="7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8" name="Line 150"/>
              <p:cNvSpPr>
                <a:spLocks noChangeShapeType="1"/>
              </p:cNvSpPr>
              <p:nvPr/>
            </p:nvSpPr>
            <p:spPr bwMode="auto">
              <a:xfrm>
                <a:off x="1635" y="2806"/>
                <a:ext cx="4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9" name="Line 151"/>
              <p:cNvSpPr>
                <a:spLocks noChangeShapeType="1"/>
              </p:cNvSpPr>
              <p:nvPr/>
            </p:nvSpPr>
            <p:spPr bwMode="auto">
              <a:xfrm>
                <a:off x="1644" y="2806"/>
                <a:ext cx="4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0" name="Line 152"/>
              <p:cNvSpPr>
                <a:spLocks noChangeShapeType="1"/>
              </p:cNvSpPr>
              <p:nvPr/>
            </p:nvSpPr>
            <p:spPr bwMode="auto">
              <a:xfrm>
                <a:off x="1655" y="2806"/>
                <a:ext cx="5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1" name="Line 153"/>
              <p:cNvSpPr>
                <a:spLocks noChangeShapeType="1"/>
              </p:cNvSpPr>
              <p:nvPr/>
            </p:nvSpPr>
            <p:spPr bwMode="auto">
              <a:xfrm flipV="1">
                <a:off x="1662" y="279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2" name="Line 154"/>
              <p:cNvSpPr>
                <a:spLocks noChangeShapeType="1"/>
              </p:cNvSpPr>
              <p:nvPr/>
            </p:nvSpPr>
            <p:spPr bwMode="auto">
              <a:xfrm flipV="1">
                <a:off x="1662" y="278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3" name="Line 155"/>
              <p:cNvSpPr>
                <a:spLocks noChangeShapeType="1"/>
              </p:cNvSpPr>
              <p:nvPr/>
            </p:nvSpPr>
            <p:spPr bwMode="auto">
              <a:xfrm flipV="1">
                <a:off x="1662" y="278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4" name="Line 156"/>
              <p:cNvSpPr>
                <a:spLocks noChangeShapeType="1"/>
              </p:cNvSpPr>
              <p:nvPr/>
            </p:nvSpPr>
            <p:spPr bwMode="auto">
              <a:xfrm flipV="1">
                <a:off x="1662" y="2769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5" name="Line 157"/>
              <p:cNvSpPr>
                <a:spLocks noChangeShapeType="1"/>
              </p:cNvSpPr>
              <p:nvPr/>
            </p:nvSpPr>
            <p:spPr bwMode="auto">
              <a:xfrm flipV="1">
                <a:off x="1662" y="276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6" name="Line 158"/>
              <p:cNvSpPr>
                <a:spLocks noChangeShapeType="1"/>
              </p:cNvSpPr>
              <p:nvPr/>
            </p:nvSpPr>
            <p:spPr bwMode="auto">
              <a:xfrm flipV="1">
                <a:off x="1662" y="275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7" name="Line 159"/>
              <p:cNvSpPr>
                <a:spLocks noChangeShapeType="1"/>
              </p:cNvSpPr>
              <p:nvPr/>
            </p:nvSpPr>
            <p:spPr bwMode="auto">
              <a:xfrm flipV="1">
                <a:off x="1662" y="273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8" name="Line 160"/>
              <p:cNvSpPr>
                <a:spLocks noChangeShapeType="1"/>
              </p:cNvSpPr>
              <p:nvPr/>
            </p:nvSpPr>
            <p:spPr bwMode="auto">
              <a:xfrm flipV="1">
                <a:off x="1662" y="273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 flipV="1">
                <a:off x="1662" y="2719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0" name="Line 162"/>
              <p:cNvSpPr>
                <a:spLocks noChangeShapeType="1"/>
              </p:cNvSpPr>
              <p:nvPr/>
            </p:nvSpPr>
            <p:spPr bwMode="auto">
              <a:xfrm flipV="1">
                <a:off x="1662" y="271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1" name="Line 163"/>
              <p:cNvSpPr>
                <a:spLocks noChangeShapeType="1"/>
              </p:cNvSpPr>
              <p:nvPr/>
            </p:nvSpPr>
            <p:spPr bwMode="auto">
              <a:xfrm flipV="1">
                <a:off x="1662" y="270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2" name="Line 164"/>
              <p:cNvSpPr>
                <a:spLocks noChangeShapeType="1"/>
              </p:cNvSpPr>
              <p:nvPr/>
            </p:nvSpPr>
            <p:spPr bwMode="auto">
              <a:xfrm flipV="1">
                <a:off x="1662" y="2689"/>
                <a:ext cx="1" cy="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3" name="Line 165"/>
              <p:cNvSpPr>
                <a:spLocks noChangeShapeType="1"/>
              </p:cNvSpPr>
              <p:nvPr/>
            </p:nvSpPr>
            <p:spPr bwMode="auto">
              <a:xfrm flipV="1">
                <a:off x="1662" y="268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4" name="Line 166"/>
              <p:cNvSpPr>
                <a:spLocks noChangeShapeType="1"/>
              </p:cNvSpPr>
              <p:nvPr/>
            </p:nvSpPr>
            <p:spPr bwMode="auto">
              <a:xfrm flipV="1">
                <a:off x="1662" y="267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 flipV="1">
                <a:off x="1662" y="266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 flipV="1">
                <a:off x="1662" y="265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 flipV="1">
                <a:off x="1662" y="2640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8" name="Line 170"/>
              <p:cNvSpPr>
                <a:spLocks noChangeShapeType="1"/>
              </p:cNvSpPr>
              <p:nvPr/>
            </p:nvSpPr>
            <p:spPr bwMode="auto">
              <a:xfrm flipV="1">
                <a:off x="1662" y="263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 flipV="1">
                <a:off x="1662" y="262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0" name="Line 172"/>
              <p:cNvSpPr>
                <a:spLocks noChangeShapeType="1"/>
              </p:cNvSpPr>
              <p:nvPr/>
            </p:nvSpPr>
            <p:spPr bwMode="auto">
              <a:xfrm flipV="1">
                <a:off x="1662" y="261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1" name="Line 173"/>
              <p:cNvSpPr>
                <a:spLocks noChangeShapeType="1"/>
              </p:cNvSpPr>
              <p:nvPr/>
            </p:nvSpPr>
            <p:spPr bwMode="auto">
              <a:xfrm flipV="1">
                <a:off x="1662" y="260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2" name="Line 174"/>
              <p:cNvSpPr>
                <a:spLocks noChangeShapeType="1"/>
              </p:cNvSpPr>
              <p:nvPr/>
            </p:nvSpPr>
            <p:spPr bwMode="auto">
              <a:xfrm flipV="1">
                <a:off x="1662" y="2590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3" name="Line 175"/>
              <p:cNvSpPr>
                <a:spLocks noChangeShapeType="1"/>
              </p:cNvSpPr>
              <p:nvPr/>
            </p:nvSpPr>
            <p:spPr bwMode="auto">
              <a:xfrm flipV="1">
                <a:off x="1662" y="258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4" name="Line 176"/>
              <p:cNvSpPr>
                <a:spLocks noChangeShapeType="1"/>
              </p:cNvSpPr>
              <p:nvPr/>
            </p:nvSpPr>
            <p:spPr bwMode="auto">
              <a:xfrm flipV="1">
                <a:off x="1662" y="257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5" name="Line 177"/>
              <p:cNvSpPr>
                <a:spLocks noChangeShapeType="1"/>
              </p:cNvSpPr>
              <p:nvPr/>
            </p:nvSpPr>
            <p:spPr bwMode="auto">
              <a:xfrm flipV="1">
                <a:off x="1662" y="256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6" name="Line 178"/>
              <p:cNvSpPr>
                <a:spLocks noChangeShapeType="1"/>
              </p:cNvSpPr>
              <p:nvPr/>
            </p:nvSpPr>
            <p:spPr bwMode="auto">
              <a:xfrm flipV="1">
                <a:off x="1662" y="255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7" name="Line 179"/>
              <p:cNvSpPr>
                <a:spLocks noChangeShapeType="1"/>
              </p:cNvSpPr>
              <p:nvPr/>
            </p:nvSpPr>
            <p:spPr bwMode="auto">
              <a:xfrm flipV="1">
                <a:off x="1662" y="254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8" name="Line 180"/>
              <p:cNvSpPr>
                <a:spLocks noChangeShapeType="1"/>
              </p:cNvSpPr>
              <p:nvPr/>
            </p:nvSpPr>
            <p:spPr bwMode="auto">
              <a:xfrm flipV="1">
                <a:off x="1662" y="253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9" name="Line 181"/>
              <p:cNvSpPr>
                <a:spLocks noChangeShapeType="1"/>
              </p:cNvSpPr>
              <p:nvPr/>
            </p:nvSpPr>
            <p:spPr bwMode="auto">
              <a:xfrm flipV="1">
                <a:off x="1662" y="252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0" name="Line 182"/>
              <p:cNvSpPr>
                <a:spLocks noChangeShapeType="1"/>
              </p:cNvSpPr>
              <p:nvPr/>
            </p:nvSpPr>
            <p:spPr bwMode="auto">
              <a:xfrm flipV="1">
                <a:off x="1662" y="2511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1" name="Line 183"/>
              <p:cNvSpPr>
                <a:spLocks noChangeShapeType="1"/>
              </p:cNvSpPr>
              <p:nvPr/>
            </p:nvSpPr>
            <p:spPr bwMode="auto">
              <a:xfrm flipV="1">
                <a:off x="1662" y="250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2" name="Line 184"/>
              <p:cNvSpPr>
                <a:spLocks noChangeShapeType="1"/>
              </p:cNvSpPr>
              <p:nvPr/>
            </p:nvSpPr>
            <p:spPr bwMode="auto">
              <a:xfrm flipV="1">
                <a:off x="1662" y="249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3" name="Line 185"/>
              <p:cNvSpPr>
                <a:spLocks noChangeShapeType="1"/>
              </p:cNvSpPr>
              <p:nvPr/>
            </p:nvSpPr>
            <p:spPr bwMode="auto">
              <a:xfrm flipV="1">
                <a:off x="1662" y="248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 flipV="1">
                <a:off x="1662" y="247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5" name="Line 187"/>
              <p:cNvSpPr>
                <a:spLocks noChangeShapeType="1"/>
              </p:cNvSpPr>
              <p:nvPr/>
            </p:nvSpPr>
            <p:spPr bwMode="auto">
              <a:xfrm flipV="1">
                <a:off x="1662" y="2461"/>
                <a:ext cx="1" cy="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6" name="Line 188"/>
              <p:cNvSpPr>
                <a:spLocks noChangeShapeType="1"/>
              </p:cNvSpPr>
              <p:nvPr/>
            </p:nvSpPr>
            <p:spPr bwMode="auto">
              <a:xfrm flipV="1">
                <a:off x="1662" y="245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7" name="Line 189"/>
              <p:cNvSpPr>
                <a:spLocks noChangeShapeType="1"/>
              </p:cNvSpPr>
              <p:nvPr/>
            </p:nvSpPr>
            <p:spPr bwMode="auto">
              <a:xfrm flipV="1">
                <a:off x="1662" y="244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8" name="Line 190"/>
              <p:cNvSpPr>
                <a:spLocks noChangeShapeType="1"/>
              </p:cNvSpPr>
              <p:nvPr/>
            </p:nvSpPr>
            <p:spPr bwMode="auto">
              <a:xfrm flipV="1">
                <a:off x="1662" y="2431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 flipV="1">
                <a:off x="1662" y="242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0" name="Line 192"/>
              <p:cNvSpPr>
                <a:spLocks noChangeShapeType="1"/>
              </p:cNvSpPr>
              <p:nvPr/>
            </p:nvSpPr>
            <p:spPr bwMode="auto">
              <a:xfrm flipV="1">
                <a:off x="1662" y="2412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1" name="Line 193"/>
              <p:cNvSpPr>
                <a:spLocks noChangeShapeType="1"/>
              </p:cNvSpPr>
              <p:nvPr/>
            </p:nvSpPr>
            <p:spPr bwMode="auto">
              <a:xfrm flipV="1">
                <a:off x="1662" y="240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2" name="Line 194"/>
              <p:cNvSpPr>
                <a:spLocks noChangeShapeType="1"/>
              </p:cNvSpPr>
              <p:nvPr/>
            </p:nvSpPr>
            <p:spPr bwMode="auto">
              <a:xfrm flipV="1">
                <a:off x="1662" y="239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3" name="Line 195"/>
              <p:cNvSpPr>
                <a:spLocks noChangeShapeType="1"/>
              </p:cNvSpPr>
              <p:nvPr/>
            </p:nvSpPr>
            <p:spPr bwMode="auto">
              <a:xfrm flipV="1">
                <a:off x="1662" y="2382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4" name="Line 196"/>
              <p:cNvSpPr>
                <a:spLocks noChangeShapeType="1"/>
              </p:cNvSpPr>
              <p:nvPr/>
            </p:nvSpPr>
            <p:spPr bwMode="auto">
              <a:xfrm flipV="1">
                <a:off x="1662" y="2373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5" name="Line 197"/>
              <p:cNvSpPr>
                <a:spLocks noChangeShapeType="1"/>
              </p:cNvSpPr>
              <p:nvPr/>
            </p:nvSpPr>
            <p:spPr bwMode="auto">
              <a:xfrm flipV="1">
                <a:off x="1662" y="236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6" name="Line 198"/>
              <p:cNvSpPr>
                <a:spLocks noChangeShapeType="1"/>
              </p:cNvSpPr>
              <p:nvPr/>
            </p:nvSpPr>
            <p:spPr bwMode="auto">
              <a:xfrm flipV="1">
                <a:off x="1662" y="235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7" name="Line 199"/>
              <p:cNvSpPr>
                <a:spLocks noChangeShapeType="1"/>
              </p:cNvSpPr>
              <p:nvPr/>
            </p:nvSpPr>
            <p:spPr bwMode="auto">
              <a:xfrm flipV="1">
                <a:off x="1662" y="2343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8" name="Line 200"/>
              <p:cNvSpPr>
                <a:spLocks noChangeShapeType="1"/>
              </p:cNvSpPr>
              <p:nvPr/>
            </p:nvSpPr>
            <p:spPr bwMode="auto">
              <a:xfrm flipV="1">
                <a:off x="1662" y="2333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9" name="Line 201"/>
              <p:cNvSpPr>
                <a:spLocks noChangeShapeType="1"/>
              </p:cNvSpPr>
              <p:nvPr/>
            </p:nvSpPr>
            <p:spPr bwMode="auto">
              <a:xfrm flipV="1">
                <a:off x="1662" y="232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0" name="Line 202"/>
              <p:cNvSpPr>
                <a:spLocks noChangeShapeType="1"/>
              </p:cNvSpPr>
              <p:nvPr/>
            </p:nvSpPr>
            <p:spPr bwMode="auto">
              <a:xfrm flipV="1">
                <a:off x="1662" y="231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1" name="Line 203"/>
              <p:cNvSpPr>
                <a:spLocks noChangeShapeType="1"/>
              </p:cNvSpPr>
              <p:nvPr/>
            </p:nvSpPr>
            <p:spPr bwMode="auto">
              <a:xfrm flipV="1">
                <a:off x="1662" y="230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2" name="Line 204"/>
              <p:cNvSpPr>
                <a:spLocks noChangeShapeType="1"/>
              </p:cNvSpPr>
              <p:nvPr/>
            </p:nvSpPr>
            <p:spPr bwMode="auto">
              <a:xfrm flipV="1">
                <a:off x="1662" y="229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3" name="Line 205"/>
              <p:cNvSpPr>
                <a:spLocks noChangeShapeType="1"/>
              </p:cNvSpPr>
              <p:nvPr/>
            </p:nvSpPr>
            <p:spPr bwMode="auto">
              <a:xfrm flipV="1">
                <a:off x="1662" y="2283"/>
                <a:ext cx="1" cy="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4" name="Line 206"/>
              <p:cNvSpPr>
                <a:spLocks noChangeShapeType="1"/>
              </p:cNvSpPr>
              <p:nvPr/>
            </p:nvSpPr>
            <p:spPr bwMode="auto">
              <a:xfrm flipV="1">
                <a:off x="1662" y="227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5" name="Line 207"/>
              <p:cNvSpPr>
                <a:spLocks noChangeShapeType="1"/>
              </p:cNvSpPr>
              <p:nvPr/>
            </p:nvSpPr>
            <p:spPr bwMode="auto">
              <a:xfrm flipV="1">
                <a:off x="1662" y="226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6" name="Line 208"/>
              <p:cNvSpPr>
                <a:spLocks noChangeShapeType="1"/>
              </p:cNvSpPr>
              <p:nvPr/>
            </p:nvSpPr>
            <p:spPr bwMode="auto">
              <a:xfrm flipV="1">
                <a:off x="1662" y="225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7" name="Line 209"/>
              <p:cNvSpPr>
                <a:spLocks noChangeShapeType="1"/>
              </p:cNvSpPr>
              <p:nvPr/>
            </p:nvSpPr>
            <p:spPr bwMode="auto">
              <a:xfrm flipV="1">
                <a:off x="1662" y="224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8" name="Line 210"/>
              <p:cNvSpPr>
                <a:spLocks noChangeShapeType="1"/>
              </p:cNvSpPr>
              <p:nvPr/>
            </p:nvSpPr>
            <p:spPr bwMode="auto">
              <a:xfrm flipV="1">
                <a:off x="1662" y="223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9" name="Line 211"/>
              <p:cNvSpPr>
                <a:spLocks noChangeShapeType="1"/>
              </p:cNvSpPr>
              <p:nvPr/>
            </p:nvSpPr>
            <p:spPr bwMode="auto">
              <a:xfrm flipV="1">
                <a:off x="1662" y="222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0" name="Line 212"/>
              <p:cNvSpPr>
                <a:spLocks noChangeShapeType="1"/>
              </p:cNvSpPr>
              <p:nvPr/>
            </p:nvSpPr>
            <p:spPr bwMode="auto">
              <a:xfrm flipV="1">
                <a:off x="1662" y="221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1" name="Line 213"/>
              <p:cNvSpPr>
                <a:spLocks noChangeShapeType="1"/>
              </p:cNvSpPr>
              <p:nvPr/>
            </p:nvSpPr>
            <p:spPr bwMode="auto">
              <a:xfrm flipV="1">
                <a:off x="1662" y="2204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2" name="Line 214"/>
              <p:cNvSpPr>
                <a:spLocks noChangeShapeType="1"/>
              </p:cNvSpPr>
              <p:nvPr/>
            </p:nvSpPr>
            <p:spPr bwMode="auto">
              <a:xfrm flipV="1">
                <a:off x="1662" y="219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3" name="Line 215"/>
              <p:cNvSpPr>
                <a:spLocks noChangeShapeType="1"/>
              </p:cNvSpPr>
              <p:nvPr/>
            </p:nvSpPr>
            <p:spPr bwMode="auto">
              <a:xfrm flipV="1">
                <a:off x="1662" y="218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4" name="Line 216"/>
              <p:cNvSpPr>
                <a:spLocks noChangeShapeType="1"/>
              </p:cNvSpPr>
              <p:nvPr/>
            </p:nvSpPr>
            <p:spPr bwMode="auto">
              <a:xfrm flipV="1">
                <a:off x="1662" y="2176"/>
                <a:ext cx="1" cy="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5" name="Line 217"/>
              <p:cNvSpPr>
                <a:spLocks noChangeShapeType="1"/>
              </p:cNvSpPr>
              <p:nvPr/>
            </p:nvSpPr>
            <p:spPr bwMode="auto">
              <a:xfrm flipV="1">
                <a:off x="1662" y="216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6" name="Line 218"/>
              <p:cNvSpPr>
                <a:spLocks noChangeShapeType="1"/>
              </p:cNvSpPr>
              <p:nvPr/>
            </p:nvSpPr>
            <p:spPr bwMode="auto">
              <a:xfrm flipV="1">
                <a:off x="1662" y="2155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7" name="Line 219"/>
              <p:cNvSpPr>
                <a:spLocks noChangeShapeType="1"/>
              </p:cNvSpPr>
              <p:nvPr/>
            </p:nvSpPr>
            <p:spPr bwMode="auto">
              <a:xfrm flipV="1">
                <a:off x="1662" y="214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8" name="Line 220"/>
              <p:cNvSpPr>
                <a:spLocks noChangeShapeType="1"/>
              </p:cNvSpPr>
              <p:nvPr/>
            </p:nvSpPr>
            <p:spPr bwMode="auto">
              <a:xfrm flipV="1">
                <a:off x="1662" y="213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9" name="Line 221"/>
              <p:cNvSpPr>
                <a:spLocks noChangeShapeType="1"/>
              </p:cNvSpPr>
              <p:nvPr/>
            </p:nvSpPr>
            <p:spPr bwMode="auto">
              <a:xfrm flipV="1">
                <a:off x="1662" y="212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0" name="Line 222"/>
              <p:cNvSpPr>
                <a:spLocks noChangeShapeType="1"/>
              </p:cNvSpPr>
              <p:nvPr/>
            </p:nvSpPr>
            <p:spPr bwMode="auto">
              <a:xfrm flipV="1">
                <a:off x="1662" y="2115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" name="Group 223"/>
            <p:cNvGrpSpPr>
              <a:grpSpLocks/>
            </p:cNvGrpSpPr>
            <p:nvPr/>
          </p:nvGrpSpPr>
          <p:grpSpPr bwMode="auto">
            <a:xfrm>
              <a:off x="205" y="2049"/>
              <a:ext cx="2777" cy="1520"/>
              <a:chOff x="205" y="2049"/>
              <a:chExt cx="2777" cy="1520"/>
            </a:xfrm>
          </p:grpSpPr>
          <p:sp>
            <p:nvSpPr>
              <p:cNvPr id="2272" name="Freeform 224"/>
              <p:cNvSpPr>
                <a:spLocks/>
              </p:cNvSpPr>
              <p:nvPr/>
            </p:nvSpPr>
            <p:spPr bwMode="auto">
              <a:xfrm>
                <a:off x="1659" y="2110"/>
                <a:ext cx="3" cy="1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3" y="0"/>
                  </a:cxn>
                  <a:cxn ang="0">
                    <a:pos x="0" y="0"/>
                  </a:cxn>
                </a:cxnLst>
                <a:rect l="0" t="0" r="r" b="b"/>
                <a:pathLst>
                  <a:path w="3" h="1">
                    <a:moveTo>
                      <a:pt x="3" y="1"/>
                    </a:move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3" name="Line 225"/>
              <p:cNvSpPr>
                <a:spLocks noChangeShapeType="1"/>
              </p:cNvSpPr>
              <p:nvPr/>
            </p:nvSpPr>
            <p:spPr bwMode="auto">
              <a:xfrm flipH="1">
                <a:off x="1647" y="2110"/>
                <a:ext cx="7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4" name="Line 226"/>
              <p:cNvSpPr>
                <a:spLocks noChangeShapeType="1"/>
              </p:cNvSpPr>
              <p:nvPr/>
            </p:nvSpPr>
            <p:spPr bwMode="auto">
              <a:xfrm flipH="1">
                <a:off x="1638" y="211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5" name="Line 227"/>
              <p:cNvSpPr>
                <a:spLocks noChangeShapeType="1"/>
              </p:cNvSpPr>
              <p:nvPr/>
            </p:nvSpPr>
            <p:spPr bwMode="auto">
              <a:xfrm flipH="1">
                <a:off x="1629" y="211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6" name="Line 228"/>
              <p:cNvSpPr>
                <a:spLocks noChangeShapeType="1"/>
              </p:cNvSpPr>
              <p:nvPr/>
            </p:nvSpPr>
            <p:spPr bwMode="auto">
              <a:xfrm flipH="1">
                <a:off x="1618" y="211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7" name="Line 229"/>
              <p:cNvSpPr>
                <a:spLocks noChangeShapeType="1"/>
              </p:cNvSpPr>
              <p:nvPr/>
            </p:nvSpPr>
            <p:spPr bwMode="auto">
              <a:xfrm flipH="1">
                <a:off x="1608" y="211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8" name="Line 230"/>
              <p:cNvSpPr>
                <a:spLocks noChangeShapeType="1"/>
              </p:cNvSpPr>
              <p:nvPr/>
            </p:nvSpPr>
            <p:spPr bwMode="auto">
              <a:xfrm flipH="1">
                <a:off x="1598" y="2110"/>
                <a:ext cx="6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9" name="Line 231"/>
              <p:cNvSpPr>
                <a:spLocks noChangeShapeType="1"/>
              </p:cNvSpPr>
              <p:nvPr/>
            </p:nvSpPr>
            <p:spPr bwMode="auto">
              <a:xfrm flipH="1">
                <a:off x="1588" y="211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0" name="Line 232"/>
              <p:cNvSpPr>
                <a:spLocks noChangeShapeType="1"/>
              </p:cNvSpPr>
              <p:nvPr/>
            </p:nvSpPr>
            <p:spPr bwMode="auto">
              <a:xfrm flipH="1">
                <a:off x="1579" y="211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1" name="Line 233"/>
              <p:cNvSpPr>
                <a:spLocks noChangeShapeType="1"/>
              </p:cNvSpPr>
              <p:nvPr/>
            </p:nvSpPr>
            <p:spPr bwMode="auto">
              <a:xfrm flipH="1">
                <a:off x="1568" y="211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2" name="Line 234"/>
              <p:cNvSpPr>
                <a:spLocks noChangeShapeType="1"/>
              </p:cNvSpPr>
              <p:nvPr/>
            </p:nvSpPr>
            <p:spPr bwMode="auto">
              <a:xfrm flipH="1">
                <a:off x="1558" y="211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3" name="Line 235"/>
              <p:cNvSpPr>
                <a:spLocks noChangeShapeType="1"/>
              </p:cNvSpPr>
              <p:nvPr/>
            </p:nvSpPr>
            <p:spPr bwMode="auto">
              <a:xfrm flipH="1">
                <a:off x="1548" y="2110"/>
                <a:ext cx="6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4" name="Line 236"/>
              <p:cNvSpPr>
                <a:spLocks noChangeShapeType="1"/>
              </p:cNvSpPr>
              <p:nvPr/>
            </p:nvSpPr>
            <p:spPr bwMode="auto">
              <a:xfrm flipH="1">
                <a:off x="1538" y="211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5" name="Line 237"/>
              <p:cNvSpPr>
                <a:spLocks noChangeShapeType="1"/>
              </p:cNvSpPr>
              <p:nvPr/>
            </p:nvSpPr>
            <p:spPr bwMode="auto">
              <a:xfrm flipH="1">
                <a:off x="1529" y="211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6" name="Line 238"/>
              <p:cNvSpPr>
                <a:spLocks noChangeShapeType="1"/>
              </p:cNvSpPr>
              <p:nvPr/>
            </p:nvSpPr>
            <p:spPr bwMode="auto">
              <a:xfrm flipH="1">
                <a:off x="1520" y="211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7" name="Line 239"/>
              <p:cNvSpPr>
                <a:spLocks noChangeShapeType="1"/>
              </p:cNvSpPr>
              <p:nvPr/>
            </p:nvSpPr>
            <p:spPr bwMode="auto">
              <a:xfrm flipH="1">
                <a:off x="1509" y="211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8" name="Line 240"/>
              <p:cNvSpPr>
                <a:spLocks noChangeShapeType="1"/>
              </p:cNvSpPr>
              <p:nvPr/>
            </p:nvSpPr>
            <p:spPr bwMode="auto">
              <a:xfrm flipH="1">
                <a:off x="1500" y="211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9" name="Line 241"/>
              <p:cNvSpPr>
                <a:spLocks noChangeShapeType="1"/>
              </p:cNvSpPr>
              <p:nvPr/>
            </p:nvSpPr>
            <p:spPr bwMode="auto">
              <a:xfrm flipH="1">
                <a:off x="1489" y="211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0" name="Line 242"/>
              <p:cNvSpPr>
                <a:spLocks noChangeShapeType="1"/>
              </p:cNvSpPr>
              <p:nvPr/>
            </p:nvSpPr>
            <p:spPr bwMode="auto">
              <a:xfrm flipH="1">
                <a:off x="1480" y="211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1" name="Line 243"/>
              <p:cNvSpPr>
                <a:spLocks noChangeShapeType="1"/>
              </p:cNvSpPr>
              <p:nvPr/>
            </p:nvSpPr>
            <p:spPr bwMode="auto">
              <a:xfrm flipH="1">
                <a:off x="1469" y="2110"/>
                <a:ext cx="6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2" name="Line 244"/>
              <p:cNvSpPr>
                <a:spLocks noChangeShapeType="1"/>
              </p:cNvSpPr>
              <p:nvPr/>
            </p:nvSpPr>
            <p:spPr bwMode="auto">
              <a:xfrm flipH="1">
                <a:off x="1459" y="2110"/>
                <a:ext cx="6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3" name="Line 245"/>
              <p:cNvSpPr>
                <a:spLocks noChangeShapeType="1"/>
              </p:cNvSpPr>
              <p:nvPr/>
            </p:nvSpPr>
            <p:spPr bwMode="auto">
              <a:xfrm>
                <a:off x="1456" y="211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4" name="Line 246"/>
              <p:cNvSpPr>
                <a:spLocks noChangeShapeType="1"/>
              </p:cNvSpPr>
              <p:nvPr/>
            </p:nvSpPr>
            <p:spPr bwMode="auto">
              <a:xfrm>
                <a:off x="1456" y="212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5" name="Line 247"/>
              <p:cNvSpPr>
                <a:spLocks noChangeShapeType="1"/>
              </p:cNvSpPr>
              <p:nvPr/>
            </p:nvSpPr>
            <p:spPr bwMode="auto">
              <a:xfrm>
                <a:off x="1456" y="2130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6" name="Line 248"/>
              <p:cNvSpPr>
                <a:spLocks noChangeShapeType="1"/>
              </p:cNvSpPr>
              <p:nvPr/>
            </p:nvSpPr>
            <p:spPr bwMode="auto">
              <a:xfrm>
                <a:off x="1456" y="2140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7" name="Line 249"/>
              <p:cNvSpPr>
                <a:spLocks noChangeShapeType="1"/>
              </p:cNvSpPr>
              <p:nvPr/>
            </p:nvSpPr>
            <p:spPr bwMode="auto">
              <a:xfrm>
                <a:off x="1456" y="215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8" name="Line 250"/>
              <p:cNvSpPr>
                <a:spLocks noChangeShapeType="1"/>
              </p:cNvSpPr>
              <p:nvPr/>
            </p:nvSpPr>
            <p:spPr bwMode="auto">
              <a:xfrm>
                <a:off x="1456" y="216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9" name="Line 251"/>
              <p:cNvSpPr>
                <a:spLocks noChangeShapeType="1"/>
              </p:cNvSpPr>
              <p:nvPr/>
            </p:nvSpPr>
            <p:spPr bwMode="auto">
              <a:xfrm>
                <a:off x="1456" y="2170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0" name="Line 252"/>
              <p:cNvSpPr>
                <a:spLocks noChangeShapeType="1"/>
              </p:cNvSpPr>
              <p:nvPr/>
            </p:nvSpPr>
            <p:spPr bwMode="auto">
              <a:xfrm>
                <a:off x="1456" y="2179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1" name="Line 253"/>
              <p:cNvSpPr>
                <a:spLocks noChangeShapeType="1"/>
              </p:cNvSpPr>
              <p:nvPr/>
            </p:nvSpPr>
            <p:spPr bwMode="auto">
              <a:xfrm>
                <a:off x="1456" y="219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2" name="Line 254"/>
              <p:cNvSpPr>
                <a:spLocks noChangeShapeType="1"/>
              </p:cNvSpPr>
              <p:nvPr/>
            </p:nvSpPr>
            <p:spPr bwMode="auto">
              <a:xfrm>
                <a:off x="1456" y="21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3" name="Line 255"/>
              <p:cNvSpPr>
                <a:spLocks noChangeShapeType="1"/>
              </p:cNvSpPr>
              <p:nvPr/>
            </p:nvSpPr>
            <p:spPr bwMode="auto">
              <a:xfrm>
                <a:off x="1456" y="221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4" name="Line 256"/>
              <p:cNvSpPr>
                <a:spLocks noChangeShapeType="1"/>
              </p:cNvSpPr>
              <p:nvPr/>
            </p:nvSpPr>
            <p:spPr bwMode="auto">
              <a:xfrm>
                <a:off x="1456" y="221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5" name="Line 257"/>
              <p:cNvSpPr>
                <a:spLocks noChangeShapeType="1"/>
              </p:cNvSpPr>
              <p:nvPr/>
            </p:nvSpPr>
            <p:spPr bwMode="auto">
              <a:xfrm>
                <a:off x="1456" y="2228"/>
                <a:ext cx="1" cy="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6" name="Line 258"/>
              <p:cNvSpPr>
                <a:spLocks noChangeShapeType="1"/>
              </p:cNvSpPr>
              <p:nvPr/>
            </p:nvSpPr>
            <p:spPr bwMode="auto">
              <a:xfrm>
                <a:off x="1456" y="224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7" name="Line 259"/>
              <p:cNvSpPr>
                <a:spLocks noChangeShapeType="1"/>
              </p:cNvSpPr>
              <p:nvPr/>
            </p:nvSpPr>
            <p:spPr bwMode="auto">
              <a:xfrm>
                <a:off x="1456" y="224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8" name="Line 260"/>
              <p:cNvSpPr>
                <a:spLocks noChangeShapeType="1"/>
              </p:cNvSpPr>
              <p:nvPr/>
            </p:nvSpPr>
            <p:spPr bwMode="auto">
              <a:xfrm>
                <a:off x="1456" y="2258"/>
                <a:ext cx="1" cy="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9" name="Line 261"/>
              <p:cNvSpPr>
                <a:spLocks noChangeShapeType="1"/>
              </p:cNvSpPr>
              <p:nvPr/>
            </p:nvSpPr>
            <p:spPr bwMode="auto">
              <a:xfrm>
                <a:off x="1456" y="226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0" name="Line 262"/>
              <p:cNvSpPr>
                <a:spLocks noChangeShapeType="1"/>
              </p:cNvSpPr>
              <p:nvPr/>
            </p:nvSpPr>
            <p:spPr bwMode="auto">
              <a:xfrm>
                <a:off x="1456" y="227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1" name="Line 263"/>
              <p:cNvSpPr>
                <a:spLocks noChangeShapeType="1"/>
              </p:cNvSpPr>
              <p:nvPr/>
            </p:nvSpPr>
            <p:spPr bwMode="auto">
              <a:xfrm>
                <a:off x="1456" y="229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2" name="Line 264"/>
              <p:cNvSpPr>
                <a:spLocks noChangeShapeType="1"/>
              </p:cNvSpPr>
              <p:nvPr/>
            </p:nvSpPr>
            <p:spPr bwMode="auto">
              <a:xfrm>
                <a:off x="1456" y="22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3" name="Line 265"/>
              <p:cNvSpPr>
                <a:spLocks noChangeShapeType="1"/>
              </p:cNvSpPr>
              <p:nvPr/>
            </p:nvSpPr>
            <p:spPr bwMode="auto">
              <a:xfrm>
                <a:off x="1456" y="2308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4" name="Line 266"/>
              <p:cNvSpPr>
                <a:spLocks noChangeShapeType="1"/>
              </p:cNvSpPr>
              <p:nvPr/>
            </p:nvSpPr>
            <p:spPr bwMode="auto">
              <a:xfrm>
                <a:off x="1456" y="231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5" name="Line 267"/>
              <p:cNvSpPr>
                <a:spLocks noChangeShapeType="1"/>
              </p:cNvSpPr>
              <p:nvPr/>
            </p:nvSpPr>
            <p:spPr bwMode="auto">
              <a:xfrm>
                <a:off x="1456" y="232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6" name="Line 268"/>
              <p:cNvSpPr>
                <a:spLocks noChangeShapeType="1"/>
              </p:cNvSpPr>
              <p:nvPr/>
            </p:nvSpPr>
            <p:spPr bwMode="auto">
              <a:xfrm>
                <a:off x="1456" y="233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7" name="Line 269"/>
              <p:cNvSpPr>
                <a:spLocks noChangeShapeType="1"/>
              </p:cNvSpPr>
              <p:nvPr/>
            </p:nvSpPr>
            <p:spPr bwMode="auto">
              <a:xfrm>
                <a:off x="1456" y="234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8" name="Line 270"/>
              <p:cNvSpPr>
                <a:spLocks noChangeShapeType="1"/>
              </p:cNvSpPr>
              <p:nvPr/>
            </p:nvSpPr>
            <p:spPr bwMode="auto">
              <a:xfrm>
                <a:off x="1456" y="2358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9" name="Line 271"/>
              <p:cNvSpPr>
                <a:spLocks noChangeShapeType="1"/>
              </p:cNvSpPr>
              <p:nvPr/>
            </p:nvSpPr>
            <p:spPr bwMode="auto">
              <a:xfrm>
                <a:off x="1456" y="236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0" name="Line 272"/>
              <p:cNvSpPr>
                <a:spLocks noChangeShapeType="1"/>
              </p:cNvSpPr>
              <p:nvPr/>
            </p:nvSpPr>
            <p:spPr bwMode="auto">
              <a:xfrm>
                <a:off x="1456" y="2379"/>
                <a:ext cx="1" cy="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1" name="Line 273"/>
              <p:cNvSpPr>
                <a:spLocks noChangeShapeType="1"/>
              </p:cNvSpPr>
              <p:nvPr/>
            </p:nvSpPr>
            <p:spPr bwMode="auto">
              <a:xfrm>
                <a:off x="1456" y="238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2" name="Line 274"/>
              <p:cNvSpPr>
                <a:spLocks noChangeShapeType="1"/>
              </p:cNvSpPr>
              <p:nvPr/>
            </p:nvSpPr>
            <p:spPr bwMode="auto">
              <a:xfrm>
                <a:off x="1456" y="239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3" name="Line 275"/>
              <p:cNvSpPr>
                <a:spLocks noChangeShapeType="1"/>
              </p:cNvSpPr>
              <p:nvPr/>
            </p:nvSpPr>
            <p:spPr bwMode="auto">
              <a:xfrm>
                <a:off x="1456" y="240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4" name="Line 276"/>
              <p:cNvSpPr>
                <a:spLocks noChangeShapeType="1"/>
              </p:cNvSpPr>
              <p:nvPr/>
            </p:nvSpPr>
            <p:spPr bwMode="auto">
              <a:xfrm>
                <a:off x="1456" y="241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5" name="Line 277"/>
              <p:cNvSpPr>
                <a:spLocks noChangeShapeType="1"/>
              </p:cNvSpPr>
              <p:nvPr/>
            </p:nvSpPr>
            <p:spPr bwMode="auto">
              <a:xfrm>
                <a:off x="1456" y="242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6" name="Line 278"/>
              <p:cNvSpPr>
                <a:spLocks noChangeShapeType="1"/>
              </p:cNvSpPr>
              <p:nvPr/>
            </p:nvSpPr>
            <p:spPr bwMode="auto">
              <a:xfrm>
                <a:off x="1456" y="2437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7" name="Line 279"/>
              <p:cNvSpPr>
                <a:spLocks noChangeShapeType="1"/>
              </p:cNvSpPr>
              <p:nvPr/>
            </p:nvSpPr>
            <p:spPr bwMode="auto">
              <a:xfrm>
                <a:off x="1456" y="244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8" name="Line 280"/>
              <p:cNvSpPr>
                <a:spLocks noChangeShapeType="1"/>
              </p:cNvSpPr>
              <p:nvPr/>
            </p:nvSpPr>
            <p:spPr bwMode="auto">
              <a:xfrm>
                <a:off x="1456" y="245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9" name="Line 281"/>
              <p:cNvSpPr>
                <a:spLocks noChangeShapeType="1"/>
              </p:cNvSpPr>
              <p:nvPr/>
            </p:nvSpPr>
            <p:spPr bwMode="auto">
              <a:xfrm>
                <a:off x="1456" y="246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0" name="Line 282"/>
              <p:cNvSpPr>
                <a:spLocks noChangeShapeType="1"/>
              </p:cNvSpPr>
              <p:nvPr/>
            </p:nvSpPr>
            <p:spPr bwMode="auto">
              <a:xfrm>
                <a:off x="1456" y="247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1" name="Line 283"/>
              <p:cNvSpPr>
                <a:spLocks noChangeShapeType="1"/>
              </p:cNvSpPr>
              <p:nvPr/>
            </p:nvSpPr>
            <p:spPr bwMode="auto">
              <a:xfrm>
                <a:off x="1456" y="2486"/>
                <a:ext cx="1" cy="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2" name="Line 284"/>
              <p:cNvSpPr>
                <a:spLocks noChangeShapeType="1"/>
              </p:cNvSpPr>
              <p:nvPr/>
            </p:nvSpPr>
            <p:spPr bwMode="auto">
              <a:xfrm>
                <a:off x="1456" y="249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3" name="Line 285"/>
              <p:cNvSpPr>
                <a:spLocks noChangeShapeType="1"/>
              </p:cNvSpPr>
              <p:nvPr/>
            </p:nvSpPr>
            <p:spPr bwMode="auto">
              <a:xfrm>
                <a:off x="1456" y="250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4" name="Line 286"/>
              <p:cNvSpPr>
                <a:spLocks noChangeShapeType="1"/>
              </p:cNvSpPr>
              <p:nvPr/>
            </p:nvSpPr>
            <p:spPr bwMode="auto">
              <a:xfrm>
                <a:off x="1456" y="251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5" name="Line 287"/>
              <p:cNvSpPr>
                <a:spLocks noChangeShapeType="1"/>
              </p:cNvSpPr>
              <p:nvPr/>
            </p:nvSpPr>
            <p:spPr bwMode="auto">
              <a:xfrm>
                <a:off x="1456" y="252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6" name="Line 288"/>
              <p:cNvSpPr>
                <a:spLocks noChangeShapeType="1"/>
              </p:cNvSpPr>
              <p:nvPr/>
            </p:nvSpPr>
            <p:spPr bwMode="auto">
              <a:xfrm>
                <a:off x="1456" y="2536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7" name="Line 289"/>
              <p:cNvSpPr>
                <a:spLocks noChangeShapeType="1"/>
              </p:cNvSpPr>
              <p:nvPr/>
            </p:nvSpPr>
            <p:spPr bwMode="auto">
              <a:xfrm>
                <a:off x="1456" y="254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8" name="Line 290"/>
              <p:cNvSpPr>
                <a:spLocks noChangeShapeType="1"/>
              </p:cNvSpPr>
              <p:nvPr/>
            </p:nvSpPr>
            <p:spPr bwMode="auto">
              <a:xfrm>
                <a:off x="1456" y="255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9" name="Line 291"/>
              <p:cNvSpPr>
                <a:spLocks noChangeShapeType="1"/>
              </p:cNvSpPr>
              <p:nvPr/>
            </p:nvSpPr>
            <p:spPr bwMode="auto">
              <a:xfrm>
                <a:off x="1456" y="2566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0" name="Line 292"/>
              <p:cNvSpPr>
                <a:spLocks noChangeShapeType="1"/>
              </p:cNvSpPr>
              <p:nvPr/>
            </p:nvSpPr>
            <p:spPr bwMode="auto">
              <a:xfrm>
                <a:off x="1456" y="2576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1" name="Line 293"/>
              <p:cNvSpPr>
                <a:spLocks noChangeShapeType="1"/>
              </p:cNvSpPr>
              <p:nvPr/>
            </p:nvSpPr>
            <p:spPr bwMode="auto">
              <a:xfrm>
                <a:off x="1456" y="258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2" name="Line 294"/>
              <p:cNvSpPr>
                <a:spLocks noChangeShapeType="1"/>
              </p:cNvSpPr>
              <p:nvPr/>
            </p:nvSpPr>
            <p:spPr bwMode="auto">
              <a:xfrm>
                <a:off x="1456" y="259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3" name="Line 295"/>
              <p:cNvSpPr>
                <a:spLocks noChangeShapeType="1"/>
              </p:cNvSpPr>
              <p:nvPr/>
            </p:nvSpPr>
            <p:spPr bwMode="auto">
              <a:xfrm>
                <a:off x="1456" y="260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4" name="Line 296"/>
              <p:cNvSpPr>
                <a:spLocks noChangeShapeType="1"/>
              </p:cNvSpPr>
              <p:nvPr/>
            </p:nvSpPr>
            <p:spPr bwMode="auto">
              <a:xfrm>
                <a:off x="1456" y="2615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5" name="Line 297"/>
              <p:cNvSpPr>
                <a:spLocks noChangeShapeType="1"/>
              </p:cNvSpPr>
              <p:nvPr/>
            </p:nvSpPr>
            <p:spPr bwMode="auto">
              <a:xfrm>
                <a:off x="1456" y="262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6" name="Line 298"/>
              <p:cNvSpPr>
                <a:spLocks noChangeShapeType="1"/>
              </p:cNvSpPr>
              <p:nvPr/>
            </p:nvSpPr>
            <p:spPr bwMode="auto">
              <a:xfrm>
                <a:off x="1456" y="263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7" name="Line 299"/>
              <p:cNvSpPr>
                <a:spLocks noChangeShapeType="1"/>
              </p:cNvSpPr>
              <p:nvPr/>
            </p:nvSpPr>
            <p:spPr bwMode="auto">
              <a:xfrm>
                <a:off x="1456" y="264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8" name="Line 300"/>
              <p:cNvSpPr>
                <a:spLocks noChangeShapeType="1"/>
              </p:cNvSpPr>
              <p:nvPr/>
            </p:nvSpPr>
            <p:spPr bwMode="auto">
              <a:xfrm>
                <a:off x="1456" y="265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9" name="Line 301"/>
              <p:cNvSpPr>
                <a:spLocks noChangeShapeType="1"/>
              </p:cNvSpPr>
              <p:nvPr/>
            </p:nvSpPr>
            <p:spPr bwMode="auto">
              <a:xfrm>
                <a:off x="1456" y="2665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0" name="Line 302"/>
              <p:cNvSpPr>
                <a:spLocks noChangeShapeType="1"/>
              </p:cNvSpPr>
              <p:nvPr/>
            </p:nvSpPr>
            <p:spPr bwMode="auto">
              <a:xfrm>
                <a:off x="1456" y="26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1" name="Line 303"/>
              <p:cNvSpPr>
                <a:spLocks noChangeShapeType="1"/>
              </p:cNvSpPr>
              <p:nvPr/>
            </p:nvSpPr>
            <p:spPr bwMode="auto">
              <a:xfrm>
                <a:off x="1456" y="268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2" name="Line 304"/>
              <p:cNvSpPr>
                <a:spLocks noChangeShapeType="1"/>
              </p:cNvSpPr>
              <p:nvPr/>
            </p:nvSpPr>
            <p:spPr bwMode="auto">
              <a:xfrm>
                <a:off x="1456" y="269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3" name="Line 305"/>
              <p:cNvSpPr>
                <a:spLocks noChangeShapeType="1"/>
              </p:cNvSpPr>
              <p:nvPr/>
            </p:nvSpPr>
            <p:spPr bwMode="auto">
              <a:xfrm>
                <a:off x="1456" y="270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4" name="Line 306"/>
              <p:cNvSpPr>
                <a:spLocks noChangeShapeType="1"/>
              </p:cNvSpPr>
              <p:nvPr/>
            </p:nvSpPr>
            <p:spPr bwMode="auto">
              <a:xfrm>
                <a:off x="1456" y="271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5" name="Line 307"/>
              <p:cNvSpPr>
                <a:spLocks noChangeShapeType="1"/>
              </p:cNvSpPr>
              <p:nvPr/>
            </p:nvSpPr>
            <p:spPr bwMode="auto">
              <a:xfrm>
                <a:off x="1456" y="272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6" name="Line 308"/>
              <p:cNvSpPr>
                <a:spLocks noChangeShapeType="1"/>
              </p:cNvSpPr>
              <p:nvPr/>
            </p:nvSpPr>
            <p:spPr bwMode="auto">
              <a:xfrm>
                <a:off x="1456" y="273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7" name="Line 309"/>
              <p:cNvSpPr>
                <a:spLocks noChangeShapeType="1"/>
              </p:cNvSpPr>
              <p:nvPr/>
            </p:nvSpPr>
            <p:spPr bwMode="auto">
              <a:xfrm>
                <a:off x="1456" y="2744"/>
                <a:ext cx="1" cy="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8" name="Line 310"/>
              <p:cNvSpPr>
                <a:spLocks noChangeShapeType="1"/>
              </p:cNvSpPr>
              <p:nvPr/>
            </p:nvSpPr>
            <p:spPr bwMode="auto">
              <a:xfrm>
                <a:off x="1456" y="275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9" name="Line 311"/>
              <p:cNvSpPr>
                <a:spLocks noChangeShapeType="1"/>
              </p:cNvSpPr>
              <p:nvPr/>
            </p:nvSpPr>
            <p:spPr bwMode="auto">
              <a:xfrm>
                <a:off x="1456" y="276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0" name="Line 312"/>
              <p:cNvSpPr>
                <a:spLocks noChangeShapeType="1"/>
              </p:cNvSpPr>
              <p:nvPr/>
            </p:nvSpPr>
            <p:spPr bwMode="auto">
              <a:xfrm>
                <a:off x="1456" y="27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1" name="Line 313"/>
              <p:cNvSpPr>
                <a:spLocks noChangeShapeType="1"/>
              </p:cNvSpPr>
              <p:nvPr/>
            </p:nvSpPr>
            <p:spPr bwMode="auto">
              <a:xfrm>
                <a:off x="1456" y="278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2" name="Line 314"/>
              <p:cNvSpPr>
                <a:spLocks noChangeShapeType="1"/>
              </p:cNvSpPr>
              <p:nvPr/>
            </p:nvSpPr>
            <p:spPr bwMode="auto">
              <a:xfrm>
                <a:off x="1456" y="2793"/>
                <a:ext cx="1" cy="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3" name="Line 315"/>
              <p:cNvSpPr>
                <a:spLocks noChangeShapeType="1"/>
              </p:cNvSpPr>
              <p:nvPr/>
            </p:nvSpPr>
            <p:spPr bwMode="auto">
              <a:xfrm>
                <a:off x="1456" y="2803"/>
                <a:ext cx="1" cy="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4" name="Line 316"/>
              <p:cNvSpPr>
                <a:spLocks noChangeShapeType="1"/>
              </p:cNvSpPr>
              <p:nvPr/>
            </p:nvSpPr>
            <p:spPr bwMode="auto">
              <a:xfrm flipV="1">
                <a:off x="2411" y="2421"/>
                <a:ext cx="1" cy="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5" name="Line 317"/>
              <p:cNvSpPr>
                <a:spLocks noChangeShapeType="1"/>
              </p:cNvSpPr>
              <p:nvPr/>
            </p:nvSpPr>
            <p:spPr bwMode="auto">
              <a:xfrm flipV="1">
                <a:off x="2483" y="2417"/>
                <a:ext cx="1" cy="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6" name="Line 318"/>
              <p:cNvSpPr>
                <a:spLocks noChangeShapeType="1"/>
              </p:cNvSpPr>
              <p:nvPr/>
            </p:nvSpPr>
            <p:spPr bwMode="auto">
              <a:xfrm flipH="1" flipV="1">
                <a:off x="2412" y="2422"/>
                <a:ext cx="28" cy="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7" name="Line 319"/>
              <p:cNvSpPr>
                <a:spLocks noChangeShapeType="1"/>
              </p:cNvSpPr>
              <p:nvPr/>
            </p:nvSpPr>
            <p:spPr bwMode="auto">
              <a:xfrm flipV="1">
                <a:off x="2441" y="2422"/>
                <a:ext cx="31" cy="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8" name="Line 320"/>
              <p:cNvSpPr>
                <a:spLocks noChangeShapeType="1"/>
              </p:cNvSpPr>
              <p:nvPr/>
            </p:nvSpPr>
            <p:spPr bwMode="auto">
              <a:xfrm flipV="1">
                <a:off x="2306" y="2359"/>
                <a:ext cx="1" cy="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9" name="Line 321"/>
              <p:cNvSpPr>
                <a:spLocks noChangeShapeType="1"/>
              </p:cNvSpPr>
              <p:nvPr/>
            </p:nvSpPr>
            <p:spPr bwMode="auto">
              <a:xfrm flipV="1">
                <a:off x="2370" y="2359"/>
                <a:ext cx="1" cy="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0" name="Line 322"/>
              <p:cNvSpPr>
                <a:spLocks noChangeShapeType="1"/>
              </p:cNvSpPr>
              <p:nvPr/>
            </p:nvSpPr>
            <p:spPr bwMode="auto">
              <a:xfrm flipH="1" flipV="1">
                <a:off x="2307" y="2361"/>
                <a:ext cx="29" cy="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1" name="Line 323"/>
              <p:cNvSpPr>
                <a:spLocks noChangeShapeType="1"/>
              </p:cNvSpPr>
              <p:nvPr/>
            </p:nvSpPr>
            <p:spPr bwMode="auto">
              <a:xfrm flipV="1">
                <a:off x="2337" y="2361"/>
                <a:ext cx="30" cy="6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2" name="Rectangle 324"/>
              <p:cNvSpPr>
                <a:spLocks noChangeArrowheads="1"/>
              </p:cNvSpPr>
              <p:nvPr/>
            </p:nvSpPr>
            <p:spPr bwMode="auto">
              <a:xfrm>
                <a:off x="2111" y="2456"/>
                <a:ext cx="6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ko-KR" sz="600" b="1">
                    <a:solidFill>
                      <a:srgbClr val="000000"/>
                    </a:solidFill>
                    <a:latin typeface="Arial" charset="0"/>
                  </a:rPr>
                  <a:t>W</a:t>
                </a:r>
                <a:endParaRPr lang="en-US" altLang="ko-KR"/>
              </a:p>
            </p:txBody>
          </p:sp>
          <p:sp>
            <p:nvSpPr>
              <p:cNvPr id="2373" name="Rectangle 325"/>
              <p:cNvSpPr>
                <a:spLocks noChangeArrowheads="1"/>
              </p:cNvSpPr>
              <p:nvPr/>
            </p:nvSpPr>
            <p:spPr bwMode="auto">
              <a:xfrm>
                <a:off x="1873" y="2402"/>
                <a:ext cx="50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ko-KR" sz="600" b="1">
                    <a:solidFill>
                      <a:srgbClr val="000000"/>
                    </a:solidFill>
                    <a:latin typeface="Arial" charset="0"/>
                  </a:rPr>
                  <a:t>V</a:t>
                </a:r>
                <a:endParaRPr lang="en-US" altLang="ko-KR"/>
              </a:p>
            </p:txBody>
          </p:sp>
          <p:sp>
            <p:nvSpPr>
              <p:cNvPr id="2374" name="Rectangle 326"/>
              <p:cNvSpPr>
                <a:spLocks noChangeArrowheads="1"/>
              </p:cNvSpPr>
              <p:nvPr/>
            </p:nvSpPr>
            <p:spPr bwMode="auto">
              <a:xfrm>
                <a:off x="1682" y="2343"/>
                <a:ext cx="52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ko-KR" sz="600" b="1">
                    <a:solidFill>
                      <a:srgbClr val="000000"/>
                    </a:solidFill>
                    <a:latin typeface="Arial" charset="0"/>
                  </a:rPr>
                  <a:t>U</a:t>
                </a:r>
                <a:endParaRPr lang="en-US" altLang="ko-KR"/>
              </a:p>
            </p:txBody>
          </p:sp>
          <p:sp>
            <p:nvSpPr>
              <p:cNvPr id="2375" name="Freeform 327"/>
              <p:cNvSpPr>
                <a:spLocks/>
              </p:cNvSpPr>
              <p:nvPr/>
            </p:nvSpPr>
            <p:spPr bwMode="auto">
              <a:xfrm>
                <a:off x="2760" y="2338"/>
                <a:ext cx="222" cy="218"/>
              </a:xfrm>
              <a:custGeom>
                <a:avLst/>
                <a:gdLst/>
                <a:ahLst/>
                <a:cxnLst>
                  <a:cxn ang="0">
                    <a:pos x="0" y="109"/>
                  </a:cxn>
                  <a:cxn ang="0">
                    <a:pos x="3" y="85"/>
                  </a:cxn>
                  <a:cxn ang="0">
                    <a:pos x="10" y="64"/>
                  </a:cxn>
                  <a:cxn ang="0">
                    <a:pos x="22" y="44"/>
                  </a:cxn>
                  <a:cxn ang="0">
                    <a:pos x="38" y="27"/>
                  </a:cxn>
                  <a:cxn ang="0">
                    <a:pos x="55" y="13"/>
                  </a:cxn>
                  <a:cxn ang="0">
                    <a:pos x="76" y="4"/>
                  </a:cxn>
                  <a:cxn ang="0">
                    <a:pos x="99" y="0"/>
                  </a:cxn>
                  <a:cxn ang="0">
                    <a:pos x="123" y="0"/>
                  </a:cxn>
                  <a:cxn ang="0">
                    <a:pos x="146" y="4"/>
                  </a:cxn>
                  <a:cxn ang="0">
                    <a:pos x="167" y="13"/>
                  </a:cxn>
                  <a:cxn ang="0">
                    <a:pos x="185" y="27"/>
                  </a:cxn>
                  <a:cxn ang="0">
                    <a:pos x="201" y="44"/>
                  </a:cxn>
                  <a:cxn ang="0">
                    <a:pos x="211" y="64"/>
                  </a:cxn>
                  <a:cxn ang="0">
                    <a:pos x="220" y="85"/>
                  </a:cxn>
                  <a:cxn ang="0">
                    <a:pos x="222" y="109"/>
                  </a:cxn>
                  <a:cxn ang="0">
                    <a:pos x="220" y="131"/>
                  </a:cxn>
                  <a:cxn ang="0">
                    <a:pos x="211" y="154"/>
                  </a:cxn>
                  <a:cxn ang="0">
                    <a:pos x="201" y="172"/>
                  </a:cxn>
                  <a:cxn ang="0">
                    <a:pos x="185" y="190"/>
                  </a:cxn>
                  <a:cxn ang="0">
                    <a:pos x="167" y="204"/>
                  </a:cxn>
                  <a:cxn ang="0">
                    <a:pos x="146" y="213"/>
                  </a:cxn>
                  <a:cxn ang="0">
                    <a:pos x="123" y="218"/>
                  </a:cxn>
                  <a:cxn ang="0">
                    <a:pos x="99" y="218"/>
                  </a:cxn>
                  <a:cxn ang="0">
                    <a:pos x="76" y="213"/>
                  </a:cxn>
                  <a:cxn ang="0">
                    <a:pos x="55" y="204"/>
                  </a:cxn>
                  <a:cxn ang="0">
                    <a:pos x="38" y="190"/>
                  </a:cxn>
                  <a:cxn ang="0">
                    <a:pos x="22" y="172"/>
                  </a:cxn>
                  <a:cxn ang="0">
                    <a:pos x="10" y="154"/>
                  </a:cxn>
                  <a:cxn ang="0">
                    <a:pos x="3" y="131"/>
                  </a:cxn>
                  <a:cxn ang="0">
                    <a:pos x="0" y="109"/>
                  </a:cxn>
                </a:cxnLst>
                <a:rect l="0" t="0" r="r" b="b"/>
                <a:pathLst>
                  <a:path w="222" h="218">
                    <a:moveTo>
                      <a:pt x="0" y="109"/>
                    </a:moveTo>
                    <a:lnTo>
                      <a:pt x="3" y="85"/>
                    </a:lnTo>
                    <a:lnTo>
                      <a:pt x="10" y="64"/>
                    </a:lnTo>
                    <a:lnTo>
                      <a:pt x="22" y="44"/>
                    </a:lnTo>
                    <a:lnTo>
                      <a:pt x="38" y="27"/>
                    </a:lnTo>
                    <a:lnTo>
                      <a:pt x="55" y="13"/>
                    </a:lnTo>
                    <a:lnTo>
                      <a:pt x="76" y="4"/>
                    </a:lnTo>
                    <a:lnTo>
                      <a:pt x="99" y="0"/>
                    </a:lnTo>
                    <a:lnTo>
                      <a:pt x="123" y="0"/>
                    </a:lnTo>
                    <a:lnTo>
                      <a:pt x="146" y="4"/>
                    </a:lnTo>
                    <a:lnTo>
                      <a:pt x="167" y="13"/>
                    </a:lnTo>
                    <a:lnTo>
                      <a:pt x="185" y="27"/>
                    </a:lnTo>
                    <a:lnTo>
                      <a:pt x="201" y="44"/>
                    </a:lnTo>
                    <a:lnTo>
                      <a:pt x="211" y="64"/>
                    </a:lnTo>
                    <a:lnTo>
                      <a:pt x="220" y="85"/>
                    </a:lnTo>
                    <a:lnTo>
                      <a:pt x="222" y="109"/>
                    </a:lnTo>
                    <a:lnTo>
                      <a:pt x="220" y="131"/>
                    </a:lnTo>
                    <a:lnTo>
                      <a:pt x="211" y="154"/>
                    </a:lnTo>
                    <a:lnTo>
                      <a:pt x="201" y="172"/>
                    </a:lnTo>
                    <a:lnTo>
                      <a:pt x="185" y="190"/>
                    </a:lnTo>
                    <a:lnTo>
                      <a:pt x="167" y="204"/>
                    </a:lnTo>
                    <a:lnTo>
                      <a:pt x="146" y="213"/>
                    </a:lnTo>
                    <a:lnTo>
                      <a:pt x="123" y="218"/>
                    </a:lnTo>
                    <a:lnTo>
                      <a:pt x="99" y="218"/>
                    </a:lnTo>
                    <a:lnTo>
                      <a:pt x="76" y="213"/>
                    </a:lnTo>
                    <a:lnTo>
                      <a:pt x="55" y="204"/>
                    </a:lnTo>
                    <a:lnTo>
                      <a:pt x="38" y="190"/>
                    </a:lnTo>
                    <a:lnTo>
                      <a:pt x="22" y="172"/>
                    </a:lnTo>
                    <a:lnTo>
                      <a:pt x="10" y="154"/>
                    </a:lnTo>
                    <a:lnTo>
                      <a:pt x="3" y="131"/>
                    </a:lnTo>
                    <a:lnTo>
                      <a:pt x="0" y="109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6" name="Rectangle 328"/>
              <p:cNvSpPr>
                <a:spLocks noChangeArrowheads="1"/>
              </p:cNvSpPr>
              <p:nvPr/>
            </p:nvSpPr>
            <p:spPr bwMode="auto">
              <a:xfrm>
                <a:off x="2836" y="2412"/>
                <a:ext cx="91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ko-KR" sz="800">
                    <a:solidFill>
                      <a:srgbClr val="000000"/>
                    </a:solidFill>
                    <a:latin typeface="Arial" charset="0"/>
                  </a:rPr>
                  <a:t>IM</a:t>
                </a:r>
                <a:endParaRPr lang="en-US" altLang="ko-KR"/>
              </a:p>
            </p:txBody>
          </p:sp>
          <p:sp>
            <p:nvSpPr>
              <p:cNvPr id="2377" name="Rectangle 329"/>
              <p:cNvSpPr>
                <a:spLocks noChangeArrowheads="1"/>
              </p:cNvSpPr>
              <p:nvPr/>
            </p:nvSpPr>
            <p:spPr bwMode="auto">
              <a:xfrm>
                <a:off x="1071" y="3138"/>
                <a:ext cx="1061" cy="431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8" name="Line 330"/>
              <p:cNvSpPr>
                <a:spLocks noChangeShapeType="1"/>
              </p:cNvSpPr>
              <p:nvPr/>
            </p:nvSpPr>
            <p:spPr bwMode="auto">
              <a:xfrm flipH="1">
                <a:off x="917" y="2087"/>
                <a:ext cx="1174" cy="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9" name="Line 331"/>
              <p:cNvSpPr>
                <a:spLocks noChangeShapeType="1"/>
              </p:cNvSpPr>
              <p:nvPr/>
            </p:nvSpPr>
            <p:spPr bwMode="auto">
              <a:xfrm flipH="1">
                <a:off x="921" y="2834"/>
                <a:ext cx="117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0" name="Line 332"/>
              <p:cNvSpPr>
                <a:spLocks noChangeShapeType="1"/>
              </p:cNvSpPr>
              <p:nvPr/>
            </p:nvSpPr>
            <p:spPr bwMode="auto">
              <a:xfrm>
                <a:off x="996" y="2329"/>
                <a:ext cx="10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1" name="Freeform 333"/>
              <p:cNvSpPr>
                <a:spLocks/>
              </p:cNvSpPr>
              <p:nvPr/>
            </p:nvSpPr>
            <p:spPr bwMode="auto">
              <a:xfrm>
                <a:off x="995" y="2358"/>
                <a:ext cx="104" cy="13"/>
              </a:xfrm>
              <a:custGeom>
                <a:avLst/>
                <a:gdLst/>
                <a:ahLst/>
                <a:cxnLst>
                  <a:cxn ang="0">
                    <a:pos x="0" y="13"/>
                  </a:cxn>
                  <a:cxn ang="0">
                    <a:pos x="20" y="5"/>
                  </a:cxn>
                  <a:cxn ang="0">
                    <a:pos x="41" y="0"/>
                  </a:cxn>
                  <a:cxn ang="0">
                    <a:pos x="63" y="0"/>
                  </a:cxn>
                  <a:cxn ang="0">
                    <a:pos x="84" y="5"/>
                  </a:cxn>
                  <a:cxn ang="0">
                    <a:pos x="104" y="13"/>
                  </a:cxn>
                </a:cxnLst>
                <a:rect l="0" t="0" r="r" b="b"/>
                <a:pathLst>
                  <a:path w="104" h="13">
                    <a:moveTo>
                      <a:pt x="0" y="13"/>
                    </a:moveTo>
                    <a:lnTo>
                      <a:pt x="20" y="5"/>
                    </a:lnTo>
                    <a:lnTo>
                      <a:pt x="41" y="0"/>
                    </a:lnTo>
                    <a:lnTo>
                      <a:pt x="63" y="0"/>
                    </a:lnTo>
                    <a:lnTo>
                      <a:pt x="84" y="5"/>
                    </a:lnTo>
                    <a:lnTo>
                      <a:pt x="104" y="13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2" name="Line 334"/>
              <p:cNvSpPr>
                <a:spLocks noChangeShapeType="1"/>
              </p:cNvSpPr>
              <p:nvPr/>
            </p:nvSpPr>
            <p:spPr bwMode="auto">
              <a:xfrm>
                <a:off x="996" y="2552"/>
                <a:ext cx="10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3" name="Freeform 335"/>
              <p:cNvSpPr>
                <a:spLocks/>
              </p:cNvSpPr>
              <p:nvPr/>
            </p:nvSpPr>
            <p:spPr bwMode="auto">
              <a:xfrm>
                <a:off x="995" y="2582"/>
                <a:ext cx="104" cy="11"/>
              </a:xfrm>
              <a:custGeom>
                <a:avLst/>
                <a:gdLst/>
                <a:ahLst/>
                <a:cxnLst>
                  <a:cxn ang="0">
                    <a:pos x="0" y="11"/>
                  </a:cxn>
                  <a:cxn ang="0">
                    <a:pos x="20" y="4"/>
                  </a:cxn>
                  <a:cxn ang="0">
                    <a:pos x="41" y="0"/>
                  </a:cxn>
                  <a:cxn ang="0">
                    <a:pos x="63" y="0"/>
                  </a:cxn>
                  <a:cxn ang="0">
                    <a:pos x="84" y="4"/>
                  </a:cxn>
                  <a:cxn ang="0">
                    <a:pos x="104" y="11"/>
                  </a:cxn>
                </a:cxnLst>
                <a:rect l="0" t="0" r="r" b="b"/>
                <a:pathLst>
                  <a:path w="104" h="11">
                    <a:moveTo>
                      <a:pt x="0" y="11"/>
                    </a:moveTo>
                    <a:lnTo>
                      <a:pt x="20" y="4"/>
                    </a:lnTo>
                    <a:lnTo>
                      <a:pt x="41" y="0"/>
                    </a:lnTo>
                    <a:lnTo>
                      <a:pt x="63" y="0"/>
                    </a:lnTo>
                    <a:lnTo>
                      <a:pt x="84" y="4"/>
                    </a:lnTo>
                    <a:lnTo>
                      <a:pt x="104" y="1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4" name="Line 336"/>
              <p:cNvSpPr>
                <a:spLocks noChangeShapeType="1"/>
              </p:cNvSpPr>
              <p:nvPr/>
            </p:nvSpPr>
            <p:spPr bwMode="auto">
              <a:xfrm flipV="1">
                <a:off x="1047" y="2087"/>
                <a:ext cx="1" cy="24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5" name="Line 337"/>
              <p:cNvSpPr>
                <a:spLocks noChangeShapeType="1"/>
              </p:cNvSpPr>
              <p:nvPr/>
            </p:nvSpPr>
            <p:spPr bwMode="auto">
              <a:xfrm flipV="1">
                <a:off x="1047" y="2585"/>
                <a:ext cx="1" cy="248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6" name="Line 338"/>
              <p:cNvSpPr>
                <a:spLocks noChangeShapeType="1"/>
              </p:cNvSpPr>
              <p:nvPr/>
            </p:nvSpPr>
            <p:spPr bwMode="auto">
              <a:xfrm>
                <a:off x="1047" y="2363"/>
                <a:ext cx="1" cy="18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7" name="Rectangle 339"/>
              <p:cNvSpPr>
                <a:spLocks noChangeArrowheads="1"/>
              </p:cNvSpPr>
              <p:nvPr/>
            </p:nvSpPr>
            <p:spPr bwMode="auto">
              <a:xfrm>
                <a:off x="638" y="2049"/>
                <a:ext cx="304" cy="833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8" name="Freeform 340"/>
              <p:cNvSpPr>
                <a:spLocks/>
              </p:cNvSpPr>
              <p:nvPr/>
            </p:nvSpPr>
            <p:spPr bwMode="auto">
              <a:xfrm>
                <a:off x="205" y="2342"/>
                <a:ext cx="221" cy="217"/>
              </a:xfrm>
              <a:custGeom>
                <a:avLst/>
                <a:gdLst/>
                <a:ahLst/>
                <a:cxnLst>
                  <a:cxn ang="0">
                    <a:pos x="0" y="109"/>
                  </a:cxn>
                  <a:cxn ang="0">
                    <a:pos x="3" y="86"/>
                  </a:cxn>
                  <a:cxn ang="0">
                    <a:pos x="10" y="65"/>
                  </a:cxn>
                  <a:cxn ang="0">
                    <a:pos x="21" y="45"/>
                  </a:cxn>
                  <a:cxn ang="0">
                    <a:pos x="36" y="28"/>
                  </a:cxn>
                  <a:cxn ang="0">
                    <a:pos x="55" y="14"/>
                  </a:cxn>
                  <a:cxn ang="0">
                    <a:pos x="76" y="4"/>
                  </a:cxn>
                  <a:cxn ang="0">
                    <a:pos x="99" y="0"/>
                  </a:cxn>
                  <a:cxn ang="0">
                    <a:pos x="123" y="0"/>
                  </a:cxn>
                  <a:cxn ang="0">
                    <a:pos x="145" y="4"/>
                  </a:cxn>
                  <a:cxn ang="0">
                    <a:pos x="166" y="14"/>
                  </a:cxn>
                  <a:cxn ang="0">
                    <a:pos x="185" y="28"/>
                  </a:cxn>
                  <a:cxn ang="0">
                    <a:pos x="200" y="45"/>
                  </a:cxn>
                  <a:cxn ang="0">
                    <a:pos x="213" y="65"/>
                  </a:cxn>
                  <a:cxn ang="0">
                    <a:pos x="218" y="86"/>
                  </a:cxn>
                  <a:cxn ang="0">
                    <a:pos x="221" y="109"/>
                  </a:cxn>
                  <a:cxn ang="0">
                    <a:pos x="218" y="132"/>
                  </a:cxn>
                  <a:cxn ang="0">
                    <a:pos x="213" y="154"/>
                  </a:cxn>
                  <a:cxn ang="0">
                    <a:pos x="200" y="173"/>
                  </a:cxn>
                  <a:cxn ang="0">
                    <a:pos x="185" y="190"/>
                  </a:cxn>
                  <a:cxn ang="0">
                    <a:pos x="166" y="204"/>
                  </a:cxn>
                  <a:cxn ang="0">
                    <a:pos x="145" y="214"/>
                  </a:cxn>
                  <a:cxn ang="0">
                    <a:pos x="123" y="217"/>
                  </a:cxn>
                  <a:cxn ang="0">
                    <a:pos x="99" y="217"/>
                  </a:cxn>
                  <a:cxn ang="0">
                    <a:pos x="76" y="214"/>
                  </a:cxn>
                  <a:cxn ang="0">
                    <a:pos x="55" y="204"/>
                  </a:cxn>
                  <a:cxn ang="0">
                    <a:pos x="36" y="190"/>
                  </a:cxn>
                  <a:cxn ang="0">
                    <a:pos x="21" y="173"/>
                  </a:cxn>
                  <a:cxn ang="0">
                    <a:pos x="10" y="154"/>
                  </a:cxn>
                  <a:cxn ang="0">
                    <a:pos x="3" y="132"/>
                  </a:cxn>
                  <a:cxn ang="0">
                    <a:pos x="0" y="109"/>
                  </a:cxn>
                </a:cxnLst>
                <a:rect l="0" t="0" r="r" b="b"/>
                <a:pathLst>
                  <a:path w="221" h="217">
                    <a:moveTo>
                      <a:pt x="0" y="109"/>
                    </a:moveTo>
                    <a:lnTo>
                      <a:pt x="3" y="86"/>
                    </a:lnTo>
                    <a:lnTo>
                      <a:pt x="10" y="65"/>
                    </a:lnTo>
                    <a:lnTo>
                      <a:pt x="21" y="45"/>
                    </a:lnTo>
                    <a:lnTo>
                      <a:pt x="36" y="28"/>
                    </a:lnTo>
                    <a:lnTo>
                      <a:pt x="55" y="14"/>
                    </a:lnTo>
                    <a:lnTo>
                      <a:pt x="76" y="4"/>
                    </a:lnTo>
                    <a:lnTo>
                      <a:pt x="99" y="0"/>
                    </a:lnTo>
                    <a:lnTo>
                      <a:pt x="123" y="0"/>
                    </a:lnTo>
                    <a:lnTo>
                      <a:pt x="145" y="4"/>
                    </a:lnTo>
                    <a:lnTo>
                      <a:pt x="166" y="14"/>
                    </a:lnTo>
                    <a:lnTo>
                      <a:pt x="185" y="28"/>
                    </a:lnTo>
                    <a:lnTo>
                      <a:pt x="200" y="45"/>
                    </a:lnTo>
                    <a:lnTo>
                      <a:pt x="213" y="65"/>
                    </a:lnTo>
                    <a:lnTo>
                      <a:pt x="218" y="86"/>
                    </a:lnTo>
                    <a:lnTo>
                      <a:pt x="221" y="109"/>
                    </a:lnTo>
                    <a:lnTo>
                      <a:pt x="218" y="132"/>
                    </a:lnTo>
                    <a:lnTo>
                      <a:pt x="213" y="154"/>
                    </a:lnTo>
                    <a:lnTo>
                      <a:pt x="200" y="173"/>
                    </a:lnTo>
                    <a:lnTo>
                      <a:pt x="185" y="190"/>
                    </a:lnTo>
                    <a:lnTo>
                      <a:pt x="166" y="204"/>
                    </a:lnTo>
                    <a:lnTo>
                      <a:pt x="145" y="214"/>
                    </a:lnTo>
                    <a:lnTo>
                      <a:pt x="123" y="217"/>
                    </a:lnTo>
                    <a:lnTo>
                      <a:pt x="99" y="217"/>
                    </a:lnTo>
                    <a:lnTo>
                      <a:pt x="76" y="214"/>
                    </a:lnTo>
                    <a:lnTo>
                      <a:pt x="55" y="204"/>
                    </a:lnTo>
                    <a:lnTo>
                      <a:pt x="36" y="190"/>
                    </a:lnTo>
                    <a:lnTo>
                      <a:pt x="21" y="173"/>
                    </a:lnTo>
                    <a:lnTo>
                      <a:pt x="10" y="154"/>
                    </a:lnTo>
                    <a:lnTo>
                      <a:pt x="3" y="132"/>
                    </a:lnTo>
                    <a:lnTo>
                      <a:pt x="0" y="109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9" name="Line 341"/>
              <p:cNvSpPr>
                <a:spLocks noChangeShapeType="1"/>
              </p:cNvSpPr>
              <p:nvPr/>
            </p:nvSpPr>
            <p:spPr bwMode="auto">
              <a:xfrm flipH="1">
                <a:off x="426" y="2451"/>
                <a:ext cx="21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0" name="Line 342"/>
              <p:cNvSpPr>
                <a:spLocks noChangeShapeType="1"/>
              </p:cNvSpPr>
              <p:nvPr/>
            </p:nvSpPr>
            <p:spPr bwMode="auto">
              <a:xfrm flipH="1">
                <a:off x="397" y="2378"/>
                <a:ext cx="24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1" name="Line 343"/>
              <p:cNvSpPr>
                <a:spLocks noChangeShapeType="1"/>
              </p:cNvSpPr>
              <p:nvPr/>
            </p:nvSpPr>
            <p:spPr bwMode="auto">
              <a:xfrm flipH="1">
                <a:off x="397" y="2524"/>
                <a:ext cx="24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2" name="Freeform 344"/>
              <p:cNvSpPr>
                <a:spLocks/>
              </p:cNvSpPr>
              <p:nvPr/>
            </p:nvSpPr>
            <p:spPr bwMode="auto">
              <a:xfrm>
                <a:off x="272" y="2412"/>
                <a:ext cx="44" cy="11"/>
              </a:xfrm>
              <a:custGeom>
                <a:avLst/>
                <a:gdLst/>
                <a:ahLst/>
                <a:cxnLst>
                  <a:cxn ang="0">
                    <a:pos x="44" y="11"/>
                  </a:cxn>
                  <a:cxn ang="0">
                    <a:pos x="36" y="4"/>
                  </a:cxn>
                  <a:cxn ang="0">
                    <a:pos x="27" y="0"/>
                  </a:cxn>
                  <a:cxn ang="0">
                    <a:pos x="17" y="0"/>
                  </a:cxn>
                  <a:cxn ang="0">
                    <a:pos x="7" y="4"/>
                  </a:cxn>
                  <a:cxn ang="0">
                    <a:pos x="0" y="11"/>
                  </a:cxn>
                </a:cxnLst>
                <a:rect l="0" t="0" r="r" b="b"/>
                <a:pathLst>
                  <a:path w="44" h="11">
                    <a:moveTo>
                      <a:pt x="44" y="11"/>
                    </a:moveTo>
                    <a:lnTo>
                      <a:pt x="36" y="4"/>
                    </a:lnTo>
                    <a:lnTo>
                      <a:pt x="27" y="0"/>
                    </a:lnTo>
                    <a:lnTo>
                      <a:pt x="17" y="0"/>
                    </a:lnTo>
                    <a:lnTo>
                      <a:pt x="7" y="4"/>
                    </a:lnTo>
                    <a:lnTo>
                      <a:pt x="0" y="1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3" name="Freeform 345"/>
              <p:cNvSpPr>
                <a:spLocks/>
              </p:cNvSpPr>
              <p:nvPr/>
            </p:nvSpPr>
            <p:spPr bwMode="auto">
              <a:xfrm>
                <a:off x="316" y="2423"/>
                <a:ext cx="44" cy="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5"/>
                  </a:cxn>
                  <a:cxn ang="0">
                    <a:pos x="22" y="8"/>
                  </a:cxn>
                  <a:cxn ang="0">
                    <a:pos x="34" y="5"/>
                  </a:cxn>
                  <a:cxn ang="0">
                    <a:pos x="44" y="0"/>
                  </a:cxn>
                </a:cxnLst>
                <a:rect l="0" t="0" r="r" b="b"/>
                <a:pathLst>
                  <a:path w="44" h="8">
                    <a:moveTo>
                      <a:pt x="0" y="0"/>
                    </a:moveTo>
                    <a:lnTo>
                      <a:pt x="10" y="5"/>
                    </a:lnTo>
                    <a:lnTo>
                      <a:pt x="22" y="8"/>
                    </a:lnTo>
                    <a:lnTo>
                      <a:pt x="34" y="5"/>
                    </a:lnTo>
                    <a:lnTo>
                      <a:pt x="44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4" name="Freeform 346"/>
              <p:cNvSpPr>
                <a:spLocks/>
              </p:cNvSpPr>
              <p:nvPr/>
            </p:nvSpPr>
            <p:spPr bwMode="auto">
              <a:xfrm>
                <a:off x="272" y="2441"/>
                <a:ext cx="44" cy="10"/>
              </a:xfrm>
              <a:custGeom>
                <a:avLst/>
                <a:gdLst/>
                <a:ahLst/>
                <a:cxnLst>
                  <a:cxn ang="0">
                    <a:pos x="44" y="10"/>
                  </a:cxn>
                  <a:cxn ang="0">
                    <a:pos x="36" y="4"/>
                  </a:cxn>
                  <a:cxn ang="0">
                    <a:pos x="27" y="0"/>
                  </a:cxn>
                  <a:cxn ang="0">
                    <a:pos x="17" y="0"/>
                  </a:cxn>
                  <a:cxn ang="0">
                    <a:pos x="7" y="4"/>
                  </a:cxn>
                  <a:cxn ang="0">
                    <a:pos x="0" y="10"/>
                  </a:cxn>
                </a:cxnLst>
                <a:rect l="0" t="0" r="r" b="b"/>
                <a:pathLst>
                  <a:path w="44" h="10">
                    <a:moveTo>
                      <a:pt x="44" y="10"/>
                    </a:moveTo>
                    <a:lnTo>
                      <a:pt x="36" y="4"/>
                    </a:lnTo>
                    <a:lnTo>
                      <a:pt x="27" y="0"/>
                    </a:lnTo>
                    <a:lnTo>
                      <a:pt x="17" y="0"/>
                    </a:lnTo>
                    <a:lnTo>
                      <a:pt x="7" y="4"/>
                    </a:lnTo>
                    <a:lnTo>
                      <a:pt x="0" y="1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5" name="Freeform 347"/>
              <p:cNvSpPr>
                <a:spLocks/>
              </p:cNvSpPr>
              <p:nvPr/>
            </p:nvSpPr>
            <p:spPr bwMode="auto">
              <a:xfrm>
                <a:off x="316" y="2451"/>
                <a:ext cx="44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7"/>
                  </a:cxn>
                  <a:cxn ang="0">
                    <a:pos x="22" y="9"/>
                  </a:cxn>
                  <a:cxn ang="0">
                    <a:pos x="34" y="7"/>
                  </a:cxn>
                  <a:cxn ang="0">
                    <a:pos x="44" y="0"/>
                  </a:cxn>
                </a:cxnLst>
                <a:rect l="0" t="0" r="r" b="b"/>
                <a:pathLst>
                  <a:path w="44" h="9">
                    <a:moveTo>
                      <a:pt x="0" y="0"/>
                    </a:moveTo>
                    <a:lnTo>
                      <a:pt x="10" y="7"/>
                    </a:lnTo>
                    <a:lnTo>
                      <a:pt x="22" y="9"/>
                    </a:lnTo>
                    <a:lnTo>
                      <a:pt x="34" y="7"/>
                    </a:lnTo>
                    <a:lnTo>
                      <a:pt x="44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6" name="Freeform 348"/>
              <p:cNvSpPr>
                <a:spLocks/>
              </p:cNvSpPr>
              <p:nvPr/>
            </p:nvSpPr>
            <p:spPr bwMode="auto">
              <a:xfrm>
                <a:off x="272" y="2469"/>
                <a:ext cx="44" cy="11"/>
              </a:xfrm>
              <a:custGeom>
                <a:avLst/>
                <a:gdLst/>
                <a:ahLst/>
                <a:cxnLst>
                  <a:cxn ang="0">
                    <a:pos x="44" y="11"/>
                  </a:cxn>
                  <a:cxn ang="0">
                    <a:pos x="36" y="4"/>
                  </a:cxn>
                  <a:cxn ang="0">
                    <a:pos x="27" y="0"/>
                  </a:cxn>
                  <a:cxn ang="0">
                    <a:pos x="17" y="0"/>
                  </a:cxn>
                  <a:cxn ang="0">
                    <a:pos x="7" y="4"/>
                  </a:cxn>
                  <a:cxn ang="0">
                    <a:pos x="0" y="11"/>
                  </a:cxn>
                </a:cxnLst>
                <a:rect l="0" t="0" r="r" b="b"/>
                <a:pathLst>
                  <a:path w="44" h="11">
                    <a:moveTo>
                      <a:pt x="44" y="11"/>
                    </a:moveTo>
                    <a:lnTo>
                      <a:pt x="36" y="4"/>
                    </a:lnTo>
                    <a:lnTo>
                      <a:pt x="27" y="0"/>
                    </a:lnTo>
                    <a:lnTo>
                      <a:pt x="17" y="0"/>
                    </a:lnTo>
                    <a:lnTo>
                      <a:pt x="7" y="4"/>
                    </a:lnTo>
                    <a:lnTo>
                      <a:pt x="0" y="1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7" name="Freeform 349"/>
              <p:cNvSpPr>
                <a:spLocks/>
              </p:cNvSpPr>
              <p:nvPr/>
            </p:nvSpPr>
            <p:spPr bwMode="auto">
              <a:xfrm>
                <a:off x="316" y="2480"/>
                <a:ext cx="44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5"/>
                  </a:cxn>
                  <a:cxn ang="0">
                    <a:pos x="22" y="9"/>
                  </a:cxn>
                  <a:cxn ang="0">
                    <a:pos x="34" y="5"/>
                  </a:cxn>
                  <a:cxn ang="0">
                    <a:pos x="44" y="0"/>
                  </a:cxn>
                </a:cxnLst>
                <a:rect l="0" t="0" r="r" b="b"/>
                <a:pathLst>
                  <a:path w="44" h="9">
                    <a:moveTo>
                      <a:pt x="0" y="0"/>
                    </a:moveTo>
                    <a:lnTo>
                      <a:pt x="10" y="5"/>
                    </a:lnTo>
                    <a:lnTo>
                      <a:pt x="22" y="9"/>
                    </a:lnTo>
                    <a:lnTo>
                      <a:pt x="34" y="5"/>
                    </a:lnTo>
                    <a:lnTo>
                      <a:pt x="44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8" name="Line 350"/>
              <p:cNvSpPr>
                <a:spLocks noChangeShapeType="1"/>
              </p:cNvSpPr>
              <p:nvPr/>
            </p:nvSpPr>
            <p:spPr bwMode="auto">
              <a:xfrm>
                <a:off x="2676" y="2396"/>
                <a:ext cx="8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9" name="Freeform 351"/>
              <p:cNvSpPr>
                <a:spLocks/>
              </p:cNvSpPr>
              <p:nvPr/>
            </p:nvSpPr>
            <p:spPr bwMode="auto">
              <a:xfrm>
                <a:off x="2499" y="2373"/>
                <a:ext cx="177" cy="23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4" y="14"/>
                  </a:cxn>
                  <a:cxn ang="0">
                    <a:pos x="7" y="8"/>
                  </a:cxn>
                  <a:cxn ang="0">
                    <a:pos x="15" y="3"/>
                  </a:cxn>
                  <a:cxn ang="0">
                    <a:pos x="23" y="0"/>
                  </a:cxn>
                  <a:cxn ang="0">
                    <a:pos x="32" y="3"/>
                  </a:cxn>
                  <a:cxn ang="0">
                    <a:pos x="39" y="8"/>
                  </a:cxn>
                  <a:cxn ang="0">
                    <a:pos x="43" y="14"/>
                  </a:cxn>
                  <a:cxn ang="0">
                    <a:pos x="46" y="23"/>
                  </a:cxn>
                  <a:cxn ang="0">
                    <a:pos x="47" y="14"/>
                  </a:cxn>
                  <a:cxn ang="0">
                    <a:pos x="52" y="8"/>
                  </a:cxn>
                  <a:cxn ang="0">
                    <a:pos x="59" y="3"/>
                  </a:cxn>
                  <a:cxn ang="0">
                    <a:pos x="67" y="0"/>
                  </a:cxn>
                  <a:cxn ang="0">
                    <a:pos x="75" y="3"/>
                  </a:cxn>
                  <a:cxn ang="0">
                    <a:pos x="83" y="8"/>
                  </a:cxn>
                  <a:cxn ang="0">
                    <a:pos x="88" y="14"/>
                  </a:cxn>
                  <a:cxn ang="0">
                    <a:pos x="89" y="23"/>
                  </a:cxn>
                  <a:cxn ang="0">
                    <a:pos x="91" y="14"/>
                  </a:cxn>
                  <a:cxn ang="0">
                    <a:pos x="96" y="8"/>
                  </a:cxn>
                  <a:cxn ang="0">
                    <a:pos x="103" y="3"/>
                  </a:cxn>
                  <a:cxn ang="0">
                    <a:pos x="112" y="0"/>
                  </a:cxn>
                  <a:cxn ang="0">
                    <a:pos x="121" y="3"/>
                  </a:cxn>
                  <a:cxn ang="0">
                    <a:pos x="127" y="8"/>
                  </a:cxn>
                  <a:cxn ang="0">
                    <a:pos x="131" y="14"/>
                  </a:cxn>
                  <a:cxn ang="0">
                    <a:pos x="134" y="23"/>
                  </a:cxn>
                  <a:cxn ang="0">
                    <a:pos x="136" y="14"/>
                  </a:cxn>
                  <a:cxn ang="0">
                    <a:pos x="140" y="8"/>
                  </a:cxn>
                  <a:cxn ang="0">
                    <a:pos x="147" y="3"/>
                  </a:cxn>
                  <a:cxn ang="0">
                    <a:pos x="154" y="0"/>
                  </a:cxn>
                  <a:cxn ang="0">
                    <a:pos x="163" y="3"/>
                  </a:cxn>
                  <a:cxn ang="0">
                    <a:pos x="171" y="8"/>
                  </a:cxn>
                  <a:cxn ang="0">
                    <a:pos x="176" y="14"/>
                  </a:cxn>
                  <a:cxn ang="0">
                    <a:pos x="177" y="23"/>
                  </a:cxn>
                </a:cxnLst>
                <a:rect l="0" t="0" r="r" b="b"/>
                <a:pathLst>
                  <a:path w="177" h="23">
                    <a:moveTo>
                      <a:pt x="0" y="23"/>
                    </a:moveTo>
                    <a:lnTo>
                      <a:pt x="4" y="14"/>
                    </a:lnTo>
                    <a:lnTo>
                      <a:pt x="7" y="8"/>
                    </a:lnTo>
                    <a:lnTo>
                      <a:pt x="15" y="3"/>
                    </a:lnTo>
                    <a:lnTo>
                      <a:pt x="23" y="0"/>
                    </a:lnTo>
                    <a:lnTo>
                      <a:pt x="32" y="3"/>
                    </a:lnTo>
                    <a:lnTo>
                      <a:pt x="39" y="8"/>
                    </a:lnTo>
                    <a:lnTo>
                      <a:pt x="43" y="14"/>
                    </a:lnTo>
                    <a:lnTo>
                      <a:pt x="46" y="23"/>
                    </a:lnTo>
                    <a:lnTo>
                      <a:pt x="47" y="14"/>
                    </a:lnTo>
                    <a:lnTo>
                      <a:pt x="52" y="8"/>
                    </a:lnTo>
                    <a:lnTo>
                      <a:pt x="59" y="3"/>
                    </a:lnTo>
                    <a:lnTo>
                      <a:pt x="67" y="0"/>
                    </a:lnTo>
                    <a:lnTo>
                      <a:pt x="75" y="3"/>
                    </a:lnTo>
                    <a:lnTo>
                      <a:pt x="83" y="8"/>
                    </a:lnTo>
                    <a:lnTo>
                      <a:pt x="88" y="14"/>
                    </a:lnTo>
                    <a:lnTo>
                      <a:pt x="89" y="23"/>
                    </a:lnTo>
                    <a:lnTo>
                      <a:pt x="91" y="14"/>
                    </a:lnTo>
                    <a:lnTo>
                      <a:pt x="96" y="8"/>
                    </a:lnTo>
                    <a:lnTo>
                      <a:pt x="103" y="3"/>
                    </a:lnTo>
                    <a:lnTo>
                      <a:pt x="112" y="0"/>
                    </a:lnTo>
                    <a:lnTo>
                      <a:pt x="121" y="3"/>
                    </a:lnTo>
                    <a:lnTo>
                      <a:pt x="127" y="8"/>
                    </a:lnTo>
                    <a:lnTo>
                      <a:pt x="131" y="14"/>
                    </a:lnTo>
                    <a:lnTo>
                      <a:pt x="134" y="23"/>
                    </a:lnTo>
                    <a:lnTo>
                      <a:pt x="136" y="14"/>
                    </a:lnTo>
                    <a:lnTo>
                      <a:pt x="140" y="8"/>
                    </a:lnTo>
                    <a:lnTo>
                      <a:pt x="147" y="3"/>
                    </a:lnTo>
                    <a:lnTo>
                      <a:pt x="154" y="0"/>
                    </a:lnTo>
                    <a:lnTo>
                      <a:pt x="163" y="3"/>
                    </a:lnTo>
                    <a:lnTo>
                      <a:pt x="171" y="8"/>
                    </a:lnTo>
                    <a:lnTo>
                      <a:pt x="176" y="14"/>
                    </a:lnTo>
                    <a:lnTo>
                      <a:pt x="177" y="23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0" name="Line 352"/>
              <p:cNvSpPr>
                <a:spLocks noChangeShapeType="1"/>
              </p:cNvSpPr>
              <p:nvPr/>
            </p:nvSpPr>
            <p:spPr bwMode="auto">
              <a:xfrm>
                <a:off x="2675" y="2454"/>
                <a:ext cx="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1" name="Freeform 353"/>
              <p:cNvSpPr>
                <a:spLocks/>
              </p:cNvSpPr>
              <p:nvPr/>
            </p:nvSpPr>
            <p:spPr bwMode="auto">
              <a:xfrm>
                <a:off x="2499" y="2432"/>
                <a:ext cx="176" cy="2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1" y="15"/>
                  </a:cxn>
                  <a:cxn ang="0">
                    <a:pos x="7" y="7"/>
                  </a:cxn>
                  <a:cxn ang="0">
                    <a:pos x="15" y="3"/>
                  </a:cxn>
                  <a:cxn ang="0">
                    <a:pos x="22" y="0"/>
                  </a:cxn>
                  <a:cxn ang="0">
                    <a:pos x="31" y="3"/>
                  </a:cxn>
                  <a:cxn ang="0">
                    <a:pos x="39" y="7"/>
                  </a:cxn>
                  <a:cxn ang="0">
                    <a:pos x="43" y="15"/>
                  </a:cxn>
                  <a:cxn ang="0">
                    <a:pos x="45" y="22"/>
                  </a:cxn>
                  <a:cxn ang="0">
                    <a:pos x="46" y="15"/>
                  </a:cxn>
                  <a:cxn ang="0">
                    <a:pos x="50" y="7"/>
                  </a:cxn>
                  <a:cxn ang="0">
                    <a:pos x="58" y="3"/>
                  </a:cxn>
                  <a:cxn ang="0">
                    <a:pos x="67" y="0"/>
                  </a:cxn>
                  <a:cxn ang="0">
                    <a:pos x="75" y="3"/>
                  </a:cxn>
                  <a:cxn ang="0">
                    <a:pos x="82" y="7"/>
                  </a:cxn>
                  <a:cxn ang="0">
                    <a:pos x="87" y="15"/>
                  </a:cxn>
                  <a:cxn ang="0">
                    <a:pos x="88" y="22"/>
                  </a:cxn>
                  <a:cxn ang="0">
                    <a:pos x="91" y="15"/>
                  </a:cxn>
                  <a:cxn ang="0">
                    <a:pos x="96" y="7"/>
                  </a:cxn>
                  <a:cxn ang="0">
                    <a:pos x="102" y="3"/>
                  </a:cxn>
                  <a:cxn ang="0">
                    <a:pos x="111" y="0"/>
                  </a:cxn>
                  <a:cxn ang="0">
                    <a:pos x="120" y="3"/>
                  </a:cxn>
                  <a:cxn ang="0">
                    <a:pos x="127" y="7"/>
                  </a:cxn>
                  <a:cxn ang="0">
                    <a:pos x="131" y="15"/>
                  </a:cxn>
                  <a:cxn ang="0">
                    <a:pos x="132" y="22"/>
                  </a:cxn>
                  <a:cxn ang="0">
                    <a:pos x="134" y="15"/>
                  </a:cxn>
                  <a:cxn ang="0">
                    <a:pos x="139" y="7"/>
                  </a:cxn>
                  <a:cxn ang="0">
                    <a:pos x="147" y="3"/>
                  </a:cxn>
                  <a:cxn ang="0">
                    <a:pos x="154" y="0"/>
                  </a:cxn>
                  <a:cxn ang="0">
                    <a:pos x="162" y="3"/>
                  </a:cxn>
                  <a:cxn ang="0">
                    <a:pos x="170" y="7"/>
                  </a:cxn>
                  <a:cxn ang="0">
                    <a:pos x="175" y="15"/>
                  </a:cxn>
                  <a:cxn ang="0">
                    <a:pos x="176" y="22"/>
                  </a:cxn>
                </a:cxnLst>
                <a:rect l="0" t="0" r="r" b="b"/>
                <a:pathLst>
                  <a:path w="176" h="22">
                    <a:moveTo>
                      <a:pt x="0" y="22"/>
                    </a:moveTo>
                    <a:lnTo>
                      <a:pt x="1" y="15"/>
                    </a:lnTo>
                    <a:lnTo>
                      <a:pt x="7" y="7"/>
                    </a:lnTo>
                    <a:lnTo>
                      <a:pt x="15" y="3"/>
                    </a:lnTo>
                    <a:lnTo>
                      <a:pt x="22" y="0"/>
                    </a:lnTo>
                    <a:lnTo>
                      <a:pt x="31" y="3"/>
                    </a:lnTo>
                    <a:lnTo>
                      <a:pt x="39" y="7"/>
                    </a:lnTo>
                    <a:lnTo>
                      <a:pt x="43" y="15"/>
                    </a:lnTo>
                    <a:lnTo>
                      <a:pt x="45" y="22"/>
                    </a:lnTo>
                    <a:lnTo>
                      <a:pt x="46" y="15"/>
                    </a:lnTo>
                    <a:lnTo>
                      <a:pt x="50" y="7"/>
                    </a:lnTo>
                    <a:lnTo>
                      <a:pt x="58" y="3"/>
                    </a:lnTo>
                    <a:lnTo>
                      <a:pt x="67" y="0"/>
                    </a:lnTo>
                    <a:lnTo>
                      <a:pt x="75" y="3"/>
                    </a:lnTo>
                    <a:lnTo>
                      <a:pt x="82" y="7"/>
                    </a:lnTo>
                    <a:lnTo>
                      <a:pt x="87" y="15"/>
                    </a:lnTo>
                    <a:lnTo>
                      <a:pt x="88" y="22"/>
                    </a:lnTo>
                    <a:lnTo>
                      <a:pt x="91" y="15"/>
                    </a:lnTo>
                    <a:lnTo>
                      <a:pt x="96" y="7"/>
                    </a:lnTo>
                    <a:lnTo>
                      <a:pt x="102" y="3"/>
                    </a:lnTo>
                    <a:lnTo>
                      <a:pt x="111" y="0"/>
                    </a:lnTo>
                    <a:lnTo>
                      <a:pt x="120" y="3"/>
                    </a:lnTo>
                    <a:lnTo>
                      <a:pt x="127" y="7"/>
                    </a:lnTo>
                    <a:lnTo>
                      <a:pt x="131" y="15"/>
                    </a:lnTo>
                    <a:lnTo>
                      <a:pt x="132" y="22"/>
                    </a:lnTo>
                    <a:lnTo>
                      <a:pt x="134" y="15"/>
                    </a:lnTo>
                    <a:lnTo>
                      <a:pt x="139" y="7"/>
                    </a:lnTo>
                    <a:lnTo>
                      <a:pt x="147" y="3"/>
                    </a:lnTo>
                    <a:lnTo>
                      <a:pt x="154" y="0"/>
                    </a:lnTo>
                    <a:lnTo>
                      <a:pt x="162" y="3"/>
                    </a:lnTo>
                    <a:lnTo>
                      <a:pt x="170" y="7"/>
                    </a:lnTo>
                    <a:lnTo>
                      <a:pt x="175" y="15"/>
                    </a:lnTo>
                    <a:lnTo>
                      <a:pt x="176" y="22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2" name="Line 354"/>
              <p:cNvSpPr>
                <a:spLocks noChangeShapeType="1"/>
              </p:cNvSpPr>
              <p:nvPr/>
            </p:nvSpPr>
            <p:spPr bwMode="auto">
              <a:xfrm>
                <a:off x="2674" y="2512"/>
                <a:ext cx="8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3" name="Freeform 355"/>
              <p:cNvSpPr>
                <a:spLocks/>
              </p:cNvSpPr>
              <p:nvPr/>
            </p:nvSpPr>
            <p:spPr bwMode="auto">
              <a:xfrm>
                <a:off x="2497" y="2492"/>
                <a:ext cx="177" cy="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12"/>
                  </a:cxn>
                  <a:cxn ang="0">
                    <a:pos x="7" y="5"/>
                  </a:cxn>
                  <a:cxn ang="0">
                    <a:pos x="15" y="1"/>
                  </a:cxn>
                  <a:cxn ang="0">
                    <a:pos x="23" y="0"/>
                  </a:cxn>
                  <a:cxn ang="0">
                    <a:pos x="31" y="1"/>
                  </a:cxn>
                  <a:cxn ang="0">
                    <a:pos x="38" y="5"/>
                  </a:cxn>
                  <a:cxn ang="0">
                    <a:pos x="43" y="12"/>
                  </a:cxn>
                  <a:cxn ang="0">
                    <a:pos x="44" y="20"/>
                  </a:cxn>
                  <a:cxn ang="0">
                    <a:pos x="47" y="12"/>
                  </a:cxn>
                  <a:cxn ang="0">
                    <a:pos x="50" y="5"/>
                  </a:cxn>
                  <a:cxn ang="0">
                    <a:pos x="58" y="1"/>
                  </a:cxn>
                  <a:cxn ang="0">
                    <a:pos x="67" y="0"/>
                  </a:cxn>
                  <a:cxn ang="0">
                    <a:pos x="75" y="1"/>
                  </a:cxn>
                  <a:cxn ang="0">
                    <a:pos x="82" y="5"/>
                  </a:cxn>
                  <a:cxn ang="0">
                    <a:pos x="86" y="12"/>
                  </a:cxn>
                  <a:cxn ang="0">
                    <a:pos x="89" y="20"/>
                  </a:cxn>
                  <a:cxn ang="0">
                    <a:pos x="90" y="12"/>
                  </a:cxn>
                  <a:cxn ang="0">
                    <a:pos x="96" y="5"/>
                  </a:cxn>
                  <a:cxn ang="0">
                    <a:pos x="102" y="1"/>
                  </a:cxn>
                  <a:cxn ang="0">
                    <a:pos x="109" y="0"/>
                  </a:cxn>
                  <a:cxn ang="0">
                    <a:pos x="119" y="1"/>
                  </a:cxn>
                  <a:cxn ang="0">
                    <a:pos x="126" y="5"/>
                  </a:cxn>
                  <a:cxn ang="0">
                    <a:pos x="131" y="12"/>
                  </a:cxn>
                  <a:cxn ang="0">
                    <a:pos x="132" y="20"/>
                  </a:cxn>
                  <a:cxn ang="0">
                    <a:pos x="133" y="12"/>
                  </a:cxn>
                  <a:cxn ang="0">
                    <a:pos x="139" y="5"/>
                  </a:cxn>
                  <a:cxn ang="0">
                    <a:pos x="147" y="1"/>
                  </a:cxn>
                  <a:cxn ang="0">
                    <a:pos x="154" y="0"/>
                  </a:cxn>
                  <a:cxn ang="0">
                    <a:pos x="162" y="1"/>
                  </a:cxn>
                  <a:cxn ang="0">
                    <a:pos x="170" y="5"/>
                  </a:cxn>
                  <a:cxn ang="0">
                    <a:pos x="174" y="12"/>
                  </a:cxn>
                  <a:cxn ang="0">
                    <a:pos x="177" y="20"/>
                  </a:cxn>
                </a:cxnLst>
                <a:rect l="0" t="0" r="r" b="b"/>
                <a:pathLst>
                  <a:path w="177" h="20">
                    <a:moveTo>
                      <a:pt x="0" y="20"/>
                    </a:moveTo>
                    <a:lnTo>
                      <a:pt x="1" y="12"/>
                    </a:lnTo>
                    <a:lnTo>
                      <a:pt x="7" y="5"/>
                    </a:lnTo>
                    <a:lnTo>
                      <a:pt x="15" y="1"/>
                    </a:lnTo>
                    <a:lnTo>
                      <a:pt x="23" y="0"/>
                    </a:lnTo>
                    <a:lnTo>
                      <a:pt x="31" y="1"/>
                    </a:lnTo>
                    <a:lnTo>
                      <a:pt x="38" y="5"/>
                    </a:lnTo>
                    <a:lnTo>
                      <a:pt x="43" y="12"/>
                    </a:lnTo>
                    <a:lnTo>
                      <a:pt x="44" y="20"/>
                    </a:lnTo>
                    <a:lnTo>
                      <a:pt x="47" y="12"/>
                    </a:lnTo>
                    <a:lnTo>
                      <a:pt x="50" y="5"/>
                    </a:lnTo>
                    <a:lnTo>
                      <a:pt x="58" y="1"/>
                    </a:lnTo>
                    <a:lnTo>
                      <a:pt x="67" y="0"/>
                    </a:lnTo>
                    <a:lnTo>
                      <a:pt x="75" y="1"/>
                    </a:lnTo>
                    <a:lnTo>
                      <a:pt x="82" y="5"/>
                    </a:lnTo>
                    <a:lnTo>
                      <a:pt x="86" y="12"/>
                    </a:lnTo>
                    <a:lnTo>
                      <a:pt x="89" y="20"/>
                    </a:lnTo>
                    <a:lnTo>
                      <a:pt x="90" y="12"/>
                    </a:lnTo>
                    <a:lnTo>
                      <a:pt x="96" y="5"/>
                    </a:lnTo>
                    <a:lnTo>
                      <a:pt x="102" y="1"/>
                    </a:lnTo>
                    <a:lnTo>
                      <a:pt x="109" y="0"/>
                    </a:lnTo>
                    <a:lnTo>
                      <a:pt x="119" y="1"/>
                    </a:lnTo>
                    <a:lnTo>
                      <a:pt x="126" y="5"/>
                    </a:lnTo>
                    <a:lnTo>
                      <a:pt x="131" y="12"/>
                    </a:lnTo>
                    <a:lnTo>
                      <a:pt x="132" y="20"/>
                    </a:lnTo>
                    <a:lnTo>
                      <a:pt x="133" y="12"/>
                    </a:lnTo>
                    <a:lnTo>
                      <a:pt x="139" y="5"/>
                    </a:lnTo>
                    <a:lnTo>
                      <a:pt x="147" y="1"/>
                    </a:lnTo>
                    <a:lnTo>
                      <a:pt x="154" y="0"/>
                    </a:lnTo>
                    <a:lnTo>
                      <a:pt x="162" y="1"/>
                    </a:lnTo>
                    <a:lnTo>
                      <a:pt x="170" y="5"/>
                    </a:lnTo>
                    <a:lnTo>
                      <a:pt x="174" y="12"/>
                    </a:lnTo>
                    <a:lnTo>
                      <a:pt x="177" y="2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4" name="Line 356"/>
              <p:cNvSpPr>
                <a:spLocks noChangeShapeType="1"/>
              </p:cNvSpPr>
              <p:nvPr/>
            </p:nvSpPr>
            <p:spPr bwMode="auto">
              <a:xfrm>
                <a:off x="1410" y="2395"/>
                <a:ext cx="108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5" name="Line 357"/>
              <p:cNvSpPr>
                <a:spLocks noChangeShapeType="1"/>
              </p:cNvSpPr>
              <p:nvPr/>
            </p:nvSpPr>
            <p:spPr bwMode="auto">
              <a:xfrm>
                <a:off x="2091" y="2512"/>
                <a:ext cx="4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6" name="Line 358"/>
              <p:cNvSpPr>
                <a:spLocks noChangeShapeType="1"/>
              </p:cNvSpPr>
              <p:nvPr/>
            </p:nvSpPr>
            <p:spPr bwMode="auto">
              <a:xfrm>
                <a:off x="1835" y="2453"/>
                <a:ext cx="667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7" name="Freeform 359"/>
              <p:cNvSpPr>
                <a:spLocks/>
              </p:cNvSpPr>
              <p:nvPr/>
            </p:nvSpPr>
            <p:spPr bwMode="auto">
              <a:xfrm>
                <a:off x="1037" y="2825"/>
                <a:ext cx="21" cy="20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1" y="3"/>
                  </a:cxn>
                  <a:cxn ang="0">
                    <a:pos x="8" y="0"/>
                  </a:cxn>
                  <a:cxn ang="0">
                    <a:pos x="13" y="0"/>
                  </a:cxn>
                  <a:cxn ang="0">
                    <a:pos x="19" y="3"/>
                  </a:cxn>
                  <a:cxn ang="0">
                    <a:pos x="21" y="9"/>
                  </a:cxn>
                  <a:cxn ang="0">
                    <a:pos x="19" y="16"/>
                  </a:cxn>
                  <a:cxn ang="0">
                    <a:pos x="13" y="20"/>
                  </a:cxn>
                  <a:cxn ang="0">
                    <a:pos x="8" y="20"/>
                  </a:cxn>
                  <a:cxn ang="0">
                    <a:pos x="1" y="16"/>
                  </a:cxn>
                  <a:cxn ang="0">
                    <a:pos x="0" y="9"/>
                  </a:cxn>
                </a:cxnLst>
                <a:rect l="0" t="0" r="r" b="b"/>
                <a:pathLst>
                  <a:path w="21" h="20">
                    <a:moveTo>
                      <a:pt x="0" y="9"/>
                    </a:moveTo>
                    <a:lnTo>
                      <a:pt x="1" y="3"/>
                    </a:lnTo>
                    <a:lnTo>
                      <a:pt x="8" y="0"/>
                    </a:lnTo>
                    <a:lnTo>
                      <a:pt x="13" y="0"/>
                    </a:lnTo>
                    <a:lnTo>
                      <a:pt x="19" y="3"/>
                    </a:lnTo>
                    <a:lnTo>
                      <a:pt x="21" y="9"/>
                    </a:lnTo>
                    <a:lnTo>
                      <a:pt x="19" y="16"/>
                    </a:lnTo>
                    <a:lnTo>
                      <a:pt x="13" y="20"/>
                    </a:lnTo>
                    <a:lnTo>
                      <a:pt x="8" y="20"/>
                    </a:lnTo>
                    <a:lnTo>
                      <a:pt x="1" y="1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8" name="Freeform 360"/>
              <p:cNvSpPr>
                <a:spLocks/>
              </p:cNvSpPr>
              <p:nvPr/>
            </p:nvSpPr>
            <p:spPr bwMode="auto">
              <a:xfrm>
                <a:off x="1328" y="2402"/>
                <a:ext cx="23" cy="21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3" y="4"/>
                  </a:cxn>
                  <a:cxn ang="0">
                    <a:pos x="8" y="0"/>
                  </a:cxn>
                  <a:cxn ang="0">
                    <a:pos x="15" y="0"/>
                  </a:cxn>
                  <a:cxn ang="0">
                    <a:pos x="21" y="4"/>
                  </a:cxn>
                  <a:cxn ang="0">
                    <a:pos x="23" y="10"/>
                  </a:cxn>
                  <a:cxn ang="0">
                    <a:pos x="21" y="17"/>
                  </a:cxn>
                  <a:cxn ang="0">
                    <a:pos x="15" y="21"/>
                  </a:cxn>
                  <a:cxn ang="0">
                    <a:pos x="8" y="21"/>
                  </a:cxn>
                  <a:cxn ang="0">
                    <a:pos x="3" y="17"/>
                  </a:cxn>
                  <a:cxn ang="0">
                    <a:pos x="0" y="10"/>
                  </a:cxn>
                </a:cxnLst>
                <a:rect l="0" t="0" r="r" b="b"/>
                <a:pathLst>
                  <a:path w="23" h="21">
                    <a:moveTo>
                      <a:pt x="0" y="10"/>
                    </a:moveTo>
                    <a:lnTo>
                      <a:pt x="3" y="4"/>
                    </a:lnTo>
                    <a:lnTo>
                      <a:pt x="8" y="0"/>
                    </a:lnTo>
                    <a:lnTo>
                      <a:pt x="15" y="0"/>
                    </a:lnTo>
                    <a:lnTo>
                      <a:pt x="21" y="4"/>
                    </a:lnTo>
                    <a:lnTo>
                      <a:pt x="23" y="10"/>
                    </a:lnTo>
                    <a:lnTo>
                      <a:pt x="21" y="17"/>
                    </a:lnTo>
                    <a:lnTo>
                      <a:pt x="15" y="21"/>
                    </a:lnTo>
                    <a:lnTo>
                      <a:pt x="8" y="21"/>
                    </a:lnTo>
                    <a:lnTo>
                      <a:pt x="3" y="17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9" name="Freeform 361"/>
              <p:cNvSpPr>
                <a:spLocks/>
              </p:cNvSpPr>
              <p:nvPr/>
            </p:nvSpPr>
            <p:spPr bwMode="auto">
              <a:xfrm>
                <a:off x="1037" y="2077"/>
                <a:ext cx="21" cy="21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1" y="4"/>
                  </a:cxn>
                  <a:cxn ang="0">
                    <a:pos x="8" y="0"/>
                  </a:cxn>
                  <a:cxn ang="0">
                    <a:pos x="13" y="0"/>
                  </a:cxn>
                  <a:cxn ang="0">
                    <a:pos x="19" y="4"/>
                  </a:cxn>
                  <a:cxn ang="0">
                    <a:pos x="21" y="10"/>
                  </a:cxn>
                  <a:cxn ang="0">
                    <a:pos x="19" y="18"/>
                  </a:cxn>
                  <a:cxn ang="0">
                    <a:pos x="13" y="21"/>
                  </a:cxn>
                  <a:cxn ang="0">
                    <a:pos x="8" y="21"/>
                  </a:cxn>
                  <a:cxn ang="0">
                    <a:pos x="1" y="18"/>
                  </a:cxn>
                  <a:cxn ang="0">
                    <a:pos x="0" y="10"/>
                  </a:cxn>
                </a:cxnLst>
                <a:rect l="0" t="0" r="r" b="b"/>
                <a:pathLst>
                  <a:path w="21" h="21">
                    <a:moveTo>
                      <a:pt x="0" y="10"/>
                    </a:moveTo>
                    <a:lnTo>
                      <a:pt x="1" y="4"/>
                    </a:lnTo>
                    <a:lnTo>
                      <a:pt x="8" y="0"/>
                    </a:lnTo>
                    <a:lnTo>
                      <a:pt x="13" y="0"/>
                    </a:lnTo>
                    <a:lnTo>
                      <a:pt x="19" y="4"/>
                    </a:lnTo>
                    <a:lnTo>
                      <a:pt x="21" y="10"/>
                    </a:lnTo>
                    <a:lnTo>
                      <a:pt x="19" y="18"/>
                    </a:lnTo>
                    <a:lnTo>
                      <a:pt x="13" y="21"/>
                    </a:lnTo>
                    <a:lnTo>
                      <a:pt x="8" y="21"/>
                    </a:lnTo>
                    <a:lnTo>
                      <a:pt x="1" y="1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0" name="Line 362"/>
              <p:cNvSpPr>
                <a:spLocks noChangeShapeType="1"/>
              </p:cNvSpPr>
              <p:nvPr/>
            </p:nvSpPr>
            <p:spPr bwMode="auto">
              <a:xfrm>
                <a:off x="2760" y="2396"/>
                <a:ext cx="17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1" name="Line 363"/>
              <p:cNvSpPr>
                <a:spLocks noChangeShapeType="1"/>
              </p:cNvSpPr>
              <p:nvPr/>
            </p:nvSpPr>
            <p:spPr bwMode="auto">
              <a:xfrm>
                <a:off x="2760" y="2512"/>
                <a:ext cx="2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2" name="Line 364"/>
              <p:cNvSpPr>
                <a:spLocks noChangeShapeType="1"/>
              </p:cNvSpPr>
              <p:nvPr/>
            </p:nvSpPr>
            <p:spPr bwMode="auto">
              <a:xfrm>
                <a:off x="1343" y="2776"/>
                <a:ext cx="1" cy="58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3" name="Line 365"/>
              <p:cNvSpPr>
                <a:spLocks noChangeShapeType="1"/>
              </p:cNvSpPr>
              <p:nvPr/>
            </p:nvSpPr>
            <p:spPr bwMode="auto">
              <a:xfrm flipV="1">
                <a:off x="1343" y="2554"/>
                <a:ext cx="1" cy="5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4" name="Line 366"/>
              <p:cNvSpPr>
                <a:spLocks noChangeShapeType="1"/>
              </p:cNvSpPr>
              <p:nvPr/>
            </p:nvSpPr>
            <p:spPr bwMode="auto">
              <a:xfrm flipV="1">
                <a:off x="1256" y="2655"/>
                <a:ext cx="1" cy="8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5" name="Line 367"/>
              <p:cNvSpPr>
                <a:spLocks noChangeShapeType="1"/>
              </p:cNvSpPr>
              <p:nvPr/>
            </p:nvSpPr>
            <p:spPr bwMode="auto">
              <a:xfrm flipV="1">
                <a:off x="1276" y="2625"/>
                <a:ext cx="1" cy="15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6" name="Line 368"/>
              <p:cNvSpPr>
                <a:spLocks noChangeShapeType="1"/>
              </p:cNvSpPr>
              <p:nvPr/>
            </p:nvSpPr>
            <p:spPr bwMode="auto">
              <a:xfrm flipH="1" flipV="1">
                <a:off x="1276" y="2728"/>
                <a:ext cx="45" cy="3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7" name="Freeform 369"/>
              <p:cNvSpPr>
                <a:spLocks/>
              </p:cNvSpPr>
              <p:nvPr/>
            </p:nvSpPr>
            <p:spPr bwMode="auto">
              <a:xfrm>
                <a:off x="1308" y="2742"/>
                <a:ext cx="37" cy="34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7" y="34"/>
                  </a:cxn>
                  <a:cxn ang="0">
                    <a:pos x="0" y="27"/>
                  </a:cxn>
                  <a:cxn ang="0">
                    <a:pos x="18" y="0"/>
                  </a:cxn>
                </a:cxnLst>
                <a:rect l="0" t="0" r="r" b="b"/>
                <a:pathLst>
                  <a:path w="37" h="34">
                    <a:moveTo>
                      <a:pt x="18" y="0"/>
                    </a:moveTo>
                    <a:lnTo>
                      <a:pt x="37" y="34"/>
                    </a:lnTo>
                    <a:lnTo>
                      <a:pt x="0" y="2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8" name="Line 370"/>
              <p:cNvSpPr>
                <a:spLocks noChangeShapeType="1"/>
              </p:cNvSpPr>
              <p:nvPr/>
            </p:nvSpPr>
            <p:spPr bwMode="auto">
              <a:xfrm flipV="1">
                <a:off x="1276" y="2613"/>
                <a:ext cx="67" cy="5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9" name="Freeform 371"/>
              <p:cNvSpPr>
                <a:spLocks/>
              </p:cNvSpPr>
              <p:nvPr/>
            </p:nvSpPr>
            <p:spPr bwMode="auto">
              <a:xfrm>
                <a:off x="1326" y="2250"/>
                <a:ext cx="33" cy="30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33" y="30"/>
                  </a:cxn>
                  <a:cxn ang="0">
                    <a:pos x="17" y="0"/>
                  </a:cxn>
                  <a:cxn ang="0">
                    <a:pos x="0" y="30"/>
                  </a:cxn>
                </a:cxnLst>
                <a:rect l="0" t="0" r="r" b="b"/>
                <a:pathLst>
                  <a:path w="33" h="30">
                    <a:moveTo>
                      <a:pt x="0" y="30"/>
                    </a:moveTo>
                    <a:lnTo>
                      <a:pt x="33" y="30"/>
                    </a:lnTo>
                    <a:lnTo>
                      <a:pt x="17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0" name="Line 372"/>
              <p:cNvSpPr>
                <a:spLocks noChangeShapeType="1"/>
              </p:cNvSpPr>
              <p:nvPr/>
            </p:nvSpPr>
            <p:spPr bwMode="auto">
              <a:xfrm flipH="1">
                <a:off x="1230" y="2655"/>
                <a:ext cx="2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1" name="Line 373"/>
              <p:cNvSpPr>
                <a:spLocks noChangeShapeType="1"/>
              </p:cNvSpPr>
              <p:nvPr/>
            </p:nvSpPr>
            <p:spPr bwMode="auto">
              <a:xfrm flipH="1">
                <a:off x="1321" y="2250"/>
                <a:ext cx="4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2" name="Freeform 374"/>
              <p:cNvSpPr>
                <a:spLocks/>
              </p:cNvSpPr>
              <p:nvPr/>
            </p:nvSpPr>
            <p:spPr bwMode="auto">
              <a:xfrm>
                <a:off x="1331" y="2823"/>
                <a:ext cx="22" cy="20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3" y="4"/>
                  </a:cxn>
                  <a:cxn ang="0">
                    <a:pos x="8" y="0"/>
                  </a:cxn>
                  <a:cxn ang="0">
                    <a:pos x="15" y="0"/>
                  </a:cxn>
                  <a:cxn ang="0">
                    <a:pos x="20" y="4"/>
                  </a:cxn>
                  <a:cxn ang="0">
                    <a:pos x="22" y="10"/>
                  </a:cxn>
                  <a:cxn ang="0">
                    <a:pos x="20" y="17"/>
                  </a:cxn>
                  <a:cxn ang="0">
                    <a:pos x="15" y="20"/>
                  </a:cxn>
                  <a:cxn ang="0">
                    <a:pos x="8" y="20"/>
                  </a:cxn>
                  <a:cxn ang="0">
                    <a:pos x="3" y="17"/>
                  </a:cxn>
                  <a:cxn ang="0">
                    <a:pos x="0" y="10"/>
                  </a:cxn>
                </a:cxnLst>
                <a:rect l="0" t="0" r="r" b="b"/>
                <a:pathLst>
                  <a:path w="22" h="20">
                    <a:moveTo>
                      <a:pt x="0" y="10"/>
                    </a:moveTo>
                    <a:lnTo>
                      <a:pt x="3" y="4"/>
                    </a:lnTo>
                    <a:lnTo>
                      <a:pt x="8" y="0"/>
                    </a:lnTo>
                    <a:lnTo>
                      <a:pt x="15" y="0"/>
                    </a:lnTo>
                    <a:lnTo>
                      <a:pt x="20" y="4"/>
                    </a:lnTo>
                    <a:lnTo>
                      <a:pt x="22" y="10"/>
                    </a:lnTo>
                    <a:lnTo>
                      <a:pt x="20" y="17"/>
                    </a:lnTo>
                    <a:lnTo>
                      <a:pt x="15" y="20"/>
                    </a:lnTo>
                    <a:lnTo>
                      <a:pt x="8" y="20"/>
                    </a:lnTo>
                    <a:lnTo>
                      <a:pt x="3" y="17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3" name="Line 375"/>
              <p:cNvSpPr>
                <a:spLocks noChangeShapeType="1"/>
              </p:cNvSpPr>
              <p:nvPr/>
            </p:nvSpPr>
            <p:spPr bwMode="auto">
              <a:xfrm>
                <a:off x="1343" y="2280"/>
                <a:ext cx="1" cy="27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4" name="Line 376"/>
              <p:cNvSpPr>
                <a:spLocks noChangeShapeType="1"/>
              </p:cNvSpPr>
              <p:nvPr/>
            </p:nvSpPr>
            <p:spPr bwMode="auto">
              <a:xfrm flipV="1">
                <a:off x="1343" y="2091"/>
                <a:ext cx="1" cy="15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5" name="Rectangle 377"/>
              <p:cNvSpPr>
                <a:spLocks noChangeArrowheads="1"/>
              </p:cNvSpPr>
              <p:nvPr/>
            </p:nvSpPr>
            <p:spPr bwMode="auto">
              <a:xfrm>
                <a:off x="1132" y="2201"/>
                <a:ext cx="50" cy="133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6" name="Line 378"/>
              <p:cNvSpPr>
                <a:spLocks noChangeShapeType="1"/>
              </p:cNvSpPr>
              <p:nvPr/>
            </p:nvSpPr>
            <p:spPr bwMode="auto">
              <a:xfrm flipV="1">
                <a:off x="1156" y="2093"/>
                <a:ext cx="1" cy="108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7" name="Freeform 379"/>
              <p:cNvSpPr>
                <a:spLocks/>
              </p:cNvSpPr>
              <p:nvPr/>
            </p:nvSpPr>
            <p:spPr bwMode="auto">
              <a:xfrm>
                <a:off x="1157" y="2331"/>
                <a:ext cx="186" cy="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4"/>
                  </a:cxn>
                  <a:cxn ang="0">
                    <a:pos x="186" y="84"/>
                  </a:cxn>
                </a:cxnLst>
                <a:rect l="0" t="0" r="r" b="b"/>
                <a:pathLst>
                  <a:path w="186" h="84">
                    <a:moveTo>
                      <a:pt x="0" y="0"/>
                    </a:moveTo>
                    <a:lnTo>
                      <a:pt x="0" y="84"/>
                    </a:lnTo>
                    <a:lnTo>
                      <a:pt x="186" y="84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8" name="Freeform 380"/>
              <p:cNvSpPr>
                <a:spLocks/>
              </p:cNvSpPr>
              <p:nvPr/>
            </p:nvSpPr>
            <p:spPr bwMode="auto">
              <a:xfrm>
                <a:off x="1147" y="2073"/>
                <a:ext cx="21" cy="21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2" y="4"/>
                  </a:cxn>
                  <a:cxn ang="0">
                    <a:pos x="7" y="0"/>
                  </a:cxn>
                  <a:cxn ang="0">
                    <a:pos x="14" y="0"/>
                  </a:cxn>
                  <a:cxn ang="0">
                    <a:pos x="18" y="4"/>
                  </a:cxn>
                  <a:cxn ang="0">
                    <a:pos x="21" y="10"/>
                  </a:cxn>
                  <a:cxn ang="0">
                    <a:pos x="18" y="18"/>
                  </a:cxn>
                  <a:cxn ang="0">
                    <a:pos x="14" y="21"/>
                  </a:cxn>
                  <a:cxn ang="0">
                    <a:pos x="7" y="21"/>
                  </a:cxn>
                  <a:cxn ang="0">
                    <a:pos x="2" y="18"/>
                  </a:cxn>
                  <a:cxn ang="0">
                    <a:pos x="0" y="10"/>
                  </a:cxn>
                </a:cxnLst>
                <a:rect l="0" t="0" r="r" b="b"/>
                <a:pathLst>
                  <a:path w="21" h="21">
                    <a:moveTo>
                      <a:pt x="0" y="10"/>
                    </a:moveTo>
                    <a:lnTo>
                      <a:pt x="2" y="4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18" y="4"/>
                    </a:lnTo>
                    <a:lnTo>
                      <a:pt x="21" y="10"/>
                    </a:lnTo>
                    <a:lnTo>
                      <a:pt x="18" y="18"/>
                    </a:lnTo>
                    <a:lnTo>
                      <a:pt x="14" y="21"/>
                    </a:lnTo>
                    <a:lnTo>
                      <a:pt x="7" y="21"/>
                    </a:lnTo>
                    <a:lnTo>
                      <a:pt x="2" y="1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9" name="Line 381"/>
              <p:cNvSpPr>
                <a:spLocks noChangeShapeType="1"/>
              </p:cNvSpPr>
              <p:nvPr/>
            </p:nvSpPr>
            <p:spPr bwMode="auto">
              <a:xfrm flipV="1">
                <a:off x="2005" y="2185"/>
                <a:ext cx="1" cy="9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0" name="Line 382"/>
              <p:cNvSpPr>
                <a:spLocks noChangeShapeType="1"/>
              </p:cNvSpPr>
              <p:nvPr/>
            </p:nvSpPr>
            <p:spPr bwMode="auto">
              <a:xfrm flipV="1">
                <a:off x="2025" y="2155"/>
                <a:ext cx="1" cy="15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1" name="Line 383"/>
              <p:cNvSpPr>
                <a:spLocks noChangeShapeType="1"/>
              </p:cNvSpPr>
              <p:nvPr/>
            </p:nvSpPr>
            <p:spPr bwMode="auto">
              <a:xfrm flipH="1" flipV="1">
                <a:off x="2025" y="2256"/>
                <a:ext cx="43" cy="3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2" name="Freeform 384"/>
              <p:cNvSpPr>
                <a:spLocks/>
              </p:cNvSpPr>
              <p:nvPr/>
            </p:nvSpPr>
            <p:spPr bwMode="auto">
              <a:xfrm>
                <a:off x="2055" y="2272"/>
                <a:ext cx="36" cy="33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36" y="33"/>
                  </a:cxn>
                  <a:cxn ang="0">
                    <a:pos x="0" y="27"/>
                  </a:cxn>
                  <a:cxn ang="0">
                    <a:pos x="19" y="0"/>
                  </a:cxn>
                </a:cxnLst>
                <a:rect l="0" t="0" r="r" b="b"/>
                <a:pathLst>
                  <a:path w="36" h="33">
                    <a:moveTo>
                      <a:pt x="19" y="0"/>
                    </a:moveTo>
                    <a:lnTo>
                      <a:pt x="36" y="33"/>
                    </a:lnTo>
                    <a:lnTo>
                      <a:pt x="0" y="27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3" name="Line 385"/>
              <p:cNvSpPr>
                <a:spLocks noChangeShapeType="1"/>
              </p:cNvSpPr>
              <p:nvPr/>
            </p:nvSpPr>
            <p:spPr bwMode="auto">
              <a:xfrm flipV="1">
                <a:off x="2025" y="2144"/>
                <a:ext cx="65" cy="5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4" name="Freeform 386"/>
              <p:cNvSpPr>
                <a:spLocks/>
              </p:cNvSpPr>
              <p:nvPr/>
            </p:nvSpPr>
            <p:spPr bwMode="auto">
              <a:xfrm>
                <a:off x="2124" y="2216"/>
                <a:ext cx="33" cy="29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3" y="29"/>
                  </a:cxn>
                  <a:cxn ang="0">
                    <a:pos x="16" y="0"/>
                  </a:cxn>
                  <a:cxn ang="0">
                    <a:pos x="0" y="29"/>
                  </a:cxn>
                </a:cxnLst>
                <a:rect l="0" t="0" r="r" b="b"/>
                <a:pathLst>
                  <a:path w="33" h="29">
                    <a:moveTo>
                      <a:pt x="0" y="29"/>
                    </a:moveTo>
                    <a:lnTo>
                      <a:pt x="33" y="29"/>
                    </a:lnTo>
                    <a:lnTo>
                      <a:pt x="16" y="0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5" name="Line 387"/>
              <p:cNvSpPr>
                <a:spLocks noChangeShapeType="1"/>
              </p:cNvSpPr>
              <p:nvPr/>
            </p:nvSpPr>
            <p:spPr bwMode="auto">
              <a:xfrm flipH="1">
                <a:off x="1977" y="2185"/>
                <a:ext cx="2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6" name="Line 388"/>
              <p:cNvSpPr>
                <a:spLocks noChangeShapeType="1"/>
              </p:cNvSpPr>
              <p:nvPr/>
            </p:nvSpPr>
            <p:spPr bwMode="auto">
              <a:xfrm flipH="1">
                <a:off x="2122" y="2216"/>
                <a:ext cx="3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7" name="Freeform 389"/>
              <p:cNvSpPr>
                <a:spLocks/>
              </p:cNvSpPr>
              <p:nvPr/>
            </p:nvSpPr>
            <p:spPr bwMode="auto">
              <a:xfrm>
                <a:off x="2090" y="2144"/>
                <a:ext cx="50" cy="72"/>
              </a:xfrm>
              <a:custGeom>
                <a:avLst/>
                <a:gdLst/>
                <a:ahLst/>
                <a:cxnLst>
                  <a:cxn ang="0">
                    <a:pos x="50" y="72"/>
                  </a:cxn>
                  <a:cxn ang="0">
                    <a:pos x="50" y="0"/>
                  </a:cxn>
                  <a:cxn ang="0">
                    <a:pos x="0" y="0"/>
                  </a:cxn>
                </a:cxnLst>
                <a:rect l="0" t="0" r="r" b="b"/>
                <a:pathLst>
                  <a:path w="50" h="72">
                    <a:moveTo>
                      <a:pt x="50" y="72"/>
                    </a:moveTo>
                    <a:lnTo>
                      <a:pt x="50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8" name="Freeform 390"/>
              <p:cNvSpPr>
                <a:spLocks/>
              </p:cNvSpPr>
              <p:nvPr/>
            </p:nvSpPr>
            <p:spPr bwMode="auto">
              <a:xfrm>
                <a:off x="2091" y="2245"/>
                <a:ext cx="49" cy="60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49" y="60"/>
                  </a:cxn>
                  <a:cxn ang="0">
                    <a:pos x="0" y="60"/>
                  </a:cxn>
                </a:cxnLst>
                <a:rect l="0" t="0" r="r" b="b"/>
                <a:pathLst>
                  <a:path w="49" h="60">
                    <a:moveTo>
                      <a:pt x="49" y="0"/>
                    </a:moveTo>
                    <a:lnTo>
                      <a:pt x="49" y="60"/>
                    </a:lnTo>
                    <a:lnTo>
                      <a:pt x="0" y="6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9" name="Line 391"/>
              <p:cNvSpPr>
                <a:spLocks noChangeShapeType="1"/>
              </p:cNvSpPr>
              <p:nvPr/>
            </p:nvSpPr>
            <p:spPr bwMode="auto">
              <a:xfrm flipV="1">
                <a:off x="2090" y="2551"/>
                <a:ext cx="1" cy="58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0" name="Line 392"/>
              <p:cNvSpPr>
                <a:spLocks noChangeShapeType="1"/>
              </p:cNvSpPr>
              <p:nvPr/>
            </p:nvSpPr>
            <p:spPr bwMode="auto">
              <a:xfrm flipV="1">
                <a:off x="2005" y="2651"/>
                <a:ext cx="1" cy="9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1" name="Line 393"/>
              <p:cNvSpPr>
                <a:spLocks noChangeShapeType="1"/>
              </p:cNvSpPr>
              <p:nvPr/>
            </p:nvSpPr>
            <p:spPr bwMode="auto">
              <a:xfrm flipV="1">
                <a:off x="2025" y="2622"/>
                <a:ext cx="1" cy="14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2" name="Line 394"/>
              <p:cNvSpPr>
                <a:spLocks noChangeShapeType="1"/>
              </p:cNvSpPr>
              <p:nvPr/>
            </p:nvSpPr>
            <p:spPr bwMode="auto">
              <a:xfrm flipH="1" flipV="1">
                <a:off x="2025" y="2724"/>
                <a:ext cx="43" cy="3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3" name="Freeform 395"/>
              <p:cNvSpPr>
                <a:spLocks/>
              </p:cNvSpPr>
              <p:nvPr/>
            </p:nvSpPr>
            <p:spPr bwMode="auto">
              <a:xfrm>
                <a:off x="2055" y="2738"/>
                <a:ext cx="36" cy="33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36" y="33"/>
                  </a:cxn>
                  <a:cxn ang="0">
                    <a:pos x="0" y="28"/>
                  </a:cxn>
                  <a:cxn ang="0">
                    <a:pos x="19" y="0"/>
                  </a:cxn>
                </a:cxnLst>
                <a:rect l="0" t="0" r="r" b="b"/>
                <a:pathLst>
                  <a:path w="36" h="33">
                    <a:moveTo>
                      <a:pt x="19" y="0"/>
                    </a:moveTo>
                    <a:lnTo>
                      <a:pt x="36" y="33"/>
                    </a:lnTo>
                    <a:lnTo>
                      <a:pt x="0" y="28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4" name="Line 396"/>
              <p:cNvSpPr>
                <a:spLocks noChangeShapeType="1"/>
              </p:cNvSpPr>
              <p:nvPr/>
            </p:nvSpPr>
            <p:spPr bwMode="auto">
              <a:xfrm flipV="1">
                <a:off x="2025" y="2609"/>
                <a:ext cx="65" cy="5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5" name="Freeform 397"/>
              <p:cNvSpPr>
                <a:spLocks/>
              </p:cNvSpPr>
              <p:nvPr/>
            </p:nvSpPr>
            <p:spPr bwMode="auto">
              <a:xfrm>
                <a:off x="2124" y="2681"/>
                <a:ext cx="33" cy="31"/>
              </a:xfrm>
              <a:custGeom>
                <a:avLst/>
                <a:gdLst/>
                <a:ahLst/>
                <a:cxnLst>
                  <a:cxn ang="0">
                    <a:pos x="0" y="31"/>
                  </a:cxn>
                  <a:cxn ang="0">
                    <a:pos x="33" y="31"/>
                  </a:cxn>
                  <a:cxn ang="0">
                    <a:pos x="16" y="0"/>
                  </a:cxn>
                  <a:cxn ang="0">
                    <a:pos x="0" y="31"/>
                  </a:cxn>
                </a:cxnLst>
                <a:rect l="0" t="0" r="r" b="b"/>
                <a:pathLst>
                  <a:path w="33" h="31">
                    <a:moveTo>
                      <a:pt x="0" y="31"/>
                    </a:moveTo>
                    <a:lnTo>
                      <a:pt x="33" y="31"/>
                    </a:lnTo>
                    <a:lnTo>
                      <a:pt x="16" y="0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6" name="Line 398"/>
              <p:cNvSpPr>
                <a:spLocks noChangeShapeType="1"/>
              </p:cNvSpPr>
              <p:nvPr/>
            </p:nvSpPr>
            <p:spPr bwMode="auto">
              <a:xfrm flipH="1">
                <a:off x="1977" y="2651"/>
                <a:ext cx="2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7" name="Line 399"/>
              <p:cNvSpPr>
                <a:spLocks noChangeShapeType="1"/>
              </p:cNvSpPr>
              <p:nvPr/>
            </p:nvSpPr>
            <p:spPr bwMode="auto">
              <a:xfrm flipH="1">
                <a:off x="2122" y="2681"/>
                <a:ext cx="3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8" name="Freeform 400"/>
              <p:cNvSpPr>
                <a:spLocks/>
              </p:cNvSpPr>
              <p:nvPr/>
            </p:nvSpPr>
            <p:spPr bwMode="auto">
              <a:xfrm>
                <a:off x="2090" y="2609"/>
                <a:ext cx="50" cy="72"/>
              </a:xfrm>
              <a:custGeom>
                <a:avLst/>
                <a:gdLst/>
                <a:ahLst/>
                <a:cxnLst>
                  <a:cxn ang="0">
                    <a:pos x="50" y="72"/>
                  </a:cxn>
                  <a:cxn ang="0">
                    <a:pos x="50" y="0"/>
                  </a:cxn>
                  <a:cxn ang="0">
                    <a:pos x="0" y="0"/>
                  </a:cxn>
                </a:cxnLst>
                <a:rect l="0" t="0" r="r" b="b"/>
                <a:pathLst>
                  <a:path w="50" h="72">
                    <a:moveTo>
                      <a:pt x="50" y="72"/>
                    </a:moveTo>
                    <a:lnTo>
                      <a:pt x="50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9" name="Freeform 401"/>
              <p:cNvSpPr>
                <a:spLocks/>
              </p:cNvSpPr>
              <p:nvPr/>
            </p:nvSpPr>
            <p:spPr bwMode="auto">
              <a:xfrm>
                <a:off x="2091" y="2712"/>
                <a:ext cx="49" cy="59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49" y="59"/>
                  </a:cxn>
                  <a:cxn ang="0">
                    <a:pos x="0" y="59"/>
                  </a:cxn>
                </a:cxnLst>
                <a:rect l="0" t="0" r="r" b="b"/>
                <a:pathLst>
                  <a:path w="49" h="59">
                    <a:moveTo>
                      <a:pt x="49" y="0"/>
                    </a:moveTo>
                    <a:lnTo>
                      <a:pt x="49" y="59"/>
                    </a:lnTo>
                    <a:lnTo>
                      <a:pt x="0" y="59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0" name="Line 402"/>
              <p:cNvSpPr>
                <a:spLocks noChangeShapeType="1"/>
              </p:cNvSpPr>
              <p:nvPr/>
            </p:nvSpPr>
            <p:spPr bwMode="auto">
              <a:xfrm flipV="1">
                <a:off x="2090" y="2085"/>
                <a:ext cx="1" cy="5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1" name="Line 403"/>
              <p:cNvSpPr>
                <a:spLocks noChangeShapeType="1"/>
              </p:cNvSpPr>
              <p:nvPr/>
            </p:nvSpPr>
            <p:spPr bwMode="auto">
              <a:xfrm>
                <a:off x="2090" y="2771"/>
                <a:ext cx="1" cy="6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2" name="Line 404"/>
              <p:cNvSpPr>
                <a:spLocks noChangeShapeType="1"/>
              </p:cNvSpPr>
              <p:nvPr/>
            </p:nvSpPr>
            <p:spPr bwMode="auto">
              <a:xfrm flipV="1">
                <a:off x="2090" y="2305"/>
                <a:ext cx="1" cy="24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3" name="Freeform 405"/>
              <p:cNvSpPr>
                <a:spLocks/>
              </p:cNvSpPr>
              <p:nvPr/>
            </p:nvSpPr>
            <p:spPr bwMode="auto">
              <a:xfrm>
                <a:off x="2081" y="2499"/>
                <a:ext cx="23" cy="21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2" y="3"/>
                  </a:cxn>
                  <a:cxn ang="0">
                    <a:pos x="7" y="0"/>
                  </a:cxn>
                  <a:cxn ang="0">
                    <a:pos x="15" y="0"/>
                  </a:cxn>
                  <a:cxn ang="0">
                    <a:pos x="19" y="3"/>
                  </a:cxn>
                  <a:cxn ang="0">
                    <a:pos x="23" y="9"/>
                  </a:cxn>
                  <a:cxn ang="0">
                    <a:pos x="19" y="15"/>
                  </a:cxn>
                  <a:cxn ang="0">
                    <a:pos x="15" y="21"/>
                  </a:cxn>
                  <a:cxn ang="0">
                    <a:pos x="7" y="21"/>
                  </a:cxn>
                  <a:cxn ang="0">
                    <a:pos x="2" y="15"/>
                  </a:cxn>
                  <a:cxn ang="0">
                    <a:pos x="0" y="9"/>
                  </a:cxn>
                </a:cxnLst>
                <a:rect l="0" t="0" r="r" b="b"/>
                <a:pathLst>
                  <a:path w="23" h="21">
                    <a:moveTo>
                      <a:pt x="0" y="9"/>
                    </a:moveTo>
                    <a:lnTo>
                      <a:pt x="2" y="3"/>
                    </a:lnTo>
                    <a:lnTo>
                      <a:pt x="7" y="0"/>
                    </a:lnTo>
                    <a:lnTo>
                      <a:pt x="15" y="0"/>
                    </a:lnTo>
                    <a:lnTo>
                      <a:pt x="19" y="3"/>
                    </a:lnTo>
                    <a:lnTo>
                      <a:pt x="23" y="9"/>
                    </a:lnTo>
                    <a:lnTo>
                      <a:pt x="19" y="15"/>
                    </a:lnTo>
                    <a:lnTo>
                      <a:pt x="15" y="21"/>
                    </a:lnTo>
                    <a:lnTo>
                      <a:pt x="7" y="21"/>
                    </a:lnTo>
                    <a:lnTo>
                      <a:pt x="2" y="1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4" name="Line 406"/>
              <p:cNvSpPr>
                <a:spLocks noChangeShapeType="1"/>
              </p:cNvSpPr>
              <p:nvPr/>
            </p:nvSpPr>
            <p:spPr bwMode="auto">
              <a:xfrm flipV="1">
                <a:off x="1749" y="2188"/>
                <a:ext cx="1" cy="9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5" name="Line 407"/>
              <p:cNvSpPr>
                <a:spLocks noChangeShapeType="1"/>
              </p:cNvSpPr>
              <p:nvPr/>
            </p:nvSpPr>
            <p:spPr bwMode="auto">
              <a:xfrm flipV="1">
                <a:off x="1769" y="2160"/>
                <a:ext cx="1" cy="148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6" name="Line 408"/>
              <p:cNvSpPr>
                <a:spLocks noChangeShapeType="1"/>
              </p:cNvSpPr>
              <p:nvPr/>
            </p:nvSpPr>
            <p:spPr bwMode="auto">
              <a:xfrm flipH="1" flipV="1">
                <a:off x="1769" y="2261"/>
                <a:ext cx="44" cy="3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7" name="Freeform 409"/>
              <p:cNvSpPr>
                <a:spLocks/>
              </p:cNvSpPr>
              <p:nvPr/>
            </p:nvSpPr>
            <p:spPr bwMode="auto">
              <a:xfrm>
                <a:off x="1799" y="2275"/>
                <a:ext cx="38" cy="3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38" y="33"/>
                  </a:cxn>
                  <a:cxn ang="0">
                    <a:pos x="0" y="27"/>
                  </a:cxn>
                  <a:cxn ang="0">
                    <a:pos x="20" y="0"/>
                  </a:cxn>
                </a:cxnLst>
                <a:rect l="0" t="0" r="r" b="b"/>
                <a:pathLst>
                  <a:path w="38" h="33">
                    <a:moveTo>
                      <a:pt x="20" y="0"/>
                    </a:moveTo>
                    <a:lnTo>
                      <a:pt x="38" y="33"/>
                    </a:lnTo>
                    <a:lnTo>
                      <a:pt x="0" y="27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8" name="Line 410"/>
              <p:cNvSpPr>
                <a:spLocks noChangeShapeType="1"/>
              </p:cNvSpPr>
              <p:nvPr/>
            </p:nvSpPr>
            <p:spPr bwMode="auto">
              <a:xfrm flipV="1">
                <a:off x="1769" y="2147"/>
                <a:ext cx="66" cy="5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9" name="Freeform 411"/>
              <p:cNvSpPr>
                <a:spLocks/>
              </p:cNvSpPr>
              <p:nvPr/>
            </p:nvSpPr>
            <p:spPr bwMode="auto">
              <a:xfrm>
                <a:off x="1869" y="2218"/>
                <a:ext cx="32" cy="31"/>
              </a:xfrm>
              <a:custGeom>
                <a:avLst/>
                <a:gdLst/>
                <a:ahLst/>
                <a:cxnLst>
                  <a:cxn ang="0">
                    <a:pos x="0" y="31"/>
                  </a:cxn>
                  <a:cxn ang="0">
                    <a:pos x="32" y="31"/>
                  </a:cxn>
                  <a:cxn ang="0">
                    <a:pos x="15" y="0"/>
                  </a:cxn>
                  <a:cxn ang="0">
                    <a:pos x="0" y="31"/>
                  </a:cxn>
                </a:cxnLst>
                <a:rect l="0" t="0" r="r" b="b"/>
                <a:pathLst>
                  <a:path w="32" h="31">
                    <a:moveTo>
                      <a:pt x="0" y="31"/>
                    </a:moveTo>
                    <a:lnTo>
                      <a:pt x="32" y="31"/>
                    </a:lnTo>
                    <a:lnTo>
                      <a:pt x="15" y="0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0" name="Line 412"/>
              <p:cNvSpPr>
                <a:spLocks noChangeShapeType="1"/>
              </p:cNvSpPr>
              <p:nvPr/>
            </p:nvSpPr>
            <p:spPr bwMode="auto">
              <a:xfrm flipH="1">
                <a:off x="1722" y="2188"/>
                <a:ext cx="27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1" name="Line 413"/>
              <p:cNvSpPr>
                <a:spLocks noChangeShapeType="1"/>
              </p:cNvSpPr>
              <p:nvPr/>
            </p:nvSpPr>
            <p:spPr bwMode="auto">
              <a:xfrm flipH="1">
                <a:off x="1867" y="2218"/>
                <a:ext cx="3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2" name="Freeform 414"/>
              <p:cNvSpPr>
                <a:spLocks/>
              </p:cNvSpPr>
              <p:nvPr/>
            </p:nvSpPr>
            <p:spPr bwMode="auto">
              <a:xfrm>
                <a:off x="1835" y="2147"/>
                <a:ext cx="49" cy="71"/>
              </a:xfrm>
              <a:custGeom>
                <a:avLst/>
                <a:gdLst/>
                <a:ahLst/>
                <a:cxnLst>
                  <a:cxn ang="0">
                    <a:pos x="49" y="71"/>
                  </a:cxn>
                  <a:cxn ang="0">
                    <a:pos x="49" y="0"/>
                  </a:cxn>
                  <a:cxn ang="0">
                    <a:pos x="0" y="0"/>
                  </a:cxn>
                </a:cxnLst>
                <a:rect l="0" t="0" r="r" b="b"/>
                <a:pathLst>
                  <a:path w="49" h="71">
                    <a:moveTo>
                      <a:pt x="49" y="71"/>
                    </a:moveTo>
                    <a:lnTo>
                      <a:pt x="49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3" name="Freeform 415"/>
              <p:cNvSpPr>
                <a:spLocks/>
              </p:cNvSpPr>
              <p:nvPr/>
            </p:nvSpPr>
            <p:spPr bwMode="auto">
              <a:xfrm>
                <a:off x="1837" y="2249"/>
                <a:ext cx="47" cy="59"/>
              </a:xfrm>
              <a:custGeom>
                <a:avLst/>
                <a:gdLst/>
                <a:ahLst/>
                <a:cxnLst>
                  <a:cxn ang="0">
                    <a:pos x="47" y="0"/>
                  </a:cxn>
                  <a:cxn ang="0">
                    <a:pos x="47" y="59"/>
                  </a:cxn>
                  <a:cxn ang="0">
                    <a:pos x="0" y="59"/>
                  </a:cxn>
                </a:cxnLst>
                <a:rect l="0" t="0" r="r" b="b"/>
                <a:pathLst>
                  <a:path w="47" h="59">
                    <a:moveTo>
                      <a:pt x="47" y="0"/>
                    </a:moveTo>
                    <a:lnTo>
                      <a:pt x="47" y="59"/>
                    </a:lnTo>
                    <a:lnTo>
                      <a:pt x="0" y="59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4" name="Line 416"/>
              <p:cNvSpPr>
                <a:spLocks noChangeShapeType="1"/>
              </p:cNvSpPr>
              <p:nvPr/>
            </p:nvSpPr>
            <p:spPr bwMode="auto">
              <a:xfrm flipV="1">
                <a:off x="1835" y="2554"/>
                <a:ext cx="2" cy="5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5" name="Line 417"/>
              <p:cNvSpPr>
                <a:spLocks noChangeShapeType="1"/>
              </p:cNvSpPr>
              <p:nvPr/>
            </p:nvSpPr>
            <p:spPr bwMode="auto">
              <a:xfrm flipV="1">
                <a:off x="1749" y="2655"/>
                <a:ext cx="1" cy="8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6" name="Line 418"/>
              <p:cNvSpPr>
                <a:spLocks noChangeShapeType="1"/>
              </p:cNvSpPr>
              <p:nvPr/>
            </p:nvSpPr>
            <p:spPr bwMode="auto">
              <a:xfrm flipV="1">
                <a:off x="1769" y="2625"/>
                <a:ext cx="1" cy="15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7" name="Line 419"/>
              <p:cNvSpPr>
                <a:spLocks noChangeShapeType="1"/>
              </p:cNvSpPr>
              <p:nvPr/>
            </p:nvSpPr>
            <p:spPr bwMode="auto">
              <a:xfrm flipH="1" flipV="1">
                <a:off x="1769" y="2728"/>
                <a:ext cx="44" cy="3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8" name="Freeform 420"/>
              <p:cNvSpPr>
                <a:spLocks/>
              </p:cNvSpPr>
              <p:nvPr/>
            </p:nvSpPr>
            <p:spPr bwMode="auto">
              <a:xfrm>
                <a:off x="1799" y="2742"/>
                <a:ext cx="38" cy="34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38" y="34"/>
                  </a:cxn>
                  <a:cxn ang="0">
                    <a:pos x="0" y="27"/>
                  </a:cxn>
                  <a:cxn ang="0">
                    <a:pos x="20" y="0"/>
                  </a:cxn>
                </a:cxnLst>
                <a:rect l="0" t="0" r="r" b="b"/>
                <a:pathLst>
                  <a:path w="38" h="34">
                    <a:moveTo>
                      <a:pt x="20" y="0"/>
                    </a:moveTo>
                    <a:lnTo>
                      <a:pt x="38" y="34"/>
                    </a:lnTo>
                    <a:lnTo>
                      <a:pt x="0" y="27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9" name="Line 421"/>
              <p:cNvSpPr>
                <a:spLocks noChangeShapeType="1"/>
              </p:cNvSpPr>
              <p:nvPr/>
            </p:nvSpPr>
            <p:spPr bwMode="auto">
              <a:xfrm flipV="1">
                <a:off x="1769" y="2613"/>
                <a:ext cx="66" cy="5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0" name="Freeform 422"/>
              <p:cNvSpPr>
                <a:spLocks/>
              </p:cNvSpPr>
              <p:nvPr/>
            </p:nvSpPr>
            <p:spPr bwMode="auto">
              <a:xfrm>
                <a:off x="1869" y="2685"/>
                <a:ext cx="32" cy="29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2" y="29"/>
                  </a:cxn>
                  <a:cxn ang="0">
                    <a:pos x="15" y="0"/>
                  </a:cxn>
                  <a:cxn ang="0">
                    <a:pos x="0" y="29"/>
                  </a:cxn>
                </a:cxnLst>
                <a:rect l="0" t="0" r="r" b="b"/>
                <a:pathLst>
                  <a:path w="32" h="29">
                    <a:moveTo>
                      <a:pt x="0" y="29"/>
                    </a:moveTo>
                    <a:lnTo>
                      <a:pt x="32" y="29"/>
                    </a:lnTo>
                    <a:lnTo>
                      <a:pt x="15" y="0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1" name="Line 423"/>
              <p:cNvSpPr>
                <a:spLocks noChangeShapeType="1"/>
              </p:cNvSpPr>
              <p:nvPr/>
            </p:nvSpPr>
            <p:spPr bwMode="auto">
              <a:xfrm flipH="1">
                <a:off x="1722" y="2655"/>
                <a:ext cx="27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472" name="Line 424"/>
            <p:cNvSpPr>
              <a:spLocks noChangeShapeType="1"/>
            </p:cNvSpPr>
            <p:nvPr/>
          </p:nvSpPr>
          <p:spPr bwMode="auto">
            <a:xfrm flipH="1">
              <a:off x="1867" y="2685"/>
              <a:ext cx="36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3" name="Freeform 425"/>
            <p:cNvSpPr>
              <a:spLocks/>
            </p:cNvSpPr>
            <p:nvPr/>
          </p:nvSpPr>
          <p:spPr bwMode="auto">
            <a:xfrm>
              <a:off x="1835" y="2613"/>
              <a:ext cx="49" cy="72"/>
            </a:xfrm>
            <a:custGeom>
              <a:avLst/>
              <a:gdLst/>
              <a:ahLst/>
              <a:cxnLst>
                <a:cxn ang="0">
                  <a:pos x="49" y="72"/>
                </a:cxn>
                <a:cxn ang="0">
                  <a:pos x="49" y="0"/>
                </a:cxn>
                <a:cxn ang="0">
                  <a:pos x="0" y="0"/>
                </a:cxn>
              </a:cxnLst>
              <a:rect l="0" t="0" r="r" b="b"/>
              <a:pathLst>
                <a:path w="49" h="72">
                  <a:moveTo>
                    <a:pt x="49" y="72"/>
                  </a:moveTo>
                  <a:lnTo>
                    <a:pt x="49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4" name="Freeform 426"/>
            <p:cNvSpPr>
              <a:spLocks/>
            </p:cNvSpPr>
            <p:nvPr/>
          </p:nvSpPr>
          <p:spPr bwMode="auto">
            <a:xfrm>
              <a:off x="1837" y="2714"/>
              <a:ext cx="47" cy="62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47" y="62"/>
                </a:cxn>
                <a:cxn ang="0">
                  <a:pos x="0" y="62"/>
                </a:cxn>
              </a:cxnLst>
              <a:rect l="0" t="0" r="r" b="b"/>
              <a:pathLst>
                <a:path w="47" h="62">
                  <a:moveTo>
                    <a:pt x="47" y="0"/>
                  </a:moveTo>
                  <a:lnTo>
                    <a:pt x="47" y="62"/>
                  </a:lnTo>
                  <a:lnTo>
                    <a:pt x="0" y="62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5" name="Line 427"/>
            <p:cNvSpPr>
              <a:spLocks noChangeShapeType="1"/>
            </p:cNvSpPr>
            <p:nvPr/>
          </p:nvSpPr>
          <p:spPr bwMode="auto">
            <a:xfrm flipV="1">
              <a:off x="1835" y="2087"/>
              <a:ext cx="2" cy="6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6" name="Line 428"/>
            <p:cNvSpPr>
              <a:spLocks noChangeShapeType="1"/>
            </p:cNvSpPr>
            <p:nvPr/>
          </p:nvSpPr>
          <p:spPr bwMode="auto">
            <a:xfrm>
              <a:off x="1835" y="2776"/>
              <a:ext cx="2" cy="5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7" name="Line 429"/>
            <p:cNvSpPr>
              <a:spLocks noChangeShapeType="1"/>
            </p:cNvSpPr>
            <p:nvPr/>
          </p:nvSpPr>
          <p:spPr bwMode="auto">
            <a:xfrm flipV="1">
              <a:off x="1835" y="2308"/>
              <a:ext cx="2" cy="24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8" name="Freeform 430"/>
            <p:cNvSpPr>
              <a:spLocks/>
            </p:cNvSpPr>
            <p:nvPr/>
          </p:nvSpPr>
          <p:spPr bwMode="auto">
            <a:xfrm>
              <a:off x="1825" y="2078"/>
              <a:ext cx="23" cy="21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2" y="5"/>
                </a:cxn>
                <a:cxn ang="0">
                  <a:pos x="9" y="0"/>
                </a:cxn>
                <a:cxn ang="0">
                  <a:pos x="16" y="0"/>
                </a:cxn>
                <a:cxn ang="0">
                  <a:pos x="20" y="5"/>
                </a:cxn>
                <a:cxn ang="0">
                  <a:pos x="23" y="12"/>
                </a:cxn>
                <a:cxn ang="0">
                  <a:pos x="20" y="18"/>
                </a:cxn>
                <a:cxn ang="0">
                  <a:pos x="16" y="21"/>
                </a:cxn>
                <a:cxn ang="0">
                  <a:pos x="9" y="21"/>
                </a:cxn>
                <a:cxn ang="0">
                  <a:pos x="2" y="18"/>
                </a:cxn>
                <a:cxn ang="0">
                  <a:pos x="0" y="12"/>
                </a:cxn>
              </a:cxnLst>
              <a:rect l="0" t="0" r="r" b="b"/>
              <a:pathLst>
                <a:path w="23" h="21">
                  <a:moveTo>
                    <a:pt x="0" y="12"/>
                  </a:moveTo>
                  <a:lnTo>
                    <a:pt x="2" y="5"/>
                  </a:lnTo>
                  <a:lnTo>
                    <a:pt x="9" y="0"/>
                  </a:lnTo>
                  <a:lnTo>
                    <a:pt x="16" y="0"/>
                  </a:lnTo>
                  <a:lnTo>
                    <a:pt x="20" y="5"/>
                  </a:lnTo>
                  <a:lnTo>
                    <a:pt x="23" y="12"/>
                  </a:lnTo>
                  <a:lnTo>
                    <a:pt x="20" y="18"/>
                  </a:lnTo>
                  <a:lnTo>
                    <a:pt x="16" y="21"/>
                  </a:lnTo>
                  <a:lnTo>
                    <a:pt x="9" y="21"/>
                  </a:lnTo>
                  <a:lnTo>
                    <a:pt x="2" y="1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9" name="Freeform 431"/>
            <p:cNvSpPr>
              <a:spLocks/>
            </p:cNvSpPr>
            <p:nvPr/>
          </p:nvSpPr>
          <p:spPr bwMode="auto">
            <a:xfrm>
              <a:off x="1824" y="2442"/>
              <a:ext cx="22" cy="19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" y="3"/>
                </a:cxn>
                <a:cxn ang="0">
                  <a:pos x="7" y="0"/>
                </a:cxn>
                <a:cxn ang="0">
                  <a:pos x="16" y="0"/>
                </a:cxn>
                <a:cxn ang="0">
                  <a:pos x="20" y="3"/>
                </a:cxn>
                <a:cxn ang="0">
                  <a:pos x="22" y="9"/>
                </a:cxn>
                <a:cxn ang="0">
                  <a:pos x="20" y="15"/>
                </a:cxn>
                <a:cxn ang="0">
                  <a:pos x="16" y="19"/>
                </a:cxn>
                <a:cxn ang="0">
                  <a:pos x="7" y="19"/>
                </a:cxn>
                <a:cxn ang="0">
                  <a:pos x="2" y="15"/>
                </a:cxn>
                <a:cxn ang="0">
                  <a:pos x="0" y="9"/>
                </a:cxn>
              </a:cxnLst>
              <a:rect l="0" t="0" r="r" b="b"/>
              <a:pathLst>
                <a:path w="22" h="19">
                  <a:moveTo>
                    <a:pt x="0" y="9"/>
                  </a:moveTo>
                  <a:lnTo>
                    <a:pt x="2" y="3"/>
                  </a:lnTo>
                  <a:lnTo>
                    <a:pt x="7" y="0"/>
                  </a:lnTo>
                  <a:lnTo>
                    <a:pt x="16" y="0"/>
                  </a:lnTo>
                  <a:lnTo>
                    <a:pt x="20" y="3"/>
                  </a:lnTo>
                  <a:lnTo>
                    <a:pt x="22" y="9"/>
                  </a:lnTo>
                  <a:lnTo>
                    <a:pt x="20" y="15"/>
                  </a:lnTo>
                  <a:lnTo>
                    <a:pt x="16" y="19"/>
                  </a:lnTo>
                  <a:lnTo>
                    <a:pt x="7" y="19"/>
                  </a:lnTo>
                  <a:lnTo>
                    <a:pt x="2" y="1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0" name="Freeform 432"/>
            <p:cNvSpPr>
              <a:spLocks/>
            </p:cNvSpPr>
            <p:nvPr/>
          </p:nvSpPr>
          <p:spPr bwMode="auto">
            <a:xfrm>
              <a:off x="1821" y="2820"/>
              <a:ext cx="23" cy="22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3" y="5"/>
                </a:cxn>
                <a:cxn ang="0">
                  <a:pos x="8" y="0"/>
                </a:cxn>
                <a:cxn ang="0">
                  <a:pos x="16" y="0"/>
                </a:cxn>
                <a:cxn ang="0">
                  <a:pos x="21" y="5"/>
                </a:cxn>
                <a:cxn ang="0">
                  <a:pos x="23" y="11"/>
                </a:cxn>
                <a:cxn ang="0">
                  <a:pos x="21" y="19"/>
                </a:cxn>
                <a:cxn ang="0">
                  <a:pos x="16" y="22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0" y="11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lnTo>
                    <a:pt x="3" y="5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1" y="5"/>
                  </a:lnTo>
                  <a:lnTo>
                    <a:pt x="23" y="11"/>
                  </a:lnTo>
                  <a:lnTo>
                    <a:pt x="21" y="19"/>
                  </a:lnTo>
                  <a:lnTo>
                    <a:pt x="16" y="22"/>
                  </a:lnTo>
                  <a:lnTo>
                    <a:pt x="8" y="22"/>
                  </a:lnTo>
                  <a:lnTo>
                    <a:pt x="3" y="19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1" name="Line 433"/>
            <p:cNvSpPr>
              <a:spLocks noChangeShapeType="1"/>
            </p:cNvSpPr>
            <p:nvPr/>
          </p:nvSpPr>
          <p:spPr bwMode="auto">
            <a:xfrm flipV="1">
              <a:off x="1580" y="2087"/>
              <a:ext cx="1" cy="6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2" name="Line 434"/>
            <p:cNvSpPr>
              <a:spLocks noChangeShapeType="1"/>
            </p:cNvSpPr>
            <p:nvPr/>
          </p:nvSpPr>
          <p:spPr bwMode="auto">
            <a:xfrm>
              <a:off x="1580" y="2776"/>
              <a:ext cx="1" cy="5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3" name="Line 435"/>
            <p:cNvSpPr>
              <a:spLocks noChangeShapeType="1"/>
            </p:cNvSpPr>
            <p:nvPr/>
          </p:nvSpPr>
          <p:spPr bwMode="auto">
            <a:xfrm flipV="1">
              <a:off x="1580" y="2308"/>
              <a:ext cx="1" cy="24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4" name="Line 436"/>
            <p:cNvSpPr>
              <a:spLocks noChangeShapeType="1"/>
            </p:cNvSpPr>
            <p:nvPr/>
          </p:nvSpPr>
          <p:spPr bwMode="auto">
            <a:xfrm flipV="1">
              <a:off x="1494" y="2188"/>
              <a:ext cx="1" cy="9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5" name="Line 437"/>
            <p:cNvSpPr>
              <a:spLocks noChangeShapeType="1"/>
            </p:cNvSpPr>
            <p:nvPr/>
          </p:nvSpPr>
          <p:spPr bwMode="auto">
            <a:xfrm flipV="1">
              <a:off x="1514" y="2160"/>
              <a:ext cx="1" cy="14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6" name="Line 438"/>
            <p:cNvSpPr>
              <a:spLocks noChangeShapeType="1"/>
            </p:cNvSpPr>
            <p:nvPr/>
          </p:nvSpPr>
          <p:spPr bwMode="auto">
            <a:xfrm flipH="1" flipV="1">
              <a:off x="1514" y="2261"/>
              <a:ext cx="44" cy="3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7" name="Freeform 439"/>
            <p:cNvSpPr>
              <a:spLocks/>
            </p:cNvSpPr>
            <p:nvPr/>
          </p:nvSpPr>
          <p:spPr bwMode="auto">
            <a:xfrm>
              <a:off x="1545" y="2275"/>
              <a:ext cx="37" cy="33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37" y="33"/>
                </a:cxn>
                <a:cxn ang="0">
                  <a:pos x="0" y="27"/>
                </a:cxn>
                <a:cxn ang="0">
                  <a:pos x="18" y="0"/>
                </a:cxn>
              </a:cxnLst>
              <a:rect l="0" t="0" r="r" b="b"/>
              <a:pathLst>
                <a:path w="37" h="33">
                  <a:moveTo>
                    <a:pt x="18" y="0"/>
                  </a:moveTo>
                  <a:lnTo>
                    <a:pt x="37" y="33"/>
                  </a:lnTo>
                  <a:lnTo>
                    <a:pt x="0" y="2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8" name="Line 440"/>
            <p:cNvSpPr>
              <a:spLocks noChangeShapeType="1"/>
            </p:cNvSpPr>
            <p:nvPr/>
          </p:nvSpPr>
          <p:spPr bwMode="auto">
            <a:xfrm flipV="1">
              <a:off x="1514" y="2147"/>
              <a:ext cx="66" cy="5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9" name="Freeform 441"/>
            <p:cNvSpPr>
              <a:spLocks/>
            </p:cNvSpPr>
            <p:nvPr/>
          </p:nvSpPr>
          <p:spPr bwMode="auto">
            <a:xfrm>
              <a:off x="1613" y="2218"/>
              <a:ext cx="33" cy="31"/>
            </a:xfrm>
            <a:custGeom>
              <a:avLst/>
              <a:gdLst/>
              <a:ahLst/>
              <a:cxnLst>
                <a:cxn ang="0">
                  <a:pos x="0" y="31"/>
                </a:cxn>
                <a:cxn ang="0">
                  <a:pos x="33" y="31"/>
                </a:cxn>
                <a:cxn ang="0">
                  <a:pos x="17" y="0"/>
                </a:cxn>
                <a:cxn ang="0">
                  <a:pos x="0" y="31"/>
                </a:cxn>
              </a:cxnLst>
              <a:rect l="0" t="0" r="r" b="b"/>
              <a:pathLst>
                <a:path w="33" h="31">
                  <a:moveTo>
                    <a:pt x="0" y="31"/>
                  </a:moveTo>
                  <a:lnTo>
                    <a:pt x="33" y="31"/>
                  </a:lnTo>
                  <a:lnTo>
                    <a:pt x="17" y="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0" name="Line 442"/>
            <p:cNvSpPr>
              <a:spLocks noChangeShapeType="1"/>
            </p:cNvSpPr>
            <p:nvPr/>
          </p:nvSpPr>
          <p:spPr bwMode="auto">
            <a:xfrm flipH="1">
              <a:off x="1468" y="2188"/>
              <a:ext cx="26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1" name="Line 443"/>
            <p:cNvSpPr>
              <a:spLocks noChangeShapeType="1"/>
            </p:cNvSpPr>
            <p:nvPr/>
          </p:nvSpPr>
          <p:spPr bwMode="auto">
            <a:xfrm flipH="1">
              <a:off x="1611" y="2218"/>
              <a:ext cx="36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2" name="Freeform 444"/>
            <p:cNvSpPr>
              <a:spLocks/>
            </p:cNvSpPr>
            <p:nvPr/>
          </p:nvSpPr>
          <p:spPr bwMode="auto">
            <a:xfrm>
              <a:off x="1580" y="2147"/>
              <a:ext cx="50" cy="71"/>
            </a:xfrm>
            <a:custGeom>
              <a:avLst/>
              <a:gdLst/>
              <a:ahLst/>
              <a:cxnLst>
                <a:cxn ang="0">
                  <a:pos x="50" y="71"/>
                </a:cxn>
                <a:cxn ang="0">
                  <a:pos x="50" y="0"/>
                </a:cxn>
                <a:cxn ang="0">
                  <a:pos x="0" y="0"/>
                </a:cxn>
              </a:cxnLst>
              <a:rect l="0" t="0" r="r" b="b"/>
              <a:pathLst>
                <a:path w="50" h="71">
                  <a:moveTo>
                    <a:pt x="50" y="71"/>
                  </a:moveTo>
                  <a:lnTo>
                    <a:pt x="50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3" name="Freeform 445"/>
            <p:cNvSpPr>
              <a:spLocks/>
            </p:cNvSpPr>
            <p:nvPr/>
          </p:nvSpPr>
          <p:spPr bwMode="auto">
            <a:xfrm>
              <a:off x="1582" y="2249"/>
              <a:ext cx="48" cy="59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48" y="59"/>
                </a:cxn>
                <a:cxn ang="0">
                  <a:pos x="0" y="59"/>
                </a:cxn>
              </a:cxnLst>
              <a:rect l="0" t="0" r="r" b="b"/>
              <a:pathLst>
                <a:path w="48" h="59">
                  <a:moveTo>
                    <a:pt x="48" y="0"/>
                  </a:moveTo>
                  <a:lnTo>
                    <a:pt x="48" y="59"/>
                  </a:lnTo>
                  <a:lnTo>
                    <a:pt x="0" y="59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4" name="Line 446"/>
            <p:cNvSpPr>
              <a:spLocks noChangeShapeType="1"/>
            </p:cNvSpPr>
            <p:nvPr/>
          </p:nvSpPr>
          <p:spPr bwMode="auto">
            <a:xfrm flipV="1">
              <a:off x="1580" y="2554"/>
              <a:ext cx="1" cy="5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5" name="Line 447"/>
            <p:cNvSpPr>
              <a:spLocks noChangeShapeType="1"/>
            </p:cNvSpPr>
            <p:nvPr/>
          </p:nvSpPr>
          <p:spPr bwMode="auto">
            <a:xfrm flipV="1">
              <a:off x="1494" y="2655"/>
              <a:ext cx="1" cy="8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6" name="Line 448"/>
            <p:cNvSpPr>
              <a:spLocks noChangeShapeType="1"/>
            </p:cNvSpPr>
            <p:nvPr/>
          </p:nvSpPr>
          <p:spPr bwMode="auto">
            <a:xfrm flipV="1">
              <a:off x="1514" y="2625"/>
              <a:ext cx="1" cy="15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7" name="Line 449"/>
            <p:cNvSpPr>
              <a:spLocks noChangeShapeType="1"/>
            </p:cNvSpPr>
            <p:nvPr/>
          </p:nvSpPr>
          <p:spPr bwMode="auto">
            <a:xfrm flipH="1" flipV="1">
              <a:off x="1514" y="2728"/>
              <a:ext cx="44" cy="3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8" name="Freeform 450"/>
            <p:cNvSpPr>
              <a:spLocks/>
            </p:cNvSpPr>
            <p:nvPr/>
          </p:nvSpPr>
          <p:spPr bwMode="auto">
            <a:xfrm>
              <a:off x="1545" y="2742"/>
              <a:ext cx="37" cy="34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37" y="34"/>
                </a:cxn>
                <a:cxn ang="0">
                  <a:pos x="0" y="27"/>
                </a:cxn>
                <a:cxn ang="0">
                  <a:pos x="18" y="0"/>
                </a:cxn>
              </a:cxnLst>
              <a:rect l="0" t="0" r="r" b="b"/>
              <a:pathLst>
                <a:path w="37" h="34">
                  <a:moveTo>
                    <a:pt x="18" y="0"/>
                  </a:moveTo>
                  <a:lnTo>
                    <a:pt x="37" y="34"/>
                  </a:lnTo>
                  <a:lnTo>
                    <a:pt x="0" y="2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9" name="Line 451"/>
            <p:cNvSpPr>
              <a:spLocks noChangeShapeType="1"/>
            </p:cNvSpPr>
            <p:nvPr/>
          </p:nvSpPr>
          <p:spPr bwMode="auto">
            <a:xfrm flipV="1">
              <a:off x="1514" y="2613"/>
              <a:ext cx="66" cy="5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0" name="Freeform 452"/>
            <p:cNvSpPr>
              <a:spLocks/>
            </p:cNvSpPr>
            <p:nvPr/>
          </p:nvSpPr>
          <p:spPr bwMode="auto">
            <a:xfrm>
              <a:off x="1613" y="2685"/>
              <a:ext cx="33" cy="29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33" y="29"/>
                </a:cxn>
                <a:cxn ang="0">
                  <a:pos x="17" y="0"/>
                </a:cxn>
                <a:cxn ang="0">
                  <a:pos x="0" y="29"/>
                </a:cxn>
              </a:cxnLst>
              <a:rect l="0" t="0" r="r" b="b"/>
              <a:pathLst>
                <a:path w="33" h="29">
                  <a:moveTo>
                    <a:pt x="0" y="29"/>
                  </a:moveTo>
                  <a:lnTo>
                    <a:pt x="33" y="29"/>
                  </a:lnTo>
                  <a:lnTo>
                    <a:pt x="17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1" name="Line 453"/>
            <p:cNvSpPr>
              <a:spLocks noChangeShapeType="1"/>
            </p:cNvSpPr>
            <p:nvPr/>
          </p:nvSpPr>
          <p:spPr bwMode="auto">
            <a:xfrm flipH="1">
              <a:off x="1468" y="2655"/>
              <a:ext cx="26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2" name="Line 454"/>
            <p:cNvSpPr>
              <a:spLocks noChangeShapeType="1"/>
            </p:cNvSpPr>
            <p:nvPr/>
          </p:nvSpPr>
          <p:spPr bwMode="auto">
            <a:xfrm flipH="1">
              <a:off x="1611" y="2685"/>
              <a:ext cx="36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3" name="Freeform 455"/>
            <p:cNvSpPr>
              <a:spLocks/>
            </p:cNvSpPr>
            <p:nvPr/>
          </p:nvSpPr>
          <p:spPr bwMode="auto">
            <a:xfrm>
              <a:off x="1580" y="2613"/>
              <a:ext cx="50" cy="72"/>
            </a:xfrm>
            <a:custGeom>
              <a:avLst/>
              <a:gdLst/>
              <a:ahLst/>
              <a:cxnLst>
                <a:cxn ang="0">
                  <a:pos x="50" y="72"/>
                </a:cxn>
                <a:cxn ang="0">
                  <a:pos x="50" y="0"/>
                </a:cxn>
                <a:cxn ang="0">
                  <a:pos x="0" y="0"/>
                </a:cxn>
              </a:cxnLst>
              <a:rect l="0" t="0" r="r" b="b"/>
              <a:pathLst>
                <a:path w="50" h="72">
                  <a:moveTo>
                    <a:pt x="50" y="72"/>
                  </a:moveTo>
                  <a:lnTo>
                    <a:pt x="50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4" name="Freeform 456"/>
            <p:cNvSpPr>
              <a:spLocks/>
            </p:cNvSpPr>
            <p:nvPr/>
          </p:nvSpPr>
          <p:spPr bwMode="auto">
            <a:xfrm>
              <a:off x="1582" y="2714"/>
              <a:ext cx="48" cy="62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48" y="62"/>
                </a:cxn>
                <a:cxn ang="0">
                  <a:pos x="0" y="62"/>
                </a:cxn>
              </a:cxnLst>
              <a:rect l="0" t="0" r="r" b="b"/>
              <a:pathLst>
                <a:path w="48" h="62">
                  <a:moveTo>
                    <a:pt x="48" y="0"/>
                  </a:moveTo>
                  <a:lnTo>
                    <a:pt x="48" y="62"/>
                  </a:lnTo>
                  <a:lnTo>
                    <a:pt x="0" y="62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5" name="Freeform 457"/>
            <p:cNvSpPr>
              <a:spLocks/>
            </p:cNvSpPr>
            <p:nvPr/>
          </p:nvSpPr>
          <p:spPr bwMode="auto">
            <a:xfrm>
              <a:off x="1568" y="2382"/>
              <a:ext cx="22" cy="2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" y="4"/>
                </a:cxn>
                <a:cxn ang="0">
                  <a:pos x="9" y="0"/>
                </a:cxn>
                <a:cxn ang="0">
                  <a:pos x="15" y="0"/>
                </a:cxn>
                <a:cxn ang="0">
                  <a:pos x="20" y="4"/>
                </a:cxn>
                <a:cxn ang="0">
                  <a:pos x="22" y="11"/>
                </a:cxn>
                <a:cxn ang="0">
                  <a:pos x="20" y="16"/>
                </a:cxn>
                <a:cxn ang="0">
                  <a:pos x="15" y="20"/>
                </a:cxn>
                <a:cxn ang="0">
                  <a:pos x="9" y="20"/>
                </a:cxn>
                <a:cxn ang="0">
                  <a:pos x="2" y="16"/>
                </a:cxn>
                <a:cxn ang="0">
                  <a:pos x="0" y="11"/>
                </a:cxn>
              </a:cxnLst>
              <a:rect l="0" t="0" r="r" b="b"/>
              <a:pathLst>
                <a:path w="22" h="20">
                  <a:moveTo>
                    <a:pt x="0" y="11"/>
                  </a:moveTo>
                  <a:lnTo>
                    <a:pt x="2" y="4"/>
                  </a:lnTo>
                  <a:lnTo>
                    <a:pt x="9" y="0"/>
                  </a:lnTo>
                  <a:lnTo>
                    <a:pt x="15" y="0"/>
                  </a:lnTo>
                  <a:lnTo>
                    <a:pt x="20" y="4"/>
                  </a:lnTo>
                  <a:lnTo>
                    <a:pt x="22" y="11"/>
                  </a:lnTo>
                  <a:lnTo>
                    <a:pt x="20" y="16"/>
                  </a:lnTo>
                  <a:lnTo>
                    <a:pt x="15" y="20"/>
                  </a:lnTo>
                  <a:lnTo>
                    <a:pt x="9" y="20"/>
                  </a:lnTo>
                  <a:lnTo>
                    <a:pt x="2" y="16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6" name="Freeform 458"/>
            <p:cNvSpPr>
              <a:spLocks/>
            </p:cNvSpPr>
            <p:nvPr/>
          </p:nvSpPr>
          <p:spPr bwMode="auto">
            <a:xfrm>
              <a:off x="1568" y="2823"/>
              <a:ext cx="22" cy="2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" y="4"/>
                </a:cxn>
                <a:cxn ang="0">
                  <a:pos x="9" y="0"/>
                </a:cxn>
                <a:cxn ang="0">
                  <a:pos x="15" y="0"/>
                </a:cxn>
                <a:cxn ang="0">
                  <a:pos x="20" y="4"/>
                </a:cxn>
                <a:cxn ang="0">
                  <a:pos x="22" y="10"/>
                </a:cxn>
                <a:cxn ang="0">
                  <a:pos x="20" y="17"/>
                </a:cxn>
                <a:cxn ang="0">
                  <a:pos x="15" y="20"/>
                </a:cxn>
                <a:cxn ang="0">
                  <a:pos x="9" y="20"/>
                </a:cxn>
                <a:cxn ang="0">
                  <a:pos x="2" y="17"/>
                </a:cxn>
                <a:cxn ang="0">
                  <a:pos x="0" y="10"/>
                </a:cxn>
              </a:cxnLst>
              <a:rect l="0" t="0" r="r" b="b"/>
              <a:pathLst>
                <a:path w="22" h="20">
                  <a:moveTo>
                    <a:pt x="0" y="10"/>
                  </a:moveTo>
                  <a:lnTo>
                    <a:pt x="2" y="4"/>
                  </a:lnTo>
                  <a:lnTo>
                    <a:pt x="9" y="0"/>
                  </a:lnTo>
                  <a:lnTo>
                    <a:pt x="15" y="0"/>
                  </a:lnTo>
                  <a:lnTo>
                    <a:pt x="20" y="4"/>
                  </a:lnTo>
                  <a:lnTo>
                    <a:pt x="22" y="10"/>
                  </a:lnTo>
                  <a:lnTo>
                    <a:pt x="20" y="17"/>
                  </a:lnTo>
                  <a:lnTo>
                    <a:pt x="15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7" name="Freeform 459"/>
            <p:cNvSpPr>
              <a:spLocks/>
            </p:cNvSpPr>
            <p:nvPr/>
          </p:nvSpPr>
          <p:spPr bwMode="auto">
            <a:xfrm>
              <a:off x="1568" y="2078"/>
              <a:ext cx="21" cy="21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1" y="4"/>
                </a:cxn>
                <a:cxn ang="0">
                  <a:pos x="9" y="0"/>
                </a:cxn>
                <a:cxn ang="0">
                  <a:pos x="14" y="0"/>
                </a:cxn>
                <a:cxn ang="0">
                  <a:pos x="20" y="4"/>
                </a:cxn>
                <a:cxn ang="0">
                  <a:pos x="21" y="11"/>
                </a:cxn>
                <a:cxn ang="0">
                  <a:pos x="20" y="18"/>
                </a:cxn>
                <a:cxn ang="0">
                  <a:pos x="14" y="21"/>
                </a:cxn>
                <a:cxn ang="0">
                  <a:pos x="9" y="21"/>
                </a:cxn>
                <a:cxn ang="0">
                  <a:pos x="1" y="18"/>
                </a:cxn>
                <a:cxn ang="0">
                  <a:pos x="0" y="11"/>
                </a:cxn>
              </a:cxnLst>
              <a:rect l="0" t="0" r="r" b="b"/>
              <a:pathLst>
                <a:path w="21" h="21">
                  <a:moveTo>
                    <a:pt x="0" y="11"/>
                  </a:moveTo>
                  <a:lnTo>
                    <a:pt x="1" y="4"/>
                  </a:lnTo>
                  <a:lnTo>
                    <a:pt x="9" y="0"/>
                  </a:lnTo>
                  <a:lnTo>
                    <a:pt x="14" y="0"/>
                  </a:lnTo>
                  <a:lnTo>
                    <a:pt x="20" y="4"/>
                  </a:lnTo>
                  <a:lnTo>
                    <a:pt x="21" y="11"/>
                  </a:lnTo>
                  <a:lnTo>
                    <a:pt x="20" y="18"/>
                  </a:lnTo>
                  <a:lnTo>
                    <a:pt x="14" y="21"/>
                  </a:lnTo>
                  <a:lnTo>
                    <a:pt x="9" y="21"/>
                  </a:lnTo>
                  <a:lnTo>
                    <a:pt x="1" y="18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8" name="Rectangle 460"/>
            <p:cNvSpPr>
              <a:spLocks noChangeArrowheads="1"/>
            </p:cNvSpPr>
            <p:nvPr/>
          </p:nvSpPr>
          <p:spPr bwMode="auto">
            <a:xfrm>
              <a:off x="183" y="2220"/>
              <a:ext cx="6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3</a:t>
              </a:r>
              <a:endParaRPr lang="en-US" altLang="ko-KR"/>
            </a:p>
          </p:txBody>
        </p:sp>
        <p:sp>
          <p:nvSpPr>
            <p:cNvPr id="2509" name="Rectangle 461"/>
            <p:cNvSpPr>
              <a:spLocks noChangeArrowheads="1"/>
            </p:cNvSpPr>
            <p:nvPr/>
          </p:nvSpPr>
          <p:spPr bwMode="auto">
            <a:xfrm>
              <a:off x="217" y="2224"/>
              <a:ext cx="92" cy="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8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상</a:t>
              </a:r>
              <a:endParaRPr lang="ko-KR" altLang="en-US"/>
            </a:p>
          </p:txBody>
        </p:sp>
        <p:sp>
          <p:nvSpPr>
            <p:cNvPr id="2510" name="Rectangle 462"/>
            <p:cNvSpPr>
              <a:spLocks noChangeArrowheads="1"/>
            </p:cNvSpPr>
            <p:nvPr/>
          </p:nvSpPr>
          <p:spPr bwMode="auto">
            <a:xfrm>
              <a:off x="277" y="2220"/>
              <a:ext cx="1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 380</a:t>
              </a:r>
              <a:endParaRPr lang="en-US" altLang="ko-KR"/>
            </a:p>
          </p:txBody>
        </p:sp>
        <p:sp>
          <p:nvSpPr>
            <p:cNvPr id="2511" name="Rectangle 463"/>
            <p:cNvSpPr>
              <a:spLocks noChangeArrowheads="1"/>
            </p:cNvSpPr>
            <p:nvPr/>
          </p:nvSpPr>
          <p:spPr bwMode="auto">
            <a:xfrm>
              <a:off x="395" y="2220"/>
              <a:ext cx="69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V</a:t>
              </a:r>
              <a:endParaRPr lang="en-US" altLang="ko-KR"/>
            </a:p>
          </p:txBody>
        </p:sp>
        <p:sp>
          <p:nvSpPr>
            <p:cNvPr id="2512" name="Rectangle 464"/>
            <p:cNvSpPr>
              <a:spLocks noChangeArrowheads="1"/>
            </p:cNvSpPr>
            <p:nvPr/>
          </p:nvSpPr>
          <p:spPr bwMode="auto">
            <a:xfrm>
              <a:off x="711" y="1973"/>
              <a:ext cx="21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DIODE</a:t>
              </a:r>
              <a:endParaRPr lang="en-US" altLang="ko-KR"/>
            </a:p>
          </p:txBody>
        </p:sp>
        <p:sp>
          <p:nvSpPr>
            <p:cNvPr id="2513" name="Rectangle 465"/>
            <p:cNvSpPr>
              <a:spLocks noChangeArrowheads="1"/>
            </p:cNvSpPr>
            <p:nvPr/>
          </p:nvSpPr>
          <p:spPr bwMode="auto">
            <a:xfrm>
              <a:off x="611" y="1902"/>
              <a:ext cx="399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CONVERTER</a:t>
              </a:r>
              <a:endParaRPr lang="en-US" altLang="ko-KR"/>
            </a:p>
          </p:txBody>
        </p:sp>
        <p:sp>
          <p:nvSpPr>
            <p:cNvPr id="2514" name="Rectangle 466"/>
            <p:cNvSpPr>
              <a:spLocks noChangeArrowheads="1"/>
            </p:cNvSpPr>
            <p:nvPr/>
          </p:nvSpPr>
          <p:spPr bwMode="auto">
            <a:xfrm>
              <a:off x="2390" y="2284"/>
              <a:ext cx="150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HCT</a:t>
              </a:r>
              <a:endParaRPr lang="en-US" altLang="ko-KR"/>
            </a:p>
          </p:txBody>
        </p:sp>
        <p:sp>
          <p:nvSpPr>
            <p:cNvPr id="2515" name="Rectangle 467"/>
            <p:cNvSpPr>
              <a:spLocks noChangeArrowheads="1"/>
            </p:cNvSpPr>
            <p:nvPr/>
          </p:nvSpPr>
          <p:spPr bwMode="auto">
            <a:xfrm>
              <a:off x="1419" y="3334"/>
              <a:ext cx="437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DPP-12X , 13X</a:t>
              </a:r>
              <a:endParaRPr lang="en-US" altLang="ko-KR"/>
            </a:p>
          </p:txBody>
        </p:sp>
        <p:sp>
          <p:nvSpPr>
            <p:cNvPr id="2516" name="Freeform 468"/>
            <p:cNvSpPr>
              <a:spLocks/>
            </p:cNvSpPr>
            <p:nvPr/>
          </p:nvSpPr>
          <p:spPr bwMode="auto">
            <a:xfrm>
              <a:off x="1373" y="2188"/>
              <a:ext cx="94" cy="949"/>
            </a:xfrm>
            <a:custGeom>
              <a:avLst/>
              <a:gdLst/>
              <a:ahLst/>
              <a:cxnLst>
                <a:cxn ang="0">
                  <a:pos x="0" y="949"/>
                </a:cxn>
                <a:cxn ang="0">
                  <a:pos x="0" y="0"/>
                </a:cxn>
                <a:cxn ang="0">
                  <a:pos x="94" y="0"/>
                </a:cxn>
              </a:cxnLst>
              <a:rect l="0" t="0" r="r" b="b"/>
              <a:pathLst>
                <a:path w="94" h="949">
                  <a:moveTo>
                    <a:pt x="0" y="949"/>
                  </a:moveTo>
                  <a:lnTo>
                    <a:pt x="0" y="0"/>
                  </a:lnTo>
                  <a:lnTo>
                    <a:pt x="94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7" name="Freeform 469"/>
            <p:cNvSpPr>
              <a:spLocks/>
            </p:cNvSpPr>
            <p:nvPr/>
          </p:nvSpPr>
          <p:spPr bwMode="auto">
            <a:xfrm>
              <a:off x="1409" y="2656"/>
              <a:ext cx="57" cy="481"/>
            </a:xfrm>
            <a:custGeom>
              <a:avLst/>
              <a:gdLst/>
              <a:ahLst/>
              <a:cxnLst>
                <a:cxn ang="0">
                  <a:pos x="0" y="481"/>
                </a:cxn>
                <a:cxn ang="0">
                  <a:pos x="0" y="0"/>
                </a:cxn>
                <a:cxn ang="0">
                  <a:pos x="57" y="0"/>
                </a:cxn>
              </a:cxnLst>
              <a:rect l="0" t="0" r="r" b="b"/>
              <a:pathLst>
                <a:path w="57" h="481">
                  <a:moveTo>
                    <a:pt x="0" y="481"/>
                  </a:moveTo>
                  <a:lnTo>
                    <a:pt x="0" y="0"/>
                  </a:lnTo>
                  <a:lnTo>
                    <a:pt x="57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8" name="Freeform 470"/>
            <p:cNvSpPr>
              <a:spLocks/>
            </p:cNvSpPr>
            <p:nvPr/>
          </p:nvSpPr>
          <p:spPr bwMode="auto">
            <a:xfrm>
              <a:off x="1483" y="2394"/>
              <a:ext cx="212" cy="743"/>
            </a:xfrm>
            <a:custGeom>
              <a:avLst/>
              <a:gdLst/>
              <a:ahLst/>
              <a:cxnLst>
                <a:cxn ang="0">
                  <a:pos x="212" y="0"/>
                </a:cxn>
                <a:cxn ang="0">
                  <a:pos x="212" y="636"/>
                </a:cxn>
                <a:cxn ang="0">
                  <a:pos x="0" y="636"/>
                </a:cxn>
                <a:cxn ang="0">
                  <a:pos x="0" y="743"/>
                </a:cxn>
              </a:cxnLst>
              <a:rect l="0" t="0" r="r" b="b"/>
              <a:pathLst>
                <a:path w="212" h="743">
                  <a:moveTo>
                    <a:pt x="212" y="0"/>
                  </a:moveTo>
                  <a:lnTo>
                    <a:pt x="212" y="636"/>
                  </a:lnTo>
                  <a:lnTo>
                    <a:pt x="0" y="636"/>
                  </a:lnTo>
                  <a:lnTo>
                    <a:pt x="0" y="743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9" name="Freeform 471"/>
            <p:cNvSpPr>
              <a:spLocks/>
            </p:cNvSpPr>
            <p:nvPr/>
          </p:nvSpPr>
          <p:spPr bwMode="auto">
            <a:xfrm>
              <a:off x="1686" y="2385"/>
              <a:ext cx="23" cy="21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" y="4"/>
                </a:cxn>
                <a:cxn ang="0">
                  <a:pos x="7" y="0"/>
                </a:cxn>
                <a:cxn ang="0">
                  <a:pos x="14" y="0"/>
                </a:cxn>
                <a:cxn ang="0">
                  <a:pos x="20" y="4"/>
                </a:cxn>
                <a:cxn ang="0">
                  <a:pos x="23" y="10"/>
                </a:cxn>
                <a:cxn ang="0">
                  <a:pos x="20" y="17"/>
                </a:cxn>
                <a:cxn ang="0">
                  <a:pos x="14" y="21"/>
                </a:cxn>
                <a:cxn ang="0">
                  <a:pos x="7" y="21"/>
                </a:cxn>
                <a:cxn ang="0">
                  <a:pos x="2" y="17"/>
                </a:cxn>
                <a:cxn ang="0">
                  <a:pos x="0" y="10"/>
                </a:cxn>
              </a:cxnLst>
              <a:rect l="0" t="0" r="r" b="b"/>
              <a:pathLst>
                <a:path w="23" h="21">
                  <a:moveTo>
                    <a:pt x="0" y="10"/>
                  </a:moveTo>
                  <a:lnTo>
                    <a:pt x="2" y="4"/>
                  </a:lnTo>
                  <a:lnTo>
                    <a:pt x="7" y="0"/>
                  </a:lnTo>
                  <a:lnTo>
                    <a:pt x="14" y="0"/>
                  </a:lnTo>
                  <a:lnTo>
                    <a:pt x="20" y="4"/>
                  </a:lnTo>
                  <a:lnTo>
                    <a:pt x="23" y="10"/>
                  </a:lnTo>
                  <a:lnTo>
                    <a:pt x="20" y="17"/>
                  </a:lnTo>
                  <a:lnTo>
                    <a:pt x="14" y="21"/>
                  </a:lnTo>
                  <a:lnTo>
                    <a:pt x="7" y="21"/>
                  </a:lnTo>
                  <a:lnTo>
                    <a:pt x="2" y="17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0" name="Freeform 472"/>
            <p:cNvSpPr>
              <a:spLocks/>
            </p:cNvSpPr>
            <p:nvPr/>
          </p:nvSpPr>
          <p:spPr bwMode="auto">
            <a:xfrm>
              <a:off x="1447" y="2840"/>
              <a:ext cx="133" cy="295"/>
            </a:xfrm>
            <a:custGeom>
              <a:avLst/>
              <a:gdLst/>
              <a:ahLst/>
              <a:cxnLst>
                <a:cxn ang="0">
                  <a:pos x="133" y="0"/>
                </a:cxn>
                <a:cxn ang="0">
                  <a:pos x="133" y="148"/>
                </a:cxn>
                <a:cxn ang="0">
                  <a:pos x="0" y="148"/>
                </a:cxn>
                <a:cxn ang="0">
                  <a:pos x="0" y="295"/>
                </a:cxn>
              </a:cxnLst>
              <a:rect l="0" t="0" r="r" b="b"/>
              <a:pathLst>
                <a:path w="133" h="295">
                  <a:moveTo>
                    <a:pt x="133" y="0"/>
                  </a:moveTo>
                  <a:lnTo>
                    <a:pt x="133" y="148"/>
                  </a:lnTo>
                  <a:lnTo>
                    <a:pt x="0" y="148"/>
                  </a:lnTo>
                  <a:lnTo>
                    <a:pt x="0" y="295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1" name="Freeform 473"/>
            <p:cNvSpPr>
              <a:spLocks/>
            </p:cNvSpPr>
            <p:nvPr/>
          </p:nvSpPr>
          <p:spPr bwMode="auto">
            <a:xfrm>
              <a:off x="2094" y="2091"/>
              <a:ext cx="89" cy="8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9" y="0"/>
                </a:cxn>
                <a:cxn ang="0">
                  <a:pos x="89" y="887"/>
                </a:cxn>
              </a:cxnLst>
              <a:rect l="0" t="0" r="r" b="b"/>
              <a:pathLst>
                <a:path w="89" h="887">
                  <a:moveTo>
                    <a:pt x="0" y="0"/>
                  </a:moveTo>
                  <a:lnTo>
                    <a:pt x="89" y="0"/>
                  </a:lnTo>
                  <a:lnTo>
                    <a:pt x="89" y="887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2" name="Freeform 474"/>
            <p:cNvSpPr>
              <a:spLocks/>
            </p:cNvSpPr>
            <p:nvPr/>
          </p:nvSpPr>
          <p:spPr bwMode="auto">
            <a:xfrm>
              <a:off x="2071" y="2978"/>
              <a:ext cx="112" cy="159"/>
            </a:xfrm>
            <a:custGeom>
              <a:avLst/>
              <a:gdLst/>
              <a:ahLst/>
              <a:cxnLst>
                <a:cxn ang="0">
                  <a:pos x="0" y="159"/>
                </a:cxn>
                <a:cxn ang="0">
                  <a:pos x="0" y="0"/>
                </a:cxn>
                <a:cxn ang="0">
                  <a:pos x="112" y="0"/>
                </a:cxn>
              </a:cxnLst>
              <a:rect l="0" t="0" r="r" b="b"/>
              <a:pathLst>
                <a:path w="112" h="159">
                  <a:moveTo>
                    <a:pt x="0" y="159"/>
                  </a:moveTo>
                  <a:lnTo>
                    <a:pt x="0" y="0"/>
                  </a:lnTo>
                  <a:lnTo>
                    <a:pt x="112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3" name="Freeform 475"/>
            <p:cNvSpPr>
              <a:spLocks/>
            </p:cNvSpPr>
            <p:nvPr/>
          </p:nvSpPr>
          <p:spPr bwMode="auto">
            <a:xfrm>
              <a:off x="2081" y="2078"/>
              <a:ext cx="23" cy="21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" y="4"/>
                </a:cxn>
                <a:cxn ang="0">
                  <a:pos x="7" y="0"/>
                </a:cxn>
                <a:cxn ang="0">
                  <a:pos x="15" y="0"/>
                </a:cxn>
                <a:cxn ang="0">
                  <a:pos x="19" y="4"/>
                </a:cxn>
                <a:cxn ang="0">
                  <a:pos x="23" y="11"/>
                </a:cxn>
                <a:cxn ang="0">
                  <a:pos x="19" y="18"/>
                </a:cxn>
                <a:cxn ang="0">
                  <a:pos x="15" y="21"/>
                </a:cxn>
                <a:cxn ang="0">
                  <a:pos x="7" y="21"/>
                </a:cxn>
                <a:cxn ang="0">
                  <a:pos x="2" y="18"/>
                </a:cxn>
                <a:cxn ang="0">
                  <a:pos x="0" y="11"/>
                </a:cxn>
              </a:cxnLst>
              <a:rect l="0" t="0" r="r" b="b"/>
              <a:pathLst>
                <a:path w="23" h="21">
                  <a:moveTo>
                    <a:pt x="0" y="11"/>
                  </a:moveTo>
                  <a:lnTo>
                    <a:pt x="2" y="4"/>
                  </a:lnTo>
                  <a:lnTo>
                    <a:pt x="7" y="0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23" y="11"/>
                  </a:lnTo>
                  <a:lnTo>
                    <a:pt x="19" y="18"/>
                  </a:lnTo>
                  <a:lnTo>
                    <a:pt x="15" y="21"/>
                  </a:lnTo>
                  <a:lnTo>
                    <a:pt x="7" y="21"/>
                  </a:lnTo>
                  <a:lnTo>
                    <a:pt x="2" y="18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4" name="Rectangle 476"/>
            <p:cNvSpPr>
              <a:spLocks noChangeArrowheads="1"/>
            </p:cNvSpPr>
            <p:nvPr/>
          </p:nvSpPr>
          <p:spPr bwMode="auto">
            <a:xfrm rot="16200000">
              <a:off x="2001" y="3156"/>
              <a:ext cx="156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GP - 01</a:t>
              </a:r>
              <a:endParaRPr lang="en-US" altLang="ko-KR"/>
            </a:p>
          </p:txBody>
        </p:sp>
        <p:sp>
          <p:nvSpPr>
            <p:cNvPr id="2525" name="Rectangle 477"/>
            <p:cNvSpPr>
              <a:spLocks noChangeArrowheads="1"/>
            </p:cNvSpPr>
            <p:nvPr/>
          </p:nvSpPr>
          <p:spPr bwMode="auto">
            <a:xfrm>
              <a:off x="160" y="3126"/>
              <a:ext cx="92" cy="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8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단</a:t>
              </a:r>
              <a:endParaRPr lang="ko-KR" altLang="en-US"/>
            </a:p>
          </p:txBody>
        </p:sp>
        <p:sp>
          <p:nvSpPr>
            <p:cNvPr id="2526" name="Rectangle 478"/>
            <p:cNvSpPr>
              <a:spLocks noChangeArrowheads="1"/>
            </p:cNvSpPr>
            <p:nvPr/>
          </p:nvSpPr>
          <p:spPr bwMode="auto">
            <a:xfrm>
              <a:off x="160" y="3199"/>
              <a:ext cx="92" cy="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8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상</a:t>
              </a:r>
              <a:endParaRPr lang="ko-KR" altLang="en-US"/>
            </a:p>
          </p:txBody>
        </p:sp>
        <p:sp>
          <p:nvSpPr>
            <p:cNvPr id="2527" name="Rectangle 479"/>
            <p:cNvSpPr>
              <a:spLocks noChangeArrowheads="1"/>
            </p:cNvSpPr>
            <p:nvPr/>
          </p:nvSpPr>
          <p:spPr bwMode="auto">
            <a:xfrm>
              <a:off x="251" y="3159"/>
              <a:ext cx="1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 110</a:t>
              </a:r>
              <a:endParaRPr lang="en-US" altLang="ko-KR"/>
            </a:p>
          </p:txBody>
        </p:sp>
        <p:sp>
          <p:nvSpPr>
            <p:cNvPr id="2528" name="Rectangle 480"/>
            <p:cNvSpPr>
              <a:spLocks noChangeArrowheads="1"/>
            </p:cNvSpPr>
            <p:nvPr/>
          </p:nvSpPr>
          <p:spPr bwMode="auto">
            <a:xfrm>
              <a:off x="368" y="3159"/>
              <a:ext cx="69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V</a:t>
              </a:r>
              <a:endParaRPr lang="en-US" altLang="ko-KR"/>
            </a:p>
          </p:txBody>
        </p:sp>
        <p:sp>
          <p:nvSpPr>
            <p:cNvPr id="2529" name="Line 481"/>
            <p:cNvSpPr>
              <a:spLocks noChangeShapeType="1"/>
            </p:cNvSpPr>
            <p:nvPr/>
          </p:nvSpPr>
          <p:spPr bwMode="auto">
            <a:xfrm flipH="1">
              <a:off x="246" y="3286"/>
              <a:ext cx="246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0" name="Line 482"/>
            <p:cNvSpPr>
              <a:spLocks noChangeShapeType="1"/>
            </p:cNvSpPr>
            <p:nvPr/>
          </p:nvSpPr>
          <p:spPr bwMode="auto">
            <a:xfrm flipH="1">
              <a:off x="249" y="3378"/>
              <a:ext cx="246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1" name="Freeform 483"/>
            <p:cNvSpPr>
              <a:spLocks/>
            </p:cNvSpPr>
            <p:nvPr/>
          </p:nvSpPr>
          <p:spPr bwMode="auto">
            <a:xfrm>
              <a:off x="169" y="3255"/>
              <a:ext cx="161" cy="159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2" y="61"/>
                </a:cxn>
                <a:cxn ang="0">
                  <a:pos x="8" y="43"/>
                </a:cxn>
                <a:cxn ang="0">
                  <a:pos x="18" y="26"/>
                </a:cxn>
                <a:cxn ang="0">
                  <a:pos x="34" y="15"/>
                </a:cxn>
                <a:cxn ang="0">
                  <a:pos x="52" y="5"/>
                </a:cxn>
                <a:cxn ang="0">
                  <a:pos x="70" y="0"/>
                </a:cxn>
                <a:cxn ang="0">
                  <a:pos x="89" y="0"/>
                </a:cxn>
                <a:cxn ang="0">
                  <a:pos x="108" y="5"/>
                </a:cxn>
                <a:cxn ang="0">
                  <a:pos x="124" y="15"/>
                </a:cxn>
                <a:cxn ang="0">
                  <a:pos x="140" y="26"/>
                </a:cxn>
                <a:cxn ang="0">
                  <a:pos x="149" y="43"/>
                </a:cxn>
                <a:cxn ang="0">
                  <a:pos x="158" y="61"/>
                </a:cxn>
                <a:cxn ang="0">
                  <a:pos x="161" y="79"/>
                </a:cxn>
                <a:cxn ang="0">
                  <a:pos x="158" y="97"/>
                </a:cxn>
                <a:cxn ang="0">
                  <a:pos x="149" y="117"/>
                </a:cxn>
                <a:cxn ang="0">
                  <a:pos x="140" y="131"/>
                </a:cxn>
                <a:cxn ang="0">
                  <a:pos x="124" y="145"/>
                </a:cxn>
                <a:cxn ang="0">
                  <a:pos x="108" y="153"/>
                </a:cxn>
                <a:cxn ang="0">
                  <a:pos x="89" y="159"/>
                </a:cxn>
                <a:cxn ang="0">
                  <a:pos x="70" y="159"/>
                </a:cxn>
                <a:cxn ang="0">
                  <a:pos x="52" y="153"/>
                </a:cxn>
                <a:cxn ang="0">
                  <a:pos x="34" y="145"/>
                </a:cxn>
                <a:cxn ang="0">
                  <a:pos x="18" y="131"/>
                </a:cxn>
                <a:cxn ang="0">
                  <a:pos x="8" y="117"/>
                </a:cxn>
                <a:cxn ang="0">
                  <a:pos x="2" y="97"/>
                </a:cxn>
                <a:cxn ang="0">
                  <a:pos x="0" y="79"/>
                </a:cxn>
              </a:cxnLst>
              <a:rect l="0" t="0" r="r" b="b"/>
              <a:pathLst>
                <a:path w="161" h="159">
                  <a:moveTo>
                    <a:pt x="0" y="79"/>
                  </a:moveTo>
                  <a:lnTo>
                    <a:pt x="2" y="61"/>
                  </a:lnTo>
                  <a:lnTo>
                    <a:pt x="8" y="43"/>
                  </a:lnTo>
                  <a:lnTo>
                    <a:pt x="18" y="26"/>
                  </a:lnTo>
                  <a:lnTo>
                    <a:pt x="34" y="15"/>
                  </a:lnTo>
                  <a:lnTo>
                    <a:pt x="52" y="5"/>
                  </a:lnTo>
                  <a:lnTo>
                    <a:pt x="70" y="0"/>
                  </a:lnTo>
                  <a:lnTo>
                    <a:pt x="89" y="0"/>
                  </a:lnTo>
                  <a:lnTo>
                    <a:pt x="108" y="5"/>
                  </a:lnTo>
                  <a:lnTo>
                    <a:pt x="124" y="15"/>
                  </a:lnTo>
                  <a:lnTo>
                    <a:pt x="140" y="26"/>
                  </a:lnTo>
                  <a:lnTo>
                    <a:pt x="149" y="43"/>
                  </a:lnTo>
                  <a:lnTo>
                    <a:pt x="158" y="61"/>
                  </a:lnTo>
                  <a:lnTo>
                    <a:pt x="161" y="79"/>
                  </a:lnTo>
                  <a:lnTo>
                    <a:pt x="158" y="97"/>
                  </a:lnTo>
                  <a:lnTo>
                    <a:pt x="149" y="117"/>
                  </a:lnTo>
                  <a:lnTo>
                    <a:pt x="140" y="131"/>
                  </a:lnTo>
                  <a:lnTo>
                    <a:pt x="124" y="145"/>
                  </a:lnTo>
                  <a:lnTo>
                    <a:pt x="108" y="153"/>
                  </a:lnTo>
                  <a:lnTo>
                    <a:pt x="89" y="159"/>
                  </a:lnTo>
                  <a:lnTo>
                    <a:pt x="70" y="159"/>
                  </a:lnTo>
                  <a:lnTo>
                    <a:pt x="52" y="153"/>
                  </a:lnTo>
                  <a:lnTo>
                    <a:pt x="34" y="145"/>
                  </a:lnTo>
                  <a:lnTo>
                    <a:pt x="18" y="131"/>
                  </a:lnTo>
                  <a:lnTo>
                    <a:pt x="8" y="117"/>
                  </a:lnTo>
                  <a:lnTo>
                    <a:pt x="2" y="97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2" name="Freeform 484"/>
            <p:cNvSpPr>
              <a:spLocks/>
            </p:cNvSpPr>
            <p:nvPr/>
          </p:nvSpPr>
          <p:spPr bwMode="auto">
            <a:xfrm>
              <a:off x="217" y="3323"/>
              <a:ext cx="32" cy="11"/>
            </a:xfrm>
            <a:custGeom>
              <a:avLst/>
              <a:gdLst/>
              <a:ahLst/>
              <a:cxnLst>
                <a:cxn ang="0">
                  <a:pos x="32" y="11"/>
                </a:cxn>
                <a:cxn ang="0">
                  <a:pos x="28" y="4"/>
                </a:cxn>
                <a:cxn ang="0">
                  <a:pos x="19" y="0"/>
                </a:cxn>
                <a:cxn ang="0">
                  <a:pos x="11" y="0"/>
                </a:cxn>
                <a:cxn ang="0">
                  <a:pos x="4" y="4"/>
                </a:cxn>
                <a:cxn ang="0">
                  <a:pos x="0" y="11"/>
                </a:cxn>
              </a:cxnLst>
              <a:rect l="0" t="0" r="r" b="b"/>
              <a:pathLst>
                <a:path w="32" h="11">
                  <a:moveTo>
                    <a:pt x="32" y="11"/>
                  </a:moveTo>
                  <a:lnTo>
                    <a:pt x="28" y="4"/>
                  </a:lnTo>
                  <a:lnTo>
                    <a:pt x="19" y="0"/>
                  </a:lnTo>
                  <a:lnTo>
                    <a:pt x="11" y="0"/>
                  </a:lnTo>
                  <a:lnTo>
                    <a:pt x="4" y="4"/>
                  </a:lnTo>
                  <a:lnTo>
                    <a:pt x="0" y="11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3" name="Freeform 485"/>
            <p:cNvSpPr>
              <a:spLocks/>
            </p:cNvSpPr>
            <p:nvPr/>
          </p:nvSpPr>
          <p:spPr bwMode="auto">
            <a:xfrm>
              <a:off x="249" y="3334"/>
              <a:ext cx="28" cy="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7"/>
                </a:cxn>
                <a:cxn ang="0">
                  <a:pos x="13" y="9"/>
                </a:cxn>
                <a:cxn ang="0">
                  <a:pos x="23" y="7"/>
                </a:cxn>
                <a:cxn ang="0">
                  <a:pos x="28" y="0"/>
                </a:cxn>
              </a:cxnLst>
              <a:rect l="0" t="0" r="r" b="b"/>
              <a:pathLst>
                <a:path w="28" h="9">
                  <a:moveTo>
                    <a:pt x="0" y="0"/>
                  </a:moveTo>
                  <a:lnTo>
                    <a:pt x="6" y="7"/>
                  </a:lnTo>
                  <a:lnTo>
                    <a:pt x="13" y="9"/>
                  </a:lnTo>
                  <a:lnTo>
                    <a:pt x="23" y="7"/>
                  </a:lnTo>
                  <a:lnTo>
                    <a:pt x="28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4" name="Rectangle 486"/>
            <p:cNvSpPr>
              <a:spLocks noChangeArrowheads="1"/>
            </p:cNvSpPr>
            <p:nvPr/>
          </p:nvSpPr>
          <p:spPr bwMode="auto">
            <a:xfrm>
              <a:off x="496" y="3142"/>
              <a:ext cx="311" cy="427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5" name="Rectangle 487"/>
            <p:cNvSpPr>
              <a:spLocks noChangeArrowheads="1"/>
            </p:cNvSpPr>
            <p:nvPr/>
          </p:nvSpPr>
          <p:spPr bwMode="auto">
            <a:xfrm>
              <a:off x="1090" y="3160"/>
              <a:ext cx="138" cy="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GU - 01</a:t>
              </a:r>
              <a:endParaRPr lang="en-US" altLang="ko-KR"/>
            </a:p>
          </p:txBody>
        </p:sp>
        <p:sp>
          <p:nvSpPr>
            <p:cNvPr id="2536" name="Rectangle 488"/>
            <p:cNvSpPr>
              <a:spLocks noChangeArrowheads="1"/>
            </p:cNvSpPr>
            <p:nvPr/>
          </p:nvSpPr>
          <p:spPr bwMode="auto">
            <a:xfrm>
              <a:off x="1090" y="3193"/>
              <a:ext cx="138" cy="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GU - 02</a:t>
              </a:r>
              <a:endParaRPr lang="en-US" altLang="ko-KR"/>
            </a:p>
          </p:txBody>
        </p:sp>
        <p:sp>
          <p:nvSpPr>
            <p:cNvPr id="2537" name="Rectangle 489"/>
            <p:cNvSpPr>
              <a:spLocks noChangeArrowheads="1"/>
            </p:cNvSpPr>
            <p:nvPr/>
          </p:nvSpPr>
          <p:spPr bwMode="auto">
            <a:xfrm>
              <a:off x="1089" y="3243"/>
              <a:ext cx="137" cy="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GV - 01</a:t>
              </a:r>
              <a:endParaRPr lang="en-US" altLang="ko-KR"/>
            </a:p>
          </p:txBody>
        </p:sp>
        <p:sp>
          <p:nvSpPr>
            <p:cNvPr id="2538" name="Rectangle 490"/>
            <p:cNvSpPr>
              <a:spLocks noChangeArrowheads="1"/>
            </p:cNvSpPr>
            <p:nvPr/>
          </p:nvSpPr>
          <p:spPr bwMode="auto">
            <a:xfrm>
              <a:off x="1089" y="3276"/>
              <a:ext cx="137" cy="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GV - 02</a:t>
              </a:r>
              <a:endParaRPr lang="en-US" altLang="ko-KR"/>
            </a:p>
          </p:txBody>
        </p:sp>
        <p:sp>
          <p:nvSpPr>
            <p:cNvPr id="2539" name="Rectangle 491"/>
            <p:cNvSpPr>
              <a:spLocks noChangeArrowheads="1"/>
            </p:cNvSpPr>
            <p:nvPr/>
          </p:nvSpPr>
          <p:spPr bwMode="auto">
            <a:xfrm>
              <a:off x="2445" y="3138"/>
              <a:ext cx="616" cy="393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0" name="Freeform 492"/>
            <p:cNvSpPr>
              <a:spLocks/>
            </p:cNvSpPr>
            <p:nvPr/>
          </p:nvSpPr>
          <p:spPr bwMode="auto">
            <a:xfrm>
              <a:off x="2132" y="3277"/>
              <a:ext cx="309" cy="118"/>
            </a:xfrm>
            <a:custGeom>
              <a:avLst/>
              <a:gdLst/>
              <a:ahLst/>
              <a:cxnLst>
                <a:cxn ang="0">
                  <a:pos x="0" y="59"/>
                </a:cxn>
                <a:cxn ang="0">
                  <a:pos x="95" y="0"/>
                </a:cxn>
                <a:cxn ang="0">
                  <a:pos x="75" y="28"/>
                </a:cxn>
                <a:cxn ang="0">
                  <a:pos x="231" y="28"/>
                </a:cxn>
                <a:cxn ang="0">
                  <a:pos x="213" y="0"/>
                </a:cxn>
                <a:cxn ang="0">
                  <a:pos x="309" y="59"/>
                </a:cxn>
                <a:cxn ang="0">
                  <a:pos x="213" y="118"/>
                </a:cxn>
                <a:cxn ang="0">
                  <a:pos x="231" y="89"/>
                </a:cxn>
                <a:cxn ang="0">
                  <a:pos x="75" y="89"/>
                </a:cxn>
                <a:cxn ang="0">
                  <a:pos x="95" y="118"/>
                </a:cxn>
                <a:cxn ang="0">
                  <a:pos x="0" y="59"/>
                </a:cxn>
              </a:cxnLst>
              <a:rect l="0" t="0" r="r" b="b"/>
              <a:pathLst>
                <a:path w="309" h="118">
                  <a:moveTo>
                    <a:pt x="0" y="59"/>
                  </a:moveTo>
                  <a:lnTo>
                    <a:pt x="95" y="0"/>
                  </a:lnTo>
                  <a:lnTo>
                    <a:pt x="75" y="28"/>
                  </a:lnTo>
                  <a:lnTo>
                    <a:pt x="231" y="28"/>
                  </a:lnTo>
                  <a:lnTo>
                    <a:pt x="213" y="0"/>
                  </a:lnTo>
                  <a:lnTo>
                    <a:pt x="309" y="59"/>
                  </a:lnTo>
                  <a:lnTo>
                    <a:pt x="213" y="118"/>
                  </a:lnTo>
                  <a:lnTo>
                    <a:pt x="231" y="89"/>
                  </a:lnTo>
                  <a:lnTo>
                    <a:pt x="75" y="89"/>
                  </a:lnTo>
                  <a:lnTo>
                    <a:pt x="95" y="118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1" name="Rectangle 493"/>
            <p:cNvSpPr>
              <a:spLocks noChangeArrowheads="1"/>
            </p:cNvSpPr>
            <p:nvPr/>
          </p:nvSpPr>
          <p:spPr bwMode="auto">
            <a:xfrm>
              <a:off x="2024" y="3427"/>
              <a:ext cx="81" cy="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Arial" charset="0"/>
                </a:rPr>
                <a:t>VA</a:t>
              </a:r>
              <a:endParaRPr lang="en-US" altLang="ko-KR"/>
            </a:p>
          </p:txBody>
        </p:sp>
        <p:sp>
          <p:nvSpPr>
            <p:cNvPr id="2542" name="Rectangle 494"/>
            <p:cNvSpPr>
              <a:spLocks noChangeArrowheads="1"/>
            </p:cNvSpPr>
            <p:nvPr/>
          </p:nvSpPr>
          <p:spPr bwMode="auto">
            <a:xfrm>
              <a:off x="2464" y="3427"/>
              <a:ext cx="83" cy="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Arial" charset="0"/>
                </a:rPr>
                <a:t>VG</a:t>
              </a:r>
              <a:endParaRPr lang="en-US" altLang="ko-KR"/>
            </a:p>
          </p:txBody>
        </p:sp>
        <p:sp>
          <p:nvSpPr>
            <p:cNvPr id="2543" name="Freeform 495"/>
            <p:cNvSpPr>
              <a:spLocks/>
            </p:cNvSpPr>
            <p:nvPr/>
          </p:nvSpPr>
          <p:spPr bwMode="auto">
            <a:xfrm>
              <a:off x="2307" y="2423"/>
              <a:ext cx="280" cy="7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58"/>
                </a:cxn>
                <a:cxn ang="0">
                  <a:pos x="280" y="358"/>
                </a:cxn>
                <a:cxn ang="0">
                  <a:pos x="280" y="714"/>
                </a:cxn>
              </a:cxnLst>
              <a:rect l="0" t="0" r="r" b="b"/>
              <a:pathLst>
                <a:path w="280" h="714">
                  <a:moveTo>
                    <a:pt x="0" y="0"/>
                  </a:moveTo>
                  <a:lnTo>
                    <a:pt x="0" y="358"/>
                  </a:lnTo>
                  <a:lnTo>
                    <a:pt x="280" y="358"/>
                  </a:lnTo>
                  <a:lnTo>
                    <a:pt x="280" y="71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4" name="Freeform 496"/>
            <p:cNvSpPr>
              <a:spLocks/>
            </p:cNvSpPr>
            <p:nvPr/>
          </p:nvSpPr>
          <p:spPr bwMode="auto">
            <a:xfrm>
              <a:off x="2414" y="2485"/>
              <a:ext cx="271" cy="6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20"/>
                </a:cxn>
                <a:cxn ang="0">
                  <a:pos x="271" y="220"/>
                </a:cxn>
                <a:cxn ang="0">
                  <a:pos x="271" y="652"/>
                </a:cxn>
              </a:cxnLst>
              <a:rect l="0" t="0" r="r" b="b"/>
              <a:pathLst>
                <a:path w="271" h="652">
                  <a:moveTo>
                    <a:pt x="0" y="0"/>
                  </a:moveTo>
                  <a:lnTo>
                    <a:pt x="0" y="220"/>
                  </a:lnTo>
                  <a:lnTo>
                    <a:pt x="271" y="220"/>
                  </a:lnTo>
                  <a:lnTo>
                    <a:pt x="271" y="652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5" name="Rectangle 497"/>
            <p:cNvSpPr>
              <a:spLocks noChangeArrowheads="1"/>
            </p:cNvSpPr>
            <p:nvPr/>
          </p:nvSpPr>
          <p:spPr bwMode="auto">
            <a:xfrm rot="16200000">
              <a:off x="2507" y="3208"/>
              <a:ext cx="154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VB - 03</a:t>
              </a:r>
              <a:endParaRPr lang="en-US" altLang="ko-KR"/>
            </a:p>
          </p:txBody>
        </p:sp>
        <p:sp>
          <p:nvSpPr>
            <p:cNvPr id="2546" name="Rectangle 498"/>
            <p:cNvSpPr>
              <a:spLocks noChangeArrowheads="1"/>
            </p:cNvSpPr>
            <p:nvPr/>
          </p:nvSpPr>
          <p:spPr bwMode="auto">
            <a:xfrm rot="16200000">
              <a:off x="2604" y="3207"/>
              <a:ext cx="154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VB - 07</a:t>
              </a:r>
              <a:endParaRPr lang="en-US" altLang="ko-KR"/>
            </a:p>
          </p:txBody>
        </p:sp>
        <p:sp>
          <p:nvSpPr>
            <p:cNvPr id="2547" name="Freeform 499"/>
            <p:cNvSpPr>
              <a:spLocks/>
            </p:cNvSpPr>
            <p:nvPr/>
          </p:nvSpPr>
          <p:spPr bwMode="auto">
            <a:xfrm>
              <a:off x="1333" y="2078"/>
              <a:ext cx="20" cy="21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1" y="4"/>
                </a:cxn>
                <a:cxn ang="0">
                  <a:pos x="7" y="0"/>
                </a:cxn>
                <a:cxn ang="0">
                  <a:pos x="13" y="0"/>
                </a:cxn>
                <a:cxn ang="0">
                  <a:pos x="19" y="4"/>
                </a:cxn>
                <a:cxn ang="0">
                  <a:pos x="20" y="11"/>
                </a:cxn>
                <a:cxn ang="0">
                  <a:pos x="19" y="18"/>
                </a:cxn>
                <a:cxn ang="0">
                  <a:pos x="13" y="21"/>
                </a:cxn>
                <a:cxn ang="0">
                  <a:pos x="7" y="21"/>
                </a:cxn>
                <a:cxn ang="0">
                  <a:pos x="1" y="18"/>
                </a:cxn>
                <a:cxn ang="0">
                  <a:pos x="0" y="11"/>
                </a:cxn>
              </a:cxnLst>
              <a:rect l="0" t="0" r="r" b="b"/>
              <a:pathLst>
                <a:path w="20" h="21">
                  <a:moveTo>
                    <a:pt x="0" y="11"/>
                  </a:moveTo>
                  <a:lnTo>
                    <a:pt x="1" y="4"/>
                  </a:lnTo>
                  <a:lnTo>
                    <a:pt x="7" y="0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20" y="11"/>
                  </a:lnTo>
                  <a:lnTo>
                    <a:pt x="19" y="18"/>
                  </a:lnTo>
                  <a:lnTo>
                    <a:pt x="13" y="21"/>
                  </a:lnTo>
                  <a:lnTo>
                    <a:pt x="7" y="21"/>
                  </a:lnTo>
                  <a:lnTo>
                    <a:pt x="1" y="18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8" name="Freeform 500"/>
            <p:cNvSpPr>
              <a:spLocks/>
            </p:cNvSpPr>
            <p:nvPr/>
          </p:nvSpPr>
          <p:spPr bwMode="auto">
            <a:xfrm>
              <a:off x="2345" y="1937"/>
              <a:ext cx="587" cy="196"/>
            </a:xfrm>
            <a:custGeom>
              <a:avLst/>
              <a:gdLst/>
              <a:ahLst/>
              <a:cxnLst>
                <a:cxn ang="0">
                  <a:pos x="513" y="196"/>
                </a:cxn>
                <a:cxn ang="0">
                  <a:pos x="530" y="193"/>
                </a:cxn>
                <a:cxn ang="0">
                  <a:pos x="546" y="189"/>
                </a:cxn>
                <a:cxn ang="0">
                  <a:pos x="560" y="180"/>
                </a:cxn>
                <a:cxn ang="0">
                  <a:pos x="572" y="168"/>
                </a:cxn>
                <a:cxn ang="0">
                  <a:pos x="580" y="154"/>
                </a:cxn>
                <a:cxn ang="0">
                  <a:pos x="586" y="139"/>
                </a:cxn>
                <a:cxn ang="0">
                  <a:pos x="587" y="123"/>
                </a:cxn>
                <a:cxn ang="0">
                  <a:pos x="587" y="74"/>
                </a:cxn>
                <a:cxn ang="0">
                  <a:pos x="586" y="58"/>
                </a:cxn>
                <a:cxn ang="0">
                  <a:pos x="580" y="42"/>
                </a:cxn>
                <a:cxn ang="0">
                  <a:pos x="572" y="27"/>
                </a:cxn>
                <a:cxn ang="0">
                  <a:pos x="560" y="15"/>
                </a:cxn>
                <a:cxn ang="0">
                  <a:pos x="546" y="6"/>
                </a:cxn>
                <a:cxn ang="0">
                  <a:pos x="530" y="1"/>
                </a:cxn>
                <a:cxn ang="0">
                  <a:pos x="513" y="0"/>
                </a:cxn>
                <a:cxn ang="0">
                  <a:pos x="72" y="0"/>
                </a:cxn>
                <a:cxn ang="0">
                  <a:pos x="57" y="1"/>
                </a:cxn>
                <a:cxn ang="0">
                  <a:pos x="40" y="6"/>
                </a:cxn>
                <a:cxn ang="0">
                  <a:pos x="28" y="15"/>
                </a:cxn>
                <a:cxn ang="0">
                  <a:pos x="15" y="27"/>
                </a:cxn>
                <a:cxn ang="0">
                  <a:pos x="7" y="42"/>
                </a:cxn>
                <a:cxn ang="0">
                  <a:pos x="1" y="58"/>
                </a:cxn>
                <a:cxn ang="0">
                  <a:pos x="0" y="74"/>
                </a:cxn>
                <a:cxn ang="0">
                  <a:pos x="0" y="123"/>
                </a:cxn>
                <a:cxn ang="0">
                  <a:pos x="1" y="139"/>
                </a:cxn>
                <a:cxn ang="0">
                  <a:pos x="7" y="154"/>
                </a:cxn>
                <a:cxn ang="0">
                  <a:pos x="15" y="168"/>
                </a:cxn>
                <a:cxn ang="0">
                  <a:pos x="28" y="180"/>
                </a:cxn>
                <a:cxn ang="0">
                  <a:pos x="40" y="189"/>
                </a:cxn>
                <a:cxn ang="0">
                  <a:pos x="57" y="193"/>
                </a:cxn>
                <a:cxn ang="0">
                  <a:pos x="72" y="196"/>
                </a:cxn>
                <a:cxn ang="0">
                  <a:pos x="513" y="196"/>
                </a:cxn>
              </a:cxnLst>
              <a:rect l="0" t="0" r="r" b="b"/>
              <a:pathLst>
                <a:path w="587" h="196">
                  <a:moveTo>
                    <a:pt x="513" y="196"/>
                  </a:moveTo>
                  <a:lnTo>
                    <a:pt x="530" y="193"/>
                  </a:lnTo>
                  <a:lnTo>
                    <a:pt x="546" y="189"/>
                  </a:lnTo>
                  <a:lnTo>
                    <a:pt x="560" y="180"/>
                  </a:lnTo>
                  <a:lnTo>
                    <a:pt x="572" y="168"/>
                  </a:lnTo>
                  <a:lnTo>
                    <a:pt x="580" y="154"/>
                  </a:lnTo>
                  <a:lnTo>
                    <a:pt x="586" y="139"/>
                  </a:lnTo>
                  <a:lnTo>
                    <a:pt x="587" y="123"/>
                  </a:lnTo>
                  <a:lnTo>
                    <a:pt x="587" y="74"/>
                  </a:lnTo>
                  <a:lnTo>
                    <a:pt x="586" y="58"/>
                  </a:lnTo>
                  <a:lnTo>
                    <a:pt x="580" y="42"/>
                  </a:lnTo>
                  <a:lnTo>
                    <a:pt x="572" y="27"/>
                  </a:lnTo>
                  <a:lnTo>
                    <a:pt x="560" y="15"/>
                  </a:lnTo>
                  <a:lnTo>
                    <a:pt x="546" y="6"/>
                  </a:lnTo>
                  <a:lnTo>
                    <a:pt x="530" y="1"/>
                  </a:lnTo>
                  <a:lnTo>
                    <a:pt x="513" y="0"/>
                  </a:lnTo>
                  <a:lnTo>
                    <a:pt x="72" y="0"/>
                  </a:lnTo>
                  <a:lnTo>
                    <a:pt x="57" y="1"/>
                  </a:lnTo>
                  <a:lnTo>
                    <a:pt x="40" y="6"/>
                  </a:lnTo>
                  <a:lnTo>
                    <a:pt x="28" y="15"/>
                  </a:lnTo>
                  <a:lnTo>
                    <a:pt x="15" y="27"/>
                  </a:lnTo>
                  <a:lnTo>
                    <a:pt x="7" y="42"/>
                  </a:lnTo>
                  <a:lnTo>
                    <a:pt x="1" y="58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1" y="139"/>
                  </a:lnTo>
                  <a:lnTo>
                    <a:pt x="7" y="154"/>
                  </a:lnTo>
                  <a:lnTo>
                    <a:pt x="15" y="168"/>
                  </a:lnTo>
                  <a:lnTo>
                    <a:pt x="28" y="180"/>
                  </a:lnTo>
                  <a:lnTo>
                    <a:pt x="40" y="189"/>
                  </a:lnTo>
                  <a:lnTo>
                    <a:pt x="57" y="193"/>
                  </a:lnTo>
                  <a:lnTo>
                    <a:pt x="72" y="196"/>
                  </a:lnTo>
                  <a:lnTo>
                    <a:pt x="513" y="196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9" name="Rectangle 501"/>
            <p:cNvSpPr>
              <a:spLocks noChangeArrowheads="1"/>
            </p:cNvSpPr>
            <p:nvPr/>
          </p:nvSpPr>
          <p:spPr bwMode="auto">
            <a:xfrm>
              <a:off x="2548" y="1969"/>
              <a:ext cx="192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리액터는</a:t>
              </a:r>
              <a:endParaRPr lang="ko-KR" altLang="en-US"/>
            </a:p>
          </p:txBody>
        </p:sp>
        <p:sp>
          <p:nvSpPr>
            <p:cNvPr id="2550" name="Rectangle 502"/>
            <p:cNvSpPr>
              <a:spLocks noChangeArrowheads="1"/>
            </p:cNvSpPr>
            <p:nvPr/>
          </p:nvSpPr>
          <p:spPr bwMode="auto">
            <a:xfrm>
              <a:off x="2468" y="2020"/>
              <a:ext cx="365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모터 용량 </a:t>
              </a:r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13kW</a:t>
              </a:r>
              <a:endParaRPr lang="en-US" altLang="ko-KR"/>
            </a:p>
          </p:txBody>
        </p:sp>
        <p:sp>
          <p:nvSpPr>
            <p:cNvPr id="2551" name="Rectangle 503"/>
            <p:cNvSpPr>
              <a:spLocks noChangeArrowheads="1"/>
            </p:cNvSpPr>
            <p:nvPr/>
          </p:nvSpPr>
          <p:spPr bwMode="auto">
            <a:xfrm>
              <a:off x="2458" y="2072"/>
              <a:ext cx="386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 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이상에만 사용 </a:t>
              </a:r>
              <a:endParaRPr lang="ko-KR" altLang="en-US"/>
            </a:p>
          </p:txBody>
        </p:sp>
        <p:sp>
          <p:nvSpPr>
            <p:cNvPr id="2552" name="Freeform 504"/>
            <p:cNvSpPr>
              <a:spLocks/>
            </p:cNvSpPr>
            <p:nvPr/>
          </p:nvSpPr>
          <p:spPr bwMode="auto">
            <a:xfrm>
              <a:off x="804" y="1586"/>
              <a:ext cx="587" cy="196"/>
            </a:xfrm>
            <a:custGeom>
              <a:avLst/>
              <a:gdLst/>
              <a:ahLst/>
              <a:cxnLst>
                <a:cxn ang="0">
                  <a:pos x="514" y="196"/>
                </a:cxn>
                <a:cxn ang="0">
                  <a:pos x="530" y="193"/>
                </a:cxn>
                <a:cxn ang="0">
                  <a:pos x="546" y="189"/>
                </a:cxn>
                <a:cxn ang="0">
                  <a:pos x="560" y="179"/>
                </a:cxn>
                <a:cxn ang="0">
                  <a:pos x="572" y="168"/>
                </a:cxn>
                <a:cxn ang="0">
                  <a:pos x="580" y="153"/>
                </a:cxn>
                <a:cxn ang="0">
                  <a:pos x="586" y="139"/>
                </a:cxn>
                <a:cxn ang="0">
                  <a:pos x="587" y="122"/>
                </a:cxn>
                <a:cxn ang="0">
                  <a:pos x="587" y="74"/>
                </a:cxn>
                <a:cxn ang="0">
                  <a:pos x="586" y="58"/>
                </a:cxn>
                <a:cxn ang="0">
                  <a:pos x="580" y="42"/>
                </a:cxn>
                <a:cxn ang="0">
                  <a:pos x="572" y="27"/>
                </a:cxn>
                <a:cxn ang="0">
                  <a:pos x="560" y="15"/>
                </a:cxn>
                <a:cxn ang="0">
                  <a:pos x="546" y="6"/>
                </a:cxn>
                <a:cxn ang="0">
                  <a:pos x="530" y="1"/>
                </a:cxn>
                <a:cxn ang="0">
                  <a:pos x="514" y="0"/>
                </a:cxn>
                <a:cxn ang="0">
                  <a:pos x="72" y="0"/>
                </a:cxn>
                <a:cxn ang="0">
                  <a:pos x="57" y="1"/>
                </a:cxn>
                <a:cxn ang="0">
                  <a:pos x="40" y="6"/>
                </a:cxn>
                <a:cxn ang="0">
                  <a:pos x="28" y="15"/>
                </a:cxn>
                <a:cxn ang="0">
                  <a:pos x="15" y="27"/>
                </a:cxn>
                <a:cxn ang="0">
                  <a:pos x="7" y="42"/>
                </a:cxn>
                <a:cxn ang="0">
                  <a:pos x="1" y="58"/>
                </a:cxn>
                <a:cxn ang="0">
                  <a:pos x="0" y="74"/>
                </a:cxn>
                <a:cxn ang="0">
                  <a:pos x="0" y="122"/>
                </a:cxn>
                <a:cxn ang="0">
                  <a:pos x="1" y="139"/>
                </a:cxn>
                <a:cxn ang="0">
                  <a:pos x="7" y="153"/>
                </a:cxn>
                <a:cxn ang="0">
                  <a:pos x="15" y="168"/>
                </a:cxn>
                <a:cxn ang="0">
                  <a:pos x="28" y="179"/>
                </a:cxn>
                <a:cxn ang="0">
                  <a:pos x="40" y="189"/>
                </a:cxn>
                <a:cxn ang="0">
                  <a:pos x="57" y="193"/>
                </a:cxn>
                <a:cxn ang="0">
                  <a:pos x="72" y="196"/>
                </a:cxn>
                <a:cxn ang="0">
                  <a:pos x="514" y="196"/>
                </a:cxn>
              </a:cxnLst>
              <a:rect l="0" t="0" r="r" b="b"/>
              <a:pathLst>
                <a:path w="587" h="196">
                  <a:moveTo>
                    <a:pt x="514" y="196"/>
                  </a:moveTo>
                  <a:lnTo>
                    <a:pt x="530" y="193"/>
                  </a:lnTo>
                  <a:lnTo>
                    <a:pt x="546" y="189"/>
                  </a:lnTo>
                  <a:lnTo>
                    <a:pt x="560" y="179"/>
                  </a:lnTo>
                  <a:lnTo>
                    <a:pt x="572" y="168"/>
                  </a:lnTo>
                  <a:lnTo>
                    <a:pt x="580" y="153"/>
                  </a:lnTo>
                  <a:lnTo>
                    <a:pt x="586" y="139"/>
                  </a:lnTo>
                  <a:lnTo>
                    <a:pt x="587" y="122"/>
                  </a:lnTo>
                  <a:lnTo>
                    <a:pt x="587" y="74"/>
                  </a:lnTo>
                  <a:lnTo>
                    <a:pt x="586" y="58"/>
                  </a:lnTo>
                  <a:lnTo>
                    <a:pt x="580" y="42"/>
                  </a:lnTo>
                  <a:lnTo>
                    <a:pt x="572" y="27"/>
                  </a:lnTo>
                  <a:lnTo>
                    <a:pt x="560" y="15"/>
                  </a:lnTo>
                  <a:lnTo>
                    <a:pt x="546" y="6"/>
                  </a:lnTo>
                  <a:lnTo>
                    <a:pt x="530" y="1"/>
                  </a:lnTo>
                  <a:lnTo>
                    <a:pt x="514" y="0"/>
                  </a:lnTo>
                  <a:lnTo>
                    <a:pt x="72" y="0"/>
                  </a:lnTo>
                  <a:lnTo>
                    <a:pt x="57" y="1"/>
                  </a:lnTo>
                  <a:lnTo>
                    <a:pt x="40" y="6"/>
                  </a:lnTo>
                  <a:lnTo>
                    <a:pt x="28" y="15"/>
                  </a:lnTo>
                  <a:lnTo>
                    <a:pt x="15" y="27"/>
                  </a:lnTo>
                  <a:lnTo>
                    <a:pt x="7" y="42"/>
                  </a:lnTo>
                  <a:lnTo>
                    <a:pt x="1" y="58"/>
                  </a:lnTo>
                  <a:lnTo>
                    <a:pt x="0" y="74"/>
                  </a:lnTo>
                  <a:lnTo>
                    <a:pt x="0" y="122"/>
                  </a:lnTo>
                  <a:lnTo>
                    <a:pt x="1" y="139"/>
                  </a:lnTo>
                  <a:lnTo>
                    <a:pt x="7" y="153"/>
                  </a:lnTo>
                  <a:lnTo>
                    <a:pt x="15" y="168"/>
                  </a:lnTo>
                  <a:lnTo>
                    <a:pt x="28" y="179"/>
                  </a:lnTo>
                  <a:lnTo>
                    <a:pt x="40" y="189"/>
                  </a:lnTo>
                  <a:lnTo>
                    <a:pt x="57" y="193"/>
                  </a:lnTo>
                  <a:lnTo>
                    <a:pt x="72" y="196"/>
                  </a:lnTo>
                  <a:lnTo>
                    <a:pt x="514" y="196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3" name="Rectangle 505"/>
            <p:cNvSpPr>
              <a:spLocks noChangeArrowheads="1"/>
            </p:cNvSpPr>
            <p:nvPr/>
          </p:nvSpPr>
          <p:spPr bwMode="auto">
            <a:xfrm>
              <a:off x="860" y="1617"/>
              <a:ext cx="501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모터 용량 </a:t>
              </a:r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11kW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이하 </a:t>
              </a:r>
              <a:endParaRPr lang="ko-KR" altLang="en-US"/>
            </a:p>
          </p:txBody>
        </p:sp>
        <p:sp>
          <p:nvSpPr>
            <p:cNvPr id="2554" name="Rectangle 506"/>
            <p:cNvSpPr>
              <a:spLocks noChangeArrowheads="1"/>
            </p:cNvSpPr>
            <p:nvPr/>
          </p:nvSpPr>
          <p:spPr bwMode="auto">
            <a:xfrm>
              <a:off x="882" y="1669"/>
              <a:ext cx="457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회생 </a:t>
              </a:r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IGBT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내장 </a:t>
              </a:r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TYPE</a:t>
              </a:r>
              <a:endParaRPr lang="en-US" altLang="ko-KR"/>
            </a:p>
          </p:txBody>
        </p:sp>
        <p:sp>
          <p:nvSpPr>
            <p:cNvPr id="2555" name="Rectangle 507"/>
            <p:cNvSpPr>
              <a:spLocks noChangeArrowheads="1"/>
            </p:cNvSpPr>
            <p:nvPr/>
          </p:nvSpPr>
          <p:spPr bwMode="auto">
            <a:xfrm>
              <a:off x="995" y="1721"/>
              <a:ext cx="229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IPM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사용 </a:t>
              </a:r>
              <a:endParaRPr lang="ko-KR" altLang="en-US"/>
            </a:p>
          </p:txBody>
        </p:sp>
        <p:sp>
          <p:nvSpPr>
            <p:cNvPr id="2556" name="Freeform 508"/>
            <p:cNvSpPr>
              <a:spLocks/>
            </p:cNvSpPr>
            <p:nvPr/>
          </p:nvSpPr>
          <p:spPr bwMode="auto">
            <a:xfrm>
              <a:off x="1427" y="1588"/>
              <a:ext cx="587" cy="196"/>
            </a:xfrm>
            <a:custGeom>
              <a:avLst/>
              <a:gdLst/>
              <a:ahLst/>
              <a:cxnLst>
                <a:cxn ang="0">
                  <a:pos x="514" y="196"/>
                </a:cxn>
                <a:cxn ang="0">
                  <a:pos x="530" y="193"/>
                </a:cxn>
                <a:cxn ang="0">
                  <a:pos x="547" y="189"/>
                </a:cxn>
                <a:cxn ang="0">
                  <a:pos x="560" y="179"/>
                </a:cxn>
                <a:cxn ang="0">
                  <a:pos x="573" y="168"/>
                </a:cxn>
                <a:cxn ang="0">
                  <a:pos x="581" y="153"/>
                </a:cxn>
                <a:cxn ang="0">
                  <a:pos x="586" y="139"/>
                </a:cxn>
                <a:cxn ang="0">
                  <a:pos x="587" y="122"/>
                </a:cxn>
                <a:cxn ang="0">
                  <a:pos x="587" y="73"/>
                </a:cxn>
                <a:cxn ang="0">
                  <a:pos x="586" y="57"/>
                </a:cxn>
                <a:cxn ang="0">
                  <a:pos x="581" y="41"/>
                </a:cxn>
                <a:cxn ang="0">
                  <a:pos x="573" y="26"/>
                </a:cxn>
                <a:cxn ang="0">
                  <a:pos x="560" y="14"/>
                </a:cxn>
                <a:cxn ang="0">
                  <a:pos x="547" y="6"/>
                </a:cxn>
                <a:cxn ang="0">
                  <a:pos x="530" y="1"/>
                </a:cxn>
                <a:cxn ang="0">
                  <a:pos x="514" y="0"/>
                </a:cxn>
                <a:cxn ang="0">
                  <a:pos x="73" y="0"/>
                </a:cxn>
                <a:cxn ang="0">
                  <a:pos x="57" y="1"/>
                </a:cxn>
                <a:cxn ang="0">
                  <a:pos x="41" y="6"/>
                </a:cxn>
                <a:cxn ang="0">
                  <a:pos x="28" y="14"/>
                </a:cxn>
                <a:cxn ang="0">
                  <a:pos x="16" y="26"/>
                </a:cxn>
                <a:cxn ang="0">
                  <a:pos x="7" y="41"/>
                </a:cxn>
                <a:cxn ang="0">
                  <a:pos x="1" y="57"/>
                </a:cxn>
                <a:cxn ang="0">
                  <a:pos x="0" y="73"/>
                </a:cxn>
                <a:cxn ang="0">
                  <a:pos x="0" y="122"/>
                </a:cxn>
                <a:cxn ang="0">
                  <a:pos x="1" y="139"/>
                </a:cxn>
                <a:cxn ang="0">
                  <a:pos x="7" y="153"/>
                </a:cxn>
                <a:cxn ang="0">
                  <a:pos x="16" y="168"/>
                </a:cxn>
                <a:cxn ang="0">
                  <a:pos x="28" y="179"/>
                </a:cxn>
                <a:cxn ang="0">
                  <a:pos x="41" y="189"/>
                </a:cxn>
                <a:cxn ang="0">
                  <a:pos x="57" y="193"/>
                </a:cxn>
                <a:cxn ang="0">
                  <a:pos x="73" y="196"/>
                </a:cxn>
                <a:cxn ang="0">
                  <a:pos x="514" y="196"/>
                </a:cxn>
              </a:cxnLst>
              <a:rect l="0" t="0" r="r" b="b"/>
              <a:pathLst>
                <a:path w="587" h="196">
                  <a:moveTo>
                    <a:pt x="514" y="196"/>
                  </a:moveTo>
                  <a:lnTo>
                    <a:pt x="530" y="193"/>
                  </a:lnTo>
                  <a:lnTo>
                    <a:pt x="547" y="189"/>
                  </a:lnTo>
                  <a:lnTo>
                    <a:pt x="560" y="179"/>
                  </a:lnTo>
                  <a:lnTo>
                    <a:pt x="573" y="168"/>
                  </a:lnTo>
                  <a:lnTo>
                    <a:pt x="581" y="153"/>
                  </a:lnTo>
                  <a:lnTo>
                    <a:pt x="586" y="139"/>
                  </a:lnTo>
                  <a:lnTo>
                    <a:pt x="587" y="122"/>
                  </a:lnTo>
                  <a:lnTo>
                    <a:pt x="587" y="73"/>
                  </a:lnTo>
                  <a:lnTo>
                    <a:pt x="586" y="57"/>
                  </a:lnTo>
                  <a:lnTo>
                    <a:pt x="581" y="41"/>
                  </a:lnTo>
                  <a:lnTo>
                    <a:pt x="573" y="26"/>
                  </a:lnTo>
                  <a:lnTo>
                    <a:pt x="560" y="14"/>
                  </a:lnTo>
                  <a:lnTo>
                    <a:pt x="547" y="6"/>
                  </a:lnTo>
                  <a:lnTo>
                    <a:pt x="530" y="1"/>
                  </a:lnTo>
                  <a:lnTo>
                    <a:pt x="514" y="0"/>
                  </a:lnTo>
                  <a:lnTo>
                    <a:pt x="73" y="0"/>
                  </a:lnTo>
                  <a:lnTo>
                    <a:pt x="57" y="1"/>
                  </a:lnTo>
                  <a:lnTo>
                    <a:pt x="41" y="6"/>
                  </a:lnTo>
                  <a:lnTo>
                    <a:pt x="28" y="14"/>
                  </a:lnTo>
                  <a:lnTo>
                    <a:pt x="16" y="26"/>
                  </a:lnTo>
                  <a:lnTo>
                    <a:pt x="7" y="41"/>
                  </a:lnTo>
                  <a:lnTo>
                    <a:pt x="1" y="57"/>
                  </a:lnTo>
                  <a:lnTo>
                    <a:pt x="0" y="73"/>
                  </a:lnTo>
                  <a:lnTo>
                    <a:pt x="0" y="122"/>
                  </a:lnTo>
                  <a:lnTo>
                    <a:pt x="1" y="139"/>
                  </a:lnTo>
                  <a:lnTo>
                    <a:pt x="7" y="153"/>
                  </a:lnTo>
                  <a:lnTo>
                    <a:pt x="16" y="168"/>
                  </a:lnTo>
                  <a:lnTo>
                    <a:pt x="28" y="179"/>
                  </a:lnTo>
                  <a:lnTo>
                    <a:pt x="41" y="189"/>
                  </a:lnTo>
                  <a:lnTo>
                    <a:pt x="57" y="193"/>
                  </a:lnTo>
                  <a:lnTo>
                    <a:pt x="73" y="196"/>
                  </a:lnTo>
                  <a:lnTo>
                    <a:pt x="514" y="196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7" name="Rectangle 509"/>
            <p:cNvSpPr>
              <a:spLocks noChangeArrowheads="1"/>
            </p:cNvSpPr>
            <p:nvPr/>
          </p:nvSpPr>
          <p:spPr bwMode="auto">
            <a:xfrm>
              <a:off x="1494" y="1619"/>
              <a:ext cx="480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모터 용량 </a:t>
              </a:r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13kW~15kW</a:t>
              </a:r>
              <a:endParaRPr lang="en-US" altLang="ko-KR"/>
            </a:p>
          </p:txBody>
        </p:sp>
        <p:sp>
          <p:nvSpPr>
            <p:cNvPr id="2558" name="Rectangle 510"/>
            <p:cNvSpPr>
              <a:spLocks noChangeArrowheads="1"/>
            </p:cNvSpPr>
            <p:nvPr/>
          </p:nvSpPr>
          <p:spPr bwMode="auto">
            <a:xfrm>
              <a:off x="1482" y="1670"/>
              <a:ext cx="50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 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회생 </a:t>
              </a:r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IGBT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외장 </a:t>
              </a:r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TYPE</a:t>
              </a:r>
              <a:endParaRPr lang="en-US" altLang="ko-KR"/>
            </a:p>
          </p:txBody>
        </p:sp>
        <p:sp>
          <p:nvSpPr>
            <p:cNvPr id="2559" name="Rectangle 511"/>
            <p:cNvSpPr>
              <a:spLocks noChangeArrowheads="1"/>
            </p:cNvSpPr>
            <p:nvPr/>
          </p:nvSpPr>
          <p:spPr bwMode="auto">
            <a:xfrm>
              <a:off x="1618" y="1722"/>
              <a:ext cx="229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IPM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사용 </a:t>
              </a:r>
              <a:endParaRPr lang="ko-KR" altLang="en-US"/>
            </a:p>
          </p:txBody>
        </p:sp>
        <p:sp>
          <p:nvSpPr>
            <p:cNvPr id="2560" name="Freeform 512"/>
            <p:cNvSpPr>
              <a:spLocks/>
            </p:cNvSpPr>
            <p:nvPr/>
          </p:nvSpPr>
          <p:spPr bwMode="auto">
            <a:xfrm>
              <a:off x="2051" y="1586"/>
              <a:ext cx="587" cy="196"/>
            </a:xfrm>
            <a:custGeom>
              <a:avLst/>
              <a:gdLst/>
              <a:ahLst/>
              <a:cxnLst>
                <a:cxn ang="0">
                  <a:pos x="514" y="196"/>
                </a:cxn>
                <a:cxn ang="0">
                  <a:pos x="530" y="193"/>
                </a:cxn>
                <a:cxn ang="0">
                  <a:pos x="546" y="189"/>
                </a:cxn>
                <a:cxn ang="0">
                  <a:pos x="560" y="179"/>
                </a:cxn>
                <a:cxn ang="0">
                  <a:pos x="572" y="168"/>
                </a:cxn>
                <a:cxn ang="0">
                  <a:pos x="580" y="153"/>
                </a:cxn>
                <a:cxn ang="0">
                  <a:pos x="586" y="139"/>
                </a:cxn>
                <a:cxn ang="0">
                  <a:pos x="587" y="122"/>
                </a:cxn>
                <a:cxn ang="0">
                  <a:pos x="587" y="74"/>
                </a:cxn>
                <a:cxn ang="0">
                  <a:pos x="586" y="58"/>
                </a:cxn>
                <a:cxn ang="0">
                  <a:pos x="580" y="42"/>
                </a:cxn>
                <a:cxn ang="0">
                  <a:pos x="572" y="27"/>
                </a:cxn>
                <a:cxn ang="0">
                  <a:pos x="560" y="15"/>
                </a:cxn>
                <a:cxn ang="0">
                  <a:pos x="546" y="6"/>
                </a:cxn>
                <a:cxn ang="0">
                  <a:pos x="530" y="1"/>
                </a:cxn>
                <a:cxn ang="0">
                  <a:pos x="514" y="0"/>
                </a:cxn>
                <a:cxn ang="0">
                  <a:pos x="72" y="0"/>
                </a:cxn>
                <a:cxn ang="0">
                  <a:pos x="57" y="1"/>
                </a:cxn>
                <a:cxn ang="0">
                  <a:pos x="40" y="6"/>
                </a:cxn>
                <a:cxn ang="0">
                  <a:pos x="28" y="15"/>
                </a:cxn>
                <a:cxn ang="0">
                  <a:pos x="15" y="27"/>
                </a:cxn>
                <a:cxn ang="0">
                  <a:pos x="7" y="42"/>
                </a:cxn>
                <a:cxn ang="0">
                  <a:pos x="1" y="58"/>
                </a:cxn>
                <a:cxn ang="0">
                  <a:pos x="0" y="74"/>
                </a:cxn>
                <a:cxn ang="0">
                  <a:pos x="0" y="122"/>
                </a:cxn>
                <a:cxn ang="0">
                  <a:pos x="1" y="139"/>
                </a:cxn>
                <a:cxn ang="0">
                  <a:pos x="7" y="153"/>
                </a:cxn>
                <a:cxn ang="0">
                  <a:pos x="15" y="168"/>
                </a:cxn>
                <a:cxn ang="0">
                  <a:pos x="28" y="179"/>
                </a:cxn>
                <a:cxn ang="0">
                  <a:pos x="40" y="189"/>
                </a:cxn>
                <a:cxn ang="0">
                  <a:pos x="57" y="193"/>
                </a:cxn>
                <a:cxn ang="0">
                  <a:pos x="72" y="196"/>
                </a:cxn>
                <a:cxn ang="0">
                  <a:pos x="514" y="196"/>
                </a:cxn>
              </a:cxnLst>
              <a:rect l="0" t="0" r="r" b="b"/>
              <a:pathLst>
                <a:path w="587" h="196">
                  <a:moveTo>
                    <a:pt x="514" y="196"/>
                  </a:moveTo>
                  <a:lnTo>
                    <a:pt x="530" y="193"/>
                  </a:lnTo>
                  <a:lnTo>
                    <a:pt x="546" y="189"/>
                  </a:lnTo>
                  <a:lnTo>
                    <a:pt x="560" y="179"/>
                  </a:lnTo>
                  <a:lnTo>
                    <a:pt x="572" y="168"/>
                  </a:lnTo>
                  <a:lnTo>
                    <a:pt x="580" y="153"/>
                  </a:lnTo>
                  <a:lnTo>
                    <a:pt x="586" y="139"/>
                  </a:lnTo>
                  <a:lnTo>
                    <a:pt x="587" y="122"/>
                  </a:lnTo>
                  <a:lnTo>
                    <a:pt x="587" y="74"/>
                  </a:lnTo>
                  <a:lnTo>
                    <a:pt x="586" y="58"/>
                  </a:lnTo>
                  <a:lnTo>
                    <a:pt x="580" y="42"/>
                  </a:lnTo>
                  <a:lnTo>
                    <a:pt x="572" y="27"/>
                  </a:lnTo>
                  <a:lnTo>
                    <a:pt x="560" y="15"/>
                  </a:lnTo>
                  <a:lnTo>
                    <a:pt x="546" y="6"/>
                  </a:lnTo>
                  <a:lnTo>
                    <a:pt x="530" y="1"/>
                  </a:lnTo>
                  <a:lnTo>
                    <a:pt x="514" y="0"/>
                  </a:lnTo>
                  <a:lnTo>
                    <a:pt x="72" y="0"/>
                  </a:lnTo>
                  <a:lnTo>
                    <a:pt x="57" y="1"/>
                  </a:lnTo>
                  <a:lnTo>
                    <a:pt x="40" y="6"/>
                  </a:lnTo>
                  <a:lnTo>
                    <a:pt x="28" y="15"/>
                  </a:lnTo>
                  <a:lnTo>
                    <a:pt x="15" y="27"/>
                  </a:lnTo>
                  <a:lnTo>
                    <a:pt x="7" y="42"/>
                  </a:lnTo>
                  <a:lnTo>
                    <a:pt x="1" y="58"/>
                  </a:lnTo>
                  <a:lnTo>
                    <a:pt x="0" y="74"/>
                  </a:lnTo>
                  <a:lnTo>
                    <a:pt x="0" y="122"/>
                  </a:lnTo>
                  <a:lnTo>
                    <a:pt x="1" y="139"/>
                  </a:lnTo>
                  <a:lnTo>
                    <a:pt x="7" y="153"/>
                  </a:lnTo>
                  <a:lnTo>
                    <a:pt x="15" y="168"/>
                  </a:lnTo>
                  <a:lnTo>
                    <a:pt x="28" y="179"/>
                  </a:lnTo>
                  <a:lnTo>
                    <a:pt x="40" y="189"/>
                  </a:lnTo>
                  <a:lnTo>
                    <a:pt x="57" y="193"/>
                  </a:lnTo>
                  <a:lnTo>
                    <a:pt x="72" y="196"/>
                  </a:lnTo>
                  <a:lnTo>
                    <a:pt x="514" y="196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1" name="Rectangle 513"/>
            <p:cNvSpPr>
              <a:spLocks noChangeArrowheads="1"/>
            </p:cNvSpPr>
            <p:nvPr/>
          </p:nvSpPr>
          <p:spPr bwMode="auto">
            <a:xfrm>
              <a:off x="2117" y="1643"/>
              <a:ext cx="480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모터 용량 </a:t>
              </a:r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18kW~22kW</a:t>
              </a:r>
              <a:endParaRPr lang="en-US" altLang="ko-KR"/>
            </a:p>
          </p:txBody>
        </p:sp>
        <p:sp>
          <p:nvSpPr>
            <p:cNvPr id="2562" name="Rectangle 514"/>
            <p:cNvSpPr>
              <a:spLocks noChangeArrowheads="1"/>
            </p:cNvSpPr>
            <p:nvPr/>
          </p:nvSpPr>
          <p:spPr bwMode="auto">
            <a:xfrm>
              <a:off x="2207" y="1695"/>
              <a:ext cx="298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  IGBT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사용 </a:t>
              </a:r>
              <a:endParaRPr lang="ko-KR" altLang="en-US"/>
            </a:p>
          </p:txBody>
        </p:sp>
        <p:sp>
          <p:nvSpPr>
            <p:cNvPr id="2563" name="Line 515"/>
            <p:cNvSpPr>
              <a:spLocks noChangeShapeType="1"/>
            </p:cNvSpPr>
            <p:nvPr/>
          </p:nvSpPr>
          <p:spPr bwMode="auto">
            <a:xfrm>
              <a:off x="2599" y="2132"/>
              <a:ext cx="1" cy="1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4" name="Freeform 516"/>
            <p:cNvSpPr>
              <a:spLocks/>
            </p:cNvSpPr>
            <p:nvPr/>
          </p:nvSpPr>
          <p:spPr bwMode="auto">
            <a:xfrm>
              <a:off x="2575" y="2278"/>
              <a:ext cx="48" cy="48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24" y="48"/>
                </a:cxn>
                <a:cxn ang="0">
                  <a:pos x="0" y="0"/>
                </a:cxn>
                <a:cxn ang="0">
                  <a:pos x="48" y="0"/>
                </a:cxn>
              </a:cxnLst>
              <a:rect l="0" t="0" r="r" b="b"/>
              <a:pathLst>
                <a:path w="48" h="48">
                  <a:moveTo>
                    <a:pt x="48" y="0"/>
                  </a:moveTo>
                  <a:lnTo>
                    <a:pt x="24" y="48"/>
                  </a:lnTo>
                  <a:lnTo>
                    <a:pt x="0" y="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5" name="Rectangle 517"/>
            <p:cNvSpPr>
              <a:spLocks noChangeArrowheads="1"/>
            </p:cNvSpPr>
            <p:nvPr/>
          </p:nvSpPr>
          <p:spPr bwMode="auto">
            <a:xfrm>
              <a:off x="1654" y="1999"/>
              <a:ext cx="133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IPM</a:t>
              </a:r>
              <a:endParaRPr lang="en-US" altLang="ko-KR"/>
            </a:p>
          </p:txBody>
        </p:sp>
        <p:sp>
          <p:nvSpPr>
            <p:cNvPr id="2566" name="Freeform 518"/>
            <p:cNvSpPr>
              <a:spLocks/>
            </p:cNvSpPr>
            <p:nvPr/>
          </p:nvSpPr>
          <p:spPr bwMode="auto">
            <a:xfrm>
              <a:off x="1742" y="1782"/>
              <a:ext cx="1" cy="1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4"/>
                </a:cxn>
                <a:cxn ang="0">
                  <a:pos x="0" y="172"/>
                </a:cxn>
              </a:cxnLst>
              <a:rect l="0" t="0" r="r" b="b"/>
              <a:pathLst>
                <a:path h="172">
                  <a:moveTo>
                    <a:pt x="0" y="0"/>
                  </a:moveTo>
                  <a:lnTo>
                    <a:pt x="0" y="54"/>
                  </a:lnTo>
                  <a:lnTo>
                    <a:pt x="0" y="17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7" name="Freeform 519"/>
            <p:cNvSpPr>
              <a:spLocks/>
            </p:cNvSpPr>
            <p:nvPr/>
          </p:nvSpPr>
          <p:spPr bwMode="auto">
            <a:xfrm>
              <a:off x="1718" y="1948"/>
              <a:ext cx="48" cy="47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24" y="47"/>
                </a:cxn>
                <a:cxn ang="0">
                  <a:pos x="0" y="0"/>
                </a:cxn>
                <a:cxn ang="0">
                  <a:pos x="48" y="0"/>
                </a:cxn>
              </a:cxnLst>
              <a:rect l="0" t="0" r="r" b="b"/>
              <a:pathLst>
                <a:path w="48" h="47">
                  <a:moveTo>
                    <a:pt x="48" y="0"/>
                  </a:moveTo>
                  <a:lnTo>
                    <a:pt x="24" y="47"/>
                  </a:lnTo>
                  <a:lnTo>
                    <a:pt x="0" y="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8" name="Line 520"/>
            <p:cNvSpPr>
              <a:spLocks noChangeShapeType="1"/>
            </p:cNvSpPr>
            <p:nvPr/>
          </p:nvSpPr>
          <p:spPr bwMode="auto">
            <a:xfrm>
              <a:off x="1079" y="1782"/>
              <a:ext cx="194" cy="6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9" name="Freeform 521"/>
            <p:cNvSpPr>
              <a:spLocks/>
            </p:cNvSpPr>
            <p:nvPr/>
          </p:nvSpPr>
          <p:spPr bwMode="auto">
            <a:xfrm>
              <a:off x="1261" y="1822"/>
              <a:ext cx="52" cy="4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52" y="38"/>
                </a:cxn>
                <a:cxn ang="0">
                  <a:pos x="0" y="45"/>
                </a:cxn>
                <a:cxn ang="0">
                  <a:pos x="14" y="0"/>
                </a:cxn>
              </a:cxnLst>
              <a:rect l="0" t="0" r="r" b="b"/>
              <a:pathLst>
                <a:path w="52" h="45">
                  <a:moveTo>
                    <a:pt x="14" y="0"/>
                  </a:moveTo>
                  <a:lnTo>
                    <a:pt x="52" y="38"/>
                  </a:lnTo>
                  <a:lnTo>
                    <a:pt x="0" y="4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0" name="Line 522"/>
            <p:cNvSpPr>
              <a:spLocks noChangeShapeType="1"/>
            </p:cNvSpPr>
            <p:nvPr/>
          </p:nvSpPr>
          <p:spPr bwMode="auto">
            <a:xfrm flipH="1">
              <a:off x="1699" y="1782"/>
              <a:ext cx="627" cy="40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1" name="Freeform 523"/>
            <p:cNvSpPr>
              <a:spLocks/>
            </p:cNvSpPr>
            <p:nvPr/>
          </p:nvSpPr>
          <p:spPr bwMode="auto">
            <a:xfrm>
              <a:off x="1664" y="2163"/>
              <a:ext cx="53" cy="47"/>
            </a:xfrm>
            <a:custGeom>
              <a:avLst/>
              <a:gdLst/>
              <a:ahLst/>
              <a:cxnLst>
                <a:cxn ang="0">
                  <a:pos x="53" y="41"/>
                </a:cxn>
                <a:cxn ang="0">
                  <a:pos x="0" y="47"/>
                </a:cxn>
                <a:cxn ang="0">
                  <a:pos x="27" y="0"/>
                </a:cxn>
                <a:cxn ang="0">
                  <a:pos x="53" y="41"/>
                </a:cxn>
              </a:cxnLst>
              <a:rect l="0" t="0" r="r" b="b"/>
              <a:pathLst>
                <a:path w="53" h="47">
                  <a:moveTo>
                    <a:pt x="53" y="41"/>
                  </a:moveTo>
                  <a:lnTo>
                    <a:pt x="0" y="47"/>
                  </a:lnTo>
                  <a:lnTo>
                    <a:pt x="27" y="0"/>
                  </a:lnTo>
                  <a:lnTo>
                    <a:pt x="53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2" name="Rectangle 524"/>
            <p:cNvSpPr>
              <a:spLocks noChangeArrowheads="1"/>
            </p:cNvSpPr>
            <p:nvPr/>
          </p:nvSpPr>
          <p:spPr bwMode="auto">
            <a:xfrm>
              <a:off x="553" y="3261"/>
              <a:ext cx="190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GATE</a:t>
              </a:r>
              <a:endParaRPr lang="en-US" altLang="ko-KR"/>
            </a:p>
          </p:txBody>
        </p:sp>
        <p:sp>
          <p:nvSpPr>
            <p:cNvPr id="2573" name="Rectangle 525"/>
            <p:cNvSpPr>
              <a:spLocks noChangeArrowheads="1"/>
            </p:cNvSpPr>
            <p:nvPr/>
          </p:nvSpPr>
          <p:spPr bwMode="auto">
            <a:xfrm>
              <a:off x="552" y="3335"/>
              <a:ext cx="195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SMPS</a:t>
              </a:r>
              <a:endParaRPr lang="en-US" altLang="ko-KR"/>
            </a:p>
          </p:txBody>
        </p:sp>
        <p:sp>
          <p:nvSpPr>
            <p:cNvPr id="2574" name="Rectangle 526"/>
            <p:cNvSpPr>
              <a:spLocks noChangeArrowheads="1"/>
            </p:cNvSpPr>
            <p:nvPr/>
          </p:nvSpPr>
          <p:spPr bwMode="auto">
            <a:xfrm>
              <a:off x="1527" y="3417"/>
              <a:ext cx="49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(</a:t>
              </a:r>
              <a:endParaRPr lang="en-US" altLang="ko-KR"/>
            </a:p>
          </p:txBody>
        </p:sp>
        <p:sp>
          <p:nvSpPr>
            <p:cNvPr id="2575" name="Rectangle 527"/>
            <p:cNvSpPr>
              <a:spLocks noChangeArrowheads="1"/>
            </p:cNvSpPr>
            <p:nvPr/>
          </p:nvSpPr>
          <p:spPr bwMode="auto">
            <a:xfrm>
              <a:off x="1548" y="3417"/>
              <a:ext cx="181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GDC)</a:t>
              </a:r>
              <a:endParaRPr lang="en-US" altLang="ko-KR"/>
            </a:p>
          </p:txBody>
        </p:sp>
        <p:sp>
          <p:nvSpPr>
            <p:cNvPr id="2576" name="Rectangle 528"/>
            <p:cNvSpPr>
              <a:spLocks noChangeArrowheads="1"/>
            </p:cNvSpPr>
            <p:nvPr/>
          </p:nvSpPr>
          <p:spPr bwMode="auto">
            <a:xfrm>
              <a:off x="2662" y="3338"/>
              <a:ext cx="278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DPC-1XX</a:t>
              </a:r>
              <a:endParaRPr lang="en-US" altLang="ko-KR"/>
            </a:p>
          </p:txBody>
        </p:sp>
        <p:sp>
          <p:nvSpPr>
            <p:cNvPr id="2577" name="Rectangle 529"/>
            <p:cNvSpPr>
              <a:spLocks noChangeArrowheads="1"/>
            </p:cNvSpPr>
            <p:nvPr/>
          </p:nvSpPr>
          <p:spPr bwMode="auto">
            <a:xfrm>
              <a:off x="2720" y="3424"/>
              <a:ext cx="49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(</a:t>
              </a:r>
              <a:endParaRPr lang="en-US" altLang="ko-KR"/>
            </a:p>
          </p:txBody>
        </p:sp>
        <p:sp>
          <p:nvSpPr>
            <p:cNvPr id="2578" name="Rectangle 530"/>
            <p:cNvSpPr>
              <a:spLocks noChangeArrowheads="1"/>
            </p:cNvSpPr>
            <p:nvPr/>
          </p:nvSpPr>
          <p:spPr bwMode="auto">
            <a:xfrm>
              <a:off x="2739" y="3424"/>
              <a:ext cx="14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800" b="1">
                  <a:solidFill>
                    <a:srgbClr val="000000"/>
                  </a:solidFill>
                  <a:latin typeface="Arial" charset="0"/>
                </a:rPr>
                <a:t>INV)</a:t>
              </a:r>
              <a:endParaRPr lang="en-US" altLang="ko-KR"/>
            </a:p>
          </p:txBody>
        </p:sp>
        <p:sp>
          <p:nvSpPr>
            <p:cNvPr id="2579" name="Line 531"/>
            <p:cNvSpPr>
              <a:spLocks noChangeShapeType="1"/>
            </p:cNvSpPr>
            <p:nvPr/>
          </p:nvSpPr>
          <p:spPr bwMode="auto">
            <a:xfrm>
              <a:off x="807" y="3200"/>
              <a:ext cx="2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0" name="Line 532"/>
            <p:cNvSpPr>
              <a:spLocks noChangeShapeType="1"/>
            </p:cNvSpPr>
            <p:nvPr/>
          </p:nvSpPr>
          <p:spPr bwMode="auto">
            <a:xfrm>
              <a:off x="807" y="3278"/>
              <a:ext cx="2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1" name="Line 533"/>
            <p:cNvSpPr>
              <a:spLocks noChangeShapeType="1"/>
            </p:cNvSpPr>
            <p:nvPr/>
          </p:nvSpPr>
          <p:spPr bwMode="auto">
            <a:xfrm>
              <a:off x="807" y="3298"/>
              <a:ext cx="2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2" name="Line 534"/>
            <p:cNvSpPr>
              <a:spLocks noChangeShapeType="1"/>
            </p:cNvSpPr>
            <p:nvPr/>
          </p:nvSpPr>
          <p:spPr bwMode="auto">
            <a:xfrm>
              <a:off x="807" y="3375"/>
              <a:ext cx="2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3" name="Freeform 535"/>
            <p:cNvSpPr>
              <a:spLocks/>
            </p:cNvSpPr>
            <p:nvPr/>
          </p:nvSpPr>
          <p:spPr bwMode="auto">
            <a:xfrm>
              <a:off x="417" y="3696"/>
              <a:ext cx="468" cy="195"/>
            </a:xfrm>
            <a:custGeom>
              <a:avLst/>
              <a:gdLst/>
              <a:ahLst/>
              <a:cxnLst>
                <a:cxn ang="0">
                  <a:pos x="408" y="195"/>
                </a:cxn>
                <a:cxn ang="0">
                  <a:pos x="422" y="192"/>
                </a:cxn>
                <a:cxn ang="0">
                  <a:pos x="435" y="188"/>
                </a:cxn>
                <a:cxn ang="0">
                  <a:pos x="446" y="179"/>
                </a:cxn>
                <a:cxn ang="0">
                  <a:pos x="456" y="168"/>
                </a:cxn>
                <a:cxn ang="0">
                  <a:pos x="462" y="154"/>
                </a:cxn>
                <a:cxn ang="0">
                  <a:pos x="467" y="139"/>
                </a:cxn>
                <a:cxn ang="0">
                  <a:pos x="468" y="123"/>
                </a:cxn>
                <a:cxn ang="0">
                  <a:pos x="468" y="73"/>
                </a:cxn>
                <a:cxn ang="0">
                  <a:pos x="467" y="58"/>
                </a:cxn>
                <a:cxn ang="0">
                  <a:pos x="462" y="42"/>
                </a:cxn>
                <a:cxn ang="0">
                  <a:pos x="456" y="27"/>
                </a:cxn>
                <a:cxn ang="0">
                  <a:pos x="446" y="15"/>
                </a:cxn>
                <a:cxn ang="0">
                  <a:pos x="435" y="7"/>
                </a:cxn>
                <a:cxn ang="0">
                  <a:pos x="422" y="1"/>
                </a:cxn>
                <a:cxn ang="0">
                  <a:pos x="408" y="0"/>
                </a:cxn>
                <a:cxn ang="0">
                  <a:pos x="58" y="0"/>
                </a:cxn>
                <a:cxn ang="0">
                  <a:pos x="46" y="1"/>
                </a:cxn>
                <a:cxn ang="0">
                  <a:pos x="32" y="7"/>
                </a:cxn>
                <a:cxn ang="0">
                  <a:pos x="22" y="15"/>
                </a:cxn>
                <a:cxn ang="0">
                  <a:pos x="13" y="27"/>
                </a:cxn>
                <a:cxn ang="0">
                  <a:pos x="5" y="42"/>
                </a:cxn>
                <a:cxn ang="0">
                  <a:pos x="1" y="58"/>
                </a:cxn>
                <a:cxn ang="0">
                  <a:pos x="0" y="73"/>
                </a:cxn>
                <a:cxn ang="0">
                  <a:pos x="0" y="123"/>
                </a:cxn>
                <a:cxn ang="0">
                  <a:pos x="1" y="139"/>
                </a:cxn>
                <a:cxn ang="0">
                  <a:pos x="5" y="154"/>
                </a:cxn>
                <a:cxn ang="0">
                  <a:pos x="13" y="168"/>
                </a:cxn>
                <a:cxn ang="0">
                  <a:pos x="22" y="179"/>
                </a:cxn>
                <a:cxn ang="0">
                  <a:pos x="32" y="188"/>
                </a:cxn>
                <a:cxn ang="0">
                  <a:pos x="46" y="192"/>
                </a:cxn>
                <a:cxn ang="0">
                  <a:pos x="58" y="195"/>
                </a:cxn>
                <a:cxn ang="0">
                  <a:pos x="408" y="195"/>
                </a:cxn>
              </a:cxnLst>
              <a:rect l="0" t="0" r="r" b="b"/>
              <a:pathLst>
                <a:path w="468" h="195">
                  <a:moveTo>
                    <a:pt x="408" y="195"/>
                  </a:moveTo>
                  <a:lnTo>
                    <a:pt x="422" y="192"/>
                  </a:lnTo>
                  <a:lnTo>
                    <a:pt x="435" y="188"/>
                  </a:lnTo>
                  <a:lnTo>
                    <a:pt x="446" y="179"/>
                  </a:lnTo>
                  <a:lnTo>
                    <a:pt x="456" y="168"/>
                  </a:lnTo>
                  <a:lnTo>
                    <a:pt x="462" y="154"/>
                  </a:lnTo>
                  <a:lnTo>
                    <a:pt x="467" y="139"/>
                  </a:lnTo>
                  <a:lnTo>
                    <a:pt x="468" y="123"/>
                  </a:lnTo>
                  <a:lnTo>
                    <a:pt x="468" y="73"/>
                  </a:lnTo>
                  <a:lnTo>
                    <a:pt x="467" y="58"/>
                  </a:lnTo>
                  <a:lnTo>
                    <a:pt x="462" y="42"/>
                  </a:lnTo>
                  <a:lnTo>
                    <a:pt x="456" y="27"/>
                  </a:lnTo>
                  <a:lnTo>
                    <a:pt x="446" y="15"/>
                  </a:lnTo>
                  <a:lnTo>
                    <a:pt x="435" y="7"/>
                  </a:lnTo>
                  <a:lnTo>
                    <a:pt x="422" y="1"/>
                  </a:lnTo>
                  <a:lnTo>
                    <a:pt x="408" y="0"/>
                  </a:lnTo>
                  <a:lnTo>
                    <a:pt x="58" y="0"/>
                  </a:lnTo>
                  <a:lnTo>
                    <a:pt x="46" y="1"/>
                  </a:lnTo>
                  <a:lnTo>
                    <a:pt x="32" y="7"/>
                  </a:lnTo>
                  <a:lnTo>
                    <a:pt x="22" y="15"/>
                  </a:lnTo>
                  <a:lnTo>
                    <a:pt x="13" y="27"/>
                  </a:lnTo>
                  <a:lnTo>
                    <a:pt x="5" y="42"/>
                  </a:lnTo>
                  <a:lnTo>
                    <a:pt x="1" y="58"/>
                  </a:lnTo>
                  <a:lnTo>
                    <a:pt x="0" y="73"/>
                  </a:lnTo>
                  <a:lnTo>
                    <a:pt x="0" y="123"/>
                  </a:lnTo>
                  <a:lnTo>
                    <a:pt x="1" y="139"/>
                  </a:lnTo>
                  <a:lnTo>
                    <a:pt x="5" y="154"/>
                  </a:lnTo>
                  <a:lnTo>
                    <a:pt x="13" y="168"/>
                  </a:lnTo>
                  <a:lnTo>
                    <a:pt x="22" y="179"/>
                  </a:lnTo>
                  <a:lnTo>
                    <a:pt x="32" y="188"/>
                  </a:lnTo>
                  <a:lnTo>
                    <a:pt x="46" y="192"/>
                  </a:lnTo>
                  <a:lnTo>
                    <a:pt x="58" y="195"/>
                  </a:lnTo>
                  <a:lnTo>
                    <a:pt x="408" y="195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4" name="Rectangle 536"/>
            <p:cNvSpPr>
              <a:spLocks noChangeArrowheads="1"/>
            </p:cNvSpPr>
            <p:nvPr/>
          </p:nvSpPr>
          <p:spPr bwMode="auto">
            <a:xfrm>
              <a:off x="503" y="3692"/>
              <a:ext cx="320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IGBT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인 경우  </a:t>
              </a:r>
              <a:endParaRPr lang="ko-KR" altLang="en-US"/>
            </a:p>
          </p:txBody>
        </p:sp>
        <p:sp>
          <p:nvSpPr>
            <p:cNvPr id="2585" name="Rectangle 537"/>
            <p:cNvSpPr>
              <a:spLocks noChangeArrowheads="1"/>
            </p:cNvSpPr>
            <p:nvPr/>
          </p:nvSpPr>
          <p:spPr bwMode="auto">
            <a:xfrm>
              <a:off x="479" y="3743"/>
              <a:ext cx="367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GATE TRANS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사용</a:t>
              </a:r>
              <a:endParaRPr lang="ko-KR" altLang="en-US"/>
            </a:p>
          </p:txBody>
        </p:sp>
        <p:sp>
          <p:nvSpPr>
            <p:cNvPr id="2586" name="Rectangle 538"/>
            <p:cNvSpPr>
              <a:spLocks noChangeArrowheads="1"/>
            </p:cNvSpPr>
            <p:nvPr/>
          </p:nvSpPr>
          <p:spPr bwMode="auto">
            <a:xfrm>
              <a:off x="538" y="3795"/>
              <a:ext cx="250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IPM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인 경우</a:t>
              </a:r>
              <a:endParaRPr lang="ko-KR" altLang="en-US"/>
            </a:p>
          </p:txBody>
        </p:sp>
        <p:sp>
          <p:nvSpPr>
            <p:cNvPr id="2587" name="Line 539"/>
            <p:cNvSpPr>
              <a:spLocks noChangeShapeType="1"/>
            </p:cNvSpPr>
            <p:nvPr/>
          </p:nvSpPr>
          <p:spPr bwMode="auto">
            <a:xfrm flipV="1">
              <a:off x="651" y="3610"/>
              <a:ext cx="1" cy="8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8" name="Freeform 540"/>
            <p:cNvSpPr>
              <a:spLocks/>
            </p:cNvSpPr>
            <p:nvPr/>
          </p:nvSpPr>
          <p:spPr bwMode="auto">
            <a:xfrm>
              <a:off x="627" y="3569"/>
              <a:ext cx="48" cy="4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24" y="0"/>
                </a:cxn>
                <a:cxn ang="0">
                  <a:pos x="48" y="48"/>
                </a:cxn>
                <a:cxn ang="0">
                  <a:pos x="0" y="48"/>
                </a:cxn>
              </a:cxnLst>
              <a:rect l="0" t="0" r="r" b="b"/>
              <a:pathLst>
                <a:path w="48" h="48">
                  <a:moveTo>
                    <a:pt x="0" y="48"/>
                  </a:moveTo>
                  <a:lnTo>
                    <a:pt x="24" y="0"/>
                  </a:lnTo>
                  <a:lnTo>
                    <a:pt x="48" y="48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9" name="Freeform 541"/>
            <p:cNvSpPr>
              <a:spLocks/>
            </p:cNvSpPr>
            <p:nvPr/>
          </p:nvSpPr>
          <p:spPr bwMode="auto">
            <a:xfrm>
              <a:off x="1079" y="3696"/>
              <a:ext cx="1053" cy="195"/>
            </a:xfrm>
            <a:custGeom>
              <a:avLst/>
              <a:gdLst/>
              <a:ahLst/>
              <a:cxnLst>
                <a:cxn ang="0">
                  <a:pos x="921" y="195"/>
                </a:cxn>
                <a:cxn ang="0">
                  <a:pos x="951" y="192"/>
                </a:cxn>
                <a:cxn ang="0">
                  <a:pos x="980" y="188"/>
                </a:cxn>
                <a:cxn ang="0">
                  <a:pos x="1004" y="179"/>
                </a:cxn>
                <a:cxn ang="0">
                  <a:pos x="1027" y="168"/>
                </a:cxn>
                <a:cxn ang="0">
                  <a:pos x="1041" y="154"/>
                </a:cxn>
                <a:cxn ang="0">
                  <a:pos x="1051" y="139"/>
                </a:cxn>
                <a:cxn ang="0">
                  <a:pos x="1053" y="123"/>
                </a:cxn>
                <a:cxn ang="0">
                  <a:pos x="1053" y="73"/>
                </a:cxn>
                <a:cxn ang="0">
                  <a:pos x="1051" y="58"/>
                </a:cxn>
                <a:cxn ang="0">
                  <a:pos x="1041" y="42"/>
                </a:cxn>
                <a:cxn ang="0">
                  <a:pos x="1027" y="27"/>
                </a:cxn>
                <a:cxn ang="0">
                  <a:pos x="1004" y="15"/>
                </a:cxn>
                <a:cxn ang="0">
                  <a:pos x="980" y="7"/>
                </a:cxn>
                <a:cxn ang="0">
                  <a:pos x="951" y="1"/>
                </a:cxn>
                <a:cxn ang="0">
                  <a:pos x="921" y="0"/>
                </a:cxn>
                <a:cxn ang="0">
                  <a:pos x="131" y="0"/>
                </a:cxn>
                <a:cxn ang="0">
                  <a:pos x="103" y="1"/>
                </a:cxn>
                <a:cxn ang="0">
                  <a:pos x="73" y="7"/>
                </a:cxn>
                <a:cxn ang="0">
                  <a:pos x="51" y="15"/>
                </a:cxn>
                <a:cxn ang="0">
                  <a:pos x="28" y="27"/>
                </a:cxn>
                <a:cxn ang="0">
                  <a:pos x="14" y="42"/>
                </a:cxn>
                <a:cxn ang="0">
                  <a:pos x="2" y="58"/>
                </a:cxn>
                <a:cxn ang="0">
                  <a:pos x="0" y="73"/>
                </a:cxn>
                <a:cxn ang="0">
                  <a:pos x="0" y="123"/>
                </a:cxn>
                <a:cxn ang="0">
                  <a:pos x="2" y="139"/>
                </a:cxn>
                <a:cxn ang="0">
                  <a:pos x="14" y="154"/>
                </a:cxn>
                <a:cxn ang="0">
                  <a:pos x="28" y="168"/>
                </a:cxn>
                <a:cxn ang="0">
                  <a:pos x="51" y="179"/>
                </a:cxn>
                <a:cxn ang="0">
                  <a:pos x="73" y="188"/>
                </a:cxn>
                <a:cxn ang="0">
                  <a:pos x="103" y="192"/>
                </a:cxn>
                <a:cxn ang="0">
                  <a:pos x="131" y="195"/>
                </a:cxn>
                <a:cxn ang="0">
                  <a:pos x="921" y="195"/>
                </a:cxn>
              </a:cxnLst>
              <a:rect l="0" t="0" r="r" b="b"/>
              <a:pathLst>
                <a:path w="1053" h="195">
                  <a:moveTo>
                    <a:pt x="921" y="195"/>
                  </a:moveTo>
                  <a:lnTo>
                    <a:pt x="951" y="192"/>
                  </a:lnTo>
                  <a:lnTo>
                    <a:pt x="980" y="188"/>
                  </a:lnTo>
                  <a:lnTo>
                    <a:pt x="1004" y="179"/>
                  </a:lnTo>
                  <a:lnTo>
                    <a:pt x="1027" y="168"/>
                  </a:lnTo>
                  <a:lnTo>
                    <a:pt x="1041" y="154"/>
                  </a:lnTo>
                  <a:lnTo>
                    <a:pt x="1051" y="139"/>
                  </a:lnTo>
                  <a:lnTo>
                    <a:pt x="1053" y="123"/>
                  </a:lnTo>
                  <a:lnTo>
                    <a:pt x="1053" y="73"/>
                  </a:lnTo>
                  <a:lnTo>
                    <a:pt x="1051" y="58"/>
                  </a:lnTo>
                  <a:lnTo>
                    <a:pt x="1041" y="42"/>
                  </a:lnTo>
                  <a:lnTo>
                    <a:pt x="1027" y="27"/>
                  </a:lnTo>
                  <a:lnTo>
                    <a:pt x="1004" y="15"/>
                  </a:lnTo>
                  <a:lnTo>
                    <a:pt x="980" y="7"/>
                  </a:lnTo>
                  <a:lnTo>
                    <a:pt x="951" y="1"/>
                  </a:lnTo>
                  <a:lnTo>
                    <a:pt x="921" y="0"/>
                  </a:lnTo>
                  <a:lnTo>
                    <a:pt x="131" y="0"/>
                  </a:lnTo>
                  <a:lnTo>
                    <a:pt x="103" y="1"/>
                  </a:lnTo>
                  <a:lnTo>
                    <a:pt x="73" y="7"/>
                  </a:lnTo>
                  <a:lnTo>
                    <a:pt x="51" y="15"/>
                  </a:lnTo>
                  <a:lnTo>
                    <a:pt x="28" y="27"/>
                  </a:lnTo>
                  <a:lnTo>
                    <a:pt x="14" y="42"/>
                  </a:lnTo>
                  <a:lnTo>
                    <a:pt x="2" y="58"/>
                  </a:lnTo>
                  <a:lnTo>
                    <a:pt x="0" y="73"/>
                  </a:lnTo>
                  <a:lnTo>
                    <a:pt x="0" y="123"/>
                  </a:lnTo>
                  <a:lnTo>
                    <a:pt x="2" y="139"/>
                  </a:lnTo>
                  <a:lnTo>
                    <a:pt x="14" y="154"/>
                  </a:lnTo>
                  <a:lnTo>
                    <a:pt x="28" y="168"/>
                  </a:lnTo>
                  <a:lnTo>
                    <a:pt x="51" y="179"/>
                  </a:lnTo>
                  <a:lnTo>
                    <a:pt x="73" y="188"/>
                  </a:lnTo>
                  <a:lnTo>
                    <a:pt x="103" y="192"/>
                  </a:lnTo>
                  <a:lnTo>
                    <a:pt x="131" y="195"/>
                  </a:lnTo>
                  <a:lnTo>
                    <a:pt x="921" y="195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0" name="Rectangle 542"/>
            <p:cNvSpPr>
              <a:spLocks noChangeArrowheads="1"/>
            </p:cNvSpPr>
            <p:nvPr/>
          </p:nvSpPr>
          <p:spPr bwMode="auto">
            <a:xfrm>
              <a:off x="1175" y="3717"/>
              <a:ext cx="912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DPP-13X PCB[IPM 100A 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이하인 경우 사용</a:t>
              </a:r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]</a:t>
              </a:r>
              <a:endParaRPr lang="en-US" altLang="ko-KR"/>
            </a:p>
          </p:txBody>
        </p:sp>
        <p:sp>
          <p:nvSpPr>
            <p:cNvPr id="2591" name="Rectangle 543"/>
            <p:cNvSpPr>
              <a:spLocks noChangeArrowheads="1"/>
            </p:cNvSpPr>
            <p:nvPr/>
          </p:nvSpPr>
          <p:spPr bwMode="auto">
            <a:xfrm>
              <a:off x="1208" y="3769"/>
              <a:ext cx="840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 DPP-12X PCB[IPM 150A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인 경우 사용</a:t>
              </a:r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] </a:t>
              </a:r>
              <a:endParaRPr lang="en-US" altLang="ko-KR"/>
            </a:p>
          </p:txBody>
        </p:sp>
        <p:sp>
          <p:nvSpPr>
            <p:cNvPr id="2592" name="Rectangle 544"/>
            <p:cNvSpPr>
              <a:spLocks noChangeArrowheads="1"/>
            </p:cNvSpPr>
            <p:nvPr/>
          </p:nvSpPr>
          <p:spPr bwMode="auto">
            <a:xfrm>
              <a:off x="1208" y="3822"/>
              <a:ext cx="824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DPP-101 PCB[IGBT 200A</a:t>
              </a:r>
              <a:r>
                <a:rPr lang="ko-KR" altLang="en-US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인 경우 사용</a:t>
              </a:r>
              <a:r>
                <a:rPr lang="en-US" altLang="ko-KR" sz="600" b="1">
                  <a:solidFill>
                    <a:srgbClr val="000000"/>
                  </a:solidFill>
                  <a:latin typeface="굴림체" pitchFamily="49" charset="-127"/>
                  <a:ea typeface="굴림체" pitchFamily="49" charset="-127"/>
                </a:rPr>
                <a:t>] </a:t>
              </a:r>
              <a:endParaRPr lang="en-US" altLang="ko-KR"/>
            </a:p>
          </p:txBody>
        </p:sp>
        <p:sp>
          <p:nvSpPr>
            <p:cNvPr id="2593" name="Line 545"/>
            <p:cNvSpPr>
              <a:spLocks noChangeShapeType="1"/>
            </p:cNvSpPr>
            <p:nvPr/>
          </p:nvSpPr>
          <p:spPr bwMode="auto">
            <a:xfrm flipV="1">
              <a:off x="1586" y="3610"/>
              <a:ext cx="1" cy="8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4" name="Freeform 546"/>
            <p:cNvSpPr>
              <a:spLocks/>
            </p:cNvSpPr>
            <p:nvPr/>
          </p:nvSpPr>
          <p:spPr bwMode="auto">
            <a:xfrm>
              <a:off x="1562" y="3569"/>
              <a:ext cx="48" cy="4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24" y="0"/>
                </a:cxn>
                <a:cxn ang="0">
                  <a:pos x="48" y="48"/>
                </a:cxn>
                <a:cxn ang="0">
                  <a:pos x="0" y="48"/>
                </a:cxn>
              </a:cxnLst>
              <a:rect l="0" t="0" r="r" b="b"/>
              <a:pathLst>
                <a:path w="48" h="48">
                  <a:moveTo>
                    <a:pt x="0" y="48"/>
                  </a:moveTo>
                  <a:lnTo>
                    <a:pt x="24" y="0"/>
                  </a:lnTo>
                  <a:lnTo>
                    <a:pt x="48" y="48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5" name="Line 547"/>
            <p:cNvSpPr>
              <a:spLocks noChangeShapeType="1"/>
            </p:cNvSpPr>
            <p:nvPr/>
          </p:nvSpPr>
          <p:spPr bwMode="auto">
            <a:xfrm>
              <a:off x="807" y="3394"/>
              <a:ext cx="2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6" name="Line 548"/>
            <p:cNvSpPr>
              <a:spLocks noChangeShapeType="1"/>
            </p:cNvSpPr>
            <p:nvPr/>
          </p:nvSpPr>
          <p:spPr bwMode="auto">
            <a:xfrm>
              <a:off x="807" y="3491"/>
              <a:ext cx="2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7" name="Line 549"/>
            <p:cNvSpPr>
              <a:spLocks noChangeShapeType="1"/>
            </p:cNvSpPr>
            <p:nvPr/>
          </p:nvSpPr>
          <p:spPr bwMode="auto">
            <a:xfrm>
              <a:off x="807" y="3511"/>
              <a:ext cx="2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8" name="Line 550"/>
            <p:cNvSpPr>
              <a:spLocks noChangeShapeType="1"/>
            </p:cNvSpPr>
            <p:nvPr/>
          </p:nvSpPr>
          <p:spPr bwMode="auto">
            <a:xfrm>
              <a:off x="807" y="3531"/>
              <a:ext cx="2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9" name="Rectangle 551"/>
            <p:cNvSpPr>
              <a:spLocks noChangeArrowheads="1"/>
            </p:cNvSpPr>
            <p:nvPr/>
          </p:nvSpPr>
          <p:spPr bwMode="auto">
            <a:xfrm>
              <a:off x="1087" y="3334"/>
              <a:ext cx="147" cy="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GW - 01</a:t>
              </a:r>
              <a:endParaRPr lang="en-US" altLang="ko-KR"/>
            </a:p>
          </p:txBody>
        </p:sp>
        <p:sp>
          <p:nvSpPr>
            <p:cNvPr id="2600" name="Rectangle 552"/>
            <p:cNvSpPr>
              <a:spLocks noChangeArrowheads="1"/>
            </p:cNvSpPr>
            <p:nvPr/>
          </p:nvSpPr>
          <p:spPr bwMode="auto">
            <a:xfrm>
              <a:off x="1087" y="3372"/>
              <a:ext cx="147" cy="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GW - 02</a:t>
              </a:r>
              <a:endParaRPr lang="en-US" altLang="ko-KR"/>
            </a:p>
          </p:txBody>
        </p:sp>
        <p:sp>
          <p:nvSpPr>
            <p:cNvPr id="2601" name="Rectangle 553"/>
            <p:cNvSpPr>
              <a:spLocks noChangeArrowheads="1"/>
            </p:cNvSpPr>
            <p:nvPr/>
          </p:nvSpPr>
          <p:spPr bwMode="auto">
            <a:xfrm>
              <a:off x="1089" y="3452"/>
              <a:ext cx="137" cy="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GX - 01</a:t>
              </a:r>
              <a:endParaRPr lang="en-US" altLang="ko-KR"/>
            </a:p>
          </p:txBody>
        </p:sp>
        <p:sp>
          <p:nvSpPr>
            <p:cNvPr id="2602" name="Rectangle 554"/>
            <p:cNvSpPr>
              <a:spLocks noChangeArrowheads="1"/>
            </p:cNvSpPr>
            <p:nvPr/>
          </p:nvSpPr>
          <p:spPr bwMode="auto">
            <a:xfrm>
              <a:off x="1089" y="3485"/>
              <a:ext cx="137" cy="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GX - 02</a:t>
              </a:r>
              <a:endParaRPr lang="en-US" altLang="ko-KR"/>
            </a:p>
          </p:txBody>
        </p:sp>
        <p:sp>
          <p:nvSpPr>
            <p:cNvPr id="2603" name="Rectangle 555"/>
            <p:cNvSpPr>
              <a:spLocks noChangeArrowheads="1"/>
            </p:cNvSpPr>
            <p:nvPr/>
          </p:nvSpPr>
          <p:spPr bwMode="auto">
            <a:xfrm>
              <a:off x="1089" y="3528"/>
              <a:ext cx="137" cy="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GX - 03</a:t>
              </a:r>
              <a:endParaRPr lang="en-US" altLang="ko-KR"/>
            </a:p>
          </p:txBody>
        </p:sp>
        <p:sp>
          <p:nvSpPr>
            <p:cNvPr id="2604" name="Line 556"/>
            <p:cNvSpPr>
              <a:spLocks noChangeShapeType="1"/>
            </p:cNvSpPr>
            <p:nvPr/>
          </p:nvSpPr>
          <p:spPr bwMode="auto">
            <a:xfrm>
              <a:off x="807" y="3180"/>
              <a:ext cx="2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5" name="Line 557"/>
            <p:cNvSpPr>
              <a:spLocks noChangeShapeType="1"/>
            </p:cNvSpPr>
            <p:nvPr/>
          </p:nvSpPr>
          <p:spPr bwMode="auto">
            <a:xfrm>
              <a:off x="2014" y="2831"/>
              <a:ext cx="1" cy="311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6" name="Freeform 558"/>
            <p:cNvSpPr>
              <a:spLocks/>
            </p:cNvSpPr>
            <p:nvPr/>
          </p:nvSpPr>
          <p:spPr bwMode="auto">
            <a:xfrm>
              <a:off x="2003" y="2820"/>
              <a:ext cx="23" cy="22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3" y="5"/>
                </a:cxn>
                <a:cxn ang="0">
                  <a:pos x="8" y="0"/>
                </a:cxn>
                <a:cxn ang="0">
                  <a:pos x="15" y="0"/>
                </a:cxn>
                <a:cxn ang="0">
                  <a:pos x="21" y="5"/>
                </a:cxn>
                <a:cxn ang="0">
                  <a:pos x="23" y="11"/>
                </a:cxn>
                <a:cxn ang="0">
                  <a:pos x="21" y="19"/>
                </a:cxn>
                <a:cxn ang="0">
                  <a:pos x="15" y="22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0" y="11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lnTo>
                    <a:pt x="3" y="5"/>
                  </a:lnTo>
                  <a:lnTo>
                    <a:pt x="8" y="0"/>
                  </a:lnTo>
                  <a:lnTo>
                    <a:pt x="15" y="0"/>
                  </a:lnTo>
                  <a:lnTo>
                    <a:pt x="21" y="5"/>
                  </a:lnTo>
                  <a:lnTo>
                    <a:pt x="23" y="11"/>
                  </a:lnTo>
                  <a:lnTo>
                    <a:pt x="21" y="19"/>
                  </a:lnTo>
                  <a:lnTo>
                    <a:pt x="15" y="22"/>
                  </a:lnTo>
                  <a:lnTo>
                    <a:pt x="8" y="22"/>
                  </a:lnTo>
                  <a:lnTo>
                    <a:pt x="3" y="19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7" name="Rectangle 559"/>
            <p:cNvSpPr>
              <a:spLocks noChangeArrowheads="1"/>
            </p:cNvSpPr>
            <p:nvPr/>
          </p:nvSpPr>
          <p:spPr bwMode="auto">
            <a:xfrm rot="16200000">
              <a:off x="1943" y="3156"/>
              <a:ext cx="156" cy="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400" b="1">
                  <a:solidFill>
                    <a:srgbClr val="000000"/>
                  </a:solidFill>
                  <a:latin typeface="Arial" charset="0"/>
                </a:rPr>
                <a:t>GP - 03</a:t>
              </a:r>
              <a:endParaRPr lang="en-US" altLang="ko-KR"/>
            </a:p>
          </p:txBody>
        </p:sp>
        <p:sp>
          <p:nvSpPr>
            <p:cNvPr id="2608" name="Rectangle 560"/>
            <p:cNvSpPr>
              <a:spLocks noChangeArrowheads="1"/>
            </p:cNvSpPr>
            <p:nvPr/>
          </p:nvSpPr>
          <p:spPr bwMode="auto">
            <a:xfrm>
              <a:off x="1313" y="3142"/>
              <a:ext cx="467" cy="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9" name="Line 561"/>
            <p:cNvSpPr>
              <a:spLocks noChangeShapeType="1"/>
            </p:cNvSpPr>
            <p:nvPr/>
          </p:nvSpPr>
          <p:spPr bwMode="auto">
            <a:xfrm flipV="1">
              <a:off x="1409" y="2394"/>
              <a:ext cx="1" cy="26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0" name="Freeform 562"/>
            <p:cNvSpPr>
              <a:spLocks/>
            </p:cNvSpPr>
            <p:nvPr/>
          </p:nvSpPr>
          <p:spPr bwMode="auto">
            <a:xfrm>
              <a:off x="737" y="2396"/>
              <a:ext cx="115" cy="103"/>
            </a:xfrm>
            <a:custGeom>
              <a:avLst/>
              <a:gdLst/>
              <a:ahLst/>
              <a:cxnLst>
                <a:cxn ang="0">
                  <a:pos x="0" y="103"/>
                </a:cxn>
                <a:cxn ang="0">
                  <a:pos x="115" y="103"/>
                </a:cxn>
                <a:cxn ang="0">
                  <a:pos x="57" y="0"/>
                </a:cxn>
                <a:cxn ang="0">
                  <a:pos x="0" y="103"/>
                </a:cxn>
              </a:cxnLst>
              <a:rect l="0" t="0" r="r" b="b"/>
              <a:pathLst>
                <a:path w="115" h="103">
                  <a:moveTo>
                    <a:pt x="0" y="103"/>
                  </a:moveTo>
                  <a:lnTo>
                    <a:pt x="115" y="103"/>
                  </a:lnTo>
                  <a:lnTo>
                    <a:pt x="57" y="0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1" name="Line 563"/>
            <p:cNvSpPr>
              <a:spLocks noChangeShapeType="1"/>
            </p:cNvSpPr>
            <p:nvPr/>
          </p:nvSpPr>
          <p:spPr bwMode="auto">
            <a:xfrm flipH="1">
              <a:off x="729" y="2396"/>
              <a:ext cx="13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2" name="Line 564"/>
            <p:cNvSpPr>
              <a:spLocks noChangeShapeType="1"/>
            </p:cNvSpPr>
            <p:nvPr/>
          </p:nvSpPr>
          <p:spPr bwMode="auto">
            <a:xfrm>
              <a:off x="794" y="2326"/>
              <a:ext cx="1" cy="25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613" name="Rectangle 565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33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3505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인버터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검출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[ER_INV_V_IGBT]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57200" y="838200"/>
            <a:ext cx="4459288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DPP-101 B/D[18kW~22kW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]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 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 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동시에 턴 온 되었거나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 STACK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결선불량 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 전원불량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출력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Short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된 상태가 발생시</a:t>
            </a:r>
          </a:p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DPP-120 B/D[13kW~15kW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]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SHORT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309563" y="2278063"/>
            <a:ext cx="4324350" cy="2828925"/>
            <a:chOff x="195" y="1435"/>
            <a:chExt cx="2724" cy="1782"/>
          </a:xfrm>
        </p:grpSpPr>
        <p:grpSp>
          <p:nvGrpSpPr>
            <p:cNvPr id="3" name="Group 20"/>
            <p:cNvGrpSpPr>
              <a:grpSpLocks/>
            </p:cNvGrpSpPr>
            <p:nvPr/>
          </p:nvGrpSpPr>
          <p:grpSpPr bwMode="auto">
            <a:xfrm>
              <a:off x="822" y="1512"/>
              <a:ext cx="1969" cy="1343"/>
              <a:chOff x="822" y="1512"/>
              <a:chExt cx="1969" cy="1343"/>
            </a:xfrm>
          </p:grpSpPr>
          <p:sp>
            <p:nvSpPr>
              <p:cNvPr id="2069" name="Freeform 21"/>
              <p:cNvSpPr>
                <a:spLocks/>
              </p:cNvSpPr>
              <p:nvPr/>
            </p:nvSpPr>
            <p:spPr bwMode="auto">
              <a:xfrm>
                <a:off x="2247" y="1512"/>
                <a:ext cx="544" cy="183"/>
              </a:xfrm>
              <a:custGeom>
                <a:avLst/>
                <a:gdLst/>
                <a:ahLst/>
                <a:cxnLst>
                  <a:cxn ang="0">
                    <a:pos x="475" y="183"/>
                  </a:cxn>
                  <a:cxn ang="0">
                    <a:pos x="491" y="181"/>
                  </a:cxn>
                  <a:cxn ang="0">
                    <a:pos x="505" y="176"/>
                  </a:cxn>
                  <a:cxn ang="0">
                    <a:pos x="518" y="168"/>
                  </a:cxn>
                  <a:cxn ang="0">
                    <a:pos x="530" y="156"/>
                  </a:cxn>
                  <a:cxn ang="0">
                    <a:pos x="538" y="144"/>
                  </a:cxn>
                  <a:cxn ang="0">
                    <a:pos x="542" y="130"/>
                  </a:cxn>
                  <a:cxn ang="0">
                    <a:pos x="544" y="115"/>
                  </a:cxn>
                  <a:cxn ang="0">
                    <a:pos x="544" y="68"/>
                  </a:cxn>
                  <a:cxn ang="0">
                    <a:pos x="542" y="53"/>
                  </a:cxn>
                  <a:cxn ang="0">
                    <a:pos x="538" y="39"/>
                  </a:cxn>
                  <a:cxn ang="0">
                    <a:pos x="530" y="26"/>
                  </a:cxn>
                  <a:cxn ang="0">
                    <a:pos x="518" y="15"/>
                  </a:cxn>
                  <a:cxn ang="0">
                    <a:pos x="505" y="7"/>
                  </a:cxn>
                  <a:cxn ang="0">
                    <a:pos x="491" y="2"/>
                  </a:cxn>
                  <a:cxn ang="0">
                    <a:pos x="475" y="0"/>
                  </a:cxn>
                  <a:cxn ang="0">
                    <a:pos x="68" y="0"/>
                  </a:cxn>
                  <a:cxn ang="0">
                    <a:pos x="53" y="2"/>
                  </a:cxn>
                  <a:cxn ang="0">
                    <a:pos x="39" y="7"/>
                  </a:cxn>
                  <a:cxn ang="0">
                    <a:pos x="25" y="15"/>
                  </a:cxn>
                  <a:cxn ang="0">
                    <a:pos x="15" y="26"/>
                  </a:cxn>
                  <a:cxn ang="0">
                    <a:pos x="7" y="39"/>
                  </a:cxn>
                  <a:cxn ang="0">
                    <a:pos x="2" y="53"/>
                  </a:cxn>
                  <a:cxn ang="0">
                    <a:pos x="0" y="68"/>
                  </a:cxn>
                  <a:cxn ang="0">
                    <a:pos x="0" y="115"/>
                  </a:cxn>
                  <a:cxn ang="0">
                    <a:pos x="2" y="130"/>
                  </a:cxn>
                  <a:cxn ang="0">
                    <a:pos x="7" y="144"/>
                  </a:cxn>
                  <a:cxn ang="0">
                    <a:pos x="15" y="156"/>
                  </a:cxn>
                  <a:cxn ang="0">
                    <a:pos x="25" y="168"/>
                  </a:cxn>
                  <a:cxn ang="0">
                    <a:pos x="39" y="176"/>
                  </a:cxn>
                  <a:cxn ang="0">
                    <a:pos x="53" y="181"/>
                  </a:cxn>
                  <a:cxn ang="0">
                    <a:pos x="68" y="183"/>
                  </a:cxn>
                  <a:cxn ang="0">
                    <a:pos x="475" y="183"/>
                  </a:cxn>
                </a:cxnLst>
                <a:rect l="0" t="0" r="r" b="b"/>
                <a:pathLst>
                  <a:path w="544" h="183">
                    <a:moveTo>
                      <a:pt x="475" y="183"/>
                    </a:moveTo>
                    <a:lnTo>
                      <a:pt x="491" y="181"/>
                    </a:lnTo>
                    <a:lnTo>
                      <a:pt x="505" y="176"/>
                    </a:lnTo>
                    <a:lnTo>
                      <a:pt x="518" y="168"/>
                    </a:lnTo>
                    <a:lnTo>
                      <a:pt x="530" y="156"/>
                    </a:lnTo>
                    <a:lnTo>
                      <a:pt x="538" y="144"/>
                    </a:lnTo>
                    <a:lnTo>
                      <a:pt x="542" y="130"/>
                    </a:lnTo>
                    <a:lnTo>
                      <a:pt x="544" y="115"/>
                    </a:lnTo>
                    <a:lnTo>
                      <a:pt x="544" y="68"/>
                    </a:lnTo>
                    <a:lnTo>
                      <a:pt x="542" y="53"/>
                    </a:lnTo>
                    <a:lnTo>
                      <a:pt x="538" y="39"/>
                    </a:lnTo>
                    <a:lnTo>
                      <a:pt x="530" y="26"/>
                    </a:lnTo>
                    <a:lnTo>
                      <a:pt x="518" y="15"/>
                    </a:lnTo>
                    <a:lnTo>
                      <a:pt x="505" y="7"/>
                    </a:lnTo>
                    <a:lnTo>
                      <a:pt x="491" y="2"/>
                    </a:lnTo>
                    <a:lnTo>
                      <a:pt x="475" y="0"/>
                    </a:lnTo>
                    <a:lnTo>
                      <a:pt x="68" y="0"/>
                    </a:lnTo>
                    <a:lnTo>
                      <a:pt x="53" y="2"/>
                    </a:lnTo>
                    <a:lnTo>
                      <a:pt x="39" y="7"/>
                    </a:lnTo>
                    <a:lnTo>
                      <a:pt x="25" y="15"/>
                    </a:lnTo>
                    <a:lnTo>
                      <a:pt x="15" y="26"/>
                    </a:lnTo>
                    <a:lnTo>
                      <a:pt x="7" y="39"/>
                    </a:lnTo>
                    <a:lnTo>
                      <a:pt x="2" y="53"/>
                    </a:lnTo>
                    <a:lnTo>
                      <a:pt x="0" y="68"/>
                    </a:lnTo>
                    <a:lnTo>
                      <a:pt x="0" y="115"/>
                    </a:lnTo>
                    <a:lnTo>
                      <a:pt x="2" y="130"/>
                    </a:lnTo>
                    <a:lnTo>
                      <a:pt x="7" y="144"/>
                    </a:lnTo>
                    <a:lnTo>
                      <a:pt x="15" y="156"/>
                    </a:lnTo>
                    <a:lnTo>
                      <a:pt x="25" y="168"/>
                    </a:lnTo>
                    <a:lnTo>
                      <a:pt x="39" y="176"/>
                    </a:lnTo>
                    <a:lnTo>
                      <a:pt x="53" y="181"/>
                    </a:lnTo>
                    <a:lnTo>
                      <a:pt x="68" y="183"/>
                    </a:lnTo>
                    <a:lnTo>
                      <a:pt x="475" y="183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0" name="Line 22"/>
              <p:cNvSpPr>
                <a:spLocks noChangeShapeType="1"/>
              </p:cNvSpPr>
              <p:nvPr/>
            </p:nvSpPr>
            <p:spPr bwMode="auto">
              <a:xfrm>
                <a:off x="822" y="2717"/>
                <a:ext cx="25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1" name="Line 23"/>
              <p:cNvSpPr>
                <a:spLocks noChangeShapeType="1"/>
              </p:cNvSpPr>
              <p:nvPr/>
            </p:nvSpPr>
            <p:spPr bwMode="auto">
              <a:xfrm>
                <a:off x="822" y="2763"/>
                <a:ext cx="25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2" name="Line 24"/>
              <p:cNvSpPr>
                <a:spLocks noChangeShapeType="1"/>
              </p:cNvSpPr>
              <p:nvPr/>
            </p:nvSpPr>
            <p:spPr bwMode="auto">
              <a:xfrm>
                <a:off x="822" y="2854"/>
                <a:ext cx="25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3" name="Line 25"/>
              <p:cNvSpPr>
                <a:spLocks noChangeShapeType="1"/>
              </p:cNvSpPr>
              <p:nvPr/>
            </p:nvSpPr>
            <p:spPr bwMode="auto">
              <a:xfrm>
                <a:off x="822" y="2808"/>
                <a:ext cx="25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4" name="Rectangle 26"/>
              <p:cNvSpPr>
                <a:spLocks noChangeArrowheads="1"/>
              </p:cNvSpPr>
              <p:nvPr/>
            </p:nvSpPr>
            <p:spPr bwMode="auto">
              <a:xfrm>
                <a:off x="1687" y="1663"/>
                <a:ext cx="190" cy="64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5" name="Line 27"/>
              <p:cNvSpPr>
                <a:spLocks noChangeShapeType="1"/>
              </p:cNvSpPr>
              <p:nvPr/>
            </p:nvSpPr>
            <p:spPr bwMode="auto">
              <a:xfrm>
                <a:off x="1687" y="231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6" name="Line 28"/>
              <p:cNvSpPr>
                <a:spLocks noChangeShapeType="1"/>
              </p:cNvSpPr>
              <p:nvPr/>
            </p:nvSpPr>
            <p:spPr bwMode="auto">
              <a:xfrm>
                <a:off x="1696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1705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1715" y="231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1724" y="231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1733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1" name="Line 33"/>
              <p:cNvSpPr>
                <a:spLocks noChangeShapeType="1"/>
              </p:cNvSpPr>
              <p:nvPr/>
            </p:nvSpPr>
            <p:spPr bwMode="auto">
              <a:xfrm>
                <a:off x="1742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>
                <a:off x="1751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3" name="Line 35"/>
              <p:cNvSpPr>
                <a:spLocks noChangeShapeType="1"/>
              </p:cNvSpPr>
              <p:nvPr/>
            </p:nvSpPr>
            <p:spPr bwMode="auto">
              <a:xfrm>
                <a:off x="1761" y="231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4" name="Line 36"/>
              <p:cNvSpPr>
                <a:spLocks noChangeShapeType="1"/>
              </p:cNvSpPr>
              <p:nvPr/>
            </p:nvSpPr>
            <p:spPr bwMode="auto">
              <a:xfrm>
                <a:off x="1770" y="231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5" name="Line 37"/>
              <p:cNvSpPr>
                <a:spLocks noChangeShapeType="1"/>
              </p:cNvSpPr>
              <p:nvPr/>
            </p:nvSpPr>
            <p:spPr bwMode="auto">
              <a:xfrm>
                <a:off x="1779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6" name="Line 38"/>
              <p:cNvSpPr>
                <a:spLocks noChangeShapeType="1"/>
              </p:cNvSpPr>
              <p:nvPr/>
            </p:nvSpPr>
            <p:spPr bwMode="auto">
              <a:xfrm>
                <a:off x="1788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7" name="Line 39"/>
              <p:cNvSpPr>
                <a:spLocks noChangeShapeType="1"/>
              </p:cNvSpPr>
              <p:nvPr/>
            </p:nvSpPr>
            <p:spPr bwMode="auto">
              <a:xfrm>
                <a:off x="1797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8" name="Line 40"/>
              <p:cNvSpPr>
                <a:spLocks noChangeShapeType="1"/>
              </p:cNvSpPr>
              <p:nvPr/>
            </p:nvSpPr>
            <p:spPr bwMode="auto">
              <a:xfrm>
                <a:off x="1807" y="231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9" name="Line 41"/>
              <p:cNvSpPr>
                <a:spLocks noChangeShapeType="1"/>
              </p:cNvSpPr>
              <p:nvPr/>
            </p:nvSpPr>
            <p:spPr bwMode="auto">
              <a:xfrm>
                <a:off x="1816" y="231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>
                <a:off x="1825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>
                <a:off x="1834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1844" y="231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1853" y="231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4" name="Line 46"/>
              <p:cNvSpPr>
                <a:spLocks noChangeShapeType="1"/>
              </p:cNvSpPr>
              <p:nvPr/>
            </p:nvSpPr>
            <p:spPr bwMode="auto">
              <a:xfrm>
                <a:off x="1862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>
                <a:off x="1871" y="231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6" name="Line 48"/>
              <p:cNvSpPr>
                <a:spLocks noChangeShapeType="1"/>
              </p:cNvSpPr>
              <p:nvPr/>
            </p:nvSpPr>
            <p:spPr bwMode="auto">
              <a:xfrm flipV="1">
                <a:off x="1877" y="230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7" name="Line 49"/>
              <p:cNvSpPr>
                <a:spLocks noChangeShapeType="1"/>
              </p:cNvSpPr>
              <p:nvPr/>
            </p:nvSpPr>
            <p:spPr bwMode="auto">
              <a:xfrm flipV="1">
                <a:off x="1877" y="229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8" name="Line 50"/>
              <p:cNvSpPr>
                <a:spLocks noChangeShapeType="1"/>
              </p:cNvSpPr>
              <p:nvPr/>
            </p:nvSpPr>
            <p:spPr bwMode="auto">
              <a:xfrm flipV="1">
                <a:off x="1877" y="228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9" name="Line 51"/>
              <p:cNvSpPr>
                <a:spLocks noChangeShapeType="1"/>
              </p:cNvSpPr>
              <p:nvPr/>
            </p:nvSpPr>
            <p:spPr bwMode="auto">
              <a:xfrm flipV="1">
                <a:off x="1877" y="227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0" name="Line 52"/>
              <p:cNvSpPr>
                <a:spLocks noChangeShapeType="1"/>
              </p:cNvSpPr>
              <p:nvPr/>
            </p:nvSpPr>
            <p:spPr bwMode="auto">
              <a:xfrm flipV="1">
                <a:off x="1877" y="226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1" name="Line 53"/>
              <p:cNvSpPr>
                <a:spLocks noChangeShapeType="1"/>
              </p:cNvSpPr>
              <p:nvPr/>
            </p:nvSpPr>
            <p:spPr bwMode="auto">
              <a:xfrm flipV="1">
                <a:off x="1877" y="225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 flipV="1">
                <a:off x="1877" y="224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3" name="Line 55"/>
              <p:cNvSpPr>
                <a:spLocks noChangeShapeType="1"/>
              </p:cNvSpPr>
              <p:nvPr/>
            </p:nvSpPr>
            <p:spPr bwMode="auto">
              <a:xfrm flipV="1">
                <a:off x="1877" y="223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4" name="Line 56"/>
              <p:cNvSpPr>
                <a:spLocks noChangeShapeType="1"/>
              </p:cNvSpPr>
              <p:nvPr/>
            </p:nvSpPr>
            <p:spPr bwMode="auto">
              <a:xfrm flipV="1">
                <a:off x="1877" y="223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5" name="Line 57"/>
              <p:cNvSpPr>
                <a:spLocks noChangeShapeType="1"/>
              </p:cNvSpPr>
              <p:nvPr/>
            </p:nvSpPr>
            <p:spPr bwMode="auto">
              <a:xfrm flipV="1">
                <a:off x="1877" y="222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 flipV="1">
                <a:off x="1877" y="221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 flipV="1">
                <a:off x="1877" y="220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 flipV="1">
                <a:off x="1877" y="219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 flipV="1">
                <a:off x="1877" y="218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 flipV="1">
                <a:off x="1877" y="217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 flipV="1">
                <a:off x="1877" y="216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 flipV="1">
                <a:off x="1877" y="215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 flipV="1">
                <a:off x="1877" y="214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 flipV="1">
                <a:off x="1877" y="213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 flipV="1">
                <a:off x="1877" y="212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 flipV="1">
                <a:off x="1877" y="211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 flipV="1">
                <a:off x="1877" y="211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 flipV="1">
                <a:off x="1877" y="210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 flipV="1">
                <a:off x="1877" y="209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 flipV="1">
                <a:off x="1877" y="208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 flipV="1">
                <a:off x="1877" y="207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2" name="Line 74"/>
              <p:cNvSpPr>
                <a:spLocks noChangeShapeType="1"/>
              </p:cNvSpPr>
              <p:nvPr/>
            </p:nvSpPr>
            <p:spPr bwMode="auto">
              <a:xfrm flipV="1">
                <a:off x="1877" y="206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 flipV="1">
                <a:off x="1877" y="205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4" name="Line 76"/>
              <p:cNvSpPr>
                <a:spLocks noChangeShapeType="1"/>
              </p:cNvSpPr>
              <p:nvPr/>
            </p:nvSpPr>
            <p:spPr bwMode="auto">
              <a:xfrm flipV="1">
                <a:off x="1877" y="204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5" name="Line 77"/>
              <p:cNvSpPr>
                <a:spLocks noChangeShapeType="1"/>
              </p:cNvSpPr>
              <p:nvPr/>
            </p:nvSpPr>
            <p:spPr bwMode="auto">
              <a:xfrm flipV="1">
                <a:off x="1877" y="203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6" name="Line 78"/>
              <p:cNvSpPr>
                <a:spLocks noChangeShapeType="1"/>
              </p:cNvSpPr>
              <p:nvPr/>
            </p:nvSpPr>
            <p:spPr bwMode="auto">
              <a:xfrm flipV="1">
                <a:off x="1877" y="202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7" name="Line 79"/>
              <p:cNvSpPr>
                <a:spLocks noChangeShapeType="1"/>
              </p:cNvSpPr>
              <p:nvPr/>
            </p:nvSpPr>
            <p:spPr bwMode="auto">
              <a:xfrm flipV="1">
                <a:off x="1877" y="201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 flipV="1">
                <a:off x="1877" y="200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9" name="Line 81"/>
              <p:cNvSpPr>
                <a:spLocks noChangeShapeType="1"/>
              </p:cNvSpPr>
              <p:nvPr/>
            </p:nvSpPr>
            <p:spPr bwMode="auto">
              <a:xfrm flipV="1">
                <a:off x="1877" y="19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 flipV="1">
                <a:off x="1877" y="199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 flipV="1">
                <a:off x="1877" y="198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 flipV="1">
                <a:off x="1877" y="197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 flipV="1">
                <a:off x="1877" y="196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4" name="Line 86"/>
              <p:cNvSpPr>
                <a:spLocks noChangeShapeType="1"/>
              </p:cNvSpPr>
              <p:nvPr/>
            </p:nvSpPr>
            <p:spPr bwMode="auto">
              <a:xfrm flipV="1">
                <a:off x="1877" y="195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5" name="Line 87"/>
              <p:cNvSpPr>
                <a:spLocks noChangeShapeType="1"/>
              </p:cNvSpPr>
              <p:nvPr/>
            </p:nvSpPr>
            <p:spPr bwMode="auto">
              <a:xfrm flipV="1">
                <a:off x="1877" y="194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6" name="Line 88"/>
              <p:cNvSpPr>
                <a:spLocks noChangeShapeType="1"/>
              </p:cNvSpPr>
              <p:nvPr/>
            </p:nvSpPr>
            <p:spPr bwMode="auto">
              <a:xfrm flipV="1">
                <a:off x="1877" y="193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7" name="Line 89"/>
              <p:cNvSpPr>
                <a:spLocks noChangeShapeType="1"/>
              </p:cNvSpPr>
              <p:nvPr/>
            </p:nvSpPr>
            <p:spPr bwMode="auto">
              <a:xfrm flipV="1">
                <a:off x="1877" y="192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8" name="Line 90"/>
              <p:cNvSpPr>
                <a:spLocks noChangeShapeType="1"/>
              </p:cNvSpPr>
              <p:nvPr/>
            </p:nvSpPr>
            <p:spPr bwMode="auto">
              <a:xfrm flipV="1">
                <a:off x="1877" y="191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 flipV="1">
                <a:off x="1877" y="190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 flipV="1">
                <a:off x="1877" y="189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1" name="Line 93"/>
              <p:cNvSpPr>
                <a:spLocks noChangeShapeType="1"/>
              </p:cNvSpPr>
              <p:nvPr/>
            </p:nvSpPr>
            <p:spPr bwMode="auto">
              <a:xfrm flipV="1">
                <a:off x="1877" y="188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 flipV="1">
                <a:off x="1877" y="187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 flipV="1">
                <a:off x="1877" y="187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 flipV="1">
                <a:off x="1877" y="186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 flipV="1">
                <a:off x="1877" y="185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 flipV="1">
                <a:off x="1877" y="184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 flipV="1">
                <a:off x="1877" y="183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 flipV="1">
                <a:off x="1877" y="182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 flipV="1">
                <a:off x="1877" y="181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0" name="Line 102"/>
              <p:cNvSpPr>
                <a:spLocks noChangeShapeType="1"/>
              </p:cNvSpPr>
              <p:nvPr/>
            </p:nvSpPr>
            <p:spPr bwMode="auto">
              <a:xfrm flipV="1">
                <a:off x="1877" y="180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1" name="Line 103"/>
              <p:cNvSpPr>
                <a:spLocks noChangeShapeType="1"/>
              </p:cNvSpPr>
              <p:nvPr/>
            </p:nvSpPr>
            <p:spPr bwMode="auto">
              <a:xfrm flipV="1">
                <a:off x="1877" y="179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2" name="Line 104"/>
              <p:cNvSpPr>
                <a:spLocks noChangeShapeType="1"/>
              </p:cNvSpPr>
              <p:nvPr/>
            </p:nvSpPr>
            <p:spPr bwMode="auto">
              <a:xfrm flipV="1">
                <a:off x="1877" y="178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3" name="Line 105"/>
              <p:cNvSpPr>
                <a:spLocks noChangeShapeType="1"/>
              </p:cNvSpPr>
              <p:nvPr/>
            </p:nvSpPr>
            <p:spPr bwMode="auto">
              <a:xfrm flipV="1">
                <a:off x="1877" y="177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4" name="Line 106"/>
              <p:cNvSpPr>
                <a:spLocks noChangeShapeType="1"/>
              </p:cNvSpPr>
              <p:nvPr/>
            </p:nvSpPr>
            <p:spPr bwMode="auto">
              <a:xfrm flipV="1">
                <a:off x="1877" y="176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5" name="Line 107"/>
              <p:cNvSpPr>
                <a:spLocks noChangeShapeType="1"/>
              </p:cNvSpPr>
              <p:nvPr/>
            </p:nvSpPr>
            <p:spPr bwMode="auto">
              <a:xfrm flipV="1">
                <a:off x="1877" y="175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6" name="Line 108"/>
              <p:cNvSpPr>
                <a:spLocks noChangeShapeType="1"/>
              </p:cNvSpPr>
              <p:nvPr/>
            </p:nvSpPr>
            <p:spPr bwMode="auto">
              <a:xfrm flipV="1">
                <a:off x="1877" y="175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7" name="Line 109"/>
              <p:cNvSpPr>
                <a:spLocks noChangeShapeType="1"/>
              </p:cNvSpPr>
              <p:nvPr/>
            </p:nvSpPr>
            <p:spPr bwMode="auto">
              <a:xfrm flipV="1">
                <a:off x="1877" y="174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auto">
              <a:xfrm flipV="1">
                <a:off x="1877" y="173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9" name="Line 111"/>
              <p:cNvSpPr>
                <a:spLocks noChangeShapeType="1"/>
              </p:cNvSpPr>
              <p:nvPr/>
            </p:nvSpPr>
            <p:spPr bwMode="auto">
              <a:xfrm flipV="1">
                <a:off x="1877" y="172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0" name="Line 112"/>
              <p:cNvSpPr>
                <a:spLocks noChangeShapeType="1"/>
              </p:cNvSpPr>
              <p:nvPr/>
            </p:nvSpPr>
            <p:spPr bwMode="auto">
              <a:xfrm flipV="1">
                <a:off x="1877" y="171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1" name="Line 113"/>
              <p:cNvSpPr>
                <a:spLocks noChangeShapeType="1"/>
              </p:cNvSpPr>
              <p:nvPr/>
            </p:nvSpPr>
            <p:spPr bwMode="auto">
              <a:xfrm flipV="1">
                <a:off x="1877" y="17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2" name="Line 114"/>
              <p:cNvSpPr>
                <a:spLocks noChangeShapeType="1"/>
              </p:cNvSpPr>
              <p:nvPr/>
            </p:nvSpPr>
            <p:spPr bwMode="auto">
              <a:xfrm flipV="1">
                <a:off x="1877" y="169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3" name="Line 115"/>
              <p:cNvSpPr>
                <a:spLocks noChangeShapeType="1"/>
              </p:cNvSpPr>
              <p:nvPr/>
            </p:nvSpPr>
            <p:spPr bwMode="auto">
              <a:xfrm flipV="1">
                <a:off x="1877" y="168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4" name="Line 116"/>
              <p:cNvSpPr>
                <a:spLocks noChangeShapeType="1"/>
              </p:cNvSpPr>
              <p:nvPr/>
            </p:nvSpPr>
            <p:spPr bwMode="auto">
              <a:xfrm flipV="1">
                <a:off x="1877" y="167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5" name="Line 117"/>
              <p:cNvSpPr>
                <a:spLocks noChangeShapeType="1"/>
              </p:cNvSpPr>
              <p:nvPr/>
            </p:nvSpPr>
            <p:spPr bwMode="auto">
              <a:xfrm flipV="1">
                <a:off x="1877" y="166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 flipH="1">
                <a:off x="1872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 flipH="1">
                <a:off x="1863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 flipH="1">
                <a:off x="1854" y="16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 flipH="1">
                <a:off x="1845" y="16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 flipH="1">
                <a:off x="1835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 flipH="1">
                <a:off x="1826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 flipH="1">
                <a:off x="1817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 flipH="1">
                <a:off x="1808" y="16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 flipH="1">
                <a:off x="1799" y="16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 flipH="1">
                <a:off x="1789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 flipH="1">
                <a:off x="1780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 flipH="1">
                <a:off x="1771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 flipH="1">
                <a:off x="1762" y="16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9" name="Line 131"/>
              <p:cNvSpPr>
                <a:spLocks noChangeShapeType="1"/>
              </p:cNvSpPr>
              <p:nvPr/>
            </p:nvSpPr>
            <p:spPr bwMode="auto">
              <a:xfrm flipH="1">
                <a:off x="1753" y="16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0" name="Line 132"/>
              <p:cNvSpPr>
                <a:spLocks noChangeShapeType="1"/>
              </p:cNvSpPr>
              <p:nvPr/>
            </p:nvSpPr>
            <p:spPr bwMode="auto">
              <a:xfrm flipH="1">
                <a:off x="1743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1" name="Line 133"/>
              <p:cNvSpPr>
                <a:spLocks noChangeShapeType="1"/>
              </p:cNvSpPr>
              <p:nvPr/>
            </p:nvSpPr>
            <p:spPr bwMode="auto">
              <a:xfrm flipH="1">
                <a:off x="1734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2" name="Line 134"/>
              <p:cNvSpPr>
                <a:spLocks noChangeShapeType="1"/>
              </p:cNvSpPr>
              <p:nvPr/>
            </p:nvSpPr>
            <p:spPr bwMode="auto">
              <a:xfrm flipH="1">
                <a:off x="1725" y="16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3" name="Line 135"/>
              <p:cNvSpPr>
                <a:spLocks noChangeShapeType="1"/>
              </p:cNvSpPr>
              <p:nvPr/>
            </p:nvSpPr>
            <p:spPr bwMode="auto">
              <a:xfrm flipH="1">
                <a:off x="1716" y="166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4" name="Line 136"/>
              <p:cNvSpPr>
                <a:spLocks noChangeShapeType="1"/>
              </p:cNvSpPr>
              <p:nvPr/>
            </p:nvSpPr>
            <p:spPr bwMode="auto">
              <a:xfrm flipH="1">
                <a:off x="1706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auto">
              <a:xfrm flipH="1">
                <a:off x="1697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6" name="Line 138"/>
              <p:cNvSpPr>
                <a:spLocks noChangeShapeType="1"/>
              </p:cNvSpPr>
              <p:nvPr/>
            </p:nvSpPr>
            <p:spPr bwMode="auto">
              <a:xfrm flipH="1">
                <a:off x="1688" y="166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>
                <a:off x="1687" y="166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8" name="Line 140"/>
              <p:cNvSpPr>
                <a:spLocks noChangeShapeType="1"/>
              </p:cNvSpPr>
              <p:nvPr/>
            </p:nvSpPr>
            <p:spPr bwMode="auto">
              <a:xfrm>
                <a:off x="1687" y="16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9" name="Line 141"/>
              <p:cNvSpPr>
                <a:spLocks noChangeShapeType="1"/>
              </p:cNvSpPr>
              <p:nvPr/>
            </p:nvSpPr>
            <p:spPr bwMode="auto">
              <a:xfrm>
                <a:off x="1687" y="168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0" name="Line 142"/>
              <p:cNvSpPr>
                <a:spLocks noChangeShapeType="1"/>
              </p:cNvSpPr>
              <p:nvPr/>
            </p:nvSpPr>
            <p:spPr bwMode="auto">
              <a:xfrm>
                <a:off x="1687" y="169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1" name="Line 143"/>
              <p:cNvSpPr>
                <a:spLocks noChangeShapeType="1"/>
              </p:cNvSpPr>
              <p:nvPr/>
            </p:nvSpPr>
            <p:spPr bwMode="auto">
              <a:xfrm>
                <a:off x="1687" y="170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2" name="Line 144"/>
              <p:cNvSpPr>
                <a:spLocks noChangeShapeType="1"/>
              </p:cNvSpPr>
              <p:nvPr/>
            </p:nvSpPr>
            <p:spPr bwMode="auto">
              <a:xfrm>
                <a:off x="1687" y="171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3" name="Line 145"/>
              <p:cNvSpPr>
                <a:spLocks noChangeShapeType="1"/>
              </p:cNvSpPr>
              <p:nvPr/>
            </p:nvSpPr>
            <p:spPr bwMode="auto">
              <a:xfrm>
                <a:off x="1687" y="172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4" name="Line 146"/>
              <p:cNvSpPr>
                <a:spLocks noChangeShapeType="1"/>
              </p:cNvSpPr>
              <p:nvPr/>
            </p:nvSpPr>
            <p:spPr bwMode="auto">
              <a:xfrm>
                <a:off x="1687" y="173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5" name="Line 147"/>
              <p:cNvSpPr>
                <a:spLocks noChangeShapeType="1"/>
              </p:cNvSpPr>
              <p:nvPr/>
            </p:nvSpPr>
            <p:spPr bwMode="auto">
              <a:xfrm>
                <a:off x="1687" y="174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6" name="Line 148"/>
              <p:cNvSpPr>
                <a:spLocks noChangeShapeType="1"/>
              </p:cNvSpPr>
              <p:nvPr/>
            </p:nvSpPr>
            <p:spPr bwMode="auto">
              <a:xfrm>
                <a:off x="1687" y="174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7" name="Line 149"/>
              <p:cNvSpPr>
                <a:spLocks noChangeShapeType="1"/>
              </p:cNvSpPr>
              <p:nvPr/>
            </p:nvSpPr>
            <p:spPr bwMode="auto">
              <a:xfrm>
                <a:off x="1687" y="17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8" name="Line 150"/>
              <p:cNvSpPr>
                <a:spLocks noChangeShapeType="1"/>
              </p:cNvSpPr>
              <p:nvPr/>
            </p:nvSpPr>
            <p:spPr bwMode="auto">
              <a:xfrm>
                <a:off x="1687" y="176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9" name="Line 151"/>
              <p:cNvSpPr>
                <a:spLocks noChangeShapeType="1"/>
              </p:cNvSpPr>
              <p:nvPr/>
            </p:nvSpPr>
            <p:spPr bwMode="auto">
              <a:xfrm>
                <a:off x="1687" y="177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0" name="Line 152"/>
              <p:cNvSpPr>
                <a:spLocks noChangeShapeType="1"/>
              </p:cNvSpPr>
              <p:nvPr/>
            </p:nvSpPr>
            <p:spPr bwMode="auto">
              <a:xfrm>
                <a:off x="1687" y="178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1" name="Line 153"/>
              <p:cNvSpPr>
                <a:spLocks noChangeShapeType="1"/>
              </p:cNvSpPr>
              <p:nvPr/>
            </p:nvSpPr>
            <p:spPr bwMode="auto">
              <a:xfrm>
                <a:off x="1687" y="179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2" name="Line 154"/>
              <p:cNvSpPr>
                <a:spLocks noChangeShapeType="1"/>
              </p:cNvSpPr>
              <p:nvPr/>
            </p:nvSpPr>
            <p:spPr bwMode="auto">
              <a:xfrm>
                <a:off x="1687" y="18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3" name="Line 155"/>
              <p:cNvSpPr>
                <a:spLocks noChangeShapeType="1"/>
              </p:cNvSpPr>
              <p:nvPr/>
            </p:nvSpPr>
            <p:spPr bwMode="auto">
              <a:xfrm>
                <a:off x="1687" y="181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4" name="Line 156"/>
              <p:cNvSpPr>
                <a:spLocks noChangeShapeType="1"/>
              </p:cNvSpPr>
              <p:nvPr/>
            </p:nvSpPr>
            <p:spPr bwMode="auto">
              <a:xfrm>
                <a:off x="1687" y="182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5" name="Line 157"/>
              <p:cNvSpPr>
                <a:spLocks noChangeShapeType="1"/>
              </p:cNvSpPr>
              <p:nvPr/>
            </p:nvSpPr>
            <p:spPr bwMode="auto">
              <a:xfrm>
                <a:off x="1687" y="183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6" name="Line 158"/>
              <p:cNvSpPr>
                <a:spLocks noChangeShapeType="1"/>
              </p:cNvSpPr>
              <p:nvPr/>
            </p:nvSpPr>
            <p:spPr bwMode="auto">
              <a:xfrm>
                <a:off x="1687" y="184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7" name="Line 159"/>
              <p:cNvSpPr>
                <a:spLocks noChangeShapeType="1"/>
              </p:cNvSpPr>
              <p:nvPr/>
            </p:nvSpPr>
            <p:spPr bwMode="auto">
              <a:xfrm>
                <a:off x="1687" y="185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8" name="Line 160"/>
              <p:cNvSpPr>
                <a:spLocks noChangeShapeType="1"/>
              </p:cNvSpPr>
              <p:nvPr/>
            </p:nvSpPr>
            <p:spPr bwMode="auto">
              <a:xfrm>
                <a:off x="1687" y="186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>
                <a:off x="1687" y="186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0" name="Line 162"/>
              <p:cNvSpPr>
                <a:spLocks noChangeShapeType="1"/>
              </p:cNvSpPr>
              <p:nvPr/>
            </p:nvSpPr>
            <p:spPr bwMode="auto">
              <a:xfrm>
                <a:off x="1687" y="187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1" name="Line 163"/>
              <p:cNvSpPr>
                <a:spLocks noChangeShapeType="1"/>
              </p:cNvSpPr>
              <p:nvPr/>
            </p:nvSpPr>
            <p:spPr bwMode="auto">
              <a:xfrm>
                <a:off x="1687" y="188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2" name="Line 164"/>
              <p:cNvSpPr>
                <a:spLocks noChangeShapeType="1"/>
              </p:cNvSpPr>
              <p:nvPr/>
            </p:nvSpPr>
            <p:spPr bwMode="auto">
              <a:xfrm>
                <a:off x="1687" y="189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3" name="Line 165"/>
              <p:cNvSpPr>
                <a:spLocks noChangeShapeType="1"/>
              </p:cNvSpPr>
              <p:nvPr/>
            </p:nvSpPr>
            <p:spPr bwMode="auto">
              <a:xfrm>
                <a:off x="1687" y="190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4" name="Line 166"/>
              <p:cNvSpPr>
                <a:spLocks noChangeShapeType="1"/>
              </p:cNvSpPr>
              <p:nvPr/>
            </p:nvSpPr>
            <p:spPr bwMode="auto">
              <a:xfrm>
                <a:off x="1687" y="191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>
                <a:off x="1687" y="192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>
                <a:off x="1687" y="193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>
                <a:off x="1687" y="194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8" name="Line 170"/>
              <p:cNvSpPr>
                <a:spLocks noChangeShapeType="1"/>
              </p:cNvSpPr>
              <p:nvPr/>
            </p:nvSpPr>
            <p:spPr bwMode="auto">
              <a:xfrm>
                <a:off x="1687" y="195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>
                <a:off x="1687" y="196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0" name="Line 172"/>
              <p:cNvSpPr>
                <a:spLocks noChangeShapeType="1"/>
              </p:cNvSpPr>
              <p:nvPr/>
            </p:nvSpPr>
            <p:spPr bwMode="auto">
              <a:xfrm>
                <a:off x="1687" y="197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1" name="Line 173"/>
              <p:cNvSpPr>
                <a:spLocks noChangeShapeType="1"/>
              </p:cNvSpPr>
              <p:nvPr/>
            </p:nvSpPr>
            <p:spPr bwMode="auto">
              <a:xfrm>
                <a:off x="1687" y="198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2" name="Line 174"/>
              <p:cNvSpPr>
                <a:spLocks noChangeShapeType="1"/>
              </p:cNvSpPr>
              <p:nvPr/>
            </p:nvSpPr>
            <p:spPr bwMode="auto">
              <a:xfrm>
                <a:off x="1687" y="198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3" name="Line 175"/>
              <p:cNvSpPr>
                <a:spLocks noChangeShapeType="1"/>
              </p:cNvSpPr>
              <p:nvPr/>
            </p:nvSpPr>
            <p:spPr bwMode="auto">
              <a:xfrm>
                <a:off x="1687" y="199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4" name="Line 176"/>
              <p:cNvSpPr>
                <a:spLocks noChangeShapeType="1"/>
              </p:cNvSpPr>
              <p:nvPr/>
            </p:nvSpPr>
            <p:spPr bwMode="auto">
              <a:xfrm>
                <a:off x="1687" y="200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5" name="Line 177"/>
              <p:cNvSpPr>
                <a:spLocks noChangeShapeType="1"/>
              </p:cNvSpPr>
              <p:nvPr/>
            </p:nvSpPr>
            <p:spPr bwMode="auto">
              <a:xfrm>
                <a:off x="1687" y="201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6" name="Line 178"/>
              <p:cNvSpPr>
                <a:spLocks noChangeShapeType="1"/>
              </p:cNvSpPr>
              <p:nvPr/>
            </p:nvSpPr>
            <p:spPr bwMode="auto">
              <a:xfrm>
                <a:off x="1687" y="202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7" name="Line 179"/>
              <p:cNvSpPr>
                <a:spLocks noChangeShapeType="1"/>
              </p:cNvSpPr>
              <p:nvPr/>
            </p:nvSpPr>
            <p:spPr bwMode="auto">
              <a:xfrm>
                <a:off x="1687" y="203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8" name="Line 180"/>
              <p:cNvSpPr>
                <a:spLocks noChangeShapeType="1"/>
              </p:cNvSpPr>
              <p:nvPr/>
            </p:nvSpPr>
            <p:spPr bwMode="auto">
              <a:xfrm>
                <a:off x="1687" y="204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9" name="Line 181"/>
              <p:cNvSpPr>
                <a:spLocks noChangeShapeType="1"/>
              </p:cNvSpPr>
              <p:nvPr/>
            </p:nvSpPr>
            <p:spPr bwMode="auto">
              <a:xfrm>
                <a:off x="1687" y="205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0" name="Line 182"/>
              <p:cNvSpPr>
                <a:spLocks noChangeShapeType="1"/>
              </p:cNvSpPr>
              <p:nvPr/>
            </p:nvSpPr>
            <p:spPr bwMode="auto">
              <a:xfrm>
                <a:off x="1687" y="206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1" name="Line 183"/>
              <p:cNvSpPr>
                <a:spLocks noChangeShapeType="1"/>
              </p:cNvSpPr>
              <p:nvPr/>
            </p:nvSpPr>
            <p:spPr bwMode="auto">
              <a:xfrm>
                <a:off x="1687" y="207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2" name="Line 184"/>
              <p:cNvSpPr>
                <a:spLocks noChangeShapeType="1"/>
              </p:cNvSpPr>
              <p:nvPr/>
            </p:nvSpPr>
            <p:spPr bwMode="auto">
              <a:xfrm>
                <a:off x="1687" y="208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3" name="Line 185"/>
              <p:cNvSpPr>
                <a:spLocks noChangeShapeType="1"/>
              </p:cNvSpPr>
              <p:nvPr/>
            </p:nvSpPr>
            <p:spPr bwMode="auto">
              <a:xfrm>
                <a:off x="1687" y="209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>
                <a:off x="1687" y="20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5" name="Line 187"/>
              <p:cNvSpPr>
                <a:spLocks noChangeShapeType="1"/>
              </p:cNvSpPr>
              <p:nvPr/>
            </p:nvSpPr>
            <p:spPr bwMode="auto">
              <a:xfrm>
                <a:off x="1687" y="210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6" name="Line 188"/>
              <p:cNvSpPr>
                <a:spLocks noChangeShapeType="1"/>
              </p:cNvSpPr>
              <p:nvPr/>
            </p:nvSpPr>
            <p:spPr bwMode="auto">
              <a:xfrm>
                <a:off x="1687" y="211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7" name="Line 189"/>
              <p:cNvSpPr>
                <a:spLocks noChangeShapeType="1"/>
              </p:cNvSpPr>
              <p:nvPr/>
            </p:nvSpPr>
            <p:spPr bwMode="auto">
              <a:xfrm>
                <a:off x="1687" y="212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8" name="Line 190"/>
              <p:cNvSpPr>
                <a:spLocks noChangeShapeType="1"/>
              </p:cNvSpPr>
              <p:nvPr/>
            </p:nvSpPr>
            <p:spPr bwMode="auto">
              <a:xfrm>
                <a:off x="1687" y="213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>
                <a:off x="1687" y="214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0" name="Line 192"/>
              <p:cNvSpPr>
                <a:spLocks noChangeShapeType="1"/>
              </p:cNvSpPr>
              <p:nvPr/>
            </p:nvSpPr>
            <p:spPr bwMode="auto">
              <a:xfrm>
                <a:off x="1687" y="215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1" name="Line 193"/>
              <p:cNvSpPr>
                <a:spLocks noChangeShapeType="1"/>
              </p:cNvSpPr>
              <p:nvPr/>
            </p:nvSpPr>
            <p:spPr bwMode="auto">
              <a:xfrm>
                <a:off x="1687" y="216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2" name="Line 194"/>
              <p:cNvSpPr>
                <a:spLocks noChangeShapeType="1"/>
              </p:cNvSpPr>
              <p:nvPr/>
            </p:nvSpPr>
            <p:spPr bwMode="auto">
              <a:xfrm>
                <a:off x="1687" y="217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3" name="Line 195"/>
              <p:cNvSpPr>
                <a:spLocks noChangeShapeType="1"/>
              </p:cNvSpPr>
              <p:nvPr/>
            </p:nvSpPr>
            <p:spPr bwMode="auto">
              <a:xfrm>
                <a:off x="1687" y="218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4" name="Line 196"/>
              <p:cNvSpPr>
                <a:spLocks noChangeShapeType="1"/>
              </p:cNvSpPr>
              <p:nvPr/>
            </p:nvSpPr>
            <p:spPr bwMode="auto">
              <a:xfrm>
                <a:off x="1687" y="219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5" name="Line 197"/>
              <p:cNvSpPr>
                <a:spLocks noChangeShapeType="1"/>
              </p:cNvSpPr>
              <p:nvPr/>
            </p:nvSpPr>
            <p:spPr bwMode="auto">
              <a:xfrm>
                <a:off x="1687" y="220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6" name="Line 198"/>
              <p:cNvSpPr>
                <a:spLocks noChangeShapeType="1"/>
              </p:cNvSpPr>
              <p:nvPr/>
            </p:nvSpPr>
            <p:spPr bwMode="auto">
              <a:xfrm>
                <a:off x="1687" y="221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7" name="Line 199"/>
              <p:cNvSpPr>
                <a:spLocks noChangeShapeType="1"/>
              </p:cNvSpPr>
              <p:nvPr/>
            </p:nvSpPr>
            <p:spPr bwMode="auto">
              <a:xfrm>
                <a:off x="1687" y="221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8" name="Line 200"/>
              <p:cNvSpPr>
                <a:spLocks noChangeShapeType="1"/>
              </p:cNvSpPr>
              <p:nvPr/>
            </p:nvSpPr>
            <p:spPr bwMode="auto">
              <a:xfrm>
                <a:off x="1687" y="222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9" name="Line 201"/>
              <p:cNvSpPr>
                <a:spLocks noChangeShapeType="1"/>
              </p:cNvSpPr>
              <p:nvPr/>
            </p:nvSpPr>
            <p:spPr bwMode="auto">
              <a:xfrm>
                <a:off x="1687" y="223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0" name="Line 202"/>
              <p:cNvSpPr>
                <a:spLocks noChangeShapeType="1"/>
              </p:cNvSpPr>
              <p:nvPr/>
            </p:nvSpPr>
            <p:spPr bwMode="auto">
              <a:xfrm>
                <a:off x="1687" y="224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1" name="Line 203"/>
              <p:cNvSpPr>
                <a:spLocks noChangeShapeType="1"/>
              </p:cNvSpPr>
              <p:nvPr/>
            </p:nvSpPr>
            <p:spPr bwMode="auto">
              <a:xfrm>
                <a:off x="1687" y="225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2" name="Line 204"/>
              <p:cNvSpPr>
                <a:spLocks noChangeShapeType="1"/>
              </p:cNvSpPr>
              <p:nvPr/>
            </p:nvSpPr>
            <p:spPr bwMode="auto">
              <a:xfrm>
                <a:off x="1687" y="226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3" name="Line 205"/>
              <p:cNvSpPr>
                <a:spLocks noChangeShapeType="1"/>
              </p:cNvSpPr>
              <p:nvPr/>
            </p:nvSpPr>
            <p:spPr bwMode="auto">
              <a:xfrm>
                <a:off x="1687" y="227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4" name="Line 206"/>
              <p:cNvSpPr>
                <a:spLocks noChangeShapeType="1"/>
              </p:cNvSpPr>
              <p:nvPr/>
            </p:nvSpPr>
            <p:spPr bwMode="auto">
              <a:xfrm>
                <a:off x="1687" y="228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5" name="Line 207"/>
              <p:cNvSpPr>
                <a:spLocks noChangeShapeType="1"/>
              </p:cNvSpPr>
              <p:nvPr/>
            </p:nvSpPr>
            <p:spPr bwMode="auto">
              <a:xfrm>
                <a:off x="1687" y="229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6" name="Line 208"/>
              <p:cNvSpPr>
                <a:spLocks noChangeShapeType="1"/>
              </p:cNvSpPr>
              <p:nvPr/>
            </p:nvSpPr>
            <p:spPr bwMode="auto">
              <a:xfrm>
                <a:off x="1687" y="230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7" name="Rectangle 209"/>
              <p:cNvSpPr>
                <a:spLocks noChangeArrowheads="1"/>
              </p:cNvSpPr>
              <p:nvPr/>
            </p:nvSpPr>
            <p:spPr bwMode="auto">
              <a:xfrm>
                <a:off x="2319" y="1872"/>
                <a:ext cx="240" cy="208"/>
              </a:xfrm>
              <a:prstGeom prst="rect">
                <a:avLst/>
              </a:prstGeom>
              <a:solidFill>
                <a:srgbClr val="E6E6E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8" name="Line 210"/>
              <p:cNvSpPr>
                <a:spLocks noChangeShapeType="1"/>
              </p:cNvSpPr>
              <p:nvPr/>
            </p:nvSpPr>
            <p:spPr bwMode="auto">
              <a:xfrm>
                <a:off x="2319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9" name="Line 211"/>
              <p:cNvSpPr>
                <a:spLocks noChangeShapeType="1"/>
              </p:cNvSpPr>
              <p:nvPr/>
            </p:nvSpPr>
            <p:spPr bwMode="auto">
              <a:xfrm>
                <a:off x="2328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0" name="Line 212"/>
              <p:cNvSpPr>
                <a:spLocks noChangeShapeType="1"/>
              </p:cNvSpPr>
              <p:nvPr/>
            </p:nvSpPr>
            <p:spPr bwMode="auto">
              <a:xfrm>
                <a:off x="2338" y="208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1" name="Line 213"/>
              <p:cNvSpPr>
                <a:spLocks noChangeShapeType="1"/>
              </p:cNvSpPr>
              <p:nvPr/>
            </p:nvSpPr>
            <p:spPr bwMode="auto">
              <a:xfrm>
                <a:off x="2347" y="208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2" name="Line 214"/>
              <p:cNvSpPr>
                <a:spLocks noChangeShapeType="1"/>
              </p:cNvSpPr>
              <p:nvPr/>
            </p:nvSpPr>
            <p:spPr bwMode="auto">
              <a:xfrm>
                <a:off x="2356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3" name="Line 215"/>
              <p:cNvSpPr>
                <a:spLocks noChangeShapeType="1"/>
              </p:cNvSpPr>
              <p:nvPr/>
            </p:nvSpPr>
            <p:spPr bwMode="auto">
              <a:xfrm>
                <a:off x="2365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4" name="Line 216"/>
              <p:cNvSpPr>
                <a:spLocks noChangeShapeType="1"/>
              </p:cNvSpPr>
              <p:nvPr/>
            </p:nvSpPr>
            <p:spPr bwMode="auto">
              <a:xfrm>
                <a:off x="2375" y="208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5" name="Line 217"/>
              <p:cNvSpPr>
                <a:spLocks noChangeShapeType="1"/>
              </p:cNvSpPr>
              <p:nvPr/>
            </p:nvSpPr>
            <p:spPr bwMode="auto">
              <a:xfrm>
                <a:off x="2384" y="208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6" name="Line 218"/>
              <p:cNvSpPr>
                <a:spLocks noChangeShapeType="1"/>
              </p:cNvSpPr>
              <p:nvPr/>
            </p:nvSpPr>
            <p:spPr bwMode="auto">
              <a:xfrm>
                <a:off x="2393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7" name="Line 219"/>
              <p:cNvSpPr>
                <a:spLocks noChangeShapeType="1"/>
              </p:cNvSpPr>
              <p:nvPr/>
            </p:nvSpPr>
            <p:spPr bwMode="auto">
              <a:xfrm>
                <a:off x="2402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8" name="Line 220"/>
              <p:cNvSpPr>
                <a:spLocks noChangeShapeType="1"/>
              </p:cNvSpPr>
              <p:nvPr/>
            </p:nvSpPr>
            <p:spPr bwMode="auto">
              <a:xfrm>
                <a:off x="2411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4" name="Group 221"/>
            <p:cNvGrpSpPr>
              <a:grpSpLocks/>
            </p:cNvGrpSpPr>
            <p:nvPr/>
          </p:nvGrpSpPr>
          <p:grpSpPr bwMode="auto">
            <a:xfrm>
              <a:off x="252" y="1559"/>
              <a:ext cx="2544" cy="1658"/>
              <a:chOff x="252" y="1559"/>
              <a:chExt cx="2544" cy="1658"/>
            </a:xfrm>
          </p:grpSpPr>
          <p:sp>
            <p:nvSpPr>
              <p:cNvPr id="2270" name="Line 222"/>
              <p:cNvSpPr>
                <a:spLocks noChangeShapeType="1"/>
              </p:cNvSpPr>
              <p:nvPr/>
            </p:nvSpPr>
            <p:spPr bwMode="auto">
              <a:xfrm>
                <a:off x="2421" y="208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1" name="Line 223"/>
              <p:cNvSpPr>
                <a:spLocks noChangeShapeType="1"/>
              </p:cNvSpPr>
              <p:nvPr/>
            </p:nvSpPr>
            <p:spPr bwMode="auto">
              <a:xfrm>
                <a:off x="2430" y="208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2" name="Line 224"/>
              <p:cNvSpPr>
                <a:spLocks noChangeShapeType="1"/>
              </p:cNvSpPr>
              <p:nvPr/>
            </p:nvSpPr>
            <p:spPr bwMode="auto">
              <a:xfrm>
                <a:off x="2439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3" name="Line 225"/>
              <p:cNvSpPr>
                <a:spLocks noChangeShapeType="1"/>
              </p:cNvSpPr>
              <p:nvPr/>
            </p:nvSpPr>
            <p:spPr bwMode="auto">
              <a:xfrm>
                <a:off x="2448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4" name="Line 226"/>
              <p:cNvSpPr>
                <a:spLocks noChangeShapeType="1"/>
              </p:cNvSpPr>
              <p:nvPr/>
            </p:nvSpPr>
            <p:spPr bwMode="auto">
              <a:xfrm>
                <a:off x="2457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5" name="Line 227"/>
              <p:cNvSpPr>
                <a:spLocks noChangeShapeType="1"/>
              </p:cNvSpPr>
              <p:nvPr/>
            </p:nvSpPr>
            <p:spPr bwMode="auto">
              <a:xfrm>
                <a:off x="2467" y="208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6" name="Line 228"/>
              <p:cNvSpPr>
                <a:spLocks noChangeShapeType="1"/>
              </p:cNvSpPr>
              <p:nvPr/>
            </p:nvSpPr>
            <p:spPr bwMode="auto">
              <a:xfrm>
                <a:off x="2476" y="208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7" name="Line 229"/>
              <p:cNvSpPr>
                <a:spLocks noChangeShapeType="1"/>
              </p:cNvSpPr>
              <p:nvPr/>
            </p:nvSpPr>
            <p:spPr bwMode="auto">
              <a:xfrm>
                <a:off x="2485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8" name="Line 230"/>
              <p:cNvSpPr>
                <a:spLocks noChangeShapeType="1"/>
              </p:cNvSpPr>
              <p:nvPr/>
            </p:nvSpPr>
            <p:spPr bwMode="auto">
              <a:xfrm>
                <a:off x="2494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9" name="Line 231"/>
              <p:cNvSpPr>
                <a:spLocks noChangeShapeType="1"/>
              </p:cNvSpPr>
              <p:nvPr/>
            </p:nvSpPr>
            <p:spPr bwMode="auto">
              <a:xfrm>
                <a:off x="2504" y="208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0" name="Line 232"/>
              <p:cNvSpPr>
                <a:spLocks noChangeShapeType="1"/>
              </p:cNvSpPr>
              <p:nvPr/>
            </p:nvSpPr>
            <p:spPr bwMode="auto">
              <a:xfrm>
                <a:off x="2513" y="208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1" name="Line 233"/>
              <p:cNvSpPr>
                <a:spLocks noChangeShapeType="1"/>
              </p:cNvSpPr>
              <p:nvPr/>
            </p:nvSpPr>
            <p:spPr bwMode="auto">
              <a:xfrm>
                <a:off x="2522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2" name="Line 234"/>
              <p:cNvSpPr>
                <a:spLocks noChangeShapeType="1"/>
              </p:cNvSpPr>
              <p:nvPr/>
            </p:nvSpPr>
            <p:spPr bwMode="auto">
              <a:xfrm>
                <a:off x="2531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3" name="Line 235"/>
              <p:cNvSpPr>
                <a:spLocks noChangeShapeType="1"/>
              </p:cNvSpPr>
              <p:nvPr/>
            </p:nvSpPr>
            <p:spPr bwMode="auto">
              <a:xfrm>
                <a:off x="2540" y="208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4" name="Line 236"/>
              <p:cNvSpPr>
                <a:spLocks noChangeShapeType="1"/>
              </p:cNvSpPr>
              <p:nvPr/>
            </p:nvSpPr>
            <p:spPr bwMode="auto">
              <a:xfrm>
                <a:off x="2550" y="208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5" name="Line 237"/>
              <p:cNvSpPr>
                <a:spLocks noChangeShapeType="1"/>
              </p:cNvSpPr>
              <p:nvPr/>
            </p:nvSpPr>
            <p:spPr bwMode="auto">
              <a:xfrm flipV="1">
                <a:off x="2559" y="20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6" name="Line 238"/>
              <p:cNvSpPr>
                <a:spLocks noChangeShapeType="1"/>
              </p:cNvSpPr>
              <p:nvPr/>
            </p:nvSpPr>
            <p:spPr bwMode="auto">
              <a:xfrm flipV="1">
                <a:off x="2559" y="206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7" name="Line 239"/>
              <p:cNvSpPr>
                <a:spLocks noChangeShapeType="1"/>
              </p:cNvSpPr>
              <p:nvPr/>
            </p:nvSpPr>
            <p:spPr bwMode="auto">
              <a:xfrm flipV="1">
                <a:off x="2559" y="205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8" name="Line 240"/>
              <p:cNvSpPr>
                <a:spLocks noChangeShapeType="1"/>
              </p:cNvSpPr>
              <p:nvPr/>
            </p:nvSpPr>
            <p:spPr bwMode="auto">
              <a:xfrm flipV="1">
                <a:off x="2559" y="204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9" name="Line 241"/>
              <p:cNvSpPr>
                <a:spLocks noChangeShapeType="1"/>
              </p:cNvSpPr>
              <p:nvPr/>
            </p:nvSpPr>
            <p:spPr bwMode="auto">
              <a:xfrm flipV="1">
                <a:off x="2559" y="203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0" name="Line 242"/>
              <p:cNvSpPr>
                <a:spLocks noChangeShapeType="1"/>
              </p:cNvSpPr>
              <p:nvPr/>
            </p:nvSpPr>
            <p:spPr bwMode="auto">
              <a:xfrm flipV="1">
                <a:off x="2559" y="202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1" name="Line 243"/>
              <p:cNvSpPr>
                <a:spLocks noChangeShapeType="1"/>
              </p:cNvSpPr>
              <p:nvPr/>
            </p:nvSpPr>
            <p:spPr bwMode="auto">
              <a:xfrm flipV="1">
                <a:off x="2559" y="202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2" name="Line 244"/>
              <p:cNvSpPr>
                <a:spLocks noChangeShapeType="1"/>
              </p:cNvSpPr>
              <p:nvPr/>
            </p:nvSpPr>
            <p:spPr bwMode="auto">
              <a:xfrm flipV="1">
                <a:off x="2559" y="201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3" name="Line 245"/>
              <p:cNvSpPr>
                <a:spLocks noChangeShapeType="1"/>
              </p:cNvSpPr>
              <p:nvPr/>
            </p:nvSpPr>
            <p:spPr bwMode="auto">
              <a:xfrm flipV="1">
                <a:off x="2559" y="200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4" name="Line 246"/>
              <p:cNvSpPr>
                <a:spLocks noChangeShapeType="1"/>
              </p:cNvSpPr>
              <p:nvPr/>
            </p:nvSpPr>
            <p:spPr bwMode="auto">
              <a:xfrm flipV="1">
                <a:off x="2559" y="199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5" name="Line 247"/>
              <p:cNvSpPr>
                <a:spLocks noChangeShapeType="1"/>
              </p:cNvSpPr>
              <p:nvPr/>
            </p:nvSpPr>
            <p:spPr bwMode="auto">
              <a:xfrm flipV="1">
                <a:off x="2559" y="198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6" name="Line 248"/>
              <p:cNvSpPr>
                <a:spLocks noChangeShapeType="1"/>
              </p:cNvSpPr>
              <p:nvPr/>
            </p:nvSpPr>
            <p:spPr bwMode="auto">
              <a:xfrm flipV="1">
                <a:off x="2559" y="197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7" name="Line 249"/>
              <p:cNvSpPr>
                <a:spLocks noChangeShapeType="1"/>
              </p:cNvSpPr>
              <p:nvPr/>
            </p:nvSpPr>
            <p:spPr bwMode="auto">
              <a:xfrm flipV="1">
                <a:off x="2559" y="196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8" name="Line 250"/>
              <p:cNvSpPr>
                <a:spLocks noChangeShapeType="1"/>
              </p:cNvSpPr>
              <p:nvPr/>
            </p:nvSpPr>
            <p:spPr bwMode="auto">
              <a:xfrm flipV="1">
                <a:off x="2559" y="195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9" name="Line 251"/>
              <p:cNvSpPr>
                <a:spLocks noChangeShapeType="1"/>
              </p:cNvSpPr>
              <p:nvPr/>
            </p:nvSpPr>
            <p:spPr bwMode="auto">
              <a:xfrm flipV="1">
                <a:off x="2559" y="194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0" name="Line 252"/>
              <p:cNvSpPr>
                <a:spLocks noChangeShapeType="1"/>
              </p:cNvSpPr>
              <p:nvPr/>
            </p:nvSpPr>
            <p:spPr bwMode="auto">
              <a:xfrm flipV="1">
                <a:off x="2559" y="193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1" name="Line 253"/>
              <p:cNvSpPr>
                <a:spLocks noChangeShapeType="1"/>
              </p:cNvSpPr>
              <p:nvPr/>
            </p:nvSpPr>
            <p:spPr bwMode="auto">
              <a:xfrm flipV="1">
                <a:off x="2559" y="192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2" name="Line 254"/>
              <p:cNvSpPr>
                <a:spLocks noChangeShapeType="1"/>
              </p:cNvSpPr>
              <p:nvPr/>
            </p:nvSpPr>
            <p:spPr bwMode="auto">
              <a:xfrm flipV="1">
                <a:off x="2559" y="191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3" name="Line 255"/>
              <p:cNvSpPr>
                <a:spLocks noChangeShapeType="1"/>
              </p:cNvSpPr>
              <p:nvPr/>
            </p:nvSpPr>
            <p:spPr bwMode="auto">
              <a:xfrm flipV="1">
                <a:off x="2559" y="190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4" name="Line 256"/>
              <p:cNvSpPr>
                <a:spLocks noChangeShapeType="1"/>
              </p:cNvSpPr>
              <p:nvPr/>
            </p:nvSpPr>
            <p:spPr bwMode="auto">
              <a:xfrm flipV="1">
                <a:off x="2559" y="190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5" name="Line 257"/>
              <p:cNvSpPr>
                <a:spLocks noChangeShapeType="1"/>
              </p:cNvSpPr>
              <p:nvPr/>
            </p:nvSpPr>
            <p:spPr bwMode="auto">
              <a:xfrm flipV="1">
                <a:off x="2559" y="189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6" name="Line 258"/>
              <p:cNvSpPr>
                <a:spLocks noChangeShapeType="1"/>
              </p:cNvSpPr>
              <p:nvPr/>
            </p:nvSpPr>
            <p:spPr bwMode="auto">
              <a:xfrm flipV="1">
                <a:off x="2559" y="188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7" name="Line 259"/>
              <p:cNvSpPr>
                <a:spLocks noChangeShapeType="1"/>
              </p:cNvSpPr>
              <p:nvPr/>
            </p:nvSpPr>
            <p:spPr bwMode="auto">
              <a:xfrm flipV="1">
                <a:off x="2559" y="187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8" name="Line 260"/>
              <p:cNvSpPr>
                <a:spLocks noChangeShapeType="1"/>
              </p:cNvSpPr>
              <p:nvPr/>
            </p:nvSpPr>
            <p:spPr bwMode="auto">
              <a:xfrm flipH="1">
                <a:off x="2550" y="187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9" name="Line 261"/>
              <p:cNvSpPr>
                <a:spLocks noChangeShapeType="1"/>
              </p:cNvSpPr>
              <p:nvPr/>
            </p:nvSpPr>
            <p:spPr bwMode="auto">
              <a:xfrm flipH="1">
                <a:off x="2540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0" name="Line 262"/>
              <p:cNvSpPr>
                <a:spLocks noChangeShapeType="1"/>
              </p:cNvSpPr>
              <p:nvPr/>
            </p:nvSpPr>
            <p:spPr bwMode="auto">
              <a:xfrm flipH="1">
                <a:off x="2531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1" name="Line 263"/>
              <p:cNvSpPr>
                <a:spLocks noChangeShapeType="1"/>
              </p:cNvSpPr>
              <p:nvPr/>
            </p:nvSpPr>
            <p:spPr bwMode="auto">
              <a:xfrm flipH="1">
                <a:off x="2522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2" name="Line 264"/>
              <p:cNvSpPr>
                <a:spLocks noChangeShapeType="1"/>
              </p:cNvSpPr>
              <p:nvPr/>
            </p:nvSpPr>
            <p:spPr bwMode="auto">
              <a:xfrm flipH="1">
                <a:off x="2513" y="187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3" name="Line 265"/>
              <p:cNvSpPr>
                <a:spLocks noChangeShapeType="1"/>
              </p:cNvSpPr>
              <p:nvPr/>
            </p:nvSpPr>
            <p:spPr bwMode="auto">
              <a:xfrm flipH="1">
                <a:off x="2504" y="187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4" name="Line 266"/>
              <p:cNvSpPr>
                <a:spLocks noChangeShapeType="1"/>
              </p:cNvSpPr>
              <p:nvPr/>
            </p:nvSpPr>
            <p:spPr bwMode="auto">
              <a:xfrm flipH="1">
                <a:off x="2494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5" name="Line 267"/>
              <p:cNvSpPr>
                <a:spLocks noChangeShapeType="1"/>
              </p:cNvSpPr>
              <p:nvPr/>
            </p:nvSpPr>
            <p:spPr bwMode="auto">
              <a:xfrm flipH="1">
                <a:off x="2485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6" name="Line 268"/>
              <p:cNvSpPr>
                <a:spLocks noChangeShapeType="1"/>
              </p:cNvSpPr>
              <p:nvPr/>
            </p:nvSpPr>
            <p:spPr bwMode="auto">
              <a:xfrm flipH="1">
                <a:off x="2476" y="187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7" name="Line 269"/>
              <p:cNvSpPr>
                <a:spLocks noChangeShapeType="1"/>
              </p:cNvSpPr>
              <p:nvPr/>
            </p:nvSpPr>
            <p:spPr bwMode="auto">
              <a:xfrm flipH="1">
                <a:off x="2467" y="187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8" name="Line 270"/>
              <p:cNvSpPr>
                <a:spLocks noChangeShapeType="1"/>
              </p:cNvSpPr>
              <p:nvPr/>
            </p:nvSpPr>
            <p:spPr bwMode="auto">
              <a:xfrm flipH="1">
                <a:off x="2457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9" name="Line 271"/>
              <p:cNvSpPr>
                <a:spLocks noChangeShapeType="1"/>
              </p:cNvSpPr>
              <p:nvPr/>
            </p:nvSpPr>
            <p:spPr bwMode="auto">
              <a:xfrm flipH="1">
                <a:off x="2448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0" name="Line 272"/>
              <p:cNvSpPr>
                <a:spLocks noChangeShapeType="1"/>
              </p:cNvSpPr>
              <p:nvPr/>
            </p:nvSpPr>
            <p:spPr bwMode="auto">
              <a:xfrm flipH="1">
                <a:off x="2439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1" name="Line 273"/>
              <p:cNvSpPr>
                <a:spLocks noChangeShapeType="1"/>
              </p:cNvSpPr>
              <p:nvPr/>
            </p:nvSpPr>
            <p:spPr bwMode="auto">
              <a:xfrm flipH="1">
                <a:off x="2430" y="187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2" name="Line 274"/>
              <p:cNvSpPr>
                <a:spLocks noChangeShapeType="1"/>
              </p:cNvSpPr>
              <p:nvPr/>
            </p:nvSpPr>
            <p:spPr bwMode="auto">
              <a:xfrm flipH="1">
                <a:off x="2421" y="187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3" name="Line 275"/>
              <p:cNvSpPr>
                <a:spLocks noChangeShapeType="1"/>
              </p:cNvSpPr>
              <p:nvPr/>
            </p:nvSpPr>
            <p:spPr bwMode="auto">
              <a:xfrm flipH="1">
                <a:off x="2411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4" name="Line 276"/>
              <p:cNvSpPr>
                <a:spLocks noChangeShapeType="1"/>
              </p:cNvSpPr>
              <p:nvPr/>
            </p:nvSpPr>
            <p:spPr bwMode="auto">
              <a:xfrm flipH="1">
                <a:off x="2402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5" name="Line 277"/>
              <p:cNvSpPr>
                <a:spLocks noChangeShapeType="1"/>
              </p:cNvSpPr>
              <p:nvPr/>
            </p:nvSpPr>
            <p:spPr bwMode="auto">
              <a:xfrm flipH="1">
                <a:off x="2393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6" name="Line 278"/>
              <p:cNvSpPr>
                <a:spLocks noChangeShapeType="1"/>
              </p:cNvSpPr>
              <p:nvPr/>
            </p:nvSpPr>
            <p:spPr bwMode="auto">
              <a:xfrm flipH="1">
                <a:off x="2384" y="187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7" name="Line 279"/>
              <p:cNvSpPr>
                <a:spLocks noChangeShapeType="1"/>
              </p:cNvSpPr>
              <p:nvPr/>
            </p:nvSpPr>
            <p:spPr bwMode="auto">
              <a:xfrm flipH="1">
                <a:off x="2375" y="187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8" name="Line 280"/>
              <p:cNvSpPr>
                <a:spLocks noChangeShapeType="1"/>
              </p:cNvSpPr>
              <p:nvPr/>
            </p:nvSpPr>
            <p:spPr bwMode="auto">
              <a:xfrm flipH="1">
                <a:off x="2365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9" name="Line 281"/>
              <p:cNvSpPr>
                <a:spLocks noChangeShapeType="1"/>
              </p:cNvSpPr>
              <p:nvPr/>
            </p:nvSpPr>
            <p:spPr bwMode="auto">
              <a:xfrm flipH="1">
                <a:off x="2356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0" name="Line 282"/>
              <p:cNvSpPr>
                <a:spLocks noChangeShapeType="1"/>
              </p:cNvSpPr>
              <p:nvPr/>
            </p:nvSpPr>
            <p:spPr bwMode="auto">
              <a:xfrm flipH="1">
                <a:off x="2347" y="187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1" name="Line 283"/>
              <p:cNvSpPr>
                <a:spLocks noChangeShapeType="1"/>
              </p:cNvSpPr>
              <p:nvPr/>
            </p:nvSpPr>
            <p:spPr bwMode="auto">
              <a:xfrm flipH="1">
                <a:off x="2338" y="187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2" name="Line 284"/>
              <p:cNvSpPr>
                <a:spLocks noChangeShapeType="1"/>
              </p:cNvSpPr>
              <p:nvPr/>
            </p:nvSpPr>
            <p:spPr bwMode="auto">
              <a:xfrm flipH="1">
                <a:off x="2328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3" name="Line 285"/>
              <p:cNvSpPr>
                <a:spLocks noChangeShapeType="1"/>
              </p:cNvSpPr>
              <p:nvPr/>
            </p:nvSpPr>
            <p:spPr bwMode="auto">
              <a:xfrm flipH="1">
                <a:off x="2319" y="187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4" name="Line 286"/>
              <p:cNvSpPr>
                <a:spLocks noChangeShapeType="1"/>
              </p:cNvSpPr>
              <p:nvPr/>
            </p:nvSpPr>
            <p:spPr bwMode="auto">
              <a:xfrm>
                <a:off x="2319" y="187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5" name="Line 287"/>
              <p:cNvSpPr>
                <a:spLocks noChangeShapeType="1"/>
              </p:cNvSpPr>
              <p:nvPr/>
            </p:nvSpPr>
            <p:spPr bwMode="auto">
              <a:xfrm>
                <a:off x="2319" y="188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6" name="Line 288"/>
              <p:cNvSpPr>
                <a:spLocks noChangeShapeType="1"/>
              </p:cNvSpPr>
              <p:nvPr/>
            </p:nvSpPr>
            <p:spPr bwMode="auto">
              <a:xfrm>
                <a:off x="2319" y="189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7" name="Line 289"/>
              <p:cNvSpPr>
                <a:spLocks noChangeShapeType="1"/>
              </p:cNvSpPr>
              <p:nvPr/>
            </p:nvSpPr>
            <p:spPr bwMode="auto">
              <a:xfrm>
                <a:off x="2319" y="190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8" name="Line 290"/>
              <p:cNvSpPr>
                <a:spLocks noChangeShapeType="1"/>
              </p:cNvSpPr>
              <p:nvPr/>
            </p:nvSpPr>
            <p:spPr bwMode="auto">
              <a:xfrm>
                <a:off x="2319" y="191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9" name="Line 291"/>
              <p:cNvSpPr>
                <a:spLocks noChangeShapeType="1"/>
              </p:cNvSpPr>
              <p:nvPr/>
            </p:nvSpPr>
            <p:spPr bwMode="auto">
              <a:xfrm>
                <a:off x="2319" y="192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0" name="Line 292"/>
              <p:cNvSpPr>
                <a:spLocks noChangeShapeType="1"/>
              </p:cNvSpPr>
              <p:nvPr/>
            </p:nvSpPr>
            <p:spPr bwMode="auto">
              <a:xfrm>
                <a:off x="2319" y="193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1" name="Line 293"/>
              <p:cNvSpPr>
                <a:spLocks noChangeShapeType="1"/>
              </p:cNvSpPr>
              <p:nvPr/>
            </p:nvSpPr>
            <p:spPr bwMode="auto">
              <a:xfrm>
                <a:off x="2319" y="194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2" name="Line 294"/>
              <p:cNvSpPr>
                <a:spLocks noChangeShapeType="1"/>
              </p:cNvSpPr>
              <p:nvPr/>
            </p:nvSpPr>
            <p:spPr bwMode="auto">
              <a:xfrm>
                <a:off x="2319" y="195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3" name="Line 295"/>
              <p:cNvSpPr>
                <a:spLocks noChangeShapeType="1"/>
              </p:cNvSpPr>
              <p:nvPr/>
            </p:nvSpPr>
            <p:spPr bwMode="auto">
              <a:xfrm>
                <a:off x="2319" y="196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4" name="Line 296"/>
              <p:cNvSpPr>
                <a:spLocks noChangeShapeType="1"/>
              </p:cNvSpPr>
              <p:nvPr/>
            </p:nvSpPr>
            <p:spPr bwMode="auto">
              <a:xfrm>
                <a:off x="2319" y="196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5" name="Line 297"/>
              <p:cNvSpPr>
                <a:spLocks noChangeShapeType="1"/>
              </p:cNvSpPr>
              <p:nvPr/>
            </p:nvSpPr>
            <p:spPr bwMode="auto">
              <a:xfrm>
                <a:off x="2319" y="197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6" name="Line 298"/>
              <p:cNvSpPr>
                <a:spLocks noChangeShapeType="1"/>
              </p:cNvSpPr>
              <p:nvPr/>
            </p:nvSpPr>
            <p:spPr bwMode="auto">
              <a:xfrm>
                <a:off x="2319" y="198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7" name="Line 299"/>
              <p:cNvSpPr>
                <a:spLocks noChangeShapeType="1"/>
              </p:cNvSpPr>
              <p:nvPr/>
            </p:nvSpPr>
            <p:spPr bwMode="auto">
              <a:xfrm>
                <a:off x="2319" y="199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8" name="Line 300"/>
              <p:cNvSpPr>
                <a:spLocks noChangeShapeType="1"/>
              </p:cNvSpPr>
              <p:nvPr/>
            </p:nvSpPr>
            <p:spPr bwMode="auto">
              <a:xfrm>
                <a:off x="2319" y="200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9" name="Line 301"/>
              <p:cNvSpPr>
                <a:spLocks noChangeShapeType="1"/>
              </p:cNvSpPr>
              <p:nvPr/>
            </p:nvSpPr>
            <p:spPr bwMode="auto">
              <a:xfrm>
                <a:off x="2319" y="201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0" name="Line 302"/>
              <p:cNvSpPr>
                <a:spLocks noChangeShapeType="1"/>
              </p:cNvSpPr>
              <p:nvPr/>
            </p:nvSpPr>
            <p:spPr bwMode="auto">
              <a:xfrm>
                <a:off x="2319" y="202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1" name="Line 303"/>
              <p:cNvSpPr>
                <a:spLocks noChangeShapeType="1"/>
              </p:cNvSpPr>
              <p:nvPr/>
            </p:nvSpPr>
            <p:spPr bwMode="auto">
              <a:xfrm>
                <a:off x="2319" y="203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2" name="Line 304"/>
              <p:cNvSpPr>
                <a:spLocks noChangeShapeType="1"/>
              </p:cNvSpPr>
              <p:nvPr/>
            </p:nvSpPr>
            <p:spPr bwMode="auto">
              <a:xfrm>
                <a:off x="2319" y="204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3" name="Line 305"/>
              <p:cNvSpPr>
                <a:spLocks noChangeShapeType="1"/>
              </p:cNvSpPr>
              <p:nvPr/>
            </p:nvSpPr>
            <p:spPr bwMode="auto">
              <a:xfrm>
                <a:off x="2319" y="205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4" name="Line 306"/>
              <p:cNvSpPr>
                <a:spLocks noChangeShapeType="1"/>
              </p:cNvSpPr>
              <p:nvPr/>
            </p:nvSpPr>
            <p:spPr bwMode="auto">
              <a:xfrm>
                <a:off x="2319" y="206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5" name="Line 307"/>
              <p:cNvSpPr>
                <a:spLocks noChangeShapeType="1"/>
              </p:cNvSpPr>
              <p:nvPr/>
            </p:nvSpPr>
            <p:spPr bwMode="auto">
              <a:xfrm>
                <a:off x="2319" y="207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6" name="Rectangle 308"/>
              <p:cNvSpPr>
                <a:spLocks noChangeArrowheads="1"/>
              </p:cNvSpPr>
              <p:nvPr/>
            </p:nvSpPr>
            <p:spPr bwMode="auto">
              <a:xfrm>
                <a:off x="1649" y="1559"/>
                <a:ext cx="243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7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</a:t>
                </a:r>
                <a:r>
                  <a:rPr lang="ko-KR" altLang="en-US" sz="7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상 </a:t>
                </a:r>
                <a:r>
                  <a:rPr lang="en-US" altLang="ko-KR" sz="7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IGBT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57" name="Line 309"/>
              <p:cNvSpPr>
                <a:spLocks noChangeShapeType="1"/>
              </p:cNvSpPr>
              <p:nvPr/>
            </p:nvSpPr>
            <p:spPr bwMode="auto">
              <a:xfrm flipV="1">
                <a:off x="2247" y="1953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8" name="Line 310"/>
              <p:cNvSpPr>
                <a:spLocks noChangeShapeType="1"/>
              </p:cNvSpPr>
              <p:nvPr/>
            </p:nvSpPr>
            <p:spPr bwMode="auto">
              <a:xfrm flipV="1">
                <a:off x="2305" y="1953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9" name="Line 311"/>
              <p:cNvSpPr>
                <a:spLocks noChangeShapeType="1"/>
              </p:cNvSpPr>
              <p:nvPr/>
            </p:nvSpPr>
            <p:spPr bwMode="auto">
              <a:xfrm flipH="1" flipV="1">
                <a:off x="2248" y="1954"/>
                <a:ext cx="26" cy="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0" name="Line 312"/>
              <p:cNvSpPr>
                <a:spLocks noChangeShapeType="1"/>
              </p:cNvSpPr>
              <p:nvPr/>
            </p:nvSpPr>
            <p:spPr bwMode="auto">
              <a:xfrm flipV="1">
                <a:off x="2275" y="1954"/>
                <a:ext cx="29" cy="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1" name="Line 313"/>
              <p:cNvSpPr>
                <a:spLocks noChangeShapeType="1"/>
              </p:cNvSpPr>
              <p:nvPr/>
            </p:nvSpPr>
            <p:spPr bwMode="auto">
              <a:xfrm flipV="1">
                <a:off x="2150" y="1895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2" name="Line 314"/>
              <p:cNvSpPr>
                <a:spLocks noChangeShapeType="1"/>
              </p:cNvSpPr>
              <p:nvPr/>
            </p:nvSpPr>
            <p:spPr bwMode="auto">
              <a:xfrm flipV="1">
                <a:off x="2209" y="1895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3" name="Line 315"/>
              <p:cNvSpPr>
                <a:spLocks noChangeShapeType="1"/>
              </p:cNvSpPr>
              <p:nvPr/>
            </p:nvSpPr>
            <p:spPr bwMode="auto">
              <a:xfrm flipH="1" flipV="1">
                <a:off x="2151" y="1897"/>
                <a:ext cx="27" cy="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4" name="Line 316"/>
              <p:cNvSpPr>
                <a:spLocks noChangeShapeType="1"/>
              </p:cNvSpPr>
              <p:nvPr/>
            </p:nvSpPr>
            <p:spPr bwMode="auto">
              <a:xfrm flipV="1">
                <a:off x="2179" y="1897"/>
                <a:ext cx="28" cy="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5" name="Rectangle 317"/>
              <p:cNvSpPr>
                <a:spLocks noChangeArrowheads="1"/>
              </p:cNvSpPr>
              <p:nvPr/>
            </p:nvSpPr>
            <p:spPr bwMode="auto">
              <a:xfrm>
                <a:off x="2042" y="1982"/>
                <a:ext cx="38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W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66" name="Rectangle 318"/>
              <p:cNvSpPr>
                <a:spLocks noChangeArrowheads="1"/>
              </p:cNvSpPr>
              <p:nvPr/>
            </p:nvSpPr>
            <p:spPr bwMode="auto">
              <a:xfrm>
                <a:off x="1822" y="1932"/>
                <a:ext cx="27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67" name="Rectangle 319"/>
              <p:cNvSpPr>
                <a:spLocks noChangeArrowheads="1"/>
              </p:cNvSpPr>
              <p:nvPr/>
            </p:nvSpPr>
            <p:spPr bwMode="auto">
              <a:xfrm>
                <a:off x="1569" y="1882"/>
                <a:ext cx="29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U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68" name="Freeform 320"/>
              <p:cNvSpPr>
                <a:spLocks/>
              </p:cNvSpPr>
              <p:nvPr/>
            </p:nvSpPr>
            <p:spPr bwMode="auto">
              <a:xfrm>
                <a:off x="2592" y="1875"/>
                <a:ext cx="204" cy="203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3" y="79"/>
                  </a:cxn>
                  <a:cxn ang="0">
                    <a:pos x="8" y="60"/>
                  </a:cxn>
                  <a:cxn ang="0">
                    <a:pos x="20" y="41"/>
                  </a:cxn>
                  <a:cxn ang="0">
                    <a:pos x="34" y="25"/>
                  </a:cxn>
                  <a:cxn ang="0">
                    <a:pos x="51" y="12"/>
                  </a:cxn>
                  <a:cxn ang="0">
                    <a:pos x="70" y="4"/>
                  </a:cxn>
                  <a:cxn ang="0">
                    <a:pos x="91" y="0"/>
                  </a:cxn>
                  <a:cxn ang="0">
                    <a:pos x="113" y="0"/>
                  </a:cxn>
                  <a:cxn ang="0">
                    <a:pos x="134" y="4"/>
                  </a:cxn>
                  <a:cxn ang="0">
                    <a:pos x="153" y="12"/>
                  </a:cxn>
                  <a:cxn ang="0">
                    <a:pos x="171" y="25"/>
                  </a:cxn>
                  <a:cxn ang="0">
                    <a:pos x="185" y="41"/>
                  </a:cxn>
                  <a:cxn ang="0">
                    <a:pos x="195" y="60"/>
                  </a:cxn>
                  <a:cxn ang="0">
                    <a:pos x="202" y="79"/>
                  </a:cxn>
                  <a:cxn ang="0">
                    <a:pos x="204" y="101"/>
                  </a:cxn>
                  <a:cxn ang="0">
                    <a:pos x="202" y="122"/>
                  </a:cxn>
                  <a:cxn ang="0">
                    <a:pos x="195" y="143"/>
                  </a:cxn>
                  <a:cxn ang="0">
                    <a:pos x="185" y="161"/>
                  </a:cxn>
                  <a:cxn ang="0">
                    <a:pos x="171" y="177"/>
                  </a:cxn>
                  <a:cxn ang="0">
                    <a:pos x="153" y="190"/>
                  </a:cxn>
                  <a:cxn ang="0">
                    <a:pos x="134" y="198"/>
                  </a:cxn>
                  <a:cxn ang="0">
                    <a:pos x="113" y="203"/>
                  </a:cxn>
                  <a:cxn ang="0">
                    <a:pos x="91" y="203"/>
                  </a:cxn>
                  <a:cxn ang="0">
                    <a:pos x="70" y="198"/>
                  </a:cxn>
                  <a:cxn ang="0">
                    <a:pos x="51" y="190"/>
                  </a:cxn>
                  <a:cxn ang="0">
                    <a:pos x="34" y="177"/>
                  </a:cxn>
                  <a:cxn ang="0">
                    <a:pos x="20" y="161"/>
                  </a:cxn>
                  <a:cxn ang="0">
                    <a:pos x="8" y="143"/>
                  </a:cxn>
                  <a:cxn ang="0">
                    <a:pos x="3" y="122"/>
                  </a:cxn>
                  <a:cxn ang="0">
                    <a:pos x="0" y="101"/>
                  </a:cxn>
                </a:cxnLst>
                <a:rect l="0" t="0" r="r" b="b"/>
                <a:pathLst>
                  <a:path w="204" h="203">
                    <a:moveTo>
                      <a:pt x="0" y="101"/>
                    </a:moveTo>
                    <a:lnTo>
                      <a:pt x="3" y="79"/>
                    </a:lnTo>
                    <a:lnTo>
                      <a:pt x="8" y="60"/>
                    </a:lnTo>
                    <a:lnTo>
                      <a:pt x="20" y="41"/>
                    </a:lnTo>
                    <a:lnTo>
                      <a:pt x="34" y="25"/>
                    </a:lnTo>
                    <a:lnTo>
                      <a:pt x="51" y="12"/>
                    </a:lnTo>
                    <a:lnTo>
                      <a:pt x="70" y="4"/>
                    </a:lnTo>
                    <a:lnTo>
                      <a:pt x="91" y="0"/>
                    </a:lnTo>
                    <a:lnTo>
                      <a:pt x="113" y="0"/>
                    </a:lnTo>
                    <a:lnTo>
                      <a:pt x="134" y="4"/>
                    </a:lnTo>
                    <a:lnTo>
                      <a:pt x="153" y="12"/>
                    </a:lnTo>
                    <a:lnTo>
                      <a:pt x="171" y="25"/>
                    </a:lnTo>
                    <a:lnTo>
                      <a:pt x="185" y="41"/>
                    </a:lnTo>
                    <a:lnTo>
                      <a:pt x="195" y="60"/>
                    </a:lnTo>
                    <a:lnTo>
                      <a:pt x="202" y="79"/>
                    </a:lnTo>
                    <a:lnTo>
                      <a:pt x="204" y="101"/>
                    </a:lnTo>
                    <a:lnTo>
                      <a:pt x="202" y="122"/>
                    </a:lnTo>
                    <a:lnTo>
                      <a:pt x="195" y="143"/>
                    </a:lnTo>
                    <a:lnTo>
                      <a:pt x="185" y="161"/>
                    </a:lnTo>
                    <a:lnTo>
                      <a:pt x="171" y="177"/>
                    </a:lnTo>
                    <a:lnTo>
                      <a:pt x="153" y="190"/>
                    </a:lnTo>
                    <a:lnTo>
                      <a:pt x="134" y="198"/>
                    </a:lnTo>
                    <a:lnTo>
                      <a:pt x="113" y="203"/>
                    </a:lnTo>
                    <a:lnTo>
                      <a:pt x="91" y="203"/>
                    </a:lnTo>
                    <a:lnTo>
                      <a:pt x="70" y="198"/>
                    </a:lnTo>
                    <a:lnTo>
                      <a:pt x="51" y="190"/>
                    </a:lnTo>
                    <a:lnTo>
                      <a:pt x="34" y="177"/>
                    </a:lnTo>
                    <a:lnTo>
                      <a:pt x="20" y="161"/>
                    </a:lnTo>
                    <a:lnTo>
                      <a:pt x="8" y="143"/>
                    </a:lnTo>
                    <a:lnTo>
                      <a:pt x="3" y="122"/>
                    </a:lnTo>
                    <a:lnTo>
                      <a:pt x="0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9" name="Rectangle 321"/>
              <p:cNvSpPr>
                <a:spLocks noChangeArrowheads="1"/>
              </p:cNvSpPr>
              <p:nvPr/>
            </p:nvSpPr>
            <p:spPr bwMode="auto">
              <a:xfrm>
                <a:off x="2662" y="1940"/>
                <a:ext cx="63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7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IM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70" name="Rectangle 322"/>
              <p:cNvSpPr>
                <a:spLocks noChangeArrowheads="1"/>
              </p:cNvSpPr>
              <p:nvPr/>
            </p:nvSpPr>
            <p:spPr bwMode="auto">
              <a:xfrm>
                <a:off x="1080" y="2620"/>
                <a:ext cx="980" cy="59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1" name="Line 323"/>
              <p:cNvSpPr>
                <a:spLocks noChangeShapeType="1"/>
              </p:cNvSpPr>
              <p:nvPr/>
            </p:nvSpPr>
            <p:spPr bwMode="auto">
              <a:xfrm flipH="1">
                <a:off x="938" y="1642"/>
                <a:ext cx="108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2" name="Line 324"/>
              <p:cNvSpPr>
                <a:spLocks noChangeShapeType="1"/>
              </p:cNvSpPr>
              <p:nvPr/>
            </p:nvSpPr>
            <p:spPr bwMode="auto">
              <a:xfrm flipH="1">
                <a:off x="942" y="2338"/>
                <a:ext cx="108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3" name="Line 325"/>
              <p:cNvSpPr>
                <a:spLocks noChangeShapeType="1"/>
              </p:cNvSpPr>
              <p:nvPr/>
            </p:nvSpPr>
            <p:spPr bwMode="auto">
              <a:xfrm>
                <a:off x="1011" y="1867"/>
                <a:ext cx="9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4" name="Freeform 326"/>
              <p:cNvSpPr>
                <a:spLocks/>
              </p:cNvSpPr>
              <p:nvPr/>
            </p:nvSpPr>
            <p:spPr bwMode="auto">
              <a:xfrm>
                <a:off x="1010" y="1894"/>
                <a:ext cx="96" cy="12"/>
              </a:xfrm>
              <a:custGeom>
                <a:avLst/>
                <a:gdLst/>
                <a:ahLst/>
                <a:cxnLst>
                  <a:cxn ang="0">
                    <a:pos x="0" y="12"/>
                  </a:cxn>
                  <a:cxn ang="0">
                    <a:pos x="18" y="4"/>
                  </a:cxn>
                  <a:cxn ang="0">
                    <a:pos x="38" y="0"/>
                  </a:cxn>
                  <a:cxn ang="0">
                    <a:pos x="58" y="0"/>
                  </a:cxn>
                  <a:cxn ang="0">
                    <a:pos x="78" y="4"/>
                  </a:cxn>
                  <a:cxn ang="0">
                    <a:pos x="96" y="12"/>
                  </a:cxn>
                </a:cxnLst>
                <a:rect l="0" t="0" r="r" b="b"/>
                <a:pathLst>
                  <a:path w="96" h="12">
                    <a:moveTo>
                      <a:pt x="0" y="12"/>
                    </a:moveTo>
                    <a:lnTo>
                      <a:pt x="18" y="4"/>
                    </a:lnTo>
                    <a:lnTo>
                      <a:pt x="38" y="0"/>
                    </a:lnTo>
                    <a:lnTo>
                      <a:pt x="58" y="0"/>
                    </a:lnTo>
                    <a:lnTo>
                      <a:pt x="78" y="4"/>
                    </a:lnTo>
                    <a:lnTo>
                      <a:pt x="96" y="12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5" name="Line 327"/>
              <p:cNvSpPr>
                <a:spLocks noChangeShapeType="1"/>
              </p:cNvSpPr>
              <p:nvPr/>
            </p:nvSpPr>
            <p:spPr bwMode="auto">
              <a:xfrm>
                <a:off x="1011" y="2074"/>
                <a:ext cx="9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6" name="Freeform 328"/>
              <p:cNvSpPr>
                <a:spLocks/>
              </p:cNvSpPr>
              <p:nvPr/>
            </p:nvSpPr>
            <p:spPr bwMode="auto">
              <a:xfrm>
                <a:off x="1010" y="2102"/>
                <a:ext cx="96" cy="11"/>
              </a:xfrm>
              <a:custGeom>
                <a:avLst/>
                <a:gdLst/>
                <a:ahLst/>
                <a:cxnLst>
                  <a:cxn ang="0">
                    <a:pos x="0" y="11"/>
                  </a:cxn>
                  <a:cxn ang="0">
                    <a:pos x="18" y="4"/>
                  </a:cxn>
                  <a:cxn ang="0">
                    <a:pos x="38" y="0"/>
                  </a:cxn>
                  <a:cxn ang="0">
                    <a:pos x="58" y="0"/>
                  </a:cxn>
                  <a:cxn ang="0">
                    <a:pos x="78" y="4"/>
                  </a:cxn>
                  <a:cxn ang="0">
                    <a:pos x="96" y="11"/>
                  </a:cxn>
                </a:cxnLst>
                <a:rect l="0" t="0" r="r" b="b"/>
                <a:pathLst>
                  <a:path w="96" h="11">
                    <a:moveTo>
                      <a:pt x="0" y="11"/>
                    </a:moveTo>
                    <a:lnTo>
                      <a:pt x="18" y="4"/>
                    </a:lnTo>
                    <a:lnTo>
                      <a:pt x="38" y="0"/>
                    </a:lnTo>
                    <a:lnTo>
                      <a:pt x="58" y="0"/>
                    </a:lnTo>
                    <a:lnTo>
                      <a:pt x="78" y="4"/>
                    </a:lnTo>
                    <a:lnTo>
                      <a:pt x="96" y="1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7" name="Line 329"/>
              <p:cNvSpPr>
                <a:spLocks noChangeShapeType="1"/>
              </p:cNvSpPr>
              <p:nvPr/>
            </p:nvSpPr>
            <p:spPr bwMode="auto">
              <a:xfrm flipV="1">
                <a:off x="1058" y="1642"/>
                <a:ext cx="1" cy="22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8" name="Line 330"/>
              <p:cNvSpPr>
                <a:spLocks noChangeShapeType="1"/>
              </p:cNvSpPr>
              <p:nvPr/>
            </p:nvSpPr>
            <p:spPr bwMode="auto">
              <a:xfrm flipV="1">
                <a:off x="1058" y="2105"/>
                <a:ext cx="1" cy="23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9" name="Line 331"/>
              <p:cNvSpPr>
                <a:spLocks noChangeShapeType="1"/>
              </p:cNvSpPr>
              <p:nvPr/>
            </p:nvSpPr>
            <p:spPr bwMode="auto">
              <a:xfrm>
                <a:off x="1058" y="1898"/>
                <a:ext cx="1" cy="17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0" name="Rectangle 332"/>
              <p:cNvSpPr>
                <a:spLocks noChangeArrowheads="1"/>
              </p:cNvSpPr>
              <p:nvPr/>
            </p:nvSpPr>
            <p:spPr bwMode="auto">
              <a:xfrm>
                <a:off x="658" y="1596"/>
                <a:ext cx="280" cy="775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1" name="Freeform 333"/>
              <p:cNvSpPr>
                <a:spLocks/>
              </p:cNvSpPr>
              <p:nvPr/>
            </p:nvSpPr>
            <p:spPr bwMode="auto">
              <a:xfrm>
                <a:off x="746" y="1931"/>
                <a:ext cx="106" cy="96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106" y="96"/>
                  </a:cxn>
                  <a:cxn ang="0">
                    <a:pos x="53" y="0"/>
                  </a:cxn>
                  <a:cxn ang="0">
                    <a:pos x="0" y="96"/>
                  </a:cxn>
                </a:cxnLst>
                <a:rect l="0" t="0" r="r" b="b"/>
                <a:pathLst>
                  <a:path w="106" h="96">
                    <a:moveTo>
                      <a:pt x="0" y="96"/>
                    </a:moveTo>
                    <a:lnTo>
                      <a:pt x="106" y="96"/>
                    </a:lnTo>
                    <a:lnTo>
                      <a:pt x="53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2" name="Line 334"/>
              <p:cNvSpPr>
                <a:spLocks noChangeShapeType="1"/>
              </p:cNvSpPr>
              <p:nvPr/>
            </p:nvSpPr>
            <p:spPr bwMode="auto">
              <a:xfrm flipH="1">
                <a:off x="738" y="1931"/>
                <a:ext cx="12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3" name="Line 335"/>
              <p:cNvSpPr>
                <a:spLocks noChangeShapeType="1"/>
              </p:cNvSpPr>
              <p:nvPr/>
            </p:nvSpPr>
            <p:spPr bwMode="auto">
              <a:xfrm>
                <a:off x="799" y="1866"/>
                <a:ext cx="1" cy="23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4" name="Freeform 336"/>
              <p:cNvSpPr>
                <a:spLocks/>
              </p:cNvSpPr>
              <p:nvPr/>
            </p:nvSpPr>
            <p:spPr bwMode="auto">
              <a:xfrm>
                <a:off x="252" y="1882"/>
                <a:ext cx="204" cy="202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2" y="80"/>
                  </a:cxn>
                  <a:cxn ang="0">
                    <a:pos x="9" y="60"/>
                  </a:cxn>
                  <a:cxn ang="0">
                    <a:pos x="19" y="41"/>
                  </a:cxn>
                  <a:cxn ang="0">
                    <a:pos x="33" y="26"/>
                  </a:cxn>
                  <a:cxn ang="0">
                    <a:pos x="50" y="13"/>
                  </a:cxn>
                  <a:cxn ang="0">
                    <a:pos x="70" y="4"/>
                  </a:cxn>
                  <a:cxn ang="0">
                    <a:pos x="91" y="0"/>
                  </a:cxn>
                  <a:cxn ang="0">
                    <a:pos x="113" y="0"/>
                  </a:cxn>
                  <a:cxn ang="0">
                    <a:pos x="133" y="4"/>
                  </a:cxn>
                  <a:cxn ang="0">
                    <a:pos x="153" y="13"/>
                  </a:cxn>
                  <a:cxn ang="0">
                    <a:pos x="170" y="26"/>
                  </a:cxn>
                  <a:cxn ang="0">
                    <a:pos x="184" y="41"/>
                  </a:cxn>
                  <a:cxn ang="0">
                    <a:pos x="196" y="60"/>
                  </a:cxn>
                  <a:cxn ang="0">
                    <a:pos x="201" y="80"/>
                  </a:cxn>
                  <a:cxn ang="0">
                    <a:pos x="204" y="101"/>
                  </a:cxn>
                  <a:cxn ang="0">
                    <a:pos x="201" y="123"/>
                  </a:cxn>
                  <a:cxn ang="0">
                    <a:pos x="196" y="143"/>
                  </a:cxn>
                  <a:cxn ang="0">
                    <a:pos x="184" y="161"/>
                  </a:cxn>
                  <a:cxn ang="0">
                    <a:pos x="170" y="177"/>
                  </a:cxn>
                  <a:cxn ang="0">
                    <a:pos x="153" y="190"/>
                  </a:cxn>
                  <a:cxn ang="0">
                    <a:pos x="133" y="199"/>
                  </a:cxn>
                  <a:cxn ang="0">
                    <a:pos x="113" y="202"/>
                  </a:cxn>
                  <a:cxn ang="0">
                    <a:pos x="91" y="202"/>
                  </a:cxn>
                  <a:cxn ang="0">
                    <a:pos x="70" y="199"/>
                  </a:cxn>
                  <a:cxn ang="0">
                    <a:pos x="50" y="190"/>
                  </a:cxn>
                  <a:cxn ang="0">
                    <a:pos x="33" y="177"/>
                  </a:cxn>
                  <a:cxn ang="0">
                    <a:pos x="19" y="161"/>
                  </a:cxn>
                  <a:cxn ang="0">
                    <a:pos x="9" y="143"/>
                  </a:cxn>
                  <a:cxn ang="0">
                    <a:pos x="2" y="123"/>
                  </a:cxn>
                  <a:cxn ang="0">
                    <a:pos x="0" y="101"/>
                  </a:cxn>
                </a:cxnLst>
                <a:rect l="0" t="0" r="r" b="b"/>
                <a:pathLst>
                  <a:path w="204" h="202">
                    <a:moveTo>
                      <a:pt x="0" y="101"/>
                    </a:moveTo>
                    <a:lnTo>
                      <a:pt x="2" y="80"/>
                    </a:lnTo>
                    <a:lnTo>
                      <a:pt x="9" y="60"/>
                    </a:lnTo>
                    <a:lnTo>
                      <a:pt x="19" y="41"/>
                    </a:lnTo>
                    <a:lnTo>
                      <a:pt x="33" y="26"/>
                    </a:lnTo>
                    <a:lnTo>
                      <a:pt x="50" y="13"/>
                    </a:lnTo>
                    <a:lnTo>
                      <a:pt x="70" y="4"/>
                    </a:lnTo>
                    <a:lnTo>
                      <a:pt x="91" y="0"/>
                    </a:lnTo>
                    <a:lnTo>
                      <a:pt x="113" y="0"/>
                    </a:lnTo>
                    <a:lnTo>
                      <a:pt x="133" y="4"/>
                    </a:lnTo>
                    <a:lnTo>
                      <a:pt x="153" y="13"/>
                    </a:lnTo>
                    <a:lnTo>
                      <a:pt x="170" y="26"/>
                    </a:lnTo>
                    <a:lnTo>
                      <a:pt x="184" y="41"/>
                    </a:lnTo>
                    <a:lnTo>
                      <a:pt x="196" y="60"/>
                    </a:lnTo>
                    <a:lnTo>
                      <a:pt x="201" y="80"/>
                    </a:lnTo>
                    <a:lnTo>
                      <a:pt x="204" y="101"/>
                    </a:lnTo>
                    <a:lnTo>
                      <a:pt x="201" y="123"/>
                    </a:lnTo>
                    <a:lnTo>
                      <a:pt x="196" y="143"/>
                    </a:lnTo>
                    <a:lnTo>
                      <a:pt x="184" y="161"/>
                    </a:lnTo>
                    <a:lnTo>
                      <a:pt x="170" y="177"/>
                    </a:lnTo>
                    <a:lnTo>
                      <a:pt x="153" y="190"/>
                    </a:lnTo>
                    <a:lnTo>
                      <a:pt x="133" y="199"/>
                    </a:lnTo>
                    <a:lnTo>
                      <a:pt x="113" y="202"/>
                    </a:lnTo>
                    <a:lnTo>
                      <a:pt x="91" y="202"/>
                    </a:lnTo>
                    <a:lnTo>
                      <a:pt x="70" y="199"/>
                    </a:lnTo>
                    <a:lnTo>
                      <a:pt x="50" y="190"/>
                    </a:lnTo>
                    <a:lnTo>
                      <a:pt x="33" y="177"/>
                    </a:lnTo>
                    <a:lnTo>
                      <a:pt x="19" y="161"/>
                    </a:lnTo>
                    <a:lnTo>
                      <a:pt x="9" y="143"/>
                    </a:lnTo>
                    <a:lnTo>
                      <a:pt x="2" y="123"/>
                    </a:lnTo>
                    <a:lnTo>
                      <a:pt x="0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5" name="Line 337"/>
              <p:cNvSpPr>
                <a:spLocks noChangeShapeType="1"/>
              </p:cNvSpPr>
              <p:nvPr/>
            </p:nvSpPr>
            <p:spPr bwMode="auto">
              <a:xfrm flipH="1">
                <a:off x="456" y="1983"/>
                <a:ext cx="20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6" name="Line 338"/>
              <p:cNvSpPr>
                <a:spLocks noChangeShapeType="1"/>
              </p:cNvSpPr>
              <p:nvPr/>
            </p:nvSpPr>
            <p:spPr bwMode="auto">
              <a:xfrm flipH="1">
                <a:off x="429" y="1915"/>
                <a:ext cx="22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7" name="Line 339"/>
              <p:cNvSpPr>
                <a:spLocks noChangeShapeType="1"/>
              </p:cNvSpPr>
              <p:nvPr/>
            </p:nvSpPr>
            <p:spPr bwMode="auto">
              <a:xfrm flipH="1">
                <a:off x="429" y="2051"/>
                <a:ext cx="22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8" name="Freeform 340"/>
              <p:cNvSpPr>
                <a:spLocks/>
              </p:cNvSpPr>
              <p:nvPr/>
            </p:nvSpPr>
            <p:spPr bwMode="auto">
              <a:xfrm>
                <a:off x="313" y="1946"/>
                <a:ext cx="41" cy="11"/>
              </a:xfrm>
              <a:custGeom>
                <a:avLst/>
                <a:gdLst/>
                <a:ahLst/>
                <a:cxnLst>
                  <a:cxn ang="0">
                    <a:pos x="41" y="11"/>
                  </a:cxn>
                  <a:cxn ang="0">
                    <a:pos x="34" y="4"/>
                  </a:cxn>
                  <a:cxn ang="0">
                    <a:pos x="25" y="0"/>
                  </a:cxn>
                  <a:cxn ang="0">
                    <a:pos x="16" y="0"/>
                  </a:cxn>
                  <a:cxn ang="0">
                    <a:pos x="7" y="4"/>
                  </a:cxn>
                  <a:cxn ang="0">
                    <a:pos x="0" y="11"/>
                  </a:cxn>
                </a:cxnLst>
                <a:rect l="0" t="0" r="r" b="b"/>
                <a:pathLst>
                  <a:path w="41" h="11">
                    <a:moveTo>
                      <a:pt x="41" y="11"/>
                    </a:moveTo>
                    <a:lnTo>
                      <a:pt x="34" y="4"/>
                    </a:lnTo>
                    <a:lnTo>
                      <a:pt x="25" y="0"/>
                    </a:lnTo>
                    <a:lnTo>
                      <a:pt x="16" y="0"/>
                    </a:lnTo>
                    <a:lnTo>
                      <a:pt x="7" y="4"/>
                    </a:lnTo>
                    <a:lnTo>
                      <a:pt x="0" y="1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9" name="Freeform 341"/>
              <p:cNvSpPr>
                <a:spLocks/>
              </p:cNvSpPr>
              <p:nvPr/>
            </p:nvSpPr>
            <p:spPr bwMode="auto">
              <a:xfrm>
                <a:off x="354" y="1957"/>
                <a:ext cx="41" cy="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5"/>
                  </a:cxn>
                  <a:cxn ang="0">
                    <a:pos x="20" y="8"/>
                  </a:cxn>
                  <a:cxn ang="0">
                    <a:pos x="31" y="5"/>
                  </a:cxn>
                  <a:cxn ang="0">
                    <a:pos x="41" y="0"/>
                  </a:cxn>
                </a:cxnLst>
                <a:rect l="0" t="0" r="r" b="b"/>
                <a:pathLst>
                  <a:path w="41" h="8">
                    <a:moveTo>
                      <a:pt x="0" y="0"/>
                    </a:moveTo>
                    <a:lnTo>
                      <a:pt x="9" y="5"/>
                    </a:lnTo>
                    <a:lnTo>
                      <a:pt x="20" y="8"/>
                    </a:lnTo>
                    <a:lnTo>
                      <a:pt x="31" y="5"/>
                    </a:lnTo>
                    <a:lnTo>
                      <a:pt x="41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0" name="Freeform 342"/>
              <p:cNvSpPr>
                <a:spLocks/>
              </p:cNvSpPr>
              <p:nvPr/>
            </p:nvSpPr>
            <p:spPr bwMode="auto">
              <a:xfrm>
                <a:off x="313" y="1973"/>
                <a:ext cx="41" cy="10"/>
              </a:xfrm>
              <a:custGeom>
                <a:avLst/>
                <a:gdLst/>
                <a:ahLst/>
                <a:cxnLst>
                  <a:cxn ang="0">
                    <a:pos x="41" y="10"/>
                  </a:cxn>
                  <a:cxn ang="0">
                    <a:pos x="34" y="4"/>
                  </a:cxn>
                  <a:cxn ang="0">
                    <a:pos x="25" y="0"/>
                  </a:cxn>
                  <a:cxn ang="0">
                    <a:pos x="16" y="0"/>
                  </a:cxn>
                  <a:cxn ang="0">
                    <a:pos x="7" y="4"/>
                  </a:cxn>
                  <a:cxn ang="0">
                    <a:pos x="0" y="10"/>
                  </a:cxn>
                </a:cxnLst>
                <a:rect l="0" t="0" r="r" b="b"/>
                <a:pathLst>
                  <a:path w="41" h="10">
                    <a:moveTo>
                      <a:pt x="41" y="10"/>
                    </a:moveTo>
                    <a:lnTo>
                      <a:pt x="34" y="4"/>
                    </a:lnTo>
                    <a:lnTo>
                      <a:pt x="25" y="0"/>
                    </a:lnTo>
                    <a:lnTo>
                      <a:pt x="16" y="0"/>
                    </a:lnTo>
                    <a:lnTo>
                      <a:pt x="7" y="4"/>
                    </a:lnTo>
                    <a:lnTo>
                      <a:pt x="0" y="1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1" name="Freeform 343"/>
              <p:cNvSpPr>
                <a:spLocks/>
              </p:cNvSpPr>
              <p:nvPr/>
            </p:nvSpPr>
            <p:spPr bwMode="auto">
              <a:xfrm>
                <a:off x="354" y="1983"/>
                <a:ext cx="41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7"/>
                  </a:cxn>
                  <a:cxn ang="0">
                    <a:pos x="20" y="9"/>
                  </a:cxn>
                  <a:cxn ang="0">
                    <a:pos x="31" y="7"/>
                  </a:cxn>
                  <a:cxn ang="0">
                    <a:pos x="41" y="0"/>
                  </a:cxn>
                </a:cxnLst>
                <a:rect l="0" t="0" r="r" b="b"/>
                <a:pathLst>
                  <a:path w="41" h="9">
                    <a:moveTo>
                      <a:pt x="0" y="0"/>
                    </a:moveTo>
                    <a:lnTo>
                      <a:pt x="9" y="7"/>
                    </a:lnTo>
                    <a:lnTo>
                      <a:pt x="20" y="9"/>
                    </a:lnTo>
                    <a:lnTo>
                      <a:pt x="31" y="7"/>
                    </a:lnTo>
                    <a:lnTo>
                      <a:pt x="41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2" name="Freeform 344"/>
              <p:cNvSpPr>
                <a:spLocks/>
              </p:cNvSpPr>
              <p:nvPr/>
            </p:nvSpPr>
            <p:spPr bwMode="auto">
              <a:xfrm>
                <a:off x="313" y="2000"/>
                <a:ext cx="41" cy="11"/>
              </a:xfrm>
              <a:custGeom>
                <a:avLst/>
                <a:gdLst/>
                <a:ahLst/>
                <a:cxnLst>
                  <a:cxn ang="0">
                    <a:pos x="41" y="11"/>
                  </a:cxn>
                  <a:cxn ang="0">
                    <a:pos x="34" y="4"/>
                  </a:cxn>
                  <a:cxn ang="0">
                    <a:pos x="25" y="0"/>
                  </a:cxn>
                  <a:cxn ang="0">
                    <a:pos x="16" y="0"/>
                  </a:cxn>
                  <a:cxn ang="0">
                    <a:pos x="7" y="4"/>
                  </a:cxn>
                  <a:cxn ang="0">
                    <a:pos x="0" y="11"/>
                  </a:cxn>
                </a:cxnLst>
                <a:rect l="0" t="0" r="r" b="b"/>
                <a:pathLst>
                  <a:path w="41" h="11">
                    <a:moveTo>
                      <a:pt x="41" y="11"/>
                    </a:moveTo>
                    <a:lnTo>
                      <a:pt x="34" y="4"/>
                    </a:lnTo>
                    <a:lnTo>
                      <a:pt x="25" y="0"/>
                    </a:lnTo>
                    <a:lnTo>
                      <a:pt x="16" y="0"/>
                    </a:lnTo>
                    <a:lnTo>
                      <a:pt x="7" y="4"/>
                    </a:lnTo>
                    <a:lnTo>
                      <a:pt x="0" y="1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3" name="Freeform 345"/>
              <p:cNvSpPr>
                <a:spLocks/>
              </p:cNvSpPr>
              <p:nvPr/>
            </p:nvSpPr>
            <p:spPr bwMode="auto">
              <a:xfrm>
                <a:off x="354" y="2011"/>
                <a:ext cx="41" cy="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5"/>
                  </a:cxn>
                  <a:cxn ang="0">
                    <a:pos x="20" y="8"/>
                  </a:cxn>
                  <a:cxn ang="0">
                    <a:pos x="31" y="5"/>
                  </a:cxn>
                  <a:cxn ang="0">
                    <a:pos x="41" y="0"/>
                  </a:cxn>
                </a:cxnLst>
                <a:rect l="0" t="0" r="r" b="b"/>
                <a:pathLst>
                  <a:path w="41" h="8">
                    <a:moveTo>
                      <a:pt x="0" y="0"/>
                    </a:moveTo>
                    <a:lnTo>
                      <a:pt x="9" y="5"/>
                    </a:lnTo>
                    <a:lnTo>
                      <a:pt x="20" y="8"/>
                    </a:lnTo>
                    <a:lnTo>
                      <a:pt x="31" y="5"/>
                    </a:lnTo>
                    <a:lnTo>
                      <a:pt x="41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4" name="Line 346"/>
              <p:cNvSpPr>
                <a:spLocks noChangeShapeType="1"/>
              </p:cNvSpPr>
              <p:nvPr/>
            </p:nvSpPr>
            <p:spPr bwMode="auto">
              <a:xfrm>
                <a:off x="2514" y="1929"/>
                <a:ext cx="7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5" name="Line 347"/>
              <p:cNvSpPr>
                <a:spLocks noChangeShapeType="1"/>
              </p:cNvSpPr>
              <p:nvPr/>
            </p:nvSpPr>
            <p:spPr bwMode="auto">
              <a:xfrm>
                <a:off x="2272" y="1929"/>
                <a:ext cx="7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6" name="Freeform 348"/>
              <p:cNvSpPr>
                <a:spLocks/>
              </p:cNvSpPr>
              <p:nvPr/>
            </p:nvSpPr>
            <p:spPr bwMode="auto">
              <a:xfrm>
                <a:off x="2350" y="1908"/>
                <a:ext cx="164" cy="21"/>
              </a:xfrm>
              <a:custGeom>
                <a:avLst/>
                <a:gdLst/>
                <a:ahLst/>
                <a:cxnLst>
                  <a:cxn ang="0">
                    <a:pos x="0" y="21"/>
                  </a:cxn>
                  <a:cxn ang="0">
                    <a:pos x="3" y="13"/>
                  </a:cxn>
                  <a:cxn ang="0">
                    <a:pos x="6" y="7"/>
                  </a:cxn>
                  <a:cxn ang="0">
                    <a:pos x="13" y="2"/>
                  </a:cxn>
                  <a:cxn ang="0">
                    <a:pos x="21" y="0"/>
                  </a:cxn>
                  <a:cxn ang="0">
                    <a:pos x="29" y="2"/>
                  </a:cxn>
                  <a:cxn ang="0">
                    <a:pos x="35" y="7"/>
                  </a:cxn>
                  <a:cxn ang="0">
                    <a:pos x="39" y="13"/>
                  </a:cxn>
                  <a:cxn ang="0">
                    <a:pos x="42" y="21"/>
                  </a:cxn>
                  <a:cxn ang="0">
                    <a:pos x="43" y="13"/>
                  </a:cxn>
                  <a:cxn ang="0">
                    <a:pos x="48" y="7"/>
                  </a:cxn>
                  <a:cxn ang="0">
                    <a:pos x="54" y="2"/>
                  </a:cxn>
                  <a:cxn ang="0">
                    <a:pos x="61" y="0"/>
                  </a:cxn>
                  <a:cxn ang="0">
                    <a:pos x="69" y="2"/>
                  </a:cxn>
                  <a:cxn ang="0">
                    <a:pos x="76" y="7"/>
                  </a:cxn>
                  <a:cxn ang="0">
                    <a:pos x="81" y="13"/>
                  </a:cxn>
                  <a:cxn ang="0">
                    <a:pos x="82" y="21"/>
                  </a:cxn>
                  <a:cxn ang="0">
                    <a:pos x="83" y="13"/>
                  </a:cxn>
                  <a:cxn ang="0">
                    <a:pos x="88" y="7"/>
                  </a:cxn>
                  <a:cxn ang="0">
                    <a:pos x="95" y="2"/>
                  </a:cxn>
                  <a:cxn ang="0">
                    <a:pos x="103" y="0"/>
                  </a:cxn>
                  <a:cxn ang="0">
                    <a:pos x="111" y="2"/>
                  </a:cxn>
                  <a:cxn ang="0">
                    <a:pos x="117" y="7"/>
                  </a:cxn>
                  <a:cxn ang="0">
                    <a:pos x="121" y="13"/>
                  </a:cxn>
                  <a:cxn ang="0">
                    <a:pos x="124" y="21"/>
                  </a:cxn>
                  <a:cxn ang="0">
                    <a:pos x="125" y="13"/>
                  </a:cxn>
                  <a:cxn ang="0">
                    <a:pos x="129" y="7"/>
                  </a:cxn>
                  <a:cxn ang="0">
                    <a:pos x="135" y="2"/>
                  </a:cxn>
                  <a:cxn ang="0">
                    <a:pos x="143" y="0"/>
                  </a:cxn>
                  <a:cxn ang="0">
                    <a:pos x="151" y="2"/>
                  </a:cxn>
                  <a:cxn ang="0">
                    <a:pos x="158" y="7"/>
                  </a:cxn>
                  <a:cxn ang="0">
                    <a:pos x="163" y="13"/>
                  </a:cxn>
                  <a:cxn ang="0">
                    <a:pos x="164" y="21"/>
                  </a:cxn>
                </a:cxnLst>
                <a:rect l="0" t="0" r="r" b="b"/>
                <a:pathLst>
                  <a:path w="164" h="21">
                    <a:moveTo>
                      <a:pt x="0" y="21"/>
                    </a:moveTo>
                    <a:lnTo>
                      <a:pt x="3" y="13"/>
                    </a:lnTo>
                    <a:lnTo>
                      <a:pt x="6" y="7"/>
                    </a:lnTo>
                    <a:lnTo>
                      <a:pt x="13" y="2"/>
                    </a:lnTo>
                    <a:lnTo>
                      <a:pt x="21" y="0"/>
                    </a:lnTo>
                    <a:lnTo>
                      <a:pt x="29" y="2"/>
                    </a:lnTo>
                    <a:lnTo>
                      <a:pt x="35" y="7"/>
                    </a:lnTo>
                    <a:lnTo>
                      <a:pt x="39" y="13"/>
                    </a:lnTo>
                    <a:lnTo>
                      <a:pt x="42" y="21"/>
                    </a:lnTo>
                    <a:lnTo>
                      <a:pt x="43" y="13"/>
                    </a:lnTo>
                    <a:lnTo>
                      <a:pt x="48" y="7"/>
                    </a:lnTo>
                    <a:lnTo>
                      <a:pt x="54" y="2"/>
                    </a:lnTo>
                    <a:lnTo>
                      <a:pt x="61" y="0"/>
                    </a:lnTo>
                    <a:lnTo>
                      <a:pt x="69" y="2"/>
                    </a:lnTo>
                    <a:lnTo>
                      <a:pt x="76" y="7"/>
                    </a:lnTo>
                    <a:lnTo>
                      <a:pt x="81" y="13"/>
                    </a:lnTo>
                    <a:lnTo>
                      <a:pt x="82" y="21"/>
                    </a:lnTo>
                    <a:lnTo>
                      <a:pt x="83" y="13"/>
                    </a:lnTo>
                    <a:lnTo>
                      <a:pt x="88" y="7"/>
                    </a:lnTo>
                    <a:lnTo>
                      <a:pt x="95" y="2"/>
                    </a:lnTo>
                    <a:lnTo>
                      <a:pt x="103" y="0"/>
                    </a:lnTo>
                    <a:lnTo>
                      <a:pt x="111" y="2"/>
                    </a:lnTo>
                    <a:lnTo>
                      <a:pt x="117" y="7"/>
                    </a:lnTo>
                    <a:lnTo>
                      <a:pt x="121" y="13"/>
                    </a:lnTo>
                    <a:lnTo>
                      <a:pt x="124" y="21"/>
                    </a:lnTo>
                    <a:lnTo>
                      <a:pt x="125" y="13"/>
                    </a:lnTo>
                    <a:lnTo>
                      <a:pt x="129" y="7"/>
                    </a:lnTo>
                    <a:lnTo>
                      <a:pt x="135" y="2"/>
                    </a:lnTo>
                    <a:lnTo>
                      <a:pt x="143" y="0"/>
                    </a:lnTo>
                    <a:lnTo>
                      <a:pt x="151" y="2"/>
                    </a:lnTo>
                    <a:lnTo>
                      <a:pt x="158" y="7"/>
                    </a:lnTo>
                    <a:lnTo>
                      <a:pt x="163" y="13"/>
                    </a:lnTo>
                    <a:lnTo>
                      <a:pt x="164" y="2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7" name="Line 349"/>
              <p:cNvSpPr>
                <a:spLocks noChangeShapeType="1"/>
              </p:cNvSpPr>
              <p:nvPr/>
            </p:nvSpPr>
            <p:spPr bwMode="auto">
              <a:xfrm>
                <a:off x="2513" y="1983"/>
                <a:ext cx="79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8" name="Line 350"/>
              <p:cNvSpPr>
                <a:spLocks noChangeShapeType="1"/>
              </p:cNvSpPr>
              <p:nvPr/>
            </p:nvSpPr>
            <p:spPr bwMode="auto">
              <a:xfrm>
                <a:off x="2271" y="1983"/>
                <a:ext cx="79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9" name="Freeform 351"/>
              <p:cNvSpPr>
                <a:spLocks/>
              </p:cNvSpPr>
              <p:nvPr/>
            </p:nvSpPr>
            <p:spPr bwMode="auto">
              <a:xfrm>
                <a:off x="2350" y="1963"/>
                <a:ext cx="163" cy="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13"/>
                  </a:cxn>
                  <a:cxn ang="0">
                    <a:pos x="6" y="6"/>
                  </a:cxn>
                  <a:cxn ang="0">
                    <a:pos x="13" y="2"/>
                  </a:cxn>
                  <a:cxn ang="0">
                    <a:pos x="20" y="0"/>
                  </a:cxn>
                  <a:cxn ang="0">
                    <a:pos x="28" y="2"/>
                  </a:cxn>
                  <a:cxn ang="0">
                    <a:pos x="35" y="6"/>
                  </a:cxn>
                  <a:cxn ang="0">
                    <a:pos x="39" y="13"/>
                  </a:cxn>
                  <a:cxn ang="0">
                    <a:pos x="41" y="20"/>
                  </a:cxn>
                  <a:cxn ang="0">
                    <a:pos x="42" y="13"/>
                  </a:cxn>
                  <a:cxn ang="0">
                    <a:pos x="46" y="6"/>
                  </a:cxn>
                  <a:cxn ang="0">
                    <a:pos x="53" y="2"/>
                  </a:cxn>
                  <a:cxn ang="0">
                    <a:pos x="61" y="0"/>
                  </a:cxn>
                  <a:cxn ang="0">
                    <a:pos x="69" y="2"/>
                  </a:cxn>
                  <a:cxn ang="0">
                    <a:pos x="75" y="6"/>
                  </a:cxn>
                  <a:cxn ang="0">
                    <a:pos x="80" y="13"/>
                  </a:cxn>
                  <a:cxn ang="0">
                    <a:pos x="81" y="20"/>
                  </a:cxn>
                  <a:cxn ang="0">
                    <a:pos x="83" y="13"/>
                  </a:cxn>
                  <a:cxn ang="0">
                    <a:pos x="88" y="6"/>
                  </a:cxn>
                  <a:cxn ang="0">
                    <a:pos x="94" y="2"/>
                  </a:cxn>
                  <a:cxn ang="0">
                    <a:pos x="102" y="0"/>
                  </a:cxn>
                  <a:cxn ang="0">
                    <a:pos x="110" y="2"/>
                  </a:cxn>
                  <a:cxn ang="0">
                    <a:pos x="117" y="6"/>
                  </a:cxn>
                  <a:cxn ang="0">
                    <a:pos x="121" y="13"/>
                  </a:cxn>
                  <a:cxn ang="0">
                    <a:pos x="122" y="20"/>
                  </a:cxn>
                  <a:cxn ang="0">
                    <a:pos x="124" y="13"/>
                  </a:cxn>
                  <a:cxn ang="0">
                    <a:pos x="128" y="6"/>
                  </a:cxn>
                  <a:cxn ang="0">
                    <a:pos x="135" y="2"/>
                  </a:cxn>
                  <a:cxn ang="0">
                    <a:pos x="143" y="0"/>
                  </a:cxn>
                  <a:cxn ang="0">
                    <a:pos x="150" y="2"/>
                  </a:cxn>
                  <a:cxn ang="0">
                    <a:pos x="157" y="6"/>
                  </a:cxn>
                  <a:cxn ang="0">
                    <a:pos x="162" y="13"/>
                  </a:cxn>
                  <a:cxn ang="0">
                    <a:pos x="163" y="20"/>
                  </a:cxn>
                </a:cxnLst>
                <a:rect l="0" t="0" r="r" b="b"/>
                <a:pathLst>
                  <a:path w="163" h="20">
                    <a:moveTo>
                      <a:pt x="0" y="20"/>
                    </a:moveTo>
                    <a:lnTo>
                      <a:pt x="1" y="13"/>
                    </a:lnTo>
                    <a:lnTo>
                      <a:pt x="6" y="6"/>
                    </a:lnTo>
                    <a:lnTo>
                      <a:pt x="13" y="2"/>
                    </a:lnTo>
                    <a:lnTo>
                      <a:pt x="20" y="0"/>
                    </a:lnTo>
                    <a:lnTo>
                      <a:pt x="28" y="2"/>
                    </a:lnTo>
                    <a:lnTo>
                      <a:pt x="35" y="6"/>
                    </a:lnTo>
                    <a:lnTo>
                      <a:pt x="39" y="13"/>
                    </a:lnTo>
                    <a:lnTo>
                      <a:pt x="41" y="20"/>
                    </a:lnTo>
                    <a:lnTo>
                      <a:pt x="42" y="13"/>
                    </a:lnTo>
                    <a:lnTo>
                      <a:pt x="46" y="6"/>
                    </a:lnTo>
                    <a:lnTo>
                      <a:pt x="53" y="2"/>
                    </a:lnTo>
                    <a:lnTo>
                      <a:pt x="61" y="0"/>
                    </a:lnTo>
                    <a:lnTo>
                      <a:pt x="69" y="2"/>
                    </a:lnTo>
                    <a:lnTo>
                      <a:pt x="75" y="6"/>
                    </a:lnTo>
                    <a:lnTo>
                      <a:pt x="80" y="13"/>
                    </a:lnTo>
                    <a:lnTo>
                      <a:pt x="81" y="20"/>
                    </a:lnTo>
                    <a:lnTo>
                      <a:pt x="83" y="13"/>
                    </a:lnTo>
                    <a:lnTo>
                      <a:pt x="88" y="6"/>
                    </a:lnTo>
                    <a:lnTo>
                      <a:pt x="94" y="2"/>
                    </a:lnTo>
                    <a:lnTo>
                      <a:pt x="102" y="0"/>
                    </a:lnTo>
                    <a:lnTo>
                      <a:pt x="110" y="2"/>
                    </a:lnTo>
                    <a:lnTo>
                      <a:pt x="117" y="6"/>
                    </a:lnTo>
                    <a:lnTo>
                      <a:pt x="121" y="13"/>
                    </a:lnTo>
                    <a:lnTo>
                      <a:pt x="122" y="20"/>
                    </a:lnTo>
                    <a:lnTo>
                      <a:pt x="124" y="13"/>
                    </a:lnTo>
                    <a:lnTo>
                      <a:pt x="128" y="6"/>
                    </a:lnTo>
                    <a:lnTo>
                      <a:pt x="135" y="2"/>
                    </a:lnTo>
                    <a:lnTo>
                      <a:pt x="143" y="0"/>
                    </a:lnTo>
                    <a:lnTo>
                      <a:pt x="150" y="2"/>
                    </a:lnTo>
                    <a:lnTo>
                      <a:pt x="157" y="6"/>
                    </a:lnTo>
                    <a:lnTo>
                      <a:pt x="162" y="13"/>
                    </a:lnTo>
                    <a:lnTo>
                      <a:pt x="163" y="2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0" name="Line 352"/>
              <p:cNvSpPr>
                <a:spLocks noChangeShapeType="1"/>
              </p:cNvSpPr>
              <p:nvPr/>
            </p:nvSpPr>
            <p:spPr bwMode="auto">
              <a:xfrm>
                <a:off x="2512" y="2038"/>
                <a:ext cx="80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1" name="Line 353"/>
              <p:cNvSpPr>
                <a:spLocks noChangeShapeType="1"/>
              </p:cNvSpPr>
              <p:nvPr/>
            </p:nvSpPr>
            <p:spPr bwMode="auto">
              <a:xfrm>
                <a:off x="2267" y="2038"/>
                <a:ext cx="8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2" name="Freeform 354"/>
              <p:cNvSpPr>
                <a:spLocks/>
              </p:cNvSpPr>
              <p:nvPr/>
            </p:nvSpPr>
            <p:spPr bwMode="auto">
              <a:xfrm>
                <a:off x="2348" y="2018"/>
                <a:ext cx="164" cy="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12"/>
                  </a:cxn>
                  <a:cxn ang="0">
                    <a:pos x="6" y="5"/>
                  </a:cxn>
                  <a:cxn ang="0">
                    <a:pos x="13" y="1"/>
                  </a:cxn>
                  <a:cxn ang="0">
                    <a:pos x="21" y="0"/>
                  </a:cxn>
                  <a:cxn ang="0">
                    <a:pos x="28" y="1"/>
                  </a:cxn>
                  <a:cxn ang="0">
                    <a:pos x="35" y="5"/>
                  </a:cxn>
                  <a:cxn ang="0">
                    <a:pos x="39" y="12"/>
                  </a:cxn>
                  <a:cxn ang="0">
                    <a:pos x="40" y="20"/>
                  </a:cxn>
                  <a:cxn ang="0">
                    <a:pos x="43" y="12"/>
                  </a:cxn>
                  <a:cxn ang="0">
                    <a:pos x="46" y="5"/>
                  </a:cxn>
                  <a:cxn ang="0">
                    <a:pos x="53" y="1"/>
                  </a:cxn>
                  <a:cxn ang="0">
                    <a:pos x="61" y="0"/>
                  </a:cxn>
                  <a:cxn ang="0">
                    <a:pos x="69" y="1"/>
                  </a:cxn>
                  <a:cxn ang="0">
                    <a:pos x="76" y="5"/>
                  </a:cxn>
                  <a:cxn ang="0">
                    <a:pos x="79" y="12"/>
                  </a:cxn>
                  <a:cxn ang="0">
                    <a:pos x="82" y="20"/>
                  </a:cxn>
                  <a:cxn ang="0">
                    <a:pos x="83" y="12"/>
                  </a:cxn>
                  <a:cxn ang="0">
                    <a:pos x="88" y="5"/>
                  </a:cxn>
                  <a:cxn ang="0">
                    <a:pos x="94" y="1"/>
                  </a:cxn>
                  <a:cxn ang="0">
                    <a:pos x="101" y="0"/>
                  </a:cxn>
                  <a:cxn ang="0">
                    <a:pos x="109" y="1"/>
                  </a:cxn>
                  <a:cxn ang="0">
                    <a:pos x="116" y="5"/>
                  </a:cxn>
                  <a:cxn ang="0">
                    <a:pos x="121" y="12"/>
                  </a:cxn>
                  <a:cxn ang="0">
                    <a:pos x="122" y="20"/>
                  </a:cxn>
                  <a:cxn ang="0">
                    <a:pos x="123" y="12"/>
                  </a:cxn>
                  <a:cxn ang="0">
                    <a:pos x="128" y="5"/>
                  </a:cxn>
                  <a:cxn ang="0">
                    <a:pos x="135" y="1"/>
                  </a:cxn>
                  <a:cxn ang="0">
                    <a:pos x="143" y="0"/>
                  </a:cxn>
                  <a:cxn ang="0">
                    <a:pos x="151" y="1"/>
                  </a:cxn>
                  <a:cxn ang="0">
                    <a:pos x="157" y="5"/>
                  </a:cxn>
                  <a:cxn ang="0">
                    <a:pos x="161" y="12"/>
                  </a:cxn>
                  <a:cxn ang="0">
                    <a:pos x="164" y="20"/>
                  </a:cxn>
                </a:cxnLst>
                <a:rect l="0" t="0" r="r" b="b"/>
                <a:pathLst>
                  <a:path w="164" h="20">
                    <a:moveTo>
                      <a:pt x="0" y="20"/>
                    </a:moveTo>
                    <a:lnTo>
                      <a:pt x="1" y="12"/>
                    </a:lnTo>
                    <a:lnTo>
                      <a:pt x="6" y="5"/>
                    </a:lnTo>
                    <a:lnTo>
                      <a:pt x="13" y="1"/>
                    </a:lnTo>
                    <a:lnTo>
                      <a:pt x="21" y="0"/>
                    </a:lnTo>
                    <a:lnTo>
                      <a:pt x="28" y="1"/>
                    </a:lnTo>
                    <a:lnTo>
                      <a:pt x="35" y="5"/>
                    </a:lnTo>
                    <a:lnTo>
                      <a:pt x="39" y="12"/>
                    </a:lnTo>
                    <a:lnTo>
                      <a:pt x="40" y="20"/>
                    </a:lnTo>
                    <a:lnTo>
                      <a:pt x="43" y="12"/>
                    </a:lnTo>
                    <a:lnTo>
                      <a:pt x="46" y="5"/>
                    </a:lnTo>
                    <a:lnTo>
                      <a:pt x="53" y="1"/>
                    </a:lnTo>
                    <a:lnTo>
                      <a:pt x="61" y="0"/>
                    </a:lnTo>
                    <a:lnTo>
                      <a:pt x="69" y="1"/>
                    </a:lnTo>
                    <a:lnTo>
                      <a:pt x="76" y="5"/>
                    </a:lnTo>
                    <a:lnTo>
                      <a:pt x="79" y="12"/>
                    </a:lnTo>
                    <a:lnTo>
                      <a:pt x="82" y="20"/>
                    </a:lnTo>
                    <a:lnTo>
                      <a:pt x="83" y="12"/>
                    </a:lnTo>
                    <a:lnTo>
                      <a:pt x="88" y="5"/>
                    </a:lnTo>
                    <a:lnTo>
                      <a:pt x="94" y="1"/>
                    </a:lnTo>
                    <a:lnTo>
                      <a:pt x="101" y="0"/>
                    </a:lnTo>
                    <a:lnTo>
                      <a:pt x="109" y="1"/>
                    </a:lnTo>
                    <a:lnTo>
                      <a:pt x="116" y="5"/>
                    </a:lnTo>
                    <a:lnTo>
                      <a:pt x="121" y="12"/>
                    </a:lnTo>
                    <a:lnTo>
                      <a:pt x="122" y="20"/>
                    </a:lnTo>
                    <a:lnTo>
                      <a:pt x="123" y="12"/>
                    </a:lnTo>
                    <a:lnTo>
                      <a:pt x="128" y="5"/>
                    </a:lnTo>
                    <a:lnTo>
                      <a:pt x="135" y="1"/>
                    </a:lnTo>
                    <a:lnTo>
                      <a:pt x="143" y="0"/>
                    </a:lnTo>
                    <a:lnTo>
                      <a:pt x="151" y="1"/>
                    </a:lnTo>
                    <a:lnTo>
                      <a:pt x="157" y="5"/>
                    </a:lnTo>
                    <a:lnTo>
                      <a:pt x="161" y="12"/>
                    </a:lnTo>
                    <a:lnTo>
                      <a:pt x="164" y="2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3" name="Line 355"/>
              <p:cNvSpPr>
                <a:spLocks noChangeShapeType="1"/>
              </p:cNvSpPr>
              <p:nvPr/>
            </p:nvSpPr>
            <p:spPr bwMode="auto">
              <a:xfrm>
                <a:off x="1557" y="1929"/>
                <a:ext cx="71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4" name="Line 356"/>
              <p:cNvSpPr>
                <a:spLocks noChangeShapeType="1"/>
              </p:cNvSpPr>
              <p:nvPr/>
            </p:nvSpPr>
            <p:spPr bwMode="auto">
              <a:xfrm>
                <a:off x="2024" y="2038"/>
                <a:ext cx="24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5" name="Line 357"/>
              <p:cNvSpPr>
                <a:spLocks noChangeShapeType="1"/>
              </p:cNvSpPr>
              <p:nvPr/>
            </p:nvSpPr>
            <p:spPr bwMode="auto">
              <a:xfrm>
                <a:off x="1787" y="1983"/>
                <a:ext cx="48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6" name="Freeform 358"/>
              <p:cNvSpPr>
                <a:spLocks/>
              </p:cNvSpPr>
              <p:nvPr/>
            </p:nvSpPr>
            <p:spPr bwMode="auto">
              <a:xfrm>
                <a:off x="1049" y="2329"/>
                <a:ext cx="19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1" y="3"/>
                  </a:cxn>
                  <a:cxn ang="0">
                    <a:pos x="7" y="0"/>
                  </a:cxn>
                  <a:cxn ang="0">
                    <a:pos x="12" y="0"/>
                  </a:cxn>
                  <a:cxn ang="0">
                    <a:pos x="18" y="3"/>
                  </a:cxn>
                  <a:cxn ang="0">
                    <a:pos x="19" y="9"/>
                  </a:cxn>
                  <a:cxn ang="0">
                    <a:pos x="18" y="15"/>
                  </a:cxn>
                  <a:cxn ang="0">
                    <a:pos x="12" y="19"/>
                  </a:cxn>
                  <a:cxn ang="0">
                    <a:pos x="7" y="19"/>
                  </a:cxn>
                  <a:cxn ang="0">
                    <a:pos x="1" y="15"/>
                  </a:cxn>
                  <a:cxn ang="0">
                    <a:pos x="0" y="9"/>
                  </a:cxn>
                </a:cxnLst>
                <a:rect l="0" t="0" r="r" b="b"/>
                <a:pathLst>
                  <a:path w="19" h="19">
                    <a:moveTo>
                      <a:pt x="0" y="9"/>
                    </a:moveTo>
                    <a:lnTo>
                      <a:pt x="1" y="3"/>
                    </a:lnTo>
                    <a:lnTo>
                      <a:pt x="7" y="0"/>
                    </a:lnTo>
                    <a:lnTo>
                      <a:pt x="12" y="0"/>
                    </a:lnTo>
                    <a:lnTo>
                      <a:pt x="18" y="3"/>
                    </a:lnTo>
                    <a:lnTo>
                      <a:pt x="19" y="9"/>
                    </a:lnTo>
                    <a:lnTo>
                      <a:pt x="18" y="15"/>
                    </a:lnTo>
                    <a:lnTo>
                      <a:pt x="12" y="19"/>
                    </a:lnTo>
                    <a:lnTo>
                      <a:pt x="7" y="19"/>
                    </a:lnTo>
                    <a:lnTo>
                      <a:pt x="1" y="1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7" name="Freeform 359"/>
              <p:cNvSpPr>
                <a:spLocks/>
              </p:cNvSpPr>
              <p:nvPr/>
            </p:nvSpPr>
            <p:spPr bwMode="auto">
              <a:xfrm>
                <a:off x="1318" y="1936"/>
                <a:ext cx="21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3" y="3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19" y="3"/>
                  </a:cxn>
                  <a:cxn ang="0">
                    <a:pos x="21" y="9"/>
                  </a:cxn>
                  <a:cxn ang="0">
                    <a:pos x="19" y="15"/>
                  </a:cxn>
                  <a:cxn ang="0">
                    <a:pos x="13" y="19"/>
                  </a:cxn>
                  <a:cxn ang="0">
                    <a:pos x="7" y="19"/>
                  </a:cxn>
                  <a:cxn ang="0">
                    <a:pos x="3" y="15"/>
                  </a:cxn>
                  <a:cxn ang="0">
                    <a:pos x="0" y="9"/>
                  </a:cxn>
                </a:cxnLst>
                <a:rect l="0" t="0" r="r" b="b"/>
                <a:pathLst>
                  <a:path w="21" h="19">
                    <a:moveTo>
                      <a:pt x="0" y="9"/>
                    </a:moveTo>
                    <a:lnTo>
                      <a:pt x="3" y="3"/>
                    </a:lnTo>
                    <a:lnTo>
                      <a:pt x="7" y="0"/>
                    </a:lnTo>
                    <a:lnTo>
                      <a:pt x="13" y="0"/>
                    </a:lnTo>
                    <a:lnTo>
                      <a:pt x="19" y="3"/>
                    </a:lnTo>
                    <a:lnTo>
                      <a:pt x="21" y="9"/>
                    </a:lnTo>
                    <a:lnTo>
                      <a:pt x="19" y="15"/>
                    </a:lnTo>
                    <a:lnTo>
                      <a:pt x="13" y="19"/>
                    </a:lnTo>
                    <a:lnTo>
                      <a:pt x="7" y="19"/>
                    </a:lnTo>
                    <a:lnTo>
                      <a:pt x="3" y="1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8" name="Freeform 360"/>
              <p:cNvSpPr>
                <a:spLocks/>
              </p:cNvSpPr>
              <p:nvPr/>
            </p:nvSpPr>
            <p:spPr bwMode="auto">
              <a:xfrm>
                <a:off x="1049" y="1633"/>
                <a:ext cx="19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1" y="3"/>
                  </a:cxn>
                  <a:cxn ang="0">
                    <a:pos x="7" y="0"/>
                  </a:cxn>
                  <a:cxn ang="0">
                    <a:pos x="12" y="0"/>
                  </a:cxn>
                  <a:cxn ang="0">
                    <a:pos x="18" y="3"/>
                  </a:cxn>
                  <a:cxn ang="0">
                    <a:pos x="19" y="9"/>
                  </a:cxn>
                  <a:cxn ang="0">
                    <a:pos x="18" y="16"/>
                  </a:cxn>
                  <a:cxn ang="0">
                    <a:pos x="12" y="19"/>
                  </a:cxn>
                  <a:cxn ang="0">
                    <a:pos x="7" y="19"/>
                  </a:cxn>
                  <a:cxn ang="0">
                    <a:pos x="1" y="16"/>
                  </a:cxn>
                  <a:cxn ang="0">
                    <a:pos x="0" y="9"/>
                  </a:cxn>
                </a:cxnLst>
                <a:rect l="0" t="0" r="r" b="b"/>
                <a:pathLst>
                  <a:path w="19" h="19">
                    <a:moveTo>
                      <a:pt x="0" y="9"/>
                    </a:moveTo>
                    <a:lnTo>
                      <a:pt x="1" y="3"/>
                    </a:lnTo>
                    <a:lnTo>
                      <a:pt x="7" y="0"/>
                    </a:lnTo>
                    <a:lnTo>
                      <a:pt x="12" y="0"/>
                    </a:lnTo>
                    <a:lnTo>
                      <a:pt x="18" y="3"/>
                    </a:lnTo>
                    <a:lnTo>
                      <a:pt x="19" y="9"/>
                    </a:lnTo>
                    <a:lnTo>
                      <a:pt x="18" y="16"/>
                    </a:lnTo>
                    <a:lnTo>
                      <a:pt x="12" y="19"/>
                    </a:lnTo>
                    <a:lnTo>
                      <a:pt x="7" y="19"/>
                    </a:lnTo>
                    <a:lnTo>
                      <a:pt x="1" y="1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9" name="Line 361"/>
              <p:cNvSpPr>
                <a:spLocks noChangeShapeType="1"/>
              </p:cNvSpPr>
              <p:nvPr/>
            </p:nvSpPr>
            <p:spPr bwMode="auto">
              <a:xfrm>
                <a:off x="2592" y="1929"/>
                <a:ext cx="1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0" name="Line 362"/>
              <p:cNvSpPr>
                <a:spLocks noChangeShapeType="1"/>
              </p:cNvSpPr>
              <p:nvPr/>
            </p:nvSpPr>
            <p:spPr bwMode="auto">
              <a:xfrm>
                <a:off x="2592" y="2038"/>
                <a:ext cx="2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1" name="Line 363"/>
              <p:cNvSpPr>
                <a:spLocks noChangeShapeType="1"/>
              </p:cNvSpPr>
              <p:nvPr/>
            </p:nvSpPr>
            <p:spPr bwMode="auto">
              <a:xfrm>
                <a:off x="1331" y="2283"/>
                <a:ext cx="1" cy="5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2" name="Line 364"/>
              <p:cNvSpPr>
                <a:spLocks noChangeShapeType="1"/>
              </p:cNvSpPr>
              <p:nvPr/>
            </p:nvSpPr>
            <p:spPr bwMode="auto">
              <a:xfrm flipV="1">
                <a:off x="1331" y="2076"/>
                <a:ext cx="1" cy="5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3" name="Line 365"/>
              <p:cNvSpPr>
                <a:spLocks noChangeShapeType="1"/>
              </p:cNvSpPr>
              <p:nvPr/>
            </p:nvSpPr>
            <p:spPr bwMode="auto">
              <a:xfrm flipV="1">
                <a:off x="1251" y="2171"/>
                <a:ext cx="1" cy="8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4" name="Line 366"/>
              <p:cNvSpPr>
                <a:spLocks noChangeShapeType="1"/>
              </p:cNvSpPr>
              <p:nvPr/>
            </p:nvSpPr>
            <p:spPr bwMode="auto">
              <a:xfrm flipV="1">
                <a:off x="1270" y="2143"/>
                <a:ext cx="1" cy="14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5" name="Line 367"/>
              <p:cNvSpPr>
                <a:spLocks noChangeShapeType="1"/>
              </p:cNvSpPr>
              <p:nvPr/>
            </p:nvSpPr>
            <p:spPr bwMode="auto">
              <a:xfrm flipH="1" flipV="1">
                <a:off x="1270" y="2238"/>
                <a:ext cx="41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6" name="Freeform 368"/>
              <p:cNvSpPr>
                <a:spLocks/>
              </p:cNvSpPr>
              <p:nvPr/>
            </p:nvSpPr>
            <p:spPr bwMode="auto">
              <a:xfrm>
                <a:off x="1299" y="2252"/>
                <a:ext cx="34" cy="31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34" y="31"/>
                  </a:cxn>
                  <a:cxn ang="0">
                    <a:pos x="0" y="25"/>
                  </a:cxn>
                  <a:cxn ang="0">
                    <a:pos x="17" y="0"/>
                  </a:cxn>
                </a:cxnLst>
                <a:rect l="0" t="0" r="r" b="b"/>
                <a:pathLst>
                  <a:path w="34" h="31">
                    <a:moveTo>
                      <a:pt x="17" y="0"/>
                    </a:moveTo>
                    <a:lnTo>
                      <a:pt x="34" y="31"/>
                    </a:lnTo>
                    <a:lnTo>
                      <a:pt x="0" y="25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7" name="Line 369"/>
              <p:cNvSpPr>
                <a:spLocks noChangeShapeType="1"/>
              </p:cNvSpPr>
              <p:nvPr/>
            </p:nvSpPr>
            <p:spPr bwMode="auto">
              <a:xfrm flipV="1">
                <a:off x="1270" y="2132"/>
                <a:ext cx="61" cy="5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8" name="Freeform 370"/>
              <p:cNvSpPr>
                <a:spLocks/>
              </p:cNvSpPr>
              <p:nvPr/>
            </p:nvSpPr>
            <p:spPr bwMode="auto">
              <a:xfrm>
                <a:off x="1316" y="1794"/>
                <a:ext cx="30" cy="28"/>
              </a:xfrm>
              <a:custGeom>
                <a:avLst/>
                <a:gdLst/>
                <a:ahLst/>
                <a:cxnLst>
                  <a:cxn ang="0">
                    <a:pos x="0" y="28"/>
                  </a:cxn>
                  <a:cxn ang="0">
                    <a:pos x="30" y="28"/>
                  </a:cxn>
                  <a:cxn ang="0">
                    <a:pos x="15" y="0"/>
                  </a:cxn>
                  <a:cxn ang="0">
                    <a:pos x="0" y="28"/>
                  </a:cxn>
                </a:cxnLst>
                <a:rect l="0" t="0" r="r" b="b"/>
                <a:pathLst>
                  <a:path w="30" h="28">
                    <a:moveTo>
                      <a:pt x="0" y="28"/>
                    </a:moveTo>
                    <a:lnTo>
                      <a:pt x="30" y="28"/>
                    </a:lnTo>
                    <a:lnTo>
                      <a:pt x="15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9" name="Line 371"/>
              <p:cNvSpPr>
                <a:spLocks noChangeShapeType="1"/>
              </p:cNvSpPr>
              <p:nvPr/>
            </p:nvSpPr>
            <p:spPr bwMode="auto">
              <a:xfrm flipH="1">
                <a:off x="1227" y="2171"/>
                <a:ext cx="2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0" name="Line 372"/>
              <p:cNvSpPr>
                <a:spLocks noChangeShapeType="1"/>
              </p:cNvSpPr>
              <p:nvPr/>
            </p:nvSpPr>
            <p:spPr bwMode="auto">
              <a:xfrm flipH="1">
                <a:off x="1311" y="1794"/>
                <a:ext cx="4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1" name="Freeform 373"/>
              <p:cNvSpPr>
                <a:spLocks/>
              </p:cNvSpPr>
              <p:nvPr/>
            </p:nvSpPr>
            <p:spPr bwMode="auto">
              <a:xfrm>
                <a:off x="1321" y="2327"/>
                <a:ext cx="20" cy="19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2" y="4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18" y="4"/>
                  </a:cxn>
                  <a:cxn ang="0">
                    <a:pos x="20" y="10"/>
                  </a:cxn>
                  <a:cxn ang="0">
                    <a:pos x="18" y="16"/>
                  </a:cxn>
                  <a:cxn ang="0">
                    <a:pos x="13" y="19"/>
                  </a:cxn>
                  <a:cxn ang="0">
                    <a:pos x="7" y="19"/>
                  </a:cxn>
                  <a:cxn ang="0">
                    <a:pos x="2" y="16"/>
                  </a:cxn>
                  <a:cxn ang="0">
                    <a:pos x="0" y="10"/>
                  </a:cxn>
                </a:cxnLst>
                <a:rect l="0" t="0" r="r" b="b"/>
                <a:pathLst>
                  <a:path w="20" h="19">
                    <a:moveTo>
                      <a:pt x="0" y="10"/>
                    </a:moveTo>
                    <a:lnTo>
                      <a:pt x="2" y="4"/>
                    </a:lnTo>
                    <a:lnTo>
                      <a:pt x="7" y="0"/>
                    </a:lnTo>
                    <a:lnTo>
                      <a:pt x="13" y="0"/>
                    </a:lnTo>
                    <a:lnTo>
                      <a:pt x="18" y="4"/>
                    </a:lnTo>
                    <a:lnTo>
                      <a:pt x="20" y="10"/>
                    </a:lnTo>
                    <a:lnTo>
                      <a:pt x="18" y="16"/>
                    </a:lnTo>
                    <a:lnTo>
                      <a:pt x="13" y="19"/>
                    </a:lnTo>
                    <a:lnTo>
                      <a:pt x="7" y="19"/>
                    </a:lnTo>
                    <a:lnTo>
                      <a:pt x="2" y="1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2" name="Line 374"/>
              <p:cNvSpPr>
                <a:spLocks noChangeShapeType="1"/>
              </p:cNvSpPr>
              <p:nvPr/>
            </p:nvSpPr>
            <p:spPr bwMode="auto">
              <a:xfrm>
                <a:off x="1331" y="1822"/>
                <a:ext cx="1" cy="25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3" name="Line 375"/>
              <p:cNvSpPr>
                <a:spLocks noChangeShapeType="1"/>
              </p:cNvSpPr>
              <p:nvPr/>
            </p:nvSpPr>
            <p:spPr bwMode="auto">
              <a:xfrm flipV="1">
                <a:off x="1331" y="1645"/>
                <a:ext cx="1" cy="14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4" name="Rectangle 376"/>
              <p:cNvSpPr>
                <a:spLocks noChangeArrowheads="1"/>
              </p:cNvSpPr>
              <p:nvPr/>
            </p:nvSpPr>
            <p:spPr bwMode="auto">
              <a:xfrm>
                <a:off x="1152" y="1746"/>
                <a:ext cx="45" cy="123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5" name="Line 377"/>
              <p:cNvSpPr>
                <a:spLocks noChangeShapeType="1"/>
              </p:cNvSpPr>
              <p:nvPr/>
            </p:nvSpPr>
            <p:spPr bwMode="auto">
              <a:xfrm flipV="1">
                <a:off x="1175" y="1645"/>
                <a:ext cx="1" cy="10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6" name="Freeform 378"/>
              <p:cNvSpPr>
                <a:spLocks/>
              </p:cNvSpPr>
              <p:nvPr/>
            </p:nvSpPr>
            <p:spPr bwMode="auto">
              <a:xfrm>
                <a:off x="1175" y="1869"/>
                <a:ext cx="156" cy="7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8"/>
                  </a:cxn>
                  <a:cxn ang="0">
                    <a:pos x="156" y="78"/>
                  </a:cxn>
                </a:cxnLst>
                <a:rect l="0" t="0" r="r" b="b"/>
                <a:pathLst>
                  <a:path w="156" h="78">
                    <a:moveTo>
                      <a:pt x="0" y="0"/>
                    </a:moveTo>
                    <a:lnTo>
                      <a:pt x="0" y="78"/>
                    </a:lnTo>
                    <a:lnTo>
                      <a:pt x="156" y="78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7" name="Freeform 379"/>
              <p:cNvSpPr>
                <a:spLocks/>
              </p:cNvSpPr>
              <p:nvPr/>
            </p:nvSpPr>
            <p:spPr bwMode="auto">
              <a:xfrm>
                <a:off x="1164" y="1634"/>
                <a:ext cx="21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2" y="3"/>
                  </a:cxn>
                  <a:cxn ang="0">
                    <a:pos x="7" y="0"/>
                  </a:cxn>
                  <a:cxn ang="0">
                    <a:pos x="14" y="0"/>
                  </a:cxn>
                  <a:cxn ang="0">
                    <a:pos x="18" y="3"/>
                  </a:cxn>
                  <a:cxn ang="0">
                    <a:pos x="21" y="9"/>
                  </a:cxn>
                  <a:cxn ang="0">
                    <a:pos x="18" y="16"/>
                  </a:cxn>
                  <a:cxn ang="0">
                    <a:pos x="14" y="19"/>
                  </a:cxn>
                  <a:cxn ang="0">
                    <a:pos x="7" y="19"/>
                  </a:cxn>
                  <a:cxn ang="0">
                    <a:pos x="2" y="16"/>
                  </a:cxn>
                  <a:cxn ang="0">
                    <a:pos x="0" y="9"/>
                  </a:cxn>
                </a:cxnLst>
                <a:rect l="0" t="0" r="r" b="b"/>
                <a:pathLst>
                  <a:path w="21" h="19">
                    <a:moveTo>
                      <a:pt x="0" y="9"/>
                    </a:moveTo>
                    <a:lnTo>
                      <a:pt x="2" y="3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18" y="3"/>
                    </a:lnTo>
                    <a:lnTo>
                      <a:pt x="21" y="9"/>
                    </a:lnTo>
                    <a:lnTo>
                      <a:pt x="18" y="16"/>
                    </a:lnTo>
                    <a:lnTo>
                      <a:pt x="14" y="19"/>
                    </a:lnTo>
                    <a:lnTo>
                      <a:pt x="7" y="19"/>
                    </a:lnTo>
                    <a:lnTo>
                      <a:pt x="2" y="1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8" name="Line 380"/>
              <p:cNvSpPr>
                <a:spLocks noChangeShapeType="1"/>
              </p:cNvSpPr>
              <p:nvPr/>
            </p:nvSpPr>
            <p:spPr bwMode="auto">
              <a:xfrm flipV="1">
                <a:off x="1944" y="1733"/>
                <a:ext cx="1" cy="8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9" name="Line 381"/>
              <p:cNvSpPr>
                <a:spLocks noChangeShapeType="1"/>
              </p:cNvSpPr>
              <p:nvPr/>
            </p:nvSpPr>
            <p:spPr bwMode="auto">
              <a:xfrm flipV="1">
                <a:off x="1962" y="1705"/>
                <a:ext cx="1" cy="14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0" name="Line 382"/>
              <p:cNvSpPr>
                <a:spLocks noChangeShapeType="1"/>
              </p:cNvSpPr>
              <p:nvPr/>
            </p:nvSpPr>
            <p:spPr bwMode="auto">
              <a:xfrm flipH="1" flipV="1">
                <a:off x="1962" y="1800"/>
                <a:ext cx="40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1" name="Freeform 383"/>
              <p:cNvSpPr>
                <a:spLocks/>
              </p:cNvSpPr>
              <p:nvPr/>
            </p:nvSpPr>
            <p:spPr bwMode="auto">
              <a:xfrm>
                <a:off x="1990" y="1814"/>
                <a:ext cx="34" cy="3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4" y="31"/>
                  </a:cxn>
                  <a:cxn ang="0">
                    <a:pos x="0" y="25"/>
                  </a:cxn>
                  <a:cxn ang="0">
                    <a:pos x="18" y="0"/>
                  </a:cxn>
                </a:cxnLst>
                <a:rect l="0" t="0" r="r" b="b"/>
                <a:pathLst>
                  <a:path w="34" h="31">
                    <a:moveTo>
                      <a:pt x="18" y="0"/>
                    </a:moveTo>
                    <a:lnTo>
                      <a:pt x="34" y="31"/>
                    </a:lnTo>
                    <a:lnTo>
                      <a:pt x="0" y="25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2" name="Line 384"/>
              <p:cNvSpPr>
                <a:spLocks noChangeShapeType="1"/>
              </p:cNvSpPr>
              <p:nvPr/>
            </p:nvSpPr>
            <p:spPr bwMode="auto">
              <a:xfrm flipV="1">
                <a:off x="1962" y="1695"/>
                <a:ext cx="61" cy="4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3" name="Freeform 385"/>
              <p:cNvSpPr>
                <a:spLocks/>
              </p:cNvSpPr>
              <p:nvPr/>
            </p:nvSpPr>
            <p:spPr bwMode="auto">
              <a:xfrm>
                <a:off x="2054" y="1762"/>
                <a:ext cx="30" cy="27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30" y="27"/>
                  </a:cxn>
                  <a:cxn ang="0">
                    <a:pos x="15" y="0"/>
                  </a:cxn>
                  <a:cxn ang="0">
                    <a:pos x="0" y="27"/>
                  </a:cxn>
                </a:cxnLst>
                <a:rect l="0" t="0" r="r" b="b"/>
                <a:pathLst>
                  <a:path w="30" h="27">
                    <a:moveTo>
                      <a:pt x="0" y="27"/>
                    </a:moveTo>
                    <a:lnTo>
                      <a:pt x="30" y="27"/>
                    </a:lnTo>
                    <a:lnTo>
                      <a:pt x="15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4" name="Line 386"/>
              <p:cNvSpPr>
                <a:spLocks noChangeShapeType="1"/>
              </p:cNvSpPr>
              <p:nvPr/>
            </p:nvSpPr>
            <p:spPr bwMode="auto">
              <a:xfrm flipH="1">
                <a:off x="1918" y="1733"/>
                <a:ext cx="2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5" name="Line 387"/>
              <p:cNvSpPr>
                <a:spLocks noChangeShapeType="1"/>
              </p:cNvSpPr>
              <p:nvPr/>
            </p:nvSpPr>
            <p:spPr bwMode="auto">
              <a:xfrm flipH="1">
                <a:off x="2052" y="1762"/>
                <a:ext cx="3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6" name="Freeform 388"/>
              <p:cNvSpPr>
                <a:spLocks/>
              </p:cNvSpPr>
              <p:nvPr/>
            </p:nvSpPr>
            <p:spPr bwMode="auto">
              <a:xfrm>
                <a:off x="2023" y="1695"/>
                <a:ext cx="46" cy="67"/>
              </a:xfrm>
              <a:custGeom>
                <a:avLst/>
                <a:gdLst/>
                <a:ahLst/>
                <a:cxnLst>
                  <a:cxn ang="0">
                    <a:pos x="46" y="67"/>
                  </a:cxn>
                  <a:cxn ang="0">
                    <a:pos x="46" y="0"/>
                  </a:cxn>
                  <a:cxn ang="0">
                    <a:pos x="0" y="0"/>
                  </a:cxn>
                </a:cxnLst>
                <a:rect l="0" t="0" r="r" b="b"/>
                <a:pathLst>
                  <a:path w="46" h="67">
                    <a:moveTo>
                      <a:pt x="46" y="67"/>
                    </a:moveTo>
                    <a:lnTo>
                      <a:pt x="46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7" name="Freeform 389"/>
              <p:cNvSpPr>
                <a:spLocks/>
              </p:cNvSpPr>
              <p:nvPr/>
            </p:nvSpPr>
            <p:spPr bwMode="auto">
              <a:xfrm>
                <a:off x="2024" y="1789"/>
                <a:ext cx="45" cy="56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45" y="56"/>
                  </a:cxn>
                  <a:cxn ang="0">
                    <a:pos x="0" y="56"/>
                  </a:cxn>
                </a:cxnLst>
                <a:rect l="0" t="0" r="r" b="b"/>
                <a:pathLst>
                  <a:path w="45" h="56">
                    <a:moveTo>
                      <a:pt x="45" y="0"/>
                    </a:moveTo>
                    <a:lnTo>
                      <a:pt x="45" y="56"/>
                    </a:lnTo>
                    <a:lnTo>
                      <a:pt x="0" y="56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8" name="Line 390"/>
              <p:cNvSpPr>
                <a:spLocks noChangeShapeType="1"/>
              </p:cNvSpPr>
              <p:nvPr/>
            </p:nvSpPr>
            <p:spPr bwMode="auto">
              <a:xfrm flipV="1">
                <a:off x="2023" y="2073"/>
                <a:ext cx="1" cy="5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9" name="Line 391"/>
              <p:cNvSpPr>
                <a:spLocks noChangeShapeType="1"/>
              </p:cNvSpPr>
              <p:nvPr/>
            </p:nvSpPr>
            <p:spPr bwMode="auto">
              <a:xfrm flipV="1">
                <a:off x="1944" y="2167"/>
                <a:ext cx="1" cy="8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0" name="Line 392"/>
              <p:cNvSpPr>
                <a:spLocks noChangeShapeType="1"/>
              </p:cNvSpPr>
              <p:nvPr/>
            </p:nvSpPr>
            <p:spPr bwMode="auto">
              <a:xfrm flipV="1">
                <a:off x="1962" y="2140"/>
                <a:ext cx="1" cy="13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1" name="Line 393"/>
              <p:cNvSpPr>
                <a:spLocks noChangeShapeType="1"/>
              </p:cNvSpPr>
              <p:nvPr/>
            </p:nvSpPr>
            <p:spPr bwMode="auto">
              <a:xfrm flipH="1" flipV="1">
                <a:off x="1962" y="2234"/>
                <a:ext cx="40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2" name="Freeform 394"/>
              <p:cNvSpPr>
                <a:spLocks/>
              </p:cNvSpPr>
              <p:nvPr/>
            </p:nvSpPr>
            <p:spPr bwMode="auto">
              <a:xfrm>
                <a:off x="1990" y="2248"/>
                <a:ext cx="34" cy="3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4" y="31"/>
                  </a:cxn>
                  <a:cxn ang="0">
                    <a:pos x="0" y="26"/>
                  </a:cxn>
                  <a:cxn ang="0">
                    <a:pos x="18" y="0"/>
                  </a:cxn>
                </a:cxnLst>
                <a:rect l="0" t="0" r="r" b="b"/>
                <a:pathLst>
                  <a:path w="34" h="31">
                    <a:moveTo>
                      <a:pt x="18" y="0"/>
                    </a:moveTo>
                    <a:lnTo>
                      <a:pt x="34" y="31"/>
                    </a:lnTo>
                    <a:lnTo>
                      <a:pt x="0" y="26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3" name="Line 395"/>
              <p:cNvSpPr>
                <a:spLocks noChangeShapeType="1"/>
              </p:cNvSpPr>
              <p:nvPr/>
            </p:nvSpPr>
            <p:spPr bwMode="auto">
              <a:xfrm flipV="1">
                <a:off x="1962" y="2128"/>
                <a:ext cx="61" cy="5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4" name="Freeform 396"/>
              <p:cNvSpPr>
                <a:spLocks/>
              </p:cNvSpPr>
              <p:nvPr/>
            </p:nvSpPr>
            <p:spPr bwMode="auto">
              <a:xfrm>
                <a:off x="2054" y="2195"/>
                <a:ext cx="30" cy="29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0" y="29"/>
                  </a:cxn>
                  <a:cxn ang="0">
                    <a:pos x="15" y="0"/>
                  </a:cxn>
                  <a:cxn ang="0">
                    <a:pos x="0" y="29"/>
                  </a:cxn>
                </a:cxnLst>
                <a:rect l="0" t="0" r="r" b="b"/>
                <a:pathLst>
                  <a:path w="30" h="29">
                    <a:moveTo>
                      <a:pt x="0" y="29"/>
                    </a:moveTo>
                    <a:lnTo>
                      <a:pt x="30" y="29"/>
                    </a:lnTo>
                    <a:lnTo>
                      <a:pt x="15" y="0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5" name="Line 397"/>
              <p:cNvSpPr>
                <a:spLocks noChangeShapeType="1"/>
              </p:cNvSpPr>
              <p:nvPr/>
            </p:nvSpPr>
            <p:spPr bwMode="auto">
              <a:xfrm flipH="1">
                <a:off x="1918" y="2167"/>
                <a:ext cx="2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6" name="Line 398"/>
              <p:cNvSpPr>
                <a:spLocks noChangeShapeType="1"/>
              </p:cNvSpPr>
              <p:nvPr/>
            </p:nvSpPr>
            <p:spPr bwMode="auto">
              <a:xfrm flipH="1">
                <a:off x="2052" y="2195"/>
                <a:ext cx="3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7" name="Freeform 399"/>
              <p:cNvSpPr>
                <a:spLocks/>
              </p:cNvSpPr>
              <p:nvPr/>
            </p:nvSpPr>
            <p:spPr bwMode="auto">
              <a:xfrm>
                <a:off x="2023" y="2128"/>
                <a:ext cx="46" cy="67"/>
              </a:xfrm>
              <a:custGeom>
                <a:avLst/>
                <a:gdLst/>
                <a:ahLst/>
                <a:cxnLst>
                  <a:cxn ang="0">
                    <a:pos x="46" y="67"/>
                  </a:cxn>
                  <a:cxn ang="0">
                    <a:pos x="46" y="0"/>
                  </a:cxn>
                  <a:cxn ang="0">
                    <a:pos x="0" y="0"/>
                  </a:cxn>
                </a:cxnLst>
                <a:rect l="0" t="0" r="r" b="b"/>
                <a:pathLst>
                  <a:path w="46" h="67">
                    <a:moveTo>
                      <a:pt x="46" y="67"/>
                    </a:moveTo>
                    <a:lnTo>
                      <a:pt x="46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8" name="Freeform 400"/>
              <p:cNvSpPr>
                <a:spLocks/>
              </p:cNvSpPr>
              <p:nvPr/>
            </p:nvSpPr>
            <p:spPr bwMode="auto">
              <a:xfrm>
                <a:off x="2024" y="2224"/>
                <a:ext cx="45" cy="55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45" y="55"/>
                  </a:cxn>
                  <a:cxn ang="0">
                    <a:pos x="0" y="55"/>
                  </a:cxn>
                </a:cxnLst>
                <a:rect l="0" t="0" r="r" b="b"/>
                <a:pathLst>
                  <a:path w="45" h="55">
                    <a:moveTo>
                      <a:pt x="45" y="0"/>
                    </a:moveTo>
                    <a:lnTo>
                      <a:pt x="45" y="55"/>
                    </a:lnTo>
                    <a:lnTo>
                      <a:pt x="0" y="55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9" name="Line 401"/>
              <p:cNvSpPr>
                <a:spLocks noChangeShapeType="1"/>
              </p:cNvSpPr>
              <p:nvPr/>
            </p:nvSpPr>
            <p:spPr bwMode="auto">
              <a:xfrm flipV="1">
                <a:off x="2023" y="1640"/>
                <a:ext cx="1" cy="5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0" name="Line 402"/>
              <p:cNvSpPr>
                <a:spLocks noChangeShapeType="1"/>
              </p:cNvSpPr>
              <p:nvPr/>
            </p:nvSpPr>
            <p:spPr bwMode="auto">
              <a:xfrm>
                <a:off x="2023" y="2279"/>
                <a:ext cx="1" cy="5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1" name="Line 403"/>
              <p:cNvSpPr>
                <a:spLocks noChangeShapeType="1"/>
              </p:cNvSpPr>
              <p:nvPr/>
            </p:nvSpPr>
            <p:spPr bwMode="auto">
              <a:xfrm flipV="1">
                <a:off x="2023" y="1845"/>
                <a:ext cx="1" cy="228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2" name="Freeform 404"/>
              <p:cNvSpPr>
                <a:spLocks/>
              </p:cNvSpPr>
              <p:nvPr/>
            </p:nvSpPr>
            <p:spPr bwMode="auto">
              <a:xfrm>
                <a:off x="2014" y="2025"/>
                <a:ext cx="21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2" y="3"/>
                  </a:cxn>
                  <a:cxn ang="0">
                    <a:pos x="7" y="0"/>
                  </a:cxn>
                  <a:cxn ang="0">
                    <a:pos x="14" y="0"/>
                  </a:cxn>
                  <a:cxn ang="0">
                    <a:pos x="18" y="3"/>
                  </a:cxn>
                  <a:cxn ang="0">
                    <a:pos x="21" y="9"/>
                  </a:cxn>
                  <a:cxn ang="0">
                    <a:pos x="18" y="15"/>
                  </a:cxn>
                  <a:cxn ang="0">
                    <a:pos x="14" y="19"/>
                  </a:cxn>
                  <a:cxn ang="0">
                    <a:pos x="7" y="19"/>
                  </a:cxn>
                  <a:cxn ang="0">
                    <a:pos x="2" y="15"/>
                  </a:cxn>
                  <a:cxn ang="0">
                    <a:pos x="0" y="9"/>
                  </a:cxn>
                </a:cxnLst>
                <a:rect l="0" t="0" r="r" b="b"/>
                <a:pathLst>
                  <a:path w="21" h="19">
                    <a:moveTo>
                      <a:pt x="0" y="9"/>
                    </a:moveTo>
                    <a:lnTo>
                      <a:pt x="2" y="3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18" y="3"/>
                    </a:lnTo>
                    <a:lnTo>
                      <a:pt x="21" y="9"/>
                    </a:lnTo>
                    <a:lnTo>
                      <a:pt x="18" y="15"/>
                    </a:lnTo>
                    <a:lnTo>
                      <a:pt x="14" y="19"/>
                    </a:lnTo>
                    <a:lnTo>
                      <a:pt x="7" y="19"/>
                    </a:lnTo>
                    <a:lnTo>
                      <a:pt x="2" y="1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3" name="Line 405"/>
              <p:cNvSpPr>
                <a:spLocks noChangeShapeType="1"/>
              </p:cNvSpPr>
              <p:nvPr/>
            </p:nvSpPr>
            <p:spPr bwMode="auto">
              <a:xfrm flipV="1">
                <a:off x="1708" y="1736"/>
                <a:ext cx="1" cy="8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4" name="Line 406"/>
              <p:cNvSpPr>
                <a:spLocks noChangeShapeType="1"/>
              </p:cNvSpPr>
              <p:nvPr/>
            </p:nvSpPr>
            <p:spPr bwMode="auto">
              <a:xfrm flipV="1">
                <a:off x="1726" y="1709"/>
                <a:ext cx="1" cy="13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5" name="Line 407"/>
              <p:cNvSpPr>
                <a:spLocks noChangeShapeType="1"/>
              </p:cNvSpPr>
              <p:nvPr/>
            </p:nvSpPr>
            <p:spPr bwMode="auto">
              <a:xfrm flipH="1" flipV="1">
                <a:off x="1726" y="1803"/>
                <a:ext cx="40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6" name="Freeform 408"/>
              <p:cNvSpPr>
                <a:spLocks/>
              </p:cNvSpPr>
              <p:nvPr/>
            </p:nvSpPr>
            <p:spPr bwMode="auto">
              <a:xfrm>
                <a:off x="1754" y="1817"/>
                <a:ext cx="34" cy="3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4" y="31"/>
                  </a:cxn>
                  <a:cxn ang="0">
                    <a:pos x="0" y="25"/>
                  </a:cxn>
                  <a:cxn ang="0">
                    <a:pos x="18" y="0"/>
                  </a:cxn>
                </a:cxnLst>
                <a:rect l="0" t="0" r="r" b="b"/>
                <a:pathLst>
                  <a:path w="34" h="31">
                    <a:moveTo>
                      <a:pt x="18" y="0"/>
                    </a:moveTo>
                    <a:lnTo>
                      <a:pt x="34" y="31"/>
                    </a:lnTo>
                    <a:lnTo>
                      <a:pt x="0" y="25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7" name="Line 409"/>
              <p:cNvSpPr>
                <a:spLocks noChangeShapeType="1"/>
              </p:cNvSpPr>
              <p:nvPr/>
            </p:nvSpPr>
            <p:spPr bwMode="auto">
              <a:xfrm flipV="1">
                <a:off x="1726" y="1697"/>
                <a:ext cx="61" cy="5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8" name="Freeform 410"/>
              <p:cNvSpPr>
                <a:spLocks/>
              </p:cNvSpPr>
              <p:nvPr/>
            </p:nvSpPr>
            <p:spPr bwMode="auto">
              <a:xfrm>
                <a:off x="1818" y="1764"/>
                <a:ext cx="30" cy="29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0" y="29"/>
                  </a:cxn>
                  <a:cxn ang="0">
                    <a:pos x="15" y="0"/>
                  </a:cxn>
                  <a:cxn ang="0">
                    <a:pos x="0" y="29"/>
                  </a:cxn>
                </a:cxnLst>
                <a:rect l="0" t="0" r="r" b="b"/>
                <a:pathLst>
                  <a:path w="30" h="29">
                    <a:moveTo>
                      <a:pt x="0" y="29"/>
                    </a:moveTo>
                    <a:lnTo>
                      <a:pt x="30" y="29"/>
                    </a:lnTo>
                    <a:lnTo>
                      <a:pt x="15" y="0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9" name="Line 411"/>
              <p:cNvSpPr>
                <a:spLocks noChangeShapeType="1"/>
              </p:cNvSpPr>
              <p:nvPr/>
            </p:nvSpPr>
            <p:spPr bwMode="auto">
              <a:xfrm flipH="1">
                <a:off x="1683" y="1736"/>
                <a:ext cx="2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0" name="Line 412"/>
              <p:cNvSpPr>
                <a:spLocks noChangeShapeType="1"/>
              </p:cNvSpPr>
              <p:nvPr/>
            </p:nvSpPr>
            <p:spPr bwMode="auto">
              <a:xfrm flipH="1">
                <a:off x="1816" y="1764"/>
                <a:ext cx="3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1" name="Freeform 413"/>
              <p:cNvSpPr>
                <a:spLocks/>
              </p:cNvSpPr>
              <p:nvPr/>
            </p:nvSpPr>
            <p:spPr bwMode="auto">
              <a:xfrm>
                <a:off x="1787" y="1697"/>
                <a:ext cx="46" cy="67"/>
              </a:xfrm>
              <a:custGeom>
                <a:avLst/>
                <a:gdLst/>
                <a:ahLst/>
                <a:cxnLst>
                  <a:cxn ang="0">
                    <a:pos x="46" y="67"/>
                  </a:cxn>
                  <a:cxn ang="0">
                    <a:pos x="46" y="0"/>
                  </a:cxn>
                  <a:cxn ang="0">
                    <a:pos x="0" y="0"/>
                  </a:cxn>
                </a:cxnLst>
                <a:rect l="0" t="0" r="r" b="b"/>
                <a:pathLst>
                  <a:path w="46" h="67">
                    <a:moveTo>
                      <a:pt x="46" y="67"/>
                    </a:moveTo>
                    <a:lnTo>
                      <a:pt x="46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2" name="Freeform 414"/>
              <p:cNvSpPr>
                <a:spLocks/>
              </p:cNvSpPr>
              <p:nvPr/>
            </p:nvSpPr>
            <p:spPr bwMode="auto">
              <a:xfrm>
                <a:off x="1788" y="1793"/>
                <a:ext cx="45" cy="55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45" y="55"/>
                  </a:cxn>
                  <a:cxn ang="0">
                    <a:pos x="0" y="55"/>
                  </a:cxn>
                </a:cxnLst>
                <a:rect l="0" t="0" r="r" b="b"/>
                <a:pathLst>
                  <a:path w="45" h="55">
                    <a:moveTo>
                      <a:pt x="45" y="0"/>
                    </a:moveTo>
                    <a:lnTo>
                      <a:pt x="45" y="55"/>
                    </a:lnTo>
                    <a:lnTo>
                      <a:pt x="0" y="55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3" name="Line 415"/>
              <p:cNvSpPr>
                <a:spLocks noChangeShapeType="1"/>
              </p:cNvSpPr>
              <p:nvPr/>
            </p:nvSpPr>
            <p:spPr bwMode="auto">
              <a:xfrm flipV="1">
                <a:off x="1787" y="2076"/>
                <a:ext cx="1" cy="5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4" name="Line 416"/>
              <p:cNvSpPr>
                <a:spLocks noChangeShapeType="1"/>
              </p:cNvSpPr>
              <p:nvPr/>
            </p:nvSpPr>
            <p:spPr bwMode="auto">
              <a:xfrm flipV="1">
                <a:off x="1708" y="2171"/>
                <a:ext cx="1" cy="8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5" name="Line 417"/>
              <p:cNvSpPr>
                <a:spLocks noChangeShapeType="1"/>
              </p:cNvSpPr>
              <p:nvPr/>
            </p:nvSpPr>
            <p:spPr bwMode="auto">
              <a:xfrm flipV="1">
                <a:off x="1726" y="2143"/>
                <a:ext cx="1" cy="14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6" name="Line 418"/>
              <p:cNvSpPr>
                <a:spLocks noChangeShapeType="1"/>
              </p:cNvSpPr>
              <p:nvPr/>
            </p:nvSpPr>
            <p:spPr bwMode="auto">
              <a:xfrm flipH="1" flipV="1">
                <a:off x="1726" y="2238"/>
                <a:ext cx="40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7" name="Freeform 419"/>
              <p:cNvSpPr>
                <a:spLocks/>
              </p:cNvSpPr>
              <p:nvPr/>
            </p:nvSpPr>
            <p:spPr bwMode="auto">
              <a:xfrm>
                <a:off x="1754" y="2252"/>
                <a:ext cx="34" cy="3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4" y="31"/>
                  </a:cxn>
                  <a:cxn ang="0">
                    <a:pos x="0" y="25"/>
                  </a:cxn>
                  <a:cxn ang="0">
                    <a:pos x="18" y="0"/>
                  </a:cxn>
                </a:cxnLst>
                <a:rect l="0" t="0" r="r" b="b"/>
                <a:pathLst>
                  <a:path w="34" h="31">
                    <a:moveTo>
                      <a:pt x="18" y="0"/>
                    </a:moveTo>
                    <a:lnTo>
                      <a:pt x="34" y="31"/>
                    </a:lnTo>
                    <a:lnTo>
                      <a:pt x="0" y="25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8" name="Line 420"/>
              <p:cNvSpPr>
                <a:spLocks noChangeShapeType="1"/>
              </p:cNvSpPr>
              <p:nvPr/>
            </p:nvSpPr>
            <p:spPr bwMode="auto">
              <a:xfrm flipV="1">
                <a:off x="1726" y="2132"/>
                <a:ext cx="61" cy="5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9" name="Freeform 421"/>
              <p:cNvSpPr>
                <a:spLocks/>
              </p:cNvSpPr>
              <p:nvPr/>
            </p:nvSpPr>
            <p:spPr bwMode="auto">
              <a:xfrm>
                <a:off x="1818" y="2199"/>
                <a:ext cx="30" cy="27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30" y="27"/>
                  </a:cxn>
                  <a:cxn ang="0">
                    <a:pos x="15" y="0"/>
                  </a:cxn>
                  <a:cxn ang="0">
                    <a:pos x="0" y="27"/>
                  </a:cxn>
                </a:cxnLst>
                <a:rect l="0" t="0" r="r" b="b"/>
                <a:pathLst>
                  <a:path w="30" h="27">
                    <a:moveTo>
                      <a:pt x="0" y="27"/>
                    </a:moveTo>
                    <a:lnTo>
                      <a:pt x="30" y="27"/>
                    </a:lnTo>
                    <a:lnTo>
                      <a:pt x="15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470" name="Line 422"/>
            <p:cNvSpPr>
              <a:spLocks noChangeShapeType="1"/>
            </p:cNvSpPr>
            <p:nvPr/>
          </p:nvSpPr>
          <p:spPr bwMode="auto">
            <a:xfrm flipH="1">
              <a:off x="1683" y="2171"/>
              <a:ext cx="25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1" name="Line 423"/>
            <p:cNvSpPr>
              <a:spLocks noChangeShapeType="1"/>
            </p:cNvSpPr>
            <p:nvPr/>
          </p:nvSpPr>
          <p:spPr bwMode="auto">
            <a:xfrm flipH="1">
              <a:off x="1816" y="2199"/>
              <a:ext cx="3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2" name="Freeform 424"/>
            <p:cNvSpPr>
              <a:spLocks/>
            </p:cNvSpPr>
            <p:nvPr/>
          </p:nvSpPr>
          <p:spPr bwMode="auto">
            <a:xfrm>
              <a:off x="1787" y="2132"/>
              <a:ext cx="46" cy="67"/>
            </a:xfrm>
            <a:custGeom>
              <a:avLst/>
              <a:gdLst/>
              <a:ahLst/>
              <a:cxnLst>
                <a:cxn ang="0">
                  <a:pos x="46" y="67"/>
                </a:cxn>
                <a:cxn ang="0">
                  <a:pos x="46" y="0"/>
                </a:cxn>
                <a:cxn ang="0">
                  <a:pos x="0" y="0"/>
                </a:cxn>
              </a:cxnLst>
              <a:rect l="0" t="0" r="r" b="b"/>
              <a:pathLst>
                <a:path w="46" h="67">
                  <a:moveTo>
                    <a:pt x="46" y="67"/>
                  </a:moveTo>
                  <a:lnTo>
                    <a:pt x="46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3" name="Freeform 425"/>
            <p:cNvSpPr>
              <a:spLocks/>
            </p:cNvSpPr>
            <p:nvPr/>
          </p:nvSpPr>
          <p:spPr bwMode="auto">
            <a:xfrm>
              <a:off x="1788" y="2226"/>
              <a:ext cx="45" cy="57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5" y="57"/>
                </a:cxn>
                <a:cxn ang="0">
                  <a:pos x="0" y="57"/>
                </a:cxn>
              </a:cxnLst>
              <a:rect l="0" t="0" r="r" b="b"/>
              <a:pathLst>
                <a:path w="45" h="57">
                  <a:moveTo>
                    <a:pt x="45" y="0"/>
                  </a:moveTo>
                  <a:lnTo>
                    <a:pt x="45" y="57"/>
                  </a:lnTo>
                  <a:lnTo>
                    <a:pt x="0" y="57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4" name="Line 426"/>
            <p:cNvSpPr>
              <a:spLocks noChangeShapeType="1"/>
            </p:cNvSpPr>
            <p:nvPr/>
          </p:nvSpPr>
          <p:spPr bwMode="auto">
            <a:xfrm flipV="1">
              <a:off x="1787" y="1642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5" name="Line 427"/>
            <p:cNvSpPr>
              <a:spLocks noChangeShapeType="1"/>
            </p:cNvSpPr>
            <p:nvPr/>
          </p:nvSpPr>
          <p:spPr bwMode="auto">
            <a:xfrm>
              <a:off x="1787" y="2283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6" name="Line 428"/>
            <p:cNvSpPr>
              <a:spLocks noChangeShapeType="1"/>
            </p:cNvSpPr>
            <p:nvPr/>
          </p:nvSpPr>
          <p:spPr bwMode="auto">
            <a:xfrm flipV="1">
              <a:off x="1787" y="1848"/>
              <a:ext cx="1" cy="22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7" name="Freeform 429"/>
            <p:cNvSpPr>
              <a:spLocks/>
            </p:cNvSpPr>
            <p:nvPr/>
          </p:nvSpPr>
          <p:spPr bwMode="auto">
            <a:xfrm>
              <a:off x="1778" y="1634"/>
              <a:ext cx="21" cy="19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" y="4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8" y="4"/>
                </a:cxn>
                <a:cxn ang="0">
                  <a:pos x="21" y="10"/>
                </a:cxn>
                <a:cxn ang="0">
                  <a:pos x="18" y="16"/>
                </a:cxn>
                <a:cxn ang="0">
                  <a:pos x="14" y="19"/>
                </a:cxn>
                <a:cxn ang="0">
                  <a:pos x="8" y="19"/>
                </a:cxn>
                <a:cxn ang="0">
                  <a:pos x="2" y="16"/>
                </a:cxn>
                <a:cxn ang="0">
                  <a:pos x="0" y="10"/>
                </a:cxn>
              </a:cxnLst>
              <a:rect l="0" t="0" r="r" b="b"/>
              <a:pathLst>
                <a:path w="21" h="19">
                  <a:moveTo>
                    <a:pt x="0" y="10"/>
                  </a:moveTo>
                  <a:lnTo>
                    <a:pt x="2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4"/>
                  </a:lnTo>
                  <a:lnTo>
                    <a:pt x="21" y="10"/>
                  </a:lnTo>
                  <a:lnTo>
                    <a:pt x="18" y="16"/>
                  </a:lnTo>
                  <a:lnTo>
                    <a:pt x="14" y="19"/>
                  </a:lnTo>
                  <a:lnTo>
                    <a:pt x="8" y="19"/>
                  </a:lnTo>
                  <a:lnTo>
                    <a:pt x="2" y="1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8" name="Freeform 430"/>
            <p:cNvSpPr>
              <a:spLocks/>
            </p:cNvSpPr>
            <p:nvPr/>
          </p:nvSpPr>
          <p:spPr bwMode="auto">
            <a:xfrm>
              <a:off x="1777" y="1972"/>
              <a:ext cx="20" cy="19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" y="3"/>
                </a:cxn>
                <a:cxn ang="0">
                  <a:pos x="7" y="0"/>
                </a:cxn>
                <a:cxn ang="0">
                  <a:pos x="14" y="0"/>
                </a:cxn>
                <a:cxn ang="0">
                  <a:pos x="18" y="3"/>
                </a:cxn>
                <a:cxn ang="0">
                  <a:pos x="20" y="9"/>
                </a:cxn>
                <a:cxn ang="0">
                  <a:pos x="18" y="15"/>
                </a:cxn>
                <a:cxn ang="0">
                  <a:pos x="14" y="19"/>
                </a:cxn>
                <a:cxn ang="0">
                  <a:pos x="7" y="19"/>
                </a:cxn>
                <a:cxn ang="0">
                  <a:pos x="2" y="15"/>
                </a:cxn>
                <a:cxn ang="0">
                  <a:pos x="0" y="9"/>
                </a:cxn>
              </a:cxnLst>
              <a:rect l="0" t="0" r="r" b="b"/>
              <a:pathLst>
                <a:path w="20" h="19">
                  <a:moveTo>
                    <a:pt x="0" y="9"/>
                  </a:moveTo>
                  <a:lnTo>
                    <a:pt x="2" y="3"/>
                  </a:lnTo>
                  <a:lnTo>
                    <a:pt x="7" y="0"/>
                  </a:lnTo>
                  <a:lnTo>
                    <a:pt x="14" y="0"/>
                  </a:lnTo>
                  <a:lnTo>
                    <a:pt x="18" y="3"/>
                  </a:lnTo>
                  <a:lnTo>
                    <a:pt x="20" y="9"/>
                  </a:lnTo>
                  <a:lnTo>
                    <a:pt x="18" y="15"/>
                  </a:lnTo>
                  <a:lnTo>
                    <a:pt x="14" y="19"/>
                  </a:lnTo>
                  <a:lnTo>
                    <a:pt x="7" y="19"/>
                  </a:lnTo>
                  <a:lnTo>
                    <a:pt x="2" y="1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9" name="Freeform 431"/>
            <p:cNvSpPr>
              <a:spLocks/>
            </p:cNvSpPr>
            <p:nvPr/>
          </p:nvSpPr>
          <p:spPr bwMode="auto">
            <a:xfrm>
              <a:off x="1774" y="2325"/>
              <a:ext cx="21" cy="2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9" y="4"/>
                </a:cxn>
                <a:cxn ang="0">
                  <a:pos x="21" y="10"/>
                </a:cxn>
                <a:cxn ang="0">
                  <a:pos x="19" y="17"/>
                </a:cxn>
                <a:cxn ang="0">
                  <a:pos x="14" y="20"/>
                </a:cxn>
                <a:cxn ang="0">
                  <a:pos x="8" y="20"/>
                </a:cxn>
                <a:cxn ang="0">
                  <a:pos x="3" y="17"/>
                </a:cxn>
                <a:cxn ang="0">
                  <a:pos x="0" y="10"/>
                </a:cxn>
              </a:cxnLst>
              <a:rect l="0" t="0" r="r" b="b"/>
              <a:pathLst>
                <a:path w="21" h="20">
                  <a:moveTo>
                    <a:pt x="0" y="10"/>
                  </a:moveTo>
                  <a:lnTo>
                    <a:pt x="3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9" y="4"/>
                  </a:lnTo>
                  <a:lnTo>
                    <a:pt x="21" y="10"/>
                  </a:lnTo>
                  <a:lnTo>
                    <a:pt x="19" y="17"/>
                  </a:lnTo>
                  <a:lnTo>
                    <a:pt x="14" y="20"/>
                  </a:lnTo>
                  <a:lnTo>
                    <a:pt x="8" y="20"/>
                  </a:lnTo>
                  <a:lnTo>
                    <a:pt x="3" y="17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0" name="Line 432"/>
            <p:cNvSpPr>
              <a:spLocks noChangeShapeType="1"/>
            </p:cNvSpPr>
            <p:nvPr/>
          </p:nvSpPr>
          <p:spPr bwMode="auto">
            <a:xfrm flipV="1">
              <a:off x="1551" y="1642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1" name="Line 433"/>
            <p:cNvSpPr>
              <a:spLocks noChangeShapeType="1"/>
            </p:cNvSpPr>
            <p:nvPr/>
          </p:nvSpPr>
          <p:spPr bwMode="auto">
            <a:xfrm>
              <a:off x="1551" y="2283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2" name="Line 434"/>
            <p:cNvSpPr>
              <a:spLocks noChangeShapeType="1"/>
            </p:cNvSpPr>
            <p:nvPr/>
          </p:nvSpPr>
          <p:spPr bwMode="auto">
            <a:xfrm flipV="1">
              <a:off x="1551" y="1848"/>
              <a:ext cx="1" cy="22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3" name="Line 435"/>
            <p:cNvSpPr>
              <a:spLocks noChangeShapeType="1"/>
            </p:cNvSpPr>
            <p:nvPr/>
          </p:nvSpPr>
          <p:spPr bwMode="auto">
            <a:xfrm flipV="1">
              <a:off x="1471" y="1736"/>
              <a:ext cx="1" cy="8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4" name="Line 436"/>
            <p:cNvSpPr>
              <a:spLocks noChangeShapeType="1"/>
            </p:cNvSpPr>
            <p:nvPr/>
          </p:nvSpPr>
          <p:spPr bwMode="auto">
            <a:xfrm flipV="1">
              <a:off x="1490" y="1709"/>
              <a:ext cx="1" cy="13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5" name="Line 437"/>
            <p:cNvSpPr>
              <a:spLocks noChangeShapeType="1"/>
            </p:cNvSpPr>
            <p:nvPr/>
          </p:nvSpPr>
          <p:spPr bwMode="auto">
            <a:xfrm flipH="1" flipV="1">
              <a:off x="1490" y="1803"/>
              <a:ext cx="41" cy="2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6" name="Freeform 438"/>
            <p:cNvSpPr>
              <a:spLocks/>
            </p:cNvSpPr>
            <p:nvPr/>
          </p:nvSpPr>
          <p:spPr bwMode="auto">
            <a:xfrm>
              <a:off x="1519" y="1817"/>
              <a:ext cx="34" cy="3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34" y="31"/>
                </a:cxn>
                <a:cxn ang="0">
                  <a:pos x="0" y="25"/>
                </a:cxn>
                <a:cxn ang="0">
                  <a:pos x="17" y="0"/>
                </a:cxn>
              </a:cxnLst>
              <a:rect l="0" t="0" r="r" b="b"/>
              <a:pathLst>
                <a:path w="34" h="31">
                  <a:moveTo>
                    <a:pt x="17" y="0"/>
                  </a:moveTo>
                  <a:lnTo>
                    <a:pt x="34" y="31"/>
                  </a:lnTo>
                  <a:lnTo>
                    <a:pt x="0" y="2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7" name="Line 439"/>
            <p:cNvSpPr>
              <a:spLocks noChangeShapeType="1"/>
            </p:cNvSpPr>
            <p:nvPr/>
          </p:nvSpPr>
          <p:spPr bwMode="auto">
            <a:xfrm flipV="1">
              <a:off x="1490" y="1697"/>
              <a:ext cx="61" cy="5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8" name="Freeform 440"/>
            <p:cNvSpPr>
              <a:spLocks/>
            </p:cNvSpPr>
            <p:nvPr/>
          </p:nvSpPr>
          <p:spPr bwMode="auto">
            <a:xfrm>
              <a:off x="1582" y="1764"/>
              <a:ext cx="31" cy="29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31" y="29"/>
                </a:cxn>
                <a:cxn ang="0">
                  <a:pos x="15" y="0"/>
                </a:cxn>
                <a:cxn ang="0">
                  <a:pos x="0" y="29"/>
                </a:cxn>
              </a:cxnLst>
              <a:rect l="0" t="0" r="r" b="b"/>
              <a:pathLst>
                <a:path w="31" h="29">
                  <a:moveTo>
                    <a:pt x="0" y="29"/>
                  </a:moveTo>
                  <a:lnTo>
                    <a:pt x="31" y="29"/>
                  </a:lnTo>
                  <a:lnTo>
                    <a:pt x="15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9" name="Line 441"/>
            <p:cNvSpPr>
              <a:spLocks noChangeShapeType="1"/>
            </p:cNvSpPr>
            <p:nvPr/>
          </p:nvSpPr>
          <p:spPr bwMode="auto">
            <a:xfrm flipH="1">
              <a:off x="1447" y="1736"/>
              <a:ext cx="2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0" name="Line 442"/>
            <p:cNvSpPr>
              <a:spLocks noChangeShapeType="1"/>
            </p:cNvSpPr>
            <p:nvPr/>
          </p:nvSpPr>
          <p:spPr bwMode="auto">
            <a:xfrm flipH="1">
              <a:off x="1580" y="1764"/>
              <a:ext cx="3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1" name="Freeform 443"/>
            <p:cNvSpPr>
              <a:spLocks/>
            </p:cNvSpPr>
            <p:nvPr/>
          </p:nvSpPr>
          <p:spPr bwMode="auto">
            <a:xfrm>
              <a:off x="1551" y="1697"/>
              <a:ext cx="46" cy="67"/>
            </a:xfrm>
            <a:custGeom>
              <a:avLst/>
              <a:gdLst/>
              <a:ahLst/>
              <a:cxnLst>
                <a:cxn ang="0">
                  <a:pos x="46" y="67"/>
                </a:cxn>
                <a:cxn ang="0">
                  <a:pos x="46" y="0"/>
                </a:cxn>
                <a:cxn ang="0">
                  <a:pos x="0" y="0"/>
                </a:cxn>
              </a:cxnLst>
              <a:rect l="0" t="0" r="r" b="b"/>
              <a:pathLst>
                <a:path w="46" h="67">
                  <a:moveTo>
                    <a:pt x="46" y="67"/>
                  </a:moveTo>
                  <a:lnTo>
                    <a:pt x="46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2" name="Freeform 444"/>
            <p:cNvSpPr>
              <a:spLocks/>
            </p:cNvSpPr>
            <p:nvPr/>
          </p:nvSpPr>
          <p:spPr bwMode="auto">
            <a:xfrm>
              <a:off x="1553" y="1793"/>
              <a:ext cx="44" cy="55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44" y="55"/>
                </a:cxn>
                <a:cxn ang="0">
                  <a:pos x="0" y="55"/>
                </a:cxn>
              </a:cxnLst>
              <a:rect l="0" t="0" r="r" b="b"/>
              <a:pathLst>
                <a:path w="44" h="55">
                  <a:moveTo>
                    <a:pt x="44" y="0"/>
                  </a:moveTo>
                  <a:lnTo>
                    <a:pt x="44" y="55"/>
                  </a:lnTo>
                  <a:lnTo>
                    <a:pt x="0" y="55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3" name="Line 445"/>
            <p:cNvSpPr>
              <a:spLocks noChangeShapeType="1"/>
            </p:cNvSpPr>
            <p:nvPr/>
          </p:nvSpPr>
          <p:spPr bwMode="auto">
            <a:xfrm flipV="1">
              <a:off x="1551" y="2076"/>
              <a:ext cx="1" cy="5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4" name="Line 446"/>
            <p:cNvSpPr>
              <a:spLocks noChangeShapeType="1"/>
            </p:cNvSpPr>
            <p:nvPr/>
          </p:nvSpPr>
          <p:spPr bwMode="auto">
            <a:xfrm flipV="1">
              <a:off x="1471" y="2171"/>
              <a:ext cx="1" cy="8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5" name="Line 447"/>
            <p:cNvSpPr>
              <a:spLocks noChangeShapeType="1"/>
            </p:cNvSpPr>
            <p:nvPr/>
          </p:nvSpPr>
          <p:spPr bwMode="auto">
            <a:xfrm flipV="1">
              <a:off x="1490" y="2143"/>
              <a:ext cx="1" cy="14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6" name="Line 448"/>
            <p:cNvSpPr>
              <a:spLocks noChangeShapeType="1"/>
            </p:cNvSpPr>
            <p:nvPr/>
          </p:nvSpPr>
          <p:spPr bwMode="auto">
            <a:xfrm flipH="1" flipV="1">
              <a:off x="1490" y="2238"/>
              <a:ext cx="41" cy="2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7" name="Freeform 449"/>
            <p:cNvSpPr>
              <a:spLocks/>
            </p:cNvSpPr>
            <p:nvPr/>
          </p:nvSpPr>
          <p:spPr bwMode="auto">
            <a:xfrm>
              <a:off x="1519" y="2252"/>
              <a:ext cx="34" cy="3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34" y="31"/>
                </a:cxn>
                <a:cxn ang="0">
                  <a:pos x="0" y="25"/>
                </a:cxn>
                <a:cxn ang="0">
                  <a:pos x="17" y="0"/>
                </a:cxn>
              </a:cxnLst>
              <a:rect l="0" t="0" r="r" b="b"/>
              <a:pathLst>
                <a:path w="34" h="31">
                  <a:moveTo>
                    <a:pt x="17" y="0"/>
                  </a:moveTo>
                  <a:lnTo>
                    <a:pt x="34" y="31"/>
                  </a:lnTo>
                  <a:lnTo>
                    <a:pt x="0" y="2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8" name="Line 450"/>
            <p:cNvSpPr>
              <a:spLocks noChangeShapeType="1"/>
            </p:cNvSpPr>
            <p:nvPr/>
          </p:nvSpPr>
          <p:spPr bwMode="auto">
            <a:xfrm flipV="1">
              <a:off x="1490" y="2132"/>
              <a:ext cx="61" cy="5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9" name="Freeform 451"/>
            <p:cNvSpPr>
              <a:spLocks/>
            </p:cNvSpPr>
            <p:nvPr/>
          </p:nvSpPr>
          <p:spPr bwMode="auto">
            <a:xfrm>
              <a:off x="1582" y="2199"/>
              <a:ext cx="31" cy="27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31" y="27"/>
                </a:cxn>
                <a:cxn ang="0">
                  <a:pos x="15" y="0"/>
                </a:cxn>
                <a:cxn ang="0">
                  <a:pos x="0" y="27"/>
                </a:cxn>
              </a:cxnLst>
              <a:rect l="0" t="0" r="r" b="b"/>
              <a:pathLst>
                <a:path w="31" h="27">
                  <a:moveTo>
                    <a:pt x="0" y="27"/>
                  </a:moveTo>
                  <a:lnTo>
                    <a:pt x="31" y="27"/>
                  </a:lnTo>
                  <a:lnTo>
                    <a:pt x="15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0" name="Line 452"/>
            <p:cNvSpPr>
              <a:spLocks noChangeShapeType="1"/>
            </p:cNvSpPr>
            <p:nvPr/>
          </p:nvSpPr>
          <p:spPr bwMode="auto">
            <a:xfrm flipH="1">
              <a:off x="1447" y="2171"/>
              <a:ext cx="2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1" name="Line 453"/>
            <p:cNvSpPr>
              <a:spLocks noChangeShapeType="1"/>
            </p:cNvSpPr>
            <p:nvPr/>
          </p:nvSpPr>
          <p:spPr bwMode="auto">
            <a:xfrm flipH="1">
              <a:off x="1580" y="2199"/>
              <a:ext cx="3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2" name="Freeform 454"/>
            <p:cNvSpPr>
              <a:spLocks/>
            </p:cNvSpPr>
            <p:nvPr/>
          </p:nvSpPr>
          <p:spPr bwMode="auto">
            <a:xfrm>
              <a:off x="1551" y="2132"/>
              <a:ext cx="46" cy="67"/>
            </a:xfrm>
            <a:custGeom>
              <a:avLst/>
              <a:gdLst/>
              <a:ahLst/>
              <a:cxnLst>
                <a:cxn ang="0">
                  <a:pos x="46" y="67"/>
                </a:cxn>
                <a:cxn ang="0">
                  <a:pos x="46" y="0"/>
                </a:cxn>
                <a:cxn ang="0">
                  <a:pos x="0" y="0"/>
                </a:cxn>
              </a:cxnLst>
              <a:rect l="0" t="0" r="r" b="b"/>
              <a:pathLst>
                <a:path w="46" h="67">
                  <a:moveTo>
                    <a:pt x="46" y="67"/>
                  </a:moveTo>
                  <a:lnTo>
                    <a:pt x="46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3" name="Freeform 455"/>
            <p:cNvSpPr>
              <a:spLocks/>
            </p:cNvSpPr>
            <p:nvPr/>
          </p:nvSpPr>
          <p:spPr bwMode="auto">
            <a:xfrm>
              <a:off x="1553" y="2226"/>
              <a:ext cx="44" cy="57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44" y="57"/>
                </a:cxn>
                <a:cxn ang="0">
                  <a:pos x="0" y="57"/>
                </a:cxn>
              </a:cxnLst>
              <a:rect l="0" t="0" r="r" b="b"/>
              <a:pathLst>
                <a:path w="44" h="57">
                  <a:moveTo>
                    <a:pt x="44" y="0"/>
                  </a:moveTo>
                  <a:lnTo>
                    <a:pt x="44" y="57"/>
                  </a:lnTo>
                  <a:lnTo>
                    <a:pt x="0" y="57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4" name="Freeform 456"/>
            <p:cNvSpPr>
              <a:spLocks/>
            </p:cNvSpPr>
            <p:nvPr/>
          </p:nvSpPr>
          <p:spPr bwMode="auto">
            <a:xfrm>
              <a:off x="1541" y="1917"/>
              <a:ext cx="20" cy="19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" y="4"/>
                </a:cxn>
                <a:cxn ang="0">
                  <a:pos x="7" y="0"/>
                </a:cxn>
                <a:cxn ang="0">
                  <a:pos x="13" y="0"/>
                </a:cxn>
                <a:cxn ang="0">
                  <a:pos x="18" y="4"/>
                </a:cxn>
                <a:cxn ang="0">
                  <a:pos x="20" y="10"/>
                </a:cxn>
                <a:cxn ang="0">
                  <a:pos x="18" y="15"/>
                </a:cxn>
                <a:cxn ang="0">
                  <a:pos x="13" y="19"/>
                </a:cxn>
                <a:cxn ang="0">
                  <a:pos x="7" y="19"/>
                </a:cxn>
                <a:cxn ang="0">
                  <a:pos x="2" y="15"/>
                </a:cxn>
                <a:cxn ang="0">
                  <a:pos x="0" y="10"/>
                </a:cxn>
              </a:cxnLst>
              <a:rect l="0" t="0" r="r" b="b"/>
              <a:pathLst>
                <a:path w="20" h="19">
                  <a:moveTo>
                    <a:pt x="0" y="10"/>
                  </a:moveTo>
                  <a:lnTo>
                    <a:pt x="2" y="4"/>
                  </a:lnTo>
                  <a:lnTo>
                    <a:pt x="7" y="0"/>
                  </a:lnTo>
                  <a:lnTo>
                    <a:pt x="13" y="0"/>
                  </a:lnTo>
                  <a:lnTo>
                    <a:pt x="18" y="4"/>
                  </a:lnTo>
                  <a:lnTo>
                    <a:pt x="20" y="10"/>
                  </a:lnTo>
                  <a:lnTo>
                    <a:pt x="18" y="15"/>
                  </a:lnTo>
                  <a:lnTo>
                    <a:pt x="13" y="19"/>
                  </a:lnTo>
                  <a:lnTo>
                    <a:pt x="7" y="19"/>
                  </a:lnTo>
                  <a:lnTo>
                    <a:pt x="2" y="1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5" name="Freeform 457"/>
            <p:cNvSpPr>
              <a:spLocks/>
            </p:cNvSpPr>
            <p:nvPr/>
          </p:nvSpPr>
          <p:spPr bwMode="auto">
            <a:xfrm>
              <a:off x="1541" y="2327"/>
              <a:ext cx="20" cy="19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" y="4"/>
                </a:cxn>
                <a:cxn ang="0">
                  <a:pos x="7" y="0"/>
                </a:cxn>
                <a:cxn ang="0">
                  <a:pos x="13" y="0"/>
                </a:cxn>
                <a:cxn ang="0">
                  <a:pos x="18" y="4"/>
                </a:cxn>
                <a:cxn ang="0">
                  <a:pos x="20" y="10"/>
                </a:cxn>
                <a:cxn ang="0">
                  <a:pos x="18" y="16"/>
                </a:cxn>
                <a:cxn ang="0">
                  <a:pos x="13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0"/>
                </a:cxn>
              </a:cxnLst>
              <a:rect l="0" t="0" r="r" b="b"/>
              <a:pathLst>
                <a:path w="20" h="19">
                  <a:moveTo>
                    <a:pt x="0" y="10"/>
                  </a:moveTo>
                  <a:lnTo>
                    <a:pt x="2" y="4"/>
                  </a:lnTo>
                  <a:lnTo>
                    <a:pt x="7" y="0"/>
                  </a:lnTo>
                  <a:lnTo>
                    <a:pt x="13" y="0"/>
                  </a:lnTo>
                  <a:lnTo>
                    <a:pt x="18" y="4"/>
                  </a:lnTo>
                  <a:lnTo>
                    <a:pt x="20" y="10"/>
                  </a:lnTo>
                  <a:lnTo>
                    <a:pt x="18" y="16"/>
                  </a:lnTo>
                  <a:lnTo>
                    <a:pt x="13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6" name="Freeform 458"/>
            <p:cNvSpPr>
              <a:spLocks/>
            </p:cNvSpPr>
            <p:nvPr/>
          </p:nvSpPr>
          <p:spPr bwMode="auto">
            <a:xfrm>
              <a:off x="1541" y="1634"/>
              <a:ext cx="19" cy="19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1" y="3"/>
                </a:cxn>
                <a:cxn ang="0">
                  <a:pos x="7" y="0"/>
                </a:cxn>
                <a:cxn ang="0">
                  <a:pos x="12" y="0"/>
                </a:cxn>
                <a:cxn ang="0">
                  <a:pos x="18" y="3"/>
                </a:cxn>
                <a:cxn ang="0">
                  <a:pos x="19" y="9"/>
                </a:cxn>
                <a:cxn ang="0">
                  <a:pos x="18" y="16"/>
                </a:cxn>
                <a:cxn ang="0">
                  <a:pos x="12" y="19"/>
                </a:cxn>
                <a:cxn ang="0">
                  <a:pos x="7" y="19"/>
                </a:cxn>
                <a:cxn ang="0">
                  <a:pos x="1" y="16"/>
                </a:cxn>
                <a:cxn ang="0">
                  <a:pos x="0" y="9"/>
                </a:cxn>
              </a:cxnLst>
              <a:rect l="0" t="0" r="r" b="b"/>
              <a:pathLst>
                <a:path w="19" h="19">
                  <a:moveTo>
                    <a:pt x="0" y="9"/>
                  </a:moveTo>
                  <a:lnTo>
                    <a:pt x="1" y="3"/>
                  </a:lnTo>
                  <a:lnTo>
                    <a:pt x="7" y="0"/>
                  </a:lnTo>
                  <a:lnTo>
                    <a:pt x="12" y="0"/>
                  </a:lnTo>
                  <a:lnTo>
                    <a:pt x="18" y="3"/>
                  </a:lnTo>
                  <a:lnTo>
                    <a:pt x="19" y="9"/>
                  </a:lnTo>
                  <a:lnTo>
                    <a:pt x="18" y="16"/>
                  </a:lnTo>
                  <a:lnTo>
                    <a:pt x="12" y="19"/>
                  </a:lnTo>
                  <a:lnTo>
                    <a:pt x="7" y="19"/>
                  </a:lnTo>
                  <a:lnTo>
                    <a:pt x="1" y="1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7" name="Rectangle 459"/>
            <p:cNvSpPr>
              <a:spLocks noChangeArrowheads="1"/>
            </p:cNvSpPr>
            <p:nvPr/>
          </p:nvSpPr>
          <p:spPr bwMode="auto">
            <a:xfrm>
              <a:off x="231" y="1767"/>
              <a:ext cx="233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3</a:t>
              </a:r>
              <a:r>
                <a:rPr lang="ko-KR" altLang="en-US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상 </a:t>
              </a:r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380V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08" name="Rectangle 460"/>
            <p:cNvSpPr>
              <a:spLocks noChangeArrowheads="1"/>
            </p:cNvSpPr>
            <p:nvPr/>
          </p:nvSpPr>
          <p:spPr bwMode="auto">
            <a:xfrm>
              <a:off x="727" y="1435"/>
              <a:ext cx="177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DIODE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09" name="Rectangle 461"/>
            <p:cNvSpPr>
              <a:spLocks noChangeArrowheads="1"/>
            </p:cNvSpPr>
            <p:nvPr/>
          </p:nvSpPr>
          <p:spPr bwMode="auto">
            <a:xfrm>
              <a:off x="638" y="1504"/>
              <a:ext cx="349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CONVERTER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0" name="Rectangle 462"/>
            <p:cNvSpPr>
              <a:spLocks noChangeArrowheads="1"/>
            </p:cNvSpPr>
            <p:nvPr/>
          </p:nvSpPr>
          <p:spPr bwMode="auto">
            <a:xfrm>
              <a:off x="2133" y="1817"/>
              <a:ext cx="114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HCT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1" name="Rectangle 463"/>
            <p:cNvSpPr>
              <a:spLocks noChangeArrowheads="1"/>
            </p:cNvSpPr>
            <p:nvPr/>
          </p:nvSpPr>
          <p:spPr bwMode="auto">
            <a:xfrm>
              <a:off x="2424" y="1516"/>
              <a:ext cx="160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리액터는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2" name="Rectangle 464"/>
            <p:cNvSpPr>
              <a:spLocks noChangeArrowheads="1"/>
            </p:cNvSpPr>
            <p:nvPr/>
          </p:nvSpPr>
          <p:spPr bwMode="auto">
            <a:xfrm>
              <a:off x="2355" y="1574"/>
              <a:ext cx="275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모터용량 </a:t>
              </a:r>
              <a:r>
                <a:rPr lang="en-US" altLang="ko-KR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13kW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3" name="Rectangle 465"/>
            <p:cNvSpPr>
              <a:spLocks noChangeArrowheads="1"/>
            </p:cNvSpPr>
            <p:nvPr/>
          </p:nvSpPr>
          <p:spPr bwMode="auto">
            <a:xfrm>
              <a:off x="2371" y="1631"/>
              <a:ext cx="251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이상에만 채용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4" name="Line 466"/>
            <p:cNvSpPr>
              <a:spLocks noChangeShapeType="1"/>
            </p:cNvSpPr>
            <p:nvPr/>
          </p:nvSpPr>
          <p:spPr bwMode="auto">
            <a:xfrm flipH="1">
              <a:off x="2448" y="1695"/>
              <a:ext cx="70" cy="15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5" name="Freeform 467"/>
            <p:cNvSpPr>
              <a:spLocks/>
            </p:cNvSpPr>
            <p:nvPr/>
          </p:nvSpPr>
          <p:spPr bwMode="auto">
            <a:xfrm>
              <a:off x="2438" y="1842"/>
              <a:ext cx="24" cy="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0"/>
                </a:cxn>
                <a:cxn ang="0">
                  <a:pos x="24" y="12"/>
                </a:cxn>
                <a:cxn ang="0">
                  <a:pos x="0" y="0"/>
                </a:cxn>
              </a:cxnLst>
              <a:rect l="0" t="0" r="r" b="b"/>
              <a:pathLst>
                <a:path w="24" h="30">
                  <a:moveTo>
                    <a:pt x="0" y="0"/>
                  </a:moveTo>
                  <a:lnTo>
                    <a:pt x="1" y="30"/>
                  </a:lnTo>
                  <a:lnTo>
                    <a:pt x="24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6" name="Rectangle 468"/>
            <p:cNvSpPr>
              <a:spLocks noChangeArrowheads="1"/>
            </p:cNvSpPr>
            <p:nvPr/>
          </p:nvSpPr>
          <p:spPr bwMode="auto">
            <a:xfrm>
              <a:off x="1447" y="2882"/>
              <a:ext cx="226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DPP-101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7" name="Rectangle 469"/>
            <p:cNvSpPr>
              <a:spLocks noChangeArrowheads="1"/>
            </p:cNvSpPr>
            <p:nvPr/>
          </p:nvSpPr>
          <p:spPr bwMode="auto">
            <a:xfrm>
              <a:off x="2551" y="2868"/>
              <a:ext cx="24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DPC-1XX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8" name="Freeform 470"/>
            <p:cNvSpPr>
              <a:spLocks/>
            </p:cNvSpPr>
            <p:nvPr/>
          </p:nvSpPr>
          <p:spPr bwMode="auto">
            <a:xfrm>
              <a:off x="1643" y="1739"/>
              <a:ext cx="37" cy="876"/>
            </a:xfrm>
            <a:custGeom>
              <a:avLst/>
              <a:gdLst/>
              <a:ahLst/>
              <a:cxnLst>
                <a:cxn ang="0">
                  <a:pos x="0" y="876"/>
                </a:cxn>
                <a:cxn ang="0">
                  <a:pos x="0" y="0"/>
                </a:cxn>
                <a:cxn ang="0">
                  <a:pos x="37" y="0"/>
                </a:cxn>
              </a:cxnLst>
              <a:rect l="0" t="0" r="r" b="b"/>
              <a:pathLst>
                <a:path w="37" h="876">
                  <a:moveTo>
                    <a:pt x="0" y="876"/>
                  </a:moveTo>
                  <a:lnTo>
                    <a:pt x="0" y="0"/>
                  </a:lnTo>
                  <a:lnTo>
                    <a:pt x="37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9" name="Freeform 471"/>
            <p:cNvSpPr>
              <a:spLocks/>
            </p:cNvSpPr>
            <p:nvPr/>
          </p:nvSpPr>
          <p:spPr bwMode="auto">
            <a:xfrm>
              <a:off x="1679" y="2172"/>
              <a:ext cx="3" cy="448"/>
            </a:xfrm>
            <a:custGeom>
              <a:avLst/>
              <a:gdLst/>
              <a:ahLst/>
              <a:cxnLst>
                <a:cxn ang="0">
                  <a:pos x="0" y="448"/>
                </a:cxn>
                <a:cxn ang="0">
                  <a:pos x="0" y="0"/>
                </a:cxn>
                <a:cxn ang="0">
                  <a:pos x="3" y="0"/>
                </a:cxn>
              </a:cxnLst>
              <a:rect l="0" t="0" r="r" b="b"/>
              <a:pathLst>
                <a:path w="3" h="448">
                  <a:moveTo>
                    <a:pt x="0" y="448"/>
                  </a:moveTo>
                  <a:lnTo>
                    <a:pt x="0" y="0"/>
                  </a:lnTo>
                  <a:lnTo>
                    <a:pt x="3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0" name="Freeform 472"/>
            <p:cNvSpPr>
              <a:spLocks/>
            </p:cNvSpPr>
            <p:nvPr/>
          </p:nvSpPr>
          <p:spPr bwMode="auto">
            <a:xfrm>
              <a:off x="1743" y="1983"/>
              <a:ext cx="154" cy="637"/>
            </a:xfrm>
            <a:custGeom>
              <a:avLst/>
              <a:gdLst/>
              <a:ahLst/>
              <a:cxnLst>
                <a:cxn ang="0">
                  <a:pos x="154" y="0"/>
                </a:cxn>
                <a:cxn ang="0">
                  <a:pos x="154" y="545"/>
                </a:cxn>
                <a:cxn ang="0">
                  <a:pos x="0" y="545"/>
                </a:cxn>
                <a:cxn ang="0">
                  <a:pos x="0" y="637"/>
                </a:cxn>
              </a:cxnLst>
              <a:rect l="0" t="0" r="r" b="b"/>
              <a:pathLst>
                <a:path w="154" h="637">
                  <a:moveTo>
                    <a:pt x="154" y="0"/>
                  </a:moveTo>
                  <a:lnTo>
                    <a:pt x="154" y="545"/>
                  </a:lnTo>
                  <a:lnTo>
                    <a:pt x="0" y="545"/>
                  </a:lnTo>
                  <a:lnTo>
                    <a:pt x="0" y="637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1" name="Freeform 473"/>
            <p:cNvSpPr>
              <a:spLocks/>
            </p:cNvSpPr>
            <p:nvPr/>
          </p:nvSpPr>
          <p:spPr bwMode="auto">
            <a:xfrm>
              <a:off x="1884" y="1974"/>
              <a:ext cx="21" cy="19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" y="3"/>
                </a:cxn>
                <a:cxn ang="0">
                  <a:pos x="7" y="0"/>
                </a:cxn>
                <a:cxn ang="0">
                  <a:pos x="14" y="0"/>
                </a:cxn>
                <a:cxn ang="0">
                  <a:pos x="18" y="3"/>
                </a:cxn>
                <a:cxn ang="0">
                  <a:pos x="21" y="10"/>
                </a:cxn>
                <a:cxn ang="0">
                  <a:pos x="18" y="16"/>
                </a:cxn>
                <a:cxn ang="0">
                  <a:pos x="14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0"/>
                </a:cxn>
              </a:cxnLst>
              <a:rect l="0" t="0" r="r" b="b"/>
              <a:pathLst>
                <a:path w="21" h="19">
                  <a:moveTo>
                    <a:pt x="0" y="10"/>
                  </a:moveTo>
                  <a:lnTo>
                    <a:pt x="2" y="3"/>
                  </a:lnTo>
                  <a:lnTo>
                    <a:pt x="7" y="0"/>
                  </a:lnTo>
                  <a:lnTo>
                    <a:pt x="14" y="0"/>
                  </a:lnTo>
                  <a:lnTo>
                    <a:pt x="18" y="3"/>
                  </a:lnTo>
                  <a:lnTo>
                    <a:pt x="21" y="10"/>
                  </a:lnTo>
                  <a:lnTo>
                    <a:pt x="18" y="16"/>
                  </a:lnTo>
                  <a:lnTo>
                    <a:pt x="14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2" name="Freeform 474"/>
            <p:cNvSpPr>
              <a:spLocks/>
            </p:cNvSpPr>
            <p:nvPr/>
          </p:nvSpPr>
          <p:spPr bwMode="auto">
            <a:xfrm>
              <a:off x="1711" y="2343"/>
              <a:ext cx="77" cy="272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77" y="136"/>
                </a:cxn>
                <a:cxn ang="0">
                  <a:pos x="0" y="136"/>
                </a:cxn>
                <a:cxn ang="0">
                  <a:pos x="0" y="272"/>
                </a:cxn>
              </a:cxnLst>
              <a:rect l="0" t="0" r="r" b="b"/>
              <a:pathLst>
                <a:path w="77" h="272">
                  <a:moveTo>
                    <a:pt x="77" y="0"/>
                  </a:moveTo>
                  <a:lnTo>
                    <a:pt x="77" y="136"/>
                  </a:lnTo>
                  <a:lnTo>
                    <a:pt x="0" y="136"/>
                  </a:lnTo>
                  <a:lnTo>
                    <a:pt x="0" y="272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3" name="Freeform 475"/>
            <p:cNvSpPr>
              <a:spLocks/>
            </p:cNvSpPr>
            <p:nvPr/>
          </p:nvSpPr>
          <p:spPr bwMode="auto">
            <a:xfrm>
              <a:off x="2026" y="1645"/>
              <a:ext cx="82" cy="8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2" y="0"/>
                </a:cxn>
                <a:cxn ang="0">
                  <a:pos x="82" y="826"/>
                </a:cxn>
              </a:cxnLst>
              <a:rect l="0" t="0" r="r" b="b"/>
              <a:pathLst>
                <a:path w="82" h="826">
                  <a:moveTo>
                    <a:pt x="0" y="0"/>
                  </a:moveTo>
                  <a:lnTo>
                    <a:pt x="82" y="0"/>
                  </a:lnTo>
                  <a:lnTo>
                    <a:pt x="82" y="826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4" name="Freeform 476"/>
            <p:cNvSpPr>
              <a:spLocks/>
            </p:cNvSpPr>
            <p:nvPr/>
          </p:nvSpPr>
          <p:spPr bwMode="auto">
            <a:xfrm>
              <a:off x="2005" y="2471"/>
              <a:ext cx="103" cy="148"/>
            </a:xfrm>
            <a:custGeom>
              <a:avLst/>
              <a:gdLst/>
              <a:ahLst/>
              <a:cxnLst>
                <a:cxn ang="0">
                  <a:pos x="0" y="148"/>
                </a:cxn>
                <a:cxn ang="0">
                  <a:pos x="0" y="0"/>
                </a:cxn>
                <a:cxn ang="0">
                  <a:pos x="103" y="0"/>
                </a:cxn>
              </a:cxnLst>
              <a:rect l="0" t="0" r="r" b="b"/>
              <a:pathLst>
                <a:path w="103" h="148">
                  <a:moveTo>
                    <a:pt x="0" y="148"/>
                  </a:moveTo>
                  <a:lnTo>
                    <a:pt x="0" y="0"/>
                  </a:lnTo>
                  <a:lnTo>
                    <a:pt x="103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5" name="Freeform 477"/>
            <p:cNvSpPr>
              <a:spLocks/>
            </p:cNvSpPr>
            <p:nvPr/>
          </p:nvSpPr>
          <p:spPr bwMode="auto">
            <a:xfrm>
              <a:off x="2014" y="1634"/>
              <a:ext cx="21" cy="19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" y="3"/>
                </a:cxn>
                <a:cxn ang="0">
                  <a:pos x="7" y="0"/>
                </a:cxn>
                <a:cxn ang="0">
                  <a:pos x="14" y="0"/>
                </a:cxn>
                <a:cxn ang="0">
                  <a:pos x="18" y="3"/>
                </a:cxn>
                <a:cxn ang="0">
                  <a:pos x="21" y="9"/>
                </a:cxn>
                <a:cxn ang="0">
                  <a:pos x="18" y="16"/>
                </a:cxn>
                <a:cxn ang="0">
                  <a:pos x="14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9"/>
                </a:cxn>
              </a:cxnLst>
              <a:rect l="0" t="0" r="r" b="b"/>
              <a:pathLst>
                <a:path w="21" h="19">
                  <a:moveTo>
                    <a:pt x="0" y="9"/>
                  </a:moveTo>
                  <a:lnTo>
                    <a:pt x="2" y="3"/>
                  </a:lnTo>
                  <a:lnTo>
                    <a:pt x="7" y="0"/>
                  </a:lnTo>
                  <a:lnTo>
                    <a:pt x="14" y="0"/>
                  </a:lnTo>
                  <a:lnTo>
                    <a:pt x="18" y="3"/>
                  </a:lnTo>
                  <a:lnTo>
                    <a:pt x="21" y="9"/>
                  </a:lnTo>
                  <a:lnTo>
                    <a:pt x="18" y="16"/>
                  </a:lnTo>
                  <a:lnTo>
                    <a:pt x="14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6" name="Rectangle 478"/>
            <p:cNvSpPr>
              <a:spLocks noChangeArrowheads="1"/>
            </p:cNvSpPr>
            <p:nvPr/>
          </p:nvSpPr>
          <p:spPr bwMode="auto">
            <a:xfrm rot="16200000">
              <a:off x="1941" y="2707"/>
              <a:ext cx="120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GW - 03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27" name="Rectangle 479"/>
            <p:cNvSpPr>
              <a:spLocks noChangeArrowheads="1"/>
            </p:cNvSpPr>
            <p:nvPr/>
          </p:nvSpPr>
          <p:spPr bwMode="auto">
            <a:xfrm rot="16200000">
              <a:off x="1583" y="2711"/>
              <a:ext cx="11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GV - 04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28" name="Rectangle 480"/>
            <p:cNvSpPr>
              <a:spLocks noChangeArrowheads="1"/>
            </p:cNvSpPr>
            <p:nvPr/>
          </p:nvSpPr>
          <p:spPr bwMode="auto">
            <a:xfrm rot="16200000">
              <a:off x="1618" y="2712"/>
              <a:ext cx="11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GV - 01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29" name="Rectangle 481"/>
            <p:cNvSpPr>
              <a:spLocks noChangeArrowheads="1"/>
            </p:cNvSpPr>
            <p:nvPr/>
          </p:nvSpPr>
          <p:spPr bwMode="auto">
            <a:xfrm rot="16200000">
              <a:off x="1655" y="2711"/>
              <a:ext cx="11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GV - 05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30" name="Rectangle 482"/>
            <p:cNvSpPr>
              <a:spLocks noChangeArrowheads="1"/>
            </p:cNvSpPr>
            <p:nvPr/>
          </p:nvSpPr>
          <p:spPr bwMode="auto">
            <a:xfrm rot="16200000">
              <a:off x="1691" y="2711"/>
              <a:ext cx="11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GV - 07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31" name="Rectangle 483"/>
            <p:cNvSpPr>
              <a:spLocks noChangeArrowheads="1"/>
            </p:cNvSpPr>
            <p:nvPr/>
          </p:nvSpPr>
          <p:spPr bwMode="auto">
            <a:xfrm>
              <a:off x="195" y="2753"/>
              <a:ext cx="25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단상 </a:t>
              </a:r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110V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32" name="Line 484"/>
            <p:cNvSpPr>
              <a:spLocks noChangeShapeType="1"/>
            </p:cNvSpPr>
            <p:nvPr/>
          </p:nvSpPr>
          <p:spPr bwMode="auto">
            <a:xfrm flipH="1">
              <a:off x="302" y="2874"/>
              <a:ext cx="22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3" name="Line 485"/>
            <p:cNvSpPr>
              <a:spLocks noChangeShapeType="1"/>
            </p:cNvSpPr>
            <p:nvPr/>
          </p:nvSpPr>
          <p:spPr bwMode="auto">
            <a:xfrm flipH="1">
              <a:off x="305" y="2960"/>
              <a:ext cx="22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4" name="Freeform 486"/>
            <p:cNvSpPr>
              <a:spLocks/>
            </p:cNvSpPr>
            <p:nvPr/>
          </p:nvSpPr>
          <p:spPr bwMode="auto">
            <a:xfrm>
              <a:off x="231" y="2845"/>
              <a:ext cx="149" cy="148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2" y="56"/>
                </a:cxn>
                <a:cxn ang="0">
                  <a:pos x="8" y="39"/>
                </a:cxn>
                <a:cxn ang="0">
                  <a:pos x="18" y="24"/>
                </a:cxn>
                <a:cxn ang="0">
                  <a:pos x="32" y="13"/>
                </a:cxn>
                <a:cxn ang="0">
                  <a:pos x="48" y="5"/>
                </a:cxn>
                <a:cxn ang="0">
                  <a:pos x="66" y="0"/>
                </a:cxn>
                <a:cxn ang="0">
                  <a:pos x="83" y="0"/>
                </a:cxn>
                <a:cxn ang="0">
                  <a:pos x="100" y="5"/>
                </a:cxn>
                <a:cxn ang="0">
                  <a:pos x="116" y="13"/>
                </a:cxn>
                <a:cxn ang="0">
                  <a:pos x="130" y="24"/>
                </a:cxn>
                <a:cxn ang="0">
                  <a:pos x="139" y="39"/>
                </a:cxn>
                <a:cxn ang="0">
                  <a:pos x="146" y="56"/>
                </a:cxn>
                <a:cxn ang="0">
                  <a:pos x="149" y="74"/>
                </a:cxn>
                <a:cxn ang="0">
                  <a:pos x="146" y="91"/>
                </a:cxn>
                <a:cxn ang="0">
                  <a:pos x="139" y="109"/>
                </a:cxn>
                <a:cxn ang="0">
                  <a:pos x="130" y="122"/>
                </a:cxn>
                <a:cxn ang="0">
                  <a:pos x="116" y="135"/>
                </a:cxn>
                <a:cxn ang="0">
                  <a:pos x="100" y="143"/>
                </a:cxn>
                <a:cxn ang="0">
                  <a:pos x="83" y="148"/>
                </a:cxn>
                <a:cxn ang="0">
                  <a:pos x="66" y="148"/>
                </a:cxn>
                <a:cxn ang="0">
                  <a:pos x="48" y="143"/>
                </a:cxn>
                <a:cxn ang="0">
                  <a:pos x="32" y="135"/>
                </a:cxn>
                <a:cxn ang="0">
                  <a:pos x="18" y="122"/>
                </a:cxn>
                <a:cxn ang="0">
                  <a:pos x="8" y="109"/>
                </a:cxn>
                <a:cxn ang="0">
                  <a:pos x="2" y="91"/>
                </a:cxn>
                <a:cxn ang="0">
                  <a:pos x="0" y="74"/>
                </a:cxn>
              </a:cxnLst>
              <a:rect l="0" t="0" r="r" b="b"/>
              <a:pathLst>
                <a:path w="149" h="148">
                  <a:moveTo>
                    <a:pt x="0" y="74"/>
                  </a:moveTo>
                  <a:lnTo>
                    <a:pt x="2" y="56"/>
                  </a:lnTo>
                  <a:lnTo>
                    <a:pt x="8" y="39"/>
                  </a:lnTo>
                  <a:lnTo>
                    <a:pt x="18" y="24"/>
                  </a:lnTo>
                  <a:lnTo>
                    <a:pt x="32" y="13"/>
                  </a:lnTo>
                  <a:lnTo>
                    <a:pt x="48" y="5"/>
                  </a:lnTo>
                  <a:lnTo>
                    <a:pt x="66" y="0"/>
                  </a:lnTo>
                  <a:lnTo>
                    <a:pt x="83" y="0"/>
                  </a:lnTo>
                  <a:lnTo>
                    <a:pt x="100" y="5"/>
                  </a:lnTo>
                  <a:lnTo>
                    <a:pt x="116" y="13"/>
                  </a:lnTo>
                  <a:lnTo>
                    <a:pt x="130" y="24"/>
                  </a:lnTo>
                  <a:lnTo>
                    <a:pt x="139" y="39"/>
                  </a:lnTo>
                  <a:lnTo>
                    <a:pt x="146" y="56"/>
                  </a:lnTo>
                  <a:lnTo>
                    <a:pt x="149" y="74"/>
                  </a:lnTo>
                  <a:lnTo>
                    <a:pt x="146" y="91"/>
                  </a:lnTo>
                  <a:lnTo>
                    <a:pt x="139" y="109"/>
                  </a:lnTo>
                  <a:lnTo>
                    <a:pt x="130" y="122"/>
                  </a:lnTo>
                  <a:lnTo>
                    <a:pt x="116" y="135"/>
                  </a:lnTo>
                  <a:lnTo>
                    <a:pt x="100" y="143"/>
                  </a:lnTo>
                  <a:lnTo>
                    <a:pt x="83" y="148"/>
                  </a:lnTo>
                  <a:lnTo>
                    <a:pt x="66" y="148"/>
                  </a:lnTo>
                  <a:lnTo>
                    <a:pt x="48" y="143"/>
                  </a:lnTo>
                  <a:lnTo>
                    <a:pt x="32" y="135"/>
                  </a:lnTo>
                  <a:lnTo>
                    <a:pt x="18" y="122"/>
                  </a:lnTo>
                  <a:lnTo>
                    <a:pt x="8" y="109"/>
                  </a:lnTo>
                  <a:lnTo>
                    <a:pt x="2" y="91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5" name="Freeform 487"/>
            <p:cNvSpPr>
              <a:spLocks/>
            </p:cNvSpPr>
            <p:nvPr/>
          </p:nvSpPr>
          <p:spPr bwMode="auto">
            <a:xfrm>
              <a:off x="276" y="2909"/>
              <a:ext cx="29" cy="10"/>
            </a:xfrm>
            <a:custGeom>
              <a:avLst/>
              <a:gdLst/>
              <a:ahLst/>
              <a:cxnLst>
                <a:cxn ang="0">
                  <a:pos x="29" y="10"/>
                </a:cxn>
                <a:cxn ang="0">
                  <a:pos x="25" y="3"/>
                </a:cxn>
                <a:cxn ang="0">
                  <a:pos x="18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0"/>
                </a:cxn>
              </a:cxnLst>
              <a:rect l="0" t="0" r="r" b="b"/>
              <a:pathLst>
                <a:path w="29" h="10">
                  <a:moveTo>
                    <a:pt x="29" y="10"/>
                  </a:moveTo>
                  <a:lnTo>
                    <a:pt x="25" y="3"/>
                  </a:lnTo>
                  <a:lnTo>
                    <a:pt x="18" y="0"/>
                  </a:lnTo>
                  <a:lnTo>
                    <a:pt x="10" y="0"/>
                  </a:lnTo>
                  <a:lnTo>
                    <a:pt x="3" y="3"/>
                  </a:lnTo>
                  <a:lnTo>
                    <a:pt x="0" y="1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6" name="Freeform 488"/>
            <p:cNvSpPr>
              <a:spLocks/>
            </p:cNvSpPr>
            <p:nvPr/>
          </p:nvSpPr>
          <p:spPr bwMode="auto">
            <a:xfrm>
              <a:off x="305" y="2919"/>
              <a:ext cx="30" cy="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6"/>
                </a:cxn>
                <a:cxn ang="0">
                  <a:pos x="15" y="8"/>
                </a:cxn>
                <a:cxn ang="0">
                  <a:pos x="24" y="6"/>
                </a:cxn>
                <a:cxn ang="0">
                  <a:pos x="30" y="0"/>
                </a:cxn>
              </a:cxnLst>
              <a:rect l="0" t="0" r="r" b="b"/>
              <a:pathLst>
                <a:path w="30" h="8">
                  <a:moveTo>
                    <a:pt x="0" y="0"/>
                  </a:moveTo>
                  <a:lnTo>
                    <a:pt x="7" y="6"/>
                  </a:lnTo>
                  <a:lnTo>
                    <a:pt x="15" y="8"/>
                  </a:lnTo>
                  <a:lnTo>
                    <a:pt x="24" y="6"/>
                  </a:lnTo>
                  <a:lnTo>
                    <a:pt x="3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7" name="Rectangle 489"/>
            <p:cNvSpPr>
              <a:spLocks noChangeArrowheads="1"/>
            </p:cNvSpPr>
            <p:nvPr/>
          </p:nvSpPr>
          <p:spPr bwMode="auto">
            <a:xfrm>
              <a:off x="605" y="2848"/>
              <a:ext cx="155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GATE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38" name="Rectangle 490"/>
            <p:cNvSpPr>
              <a:spLocks noChangeArrowheads="1"/>
            </p:cNvSpPr>
            <p:nvPr/>
          </p:nvSpPr>
          <p:spPr bwMode="auto">
            <a:xfrm>
              <a:off x="587" y="2917"/>
              <a:ext cx="19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TRANS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39" name="Rectangle 491"/>
            <p:cNvSpPr>
              <a:spLocks noChangeArrowheads="1"/>
            </p:cNvSpPr>
            <p:nvPr/>
          </p:nvSpPr>
          <p:spPr bwMode="auto">
            <a:xfrm>
              <a:off x="536" y="2620"/>
              <a:ext cx="286" cy="597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0" name="Rectangle 492"/>
            <p:cNvSpPr>
              <a:spLocks noChangeArrowheads="1"/>
            </p:cNvSpPr>
            <p:nvPr/>
          </p:nvSpPr>
          <p:spPr bwMode="auto">
            <a:xfrm>
              <a:off x="1102" y="2694"/>
              <a:ext cx="132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GXV - 02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1" name="Rectangle 493"/>
            <p:cNvSpPr>
              <a:spLocks noChangeArrowheads="1"/>
            </p:cNvSpPr>
            <p:nvPr/>
          </p:nvSpPr>
          <p:spPr bwMode="auto">
            <a:xfrm>
              <a:off x="1102" y="2740"/>
              <a:ext cx="132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GXV - 05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2" name="Rectangle 494"/>
            <p:cNvSpPr>
              <a:spLocks noChangeArrowheads="1"/>
            </p:cNvSpPr>
            <p:nvPr/>
          </p:nvSpPr>
          <p:spPr bwMode="auto">
            <a:xfrm>
              <a:off x="1102" y="2786"/>
              <a:ext cx="13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GXL - 04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3" name="Rectangle 495"/>
            <p:cNvSpPr>
              <a:spLocks noChangeArrowheads="1"/>
            </p:cNvSpPr>
            <p:nvPr/>
          </p:nvSpPr>
          <p:spPr bwMode="auto">
            <a:xfrm>
              <a:off x="1102" y="2831"/>
              <a:ext cx="13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GXL - 13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4" name="Rectangle 496"/>
            <p:cNvSpPr>
              <a:spLocks noChangeArrowheads="1"/>
            </p:cNvSpPr>
            <p:nvPr/>
          </p:nvSpPr>
          <p:spPr bwMode="auto">
            <a:xfrm>
              <a:off x="2351" y="2620"/>
              <a:ext cx="568" cy="597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5" name="Freeform 497"/>
            <p:cNvSpPr>
              <a:spLocks/>
            </p:cNvSpPr>
            <p:nvPr/>
          </p:nvSpPr>
          <p:spPr bwMode="auto">
            <a:xfrm>
              <a:off x="2060" y="2864"/>
              <a:ext cx="286" cy="110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88" y="0"/>
                </a:cxn>
                <a:cxn ang="0">
                  <a:pos x="70" y="26"/>
                </a:cxn>
                <a:cxn ang="0">
                  <a:pos x="214" y="26"/>
                </a:cxn>
                <a:cxn ang="0">
                  <a:pos x="197" y="0"/>
                </a:cxn>
                <a:cxn ang="0">
                  <a:pos x="286" y="55"/>
                </a:cxn>
                <a:cxn ang="0">
                  <a:pos x="197" y="110"/>
                </a:cxn>
                <a:cxn ang="0">
                  <a:pos x="214" y="83"/>
                </a:cxn>
                <a:cxn ang="0">
                  <a:pos x="70" y="83"/>
                </a:cxn>
                <a:cxn ang="0">
                  <a:pos x="88" y="110"/>
                </a:cxn>
                <a:cxn ang="0">
                  <a:pos x="0" y="55"/>
                </a:cxn>
              </a:cxnLst>
              <a:rect l="0" t="0" r="r" b="b"/>
              <a:pathLst>
                <a:path w="286" h="110">
                  <a:moveTo>
                    <a:pt x="0" y="55"/>
                  </a:moveTo>
                  <a:lnTo>
                    <a:pt x="88" y="0"/>
                  </a:lnTo>
                  <a:lnTo>
                    <a:pt x="70" y="26"/>
                  </a:lnTo>
                  <a:lnTo>
                    <a:pt x="214" y="26"/>
                  </a:lnTo>
                  <a:lnTo>
                    <a:pt x="197" y="0"/>
                  </a:lnTo>
                  <a:lnTo>
                    <a:pt x="286" y="55"/>
                  </a:lnTo>
                  <a:lnTo>
                    <a:pt x="197" y="110"/>
                  </a:lnTo>
                  <a:lnTo>
                    <a:pt x="214" y="83"/>
                  </a:lnTo>
                  <a:lnTo>
                    <a:pt x="70" y="83"/>
                  </a:lnTo>
                  <a:lnTo>
                    <a:pt x="88" y="11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6" name="Rectangle 498"/>
            <p:cNvSpPr>
              <a:spLocks noChangeArrowheads="1"/>
            </p:cNvSpPr>
            <p:nvPr/>
          </p:nvSpPr>
          <p:spPr bwMode="auto">
            <a:xfrm>
              <a:off x="1961" y="2887"/>
              <a:ext cx="56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VA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7" name="Rectangle 499"/>
            <p:cNvSpPr>
              <a:spLocks noChangeArrowheads="1"/>
            </p:cNvSpPr>
            <p:nvPr/>
          </p:nvSpPr>
          <p:spPr bwMode="auto">
            <a:xfrm>
              <a:off x="2369" y="2887"/>
              <a:ext cx="58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VG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8" name="Rectangle 500"/>
            <p:cNvSpPr>
              <a:spLocks noChangeArrowheads="1"/>
            </p:cNvSpPr>
            <p:nvPr/>
          </p:nvSpPr>
          <p:spPr bwMode="auto">
            <a:xfrm>
              <a:off x="1484" y="2968"/>
              <a:ext cx="162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(GDC)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9" name="Rectangle 501"/>
            <p:cNvSpPr>
              <a:spLocks noChangeArrowheads="1"/>
            </p:cNvSpPr>
            <p:nvPr/>
          </p:nvSpPr>
          <p:spPr bwMode="auto">
            <a:xfrm>
              <a:off x="2604" y="2948"/>
              <a:ext cx="13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(INV)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50" name="Freeform 502"/>
            <p:cNvSpPr>
              <a:spLocks/>
            </p:cNvSpPr>
            <p:nvPr/>
          </p:nvSpPr>
          <p:spPr bwMode="auto">
            <a:xfrm>
              <a:off x="2179" y="1955"/>
              <a:ext cx="303" cy="6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32"/>
                </a:cxn>
                <a:cxn ang="0">
                  <a:pos x="303" y="332"/>
                </a:cxn>
                <a:cxn ang="0">
                  <a:pos x="303" y="664"/>
                </a:cxn>
              </a:cxnLst>
              <a:rect l="0" t="0" r="r" b="b"/>
              <a:pathLst>
                <a:path w="303" h="664">
                  <a:moveTo>
                    <a:pt x="0" y="0"/>
                  </a:moveTo>
                  <a:lnTo>
                    <a:pt x="0" y="332"/>
                  </a:lnTo>
                  <a:lnTo>
                    <a:pt x="303" y="332"/>
                  </a:lnTo>
                  <a:lnTo>
                    <a:pt x="303" y="66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1" name="Freeform 503"/>
            <p:cNvSpPr>
              <a:spLocks/>
            </p:cNvSpPr>
            <p:nvPr/>
          </p:nvSpPr>
          <p:spPr bwMode="auto">
            <a:xfrm>
              <a:off x="2277" y="2013"/>
              <a:ext cx="297" cy="6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4"/>
                </a:cxn>
                <a:cxn ang="0">
                  <a:pos x="297" y="204"/>
                </a:cxn>
                <a:cxn ang="0">
                  <a:pos x="297" y="606"/>
                </a:cxn>
              </a:cxnLst>
              <a:rect l="0" t="0" r="r" b="b"/>
              <a:pathLst>
                <a:path w="297" h="606">
                  <a:moveTo>
                    <a:pt x="0" y="0"/>
                  </a:moveTo>
                  <a:lnTo>
                    <a:pt x="0" y="204"/>
                  </a:lnTo>
                  <a:lnTo>
                    <a:pt x="297" y="204"/>
                  </a:lnTo>
                  <a:lnTo>
                    <a:pt x="297" y="606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2" name="Rectangle 504"/>
            <p:cNvSpPr>
              <a:spLocks noChangeArrowheads="1"/>
            </p:cNvSpPr>
            <p:nvPr/>
          </p:nvSpPr>
          <p:spPr bwMode="auto">
            <a:xfrm rot="16200000">
              <a:off x="2417" y="2712"/>
              <a:ext cx="109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VB - 03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53" name="Rectangle 505"/>
            <p:cNvSpPr>
              <a:spLocks noChangeArrowheads="1"/>
            </p:cNvSpPr>
            <p:nvPr/>
          </p:nvSpPr>
          <p:spPr bwMode="auto">
            <a:xfrm rot="16200000">
              <a:off x="2508" y="2711"/>
              <a:ext cx="109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VB - 07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54" name="Freeform 506"/>
            <p:cNvSpPr>
              <a:spLocks/>
            </p:cNvSpPr>
            <p:nvPr/>
          </p:nvSpPr>
          <p:spPr bwMode="auto">
            <a:xfrm>
              <a:off x="1322" y="1634"/>
              <a:ext cx="19" cy="19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1" y="3"/>
                </a:cxn>
                <a:cxn ang="0">
                  <a:pos x="7" y="0"/>
                </a:cxn>
                <a:cxn ang="0">
                  <a:pos x="12" y="0"/>
                </a:cxn>
                <a:cxn ang="0">
                  <a:pos x="18" y="3"/>
                </a:cxn>
                <a:cxn ang="0">
                  <a:pos x="19" y="9"/>
                </a:cxn>
                <a:cxn ang="0">
                  <a:pos x="18" y="16"/>
                </a:cxn>
                <a:cxn ang="0">
                  <a:pos x="12" y="19"/>
                </a:cxn>
                <a:cxn ang="0">
                  <a:pos x="7" y="19"/>
                </a:cxn>
                <a:cxn ang="0">
                  <a:pos x="1" y="16"/>
                </a:cxn>
                <a:cxn ang="0">
                  <a:pos x="0" y="9"/>
                </a:cxn>
              </a:cxnLst>
              <a:rect l="0" t="0" r="r" b="b"/>
              <a:pathLst>
                <a:path w="19" h="19">
                  <a:moveTo>
                    <a:pt x="0" y="9"/>
                  </a:moveTo>
                  <a:lnTo>
                    <a:pt x="1" y="3"/>
                  </a:lnTo>
                  <a:lnTo>
                    <a:pt x="7" y="0"/>
                  </a:lnTo>
                  <a:lnTo>
                    <a:pt x="12" y="0"/>
                  </a:lnTo>
                  <a:lnTo>
                    <a:pt x="18" y="3"/>
                  </a:lnTo>
                  <a:lnTo>
                    <a:pt x="19" y="9"/>
                  </a:lnTo>
                  <a:lnTo>
                    <a:pt x="18" y="16"/>
                  </a:lnTo>
                  <a:lnTo>
                    <a:pt x="12" y="19"/>
                  </a:lnTo>
                  <a:lnTo>
                    <a:pt x="7" y="19"/>
                  </a:lnTo>
                  <a:lnTo>
                    <a:pt x="1" y="1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555" name="Rectangle 507"/>
          <p:cNvSpPr>
            <a:spLocks noChangeArrowheads="1"/>
          </p:cNvSpPr>
          <p:nvPr/>
        </p:nvSpPr>
        <p:spPr bwMode="auto">
          <a:xfrm>
            <a:off x="5029200" y="1042988"/>
            <a:ext cx="3986213" cy="511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DPC-1XX(INV)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및 </a:t>
            </a:r>
          </a:p>
          <a:p>
            <a:pPr defTabSz="873125" latinLnBrk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DPP-10X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상태 확인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DPP-10X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GXV, GXL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확인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DPP-10X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GV, GW-03PIN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DPP-10X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GV, GW,  INV STACK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케이블이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연결된 상태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방향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화살표 방향이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바닥으로 향하고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있으면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전선의 관통방향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-INV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과전류참조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연결상태 확인 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신호선이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VB-03, 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신호선이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VB-07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연결 되었는지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DPP-10X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TP2, TP5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전원 확인 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GATE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단자전압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(IGBT SWITCHING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안할 시에는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-8V±1V)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E/L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운행 중이지 않을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TDC 33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검출되면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DPC- 1XX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DPP-101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커넥터를 확인하고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좌도에서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D21(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좌표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양단 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임에도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33 Error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검출되면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RA1(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좌표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8I)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전위가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+15V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 B/D  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101 B/D VA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연결여부를 확인한다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(Short Check-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연결되어 있으면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).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DPP-1XX(GDC)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11. DPC-1XX(INV)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12. IPM, 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검사 후 교체</a:t>
            </a:r>
          </a:p>
        </p:txBody>
      </p:sp>
      <p:sp>
        <p:nvSpPr>
          <p:cNvPr id="2556" name="Rectangle 508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34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37338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인버터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[ER_INV_W_IGBT]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029200" y="1066800"/>
            <a:ext cx="4038600" cy="511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DPC-1XX(INV)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및 </a:t>
            </a:r>
          </a:p>
          <a:p>
            <a:pPr defTabSz="873125" latinLnBrk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DPP-10X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상태 확인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DPP-10X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GXW, GXL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확인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DPP-10X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GW, GW-03PIN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DPP-10X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GW,  INV STACK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케이블이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연결된 상태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방향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화살표 방향이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바닥으로 향하고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있으면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전선의 관통방향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-INV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과전류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연결상태 확인 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신호선이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VB-03, 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신호선이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VB-07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연결 되었는지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DPP-10X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TP1, TP4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전원 확인 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GATE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단자전압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(IGBT SWITCHING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안할 시에는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-8V±1V)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E/L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운행 중이지 않을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TDC 34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검출되면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DPC- 1XX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DPP-10X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커넥터를 확인하고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좌도에서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D20(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좌표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5C)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양단 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임에도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34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검출되면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RA1(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좌표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8I)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전위가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+15V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 B/D  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DPP-10X B/D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VA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연결여부를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(Short Check-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연결되어 있으면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).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DPP-1XX(GDC)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11. DPC-1XX(INV)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12. IPM, 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검사 및 교체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80988" y="2087563"/>
            <a:ext cx="4324350" cy="2828925"/>
            <a:chOff x="177" y="1315"/>
            <a:chExt cx="2724" cy="1782"/>
          </a:xfrm>
        </p:grpSpPr>
        <p:grpSp>
          <p:nvGrpSpPr>
            <p:cNvPr id="3" name="Group 20"/>
            <p:cNvGrpSpPr>
              <a:grpSpLocks/>
            </p:cNvGrpSpPr>
            <p:nvPr/>
          </p:nvGrpSpPr>
          <p:grpSpPr bwMode="auto">
            <a:xfrm>
              <a:off x="804" y="1543"/>
              <a:ext cx="1737" cy="1192"/>
              <a:chOff x="803" y="1543"/>
              <a:chExt cx="1737" cy="1192"/>
            </a:xfrm>
          </p:grpSpPr>
          <p:sp>
            <p:nvSpPr>
              <p:cNvPr id="2069" name="Line 21"/>
              <p:cNvSpPr>
                <a:spLocks noChangeShapeType="1"/>
              </p:cNvSpPr>
              <p:nvPr/>
            </p:nvSpPr>
            <p:spPr bwMode="auto">
              <a:xfrm>
                <a:off x="803" y="2597"/>
                <a:ext cx="25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0" name="Line 22"/>
              <p:cNvSpPr>
                <a:spLocks noChangeShapeType="1"/>
              </p:cNvSpPr>
              <p:nvPr/>
            </p:nvSpPr>
            <p:spPr bwMode="auto">
              <a:xfrm>
                <a:off x="803" y="2643"/>
                <a:ext cx="25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1" name="Line 23"/>
              <p:cNvSpPr>
                <a:spLocks noChangeShapeType="1"/>
              </p:cNvSpPr>
              <p:nvPr/>
            </p:nvSpPr>
            <p:spPr bwMode="auto">
              <a:xfrm>
                <a:off x="803" y="2734"/>
                <a:ext cx="25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2" name="Line 24"/>
              <p:cNvSpPr>
                <a:spLocks noChangeShapeType="1"/>
              </p:cNvSpPr>
              <p:nvPr/>
            </p:nvSpPr>
            <p:spPr bwMode="auto">
              <a:xfrm>
                <a:off x="803" y="2688"/>
                <a:ext cx="25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3" name="Rectangle 25"/>
              <p:cNvSpPr>
                <a:spLocks noChangeArrowheads="1"/>
              </p:cNvSpPr>
              <p:nvPr/>
            </p:nvSpPr>
            <p:spPr bwMode="auto">
              <a:xfrm>
                <a:off x="1888" y="1543"/>
                <a:ext cx="190" cy="64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4" name="Line 26"/>
              <p:cNvSpPr>
                <a:spLocks noChangeShapeType="1"/>
              </p:cNvSpPr>
              <p:nvPr/>
            </p:nvSpPr>
            <p:spPr bwMode="auto">
              <a:xfrm>
                <a:off x="1888" y="219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5" name="Line 27"/>
              <p:cNvSpPr>
                <a:spLocks noChangeShapeType="1"/>
              </p:cNvSpPr>
              <p:nvPr/>
            </p:nvSpPr>
            <p:spPr bwMode="auto">
              <a:xfrm>
                <a:off x="1897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6" name="Line 28"/>
              <p:cNvSpPr>
                <a:spLocks noChangeShapeType="1"/>
              </p:cNvSpPr>
              <p:nvPr/>
            </p:nvSpPr>
            <p:spPr bwMode="auto">
              <a:xfrm>
                <a:off x="1906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1916" y="219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1925" y="219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1934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1943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1" name="Line 33"/>
              <p:cNvSpPr>
                <a:spLocks noChangeShapeType="1"/>
              </p:cNvSpPr>
              <p:nvPr/>
            </p:nvSpPr>
            <p:spPr bwMode="auto">
              <a:xfrm>
                <a:off x="1952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>
                <a:off x="1962" y="219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3" name="Line 35"/>
              <p:cNvSpPr>
                <a:spLocks noChangeShapeType="1"/>
              </p:cNvSpPr>
              <p:nvPr/>
            </p:nvSpPr>
            <p:spPr bwMode="auto">
              <a:xfrm>
                <a:off x="1971" y="219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4" name="Line 36"/>
              <p:cNvSpPr>
                <a:spLocks noChangeShapeType="1"/>
              </p:cNvSpPr>
              <p:nvPr/>
            </p:nvSpPr>
            <p:spPr bwMode="auto">
              <a:xfrm>
                <a:off x="1980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5" name="Line 37"/>
              <p:cNvSpPr>
                <a:spLocks noChangeShapeType="1"/>
              </p:cNvSpPr>
              <p:nvPr/>
            </p:nvSpPr>
            <p:spPr bwMode="auto">
              <a:xfrm>
                <a:off x="1989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6" name="Line 38"/>
              <p:cNvSpPr>
                <a:spLocks noChangeShapeType="1"/>
              </p:cNvSpPr>
              <p:nvPr/>
            </p:nvSpPr>
            <p:spPr bwMode="auto">
              <a:xfrm>
                <a:off x="1998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7" name="Line 39"/>
              <p:cNvSpPr>
                <a:spLocks noChangeShapeType="1"/>
              </p:cNvSpPr>
              <p:nvPr/>
            </p:nvSpPr>
            <p:spPr bwMode="auto">
              <a:xfrm>
                <a:off x="2008" y="219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8" name="Line 40"/>
              <p:cNvSpPr>
                <a:spLocks noChangeShapeType="1"/>
              </p:cNvSpPr>
              <p:nvPr/>
            </p:nvSpPr>
            <p:spPr bwMode="auto">
              <a:xfrm>
                <a:off x="2017" y="219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9" name="Line 41"/>
              <p:cNvSpPr>
                <a:spLocks noChangeShapeType="1"/>
              </p:cNvSpPr>
              <p:nvPr/>
            </p:nvSpPr>
            <p:spPr bwMode="auto">
              <a:xfrm>
                <a:off x="2026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>
                <a:off x="2035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>
                <a:off x="2045" y="219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2054" y="219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2063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4" name="Line 46"/>
              <p:cNvSpPr>
                <a:spLocks noChangeShapeType="1"/>
              </p:cNvSpPr>
              <p:nvPr/>
            </p:nvSpPr>
            <p:spPr bwMode="auto">
              <a:xfrm>
                <a:off x="2072" y="219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 flipV="1">
                <a:off x="2078" y="218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6" name="Line 48"/>
              <p:cNvSpPr>
                <a:spLocks noChangeShapeType="1"/>
              </p:cNvSpPr>
              <p:nvPr/>
            </p:nvSpPr>
            <p:spPr bwMode="auto">
              <a:xfrm flipV="1">
                <a:off x="2078" y="217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7" name="Line 49"/>
              <p:cNvSpPr>
                <a:spLocks noChangeShapeType="1"/>
              </p:cNvSpPr>
              <p:nvPr/>
            </p:nvSpPr>
            <p:spPr bwMode="auto">
              <a:xfrm flipV="1">
                <a:off x="2078" y="216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8" name="Line 50"/>
              <p:cNvSpPr>
                <a:spLocks noChangeShapeType="1"/>
              </p:cNvSpPr>
              <p:nvPr/>
            </p:nvSpPr>
            <p:spPr bwMode="auto">
              <a:xfrm flipV="1">
                <a:off x="2078" y="215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9" name="Line 51"/>
              <p:cNvSpPr>
                <a:spLocks noChangeShapeType="1"/>
              </p:cNvSpPr>
              <p:nvPr/>
            </p:nvSpPr>
            <p:spPr bwMode="auto">
              <a:xfrm flipV="1">
                <a:off x="2078" y="214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0" name="Line 52"/>
              <p:cNvSpPr>
                <a:spLocks noChangeShapeType="1"/>
              </p:cNvSpPr>
              <p:nvPr/>
            </p:nvSpPr>
            <p:spPr bwMode="auto">
              <a:xfrm flipV="1">
                <a:off x="2078" y="213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1" name="Line 53"/>
              <p:cNvSpPr>
                <a:spLocks noChangeShapeType="1"/>
              </p:cNvSpPr>
              <p:nvPr/>
            </p:nvSpPr>
            <p:spPr bwMode="auto">
              <a:xfrm flipV="1">
                <a:off x="2078" y="212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 flipV="1">
                <a:off x="2078" y="211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3" name="Line 55"/>
              <p:cNvSpPr>
                <a:spLocks noChangeShapeType="1"/>
              </p:cNvSpPr>
              <p:nvPr/>
            </p:nvSpPr>
            <p:spPr bwMode="auto">
              <a:xfrm flipV="1">
                <a:off x="2078" y="211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4" name="Line 56"/>
              <p:cNvSpPr>
                <a:spLocks noChangeShapeType="1"/>
              </p:cNvSpPr>
              <p:nvPr/>
            </p:nvSpPr>
            <p:spPr bwMode="auto">
              <a:xfrm flipV="1">
                <a:off x="2078" y="210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5" name="Line 57"/>
              <p:cNvSpPr>
                <a:spLocks noChangeShapeType="1"/>
              </p:cNvSpPr>
              <p:nvPr/>
            </p:nvSpPr>
            <p:spPr bwMode="auto">
              <a:xfrm flipV="1">
                <a:off x="2078" y="209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 flipV="1">
                <a:off x="2078" y="208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 flipV="1">
                <a:off x="2078" y="207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 flipV="1">
                <a:off x="2078" y="206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 flipV="1">
                <a:off x="2078" y="205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 flipV="1">
                <a:off x="2078" y="204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 flipV="1">
                <a:off x="2078" y="203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 flipV="1">
                <a:off x="2078" y="202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 flipV="1">
                <a:off x="2078" y="201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 flipV="1">
                <a:off x="2078" y="200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 flipV="1">
                <a:off x="2078" y="19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 flipV="1">
                <a:off x="2078" y="199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 flipV="1">
                <a:off x="2078" y="198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 flipV="1">
                <a:off x="2078" y="197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 flipV="1">
                <a:off x="2078" y="196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 flipV="1">
                <a:off x="2078" y="195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 flipV="1">
                <a:off x="2078" y="194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2" name="Line 74"/>
              <p:cNvSpPr>
                <a:spLocks noChangeShapeType="1"/>
              </p:cNvSpPr>
              <p:nvPr/>
            </p:nvSpPr>
            <p:spPr bwMode="auto">
              <a:xfrm flipV="1">
                <a:off x="2078" y="193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 flipV="1">
                <a:off x="2078" y="192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4" name="Line 76"/>
              <p:cNvSpPr>
                <a:spLocks noChangeShapeType="1"/>
              </p:cNvSpPr>
              <p:nvPr/>
            </p:nvSpPr>
            <p:spPr bwMode="auto">
              <a:xfrm flipV="1">
                <a:off x="2078" y="191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5" name="Line 77"/>
              <p:cNvSpPr>
                <a:spLocks noChangeShapeType="1"/>
              </p:cNvSpPr>
              <p:nvPr/>
            </p:nvSpPr>
            <p:spPr bwMode="auto">
              <a:xfrm flipV="1">
                <a:off x="2078" y="190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6" name="Line 78"/>
              <p:cNvSpPr>
                <a:spLocks noChangeShapeType="1"/>
              </p:cNvSpPr>
              <p:nvPr/>
            </p:nvSpPr>
            <p:spPr bwMode="auto">
              <a:xfrm flipV="1">
                <a:off x="2078" y="189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7" name="Line 79"/>
              <p:cNvSpPr>
                <a:spLocks noChangeShapeType="1"/>
              </p:cNvSpPr>
              <p:nvPr/>
            </p:nvSpPr>
            <p:spPr bwMode="auto">
              <a:xfrm flipV="1">
                <a:off x="2078" y="188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 flipV="1">
                <a:off x="2078" y="187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9" name="Line 81"/>
              <p:cNvSpPr>
                <a:spLocks noChangeShapeType="1"/>
              </p:cNvSpPr>
              <p:nvPr/>
            </p:nvSpPr>
            <p:spPr bwMode="auto">
              <a:xfrm flipV="1">
                <a:off x="2078" y="187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 flipV="1">
                <a:off x="2078" y="186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 flipV="1">
                <a:off x="2078" y="185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 flipV="1">
                <a:off x="2078" y="184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 flipV="1">
                <a:off x="2078" y="183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4" name="Line 86"/>
              <p:cNvSpPr>
                <a:spLocks noChangeShapeType="1"/>
              </p:cNvSpPr>
              <p:nvPr/>
            </p:nvSpPr>
            <p:spPr bwMode="auto">
              <a:xfrm flipV="1">
                <a:off x="2078" y="182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5" name="Line 87"/>
              <p:cNvSpPr>
                <a:spLocks noChangeShapeType="1"/>
              </p:cNvSpPr>
              <p:nvPr/>
            </p:nvSpPr>
            <p:spPr bwMode="auto">
              <a:xfrm flipV="1">
                <a:off x="2078" y="181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6" name="Line 88"/>
              <p:cNvSpPr>
                <a:spLocks noChangeShapeType="1"/>
              </p:cNvSpPr>
              <p:nvPr/>
            </p:nvSpPr>
            <p:spPr bwMode="auto">
              <a:xfrm flipV="1">
                <a:off x="2078" y="180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7" name="Line 89"/>
              <p:cNvSpPr>
                <a:spLocks noChangeShapeType="1"/>
              </p:cNvSpPr>
              <p:nvPr/>
            </p:nvSpPr>
            <p:spPr bwMode="auto">
              <a:xfrm flipV="1">
                <a:off x="2078" y="179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8" name="Line 90"/>
              <p:cNvSpPr>
                <a:spLocks noChangeShapeType="1"/>
              </p:cNvSpPr>
              <p:nvPr/>
            </p:nvSpPr>
            <p:spPr bwMode="auto">
              <a:xfrm flipV="1">
                <a:off x="2078" y="178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 flipV="1">
                <a:off x="2078" y="177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 flipV="1">
                <a:off x="2078" y="176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1" name="Line 93"/>
              <p:cNvSpPr>
                <a:spLocks noChangeShapeType="1"/>
              </p:cNvSpPr>
              <p:nvPr/>
            </p:nvSpPr>
            <p:spPr bwMode="auto">
              <a:xfrm flipV="1">
                <a:off x="2078" y="175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 flipV="1">
                <a:off x="2078" y="175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 flipV="1">
                <a:off x="2078" y="174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 flipV="1">
                <a:off x="2078" y="173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 flipV="1">
                <a:off x="2078" y="172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 flipV="1">
                <a:off x="2078" y="171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 flipV="1">
                <a:off x="2078" y="17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 flipV="1">
                <a:off x="2078" y="169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 flipV="1">
                <a:off x="2078" y="168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0" name="Line 102"/>
              <p:cNvSpPr>
                <a:spLocks noChangeShapeType="1"/>
              </p:cNvSpPr>
              <p:nvPr/>
            </p:nvSpPr>
            <p:spPr bwMode="auto">
              <a:xfrm flipV="1">
                <a:off x="2078" y="167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1" name="Line 103"/>
              <p:cNvSpPr>
                <a:spLocks noChangeShapeType="1"/>
              </p:cNvSpPr>
              <p:nvPr/>
            </p:nvSpPr>
            <p:spPr bwMode="auto">
              <a:xfrm flipV="1">
                <a:off x="2078" y="166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2" name="Line 104"/>
              <p:cNvSpPr>
                <a:spLocks noChangeShapeType="1"/>
              </p:cNvSpPr>
              <p:nvPr/>
            </p:nvSpPr>
            <p:spPr bwMode="auto">
              <a:xfrm flipV="1">
                <a:off x="2078" y="16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3" name="Line 105"/>
              <p:cNvSpPr>
                <a:spLocks noChangeShapeType="1"/>
              </p:cNvSpPr>
              <p:nvPr/>
            </p:nvSpPr>
            <p:spPr bwMode="auto">
              <a:xfrm flipV="1">
                <a:off x="2078" y="164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4" name="Line 106"/>
              <p:cNvSpPr>
                <a:spLocks noChangeShapeType="1"/>
              </p:cNvSpPr>
              <p:nvPr/>
            </p:nvSpPr>
            <p:spPr bwMode="auto">
              <a:xfrm flipV="1">
                <a:off x="2078" y="163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5" name="Line 107"/>
              <p:cNvSpPr>
                <a:spLocks noChangeShapeType="1"/>
              </p:cNvSpPr>
              <p:nvPr/>
            </p:nvSpPr>
            <p:spPr bwMode="auto">
              <a:xfrm flipV="1">
                <a:off x="2078" y="163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6" name="Line 108"/>
              <p:cNvSpPr>
                <a:spLocks noChangeShapeType="1"/>
              </p:cNvSpPr>
              <p:nvPr/>
            </p:nvSpPr>
            <p:spPr bwMode="auto">
              <a:xfrm flipV="1">
                <a:off x="2078" y="162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7" name="Line 109"/>
              <p:cNvSpPr>
                <a:spLocks noChangeShapeType="1"/>
              </p:cNvSpPr>
              <p:nvPr/>
            </p:nvSpPr>
            <p:spPr bwMode="auto">
              <a:xfrm flipV="1">
                <a:off x="2078" y="161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auto">
              <a:xfrm flipV="1">
                <a:off x="2078" y="160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9" name="Line 111"/>
              <p:cNvSpPr>
                <a:spLocks noChangeShapeType="1"/>
              </p:cNvSpPr>
              <p:nvPr/>
            </p:nvSpPr>
            <p:spPr bwMode="auto">
              <a:xfrm flipV="1">
                <a:off x="2078" y="159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0" name="Line 112"/>
              <p:cNvSpPr>
                <a:spLocks noChangeShapeType="1"/>
              </p:cNvSpPr>
              <p:nvPr/>
            </p:nvSpPr>
            <p:spPr bwMode="auto">
              <a:xfrm flipV="1">
                <a:off x="2078" y="158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1" name="Line 113"/>
              <p:cNvSpPr>
                <a:spLocks noChangeShapeType="1"/>
              </p:cNvSpPr>
              <p:nvPr/>
            </p:nvSpPr>
            <p:spPr bwMode="auto">
              <a:xfrm flipV="1">
                <a:off x="2078" y="15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2" name="Line 114"/>
              <p:cNvSpPr>
                <a:spLocks noChangeShapeType="1"/>
              </p:cNvSpPr>
              <p:nvPr/>
            </p:nvSpPr>
            <p:spPr bwMode="auto">
              <a:xfrm flipV="1">
                <a:off x="2078" y="156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3" name="Line 115"/>
              <p:cNvSpPr>
                <a:spLocks noChangeShapeType="1"/>
              </p:cNvSpPr>
              <p:nvPr/>
            </p:nvSpPr>
            <p:spPr bwMode="auto">
              <a:xfrm flipV="1">
                <a:off x="2078" y="155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4" name="Line 116"/>
              <p:cNvSpPr>
                <a:spLocks noChangeShapeType="1"/>
              </p:cNvSpPr>
              <p:nvPr/>
            </p:nvSpPr>
            <p:spPr bwMode="auto">
              <a:xfrm flipV="1">
                <a:off x="2078" y="154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5" name="Line 117"/>
              <p:cNvSpPr>
                <a:spLocks noChangeShapeType="1"/>
              </p:cNvSpPr>
              <p:nvPr/>
            </p:nvSpPr>
            <p:spPr bwMode="auto">
              <a:xfrm flipH="1">
                <a:off x="2073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 flipH="1">
                <a:off x="2064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 flipH="1">
                <a:off x="2055" y="154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 flipH="1">
                <a:off x="2046" y="154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 flipH="1">
                <a:off x="2036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 flipH="1">
                <a:off x="2027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 flipH="1">
                <a:off x="2018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 flipH="1">
                <a:off x="2009" y="154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 flipH="1">
                <a:off x="2000" y="154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 flipH="1">
                <a:off x="1990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 flipH="1">
                <a:off x="1981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 flipH="1">
                <a:off x="1972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 flipH="1">
                <a:off x="1963" y="154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 flipH="1">
                <a:off x="1954" y="154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9" name="Line 131"/>
              <p:cNvSpPr>
                <a:spLocks noChangeShapeType="1"/>
              </p:cNvSpPr>
              <p:nvPr/>
            </p:nvSpPr>
            <p:spPr bwMode="auto">
              <a:xfrm flipH="1">
                <a:off x="1944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0" name="Line 132"/>
              <p:cNvSpPr>
                <a:spLocks noChangeShapeType="1"/>
              </p:cNvSpPr>
              <p:nvPr/>
            </p:nvSpPr>
            <p:spPr bwMode="auto">
              <a:xfrm flipH="1">
                <a:off x="1935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1" name="Line 133"/>
              <p:cNvSpPr>
                <a:spLocks noChangeShapeType="1"/>
              </p:cNvSpPr>
              <p:nvPr/>
            </p:nvSpPr>
            <p:spPr bwMode="auto">
              <a:xfrm flipH="1">
                <a:off x="1926" y="154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2" name="Line 134"/>
              <p:cNvSpPr>
                <a:spLocks noChangeShapeType="1"/>
              </p:cNvSpPr>
              <p:nvPr/>
            </p:nvSpPr>
            <p:spPr bwMode="auto">
              <a:xfrm flipH="1">
                <a:off x="1917" y="154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3" name="Line 135"/>
              <p:cNvSpPr>
                <a:spLocks noChangeShapeType="1"/>
              </p:cNvSpPr>
              <p:nvPr/>
            </p:nvSpPr>
            <p:spPr bwMode="auto">
              <a:xfrm flipH="1">
                <a:off x="1907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4" name="Line 136"/>
              <p:cNvSpPr>
                <a:spLocks noChangeShapeType="1"/>
              </p:cNvSpPr>
              <p:nvPr/>
            </p:nvSpPr>
            <p:spPr bwMode="auto">
              <a:xfrm flipH="1">
                <a:off x="1898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auto">
              <a:xfrm flipH="1">
                <a:off x="1889" y="1543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6" name="Line 138"/>
              <p:cNvSpPr>
                <a:spLocks noChangeShapeType="1"/>
              </p:cNvSpPr>
              <p:nvPr/>
            </p:nvSpPr>
            <p:spPr bwMode="auto">
              <a:xfrm>
                <a:off x="1888" y="154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>
                <a:off x="1888" y="155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8" name="Line 140"/>
              <p:cNvSpPr>
                <a:spLocks noChangeShapeType="1"/>
              </p:cNvSpPr>
              <p:nvPr/>
            </p:nvSpPr>
            <p:spPr bwMode="auto">
              <a:xfrm>
                <a:off x="1888" y="156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9" name="Line 141"/>
              <p:cNvSpPr>
                <a:spLocks noChangeShapeType="1"/>
              </p:cNvSpPr>
              <p:nvPr/>
            </p:nvSpPr>
            <p:spPr bwMode="auto">
              <a:xfrm>
                <a:off x="1888" y="157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0" name="Line 142"/>
              <p:cNvSpPr>
                <a:spLocks noChangeShapeType="1"/>
              </p:cNvSpPr>
              <p:nvPr/>
            </p:nvSpPr>
            <p:spPr bwMode="auto">
              <a:xfrm>
                <a:off x="1888" y="158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1" name="Line 143"/>
              <p:cNvSpPr>
                <a:spLocks noChangeShapeType="1"/>
              </p:cNvSpPr>
              <p:nvPr/>
            </p:nvSpPr>
            <p:spPr bwMode="auto">
              <a:xfrm>
                <a:off x="1888" y="159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2" name="Line 144"/>
              <p:cNvSpPr>
                <a:spLocks noChangeShapeType="1"/>
              </p:cNvSpPr>
              <p:nvPr/>
            </p:nvSpPr>
            <p:spPr bwMode="auto">
              <a:xfrm>
                <a:off x="1888" y="160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3" name="Line 145"/>
              <p:cNvSpPr>
                <a:spLocks noChangeShapeType="1"/>
              </p:cNvSpPr>
              <p:nvPr/>
            </p:nvSpPr>
            <p:spPr bwMode="auto">
              <a:xfrm>
                <a:off x="1888" y="161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4" name="Line 146"/>
              <p:cNvSpPr>
                <a:spLocks noChangeShapeType="1"/>
              </p:cNvSpPr>
              <p:nvPr/>
            </p:nvSpPr>
            <p:spPr bwMode="auto">
              <a:xfrm>
                <a:off x="1888" y="162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5" name="Line 147"/>
              <p:cNvSpPr>
                <a:spLocks noChangeShapeType="1"/>
              </p:cNvSpPr>
              <p:nvPr/>
            </p:nvSpPr>
            <p:spPr bwMode="auto">
              <a:xfrm>
                <a:off x="1888" y="162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6" name="Line 148"/>
              <p:cNvSpPr>
                <a:spLocks noChangeShapeType="1"/>
              </p:cNvSpPr>
              <p:nvPr/>
            </p:nvSpPr>
            <p:spPr bwMode="auto">
              <a:xfrm>
                <a:off x="1888" y="163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7" name="Line 149"/>
              <p:cNvSpPr>
                <a:spLocks noChangeShapeType="1"/>
              </p:cNvSpPr>
              <p:nvPr/>
            </p:nvSpPr>
            <p:spPr bwMode="auto">
              <a:xfrm>
                <a:off x="1888" y="164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8" name="Line 150"/>
              <p:cNvSpPr>
                <a:spLocks noChangeShapeType="1"/>
              </p:cNvSpPr>
              <p:nvPr/>
            </p:nvSpPr>
            <p:spPr bwMode="auto">
              <a:xfrm>
                <a:off x="1888" y="165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9" name="Line 151"/>
              <p:cNvSpPr>
                <a:spLocks noChangeShapeType="1"/>
              </p:cNvSpPr>
              <p:nvPr/>
            </p:nvSpPr>
            <p:spPr bwMode="auto">
              <a:xfrm>
                <a:off x="1888" y="166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0" name="Line 152"/>
              <p:cNvSpPr>
                <a:spLocks noChangeShapeType="1"/>
              </p:cNvSpPr>
              <p:nvPr/>
            </p:nvSpPr>
            <p:spPr bwMode="auto">
              <a:xfrm>
                <a:off x="1888" y="16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1" name="Line 153"/>
              <p:cNvSpPr>
                <a:spLocks noChangeShapeType="1"/>
              </p:cNvSpPr>
              <p:nvPr/>
            </p:nvSpPr>
            <p:spPr bwMode="auto">
              <a:xfrm>
                <a:off x="1888" y="168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2" name="Line 154"/>
              <p:cNvSpPr>
                <a:spLocks noChangeShapeType="1"/>
              </p:cNvSpPr>
              <p:nvPr/>
            </p:nvSpPr>
            <p:spPr bwMode="auto">
              <a:xfrm>
                <a:off x="1888" y="169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3" name="Line 155"/>
              <p:cNvSpPr>
                <a:spLocks noChangeShapeType="1"/>
              </p:cNvSpPr>
              <p:nvPr/>
            </p:nvSpPr>
            <p:spPr bwMode="auto">
              <a:xfrm>
                <a:off x="1888" y="170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4" name="Line 156"/>
              <p:cNvSpPr>
                <a:spLocks noChangeShapeType="1"/>
              </p:cNvSpPr>
              <p:nvPr/>
            </p:nvSpPr>
            <p:spPr bwMode="auto">
              <a:xfrm>
                <a:off x="1888" y="171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5" name="Line 157"/>
              <p:cNvSpPr>
                <a:spLocks noChangeShapeType="1"/>
              </p:cNvSpPr>
              <p:nvPr/>
            </p:nvSpPr>
            <p:spPr bwMode="auto">
              <a:xfrm>
                <a:off x="1888" y="172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6" name="Line 158"/>
              <p:cNvSpPr>
                <a:spLocks noChangeShapeType="1"/>
              </p:cNvSpPr>
              <p:nvPr/>
            </p:nvSpPr>
            <p:spPr bwMode="auto">
              <a:xfrm>
                <a:off x="1888" y="173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7" name="Line 159"/>
              <p:cNvSpPr>
                <a:spLocks noChangeShapeType="1"/>
              </p:cNvSpPr>
              <p:nvPr/>
            </p:nvSpPr>
            <p:spPr bwMode="auto">
              <a:xfrm>
                <a:off x="1888" y="174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8" name="Line 160"/>
              <p:cNvSpPr>
                <a:spLocks noChangeShapeType="1"/>
              </p:cNvSpPr>
              <p:nvPr/>
            </p:nvSpPr>
            <p:spPr bwMode="auto">
              <a:xfrm>
                <a:off x="1888" y="174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>
                <a:off x="1888" y="17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0" name="Line 162"/>
              <p:cNvSpPr>
                <a:spLocks noChangeShapeType="1"/>
              </p:cNvSpPr>
              <p:nvPr/>
            </p:nvSpPr>
            <p:spPr bwMode="auto">
              <a:xfrm>
                <a:off x="1888" y="176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1" name="Line 163"/>
              <p:cNvSpPr>
                <a:spLocks noChangeShapeType="1"/>
              </p:cNvSpPr>
              <p:nvPr/>
            </p:nvSpPr>
            <p:spPr bwMode="auto">
              <a:xfrm>
                <a:off x="1888" y="177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2" name="Line 164"/>
              <p:cNvSpPr>
                <a:spLocks noChangeShapeType="1"/>
              </p:cNvSpPr>
              <p:nvPr/>
            </p:nvSpPr>
            <p:spPr bwMode="auto">
              <a:xfrm>
                <a:off x="1888" y="178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3" name="Line 165"/>
              <p:cNvSpPr>
                <a:spLocks noChangeShapeType="1"/>
              </p:cNvSpPr>
              <p:nvPr/>
            </p:nvSpPr>
            <p:spPr bwMode="auto">
              <a:xfrm>
                <a:off x="1888" y="179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4" name="Line 166"/>
              <p:cNvSpPr>
                <a:spLocks noChangeShapeType="1"/>
              </p:cNvSpPr>
              <p:nvPr/>
            </p:nvSpPr>
            <p:spPr bwMode="auto">
              <a:xfrm>
                <a:off x="1888" y="18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>
                <a:off x="1888" y="181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>
                <a:off x="1888" y="182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>
                <a:off x="1888" y="183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8" name="Line 170"/>
              <p:cNvSpPr>
                <a:spLocks noChangeShapeType="1"/>
              </p:cNvSpPr>
              <p:nvPr/>
            </p:nvSpPr>
            <p:spPr bwMode="auto">
              <a:xfrm>
                <a:off x="1888" y="184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>
                <a:off x="1888" y="185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0" name="Line 172"/>
              <p:cNvSpPr>
                <a:spLocks noChangeShapeType="1"/>
              </p:cNvSpPr>
              <p:nvPr/>
            </p:nvSpPr>
            <p:spPr bwMode="auto">
              <a:xfrm>
                <a:off x="1888" y="186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1" name="Line 173"/>
              <p:cNvSpPr>
                <a:spLocks noChangeShapeType="1"/>
              </p:cNvSpPr>
              <p:nvPr/>
            </p:nvSpPr>
            <p:spPr bwMode="auto">
              <a:xfrm>
                <a:off x="1888" y="186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2" name="Line 174"/>
              <p:cNvSpPr>
                <a:spLocks noChangeShapeType="1"/>
              </p:cNvSpPr>
              <p:nvPr/>
            </p:nvSpPr>
            <p:spPr bwMode="auto">
              <a:xfrm>
                <a:off x="1888" y="187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3" name="Line 175"/>
              <p:cNvSpPr>
                <a:spLocks noChangeShapeType="1"/>
              </p:cNvSpPr>
              <p:nvPr/>
            </p:nvSpPr>
            <p:spPr bwMode="auto">
              <a:xfrm>
                <a:off x="1888" y="188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4" name="Line 176"/>
              <p:cNvSpPr>
                <a:spLocks noChangeShapeType="1"/>
              </p:cNvSpPr>
              <p:nvPr/>
            </p:nvSpPr>
            <p:spPr bwMode="auto">
              <a:xfrm>
                <a:off x="1888" y="189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5" name="Line 177"/>
              <p:cNvSpPr>
                <a:spLocks noChangeShapeType="1"/>
              </p:cNvSpPr>
              <p:nvPr/>
            </p:nvSpPr>
            <p:spPr bwMode="auto">
              <a:xfrm>
                <a:off x="1888" y="190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6" name="Line 178"/>
              <p:cNvSpPr>
                <a:spLocks noChangeShapeType="1"/>
              </p:cNvSpPr>
              <p:nvPr/>
            </p:nvSpPr>
            <p:spPr bwMode="auto">
              <a:xfrm>
                <a:off x="1888" y="191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7" name="Line 179"/>
              <p:cNvSpPr>
                <a:spLocks noChangeShapeType="1"/>
              </p:cNvSpPr>
              <p:nvPr/>
            </p:nvSpPr>
            <p:spPr bwMode="auto">
              <a:xfrm>
                <a:off x="1888" y="192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8" name="Line 180"/>
              <p:cNvSpPr>
                <a:spLocks noChangeShapeType="1"/>
              </p:cNvSpPr>
              <p:nvPr/>
            </p:nvSpPr>
            <p:spPr bwMode="auto">
              <a:xfrm>
                <a:off x="1888" y="193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9" name="Line 181"/>
              <p:cNvSpPr>
                <a:spLocks noChangeShapeType="1"/>
              </p:cNvSpPr>
              <p:nvPr/>
            </p:nvSpPr>
            <p:spPr bwMode="auto">
              <a:xfrm>
                <a:off x="1888" y="194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0" name="Line 182"/>
              <p:cNvSpPr>
                <a:spLocks noChangeShapeType="1"/>
              </p:cNvSpPr>
              <p:nvPr/>
            </p:nvSpPr>
            <p:spPr bwMode="auto">
              <a:xfrm>
                <a:off x="1888" y="195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1" name="Line 183"/>
              <p:cNvSpPr>
                <a:spLocks noChangeShapeType="1"/>
              </p:cNvSpPr>
              <p:nvPr/>
            </p:nvSpPr>
            <p:spPr bwMode="auto">
              <a:xfrm>
                <a:off x="1888" y="196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2" name="Line 184"/>
              <p:cNvSpPr>
                <a:spLocks noChangeShapeType="1"/>
              </p:cNvSpPr>
              <p:nvPr/>
            </p:nvSpPr>
            <p:spPr bwMode="auto">
              <a:xfrm>
                <a:off x="1888" y="197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3" name="Line 185"/>
              <p:cNvSpPr>
                <a:spLocks noChangeShapeType="1"/>
              </p:cNvSpPr>
              <p:nvPr/>
            </p:nvSpPr>
            <p:spPr bwMode="auto">
              <a:xfrm>
                <a:off x="1888" y="197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>
                <a:off x="1888" y="198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5" name="Line 187"/>
              <p:cNvSpPr>
                <a:spLocks noChangeShapeType="1"/>
              </p:cNvSpPr>
              <p:nvPr/>
            </p:nvSpPr>
            <p:spPr bwMode="auto">
              <a:xfrm>
                <a:off x="1888" y="199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6" name="Line 188"/>
              <p:cNvSpPr>
                <a:spLocks noChangeShapeType="1"/>
              </p:cNvSpPr>
              <p:nvPr/>
            </p:nvSpPr>
            <p:spPr bwMode="auto">
              <a:xfrm>
                <a:off x="1888" y="200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7" name="Line 189"/>
              <p:cNvSpPr>
                <a:spLocks noChangeShapeType="1"/>
              </p:cNvSpPr>
              <p:nvPr/>
            </p:nvSpPr>
            <p:spPr bwMode="auto">
              <a:xfrm>
                <a:off x="1888" y="201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8" name="Line 190"/>
              <p:cNvSpPr>
                <a:spLocks noChangeShapeType="1"/>
              </p:cNvSpPr>
              <p:nvPr/>
            </p:nvSpPr>
            <p:spPr bwMode="auto">
              <a:xfrm>
                <a:off x="1888" y="202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>
                <a:off x="1888" y="203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0" name="Line 192"/>
              <p:cNvSpPr>
                <a:spLocks noChangeShapeType="1"/>
              </p:cNvSpPr>
              <p:nvPr/>
            </p:nvSpPr>
            <p:spPr bwMode="auto">
              <a:xfrm>
                <a:off x="1888" y="204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1" name="Line 193"/>
              <p:cNvSpPr>
                <a:spLocks noChangeShapeType="1"/>
              </p:cNvSpPr>
              <p:nvPr/>
            </p:nvSpPr>
            <p:spPr bwMode="auto">
              <a:xfrm>
                <a:off x="1888" y="205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2" name="Line 194"/>
              <p:cNvSpPr>
                <a:spLocks noChangeShapeType="1"/>
              </p:cNvSpPr>
              <p:nvPr/>
            </p:nvSpPr>
            <p:spPr bwMode="auto">
              <a:xfrm>
                <a:off x="1888" y="206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3" name="Line 195"/>
              <p:cNvSpPr>
                <a:spLocks noChangeShapeType="1"/>
              </p:cNvSpPr>
              <p:nvPr/>
            </p:nvSpPr>
            <p:spPr bwMode="auto">
              <a:xfrm>
                <a:off x="1888" y="207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4" name="Line 196"/>
              <p:cNvSpPr>
                <a:spLocks noChangeShapeType="1"/>
              </p:cNvSpPr>
              <p:nvPr/>
            </p:nvSpPr>
            <p:spPr bwMode="auto">
              <a:xfrm>
                <a:off x="1888" y="208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5" name="Line 197"/>
              <p:cNvSpPr>
                <a:spLocks noChangeShapeType="1"/>
              </p:cNvSpPr>
              <p:nvPr/>
            </p:nvSpPr>
            <p:spPr bwMode="auto">
              <a:xfrm>
                <a:off x="1888" y="209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6" name="Line 198"/>
              <p:cNvSpPr>
                <a:spLocks noChangeShapeType="1"/>
              </p:cNvSpPr>
              <p:nvPr/>
            </p:nvSpPr>
            <p:spPr bwMode="auto">
              <a:xfrm>
                <a:off x="1888" y="20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7" name="Line 199"/>
              <p:cNvSpPr>
                <a:spLocks noChangeShapeType="1"/>
              </p:cNvSpPr>
              <p:nvPr/>
            </p:nvSpPr>
            <p:spPr bwMode="auto">
              <a:xfrm>
                <a:off x="1888" y="210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8" name="Line 200"/>
              <p:cNvSpPr>
                <a:spLocks noChangeShapeType="1"/>
              </p:cNvSpPr>
              <p:nvPr/>
            </p:nvSpPr>
            <p:spPr bwMode="auto">
              <a:xfrm>
                <a:off x="1888" y="211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9" name="Line 201"/>
              <p:cNvSpPr>
                <a:spLocks noChangeShapeType="1"/>
              </p:cNvSpPr>
              <p:nvPr/>
            </p:nvSpPr>
            <p:spPr bwMode="auto">
              <a:xfrm>
                <a:off x="1888" y="212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0" name="Line 202"/>
              <p:cNvSpPr>
                <a:spLocks noChangeShapeType="1"/>
              </p:cNvSpPr>
              <p:nvPr/>
            </p:nvSpPr>
            <p:spPr bwMode="auto">
              <a:xfrm>
                <a:off x="1888" y="213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1" name="Line 203"/>
              <p:cNvSpPr>
                <a:spLocks noChangeShapeType="1"/>
              </p:cNvSpPr>
              <p:nvPr/>
            </p:nvSpPr>
            <p:spPr bwMode="auto">
              <a:xfrm>
                <a:off x="1888" y="214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2" name="Line 204"/>
              <p:cNvSpPr>
                <a:spLocks noChangeShapeType="1"/>
              </p:cNvSpPr>
              <p:nvPr/>
            </p:nvSpPr>
            <p:spPr bwMode="auto">
              <a:xfrm>
                <a:off x="1888" y="215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3" name="Line 205"/>
              <p:cNvSpPr>
                <a:spLocks noChangeShapeType="1"/>
              </p:cNvSpPr>
              <p:nvPr/>
            </p:nvSpPr>
            <p:spPr bwMode="auto">
              <a:xfrm>
                <a:off x="1888" y="216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4" name="Line 206"/>
              <p:cNvSpPr>
                <a:spLocks noChangeShapeType="1"/>
              </p:cNvSpPr>
              <p:nvPr/>
            </p:nvSpPr>
            <p:spPr bwMode="auto">
              <a:xfrm>
                <a:off x="1888" y="217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5" name="Line 207"/>
              <p:cNvSpPr>
                <a:spLocks noChangeShapeType="1"/>
              </p:cNvSpPr>
              <p:nvPr/>
            </p:nvSpPr>
            <p:spPr bwMode="auto">
              <a:xfrm>
                <a:off x="1888" y="218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6" name="Rectangle 208"/>
              <p:cNvSpPr>
                <a:spLocks noChangeArrowheads="1"/>
              </p:cNvSpPr>
              <p:nvPr/>
            </p:nvSpPr>
            <p:spPr bwMode="auto">
              <a:xfrm>
                <a:off x="2300" y="1752"/>
                <a:ext cx="240" cy="208"/>
              </a:xfrm>
              <a:prstGeom prst="rect">
                <a:avLst/>
              </a:prstGeom>
              <a:solidFill>
                <a:srgbClr val="E6E6E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7" name="Line 209"/>
              <p:cNvSpPr>
                <a:spLocks noChangeShapeType="1"/>
              </p:cNvSpPr>
              <p:nvPr/>
            </p:nvSpPr>
            <p:spPr bwMode="auto">
              <a:xfrm>
                <a:off x="2300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8" name="Line 210"/>
              <p:cNvSpPr>
                <a:spLocks noChangeShapeType="1"/>
              </p:cNvSpPr>
              <p:nvPr/>
            </p:nvSpPr>
            <p:spPr bwMode="auto">
              <a:xfrm>
                <a:off x="2309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9" name="Line 211"/>
              <p:cNvSpPr>
                <a:spLocks noChangeShapeType="1"/>
              </p:cNvSpPr>
              <p:nvPr/>
            </p:nvSpPr>
            <p:spPr bwMode="auto">
              <a:xfrm>
                <a:off x="2319" y="196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0" name="Line 212"/>
              <p:cNvSpPr>
                <a:spLocks noChangeShapeType="1"/>
              </p:cNvSpPr>
              <p:nvPr/>
            </p:nvSpPr>
            <p:spPr bwMode="auto">
              <a:xfrm>
                <a:off x="2328" y="196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1" name="Line 213"/>
              <p:cNvSpPr>
                <a:spLocks noChangeShapeType="1"/>
              </p:cNvSpPr>
              <p:nvPr/>
            </p:nvSpPr>
            <p:spPr bwMode="auto">
              <a:xfrm>
                <a:off x="2337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2" name="Line 214"/>
              <p:cNvSpPr>
                <a:spLocks noChangeShapeType="1"/>
              </p:cNvSpPr>
              <p:nvPr/>
            </p:nvSpPr>
            <p:spPr bwMode="auto">
              <a:xfrm>
                <a:off x="2346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3" name="Line 215"/>
              <p:cNvSpPr>
                <a:spLocks noChangeShapeType="1"/>
              </p:cNvSpPr>
              <p:nvPr/>
            </p:nvSpPr>
            <p:spPr bwMode="auto">
              <a:xfrm>
                <a:off x="2356" y="196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4" name="Line 216"/>
              <p:cNvSpPr>
                <a:spLocks noChangeShapeType="1"/>
              </p:cNvSpPr>
              <p:nvPr/>
            </p:nvSpPr>
            <p:spPr bwMode="auto">
              <a:xfrm>
                <a:off x="2365" y="196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5" name="Line 217"/>
              <p:cNvSpPr>
                <a:spLocks noChangeShapeType="1"/>
              </p:cNvSpPr>
              <p:nvPr/>
            </p:nvSpPr>
            <p:spPr bwMode="auto">
              <a:xfrm>
                <a:off x="2374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6" name="Line 218"/>
              <p:cNvSpPr>
                <a:spLocks noChangeShapeType="1"/>
              </p:cNvSpPr>
              <p:nvPr/>
            </p:nvSpPr>
            <p:spPr bwMode="auto">
              <a:xfrm>
                <a:off x="2383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7" name="Line 219"/>
              <p:cNvSpPr>
                <a:spLocks noChangeShapeType="1"/>
              </p:cNvSpPr>
              <p:nvPr/>
            </p:nvSpPr>
            <p:spPr bwMode="auto">
              <a:xfrm>
                <a:off x="2392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8" name="Line 220"/>
              <p:cNvSpPr>
                <a:spLocks noChangeShapeType="1"/>
              </p:cNvSpPr>
              <p:nvPr/>
            </p:nvSpPr>
            <p:spPr bwMode="auto">
              <a:xfrm>
                <a:off x="2402" y="196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4" name="Group 221"/>
            <p:cNvGrpSpPr>
              <a:grpSpLocks/>
            </p:cNvGrpSpPr>
            <p:nvPr/>
          </p:nvGrpSpPr>
          <p:grpSpPr bwMode="auto">
            <a:xfrm>
              <a:off x="234" y="1440"/>
              <a:ext cx="2544" cy="1657"/>
              <a:chOff x="233" y="1440"/>
              <a:chExt cx="2544" cy="1657"/>
            </a:xfrm>
          </p:grpSpPr>
          <p:sp>
            <p:nvSpPr>
              <p:cNvPr id="2270" name="Line 222"/>
              <p:cNvSpPr>
                <a:spLocks noChangeShapeType="1"/>
              </p:cNvSpPr>
              <p:nvPr/>
            </p:nvSpPr>
            <p:spPr bwMode="auto">
              <a:xfrm>
                <a:off x="2411" y="196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1" name="Line 223"/>
              <p:cNvSpPr>
                <a:spLocks noChangeShapeType="1"/>
              </p:cNvSpPr>
              <p:nvPr/>
            </p:nvSpPr>
            <p:spPr bwMode="auto">
              <a:xfrm>
                <a:off x="2420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2" name="Line 224"/>
              <p:cNvSpPr>
                <a:spLocks noChangeShapeType="1"/>
              </p:cNvSpPr>
              <p:nvPr/>
            </p:nvSpPr>
            <p:spPr bwMode="auto">
              <a:xfrm>
                <a:off x="2429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3" name="Line 225"/>
              <p:cNvSpPr>
                <a:spLocks noChangeShapeType="1"/>
              </p:cNvSpPr>
              <p:nvPr/>
            </p:nvSpPr>
            <p:spPr bwMode="auto">
              <a:xfrm>
                <a:off x="2438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4" name="Line 226"/>
              <p:cNvSpPr>
                <a:spLocks noChangeShapeType="1"/>
              </p:cNvSpPr>
              <p:nvPr/>
            </p:nvSpPr>
            <p:spPr bwMode="auto">
              <a:xfrm>
                <a:off x="2448" y="196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5" name="Line 227"/>
              <p:cNvSpPr>
                <a:spLocks noChangeShapeType="1"/>
              </p:cNvSpPr>
              <p:nvPr/>
            </p:nvSpPr>
            <p:spPr bwMode="auto">
              <a:xfrm>
                <a:off x="2457" y="196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6" name="Line 228"/>
              <p:cNvSpPr>
                <a:spLocks noChangeShapeType="1"/>
              </p:cNvSpPr>
              <p:nvPr/>
            </p:nvSpPr>
            <p:spPr bwMode="auto">
              <a:xfrm>
                <a:off x="2466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7" name="Line 229"/>
              <p:cNvSpPr>
                <a:spLocks noChangeShapeType="1"/>
              </p:cNvSpPr>
              <p:nvPr/>
            </p:nvSpPr>
            <p:spPr bwMode="auto">
              <a:xfrm>
                <a:off x="2475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8" name="Line 230"/>
              <p:cNvSpPr>
                <a:spLocks noChangeShapeType="1"/>
              </p:cNvSpPr>
              <p:nvPr/>
            </p:nvSpPr>
            <p:spPr bwMode="auto">
              <a:xfrm>
                <a:off x="2485" y="196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9" name="Line 231"/>
              <p:cNvSpPr>
                <a:spLocks noChangeShapeType="1"/>
              </p:cNvSpPr>
              <p:nvPr/>
            </p:nvSpPr>
            <p:spPr bwMode="auto">
              <a:xfrm>
                <a:off x="2494" y="196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0" name="Line 232"/>
              <p:cNvSpPr>
                <a:spLocks noChangeShapeType="1"/>
              </p:cNvSpPr>
              <p:nvPr/>
            </p:nvSpPr>
            <p:spPr bwMode="auto">
              <a:xfrm>
                <a:off x="2503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1" name="Line 233"/>
              <p:cNvSpPr>
                <a:spLocks noChangeShapeType="1"/>
              </p:cNvSpPr>
              <p:nvPr/>
            </p:nvSpPr>
            <p:spPr bwMode="auto">
              <a:xfrm>
                <a:off x="2512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2" name="Line 234"/>
              <p:cNvSpPr>
                <a:spLocks noChangeShapeType="1"/>
              </p:cNvSpPr>
              <p:nvPr/>
            </p:nvSpPr>
            <p:spPr bwMode="auto">
              <a:xfrm>
                <a:off x="2521" y="196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3" name="Line 235"/>
              <p:cNvSpPr>
                <a:spLocks noChangeShapeType="1"/>
              </p:cNvSpPr>
              <p:nvPr/>
            </p:nvSpPr>
            <p:spPr bwMode="auto">
              <a:xfrm>
                <a:off x="2531" y="196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4" name="Line 236"/>
              <p:cNvSpPr>
                <a:spLocks noChangeShapeType="1"/>
              </p:cNvSpPr>
              <p:nvPr/>
            </p:nvSpPr>
            <p:spPr bwMode="auto">
              <a:xfrm flipV="1">
                <a:off x="2540" y="195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5" name="Line 237"/>
              <p:cNvSpPr>
                <a:spLocks noChangeShapeType="1"/>
              </p:cNvSpPr>
              <p:nvPr/>
            </p:nvSpPr>
            <p:spPr bwMode="auto">
              <a:xfrm flipV="1">
                <a:off x="2540" y="194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6" name="Line 238"/>
              <p:cNvSpPr>
                <a:spLocks noChangeShapeType="1"/>
              </p:cNvSpPr>
              <p:nvPr/>
            </p:nvSpPr>
            <p:spPr bwMode="auto">
              <a:xfrm flipV="1">
                <a:off x="2540" y="193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7" name="Line 239"/>
              <p:cNvSpPr>
                <a:spLocks noChangeShapeType="1"/>
              </p:cNvSpPr>
              <p:nvPr/>
            </p:nvSpPr>
            <p:spPr bwMode="auto">
              <a:xfrm flipV="1">
                <a:off x="2540" y="192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8" name="Line 240"/>
              <p:cNvSpPr>
                <a:spLocks noChangeShapeType="1"/>
              </p:cNvSpPr>
              <p:nvPr/>
            </p:nvSpPr>
            <p:spPr bwMode="auto">
              <a:xfrm flipV="1">
                <a:off x="2540" y="191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89" name="Line 241"/>
              <p:cNvSpPr>
                <a:spLocks noChangeShapeType="1"/>
              </p:cNvSpPr>
              <p:nvPr/>
            </p:nvSpPr>
            <p:spPr bwMode="auto">
              <a:xfrm flipV="1">
                <a:off x="2540" y="190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0" name="Line 242"/>
              <p:cNvSpPr>
                <a:spLocks noChangeShapeType="1"/>
              </p:cNvSpPr>
              <p:nvPr/>
            </p:nvSpPr>
            <p:spPr bwMode="auto">
              <a:xfrm flipV="1">
                <a:off x="2540" y="190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1" name="Line 243"/>
              <p:cNvSpPr>
                <a:spLocks noChangeShapeType="1"/>
              </p:cNvSpPr>
              <p:nvPr/>
            </p:nvSpPr>
            <p:spPr bwMode="auto">
              <a:xfrm flipV="1">
                <a:off x="2540" y="189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2" name="Line 244"/>
              <p:cNvSpPr>
                <a:spLocks noChangeShapeType="1"/>
              </p:cNvSpPr>
              <p:nvPr/>
            </p:nvSpPr>
            <p:spPr bwMode="auto">
              <a:xfrm flipV="1">
                <a:off x="2540" y="188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3" name="Line 245"/>
              <p:cNvSpPr>
                <a:spLocks noChangeShapeType="1"/>
              </p:cNvSpPr>
              <p:nvPr/>
            </p:nvSpPr>
            <p:spPr bwMode="auto">
              <a:xfrm flipV="1">
                <a:off x="2540" y="187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4" name="Line 246"/>
              <p:cNvSpPr>
                <a:spLocks noChangeShapeType="1"/>
              </p:cNvSpPr>
              <p:nvPr/>
            </p:nvSpPr>
            <p:spPr bwMode="auto">
              <a:xfrm flipV="1">
                <a:off x="2540" y="186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5" name="Line 247"/>
              <p:cNvSpPr>
                <a:spLocks noChangeShapeType="1"/>
              </p:cNvSpPr>
              <p:nvPr/>
            </p:nvSpPr>
            <p:spPr bwMode="auto">
              <a:xfrm flipV="1">
                <a:off x="2540" y="185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6" name="Line 248"/>
              <p:cNvSpPr>
                <a:spLocks noChangeShapeType="1"/>
              </p:cNvSpPr>
              <p:nvPr/>
            </p:nvSpPr>
            <p:spPr bwMode="auto">
              <a:xfrm flipV="1">
                <a:off x="2540" y="184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7" name="Line 249"/>
              <p:cNvSpPr>
                <a:spLocks noChangeShapeType="1"/>
              </p:cNvSpPr>
              <p:nvPr/>
            </p:nvSpPr>
            <p:spPr bwMode="auto">
              <a:xfrm flipV="1">
                <a:off x="2540" y="183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8" name="Line 250"/>
              <p:cNvSpPr>
                <a:spLocks noChangeShapeType="1"/>
              </p:cNvSpPr>
              <p:nvPr/>
            </p:nvSpPr>
            <p:spPr bwMode="auto">
              <a:xfrm flipV="1">
                <a:off x="2540" y="182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99" name="Line 251"/>
              <p:cNvSpPr>
                <a:spLocks noChangeShapeType="1"/>
              </p:cNvSpPr>
              <p:nvPr/>
            </p:nvSpPr>
            <p:spPr bwMode="auto">
              <a:xfrm flipV="1">
                <a:off x="2540" y="181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0" name="Line 252"/>
              <p:cNvSpPr>
                <a:spLocks noChangeShapeType="1"/>
              </p:cNvSpPr>
              <p:nvPr/>
            </p:nvSpPr>
            <p:spPr bwMode="auto">
              <a:xfrm flipV="1">
                <a:off x="2540" y="180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1" name="Line 253"/>
              <p:cNvSpPr>
                <a:spLocks noChangeShapeType="1"/>
              </p:cNvSpPr>
              <p:nvPr/>
            </p:nvSpPr>
            <p:spPr bwMode="auto">
              <a:xfrm flipV="1">
                <a:off x="2540" y="179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2" name="Line 254"/>
              <p:cNvSpPr>
                <a:spLocks noChangeShapeType="1"/>
              </p:cNvSpPr>
              <p:nvPr/>
            </p:nvSpPr>
            <p:spPr bwMode="auto">
              <a:xfrm flipV="1">
                <a:off x="2540" y="178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3" name="Line 255"/>
              <p:cNvSpPr>
                <a:spLocks noChangeShapeType="1"/>
              </p:cNvSpPr>
              <p:nvPr/>
            </p:nvSpPr>
            <p:spPr bwMode="auto">
              <a:xfrm flipV="1">
                <a:off x="2540" y="178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4" name="Line 256"/>
              <p:cNvSpPr>
                <a:spLocks noChangeShapeType="1"/>
              </p:cNvSpPr>
              <p:nvPr/>
            </p:nvSpPr>
            <p:spPr bwMode="auto">
              <a:xfrm flipV="1">
                <a:off x="2540" y="177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5" name="Line 257"/>
              <p:cNvSpPr>
                <a:spLocks noChangeShapeType="1"/>
              </p:cNvSpPr>
              <p:nvPr/>
            </p:nvSpPr>
            <p:spPr bwMode="auto">
              <a:xfrm flipV="1">
                <a:off x="2540" y="176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6" name="Line 258"/>
              <p:cNvSpPr>
                <a:spLocks noChangeShapeType="1"/>
              </p:cNvSpPr>
              <p:nvPr/>
            </p:nvSpPr>
            <p:spPr bwMode="auto">
              <a:xfrm flipV="1">
                <a:off x="2540" y="175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7" name="Line 259"/>
              <p:cNvSpPr>
                <a:spLocks noChangeShapeType="1"/>
              </p:cNvSpPr>
              <p:nvPr/>
            </p:nvSpPr>
            <p:spPr bwMode="auto">
              <a:xfrm flipH="1">
                <a:off x="2531" y="17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8" name="Line 260"/>
              <p:cNvSpPr>
                <a:spLocks noChangeShapeType="1"/>
              </p:cNvSpPr>
              <p:nvPr/>
            </p:nvSpPr>
            <p:spPr bwMode="auto">
              <a:xfrm flipH="1">
                <a:off x="2521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09" name="Line 261"/>
              <p:cNvSpPr>
                <a:spLocks noChangeShapeType="1"/>
              </p:cNvSpPr>
              <p:nvPr/>
            </p:nvSpPr>
            <p:spPr bwMode="auto">
              <a:xfrm flipH="1">
                <a:off x="2512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0" name="Line 262"/>
              <p:cNvSpPr>
                <a:spLocks noChangeShapeType="1"/>
              </p:cNvSpPr>
              <p:nvPr/>
            </p:nvSpPr>
            <p:spPr bwMode="auto">
              <a:xfrm flipH="1">
                <a:off x="2503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1" name="Line 263"/>
              <p:cNvSpPr>
                <a:spLocks noChangeShapeType="1"/>
              </p:cNvSpPr>
              <p:nvPr/>
            </p:nvSpPr>
            <p:spPr bwMode="auto">
              <a:xfrm flipH="1">
                <a:off x="2494" y="17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2" name="Line 264"/>
              <p:cNvSpPr>
                <a:spLocks noChangeShapeType="1"/>
              </p:cNvSpPr>
              <p:nvPr/>
            </p:nvSpPr>
            <p:spPr bwMode="auto">
              <a:xfrm flipH="1">
                <a:off x="2485" y="17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3" name="Line 265"/>
              <p:cNvSpPr>
                <a:spLocks noChangeShapeType="1"/>
              </p:cNvSpPr>
              <p:nvPr/>
            </p:nvSpPr>
            <p:spPr bwMode="auto">
              <a:xfrm flipH="1">
                <a:off x="2475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4" name="Line 266"/>
              <p:cNvSpPr>
                <a:spLocks noChangeShapeType="1"/>
              </p:cNvSpPr>
              <p:nvPr/>
            </p:nvSpPr>
            <p:spPr bwMode="auto">
              <a:xfrm flipH="1">
                <a:off x="2466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5" name="Line 267"/>
              <p:cNvSpPr>
                <a:spLocks noChangeShapeType="1"/>
              </p:cNvSpPr>
              <p:nvPr/>
            </p:nvSpPr>
            <p:spPr bwMode="auto">
              <a:xfrm flipH="1">
                <a:off x="2457" y="17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6" name="Line 268"/>
              <p:cNvSpPr>
                <a:spLocks noChangeShapeType="1"/>
              </p:cNvSpPr>
              <p:nvPr/>
            </p:nvSpPr>
            <p:spPr bwMode="auto">
              <a:xfrm flipH="1">
                <a:off x="2448" y="17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7" name="Line 269"/>
              <p:cNvSpPr>
                <a:spLocks noChangeShapeType="1"/>
              </p:cNvSpPr>
              <p:nvPr/>
            </p:nvSpPr>
            <p:spPr bwMode="auto">
              <a:xfrm flipH="1">
                <a:off x="2438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8" name="Line 270"/>
              <p:cNvSpPr>
                <a:spLocks noChangeShapeType="1"/>
              </p:cNvSpPr>
              <p:nvPr/>
            </p:nvSpPr>
            <p:spPr bwMode="auto">
              <a:xfrm flipH="1">
                <a:off x="2429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19" name="Line 271"/>
              <p:cNvSpPr>
                <a:spLocks noChangeShapeType="1"/>
              </p:cNvSpPr>
              <p:nvPr/>
            </p:nvSpPr>
            <p:spPr bwMode="auto">
              <a:xfrm flipH="1">
                <a:off x="2420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0" name="Line 272"/>
              <p:cNvSpPr>
                <a:spLocks noChangeShapeType="1"/>
              </p:cNvSpPr>
              <p:nvPr/>
            </p:nvSpPr>
            <p:spPr bwMode="auto">
              <a:xfrm flipH="1">
                <a:off x="2411" y="17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1" name="Line 273"/>
              <p:cNvSpPr>
                <a:spLocks noChangeShapeType="1"/>
              </p:cNvSpPr>
              <p:nvPr/>
            </p:nvSpPr>
            <p:spPr bwMode="auto">
              <a:xfrm flipH="1">
                <a:off x="2402" y="17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2" name="Line 274"/>
              <p:cNvSpPr>
                <a:spLocks noChangeShapeType="1"/>
              </p:cNvSpPr>
              <p:nvPr/>
            </p:nvSpPr>
            <p:spPr bwMode="auto">
              <a:xfrm flipH="1">
                <a:off x="2392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3" name="Line 275"/>
              <p:cNvSpPr>
                <a:spLocks noChangeShapeType="1"/>
              </p:cNvSpPr>
              <p:nvPr/>
            </p:nvSpPr>
            <p:spPr bwMode="auto">
              <a:xfrm flipH="1">
                <a:off x="2383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4" name="Line 276"/>
              <p:cNvSpPr>
                <a:spLocks noChangeShapeType="1"/>
              </p:cNvSpPr>
              <p:nvPr/>
            </p:nvSpPr>
            <p:spPr bwMode="auto">
              <a:xfrm flipH="1">
                <a:off x="2374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5" name="Line 277"/>
              <p:cNvSpPr>
                <a:spLocks noChangeShapeType="1"/>
              </p:cNvSpPr>
              <p:nvPr/>
            </p:nvSpPr>
            <p:spPr bwMode="auto">
              <a:xfrm flipH="1">
                <a:off x="2365" y="17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6" name="Line 278"/>
              <p:cNvSpPr>
                <a:spLocks noChangeShapeType="1"/>
              </p:cNvSpPr>
              <p:nvPr/>
            </p:nvSpPr>
            <p:spPr bwMode="auto">
              <a:xfrm flipH="1">
                <a:off x="2356" y="17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7" name="Line 279"/>
              <p:cNvSpPr>
                <a:spLocks noChangeShapeType="1"/>
              </p:cNvSpPr>
              <p:nvPr/>
            </p:nvSpPr>
            <p:spPr bwMode="auto">
              <a:xfrm flipH="1">
                <a:off x="2346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8" name="Line 280"/>
              <p:cNvSpPr>
                <a:spLocks noChangeShapeType="1"/>
              </p:cNvSpPr>
              <p:nvPr/>
            </p:nvSpPr>
            <p:spPr bwMode="auto">
              <a:xfrm flipH="1">
                <a:off x="2337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29" name="Line 281"/>
              <p:cNvSpPr>
                <a:spLocks noChangeShapeType="1"/>
              </p:cNvSpPr>
              <p:nvPr/>
            </p:nvSpPr>
            <p:spPr bwMode="auto">
              <a:xfrm flipH="1">
                <a:off x="2328" y="17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0" name="Line 282"/>
              <p:cNvSpPr>
                <a:spLocks noChangeShapeType="1"/>
              </p:cNvSpPr>
              <p:nvPr/>
            </p:nvSpPr>
            <p:spPr bwMode="auto">
              <a:xfrm flipH="1">
                <a:off x="2319" y="17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1" name="Line 283"/>
              <p:cNvSpPr>
                <a:spLocks noChangeShapeType="1"/>
              </p:cNvSpPr>
              <p:nvPr/>
            </p:nvSpPr>
            <p:spPr bwMode="auto">
              <a:xfrm flipH="1">
                <a:off x="2309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2" name="Line 284"/>
              <p:cNvSpPr>
                <a:spLocks noChangeShapeType="1"/>
              </p:cNvSpPr>
              <p:nvPr/>
            </p:nvSpPr>
            <p:spPr bwMode="auto">
              <a:xfrm flipH="1">
                <a:off x="2300" y="17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3" name="Line 285"/>
              <p:cNvSpPr>
                <a:spLocks noChangeShapeType="1"/>
              </p:cNvSpPr>
              <p:nvPr/>
            </p:nvSpPr>
            <p:spPr bwMode="auto">
              <a:xfrm>
                <a:off x="2300" y="175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4" name="Line 286"/>
              <p:cNvSpPr>
                <a:spLocks noChangeShapeType="1"/>
              </p:cNvSpPr>
              <p:nvPr/>
            </p:nvSpPr>
            <p:spPr bwMode="auto">
              <a:xfrm>
                <a:off x="2300" y="176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5" name="Line 287"/>
              <p:cNvSpPr>
                <a:spLocks noChangeShapeType="1"/>
              </p:cNvSpPr>
              <p:nvPr/>
            </p:nvSpPr>
            <p:spPr bwMode="auto">
              <a:xfrm>
                <a:off x="2300" y="17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6" name="Line 288"/>
              <p:cNvSpPr>
                <a:spLocks noChangeShapeType="1"/>
              </p:cNvSpPr>
              <p:nvPr/>
            </p:nvSpPr>
            <p:spPr bwMode="auto">
              <a:xfrm>
                <a:off x="2300" y="178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7" name="Line 289"/>
              <p:cNvSpPr>
                <a:spLocks noChangeShapeType="1"/>
              </p:cNvSpPr>
              <p:nvPr/>
            </p:nvSpPr>
            <p:spPr bwMode="auto">
              <a:xfrm>
                <a:off x="2300" y="179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8" name="Line 290"/>
              <p:cNvSpPr>
                <a:spLocks noChangeShapeType="1"/>
              </p:cNvSpPr>
              <p:nvPr/>
            </p:nvSpPr>
            <p:spPr bwMode="auto">
              <a:xfrm>
                <a:off x="2300" y="180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39" name="Line 291"/>
              <p:cNvSpPr>
                <a:spLocks noChangeShapeType="1"/>
              </p:cNvSpPr>
              <p:nvPr/>
            </p:nvSpPr>
            <p:spPr bwMode="auto">
              <a:xfrm>
                <a:off x="2300" y="181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0" name="Line 292"/>
              <p:cNvSpPr>
                <a:spLocks noChangeShapeType="1"/>
              </p:cNvSpPr>
              <p:nvPr/>
            </p:nvSpPr>
            <p:spPr bwMode="auto">
              <a:xfrm>
                <a:off x="2300" y="182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1" name="Line 293"/>
              <p:cNvSpPr>
                <a:spLocks noChangeShapeType="1"/>
              </p:cNvSpPr>
              <p:nvPr/>
            </p:nvSpPr>
            <p:spPr bwMode="auto">
              <a:xfrm>
                <a:off x="2300" y="183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2" name="Line 294"/>
              <p:cNvSpPr>
                <a:spLocks noChangeShapeType="1"/>
              </p:cNvSpPr>
              <p:nvPr/>
            </p:nvSpPr>
            <p:spPr bwMode="auto">
              <a:xfrm>
                <a:off x="2300" y="184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3" name="Line 295"/>
              <p:cNvSpPr>
                <a:spLocks noChangeShapeType="1"/>
              </p:cNvSpPr>
              <p:nvPr/>
            </p:nvSpPr>
            <p:spPr bwMode="auto">
              <a:xfrm>
                <a:off x="2300" y="184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4" name="Line 296"/>
              <p:cNvSpPr>
                <a:spLocks noChangeShapeType="1"/>
              </p:cNvSpPr>
              <p:nvPr/>
            </p:nvSpPr>
            <p:spPr bwMode="auto">
              <a:xfrm>
                <a:off x="2300" y="18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5" name="Line 297"/>
              <p:cNvSpPr>
                <a:spLocks noChangeShapeType="1"/>
              </p:cNvSpPr>
              <p:nvPr/>
            </p:nvSpPr>
            <p:spPr bwMode="auto">
              <a:xfrm>
                <a:off x="2300" y="186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6" name="Line 298"/>
              <p:cNvSpPr>
                <a:spLocks noChangeShapeType="1"/>
              </p:cNvSpPr>
              <p:nvPr/>
            </p:nvSpPr>
            <p:spPr bwMode="auto">
              <a:xfrm>
                <a:off x="2300" y="187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7" name="Line 299"/>
              <p:cNvSpPr>
                <a:spLocks noChangeShapeType="1"/>
              </p:cNvSpPr>
              <p:nvPr/>
            </p:nvSpPr>
            <p:spPr bwMode="auto">
              <a:xfrm>
                <a:off x="2300" y="188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8" name="Line 300"/>
              <p:cNvSpPr>
                <a:spLocks noChangeShapeType="1"/>
              </p:cNvSpPr>
              <p:nvPr/>
            </p:nvSpPr>
            <p:spPr bwMode="auto">
              <a:xfrm>
                <a:off x="2300" y="189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9" name="Line 301"/>
              <p:cNvSpPr>
                <a:spLocks noChangeShapeType="1"/>
              </p:cNvSpPr>
              <p:nvPr/>
            </p:nvSpPr>
            <p:spPr bwMode="auto">
              <a:xfrm>
                <a:off x="2300" y="190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0" name="Line 302"/>
              <p:cNvSpPr>
                <a:spLocks noChangeShapeType="1"/>
              </p:cNvSpPr>
              <p:nvPr/>
            </p:nvSpPr>
            <p:spPr bwMode="auto">
              <a:xfrm>
                <a:off x="2300" y="191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1" name="Line 303"/>
              <p:cNvSpPr>
                <a:spLocks noChangeShapeType="1"/>
              </p:cNvSpPr>
              <p:nvPr/>
            </p:nvSpPr>
            <p:spPr bwMode="auto">
              <a:xfrm>
                <a:off x="2300" y="192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2" name="Line 304"/>
              <p:cNvSpPr>
                <a:spLocks noChangeShapeType="1"/>
              </p:cNvSpPr>
              <p:nvPr/>
            </p:nvSpPr>
            <p:spPr bwMode="auto">
              <a:xfrm>
                <a:off x="2300" y="193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3" name="Line 305"/>
              <p:cNvSpPr>
                <a:spLocks noChangeShapeType="1"/>
              </p:cNvSpPr>
              <p:nvPr/>
            </p:nvSpPr>
            <p:spPr bwMode="auto">
              <a:xfrm>
                <a:off x="2300" y="194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4" name="Line 306"/>
              <p:cNvSpPr>
                <a:spLocks noChangeShapeType="1"/>
              </p:cNvSpPr>
              <p:nvPr/>
            </p:nvSpPr>
            <p:spPr bwMode="auto">
              <a:xfrm>
                <a:off x="2300" y="195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5" name="Rectangle 307"/>
              <p:cNvSpPr>
                <a:spLocks noChangeArrowheads="1"/>
              </p:cNvSpPr>
              <p:nvPr/>
            </p:nvSpPr>
            <p:spPr bwMode="auto">
              <a:xfrm>
                <a:off x="1873" y="1440"/>
                <a:ext cx="259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7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W</a:t>
                </a:r>
                <a:r>
                  <a:rPr lang="ko-KR" altLang="en-US" sz="7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상 </a:t>
                </a:r>
                <a:r>
                  <a:rPr lang="en-US" altLang="ko-KR" sz="7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IGBT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56" name="Line 308"/>
              <p:cNvSpPr>
                <a:spLocks noChangeShapeType="1"/>
              </p:cNvSpPr>
              <p:nvPr/>
            </p:nvSpPr>
            <p:spPr bwMode="auto">
              <a:xfrm flipV="1">
                <a:off x="2228" y="1833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7" name="Line 309"/>
              <p:cNvSpPr>
                <a:spLocks noChangeShapeType="1"/>
              </p:cNvSpPr>
              <p:nvPr/>
            </p:nvSpPr>
            <p:spPr bwMode="auto">
              <a:xfrm flipV="1">
                <a:off x="2286" y="1833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8" name="Line 310"/>
              <p:cNvSpPr>
                <a:spLocks noChangeShapeType="1"/>
              </p:cNvSpPr>
              <p:nvPr/>
            </p:nvSpPr>
            <p:spPr bwMode="auto">
              <a:xfrm flipH="1" flipV="1">
                <a:off x="2229" y="1834"/>
                <a:ext cx="26" cy="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9" name="Line 311"/>
              <p:cNvSpPr>
                <a:spLocks noChangeShapeType="1"/>
              </p:cNvSpPr>
              <p:nvPr/>
            </p:nvSpPr>
            <p:spPr bwMode="auto">
              <a:xfrm flipV="1">
                <a:off x="2256" y="1834"/>
                <a:ext cx="29" cy="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0" name="Line 312"/>
              <p:cNvSpPr>
                <a:spLocks noChangeShapeType="1"/>
              </p:cNvSpPr>
              <p:nvPr/>
            </p:nvSpPr>
            <p:spPr bwMode="auto">
              <a:xfrm flipV="1">
                <a:off x="2131" y="1775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1" name="Line 313"/>
              <p:cNvSpPr>
                <a:spLocks noChangeShapeType="1"/>
              </p:cNvSpPr>
              <p:nvPr/>
            </p:nvSpPr>
            <p:spPr bwMode="auto">
              <a:xfrm flipV="1">
                <a:off x="2190" y="1775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2" name="Line 314"/>
              <p:cNvSpPr>
                <a:spLocks noChangeShapeType="1"/>
              </p:cNvSpPr>
              <p:nvPr/>
            </p:nvSpPr>
            <p:spPr bwMode="auto">
              <a:xfrm flipH="1" flipV="1">
                <a:off x="2132" y="1777"/>
                <a:ext cx="27" cy="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3" name="Line 315"/>
              <p:cNvSpPr>
                <a:spLocks noChangeShapeType="1"/>
              </p:cNvSpPr>
              <p:nvPr/>
            </p:nvSpPr>
            <p:spPr bwMode="auto">
              <a:xfrm flipV="1">
                <a:off x="2160" y="1777"/>
                <a:ext cx="28" cy="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4" name="Rectangle 316"/>
              <p:cNvSpPr>
                <a:spLocks noChangeArrowheads="1"/>
              </p:cNvSpPr>
              <p:nvPr/>
            </p:nvSpPr>
            <p:spPr bwMode="auto">
              <a:xfrm>
                <a:off x="2023" y="1862"/>
                <a:ext cx="38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W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65" name="Rectangle 317"/>
              <p:cNvSpPr>
                <a:spLocks noChangeArrowheads="1"/>
              </p:cNvSpPr>
              <p:nvPr/>
            </p:nvSpPr>
            <p:spPr bwMode="auto">
              <a:xfrm>
                <a:off x="1803" y="1812"/>
                <a:ext cx="27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66" name="Rectangle 318"/>
              <p:cNvSpPr>
                <a:spLocks noChangeArrowheads="1"/>
              </p:cNvSpPr>
              <p:nvPr/>
            </p:nvSpPr>
            <p:spPr bwMode="auto">
              <a:xfrm>
                <a:off x="1555" y="1758"/>
                <a:ext cx="29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U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67" name="Freeform 319"/>
              <p:cNvSpPr>
                <a:spLocks/>
              </p:cNvSpPr>
              <p:nvPr/>
            </p:nvSpPr>
            <p:spPr bwMode="auto">
              <a:xfrm>
                <a:off x="2573" y="1755"/>
                <a:ext cx="204" cy="203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3" y="79"/>
                  </a:cxn>
                  <a:cxn ang="0">
                    <a:pos x="8" y="60"/>
                  </a:cxn>
                  <a:cxn ang="0">
                    <a:pos x="20" y="41"/>
                  </a:cxn>
                  <a:cxn ang="0">
                    <a:pos x="34" y="25"/>
                  </a:cxn>
                  <a:cxn ang="0">
                    <a:pos x="51" y="12"/>
                  </a:cxn>
                  <a:cxn ang="0">
                    <a:pos x="70" y="4"/>
                  </a:cxn>
                  <a:cxn ang="0">
                    <a:pos x="91" y="0"/>
                  </a:cxn>
                  <a:cxn ang="0">
                    <a:pos x="113" y="0"/>
                  </a:cxn>
                  <a:cxn ang="0">
                    <a:pos x="134" y="4"/>
                  </a:cxn>
                  <a:cxn ang="0">
                    <a:pos x="153" y="12"/>
                  </a:cxn>
                  <a:cxn ang="0">
                    <a:pos x="171" y="25"/>
                  </a:cxn>
                  <a:cxn ang="0">
                    <a:pos x="185" y="41"/>
                  </a:cxn>
                  <a:cxn ang="0">
                    <a:pos x="195" y="60"/>
                  </a:cxn>
                  <a:cxn ang="0">
                    <a:pos x="202" y="79"/>
                  </a:cxn>
                  <a:cxn ang="0">
                    <a:pos x="204" y="101"/>
                  </a:cxn>
                  <a:cxn ang="0">
                    <a:pos x="202" y="122"/>
                  </a:cxn>
                  <a:cxn ang="0">
                    <a:pos x="195" y="143"/>
                  </a:cxn>
                  <a:cxn ang="0">
                    <a:pos x="185" y="161"/>
                  </a:cxn>
                  <a:cxn ang="0">
                    <a:pos x="171" y="177"/>
                  </a:cxn>
                  <a:cxn ang="0">
                    <a:pos x="153" y="190"/>
                  </a:cxn>
                  <a:cxn ang="0">
                    <a:pos x="134" y="198"/>
                  </a:cxn>
                  <a:cxn ang="0">
                    <a:pos x="113" y="203"/>
                  </a:cxn>
                  <a:cxn ang="0">
                    <a:pos x="91" y="203"/>
                  </a:cxn>
                  <a:cxn ang="0">
                    <a:pos x="70" y="198"/>
                  </a:cxn>
                  <a:cxn ang="0">
                    <a:pos x="51" y="190"/>
                  </a:cxn>
                  <a:cxn ang="0">
                    <a:pos x="34" y="177"/>
                  </a:cxn>
                  <a:cxn ang="0">
                    <a:pos x="20" y="161"/>
                  </a:cxn>
                  <a:cxn ang="0">
                    <a:pos x="8" y="143"/>
                  </a:cxn>
                  <a:cxn ang="0">
                    <a:pos x="3" y="122"/>
                  </a:cxn>
                  <a:cxn ang="0">
                    <a:pos x="0" y="101"/>
                  </a:cxn>
                </a:cxnLst>
                <a:rect l="0" t="0" r="r" b="b"/>
                <a:pathLst>
                  <a:path w="204" h="203">
                    <a:moveTo>
                      <a:pt x="0" y="101"/>
                    </a:moveTo>
                    <a:lnTo>
                      <a:pt x="3" y="79"/>
                    </a:lnTo>
                    <a:lnTo>
                      <a:pt x="8" y="60"/>
                    </a:lnTo>
                    <a:lnTo>
                      <a:pt x="20" y="41"/>
                    </a:lnTo>
                    <a:lnTo>
                      <a:pt x="34" y="25"/>
                    </a:lnTo>
                    <a:lnTo>
                      <a:pt x="51" y="12"/>
                    </a:lnTo>
                    <a:lnTo>
                      <a:pt x="70" y="4"/>
                    </a:lnTo>
                    <a:lnTo>
                      <a:pt x="91" y="0"/>
                    </a:lnTo>
                    <a:lnTo>
                      <a:pt x="113" y="0"/>
                    </a:lnTo>
                    <a:lnTo>
                      <a:pt x="134" y="4"/>
                    </a:lnTo>
                    <a:lnTo>
                      <a:pt x="153" y="12"/>
                    </a:lnTo>
                    <a:lnTo>
                      <a:pt x="171" y="25"/>
                    </a:lnTo>
                    <a:lnTo>
                      <a:pt x="185" y="41"/>
                    </a:lnTo>
                    <a:lnTo>
                      <a:pt x="195" y="60"/>
                    </a:lnTo>
                    <a:lnTo>
                      <a:pt x="202" y="79"/>
                    </a:lnTo>
                    <a:lnTo>
                      <a:pt x="204" y="101"/>
                    </a:lnTo>
                    <a:lnTo>
                      <a:pt x="202" y="122"/>
                    </a:lnTo>
                    <a:lnTo>
                      <a:pt x="195" y="143"/>
                    </a:lnTo>
                    <a:lnTo>
                      <a:pt x="185" y="161"/>
                    </a:lnTo>
                    <a:lnTo>
                      <a:pt x="171" y="177"/>
                    </a:lnTo>
                    <a:lnTo>
                      <a:pt x="153" y="190"/>
                    </a:lnTo>
                    <a:lnTo>
                      <a:pt x="134" y="198"/>
                    </a:lnTo>
                    <a:lnTo>
                      <a:pt x="113" y="203"/>
                    </a:lnTo>
                    <a:lnTo>
                      <a:pt x="91" y="203"/>
                    </a:lnTo>
                    <a:lnTo>
                      <a:pt x="70" y="198"/>
                    </a:lnTo>
                    <a:lnTo>
                      <a:pt x="51" y="190"/>
                    </a:lnTo>
                    <a:lnTo>
                      <a:pt x="34" y="177"/>
                    </a:lnTo>
                    <a:lnTo>
                      <a:pt x="20" y="161"/>
                    </a:lnTo>
                    <a:lnTo>
                      <a:pt x="8" y="143"/>
                    </a:lnTo>
                    <a:lnTo>
                      <a:pt x="3" y="122"/>
                    </a:lnTo>
                    <a:lnTo>
                      <a:pt x="0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8" name="Rectangle 320"/>
              <p:cNvSpPr>
                <a:spLocks noChangeArrowheads="1"/>
              </p:cNvSpPr>
              <p:nvPr/>
            </p:nvSpPr>
            <p:spPr bwMode="auto">
              <a:xfrm>
                <a:off x="2643" y="1820"/>
                <a:ext cx="63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7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IM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369" name="Rectangle 321"/>
              <p:cNvSpPr>
                <a:spLocks noChangeArrowheads="1"/>
              </p:cNvSpPr>
              <p:nvPr/>
            </p:nvSpPr>
            <p:spPr bwMode="auto">
              <a:xfrm>
                <a:off x="1061" y="2500"/>
                <a:ext cx="980" cy="59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0" name="Line 322"/>
              <p:cNvSpPr>
                <a:spLocks noChangeShapeType="1"/>
              </p:cNvSpPr>
              <p:nvPr/>
            </p:nvSpPr>
            <p:spPr bwMode="auto">
              <a:xfrm flipH="1">
                <a:off x="919" y="1522"/>
                <a:ext cx="108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1" name="Line 323"/>
              <p:cNvSpPr>
                <a:spLocks noChangeShapeType="1"/>
              </p:cNvSpPr>
              <p:nvPr/>
            </p:nvSpPr>
            <p:spPr bwMode="auto">
              <a:xfrm flipH="1">
                <a:off x="923" y="2218"/>
                <a:ext cx="108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2" name="Line 324"/>
              <p:cNvSpPr>
                <a:spLocks noChangeShapeType="1"/>
              </p:cNvSpPr>
              <p:nvPr/>
            </p:nvSpPr>
            <p:spPr bwMode="auto">
              <a:xfrm>
                <a:off x="992" y="1747"/>
                <a:ext cx="9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3" name="Freeform 325"/>
              <p:cNvSpPr>
                <a:spLocks/>
              </p:cNvSpPr>
              <p:nvPr/>
            </p:nvSpPr>
            <p:spPr bwMode="auto">
              <a:xfrm>
                <a:off x="991" y="1774"/>
                <a:ext cx="96" cy="12"/>
              </a:xfrm>
              <a:custGeom>
                <a:avLst/>
                <a:gdLst/>
                <a:ahLst/>
                <a:cxnLst>
                  <a:cxn ang="0">
                    <a:pos x="0" y="12"/>
                  </a:cxn>
                  <a:cxn ang="0">
                    <a:pos x="18" y="4"/>
                  </a:cxn>
                  <a:cxn ang="0">
                    <a:pos x="38" y="0"/>
                  </a:cxn>
                  <a:cxn ang="0">
                    <a:pos x="58" y="0"/>
                  </a:cxn>
                  <a:cxn ang="0">
                    <a:pos x="78" y="4"/>
                  </a:cxn>
                  <a:cxn ang="0">
                    <a:pos x="96" y="12"/>
                  </a:cxn>
                </a:cxnLst>
                <a:rect l="0" t="0" r="r" b="b"/>
                <a:pathLst>
                  <a:path w="96" h="12">
                    <a:moveTo>
                      <a:pt x="0" y="12"/>
                    </a:moveTo>
                    <a:lnTo>
                      <a:pt x="18" y="4"/>
                    </a:lnTo>
                    <a:lnTo>
                      <a:pt x="38" y="0"/>
                    </a:lnTo>
                    <a:lnTo>
                      <a:pt x="58" y="0"/>
                    </a:lnTo>
                    <a:lnTo>
                      <a:pt x="78" y="4"/>
                    </a:lnTo>
                    <a:lnTo>
                      <a:pt x="96" y="12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4" name="Line 326"/>
              <p:cNvSpPr>
                <a:spLocks noChangeShapeType="1"/>
              </p:cNvSpPr>
              <p:nvPr/>
            </p:nvSpPr>
            <p:spPr bwMode="auto">
              <a:xfrm>
                <a:off x="992" y="1954"/>
                <a:ext cx="9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5" name="Freeform 327"/>
              <p:cNvSpPr>
                <a:spLocks/>
              </p:cNvSpPr>
              <p:nvPr/>
            </p:nvSpPr>
            <p:spPr bwMode="auto">
              <a:xfrm>
                <a:off x="991" y="1982"/>
                <a:ext cx="96" cy="11"/>
              </a:xfrm>
              <a:custGeom>
                <a:avLst/>
                <a:gdLst/>
                <a:ahLst/>
                <a:cxnLst>
                  <a:cxn ang="0">
                    <a:pos x="0" y="11"/>
                  </a:cxn>
                  <a:cxn ang="0">
                    <a:pos x="18" y="4"/>
                  </a:cxn>
                  <a:cxn ang="0">
                    <a:pos x="38" y="0"/>
                  </a:cxn>
                  <a:cxn ang="0">
                    <a:pos x="58" y="0"/>
                  </a:cxn>
                  <a:cxn ang="0">
                    <a:pos x="78" y="4"/>
                  </a:cxn>
                  <a:cxn ang="0">
                    <a:pos x="96" y="11"/>
                  </a:cxn>
                </a:cxnLst>
                <a:rect l="0" t="0" r="r" b="b"/>
                <a:pathLst>
                  <a:path w="96" h="11">
                    <a:moveTo>
                      <a:pt x="0" y="11"/>
                    </a:moveTo>
                    <a:lnTo>
                      <a:pt x="18" y="4"/>
                    </a:lnTo>
                    <a:lnTo>
                      <a:pt x="38" y="0"/>
                    </a:lnTo>
                    <a:lnTo>
                      <a:pt x="58" y="0"/>
                    </a:lnTo>
                    <a:lnTo>
                      <a:pt x="78" y="4"/>
                    </a:lnTo>
                    <a:lnTo>
                      <a:pt x="96" y="1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6" name="Line 328"/>
              <p:cNvSpPr>
                <a:spLocks noChangeShapeType="1"/>
              </p:cNvSpPr>
              <p:nvPr/>
            </p:nvSpPr>
            <p:spPr bwMode="auto">
              <a:xfrm flipV="1">
                <a:off x="1039" y="1522"/>
                <a:ext cx="1" cy="22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7" name="Line 329"/>
              <p:cNvSpPr>
                <a:spLocks noChangeShapeType="1"/>
              </p:cNvSpPr>
              <p:nvPr/>
            </p:nvSpPr>
            <p:spPr bwMode="auto">
              <a:xfrm flipV="1">
                <a:off x="1039" y="1985"/>
                <a:ext cx="1" cy="23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8" name="Line 330"/>
              <p:cNvSpPr>
                <a:spLocks noChangeShapeType="1"/>
              </p:cNvSpPr>
              <p:nvPr/>
            </p:nvSpPr>
            <p:spPr bwMode="auto">
              <a:xfrm>
                <a:off x="1039" y="1778"/>
                <a:ext cx="1" cy="17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79" name="Rectangle 331"/>
              <p:cNvSpPr>
                <a:spLocks noChangeArrowheads="1"/>
              </p:cNvSpPr>
              <p:nvPr/>
            </p:nvSpPr>
            <p:spPr bwMode="auto">
              <a:xfrm>
                <a:off x="639" y="1476"/>
                <a:ext cx="280" cy="775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0" name="Freeform 332"/>
              <p:cNvSpPr>
                <a:spLocks/>
              </p:cNvSpPr>
              <p:nvPr/>
            </p:nvSpPr>
            <p:spPr bwMode="auto">
              <a:xfrm>
                <a:off x="727" y="1811"/>
                <a:ext cx="106" cy="96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106" y="96"/>
                  </a:cxn>
                  <a:cxn ang="0">
                    <a:pos x="53" y="0"/>
                  </a:cxn>
                  <a:cxn ang="0">
                    <a:pos x="0" y="96"/>
                  </a:cxn>
                </a:cxnLst>
                <a:rect l="0" t="0" r="r" b="b"/>
                <a:pathLst>
                  <a:path w="106" h="96">
                    <a:moveTo>
                      <a:pt x="0" y="96"/>
                    </a:moveTo>
                    <a:lnTo>
                      <a:pt x="106" y="96"/>
                    </a:lnTo>
                    <a:lnTo>
                      <a:pt x="53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1" name="Line 333"/>
              <p:cNvSpPr>
                <a:spLocks noChangeShapeType="1"/>
              </p:cNvSpPr>
              <p:nvPr/>
            </p:nvSpPr>
            <p:spPr bwMode="auto">
              <a:xfrm flipH="1">
                <a:off x="719" y="1811"/>
                <a:ext cx="12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2" name="Line 334"/>
              <p:cNvSpPr>
                <a:spLocks noChangeShapeType="1"/>
              </p:cNvSpPr>
              <p:nvPr/>
            </p:nvSpPr>
            <p:spPr bwMode="auto">
              <a:xfrm>
                <a:off x="780" y="1746"/>
                <a:ext cx="1" cy="23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3" name="Freeform 335"/>
              <p:cNvSpPr>
                <a:spLocks/>
              </p:cNvSpPr>
              <p:nvPr/>
            </p:nvSpPr>
            <p:spPr bwMode="auto">
              <a:xfrm>
                <a:off x="233" y="1762"/>
                <a:ext cx="204" cy="202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2" y="80"/>
                  </a:cxn>
                  <a:cxn ang="0">
                    <a:pos x="9" y="60"/>
                  </a:cxn>
                  <a:cxn ang="0">
                    <a:pos x="19" y="41"/>
                  </a:cxn>
                  <a:cxn ang="0">
                    <a:pos x="33" y="26"/>
                  </a:cxn>
                  <a:cxn ang="0">
                    <a:pos x="50" y="13"/>
                  </a:cxn>
                  <a:cxn ang="0">
                    <a:pos x="70" y="4"/>
                  </a:cxn>
                  <a:cxn ang="0">
                    <a:pos x="91" y="0"/>
                  </a:cxn>
                  <a:cxn ang="0">
                    <a:pos x="113" y="0"/>
                  </a:cxn>
                  <a:cxn ang="0">
                    <a:pos x="133" y="4"/>
                  </a:cxn>
                  <a:cxn ang="0">
                    <a:pos x="153" y="13"/>
                  </a:cxn>
                  <a:cxn ang="0">
                    <a:pos x="170" y="26"/>
                  </a:cxn>
                  <a:cxn ang="0">
                    <a:pos x="184" y="41"/>
                  </a:cxn>
                  <a:cxn ang="0">
                    <a:pos x="196" y="60"/>
                  </a:cxn>
                  <a:cxn ang="0">
                    <a:pos x="201" y="80"/>
                  </a:cxn>
                  <a:cxn ang="0">
                    <a:pos x="204" y="101"/>
                  </a:cxn>
                  <a:cxn ang="0">
                    <a:pos x="201" y="123"/>
                  </a:cxn>
                  <a:cxn ang="0">
                    <a:pos x="196" y="143"/>
                  </a:cxn>
                  <a:cxn ang="0">
                    <a:pos x="184" y="161"/>
                  </a:cxn>
                  <a:cxn ang="0">
                    <a:pos x="170" y="177"/>
                  </a:cxn>
                  <a:cxn ang="0">
                    <a:pos x="153" y="190"/>
                  </a:cxn>
                  <a:cxn ang="0">
                    <a:pos x="133" y="199"/>
                  </a:cxn>
                  <a:cxn ang="0">
                    <a:pos x="113" y="202"/>
                  </a:cxn>
                  <a:cxn ang="0">
                    <a:pos x="91" y="202"/>
                  </a:cxn>
                  <a:cxn ang="0">
                    <a:pos x="70" y="199"/>
                  </a:cxn>
                  <a:cxn ang="0">
                    <a:pos x="50" y="190"/>
                  </a:cxn>
                  <a:cxn ang="0">
                    <a:pos x="33" y="177"/>
                  </a:cxn>
                  <a:cxn ang="0">
                    <a:pos x="19" y="161"/>
                  </a:cxn>
                  <a:cxn ang="0">
                    <a:pos x="9" y="143"/>
                  </a:cxn>
                  <a:cxn ang="0">
                    <a:pos x="2" y="123"/>
                  </a:cxn>
                  <a:cxn ang="0">
                    <a:pos x="0" y="101"/>
                  </a:cxn>
                </a:cxnLst>
                <a:rect l="0" t="0" r="r" b="b"/>
                <a:pathLst>
                  <a:path w="204" h="202">
                    <a:moveTo>
                      <a:pt x="0" y="101"/>
                    </a:moveTo>
                    <a:lnTo>
                      <a:pt x="2" y="80"/>
                    </a:lnTo>
                    <a:lnTo>
                      <a:pt x="9" y="60"/>
                    </a:lnTo>
                    <a:lnTo>
                      <a:pt x="19" y="41"/>
                    </a:lnTo>
                    <a:lnTo>
                      <a:pt x="33" y="26"/>
                    </a:lnTo>
                    <a:lnTo>
                      <a:pt x="50" y="13"/>
                    </a:lnTo>
                    <a:lnTo>
                      <a:pt x="70" y="4"/>
                    </a:lnTo>
                    <a:lnTo>
                      <a:pt x="91" y="0"/>
                    </a:lnTo>
                    <a:lnTo>
                      <a:pt x="113" y="0"/>
                    </a:lnTo>
                    <a:lnTo>
                      <a:pt x="133" y="4"/>
                    </a:lnTo>
                    <a:lnTo>
                      <a:pt x="153" y="13"/>
                    </a:lnTo>
                    <a:lnTo>
                      <a:pt x="170" y="26"/>
                    </a:lnTo>
                    <a:lnTo>
                      <a:pt x="184" y="41"/>
                    </a:lnTo>
                    <a:lnTo>
                      <a:pt x="196" y="60"/>
                    </a:lnTo>
                    <a:lnTo>
                      <a:pt x="201" y="80"/>
                    </a:lnTo>
                    <a:lnTo>
                      <a:pt x="204" y="101"/>
                    </a:lnTo>
                    <a:lnTo>
                      <a:pt x="201" y="123"/>
                    </a:lnTo>
                    <a:lnTo>
                      <a:pt x="196" y="143"/>
                    </a:lnTo>
                    <a:lnTo>
                      <a:pt x="184" y="161"/>
                    </a:lnTo>
                    <a:lnTo>
                      <a:pt x="170" y="177"/>
                    </a:lnTo>
                    <a:lnTo>
                      <a:pt x="153" y="190"/>
                    </a:lnTo>
                    <a:lnTo>
                      <a:pt x="133" y="199"/>
                    </a:lnTo>
                    <a:lnTo>
                      <a:pt x="113" y="202"/>
                    </a:lnTo>
                    <a:lnTo>
                      <a:pt x="91" y="202"/>
                    </a:lnTo>
                    <a:lnTo>
                      <a:pt x="70" y="199"/>
                    </a:lnTo>
                    <a:lnTo>
                      <a:pt x="50" y="190"/>
                    </a:lnTo>
                    <a:lnTo>
                      <a:pt x="33" y="177"/>
                    </a:lnTo>
                    <a:lnTo>
                      <a:pt x="19" y="161"/>
                    </a:lnTo>
                    <a:lnTo>
                      <a:pt x="9" y="143"/>
                    </a:lnTo>
                    <a:lnTo>
                      <a:pt x="2" y="123"/>
                    </a:lnTo>
                    <a:lnTo>
                      <a:pt x="0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4" name="Line 336"/>
              <p:cNvSpPr>
                <a:spLocks noChangeShapeType="1"/>
              </p:cNvSpPr>
              <p:nvPr/>
            </p:nvSpPr>
            <p:spPr bwMode="auto">
              <a:xfrm flipH="1">
                <a:off x="437" y="1863"/>
                <a:ext cx="20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5" name="Line 337"/>
              <p:cNvSpPr>
                <a:spLocks noChangeShapeType="1"/>
              </p:cNvSpPr>
              <p:nvPr/>
            </p:nvSpPr>
            <p:spPr bwMode="auto">
              <a:xfrm flipH="1">
                <a:off x="410" y="1795"/>
                <a:ext cx="22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6" name="Line 338"/>
              <p:cNvSpPr>
                <a:spLocks noChangeShapeType="1"/>
              </p:cNvSpPr>
              <p:nvPr/>
            </p:nvSpPr>
            <p:spPr bwMode="auto">
              <a:xfrm flipH="1">
                <a:off x="410" y="1931"/>
                <a:ext cx="22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7" name="Freeform 339"/>
              <p:cNvSpPr>
                <a:spLocks/>
              </p:cNvSpPr>
              <p:nvPr/>
            </p:nvSpPr>
            <p:spPr bwMode="auto">
              <a:xfrm>
                <a:off x="294" y="1826"/>
                <a:ext cx="41" cy="11"/>
              </a:xfrm>
              <a:custGeom>
                <a:avLst/>
                <a:gdLst/>
                <a:ahLst/>
                <a:cxnLst>
                  <a:cxn ang="0">
                    <a:pos x="41" y="11"/>
                  </a:cxn>
                  <a:cxn ang="0">
                    <a:pos x="34" y="4"/>
                  </a:cxn>
                  <a:cxn ang="0">
                    <a:pos x="25" y="0"/>
                  </a:cxn>
                  <a:cxn ang="0">
                    <a:pos x="16" y="0"/>
                  </a:cxn>
                  <a:cxn ang="0">
                    <a:pos x="7" y="4"/>
                  </a:cxn>
                  <a:cxn ang="0">
                    <a:pos x="0" y="11"/>
                  </a:cxn>
                </a:cxnLst>
                <a:rect l="0" t="0" r="r" b="b"/>
                <a:pathLst>
                  <a:path w="41" h="11">
                    <a:moveTo>
                      <a:pt x="41" y="11"/>
                    </a:moveTo>
                    <a:lnTo>
                      <a:pt x="34" y="4"/>
                    </a:lnTo>
                    <a:lnTo>
                      <a:pt x="25" y="0"/>
                    </a:lnTo>
                    <a:lnTo>
                      <a:pt x="16" y="0"/>
                    </a:lnTo>
                    <a:lnTo>
                      <a:pt x="7" y="4"/>
                    </a:lnTo>
                    <a:lnTo>
                      <a:pt x="0" y="1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8" name="Freeform 340"/>
              <p:cNvSpPr>
                <a:spLocks/>
              </p:cNvSpPr>
              <p:nvPr/>
            </p:nvSpPr>
            <p:spPr bwMode="auto">
              <a:xfrm>
                <a:off x="335" y="1837"/>
                <a:ext cx="41" cy="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5"/>
                  </a:cxn>
                  <a:cxn ang="0">
                    <a:pos x="20" y="8"/>
                  </a:cxn>
                  <a:cxn ang="0">
                    <a:pos x="31" y="5"/>
                  </a:cxn>
                  <a:cxn ang="0">
                    <a:pos x="41" y="0"/>
                  </a:cxn>
                </a:cxnLst>
                <a:rect l="0" t="0" r="r" b="b"/>
                <a:pathLst>
                  <a:path w="41" h="8">
                    <a:moveTo>
                      <a:pt x="0" y="0"/>
                    </a:moveTo>
                    <a:lnTo>
                      <a:pt x="9" y="5"/>
                    </a:lnTo>
                    <a:lnTo>
                      <a:pt x="20" y="8"/>
                    </a:lnTo>
                    <a:lnTo>
                      <a:pt x="31" y="5"/>
                    </a:lnTo>
                    <a:lnTo>
                      <a:pt x="41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89" name="Freeform 341"/>
              <p:cNvSpPr>
                <a:spLocks/>
              </p:cNvSpPr>
              <p:nvPr/>
            </p:nvSpPr>
            <p:spPr bwMode="auto">
              <a:xfrm>
                <a:off x="294" y="1853"/>
                <a:ext cx="41" cy="10"/>
              </a:xfrm>
              <a:custGeom>
                <a:avLst/>
                <a:gdLst/>
                <a:ahLst/>
                <a:cxnLst>
                  <a:cxn ang="0">
                    <a:pos x="41" y="10"/>
                  </a:cxn>
                  <a:cxn ang="0">
                    <a:pos x="34" y="4"/>
                  </a:cxn>
                  <a:cxn ang="0">
                    <a:pos x="25" y="0"/>
                  </a:cxn>
                  <a:cxn ang="0">
                    <a:pos x="16" y="0"/>
                  </a:cxn>
                  <a:cxn ang="0">
                    <a:pos x="7" y="4"/>
                  </a:cxn>
                  <a:cxn ang="0">
                    <a:pos x="0" y="10"/>
                  </a:cxn>
                </a:cxnLst>
                <a:rect l="0" t="0" r="r" b="b"/>
                <a:pathLst>
                  <a:path w="41" h="10">
                    <a:moveTo>
                      <a:pt x="41" y="10"/>
                    </a:moveTo>
                    <a:lnTo>
                      <a:pt x="34" y="4"/>
                    </a:lnTo>
                    <a:lnTo>
                      <a:pt x="25" y="0"/>
                    </a:lnTo>
                    <a:lnTo>
                      <a:pt x="16" y="0"/>
                    </a:lnTo>
                    <a:lnTo>
                      <a:pt x="7" y="4"/>
                    </a:lnTo>
                    <a:lnTo>
                      <a:pt x="0" y="1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0" name="Freeform 342"/>
              <p:cNvSpPr>
                <a:spLocks/>
              </p:cNvSpPr>
              <p:nvPr/>
            </p:nvSpPr>
            <p:spPr bwMode="auto">
              <a:xfrm>
                <a:off x="335" y="1863"/>
                <a:ext cx="41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7"/>
                  </a:cxn>
                  <a:cxn ang="0">
                    <a:pos x="20" y="9"/>
                  </a:cxn>
                  <a:cxn ang="0">
                    <a:pos x="31" y="7"/>
                  </a:cxn>
                  <a:cxn ang="0">
                    <a:pos x="41" y="0"/>
                  </a:cxn>
                </a:cxnLst>
                <a:rect l="0" t="0" r="r" b="b"/>
                <a:pathLst>
                  <a:path w="41" h="9">
                    <a:moveTo>
                      <a:pt x="0" y="0"/>
                    </a:moveTo>
                    <a:lnTo>
                      <a:pt x="9" y="7"/>
                    </a:lnTo>
                    <a:lnTo>
                      <a:pt x="20" y="9"/>
                    </a:lnTo>
                    <a:lnTo>
                      <a:pt x="31" y="7"/>
                    </a:lnTo>
                    <a:lnTo>
                      <a:pt x="41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1" name="Freeform 343"/>
              <p:cNvSpPr>
                <a:spLocks/>
              </p:cNvSpPr>
              <p:nvPr/>
            </p:nvSpPr>
            <p:spPr bwMode="auto">
              <a:xfrm>
                <a:off x="294" y="1880"/>
                <a:ext cx="41" cy="11"/>
              </a:xfrm>
              <a:custGeom>
                <a:avLst/>
                <a:gdLst/>
                <a:ahLst/>
                <a:cxnLst>
                  <a:cxn ang="0">
                    <a:pos x="41" y="11"/>
                  </a:cxn>
                  <a:cxn ang="0">
                    <a:pos x="34" y="4"/>
                  </a:cxn>
                  <a:cxn ang="0">
                    <a:pos x="25" y="0"/>
                  </a:cxn>
                  <a:cxn ang="0">
                    <a:pos x="16" y="0"/>
                  </a:cxn>
                  <a:cxn ang="0">
                    <a:pos x="7" y="4"/>
                  </a:cxn>
                  <a:cxn ang="0">
                    <a:pos x="0" y="11"/>
                  </a:cxn>
                </a:cxnLst>
                <a:rect l="0" t="0" r="r" b="b"/>
                <a:pathLst>
                  <a:path w="41" h="11">
                    <a:moveTo>
                      <a:pt x="41" y="11"/>
                    </a:moveTo>
                    <a:lnTo>
                      <a:pt x="34" y="4"/>
                    </a:lnTo>
                    <a:lnTo>
                      <a:pt x="25" y="0"/>
                    </a:lnTo>
                    <a:lnTo>
                      <a:pt x="16" y="0"/>
                    </a:lnTo>
                    <a:lnTo>
                      <a:pt x="7" y="4"/>
                    </a:lnTo>
                    <a:lnTo>
                      <a:pt x="0" y="1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2" name="Freeform 344"/>
              <p:cNvSpPr>
                <a:spLocks/>
              </p:cNvSpPr>
              <p:nvPr/>
            </p:nvSpPr>
            <p:spPr bwMode="auto">
              <a:xfrm>
                <a:off x="335" y="1891"/>
                <a:ext cx="41" cy="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5"/>
                  </a:cxn>
                  <a:cxn ang="0">
                    <a:pos x="20" y="8"/>
                  </a:cxn>
                  <a:cxn ang="0">
                    <a:pos x="31" y="5"/>
                  </a:cxn>
                  <a:cxn ang="0">
                    <a:pos x="41" y="0"/>
                  </a:cxn>
                </a:cxnLst>
                <a:rect l="0" t="0" r="r" b="b"/>
                <a:pathLst>
                  <a:path w="41" h="8">
                    <a:moveTo>
                      <a:pt x="0" y="0"/>
                    </a:moveTo>
                    <a:lnTo>
                      <a:pt x="9" y="5"/>
                    </a:lnTo>
                    <a:lnTo>
                      <a:pt x="20" y="8"/>
                    </a:lnTo>
                    <a:lnTo>
                      <a:pt x="31" y="5"/>
                    </a:lnTo>
                    <a:lnTo>
                      <a:pt x="41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3" name="Line 345"/>
              <p:cNvSpPr>
                <a:spLocks noChangeShapeType="1"/>
              </p:cNvSpPr>
              <p:nvPr/>
            </p:nvSpPr>
            <p:spPr bwMode="auto">
              <a:xfrm>
                <a:off x="2495" y="1809"/>
                <a:ext cx="7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4" name="Line 346"/>
              <p:cNvSpPr>
                <a:spLocks noChangeShapeType="1"/>
              </p:cNvSpPr>
              <p:nvPr/>
            </p:nvSpPr>
            <p:spPr bwMode="auto">
              <a:xfrm>
                <a:off x="2253" y="1809"/>
                <a:ext cx="7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5" name="Freeform 347"/>
              <p:cNvSpPr>
                <a:spLocks/>
              </p:cNvSpPr>
              <p:nvPr/>
            </p:nvSpPr>
            <p:spPr bwMode="auto">
              <a:xfrm>
                <a:off x="2331" y="1788"/>
                <a:ext cx="164" cy="21"/>
              </a:xfrm>
              <a:custGeom>
                <a:avLst/>
                <a:gdLst/>
                <a:ahLst/>
                <a:cxnLst>
                  <a:cxn ang="0">
                    <a:pos x="0" y="21"/>
                  </a:cxn>
                  <a:cxn ang="0">
                    <a:pos x="3" y="13"/>
                  </a:cxn>
                  <a:cxn ang="0">
                    <a:pos x="6" y="7"/>
                  </a:cxn>
                  <a:cxn ang="0">
                    <a:pos x="13" y="2"/>
                  </a:cxn>
                  <a:cxn ang="0">
                    <a:pos x="21" y="0"/>
                  </a:cxn>
                  <a:cxn ang="0">
                    <a:pos x="29" y="2"/>
                  </a:cxn>
                  <a:cxn ang="0">
                    <a:pos x="35" y="7"/>
                  </a:cxn>
                  <a:cxn ang="0">
                    <a:pos x="39" y="13"/>
                  </a:cxn>
                  <a:cxn ang="0">
                    <a:pos x="42" y="21"/>
                  </a:cxn>
                  <a:cxn ang="0">
                    <a:pos x="43" y="13"/>
                  </a:cxn>
                  <a:cxn ang="0">
                    <a:pos x="48" y="7"/>
                  </a:cxn>
                  <a:cxn ang="0">
                    <a:pos x="54" y="2"/>
                  </a:cxn>
                  <a:cxn ang="0">
                    <a:pos x="61" y="0"/>
                  </a:cxn>
                  <a:cxn ang="0">
                    <a:pos x="69" y="2"/>
                  </a:cxn>
                  <a:cxn ang="0">
                    <a:pos x="76" y="7"/>
                  </a:cxn>
                  <a:cxn ang="0">
                    <a:pos x="81" y="13"/>
                  </a:cxn>
                  <a:cxn ang="0">
                    <a:pos x="82" y="21"/>
                  </a:cxn>
                  <a:cxn ang="0">
                    <a:pos x="83" y="13"/>
                  </a:cxn>
                  <a:cxn ang="0">
                    <a:pos x="88" y="7"/>
                  </a:cxn>
                  <a:cxn ang="0">
                    <a:pos x="95" y="2"/>
                  </a:cxn>
                  <a:cxn ang="0">
                    <a:pos x="103" y="0"/>
                  </a:cxn>
                  <a:cxn ang="0">
                    <a:pos x="111" y="2"/>
                  </a:cxn>
                  <a:cxn ang="0">
                    <a:pos x="117" y="7"/>
                  </a:cxn>
                  <a:cxn ang="0">
                    <a:pos x="121" y="13"/>
                  </a:cxn>
                  <a:cxn ang="0">
                    <a:pos x="124" y="21"/>
                  </a:cxn>
                  <a:cxn ang="0">
                    <a:pos x="125" y="13"/>
                  </a:cxn>
                  <a:cxn ang="0">
                    <a:pos x="129" y="7"/>
                  </a:cxn>
                  <a:cxn ang="0">
                    <a:pos x="135" y="2"/>
                  </a:cxn>
                  <a:cxn ang="0">
                    <a:pos x="143" y="0"/>
                  </a:cxn>
                  <a:cxn ang="0">
                    <a:pos x="151" y="2"/>
                  </a:cxn>
                  <a:cxn ang="0">
                    <a:pos x="158" y="7"/>
                  </a:cxn>
                  <a:cxn ang="0">
                    <a:pos x="163" y="13"/>
                  </a:cxn>
                  <a:cxn ang="0">
                    <a:pos x="164" y="21"/>
                  </a:cxn>
                </a:cxnLst>
                <a:rect l="0" t="0" r="r" b="b"/>
                <a:pathLst>
                  <a:path w="164" h="21">
                    <a:moveTo>
                      <a:pt x="0" y="21"/>
                    </a:moveTo>
                    <a:lnTo>
                      <a:pt x="3" y="13"/>
                    </a:lnTo>
                    <a:lnTo>
                      <a:pt x="6" y="7"/>
                    </a:lnTo>
                    <a:lnTo>
                      <a:pt x="13" y="2"/>
                    </a:lnTo>
                    <a:lnTo>
                      <a:pt x="21" y="0"/>
                    </a:lnTo>
                    <a:lnTo>
                      <a:pt x="29" y="2"/>
                    </a:lnTo>
                    <a:lnTo>
                      <a:pt x="35" y="7"/>
                    </a:lnTo>
                    <a:lnTo>
                      <a:pt x="39" y="13"/>
                    </a:lnTo>
                    <a:lnTo>
                      <a:pt x="42" y="21"/>
                    </a:lnTo>
                    <a:lnTo>
                      <a:pt x="43" y="13"/>
                    </a:lnTo>
                    <a:lnTo>
                      <a:pt x="48" y="7"/>
                    </a:lnTo>
                    <a:lnTo>
                      <a:pt x="54" y="2"/>
                    </a:lnTo>
                    <a:lnTo>
                      <a:pt x="61" y="0"/>
                    </a:lnTo>
                    <a:lnTo>
                      <a:pt x="69" y="2"/>
                    </a:lnTo>
                    <a:lnTo>
                      <a:pt x="76" y="7"/>
                    </a:lnTo>
                    <a:lnTo>
                      <a:pt x="81" y="13"/>
                    </a:lnTo>
                    <a:lnTo>
                      <a:pt x="82" y="21"/>
                    </a:lnTo>
                    <a:lnTo>
                      <a:pt x="83" y="13"/>
                    </a:lnTo>
                    <a:lnTo>
                      <a:pt x="88" y="7"/>
                    </a:lnTo>
                    <a:lnTo>
                      <a:pt x="95" y="2"/>
                    </a:lnTo>
                    <a:lnTo>
                      <a:pt x="103" y="0"/>
                    </a:lnTo>
                    <a:lnTo>
                      <a:pt x="111" y="2"/>
                    </a:lnTo>
                    <a:lnTo>
                      <a:pt x="117" y="7"/>
                    </a:lnTo>
                    <a:lnTo>
                      <a:pt x="121" y="13"/>
                    </a:lnTo>
                    <a:lnTo>
                      <a:pt x="124" y="21"/>
                    </a:lnTo>
                    <a:lnTo>
                      <a:pt x="125" y="13"/>
                    </a:lnTo>
                    <a:lnTo>
                      <a:pt x="129" y="7"/>
                    </a:lnTo>
                    <a:lnTo>
                      <a:pt x="135" y="2"/>
                    </a:lnTo>
                    <a:lnTo>
                      <a:pt x="143" y="0"/>
                    </a:lnTo>
                    <a:lnTo>
                      <a:pt x="151" y="2"/>
                    </a:lnTo>
                    <a:lnTo>
                      <a:pt x="158" y="7"/>
                    </a:lnTo>
                    <a:lnTo>
                      <a:pt x="163" y="13"/>
                    </a:lnTo>
                    <a:lnTo>
                      <a:pt x="164" y="2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6" name="Line 348"/>
              <p:cNvSpPr>
                <a:spLocks noChangeShapeType="1"/>
              </p:cNvSpPr>
              <p:nvPr/>
            </p:nvSpPr>
            <p:spPr bwMode="auto">
              <a:xfrm>
                <a:off x="2494" y="1863"/>
                <a:ext cx="79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7" name="Line 349"/>
              <p:cNvSpPr>
                <a:spLocks noChangeShapeType="1"/>
              </p:cNvSpPr>
              <p:nvPr/>
            </p:nvSpPr>
            <p:spPr bwMode="auto">
              <a:xfrm>
                <a:off x="2252" y="1863"/>
                <a:ext cx="79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8" name="Freeform 350"/>
              <p:cNvSpPr>
                <a:spLocks/>
              </p:cNvSpPr>
              <p:nvPr/>
            </p:nvSpPr>
            <p:spPr bwMode="auto">
              <a:xfrm>
                <a:off x="2331" y="1843"/>
                <a:ext cx="163" cy="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13"/>
                  </a:cxn>
                  <a:cxn ang="0">
                    <a:pos x="6" y="6"/>
                  </a:cxn>
                  <a:cxn ang="0">
                    <a:pos x="13" y="2"/>
                  </a:cxn>
                  <a:cxn ang="0">
                    <a:pos x="20" y="0"/>
                  </a:cxn>
                  <a:cxn ang="0">
                    <a:pos x="28" y="2"/>
                  </a:cxn>
                  <a:cxn ang="0">
                    <a:pos x="35" y="6"/>
                  </a:cxn>
                  <a:cxn ang="0">
                    <a:pos x="39" y="13"/>
                  </a:cxn>
                  <a:cxn ang="0">
                    <a:pos x="41" y="20"/>
                  </a:cxn>
                  <a:cxn ang="0">
                    <a:pos x="42" y="13"/>
                  </a:cxn>
                  <a:cxn ang="0">
                    <a:pos x="46" y="6"/>
                  </a:cxn>
                  <a:cxn ang="0">
                    <a:pos x="53" y="2"/>
                  </a:cxn>
                  <a:cxn ang="0">
                    <a:pos x="61" y="0"/>
                  </a:cxn>
                  <a:cxn ang="0">
                    <a:pos x="69" y="2"/>
                  </a:cxn>
                  <a:cxn ang="0">
                    <a:pos x="75" y="6"/>
                  </a:cxn>
                  <a:cxn ang="0">
                    <a:pos x="80" y="13"/>
                  </a:cxn>
                  <a:cxn ang="0">
                    <a:pos x="81" y="20"/>
                  </a:cxn>
                  <a:cxn ang="0">
                    <a:pos x="83" y="13"/>
                  </a:cxn>
                  <a:cxn ang="0">
                    <a:pos x="88" y="6"/>
                  </a:cxn>
                  <a:cxn ang="0">
                    <a:pos x="94" y="2"/>
                  </a:cxn>
                  <a:cxn ang="0">
                    <a:pos x="102" y="0"/>
                  </a:cxn>
                  <a:cxn ang="0">
                    <a:pos x="110" y="2"/>
                  </a:cxn>
                  <a:cxn ang="0">
                    <a:pos x="117" y="6"/>
                  </a:cxn>
                  <a:cxn ang="0">
                    <a:pos x="121" y="13"/>
                  </a:cxn>
                  <a:cxn ang="0">
                    <a:pos x="122" y="20"/>
                  </a:cxn>
                  <a:cxn ang="0">
                    <a:pos x="124" y="13"/>
                  </a:cxn>
                  <a:cxn ang="0">
                    <a:pos x="128" y="6"/>
                  </a:cxn>
                  <a:cxn ang="0">
                    <a:pos x="135" y="2"/>
                  </a:cxn>
                  <a:cxn ang="0">
                    <a:pos x="143" y="0"/>
                  </a:cxn>
                  <a:cxn ang="0">
                    <a:pos x="150" y="2"/>
                  </a:cxn>
                  <a:cxn ang="0">
                    <a:pos x="157" y="6"/>
                  </a:cxn>
                  <a:cxn ang="0">
                    <a:pos x="162" y="13"/>
                  </a:cxn>
                  <a:cxn ang="0">
                    <a:pos x="163" y="20"/>
                  </a:cxn>
                </a:cxnLst>
                <a:rect l="0" t="0" r="r" b="b"/>
                <a:pathLst>
                  <a:path w="163" h="20">
                    <a:moveTo>
                      <a:pt x="0" y="20"/>
                    </a:moveTo>
                    <a:lnTo>
                      <a:pt x="1" y="13"/>
                    </a:lnTo>
                    <a:lnTo>
                      <a:pt x="6" y="6"/>
                    </a:lnTo>
                    <a:lnTo>
                      <a:pt x="13" y="2"/>
                    </a:lnTo>
                    <a:lnTo>
                      <a:pt x="20" y="0"/>
                    </a:lnTo>
                    <a:lnTo>
                      <a:pt x="28" y="2"/>
                    </a:lnTo>
                    <a:lnTo>
                      <a:pt x="35" y="6"/>
                    </a:lnTo>
                    <a:lnTo>
                      <a:pt x="39" y="13"/>
                    </a:lnTo>
                    <a:lnTo>
                      <a:pt x="41" y="20"/>
                    </a:lnTo>
                    <a:lnTo>
                      <a:pt x="42" y="13"/>
                    </a:lnTo>
                    <a:lnTo>
                      <a:pt x="46" y="6"/>
                    </a:lnTo>
                    <a:lnTo>
                      <a:pt x="53" y="2"/>
                    </a:lnTo>
                    <a:lnTo>
                      <a:pt x="61" y="0"/>
                    </a:lnTo>
                    <a:lnTo>
                      <a:pt x="69" y="2"/>
                    </a:lnTo>
                    <a:lnTo>
                      <a:pt x="75" y="6"/>
                    </a:lnTo>
                    <a:lnTo>
                      <a:pt x="80" y="13"/>
                    </a:lnTo>
                    <a:lnTo>
                      <a:pt x="81" y="20"/>
                    </a:lnTo>
                    <a:lnTo>
                      <a:pt x="83" y="13"/>
                    </a:lnTo>
                    <a:lnTo>
                      <a:pt x="88" y="6"/>
                    </a:lnTo>
                    <a:lnTo>
                      <a:pt x="94" y="2"/>
                    </a:lnTo>
                    <a:lnTo>
                      <a:pt x="102" y="0"/>
                    </a:lnTo>
                    <a:lnTo>
                      <a:pt x="110" y="2"/>
                    </a:lnTo>
                    <a:lnTo>
                      <a:pt x="117" y="6"/>
                    </a:lnTo>
                    <a:lnTo>
                      <a:pt x="121" y="13"/>
                    </a:lnTo>
                    <a:lnTo>
                      <a:pt x="122" y="20"/>
                    </a:lnTo>
                    <a:lnTo>
                      <a:pt x="124" y="13"/>
                    </a:lnTo>
                    <a:lnTo>
                      <a:pt x="128" y="6"/>
                    </a:lnTo>
                    <a:lnTo>
                      <a:pt x="135" y="2"/>
                    </a:lnTo>
                    <a:lnTo>
                      <a:pt x="143" y="0"/>
                    </a:lnTo>
                    <a:lnTo>
                      <a:pt x="150" y="2"/>
                    </a:lnTo>
                    <a:lnTo>
                      <a:pt x="157" y="6"/>
                    </a:lnTo>
                    <a:lnTo>
                      <a:pt x="162" y="13"/>
                    </a:lnTo>
                    <a:lnTo>
                      <a:pt x="163" y="2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99" name="Line 351"/>
              <p:cNvSpPr>
                <a:spLocks noChangeShapeType="1"/>
              </p:cNvSpPr>
              <p:nvPr/>
            </p:nvSpPr>
            <p:spPr bwMode="auto">
              <a:xfrm>
                <a:off x="2493" y="1918"/>
                <a:ext cx="80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0" name="Line 352"/>
              <p:cNvSpPr>
                <a:spLocks noChangeShapeType="1"/>
              </p:cNvSpPr>
              <p:nvPr/>
            </p:nvSpPr>
            <p:spPr bwMode="auto">
              <a:xfrm>
                <a:off x="2248" y="1918"/>
                <a:ext cx="8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1" name="Freeform 353"/>
              <p:cNvSpPr>
                <a:spLocks/>
              </p:cNvSpPr>
              <p:nvPr/>
            </p:nvSpPr>
            <p:spPr bwMode="auto">
              <a:xfrm>
                <a:off x="2329" y="1898"/>
                <a:ext cx="164" cy="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12"/>
                  </a:cxn>
                  <a:cxn ang="0">
                    <a:pos x="6" y="5"/>
                  </a:cxn>
                  <a:cxn ang="0">
                    <a:pos x="13" y="1"/>
                  </a:cxn>
                  <a:cxn ang="0">
                    <a:pos x="21" y="0"/>
                  </a:cxn>
                  <a:cxn ang="0">
                    <a:pos x="28" y="1"/>
                  </a:cxn>
                  <a:cxn ang="0">
                    <a:pos x="35" y="5"/>
                  </a:cxn>
                  <a:cxn ang="0">
                    <a:pos x="39" y="12"/>
                  </a:cxn>
                  <a:cxn ang="0">
                    <a:pos x="40" y="20"/>
                  </a:cxn>
                  <a:cxn ang="0">
                    <a:pos x="43" y="12"/>
                  </a:cxn>
                  <a:cxn ang="0">
                    <a:pos x="46" y="5"/>
                  </a:cxn>
                  <a:cxn ang="0">
                    <a:pos x="53" y="1"/>
                  </a:cxn>
                  <a:cxn ang="0">
                    <a:pos x="61" y="0"/>
                  </a:cxn>
                  <a:cxn ang="0">
                    <a:pos x="69" y="1"/>
                  </a:cxn>
                  <a:cxn ang="0">
                    <a:pos x="76" y="5"/>
                  </a:cxn>
                  <a:cxn ang="0">
                    <a:pos x="79" y="12"/>
                  </a:cxn>
                  <a:cxn ang="0">
                    <a:pos x="82" y="20"/>
                  </a:cxn>
                  <a:cxn ang="0">
                    <a:pos x="83" y="12"/>
                  </a:cxn>
                  <a:cxn ang="0">
                    <a:pos x="88" y="5"/>
                  </a:cxn>
                  <a:cxn ang="0">
                    <a:pos x="94" y="1"/>
                  </a:cxn>
                  <a:cxn ang="0">
                    <a:pos x="101" y="0"/>
                  </a:cxn>
                  <a:cxn ang="0">
                    <a:pos x="109" y="1"/>
                  </a:cxn>
                  <a:cxn ang="0">
                    <a:pos x="116" y="5"/>
                  </a:cxn>
                  <a:cxn ang="0">
                    <a:pos x="121" y="12"/>
                  </a:cxn>
                  <a:cxn ang="0">
                    <a:pos x="122" y="20"/>
                  </a:cxn>
                  <a:cxn ang="0">
                    <a:pos x="123" y="12"/>
                  </a:cxn>
                  <a:cxn ang="0">
                    <a:pos x="128" y="5"/>
                  </a:cxn>
                  <a:cxn ang="0">
                    <a:pos x="135" y="1"/>
                  </a:cxn>
                  <a:cxn ang="0">
                    <a:pos x="143" y="0"/>
                  </a:cxn>
                  <a:cxn ang="0">
                    <a:pos x="151" y="1"/>
                  </a:cxn>
                  <a:cxn ang="0">
                    <a:pos x="157" y="5"/>
                  </a:cxn>
                  <a:cxn ang="0">
                    <a:pos x="161" y="12"/>
                  </a:cxn>
                  <a:cxn ang="0">
                    <a:pos x="164" y="20"/>
                  </a:cxn>
                </a:cxnLst>
                <a:rect l="0" t="0" r="r" b="b"/>
                <a:pathLst>
                  <a:path w="164" h="20">
                    <a:moveTo>
                      <a:pt x="0" y="20"/>
                    </a:moveTo>
                    <a:lnTo>
                      <a:pt x="1" y="12"/>
                    </a:lnTo>
                    <a:lnTo>
                      <a:pt x="6" y="5"/>
                    </a:lnTo>
                    <a:lnTo>
                      <a:pt x="13" y="1"/>
                    </a:lnTo>
                    <a:lnTo>
                      <a:pt x="21" y="0"/>
                    </a:lnTo>
                    <a:lnTo>
                      <a:pt x="28" y="1"/>
                    </a:lnTo>
                    <a:lnTo>
                      <a:pt x="35" y="5"/>
                    </a:lnTo>
                    <a:lnTo>
                      <a:pt x="39" y="12"/>
                    </a:lnTo>
                    <a:lnTo>
                      <a:pt x="40" y="20"/>
                    </a:lnTo>
                    <a:lnTo>
                      <a:pt x="43" y="12"/>
                    </a:lnTo>
                    <a:lnTo>
                      <a:pt x="46" y="5"/>
                    </a:lnTo>
                    <a:lnTo>
                      <a:pt x="53" y="1"/>
                    </a:lnTo>
                    <a:lnTo>
                      <a:pt x="61" y="0"/>
                    </a:lnTo>
                    <a:lnTo>
                      <a:pt x="69" y="1"/>
                    </a:lnTo>
                    <a:lnTo>
                      <a:pt x="76" y="5"/>
                    </a:lnTo>
                    <a:lnTo>
                      <a:pt x="79" y="12"/>
                    </a:lnTo>
                    <a:lnTo>
                      <a:pt x="82" y="20"/>
                    </a:lnTo>
                    <a:lnTo>
                      <a:pt x="83" y="12"/>
                    </a:lnTo>
                    <a:lnTo>
                      <a:pt x="88" y="5"/>
                    </a:lnTo>
                    <a:lnTo>
                      <a:pt x="94" y="1"/>
                    </a:lnTo>
                    <a:lnTo>
                      <a:pt x="101" y="0"/>
                    </a:lnTo>
                    <a:lnTo>
                      <a:pt x="109" y="1"/>
                    </a:lnTo>
                    <a:lnTo>
                      <a:pt x="116" y="5"/>
                    </a:lnTo>
                    <a:lnTo>
                      <a:pt x="121" y="12"/>
                    </a:lnTo>
                    <a:lnTo>
                      <a:pt x="122" y="20"/>
                    </a:lnTo>
                    <a:lnTo>
                      <a:pt x="123" y="12"/>
                    </a:lnTo>
                    <a:lnTo>
                      <a:pt x="128" y="5"/>
                    </a:lnTo>
                    <a:lnTo>
                      <a:pt x="135" y="1"/>
                    </a:lnTo>
                    <a:lnTo>
                      <a:pt x="143" y="0"/>
                    </a:lnTo>
                    <a:lnTo>
                      <a:pt x="151" y="1"/>
                    </a:lnTo>
                    <a:lnTo>
                      <a:pt x="157" y="5"/>
                    </a:lnTo>
                    <a:lnTo>
                      <a:pt x="161" y="12"/>
                    </a:lnTo>
                    <a:lnTo>
                      <a:pt x="164" y="2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2" name="Line 354"/>
              <p:cNvSpPr>
                <a:spLocks noChangeShapeType="1"/>
              </p:cNvSpPr>
              <p:nvPr/>
            </p:nvSpPr>
            <p:spPr bwMode="auto">
              <a:xfrm>
                <a:off x="1538" y="1809"/>
                <a:ext cx="71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3" name="Line 355"/>
              <p:cNvSpPr>
                <a:spLocks noChangeShapeType="1"/>
              </p:cNvSpPr>
              <p:nvPr/>
            </p:nvSpPr>
            <p:spPr bwMode="auto">
              <a:xfrm>
                <a:off x="2005" y="1918"/>
                <a:ext cx="24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4" name="Line 356"/>
              <p:cNvSpPr>
                <a:spLocks noChangeShapeType="1"/>
              </p:cNvSpPr>
              <p:nvPr/>
            </p:nvSpPr>
            <p:spPr bwMode="auto">
              <a:xfrm>
                <a:off x="1768" y="1863"/>
                <a:ext cx="48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5" name="Freeform 357"/>
              <p:cNvSpPr>
                <a:spLocks/>
              </p:cNvSpPr>
              <p:nvPr/>
            </p:nvSpPr>
            <p:spPr bwMode="auto">
              <a:xfrm>
                <a:off x="1030" y="2209"/>
                <a:ext cx="19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1" y="3"/>
                  </a:cxn>
                  <a:cxn ang="0">
                    <a:pos x="7" y="0"/>
                  </a:cxn>
                  <a:cxn ang="0">
                    <a:pos x="12" y="0"/>
                  </a:cxn>
                  <a:cxn ang="0">
                    <a:pos x="18" y="3"/>
                  </a:cxn>
                  <a:cxn ang="0">
                    <a:pos x="19" y="9"/>
                  </a:cxn>
                  <a:cxn ang="0">
                    <a:pos x="18" y="15"/>
                  </a:cxn>
                  <a:cxn ang="0">
                    <a:pos x="12" y="19"/>
                  </a:cxn>
                  <a:cxn ang="0">
                    <a:pos x="7" y="19"/>
                  </a:cxn>
                  <a:cxn ang="0">
                    <a:pos x="1" y="15"/>
                  </a:cxn>
                  <a:cxn ang="0">
                    <a:pos x="0" y="9"/>
                  </a:cxn>
                </a:cxnLst>
                <a:rect l="0" t="0" r="r" b="b"/>
                <a:pathLst>
                  <a:path w="19" h="19">
                    <a:moveTo>
                      <a:pt x="0" y="9"/>
                    </a:moveTo>
                    <a:lnTo>
                      <a:pt x="1" y="3"/>
                    </a:lnTo>
                    <a:lnTo>
                      <a:pt x="7" y="0"/>
                    </a:lnTo>
                    <a:lnTo>
                      <a:pt x="12" y="0"/>
                    </a:lnTo>
                    <a:lnTo>
                      <a:pt x="18" y="3"/>
                    </a:lnTo>
                    <a:lnTo>
                      <a:pt x="19" y="9"/>
                    </a:lnTo>
                    <a:lnTo>
                      <a:pt x="18" y="15"/>
                    </a:lnTo>
                    <a:lnTo>
                      <a:pt x="12" y="19"/>
                    </a:lnTo>
                    <a:lnTo>
                      <a:pt x="7" y="19"/>
                    </a:lnTo>
                    <a:lnTo>
                      <a:pt x="1" y="1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6" name="Freeform 358"/>
              <p:cNvSpPr>
                <a:spLocks/>
              </p:cNvSpPr>
              <p:nvPr/>
            </p:nvSpPr>
            <p:spPr bwMode="auto">
              <a:xfrm>
                <a:off x="1299" y="1816"/>
                <a:ext cx="21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3" y="3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19" y="3"/>
                  </a:cxn>
                  <a:cxn ang="0">
                    <a:pos x="21" y="9"/>
                  </a:cxn>
                  <a:cxn ang="0">
                    <a:pos x="19" y="15"/>
                  </a:cxn>
                  <a:cxn ang="0">
                    <a:pos x="13" y="19"/>
                  </a:cxn>
                  <a:cxn ang="0">
                    <a:pos x="7" y="19"/>
                  </a:cxn>
                  <a:cxn ang="0">
                    <a:pos x="3" y="15"/>
                  </a:cxn>
                  <a:cxn ang="0">
                    <a:pos x="0" y="9"/>
                  </a:cxn>
                </a:cxnLst>
                <a:rect l="0" t="0" r="r" b="b"/>
                <a:pathLst>
                  <a:path w="21" h="19">
                    <a:moveTo>
                      <a:pt x="0" y="9"/>
                    </a:moveTo>
                    <a:lnTo>
                      <a:pt x="3" y="3"/>
                    </a:lnTo>
                    <a:lnTo>
                      <a:pt x="7" y="0"/>
                    </a:lnTo>
                    <a:lnTo>
                      <a:pt x="13" y="0"/>
                    </a:lnTo>
                    <a:lnTo>
                      <a:pt x="19" y="3"/>
                    </a:lnTo>
                    <a:lnTo>
                      <a:pt x="21" y="9"/>
                    </a:lnTo>
                    <a:lnTo>
                      <a:pt x="19" y="15"/>
                    </a:lnTo>
                    <a:lnTo>
                      <a:pt x="13" y="19"/>
                    </a:lnTo>
                    <a:lnTo>
                      <a:pt x="7" y="19"/>
                    </a:lnTo>
                    <a:lnTo>
                      <a:pt x="3" y="1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7" name="Freeform 359"/>
              <p:cNvSpPr>
                <a:spLocks/>
              </p:cNvSpPr>
              <p:nvPr/>
            </p:nvSpPr>
            <p:spPr bwMode="auto">
              <a:xfrm>
                <a:off x="1030" y="1513"/>
                <a:ext cx="19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1" y="3"/>
                  </a:cxn>
                  <a:cxn ang="0">
                    <a:pos x="7" y="0"/>
                  </a:cxn>
                  <a:cxn ang="0">
                    <a:pos x="12" y="0"/>
                  </a:cxn>
                  <a:cxn ang="0">
                    <a:pos x="18" y="3"/>
                  </a:cxn>
                  <a:cxn ang="0">
                    <a:pos x="19" y="9"/>
                  </a:cxn>
                  <a:cxn ang="0">
                    <a:pos x="18" y="16"/>
                  </a:cxn>
                  <a:cxn ang="0">
                    <a:pos x="12" y="19"/>
                  </a:cxn>
                  <a:cxn ang="0">
                    <a:pos x="7" y="19"/>
                  </a:cxn>
                  <a:cxn ang="0">
                    <a:pos x="1" y="16"/>
                  </a:cxn>
                  <a:cxn ang="0">
                    <a:pos x="0" y="9"/>
                  </a:cxn>
                </a:cxnLst>
                <a:rect l="0" t="0" r="r" b="b"/>
                <a:pathLst>
                  <a:path w="19" h="19">
                    <a:moveTo>
                      <a:pt x="0" y="9"/>
                    </a:moveTo>
                    <a:lnTo>
                      <a:pt x="1" y="3"/>
                    </a:lnTo>
                    <a:lnTo>
                      <a:pt x="7" y="0"/>
                    </a:lnTo>
                    <a:lnTo>
                      <a:pt x="12" y="0"/>
                    </a:lnTo>
                    <a:lnTo>
                      <a:pt x="18" y="3"/>
                    </a:lnTo>
                    <a:lnTo>
                      <a:pt x="19" y="9"/>
                    </a:lnTo>
                    <a:lnTo>
                      <a:pt x="18" y="16"/>
                    </a:lnTo>
                    <a:lnTo>
                      <a:pt x="12" y="19"/>
                    </a:lnTo>
                    <a:lnTo>
                      <a:pt x="7" y="19"/>
                    </a:lnTo>
                    <a:lnTo>
                      <a:pt x="1" y="1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8" name="Line 360"/>
              <p:cNvSpPr>
                <a:spLocks noChangeShapeType="1"/>
              </p:cNvSpPr>
              <p:nvPr/>
            </p:nvSpPr>
            <p:spPr bwMode="auto">
              <a:xfrm>
                <a:off x="2573" y="1809"/>
                <a:ext cx="1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09" name="Line 361"/>
              <p:cNvSpPr>
                <a:spLocks noChangeShapeType="1"/>
              </p:cNvSpPr>
              <p:nvPr/>
            </p:nvSpPr>
            <p:spPr bwMode="auto">
              <a:xfrm>
                <a:off x="2573" y="1918"/>
                <a:ext cx="2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0" name="Line 362"/>
              <p:cNvSpPr>
                <a:spLocks noChangeShapeType="1"/>
              </p:cNvSpPr>
              <p:nvPr/>
            </p:nvSpPr>
            <p:spPr bwMode="auto">
              <a:xfrm>
                <a:off x="1312" y="2163"/>
                <a:ext cx="1" cy="5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1" name="Line 363"/>
              <p:cNvSpPr>
                <a:spLocks noChangeShapeType="1"/>
              </p:cNvSpPr>
              <p:nvPr/>
            </p:nvSpPr>
            <p:spPr bwMode="auto">
              <a:xfrm flipV="1">
                <a:off x="1312" y="1956"/>
                <a:ext cx="1" cy="5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2" name="Line 364"/>
              <p:cNvSpPr>
                <a:spLocks noChangeShapeType="1"/>
              </p:cNvSpPr>
              <p:nvPr/>
            </p:nvSpPr>
            <p:spPr bwMode="auto">
              <a:xfrm flipV="1">
                <a:off x="1232" y="2051"/>
                <a:ext cx="1" cy="8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3" name="Line 365"/>
              <p:cNvSpPr>
                <a:spLocks noChangeShapeType="1"/>
              </p:cNvSpPr>
              <p:nvPr/>
            </p:nvSpPr>
            <p:spPr bwMode="auto">
              <a:xfrm flipV="1">
                <a:off x="1251" y="2023"/>
                <a:ext cx="1" cy="14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4" name="Line 366"/>
              <p:cNvSpPr>
                <a:spLocks noChangeShapeType="1"/>
              </p:cNvSpPr>
              <p:nvPr/>
            </p:nvSpPr>
            <p:spPr bwMode="auto">
              <a:xfrm flipH="1" flipV="1">
                <a:off x="1251" y="2118"/>
                <a:ext cx="41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5" name="Freeform 367"/>
              <p:cNvSpPr>
                <a:spLocks/>
              </p:cNvSpPr>
              <p:nvPr/>
            </p:nvSpPr>
            <p:spPr bwMode="auto">
              <a:xfrm>
                <a:off x="1280" y="2132"/>
                <a:ext cx="34" cy="31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34" y="31"/>
                  </a:cxn>
                  <a:cxn ang="0">
                    <a:pos x="0" y="25"/>
                  </a:cxn>
                  <a:cxn ang="0">
                    <a:pos x="17" y="0"/>
                  </a:cxn>
                </a:cxnLst>
                <a:rect l="0" t="0" r="r" b="b"/>
                <a:pathLst>
                  <a:path w="34" h="31">
                    <a:moveTo>
                      <a:pt x="17" y="0"/>
                    </a:moveTo>
                    <a:lnTo>
                      <a:pt x="34" y="31"/>
                    </a:lnTo>
                    <a:lnTo>
                      <a:pt x="0" y="25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6" name="Line 368"/>
              <p:cNvSpPr>
                <a:spLocks noChangeShapeType="1"/>
              </p:cNvSpPr>
              <p:nvPr/>
            </p:nvSpPr>
            <p:spPr bwMode="auto">
              <a:xfrm flipV="1">
                <a:off x="1251" y="2012"/>
                <a:ext cx="61" cy="5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7" name="Freeform 369"/>
              <p:cNvSpPr>
                <a:spLocks/>
              </p:cNvSpPr>
              <p:nvPr/>
            </p:nvSpPr>
            <p:spPr bwMode="auto">
              <a:xfrm>
                <a:off x="1297" y="1674"/>
                <a:ext cx="30" cy="28"/>
              </a:xfrm>
              <a:custGeom>
                <a:avLst/>
                <a:gdLst/>
                <a:ahLst/>
                <a:cxnLst>
                  <a:cxn ang="0">
                    <a:pos x="0" y="28"/>
                  </a:cxn>
                  <a:cxn ang="0">
                    <a:pos x="30" y="28"/>
                  </a:cxn>
                  <a:cxn ang="0">
                    <a:pos x="15" y="0"/>
                  </a:cxn>
                  <a:cxn ang="0">
                    <a:pos x="0" y="28"/>
                  </a:cxn>
                </a:cxnLst>
                <a:rect l="0" t="0" r="r" b="b"/>
                <a:pathLst>
                  <a:path w="30" h="28">
                    <a:moveTo>
                      <a:pt x="0" y="28"/>
                    </a:moveTo>
                    <a:lnTo>
                      <a:pt x="30" y="28"/>
                    </a:lnTo>
                    <a:lnTo>
                      <a:pt x="15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8" name="Line 370"/>
              <p:cNvSpPr>
                <a:spLocks noChangeShapeType="1"/>
              </p:cNvSpPr>
              <p:nvPr/>
            </p:nvSpPr>
            <p:spPr bwMode="auto">
              <a:xfrm flipH="1">
                <a:off x="1208" y="2051"/>
                <a:ext cx="2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19" name="Line 371"/>
              <p:cNvSpPr>
                <a:spLocks noChangeShapeType="1"/>
              </p:cNvSpPr>
              <p:nvPr/>
            </p:nvSpPr>
            <p:spPr bwMode="auto">
              <a:xfrm flipH="1">
                <a:off x="1292" y="1674"/>
                <a:ext cx="4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0" name="Freeform 372"/>
              <p:cNvSpPr>
                <a:spLocks/>
              </p:cNvSpPr>
              <p:nvPr/>
            </p:nvSpPr>
            <p:spPr bwMode="auto">
              <a:xfrm>
                <a:off x="1302" y="2207"/>
                <a:ext cx="20" cy="19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2" y="4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18" y="4"/>
                  </a:cxn>
                  <a:cxn ang="0">
                    <a:pos x="20" y="10"/>
                  </a:cxn>
                  <a:cxn ang="0">
                    <a:pos x="18" y="16"/>
                  </a:cxn>
                  <a:cxn ang="0">
                    <a:pos x="13" y="19"/>
                  </a:cxn>
                  <a:cxn ang="0">
                    <a:pos x="7" y="19"/>
                  </a:cxn>
                  <a:cxn ang="0">
                    <a:pos x="2" y="16"/>
                  </a:cxn>
                  <a:cxn ang="0">
                    <a:pos x="0" y="10"/>
                  </a:cxn>
                </a:cxnLst>
                <a:rect l="0" t="0" r="r" b="b"/>
                <a:pathLst>
                  <a:path w="20" h="19">
                    <a:moveTo>
                      <a:pt x="0" y="10"/>
                    </a:moveTo>
                    <a:lnTo>
                      <a:pt x="2" y="4"/>
                    </a:lnTo>
                    <a:lnTo>
                      <a:pt x="7" y="0"/>
                    </a:lnTo>
                    <a:lnTo>
                      <a:pt x="13" y="0"/>
                    </a:lnTo>
                    <a:lnTo>
                      <a:pt x="18" y="4"/>
                    </a:lnTo>
                    <a:lnTo>
                      <a:pt x="20" y="10"/>
                    </a:lnTo>
                    <a:lnTo>
                      <a:pt x="18" y="16"/>
                    </a:lnTo>
                    <a:lnTo>
                      <a:pt x="13" y="19"/>
                    </a:lnTo>
                    <a:lnTo>
                      <a:pt x="7" y="19"/>
                    </a:lnTo>
                    <a:lnTo>
                      <a:pt x="2" y="1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1" name="Line 373"/>
              <p:cNvSpPr>
                <a:spLocks noChangeShapeType="1"/>
              </p:cNvSpPr>
              <p:nvPr/>
            </p:nvSpPr>
            <p:spPr bwMode="auto">
              <a:xfrm>
                <a:off x="1312" y="1702"/>
                <a:ext cx="1" cy="25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2" name="Line 374"/>
              <p:cNvSpPr>
                <a:spLocks noChangeShapeType="1"/>
              </p:cNvSpPr>
              <p:nvPr/>
            </p:nvSpPr>
            <p:spPr bwMode="auto">
              <a:xfrm flipV="1">
                <a:off x="1312" y="1525"/>
                <a:ext cx="1" cy="14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3" name="Rectangle 375"/>
              <p:cNvSpPr>
                <a:spLocks noChangeArrowheads="1"/>
              </p:cNvSpPr>
              <p:nvPr/>
            </p:nvSpPr>
            <p:spPr bwMode="auto">
              <a:xfrm>
                <a:off x="1133" y="1626"/>
                <a:ext cx="45" cy="123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4" name="Line 376"/>
              <p:cNvSpPr>
                <a:spLocks noChangeShapeType="1"/>
              </p:cNvSpPr>
              <p:nvPr/>
            </p:nvSpPr>
            <p:spPr bwMode="auto">
              <a:xfrm flipV="1">
                <a:off x="1156" y="1525"/>
                <a:ext cx="1" cy="10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5" name="Freeform 377"/>
              <p:cNvSpPr>
                <a:spLocks/>
              </p:cNvSpPr>
              <p:nvPr/>
            </p:nvSpPr>
            <p:spPr bwMode="auto">
              <a:xfrm>
                <a:off x="1156" y="1749"/>
                <a:ext cx="156" cy="7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8"/>
                  </a:cxn>
                  <a:cxn ang="0">
                    <a:pos x="156" y="78"/>
                  </a:cxn>
                </a:cxnLst>
                <a:rect l="0" t="0" r="r" b="b"/>
                <a:pathLst>
                  <a:path w="156" h="78">
                    <a:moveTo>
                      <a:pt x="0" y="0"/>
                    </a:moveTo>
                    <a:lnTo>
                      <a:pt x="0" y="78"/>
                    </a:lnTo>
                    <a:lnTo>
                      <a:pt x="156" y="78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6" name="Freeform 378"/>
              <p:cNvSpPr>
                <a:spLocks/>
              </p:cNvSpPr>
              <p:nvPr/>
            </p:nvSpPr>
            <p:spPr bwMode="auto">
              <a:xfrm>
                <a:off x="1145" y="1514"/>
                <a:ext cx="21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2" y="3"/>
                  </a:cxn>
                  <a:cxn ang="0">
                    <a:pos x="7" y="0"/>
                  </a:cxn>
                  <a:cxn ang="0">
                    <a:pos x="14" y="0"/>
                  </a:cxn>
                  <a:cxn ang="0">
                    <a:pos x="18" y="3"/>
                  </a:cxn>
                  <a:cxn ang="0">
                    <a:pos x="21" y="9"/>
                  </a:cxn>
                  <a:cxn ang="0">
                    <a:pos x="18" y="16"/>
                  </a:cxn>
                  <a:cxn ang="0">
                    <a:pos x="14" y="19"/>
                  </a:cxn>
                  <a:cxn ang="0">
                    <a:pos x="7" y="19"/>
                  </a:cxn>
                  <a:cxn ang="0">
                    <a:pos x="2" y="16"/>
                  </a:cxn>
                  <a:cxn ang="0">
                    <a:pos x="0" y="9"/>
                  </a:cxn>
                </a:cxnLst>
                <a:rect l="0" t="0" r="r" b="b"/>
                <a:pathLst>
                  <a:path w="21" h="19">
                    <a:moveTo>
                      <a:pt x="0" y="9"/>
                    </a:moveTo>
                    <a:lnTo>
                      <a:pt x="2" y="3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18" y="3"/>
                    </a:lnTo>
                    <a:lnTo>
                      <a:pt x="21" y="9"/>
                    </a:lnTo>
                    <a:lnTo>
                      <a:pt x="18" y="16"/>
                    </a:lnTo>
                    <a:lnTo>
                      <a:pt x="14" y="19"/>
                    </a:lnTo>
                    <a:lnTo>
                      <a:pt x="7" y="19"/>
                    </a:lnTo>
                    <a:lnTo>
                      <a:pt x="2" y="1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7" name="Line 379"/>
              <p:cNvSpPr>
                <a:spLocks noChangeShapeType="1"/>
              </p:cNvSpPr>
              <p:nvPr/>
            </p:nvSpPr>
            <p:spPr bwMode="auto">
              <a:xfrm flipV="1">
                <a:off x="1925" y="1613"/>
                <a:ext cx="1" cy="8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8" name="Line 380"/>
              <p:cNvSpPr>
                <a:spLocks noChangeShapeType="1"/>
              </p:cNvSpPr>
              <p:nvPr/>
            </p:nvSpPr>
            <p:spPr bwMode="auto">
              <a:xfrm flipV="1">
                <a:off x="1943" y="1585"/>
                <a:ext cx="1" cy="14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29" name="Line 381"/>
              <p:cNvSpPr>
                <a:spLocks noChangeShapeType="1"/>
              </p:cNvSpPr>
              <p:nvPr/>
            </p:nvSpPr>
            <p:spPr bwMode="auto">
              <a:xfrm flipH="1" flipV="1">
                <a:off x="1943" y="1680"/>
                <a:ext cx="40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0" name="Freeform 382"/>
              <p:cNvSpPr>
                <a:spLocks/>
              </p:cNvSpPr>
              <p:nvPr/>
            </p:nvSpPr>
            <p:spPr bwMode="auto">
              <a:xfrm>
                <a:off x="1971" y="1694"/>
                <a:ext cx="34" cy="3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4" y="31"/>
                  </a:cxn>
                  <a:cxn ang="0">
                    <a:pos x="0" y="25"/>
                  </a:cxn>
                  <a:cxn ang="0">
                    <a:pos x="18" y="0"/>
                  </a:cxn>
                </a:cxnLst>
                <a:rect l="0" t="0" r="r" b="b"/>
                <a:pathLst>
                  <a:path w="34" h="31">
                    <a:moveTo>
                      <a:pt x="18" y="0"/>
                    </a:moveTo>
                    <a:lnTo>
                      <a:pt x="34" y="31"/>
                    </a:lnTo>
                    <a:lnTo>
                      <a:pt x="0" y="25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1" name="Line 383"/>
              <p:cNvSpPr>
                <a:spLocks noChangeShapeType="1"/>
              </p:cNvSpPr>
              <p:nvPr/>
            </p:nvSpPr>
            <p:spPr bwMode="auto">
              <a:xfrm flipV="1">
                <a:off x="1943" y="1575"/>
                <a:ext cx="61" cy="4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2" name="Freeform 384"/>
              <p:cNvSpPr>
                <a:spLocks/>
              </p:cNvSpPr>
              <p:nvPr/>
            </p:nvSpPr>
            <p:spPr bwMode="auto">
              <a:xfrm>
                <a:off x="2035" y="1642"/>
                <a:ext cx="30" cy="27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30" y="27"/>
                  </a:cxn>
                  <a:cxn ang="0">
                    <a:pos x="15" y="0"/>
                  </a:cxn>
                  <a:cxn ang="0">
                    <a:pos x="0" y="27"/>
                  </a:cxn>
                </a:cxnLst>
                <a:rect l="0" t="0" r="r" b="b"/>
                <a:pathLst>
                  <a:path w="30" h="27">
                    <a:moveTo>
                      <a:pt x="0" y="27"/>
                    </a:moveTo>
                    <a:lnTo>
                      <a:pt x="30" y="27"/>
                    </a:lnTo>
                    <a:lnTo>
                      <a:pt x="15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3" name="Line 385"/>
              <p:cNvSpPr>
                <a:spLocks noChangeShapeType="1"/>
              </p:cNvSpPr>
              <p:nvPr/>
            </p:nvSpPr>
            <p:spPr bwMode="auto">
              <a:xfrm flipH="1">
                <a:off x="1899" y="1613"/>
                <a:ext cx="2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4" name="Line 386"/>
              <p:cNvSpPr>
                <a:spLocks noChangeShapeType="1"/>
              </p:cNvSpPr>
              <p:nvPr/>
            </p:nvSpPr>
            <p:spPr bwMode="auto">
              <a:xfrm flipH="1">
                <a:off x="2033" y="1642"/>
                <a:ext cx="3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5" name="Freeform 387"/>
              <p:cNvSpPr>
                <a:spLocks/>
              </p:cNvSpPr>
              <p:nvPr/>
            </p:nvSpPr>
            <p:spPr bwMode="auto">
              <a:xfrm>
                <a:off x="2004" y="1575"/>
                <a:ext cx="46" cy="67"/>
              </a:xfrm>
              <a:custGeom>
                <a:avLst/>
                <a:gdLst/>
                <a:ahLst/>
                <a:cxnLst>
                  <a:cxn ang="0">
                    <a:pos x="46" y="67"/>
                  </a:cxn>
                  <a:cxn ang="0">
                    <a:pos x="46" y="0"/>
                  </a:cxn>
                  <a:cxn ang="0">
                    <a:pos x="0" y="0"/>
                  </a:cxn>
                </a:cxnLst>
                <a:rect l="0" t="0" r="r" b="b"/>
                <a:pathLst>
                  <a:path w="46" h="67">
                    <a:moveTo>
                      <a:pt x="46" y="67"/>
                    </a:moveTo>
                    <a:lnTo>
                      <a:pt x="46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6" name="Freeform 388"/>
              <p:cNvSpPr>
                <a:spLocks/>
              </p:cNvSpPr>
              <p:nvPr/>
            </p:nvSpPr>
            <p:spPr bwMode="auto">
              <a:xfrm>
                <a:off x="2005" y="1669"/>
                <a:ext cx="45" cy="56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45" y="56"/>
                  </a:cxn>
                  <a:cxn ang="0">
                    <a:pos x="0" y="56"/>
                  </a:cxn>
                </a:cxnLst>
                <a:rect l="0" t="0" r="r" b="b"/>
                <a:pathLst>
                  <a:path w="45" h="56">
                    <a:moveTo>
                      <a:pt x="45" y="0"/>
                    </a:moveTo>
                    <a:lnTo>
                      <a:pt x="45" y="56"/>
                    </a:lnTo>
                    <a:lnTo>
                      <a:pt x="0" y="56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7" name="Line 389"/>
              <p:cNvSpPr>
                <a:spLocks noChangeShapeType="1"/>
              </p:cNvSpPr>
              <p:nvPr/>
            </p:nvSpPr>
            <p:spPr bwMode="auto">
              <a:xfrm flipV="1">
                <a:off x="2004" y="1953"/>
                <a:ext cx="1" cy="5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8" name="Line 390"/>
              <p:cNvSpPr>
                <a:spLocks noChangeShapeType="1"/>
              </p:cNvSpPr>
              <p:nvPr/>
            </p:nvSpPr>
            <p:spPr bwMode="auto">
              <a:xfrm flipV="1">
                <a:off x="1925" y="2047"/>
                <a:ext cx="1" cy="8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9" name="Line 391"/>
              <p:cNvSpPr>
                <a:spLocks noChangeShapeType="1"/>
              </p:cNvSpPr>
              <p:nvPr/>
            </p:nvSpPr>
            <p:spPr bwMode="auto">
              <a:xfrm flipV="1">
                <a:off x="1943" y="2020"/>
                <a:ext cx="1" cy="13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0" name="Line 392"/>
              <p:cNvSpPr>
                <a:spLocks noChangeShapeType="1"/>
              </p:cNvSpPr>
              <p:nvPr/>
            </p:nvSpPr>
            <p:spPr bwMode="auto">
              <a:xfrm flipH="1" flipV="1">
                <a:off x="1943" y="2114"/>
                <a:ext cx="40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1" name="Freeform 393"/>
              <p:cNvSpPr>
                <a:spLocks/>
              </p:cNvSpPr>
              <p:nvPr/>
            </p:nvSpPr>
            <p:spPr bwMode="auto">
              <a:xfrm>
                <a:off x="1971" y="2128"/>
                <a:ext cx="34" cy="3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4" y="31"/>
                  </a:cxn>
                  <a:cxn ang="0">
                    <a:pos x="0" y="26"/>
                  </a:cxn>
                  <a:cxn ang="0">
                    <a:pos x="18" y="0"/>
                  </a:cxn>
                </a:cxnLst>
                <a:rect l="0" t="0" r="r" b="b"/>
                <a:pathLst>
                  <a:path w="34" h="31">
                    <a:moveTo>
                      <a:pt x="18" y="0"/>
                    </a:moveTo>
                    <a:lnTo>
                      <a:pt x="34" y="31"/>
                    </a:lnTo>
                    <a:lnTo>
                      <a:pt x="0" y="26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2" name="Line 394"/>
              <p:cNvSpPr>
                <a:spLocks noChangeShapeType="1"/>
              </p:cNvSpPr>
              <p:nvPr/>
            </p:nvSpPr>
            <p:spPr bwMode="auto">
              <a:xfrm flipV="1">
                <a:off x="1943" y="2008"/>
                <a:ext cx="61" cy="5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3" name="Freeform 395"/>
              <p:cNvSpPr>
                <a:spLocks/>
              </p:cNvSpPr>
              <p:nvPr/>
            </p:nvSpPr>
            <p:spPr bwMode="auto">
              <a:xfrm>
                <a:off x="2035" y="2075"/>
                <a:ext cx="30" cy="29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0" y="29"/>
                  </a:cxn>
                  <a:cxn ang="0">
                    <a:pos x="15" y="0"/>
                  </a:cxn>
                  <a:cxn ang="0">
                    <a:pos x="0" y="29"/>
                  </a:cxn>
                </a:cxnLst>
                <a:rect l="0" t="0" r="r" b="b"/>
                <a:pathLst>
                  <a:path w="30" h="29">
                    <a:moveTo>
                      <a:pt x="0" y="29"/>
                    </a:moveTo>
                    <a:lnTo>
                      <a:pt x="30" y="29"/>
                    </a:lnTo>
                    <a:lnTo>
                      <a:pt x="15" y="0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4" name="Line 396"/>
              <p:cNvSpPr>
                <a:spLocks noChangeShapeType="1"/>
              </p:cNvSpPr>
              <p:nvPr/>
            </p:nvSpPr>
            <p:spPr bwMode="auto">
              <a:xfrm flipH="1">
                <a:off x="1899" y="2047"/>
                <a:ext cx="2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5" name="Line 397"/>
              <p:cNvSpPr>
                <a:spLocks noChangeShapeType="1"/>
              </p:cNvSpPr>
              <p:nvPr/>
            </p:nvSpPr>
            <p:spPr bwMode="auto">
              <a:xfrm flipH="1">
                <a:off x="2033" y="2075"/>
                <a:ext cx="3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6" name="Freeform 398"/>
              <p:cNvSpPr>
                <a:spLocks/>
              </p:cNvSpPr>
              <p:nvPr/>
            </p:nvSpPr>
            <p:spPr bwMode="auto">
              <a:xfrm>
                <a:off x="2004" y="2008"/>
                <a:ext cx="46" cy="67"/>
              </a:xfrm>
              <a:custGeom>
                <a:avLst/>
                <a:gdLst/>
                <a:ahLst/>
                <a:cxnLst>
                  <a:cxn ang="0">
                    <a:pos x="46" y="67"/>
                  </a:cxn>
                  <a:cxn ang="0">
                    <a:pos x="46" y="0"/>
                  </a:cxn>
                  <a:cxn ang="0">
                    <a:pos x="0" y="0"/>
                  </a:cxn>
                </a:cxnLst>
                <a:rect l="0" t="0" r="r" b="b"/>
                <a:pathLst>
                  <a:path w="46" h="67">
                    <a:moveTo>
                      <a:pt x="46" y="67"/>
                    </a:moveTo>
                    <a:lnTo>
                      <a:pt x="46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7" name="Freeform 399"/>
              <p:cNvSpPr>
                <a:spLocks/>
              </p:cNvSpPr>
              <p:nvPr/>
            </p:nvSpPr>
            <p:spPr bwMode="auto">
              <a:xfrm>
                <a:off x="2005" y="2104"/>
                <a:ext cx="45" cy="55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45" y="55"/>
                  </a:cxn>
                  <a:cxn ang="0">
                    <a:pos x="0" y="55"/>
                  </a:cxn>
                </a:cxnLst>
                <a:rect l="0" t="0" r="r" b="b"/>
                <a:pathLst>
                  <a:path w="45" h="55">
                    <a:moveTo>
                      <a:pt x="45" y="0"/>
                    </a:moveTo>
                    <a:lnTo>
                      <a:pt x="45" y="55"/>
                    </a:lnTo>
                    <a:lnTo>
                      <a:pt x="0" y="55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8" name="Line 400"/>
              <p:cNvSpPr>
                <a:spLocks noChangeShapeType="1"/>
              </p:cNvSpPr>
              <p:nvPr/>
            </p:nvSpPr>
            <p:spPr bwMode="auto">
              <a:xfrm flipV="1">
                <a:off x="2004" y="1520"/>
                <a:ext cx="1" cy="5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9" name="Line 401"/>
              <p:cNvSpPr>
                <a:spLocks noChangeShapeType="1"/>
              </p:cNvSpPr>
              <p:nvPr/>
            </p:nvSpPr>
            <p:spPr bwMode="auto">
              <a:xfrm>
                <a:off x="2004" y="2159"/>
                <a:ext cx="1" cy="5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0" name="Line 402"/>
              <p:cNvSpPr>
                <a:spLocks noChangeShapeType="1"/>
              </p:cNvSpPr>
              <p:nvPr/>
            </p:nvSpPr>
            <p:spPr bwMode="auto">
              <a:xfrm flipV="1">
                <a:off x="2004" y="1725"/>
                <a:ext cx="1" cy="228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1" name="Freeform 403"/>
              <p:cNvSpPr>
                <a:spLocks/>
              </p:cNvSpPr>
              <p:nvPr/>
            </p:nvSpPr>
            <p:spPr bwMode="auto">
              <a:xfrm>
                <a:off x="1995" y="1905"/>
                <a:ext cx="21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2" y="3"/>
                  </a:cxn>
                  <a:cxn ang="0">
                    <a:pos x="7" y="0"/>
                  </a:cxn>
                  <a:cxn ang="0">
                    <a:pos x="14" y="0"/>
                  </a:cxn>
                  <a:cxn ang="0">
                    <a:pos x="18" y="3"/>
                  </a:cxn>
                  <a:cxn ang="0">
                    <a:pos x="21" y="9"/>
                  </a:cxn>
                  <a:cxn ang="0">
                    <a:pos x="18" y="15"/>
                  </a:cxn>
                  <a:cxn ang="0">
                    <a:pos x="14" y="19"/>
                  </a:cxn>
                  <a:cxn ang="0">
                    <a:pos x="7" y="19"/>
                  </a:cxn>
                  <a:cxn ang="0">
                    <a:pos x="2" y="15"/>
                  </a:cxn>
                  <a:cxn ang="0">
                    <a:pos x="0" y="9"/>
                  </a:cxn>
                </a:cxnLst>
                <a:rect l="0" t="0" r="r" b="b"/>
                <a:pathLst>
                  <a:path w="21" h="19">
                    <a:moveTo>
                      <a:pt x="0" y="9"/>
                    </a:moveTo>
                    <a:lnTo>
                      <a:pt x="2" y="3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18" y="3"/>
                    </a:lnTo>
                    <a:lnTo>
                      <a:pt x="21" y="9"/>
                    </a:lnTo>
                    <a:lnTo>
                      <a:pt x="18" y="15"/>
                    </a:lnTo>
                    <a:lnTo>
                      <a:pt x="14" y="19"/>
                    </a:lnTo>
                    <a:lnTo>
                      <a:pt x="7" y="19"/>
                    </a:lnTo>
                    <a:lnTo>
                      <a:pt x="2" y="1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2" name="Line 404"/>
              <p:cNvSpPr>
                <a:spLocks noChangeShapeType="1"/>
              </p:cNvSpPr>
              <p:nvPr/>
            </p:nvSpPr>
            <p:spPr bwMode="auto">
              <a:xfrm flipV="1">
                <a:off x="1689" y="1616"/>
                <a:ext cx="1" cy="8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3" name="Line 405"/>
              <p:cNvSpPr>
                <a:spLocks noChangeShapeType="1"/>
              </p:cNvSpPr>
              <p:nvPr/>
            </p:nvSpPr>
            <p:spPr bwMode="auto">
              <a:xfrm flipV="1">
                <a:off x="1707" y="1589"/>
                <a:ext cx="1" cy="13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4" name="Line 406"/>
              <p:cNvSpPr>
                <a:spLocks noChangeShapeType="1"/>
              </p:cNvSpPr>
              <p:nvPr/>
            </p:nvSpPr>
            <p:spPr bwMode="auto">
              <a:xfrm flipH="1" flipV="1">
                <a:off x="1707" y="1683"/>
                <a:ext cx="40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5" name="Freeform 407"/>
              <p:cNvSpPr>
                <a:spLocks/>
              </p:cNvSpPr>
              <p:nvPr/>
            </p:nvSpPr>
            <p:spPr bwMode="auto">
              <a:xfrm>
                <a:off x="1735" y="1697"/>
                <a:ext cx="34" cy="3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4" y="31"/>
                  </a:cxn>
                  <a:cxn ang="0">
                    <a:pos x="0" y="25"/>
                  </a:cxn>
                  <a:cxn ang="0">
                    <a:pos x="18" y="0"/>
                  </a:cxn>
                </a:cxnLst>
                <a:rect l="0" t="0" r="r" b="b"/>
                <a:pathLst>
                  <a:path w="34" h="31">
                    <a:moveTo>
                      <a:pt x="18" y="0"/>
                    </a:moveTo>
                    <a:lnTo>
                      <a:pt x="34" y="31"/>
                    </a:lnTo>
                    <a:lnTo>
                      <a:pt x="0" y="25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6" name="Line 408"/>
              <p:cNvSpPr>
                <a:spLocks noChangeShapeType="1"/>
              </p:cNvSpPr>
              <p:nvPr/>
            </p:nvSpPr>
            <p:spPr bwMode="auto">
              <a:xfrm flipV="1">
                <a:off x="1707" y="1577"/>
                <a:ext cx="61" cy="5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7" name="Freeform 409"/>
              <p:cNvSpPr>
                <a:spLocks/>
              </p:cNvSpPr>
              <p:nvPr/>
            </p:nvSpPr>
            <p:spPr bwMode="auto">
              <a:xfrm>
                <a:off x="1799" y="1644"/>
                <a:ext cx="30" cy="29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0" y="29"/>
                  </a:cxn>
                  <a:cxn ang="0">
                    <a:pos x="15" y="0"/>
                  </a:cxn>
                  <a:cxn ang="0">
                    <a:pos x="0" y="29"/>
                  </a:cxn>
                </a:cxnLst>
                <a:rect l="0" t="0" r="r" b="b"/>
                <a:pathLst>
                  <a:path w="30" h="29">
                    <a:moveTo>
                      <a:pt x="0" y="29"/>
                    </a:moveTo>
                    <a:lnTo>
                      <a:pt x="30" y="29"/>
                    </a:lnTo>
                    <a:lnTo>
                      <a:pt x="15" y="0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8" name="Line 410"/>
              <p:cNvSpPr>
                <a:spLocks noChangeShapeType="1"/>
              </p:cNvSpPr>
              <p:nvPr/>
            </p:nvSpPr>
            <p:spPr bwMode="auto">
              <a:xfrm flipH="1">
                <a:off x="1664" y="1616"/>
                <a:ext cx="2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59" name="Line 411"/>
              <p:cNvSpPr>
                <a:spLocks noChangeShapeType="1"/>
              </p:cNvSpPr>
              <p:nvPr/>
            </p:nvSpPr>
            <p:spPr bwMode="auto">
              <a:xfrm flipH="1">
                <a:off x="1797" y="1644"/>
                <a:ext cx="3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0" name="Freeform 412"/>
              <p:cNvSpPr>
                <a:spLocks/>
              </p:cNvSpPr>
              <p:nvPr/>
            </p:nvSpPr>
            <p:spPr bwMode="auto">
              <a:xfrm>
                <a:off x="1768" y="1577"/>
                <a:ext cx="46" cy="67"/>
              </a:xfrm>
              <a:custGeom>
                <a:avLst/>
                <a:gdLst/>
                <a:ahLst/>
                <a:cxnLst>
                  <a:cxn ang="0">
                    <a:pos x="46" y="67"/>
                  </a:cxn>
                  <a:cxn ang="0">
                    <a:pos x="46" y="0"/>
                  </a:cxn>
                  <a:cxn ang="0">
                    <a:pos x="0" y="0"/>
                  </a:cxn>
                </a:cxnLst>
                <a:rect l="0" t="0" r="r" b="b"/>
                <a:pathLst>
                  <a:path w="46" h="67">
                    <a:moveTo>
                      <a:pt x="46" y="67"/>
                    </a:moveTo>
                    <a:lnTo>
                      <a:pt x="46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1" name="Freeform 413"/>
              <p:cNvSpPr>
                <a:spLocks/>
              </p:cNvSpPr>
              <p:nvPr/>
            </p:nvSpPr>
            <p:spPr bwMode="auto">
              <a:xfrm>
                <a:off x="1769" y="1673"/>
                <a:ext cx="45" cy="55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45" y="55"/>
                  </a:cxn>
                  <a:cxn ang="0">
                    <a:pos x="0" y="55"/>
                  </a:cxn>
                </a:cxnLst>
                <a:rect l="0" t="0" r="r" b="b"/>
                <a:pathLst>
                  <a:path w="45" h="55">
                    <a:moveTo>
                      <a:pt x="45" y="0"/>
                    </a:moveTo>
                    <a:lnTo>
                      <a:pt x="45" y="55"/>
                    </a:lnTo>
                    <a:lnTo>
                      <a:pt x="0" y="55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2" name="Line 414"/>
              <p:cNvSpPr>
                <a:spLocks noChangeShapeType="1"/>
              </p:cNvSpPr>
              <p:nvPr/>
            </p:nvSpPr>
            <p:spPr bwMode="auto">
              <a:xfrm flipV="1">
                <a:off x="1768" y="1956"/>
                <a:ext cx="1" cy="5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3" name="Line 415"/>
              <p:cNvSpPr>
                <a:spLocks noChangeShapeType="1"/>
              </p:cNvSpPr>
              <p:nvPr/>
            </p:nvSpPr>
            <p:spPr bwMode="auto">
              <a:xfrm flipV="1">
                <a:off x="1689" y="2051"/>
                <a:ext cx="1" cy="8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4" name="Line 416"/>
              <p:cNvSpPr>
                <a:spLocks noChangeShapeType="1"/>
              </p:cNvSpPr>
              <p:nvPr/>
            </p:nvSpPr>
            <p:spPr bwMode="auto">
              <a:xfrm flipV="1">
                <a:off x="1707" y="2023"/>
                <a:ext cx="1" cy="14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5" name="Line 417"/>
              <p:cNvSpPr>
                <a:spLocks noChangeShapeType="1"/>
              </p:cNvSpPr>
              <p:nvPr/>
            </p:nvSpPr>
            <p:spPr bwMode="auto">
              <a:xfrm flipH="1" flipV="1">
                <a:off x="1707" y="2118"/>
                <a:ext cx="40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6" name="Freeform 418"/>
              <p:cNvSpPr>
                <a:spLocks/>
              </p:cNvSpPr>
              <p:nvPr/>
            </p:nvSpPr>
            <p:spPr bwMode="auto">
              <a:xfrm>
                <a:off x="1735" y="2132"/>
                <a:ext cx="34" cy="3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4" y="31"/>
                  </a:cxn>
                  <a:cxn ang="0">
                    <a:pos x="0" y="25"/>
                  </a:cxn>
                  <a:cxn ang="0">
                    <a:pos x="18" y="0"/>
                  </a:cxn>
                </a:cxnLst>
                <a:rect l="0" t="0" r="r" b="b"/>
                <a:pathLst>
                  <a:path w="34" h="31">
                    <a:moveTo>
                      <a:pt x="18" y="0"/>
                    </a:moveTo>
                    <a:lnTo>
                      <a:pt x="34" y="31"/>
                    </a:lnTo>
                    <a:lnTo>
                      <a:pt x="0" y="25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7" name="Line 419"/>
              <p:cNvSpPr>
                <a:spLocks noChangeShapeType="1"/>
              </p:cNvSpPr>
              <p:nvPr/>
            </p:nvSpPr>
            <p:spPr bwMode="auto">
              <a:xfrm flipV="1">
                <a:off x="1707" y="2012"/>
                <a:ext cx="61" cy="5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8" name="Freeform 420"/>
              <p:cNvSpPr>
                <a:spLocks/>
              </p:cNvSpPr>
              <p:nvPr/>
            </p:nvSpPr>
            <p:spPr bwMode="auto">
              <a:xfrm>
                <a:off x="1799" y="2079"/>
                <a:ext cx="30" cy="27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30" y="27"/>
                  </a:cxn>
                  <a:cxn ang="0">
                    <a:pos x="15" y="0"/>
                  </a:cxn>
                  <a:cxn ang="0">
                    <a:pos x="0" y="27"/>
                  </a:cxn>
                </a:cxnLst>
                <a:rect l="0" t="0" r="r" b="b"/>
                <a:pathLst>
                  <a:path w="30" h="27">
                    <a:moveTo>
                      <a:pt x="0" y="27"/>
                    </a:moveTo>
                    <a:lnTo>
                      <a:pt x="30" y="27"/>
                    </a:lnTo>
                    <a:lnTo>
                      <a:pt x="15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69" name="Line 421"/>
              <p:cNvSpPr>
                <a:spLocks noChangeShapeType="1"/>
              </p:cNvSpPr>
              <p:nvPr/>
            </p:nvSpPr>
            <p:spPr bwMode="auto">
              <a:xfrm flipH="1">
                <a:off x="1664" y="2051"/>
                <a:ext cx="2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470" name="Line 422"/>
            <p:cNvSpPr>
              <a:spLocks noChangeShapeType="1"/>
            </p:cNvSpPr>
            <p:nvPr/>
          </p:nvSpPr>
          <p:spPr bwMode="auto">
            <a:xfrm flipH="1">
              <a:off x="1798" y="2079"/>
              <a:ext cx="3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1" name="Freeform 423"/>
            <p:cNvSpPr>
              <a:spLocks/>
            </p:cNvSpPr>
            <p:nvPr/>
          </p:nvSpPr>
          <p:spPr bwMode="auto">
            <a:xfrm>
              <a:off x="1769" y="2012"/>
              <a:ext cx="46" cy="67"/>
            </a:xfrm>
            <a:custGeom>
              <a:avLst/>
              <a:gdLst/>
              <a:ahLst/>
              <a:cxnLst>
                <a:cxn ang="0">
                  <a:pos x="46" y="67"/>
                </a:cxn>
                <a:cxn ang="0">
                  <a:pos x="46" y="0"/>
                </a:cxn>
                <a:cxn ang="0">
                  <a:pos x="0" y="0"/>
                </a:cxn>
              </a:cxnLst>
              <a:rect l="0" t="0" r="r" b="b"/>
              <a:pathLst>
                <a:path w="46" h="67">
                  <a:moveTo>
                    <a:pt x="46" y="67"/>
                  </a:moveTo>
                  <a:lnTo>
                    <a:pt x="46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2" name="Freeform 424"/>
            <p:cNvSpPr>
              <a:spLocks/>
            </p:cNvSpPr>
            <p:nvPr/>
          </p:nvSpPr>
          <p:spPr bwMode="auto">
            <a:xfrm>
              <a:off x="1770" y="2106"/>
              <a:ext cx="45" cy="57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5" y="57"/>
                </a:cxn>
                <a:cxn ang="0">
                  <a:pos x="0" y="57"/>
                </a:cxn>
              </a:cxnLst>
              <a:rect l="0" t="0" r="r" b="b"/>
              <a:pathLst>
                <a:path w="45" h="57">
                  <a:moveTo>
                    <a:pt x="45" y="0"/>
                  </a:moveTo>
                  <a:lnTo>
                    <a:pt x="45" y="57"/>
                  </a:lnTo>
                  <a:lnTo>
                    <a:pt x="0" y="57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3" name="Line 425"/>
            <p:cNvSpPr>
              <a:spLocks noChangeShapeType="1"/>
            </p:cNvSpPr>
            <p:nvPr/>
          </p:nvSpPr>
          <p:spPr bwMode="auto">
            <a:xfrm flipV="1">
              <a:off x="1769" y="1522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4" name="Line 426"/>
            <p:cNvSpPr>
              <a:spLocks noChangeShapeType="1"/>
            </p:cNvSpPr>
            <p:nvPr/>
          </p:nvSpPr>
          <p:spPr bwMode="auto">
            <a:xfrm>
              <a:off x="1769" y="2163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5" name="Line 427"/>
            <p:cNvSpPr>
              <a:spLocks noChangeShapeType="1"/>
            </p:cNvSpPr>
            <p:nvPr/>
          </p:nvSpPr>
          <p:spPr bwMode="auto">
            <a:xfrm flipV="1">
              <a:off x="1769" y="1728"/>
              <a:ext cx="1" cy="22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6" name="Freeform 428"/>
            <p:cNvSpPr>
              <a:spLocks/>
            </p:cNvSpPr>
            <p:nvPr/>
          </p:nvSpPr>
          <p:spPr bwMode="auto">
            <a:xfrm>
              <a:off x="1760" y="1514"/>
              <a:ext cx="21" cy="19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" y="4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8" y="4"/>
                </a:cxn>
                <a:cxn ang="0">
                  <a:pos x="21" y="10"/>
                </a:cxn>
                <a:cxn ang="0">
                  <a:pos x="18" y="16"/>
                </a:cxn>
                <a:cxn ang="0">
                  <a:pos x="14" y="19"/>
                </a:cxn>
                <a:cxn ang="0">
                  <a:pos x="8" y="19"/>
                </a:cxn>
                <a:cxn ang="0">
                  <a:pos x="2" y="16"/>
                </a:cxn>
                <a:cxn ang="0">
                  <a:pos x="0" y="10"/>
                </a:cxn>
              </a:cxnLst>
              <a:rect l="0" t="0" r="r" b="b"/>
              <a:pathLst>
                <a:path w="21" h="19">
                  <a:moveTo>
                    <a:pt x="0" y="10"/>
                  </a:moveTo>
                  <a:lnTo>
                    <a:pt x="2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4"/>
                  </a:lnTo>
                  <a:lnTo>
                    <a:pt x="21" y="10"/>
                  </a:lnTo>
                  <a:lnTo>
                    <a:pt x="18" y="16"/>
                  </a:lnTo>
                  <a:lnTo>
                    <a:pt x="14" y="19"/>
                  </a:lnTo>
                  <a:lnTo>
                    <a:pt x="8" y="19"/>
                  </a:lnTo>
                  <a:lnTo>
                    <a:pt x="2" y="1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7" name="Freeform 429"/>
            <p:cNvSpPr>
              <a:spLocks/>
            </p:cNvSpPr>
            <p:nvPr/>
          </p:nvSpPr>
          <p:spPr bwMode="auto">
            <a:xfrm>
              <a:off x="1759" y="1852"/>
              <a:ext cx="20" cy="19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" y="3"/>
                </a:cxn>
                <a:cxn ang="0">
                  <a:pos x="7" y="0"/>
                </a:cxn>
                <a:cxn ang="0">
                  <a:pos x="14" y="0"/>
                </a:cxn>
                <a:cxn ang="0">
                  <a:pos x="18" y="3"/>
                </a:cxn>
                <a:cxn ang="0">
                  <a:pos x="20" y="9"/>
                </a:cxn>
                <a:cxn ang="0">
                  <a:pos x="18" y="15"/>
                </a:cxn>
                <a:cxn ang="0">
                  <a:pos x="14" y="19"/>
                </a:cxn>
                <a:cxn ang="0">
                  <a:pos x="7" y="19"/>
                </a:cxn>
                <a:cxn ang="0">
                  <a:pos x="2" y="15"/>
                </a:cxn>
                <a:cxn ang="0">
                  <a:pos x="0" y="9"/>
                </a:cxn>
              </a:cxnLst>
              <a:rect l="0" t="0" r="r" b="b"/>
              <a:pathLst>
                <a:path w="20" h="19">
                  <a:moveTo>
                    <a:pt x="0" y="9"/>
                  </a:moveTo>
                  <a:lnTo>
                    <a:pt x="2" y="3"/>
                  </a:lnTo>
                  <a:lnTo>
                    <a:pt x="7" y="0"/>
                  </a:lnTo>
                  <a:lnTo>
                    <a:pt x="14" y="0"/>
                  </a:lnTo>
                  <a:lnTo>
                    <a:pt x="18" y="3"/>
                  </a:lnTo>
                  <a:lnTo>
                    <a:pt x="20" y="9"/>
                  </a:lnTo>
                  <a:lnTo>
                    <a:pt x="18" y="15"/>
                  </a:lnTo>
                  <a:lnTo>
                    <a:pt x="14" y="19"/>
                  </a:lnTo>
                  <a:lnTo>
                    <a:pt x="7" y="19"/>
                  </a:lnTo>
                  <a:lnTo>
                    <a:pt x="2" y="1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8" name="Freeform 430"/>
            <p:cNvSpPr>
              <a:spLocks/>
            </p:cNvSpPr>
            <p:nvPr/>
          </p:nvSpPr>
          <p:spPr bwMode="auto">
            <a:xfrm>
              <a:off x="1756" y="2205"/>
              <a:ext cx="21" cy="2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9" y="4"/>
                </a:cxn>
                <a:cxn ang="0">
                  <a:pos x="21" y="10"/>
                </a:cxn>
                <a:cxn ang="0">
                  <a:pos x="19" y="17"/>
                </a:cxn>
                <a:cxn ang="0">
                  <a:pos x="14" y="20"/>
                </a:cxn>
                <a:cxn ang="0">
                  <a:pos x="8" y="20"/>
                </a:cxn>
                <a:cxn ang="0">
                  <a:pos x="3" y="17"/>
                </a:cxn>
                <a:cxn ang="0">
                  <a:pos x="0" y="10"/>
                </a:cxn>
              </a:cxnLst>
              <a:rect l="0" t="0" r="r" b="b"/>
              <a:pathLst>
                <a:path w="21" h="20">
                  <a:moveTo>
                    <a:pt x="0" y="10"/>
                  </a:moveTo>
                  <a:lnTo>
                    <a:pt x="3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9" y="4"/>
                  </a:lnTo>
                  <a:lnTo>
                    <a:pt x="21" y="10"/>
                  </a:lnTo>
                  <a:lnTo>
                    <a:pt x="19" y="17"/>
                  </a:lnTo>
                  <a:lnTo>
                    <a:pt x="14" y="20"/>
                  </a:lnTo>
                  <a:lnTo>
                    <a:pt x="8" y="20"/>
                  </a:lnTo>
                  <a:lnTo>
                    <a:pt x="3" y="17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79" name="Line 431"/>
            <p:cNvSpPr>
              <a:spLocks noChangeShapeType="1"/>
            </p:cNvSpPr>
            <p:nvPr/>
          </p:nvSpPr>
          <p:spPr bwMode="auto">
            <a:xfrm flipV="1">
              <a:off x="1533" y="1522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0" name="Line 432"/>
            <p:cNvSpPr>
              <a:spLocks noChangeShapeType="1"/>
            </p:cNvSpPr>
            <p:nvPr/>
          </p:nvSpPr>
          <p:spPr bwMode="auto">
            <a:xfrm>
              <a:off x="1533" y="2163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1" name="Line 433"/>
            <p:cNvSpPr>
              <a:spLocks noChangeShapeType="1"/>
            </p:cNvSpPr>
            <p:nvPr/>
          </p:nvSpPr>
          <p:spPr bwMode="auto">
            <a:xfrm flipV="1">
              <a:off x="1533" y="1728"/>
              <a:ext cx="1" cy="22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2" name="Line 434"/>
            <p:cNvSpPr>
              <a:spLocks noChangeShapeType="1"/>
            </p:cNvSpPr>
            <p:nvPr/>
          </p:nvSpPr>
          <p:spPr bwMode="auto">
            <a:xfrm flipV="1">
              <a:off x="1453" y="1616"/>
              <a:ext cx="1" cy="8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3" name="Line 435"/>
            <p:cNvSpPr>
              <a:spLocks noChangeShapeType="1"/>
            </p:cNvSpPr>
            <p:nvPr/>
          </p:nvSpPr>
          <p:spPr bwMode="auto">
            <a:xfrm flipV="1">
              <a:off x="1472" y="1589"/>
              <a:ext cx="1" cy="13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4" name="Line 436"/>
            <p:cNvSpPr>
              <a:spLocks noChangeShapeType="1"/>
            </p:cNvSpPr>
            <p:nvPr/>
          </p:nvSpPr>
          <p:spPr bwMode="auto">
            <a:xfrm flipH="1" flipV="1">
              <a:off x="1472" y="1683"/>
              <a:ext cx="41" cy="2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5" name="Freeform 437"/>
            <p:cNvSpPr>
              <a:spLocks/>
            </p:cNvSpPr>
            <p:nvPr/>
          </p:nvSpPr>
          <p:spPr bwMode="auto">
            <a:xfrm>
              <a:off x="1501" y="1697"/>
              <a:ext cx="34" cy="3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34" y="31"/>
                </a:cxn>
                <a:cxn ang="0">
                  <a:pos x="0" y="25"/>
                </a:cxn>
                <a:cxn ang="0">
                  <a:pos x="17" y="0"/>
                </a:cxn>
              </a:cxnLst>
              <a:rect l="0" t="0" r="r" b="b"/>
              <a:pathLst>
                <a:path w="34" h="31">
                  <a:moveTo>
                    <a:pt x="17" y="0"/>
                  </a:moveTo>
                  <a:lnTo>
                    <a:pt x="34" y="31"/>
                  </a:lnTo>
                  <a:lnTo>
                    <a:pt x="0" y="2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6" name="Line 438"/>
            <p:cNvSpPr>
              <a:spLocks noChangeShapeType="1"/>
            </p:cNvSpPr>
            <p:nvPr/>
          </p:nvSpPr>
          <p:spPr bwMode="auto">
            <a:xfrm flipV="1">
              <a:off x="1472" y="1577"/>
              <a:ext cx="61" cy="5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7" name="Freeform 439"/>
            <p:cNvSpPr>
              <a:spLocks/>
            </p:cNvSpPr>
            <p:nvPr/>
          </p:nvSpPr>
          <p:spPr bwMode="auto">
            <a:xfrm>
              <a:off x="1564" y="1644"/>
              <a:ext cx="31" cy="29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31" y="29"/>
                </a:cxn>
                <a:cxn ang="0">
                  <a:pos x="15" y="0"/>
                </a:cxn>
                <a:cxn ang="0">
                  <a:pos x="0" y="29"/>
                </a:cxn>
              </a:cxnLst>
              <a:rect l="0" t="0" r="r" b="b"/>
              <a:pathLst>
                <a:path w="31" h="29">
                  <a:moveTo>
                    <a:pt x="0" y="29"/>
                  </a:moveTo>
                  <a:lnTo>
                    <a:pt x="31" y="29"/>
                  </a:lnTo>
                  <a:lnTo>
                    <a:pt x="15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8" name="Line 440"/>
            <p:cNvSpPr>
              <a:spLocks noChangeShapeType="1"/>
            </p:cNvSpPr>
            <p:nvPr/>
          </p:nvSpPr>
          <p:spPr bwMode="auto">
            <a:xfrm flipH="1">
              <a:off x="1429" y="1616"/>
              <a:ext cx="2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89" name="Line 441"/>
            <p:cNvSpPr>
              <a:spLocks noChangeShapeType="1"/>
            </p:cNvSpPr>
            <p:nvPr/>
          </p:nvSpPr>
          <p:spPr bwMode="auto">
            <a:xfrm flipH="1">
              <a:off x="1562" y="1644"/>
              <a:ext cx="3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0" name="Freeform 442"/>
            <p:cNvSpPr>
              <a:spLocks/>
            </p:cNvSpPr>
            <p:nvPr/>
          </p:nvSpPr>
          <p:spPr bwMode="auto">
            <a:xfrm>
              <a:off x="1533" y="1577"/>
              <a:ext cx="46" cy="67"/>
            </a:xfrm>
            <a:custGeom>
              <a:avLst/>
              <a:gdLst/>
              <a:ahLst/>
              <a:cxnLst>
                <a:cxn ang="0">
                  <a:pos x="46" y="67"/>
                </a:cxn>
                <a:cxn ang="0">
                  <a:pos x="46" y="0"/>
                </a:cxn>
                <a:cxn ang="0">
                  <a:pos x="0" y="0"/>
                </a:cxn>
              </a:cxnLst>
              <a:rect l="0" t="0" r="r" b="b"/>
              <a:pathLst>
                <a:path w="46" h="67">
                  <a:moveTo>
                    <a:pt x="46" y="67"/>
                  </a:moveTo>
                  <a:lnTo>
                    <a:pt x="46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1" name="Freeform 443"/>
            <p:cNvSpPr>
              <a:spLocks/>
            </p:cNvSpPr>
            <p:nvPr/>
          </p:nvSpPr>
          <p:spPr bwMode="auto">
            <a:xfrm>
              <a:off x="1535" y="1673"/>
              <a:ext cx="44" cy="55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44" y="55"/>
                </a:cxn>
                <a:cxn ang="0">
                  <a:pos x="0" y="55"/>
                </a:cxn>
              </a:cxnLst>
              <a:rect l="0" t="0" r="r" b="b"/>
              <a:pathLst>
                <a:path w="44" h="55">
                  <a:moveTo>
                    <a:pt x="44" y="0"/>
                  </a:moveTo>
                  <a:lnTo>
                    <a:pt x="44" y="55"/>
                  </a:lnTo>
                  <a:lnTo>
                    <a:pt x="0" y="55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2" name="Line 444"/>
            <p:cNvSpPr>
              <a:spLocks noChangeShapeType="1"/>
            </p:cNvSpPr>
            <p:nvPr/>
          </p:nvSpPr>
          <p:spPr bwMode="auto">
            <a:xfrm flipV="1">
              <a:off x="1533" y="1956"/>
              <a:ext cx="1" cy="5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3" name="Line 445"/>
            <p:cNvSpPr>
              <a:spLocks noChangeShapeType="1"/>
            </p:cNvSpPr>
            <p:nvPr/>
          </p:nvSpPr>
          <p:spPr bwMode="auto">
            <a:xfrm flipV="1">
              <a:off x="1453" y="2051"/>
              <a:ext cx="1" cy="8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4" name="Line 446"/>
            <p:cNvSpPr>
              <a:spLocks noChangeShapeType="1"/>
            </p:cNvSpPr>
            <p:nvPr/>
          </p:nvSpPr>
          <p:spPr bwMode="auto">
            <a:xfrm flipV="1">
              <a:off x="1472" y="2023"/>
              <a:ext cx="1" cy="14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5" name="Line 447"/>
            <p:cNvSpPr>
              <a:spLocks noChangeShapeType="1"/>
            </p:cNvSpPr>
            <p:nvPr/>
          </p:nvSpPr>
          <p:spPr bwMode="auto">
            <a:xfrm flipH="1" flipV="1">
              <a:off x="1472" y="2118"/>
              <a:ext cx="41" cy="2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6" name="Freeform 448"/>
            <p:cNvSpPr>
              <a:spLocks/>
            </p:cNvSpPr>
            <p:nvPr/>
          </p:nvSpPr>
          <p:spPr bwMode="auto">
            <a:xfrm>
              <a:off x="1501" y="2132"/>
              <a:ext cx="34" cy="3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34" y="31"/>
                </a:cxn>
                <a:cxn ang="0">
                  <a:pos x="0" y="25"/>
                </a:cxn>
                <a:cxn ang="0">
                  <a:pos x="17" y="0"/>
                </a:cxn>
              </a:cxnLst>
              <a:rect l="0" t="0" r="r" b="b"/>
              <a:pathLst>
                <a:path w="34" h="31">
                  <a:moveTo>
                    <a:pt x="17" y="0"/>
                  </a:moveTo>
                  <a:lnTo>
                    <a:pt x="34" y="31"/>
                  </a:lnTo>
                  <a:lnTo>
                    <a:pt x="0" y="2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7" name="Line 449"/>
            <p:cNvSpPr>
              <a:spLocks noChangeShapeType="1"/>
            </p:cNvSpPr>
            <p:nvPr/>
          </p:nvSpPr>
          <p:spPr bwMode="auto">
            <a:xfrm flipV="1">
              <a:off x="1472" y="2012"/>
              <a:ext cx="61" cy="5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8" name="Freeform 450"/>
            <p:cNvSpPr>
              <a:spLocks/>
            </p:cNvSpPr>
            <p:nvPr/>
          </p:nvSpPr>
          <p:spPr bwMode="auto">
            <a:xfrm>
              <a:off x="1564" y="2079"/>
              <a:ext cx="31" cy="27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31" y="27"/>
                </a:cxn>
                <a:cxn ang="0">
                  <a:pos x="15" y="0"/>
                </a:cxn>
                <a:cxn ang="0">
                  <a:pos x="0" y="27"/>
                </a:cxn>
              </a:cxnLst>
              <a:rect l="0" t="0" r="r" b="b"/>
              <a:pathLst>
                <a:path w="31" h="27">
                  <a:moveTo>
                    <a:pt x="0" y="27"/>
                  </a:moveTo>
                  <a:lnTo>
                    <a:pt x="31" y="27"/>
                  </a:lnTo>
                  <a:lnTo>
                    <a:pt x="15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99" name="Line 451"/>
            <p:cNvSpPr>
              <a:spLocks noChangeShapeType="1"/>
            </p:cNvSpPr>
            <p:nvPr/>
          </p:nvSpPr>
          <p:spPr bwMode="auto">
            <a:xfrm flipH="1">
              <a:off x="1429" y="2051"/>
              <a:ext cx="2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0" name="Line 452"/>
            <p:cNvSpPr>
              <a:spLocks noChangeShapeType="1"/>
            </p:cNvSpPr>
            <p:nvPr/>
          </p:nvSpPr>
          <p:spPr bwMode="auto">
            <a:xfrm flipH="1">
              <a:off x="1562" y="2079"/>
              <a:ext cx="3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1" name="Freeform 453"/>
            <p:cNvSpPr>
              <a:spLocks/>
            </p:cNvSpPr>
            <p:nvPr/>
          </p:nvSpPr>
          <p:spPr bwMode="auto">
            <a:xfrm>
              <a:off x="1533" y="2012"/>
              <a:ext cx="46" cy="67"/>
            </a:xfrm>
            <a:custGeom>
              <a:avLst/>
              <a:gdLst/>
              <a:ahLst/>
              <a:cxnLst>
                <a:cxn ang="0">
                  <a:pos x="46" y="67"/>
                </a:cxn>
                <a:cxn ang="0">
                  <a:pos x="46" y="0"/>
                </a:cxn>
                <a:cxn ang="0">
                  <a:pos x="0" y="0"/>
                </a:cxn>
              </a:cxnLst>
              <a:rect l="0" t="0" r="r" b="b"/>
              <a:pathLst>
                <a:path w="46" h="67">
                  <a:moveTo>
                    <a:pt x="46" y="67"/>
                  </a:moveTo>
                  <a:lnTo>
                    <a:pt x="46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2" name="Freeform 454"/>
            <p:cNvSpPr>
              <a:spLocks/>
            </p:cNvSpPr>
            <p:nvPr/>
          </p:nvSpPr>
          <p:spPr bwMode="auto">
            <a:xfrm>
              <a:off x="1535" y="2106"/>
              <a:ext cx="44" cy="57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44" y="57"/>
                </a:cxn>
                <a:cxn ang="0">
                  <a:pos x="0" y="57"/>
                </a:cxn>
              </a:cxnLst>
              <a:rect l="0" t="0" r="r" b="b"/>
              <a:pathLst>
                <a:path w="44" h="57">
                  <a:moveTo>
                    <a:pt x="44" y="0"/>
                  </a:moveTo>
                  <a:lnTo>
                    <a:pt x="44" y="57"/>
                  </a:lnTo>
                  <a:lnTo>
                    <a:pt x="0" y="57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3" name="Freeform 455"/>
            <p:cNvSpPr>
              <a:spLocks/>
            </p:cNvSpPr>
            <p:nvPr/>
          </p:nvSpPr>
          <p:spPr bwMode="auto">
            <a:xfrm>
              <a:off x="1523" y="1797"/>
              <a:ext cx="20" cy="19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" y="4"/>
                </a:cxn>
                <a:cxn ang="0">
                  <a:pos x="7" y="0"/>
                </a:cxn>
                <a:cxn ang="0">
                  <a:pos x="13" y="0"/>
                </a:cxn>
                <a:cxn ang="0">
                  <a:pos x="18" y="4"/>
                </a:cxn>
                <a:cxn ang="0">
                  <a:pos x="20" y="10"/>
                </a:cxn>
                <a:cxn ang="0">
                  <a:pos x="18" y="15"/>
                </a:cxn>
                <a:cxn ang="0">
                  <a:pos x="13" y="19"/>
                </a:cxn>
                <a:cxn ang="0">
                  <a:pos x="7" y="19"/>
                </a:cxn>
                <a:cxn ang="0">
                  <a:pos x="2" y="15"/>
                </a:cxn>
                <a:cxn ang="0">
                  <a:pos x="0" y="10"/>
                </a:cxn>
              </a:cxnLst>
              <a:rect l="0" t="0" r="r" b="b"/>
              <a:pathLst>
                <a:path w="20" h="19">
                  <a:moveTo>
                    <a:pt x="0" y="10"/>
                  </a:moveTo>
                  <a:lnTo>
                    <a:pt x="2" y="4"/>
                  </a:lnTo>
                  <a:lnTo>
                    <a:pt x="7" y="0"/>
                  </a:lnTo>
                  <a:lnTo>
                    <a:pt x="13" y="0"/>
                  </a:lnTo>
                  <a:lnTo>
                    <a:pt x="18" y="4"/>
                  </a:lnTo>
                  <a:lnTo>
                    <a:pt x="20" y="10"/>
                  </a:lnTo>
                  <a:lnTo>
                    <a:pt x="18" y="15"/>
                  </a:lnTo>
                  <a:lnTo>
                    <a:pt x="13" y="19"/>
                  </a:lnTo>
                  <a:lnTo>
                    <a:pt x="7" y="19"/>
                  </a:lnTo>
                  <a:lnTo>
                    <a:pt x="2" y="1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4" name="Freeform 456"/>
            <p:cNvSpPr>
              <a:spLocks/>
            </p:cNvSpPr>
            <p:nvPr/>
          </p:nvSpPr>
          <p:spPr bwMode="auto">
            <a:xfrm>
              <a:off x="1523" y="2207"/>
              <a:ext cx="20" cy="19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" y="4"/>
                </a:cxn>
                <a:cxn ang="0">
                  <a:pos x="7" y="0"/>
                </a:cxn>
                <a:cxn ang="0">
                  <a:pos x="13" y="0"/>
                </a:cxn>
                <a:cxn ang="0">
                  <a:pos x="18" y="4"/>
                </a:cxn>
                <a:cxn ang="0">
                  <a:pos x="20" y="10"/>
                </a:cxn>
                <a:cxn ang="0">
                  <a:pos x="18" y="16"/>
                </a:cxn>
                <a:cxn ang="0">
                  <a:pos x="13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0"/>
                </a:cxn>
              </a:cxnLst>
              <a:rect l="0" t="0" r="r" b="b"/>
              <a:pathLst>
                <a:path w="20" h="19">
                  <a:moveTo>
                    <a:pt x="0" y="10"/>
                  </a:moveTo>
                  <a:lnTo>
                    <a:pt x="2" y="4"/>
                  </a:lnTo>
                  <a:lnTo>
                    <a:pt x="7" y="0"/>
                  </a:lnTo>
                  <a:lnTo>
                    <a:pt x="13" y="0"/>
                  </a:lnTo>
                  <a:lnTo>
                    <a:pt x="18" y="4"/>
                  </a:lnTo>
                  <a:lnTo>
                    <a:pt x="20" y="10"/>
                  </a:lnTo>
                  <a:lnTo>
                    <a:pt x="18" y="16"/>
                  </a:lnTo>
                  <a:lnTo>
                    <a:pt x="13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5" name="Freeform 457"/>
            <p:cNvSpPr>
              <a:spLocks/>
            </p:cNvSpPr>
            <p:nvPr/>
          </p:nvSpPr>
          <p:spPr bwMode="auto">
            <a:xfrm>
              <a:off x="1523" y="1514"/>
              <a:ext cx="19" cy="19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1" y="3"/>
                </a:cxn>
                <a:cxn ang="0">
                  <a:pos x="7" y="0"/>
                </a:cxn>
                <a:cxn ang="0">
                  <a:pos x="12" y="0"/>
                </a:cxn>
                <a:cxn ang="0">
                  <a:pos x="18" y="3"/>
                </a:cxn>
                <a:cxn ang="0">
                  <a:pos x="19" y="9"/>
                </a:cxn>
                <a:cxn ang="0">
                  <a:pos x="18" y="16"/>
                </a:cxn>
                <a:cxn ang="0">
                  <a:pos x="12" y="19"/>
                </a:cxn>
                <a:cxn ang="0">
                  <a:pos x="7" y="19"/>
                </a:cxn>
                <a:cxn ang="0">
                  <a:pos x="1" y="16"/>
                </a:cxn>
                <a:cxn ang="0">
                  <a:pos x="0" y="9"/>
                </a:cxn>
              </a:cxnLst>
              <a:rect l="0" t="0" r="r" b="b"/>
              <a:pathLst>
                <a:path w="19" h="19">
                  <a:moveTo>
                    <a:pt x="0" y="9"/>
                  </a:moveTo>
                  <a:lnTo>
                    <a:pt x="1" y="3"/>
                  </a:lnTo>
                  <a:lnTo>
                    <a:pt x="7" y="0"/>
                  </a:lnTo>
                  <a:lnTo>
                    <a:pt x="12" y="0"/>
                  </a:lnTo>
                  <a:lnTo>
                    <a:pt x="18" y="3"/>
                  </a:lnTo>
                  <a:lnTo>
                    <a:pt x="19" y="9"/>
                  </a:lnTo>
                  <a:lnTo>
                    <a:pt x="18" y="16"/>
                  </a:lnTo>
                  <a:lnTo>
                    <a:pt x="12" y="19"/>
                  </a:lnTo>
                  <a:lnTo>
                    <a:pt x="7" y="19"/>
                  </a:lnTo>
                  <a:lnTo>
                    <a:pt x="1" y="1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06" name="Rectangle 458"/>
            <p:cNvSpPr>
              <a:spLocks noChangeArrowheads="1"/>
            </p:cNvSpPr>
            <p:nvPr/>
          </p:nvSpPr>
          <p:spPr bwMode="auto">
            <a:xfrm>
              <a:off x="213" y="1647"/>
              <a:ext cx="233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3</a:t>
              </a:r>
              <a:r>
                <a:rPr lang="ko-KR" altLang="en-US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상 </a:t>
              </a:r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380V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07" name="Rectangle 459"/>
            <p:cNvSpPr>
              <a:spLocks noChangeArrowheads="1"/>
            </p:cNvSpPr>
            <p:nvPr/>
          </p:nvSpPr>
          <p:spPr bwMode="auto">
            <a:xfrm>
              <a:off x="709" y="1315"/>
              <a:ext cx="177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DIODE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08" name="Rectangle 460"/>
            <p:cNvSpPr>
              <a:spLocks noChangeArrowheads="1"/>
            </p:cNvSpPr>
            <p:nvPr/>
          </p:nvSpPr>
          <p:spPr bwMode="auto">
            <a:xfrm>
              <a:off x="620" y="1384"/>
              <a:ext cx="349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CONVERTER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09" name="Rectangle 461"/>
            <p:cNvSpPr>
              <a:spLocks noChangeArrowheads="1"/>
            </p:cNvSpPr>
            <p:nvPr/>
          </p:nvSpPr>
          <p:spPr bwMode="auto">
            <a:xfrm>
              <a:off x="2115" y="1697"/>
              <a:ext cx="114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HCT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0" name="Rectangle 462"/>
            <p:cNvSpPr>
              <a:spLocks noChangeArrowheads="1"/>
            </p:cNvSpPr>
            <p:nvPr/>
          </p:nvSpPr>
          <p:spPr bwMode="auto">
            <a:xfrm>
              <a:off x="2339" y="1482"/>
              <a:ext cx="176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*</a:t>
              </a:r>
              <a:r>
                <a:rPr lang="ko-KR" altLang="en-US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리액터는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1" name="Rectangle 463"/>
            <p:cNvSpPr>
              <a:spLocks noChangeArrowheads="1"/>
            </p:cNvSpPr>
            <p:nvPr/>
          </p:nvSpPr>
          <p:spPr bwMode="auto">
            <a:xfrm>
              <a:off x="2279" y="1539"/>
              <a:ext cx="275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모터용량 </a:t>
              </a:r>
              <a:r>
                <a:rPr lang="en-US" altLang="ko-KR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13kW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2" name="Rectangle 464"/>
            <p:cNvSpPr>
              <a:spLocks noChangeArrowheads="1"/>
            </p:cNvSpPr>
            <p:nvPr/>
          </p:nvSpPr>
          <p:spPr bwMode="auto">
            <a:xfrm>
              <a:off x="2295" y="1597"/>
              <a:ext cx="251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이상에만 채용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3" name="Line 465"/>
            <p:cNvSpPr>
              <a:spLocks noChangeShapeType="1"/>
            </p:cNvSpPr>
            <p:nvPr/>
          </p:nvSpPr>
          <p:spPr bwMode="auto">
            <a:xfrm flipH="1">
              <a:off x="2416" y="1634"/>
              <a:ext cx="27" cy="126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4" name="Freeform 466"/>
            <p:cNvSpPr>
              <a:spLocks/>
            </p:cNvSpPr>
            <p:nvPr/>
          </p:nvSpPr>
          <p:spPr bwMode="auto">
            <a:xfrm>
              <a:off x="2404" y="1755"/>
              <a:ext cx="26" cy="2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9"/>
                </a:cxn>
                <a:cxn ang="0">
                  <a:pos x="26" y="5"/>
                </a:cxn>
                <a:cxn ang="0">
                  <a:pos x="0" y="0"/>
                </a:cxn>
              </a:cxnLst>
              <a:rect l="0" t="0" r="r" b="b"/>
              <a:pathLst>
                <a:path w="26" h="29">
                  <a:moveTo>
                    <a:pt x="0" y="0"/>
                  </a:moveTo>
                  <a:lnTo>
                    <a:pt x="8" y="29"/>
                  </a:lnTo>
                  <a:lnTo>
                    <a:pt x="26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5" name="Rectangle 467"/>
            <p:cNvSpPr>
              <a:spLocks noChangeArrowheads="1"/>
            </p:cNvSpPr>
            <p:nvPr/>
          </p:nvSpPr>
          <p:spPr bwMode="auto">
            <a:xfrm>
              <a:off x="1429" y="2762"/>
              <a:ext cx="226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DPP-101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6" name="Rectangle 468"/>
            <p:cNvSpPr>
              <a:spLocks noChangeArrowheads="1"/>
            </p:cNvSpPr>
            <p:nvPr/>
          </p:nvSpPr>
          <p:spPr bwMode="auto">
            <a:xfrm>
              <a:off x="2533" y="2748"/>
              <a:ext cx="24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DPC-1XX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17" name="Freeform 469"/>
            <p:cNvSpPr>
              <a:spLocks/>
            </p:cNvSpPr>
            <p:nvPr/>
          </p:nvSpPr>
          <p:spPr bwMode="auto">
            <a:xfrm>
              <a:off x="1851" y="1613"/>
              <a:ext cx="47" cy="887"/>
            </a:xfrm>
            <a:custGeom>
              <a:avLst/>
              <a:gdLst/>
              <a:ahLst/>
              <a:cxnLst>
                <a:cxn ang="0">
                  <a:pos x="0" y="887"/>
                </a:cxn>
                <a:cxn ang="0">
                  <a:pos x="0" y="0"/>
                </a:cxn>
                <a:cxn ang="0">
                  <a:pos x="47" y="0"/>
                </a:cxn>
              </a:cxnLst>
              <a:rect l="0" t="0" r="r" b="b"/>
              <a:pathLst>
                <a:path w="47" h="887">
                  <a:moveTo>
                    <a:pt x="0" y="887"/>
                  </a:moveTo>
                  <a:lnTo>
                    <a:pt x="0" y="0"/>
                  </a:lnTo>
                  <a:lnTo>
                    <a:pt x="47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8" name="Freeform 470"/>
            <p:cNvSpPr>
              <a:spLocks/>
            </p:cNvSpPr>
            <p:nvPr/>
          </p:nvSpPr>
          <p:spPr bwMode="auto">
            <a:xfrm>
              <a:off x="1884" y="2047"/>
              <a:ext cx="18" cy="453"/>
            </a:xfrm>
            <a:custGeom>
              <a:avLst/>
              <a:gdLst/>
              <a:ahLst/>
              <a:cxnLst>
                <a:cxn ang="0">
                  <a:pos x="0" y="453"/>
                </a:cxn>
                <a:cxn ang="0">
                  <a:pos x="0" y="0"/>
                </a:cxn>
                <a:cxn ang="0">
                  <a:pos x="18" y="0"/>
                </a:cxn>
              </a:cxnLst>
              <a:rect l="0" t="0" r="r" b="b"/>
              <a:pathLst>
                <a:path w="18" h="453">
                  <a:moveTo>
                    <a:pt x="0" y="453"/>
                  </a:moveTo>
                  <a:lnTo>
                    <a:pt x="0" y="0"/>
                  </a:lnTo>
                  <a:lnTo>
                    <a:pt x="18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19" name="Freeform 471"/>
            <p:cNvSpPr>
              <a:spLocks/>
            </p:cNvSpPr>
            <p:nvPr/>
          </p:nvSpPr>
          <p:spPr bwMode="auto">
            <a:xfrm>
              <a:off x="1952" y="1918"/>
              <a:ext cx="175" cy="582"/>
            </a:xfrm>
            <a:custGeom>
              <a:avLst/>
              <a:gdLst/>
              <a:ahLst/>
              <a:cxnLst>
                <a:cxn ang="0">
                  <a:pos x="175" y="0"/>
                </a:cxn>
                <a:cxn ang="0">
                  <a:pos x="175" y="498"/>
                </a:cxn>
                <a:cxn ang="0">
                  <a:pos x="0" y="498"/>
                </a:cxn>
                <a:cxn ang="0">
                  <a:pos x="0" y="582"/>
                </a:cxn>
              </a:cxnLst>
              <a:rect l="0" t="0" r="r" b="b"/>
              <a:pathLst>
                <a:path w="175" h="582">
                  <a:moveTo>
                    <a:pt x="175" y="0"/>
                  </a:moveTo>
                  <a:lnTo>
                    <a:pt x="175" y="498"/>
                  </a:lnTo>
                  <a:lnTo>
                    <a:pt x="0" y="498"/>
                  </a:lnTo>
                  <a:lnTo>
                    <a:pt x="0" y="582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0" name="Freeform 472"/>
            <p:cNvSpPr>
              <a:spLocks/>
            </p:cNvSpPr>
            <p:nvPr/>
          </p:nvSpPr>
          <p:spPr bwMode="auto">
            <a:xfrm>
              <a:off x="2116" y="1908"/>
              <a:ext cx="19" cy="2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1" y="5"/>
                </a:cxn>
                <a:cxn ang="0">
                  <a:pos x="7" y="0"/>
                </a:cxn>
                <a:cxn ang="0">
                  <a:pos x="12" y="0"/>
                </a:cxn>
                <a:cxn ang="0">
                  <a:pos x="18" y="5"/>
                </a:cxn>
                <a:cxn ang="0">
                  <a:pos x="19" y="10"/>
                </a:cxn>
                <a:cxn ang="0">
                  <a:pos x="18" y="16"/>
                </a:cxn>
                <a:cxn ang="0">
                  <a:pos x="12" y="20"/>
                </a:cxn>
                <a:cxn ang="0">
                  <a:pos x="7" y="20"/>
                </a:cxn>
                <a:cxn ang="0">
                  <a:pos x="1" y="16"/>
                </a:cxn>
                <a:cxn ang="0">
                  <a:pos x="0" y="10"/>
                </a:cxn>
              </a:cxnLst>
              <a:rect l="0" t="0" r="r" b="b"/>
              <a:pathLst>
                <a:path w="19" h="20">
                  <a:moveTo>
                    <a:pt x="0" y="10"/>
                  </a:moveTo>
                  <a:lnTo>
                    <a:pt x="1" y="5"/>
                  </a:lnTo>
                  <a:lnTo>
                    <a:pt x="7" y="0"/>
                  </a:lnTo>
                  <a:lnTo>
                    <a:pt x="12" y="0"/>
                  </a:lnTo>
                  <a:lnTo>
                    <a:pt x="18" y="5"/>
                  </a:lnTo>
                  <a:lnTo>
                    <a:pt x="19" y="10"/>
                  </a:lnTo>
                  <a:lnTo>
                    <a:pt x="18" y="16"/>
                  </a:lnTo>
                  <a:lnTo>
                    <a:pt x="12" y="20"/>
                  </a:lnTo>
                  <a:lnTo>
                    <a:pt x="7" y="20"/>
                  </a:lnTo>
                  <a:lnTo>
                    <a:pt x="1" y="1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1" name="Freeform 473"/>
            <p:cNvSpPr>
              <a:spLocks/>
            </p:cNvSpPr>
            <p:nvPr/>
          </p:nvSpPr>
          <p:spPr bwMode="auto">
            <a:xfrm>
              <a:off x="1920" y="2223"/>
              <a:ext cx="83" cy="277"/>
            </a:xfrm>
            <a:custGeom>
              <a:avLst/>
              <a:gdLst/>
              <a:ahLst/>
              <a:cxnLst>
                <a:cxn ang="0">
                  <a:pos x="83" y="0"/>
                </a:cxn>
                <a:cxn ang="0">
                  <a:pos x="83" y="64"/>
                </a:cxn>
                <a:cxn ang="0">
                  <a:pos x="0" y="64"/>
                </a:cxn>
                <a:cxn ang="0">
                  <a:pos x="0" y="277"/>
                </a:cxn>
              </a:cxnLst>
              <a:rect l="0" t="0" r="r" b="b"/>
              <a:pathLst>
                <a:path w="83" h="277">
                  <a:moveTo>
                    <a:pt x="83" y="0"/>
                  </a:moveTo>
                  <a:lnTo>
                    <a:pt x="83" y="64"/>
                  </a:lnTo>
                  <a:lnTo>
                    <a:pt x="0" y="64"/>
                  </a:lnTo>
                  <a:lnTo>
                    <a:pt x="0" y="277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2" name="Freeform 474"/>
            <p:cNvSpPr>
              <a:spLocks/>
            </p:cNvSpPr>
            <p:nvPr/>
          </p:nvSpPr>
          <p:spPr bwMode="auto">
            <a:xfrm>
              <a:off x="2008" y="1525"/>
              <a:ext cx="82" cy="8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2" y="0"/>
                </a:cxn>
                <a:cxn ang="0">
                  <a:pos x="82" y="826"/>
                </a:cxn>
              </a:cxnLst>
              <a:rect l="0" t="0" r="r" b="b"/>
              <a:pathLst>
                <a:path w="82" h="826">
                  <a:moveTo>
                    <a:pt x="0" y="0"/>
                  </a:moveTo>
                  <a:lnTo>
                    <a:pt x="82" y="0"/>
                  </a:lnTo>
                  <a:lnTo>
                    <a:pt x="82" y="826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3" name="Freeform 475"/>
            <p:cNvSpPr>
              <a:spLocks/>
            </p:cNvSpPr>
            <p:nvPr/>
          </p:nvSpPr>
          <p:spPr bwMode="auto">
            <a:xfrm>
              <a:off x="1987" y="2351"/>
              <a:ext cx="103" cy="148"/>
            </a:xfrm>
            <a:custGeom>
              <a:avLst/>
              <a:gdLst/>
              <a:ahLst/>
              <a:cxnLst>
                <a:cxn ang="0">
                  <a:pos x="0" y="148"/>
                </a:cxn>
                <a:cxn ang="0">
                  <a:pos x="0" y="0"/>
                </a:cxn>
                <a:cxn ang="0">
                  <a:pos x="103" y="0"/>
                </a:cxn>
              </a:cxnLst>
              <a:rect l="0" t="0" r="r" b="b"/>
              <a:pathLst>
                <a:path w="103" h="148">
                  <a:moveTo>
                    <a:pt x="0" y="148"/>
                  </a:moveTo>
                  <a:lnTo>
                    <a:pt x="0" y="0"/>
                  </a:lnTo>
                  <a:lnTo>
                    <a:pt x="103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4" name="Freeform 476"/>
            <p:cNvSpPr>
              <a:spLocks/>
            </p:cNvSpPr>
            <p:nvPr/>
          </p:nvSpPr>
          <p:spPr bwMode="auto">
            <a:xfrm>
              <a:off x="1996" y="1514"/>
              <a:ext cx="21" cy="19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" y="3"/>
                </a:cxn>
                <a:cxn ang="0">
                  <a:pos x="7" y="0"/>
                </a:cxn>
                <a:cxn ang="0">
                  <a:pos x="14" y="0"/>
                </a:cxn>
                <a:cxn ang="0">
                  <a:pos x="18" y="3"/>
                </a:cxn>
                <a:cxn ang="0">
                  <a:pos x="21" y="9"/>
                </a:cxn>
                <a:cxn ang="0">
                  <a:pos x="18" y="16"/>
                </a:cxn>
                <a:cxn ang="0">
                  <a:pos x="14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9"/>
                </a:cxn>
              </a:cxnLst>
              <a:rect l="0" t="0" r="r" b="b"/>
              <a:pathLst>
                <a:path w="21" h="19">
                  <a:moveTo>
                    <a:pt x="0" y="9"/>
                  </a:moveTo>
                  <a:lnTo>
                    <a:pt x="2" y="3"/>
                  </a:lnTo>
                  <a:lnTo>
                    <a:pt x="7" y="0"/>
                  </a:lnTo>
                  <a:lnTo>
                    <a:pt x="14" y="0"/>
                  </a:lnTo>
                  <a:lnTo>
                    <a:pt x="18" y="3"/>
                  </a:lnTo>
                  <a:lnTo>
                    <a:pt x="21" y="9"/>
                  </a:lnTo>
                  <a:lnTo>
                    <a:pt x="18" y="16"/>
                  </a:lnTo>
                  <a:lnTo>
                    <a:pt x="14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25" name="Rectangle 477"/>
            <p:cNvSpPr>
              <a:spLocks noChangeArrowheads="1"/>
            </p:cNvSpPr>
            <p:nvPr/>
          </p:nvSpPr>
          <p:spPr bwMode="auto">
            <a:xfrm rot="16200000">
              <a:off x="1923" y="2587"/>
              <a:ext cx="120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GW - 03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26" name="Rectangle 478"/>
            <p:cNvSpPr>
              <a:spLocks noChangeArrowheads="1"/>
            </p:cNvSpPr>
            <p:nvPr/>
          </p:nvSpPr>
          <p:spPr bwMode="auto">
            <a:xfrm rot="16200000">
              <a:off x="1781" y="2587"/>
              <a:ext cx="120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GW - 05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27" name="Rectangle 479"/>
            <p:cNvSpPr>
              <a:spLocks noChangeArrowheads="1"/>
            </p:cNvSpPr>
            <p:nvPr/>
          </p:nvSpPr>
          <p:spPr bwMode="auto">
            <a:xfrm rot="16200000">
              <a:off x="1817" y="2587"/>
              <a:ext cx="120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GW - 01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28" name="Rectangle 480"/>
            <p:cNvSpPr>
              <a:spLocks noChangeArrowheads="1"/>
            </p:cNvSpPr>
            <p:nvPr/>
          </p:nvSpPr>
          <p:spPr bwMode="auto">
            <a:xfrm rot="16200000">
              <a:off x="1852" y="2587"/>
              <a:ext cx="120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GW - 06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29" name="Rectangle 481"/>
            <p:cNvSpPr>
              <a:spLocks noChangeArrowheads="1"/>
            </p:cNvSpPr>
            <p:nvPr/>
          </p:nvSpPr>
          <p:spPr bwMode="auto">
            <a:xfrm rot="16200000">
              <a:off x="1889" y="2587"/>
              <a:ext cx="120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GW - 09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30" name="Rectangle 482"/>
            <p:cNvSpPr>
              <a:spLocks noChangeArrowheads="1"/>
            </p:cNvSpPr>
            <p:nvPr/>
          </p:nvSpPr>
          <p:spPr bwMode="auto">
            <a:xfrm>
              <a:off x="177" y="2633"/>
              <a:ext cx="25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단상 </a:t>
              </a:r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110V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31" name="Line 483"/>
            <p:cNvSpPr>
              <a:spLocks noChangeShapeType="1"/>
            </p:cNvSpPr>
            <p:nvPr/>
          </p:nvSpPr>
          <p:spPr bwMode="auto">
            <a:xfrm flipH="1">
              <a:off x="284" y="2754"/>
              <a:ext cx="22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2" name="Line 484"/>
            <p:cNvSpPr>
              <a:spLocks noChangeShapeType="1"/>
            </p:cNvSpPr>
            <p:nvPr/>
          </p:nvSpPr>
          <p:spPr bwMode="auto">
            <a:xfrm flipH="1">
              <a:off x="287" y="2840"/>
              <a:ext cx="22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3" name="Freeform 485"/>
            <p:cNvSpPr>
              <a:spLocks/>
            </p:cNvSpPr>
            <p:nvPr/>
          </p:nvSpPr>
          <p:spPr bwMode="auto">
            <a:xfrm>
              <a:off x="213" y="2725"/>
              <a:ext cx="149" cy="148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2" y="56"/>
                </a:cxn>
                <a:cxn ang="0">
                  <a:pos x="8" y="39"/>
                </a:cxn>
                <a:cxn ang="0">
                  <a:pos x="18" y="24"/>
                </a:cxn>
                <a:cxn ang="0">
                  <a:pos x="32" y="13"/>
                </a:cxn>
                <a:cxn ang="0">
                  <a:pos x="48" y="5"/>
                </a:cxn>
                <a:cxn ang="0">
                  <a:pos x="66" y="0"/>
                </a:cxn>
                <a:cxn ang="0">
                  <a:pos x="83" y="0"/>
                </a:cxn>
                <a:cxn ang="0">
                  <a:pos x="100" y="5"/>
                </a:cxn>
                <a:cxn ang="0">
                  <a:pos x="116" y="13"/>
                </a:cxn>
                <a:cxn ang="0">
                  <a:pos x="130" y="24"/>
                </a:cxn>
                <a:cxn ang="0">
                  <a:pos x="139" y="39"/>
                </a:cxn>
                <a:cxn ang="0">
                  <a:pos x="146" y="56"/>
                </a:cxn>
                <a:cxn ang="0">
                  <a:pos x="149" y="74"/>
                </a:cxn>
                <a:cxn ang="0">
                  <a:pos x="146" y="91"/>
                </a:cxn>
                <a:cxn ang="0">
                  <a:pos x="139" y="109"/>
                </a:cxn>
                <a:cxn ang="0">
                  <a:pos x="130" y="122"/>
                </a:cxn>
                <a:cxn ang="0">
                  <a:pos x="116" y="135"/>
                </a:cxn>
                <a:cxn ang="0">
                  <a:pos x="100" y="143"/>
                </a:cxn>
                <a:cxn ang="0">
                  <a:pos x="83" y="148"/>
                </a:cxn>
                <a:cxn ang="0">
                  <a:pos x="66" y="148"/>
                </a:cxn>
                <a:cxn ang="0">
                  <a:pos x="48" y="143"/>
                </a:cxn>
                <a:cxn ang="0">
                  <a:pos x="32" y="135"/>
                </a:cxn>
                <a:cxn ang="0">
                  <a:pos x="18" y="122"/>
                </a:cxn>
                <a:cxn ang="0">
                  <a:pos x="8" y="109"/>
                </a:cxn>
                <a:cxn ang="0">
                  <a:pos x="2" y="91"/>
                </a:cxn>
                <a:cxn ang="0">
                  <a:pos x="0" y="74"/>
                </a:cxn>
              </a:cxnLst>
              <a:rect l="0" t="0" r="r" b="b"/>
              <a:pathLst>
                <a:path w="149" h="148">
                  <a:moveTo>
                    <a:pt x="0" y="74"/>
                  </a:moveTo>
                  <a:lnTo>
                    <a:pt x="2" y="56"/>
                  </a:lnTo>
                  <a:lnTo>
                    <a:pt x="8" y="39"/>
                  </a:lnTo>
                  <a:lnTo>
                    <a:pt x="18" y="24"/>
                  </a:lnTo>
                  <a:lnTo>
                    <a:pt x="32" y="13"/>
                  </a:lnTo>
                  <a:lnTo>
                    <a:pt x="48" y="5"/>
                  </a:lnTo>
                  <a:lnTo>
                    <a:pt x="66" y="0"/>
                  </a:lnTo>
                  <a:lnTo>
                    <a:pt x="83" y="0"/>
                  </a:lnTo>
                  <a:lnTo>
                    <a:pt x="100" y="5"/>
                  </a:lnTo>
                  <a:lnTo>
                    <a:pt x="116" y="13"/>
                  </a:lnTo>
                  <a:lnTo>
                    <a:pt x="130" y="24"/>
                  </a:lnTo>
                  <a:lnTo>
                    <a:pt x="139" y="39"/>
                  </a:lnTo>
                  <a:lnTo>
                    <a:pt x="146" y="56"/>
                  </a:lnTo>
                  <a:lnTo>
                    <a:pt x="149" y="74"/>
                  </a:lnTo>
                  <a:lnTo>
                    <a:pt x="146" y="91"/>
                  </a:lnTo>
                  <a:lnTo>
                    <a:pt x="139" y="109"/>
                  </a:lnTo>
                  <a:lnTo>
                    <a:pt x="130" y="122"/>
                  </a:lnTo>
                  <a:lnTo>
                    <a:pt x="116" y="135"/>
                  </a:lnTo>
                  <a:lnTo>
                    <a:pt x="100" y="143"/>
                  </a:lnTo>
                  <a:lnTo>
                    <a:pt x="83" y="148"/>
                  </a:lnTo>
                  <a:lnTo>
                    <a:pt x="66" y="148"/>
                  </a:lnTo>
                  <a:lnTo>
                    <a:pt x="48" y="143"/>
                  </a:lnTo>
                  <a:lnTo>
                    <a:pt x="32" y="135"/>
                  </a:lnTo>
                  <a:lnTo>
                    <a:pt x="18" y="122"/>
                  </a:lnTo>
                  <a:lnTo>
                    <a:pt x="8" y="109"/>
                  </a:lnTo>
                  <a:lnTo>
                    <a:pt x="2" y="91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4" name="Freeform 486"/>
            <p:cNvSpPr>
              <a:spLocks/>
            </p:cNvSpPr>
            <p:nvPr/>
          </p:nvSpPr>
          <p:spPr bwMode="auto">
            <a:xfrm>
              <a:off x="258" y="2789"/>
              <a:ext cx="29" cy="10"/>
            </a:xfrm>
            <a:custGeom>
              <a:avLst/>
              <a:gdLst/>
              <a:ahLst/>
              <a:cxnLst>
                <a:cxn ang="0">
                  <a:pos x="29" y="10"/>
                </a:cxn>
                <a:cxn ang="0">
                  <a:pos x="25" y="3"/>
                </a:cxn>
                <a:cxn ang="0">
                  <a:pos x="18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0"/>
                </a:cxn>
              </a:cxnLst>
              <a:rect l="0" t="0" r="r" b="b"/>
              <a:pathLst>
                <a:path w="29" h="10">
                  <a:moveTo>
                    <a:pt x="29" y="10"/>
                  </a:moveTo>
                  <a:lnTo>
                    <a:pt x="25" y="3"/>
                  </a:lnTo>
                  <a:lnTo>
                    <a:pt x="18" y="0"/>
                  </a:lnTo>
                  <a:lnTo>
                    <a:pt x="10" y="0"/>
                  </a:lnTo>
                  <a:lnTo>
                    <a:pt x="3" y="3"/>
                  </a:lnTo>
                  <a:lnTo>
                    <a:pt x="0" y="1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5" name="Freeform 487"/>
            <p:cNvSpPr>
              <a:spLocks/>
            </p:cNvSpPr>
            <p:nvPr/>
          </p:nvSpPr>
          <p:spPr bwMode="auto">
            <a:xfrm>
              <a:off x="287" y="2799"/>
              <a:ext cx="30" cy="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6"/>
                </a:cxn>
                <a:cxn ang="0">
                  <a:pos x="15" y="8"/>
                </a:cxn>
                <a:cxn ang="0">
                  <a:pos x="24" y="6"/>
                </a:cxn>
                <a:cxn ang="0">
                  <a:pos x="30" y="0"/>
                </a:cxn>
              </a:cxnLst>
              <a:rect l="0" t="0" r="r" b="b"/>
              <a:pathLst>
                <a:path w="30" h="8">
                  <a:moveTo>
                    <a:pt x="0" y="0"/>
                  </a:moveTo>
                  <a:lnTo>
                    <a:pt x="7" y="6"/>
                  </a:lnTo>
                  <a:lnTo>
                    <a:pt x="15" y="8"/>
                  </a:lnTo>
                  <a:lnTo>
                    <a:pt x="24" y="6"/>
                  </a:lnTo>
                  <a:lnTo>
                    <a:pt x="3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6" name="Rectangle 488"/>
            <p:cNvSpPr>
              <a:spLocks noChangeArrowheads="1"/>
            </p:cNvSpPr>
            <p:nvPr/>
          </p:nvSpPr>
          <p:spPr bwMode="auto">
            <a:xfrm>
              <a:off x="587" y="2728"/>
              <a:ext cx="155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GATE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37" name="Rectangle 489"/>
            <p:cNvSpPr>
              <a:spLocks noChangeArrowheads="1"/>
            </p:cNvSpPr>
            <p:nvPr/>
          </p:nvSpPr>
          <p:spPr bwMode="auto">
            <a:xfrm>
              <a:off x="569" y="2797"/>
              <a:ext cx="19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TRANS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38" name="Rectangle 490"/>
            <p:cNvSpPr>
              <a:spLocks noChangeArrowheads="1"/>
            </p:cNvSpPr>
            <p:nvPr/>
          </p:nvSpPr>
          <p:spPr bwMode="auto">
            <a:xfrm>
              <a:off x="518" y="2500"/>
              <a:ext cx="286" cy="597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39" name="Rectangle 491"/>
            <p:cNvSpPr>
              <a:spLocks noChangeArrowheads="1"/>
            </p:cNvSpPr>
            <p:nvPr/>
          </p:nvSpPr>
          <p:spPr bwMode="auto">
            <a:xfrm>
              <a:off x="1084" y="2574"/>
              <a:ext cx="14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GXW - 02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0" name="Rectangle 492"/>
            <p:cNvSpPr>
              <a:spLocks noChangeArrowheads="1"/>
            </p:cNvSpPr>
            <p:nvPr/>
          </p:nvSpPr>
          <p:spPr bwMode="auto">
            <a:xfrm>
              <a:off x="1084" y="2620"/>
              <a:ext cx="14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GXW - 05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1" name="Rectangle 493"/>
            <p:cNvSpPr>
              <a:spLocks noChangeArrowheads="1"/>
            </p:cNvSpPr>
            <p:nvPr/>
          </p:nvSpPr>
          <p:spPr bwMode="auto">
            <a:xfrm>
              <a:off x="1084" y="2666"/>
              <a:ext cx="13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GXL - 06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2" name="Rectangle 494"/>
            <p:cNvSpPr>
              <a:spLocks noChangeArrowheads="1"/>
            </p:cNvSpPr>
            <p:nvPr/>
          </p:nvSpPr>
          <p:spPr bwMode="auto">
            <a:xfrm>
              <a:off x="1084" y="2711"/>
              <a:ext cx="13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GXL - 07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3" name="Rectangle 495"/>
            <p:cNvSpPr>
              <a:spLocks noChangeArrowheads="1"/>
            </p:cNvSpPr>
            <p:nvPr/>
          </p:nvSpPr>
          <p:spPr bwMode="auto">
            <a:xfrm>
              <a:off x="2333" y="2500"/>
              <a:ext cx="568" cy="597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4" name="Freeform 496"/>
            <p:cNvSpPr>
              <a:spLocks/>
            </p:cNvSpPr>
            <p:nvPr/>
          </p:nvSpPr>
          <p:spPr bwMode="auto">
            <a:xfrm>
              <a:off x="2042" y="2744"/>
              <a:ext cx="286" cy="110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88" y="0"/>
                </a:cxn>
                <a:cxn ang="0">
                  <a:pos x="70" y="26"/>
                </a:cxn>
                <a:cxn ang="0">
                  <a:pos x="214" y="26"/>
                </a:cxn>
                <a:cxn ang="0">
                  <a:pos x="197" y="0"/>
                </a:cxn>
                <a:cxn ang="0">
                  <a:pos x="286" y="55"/>
                </a:cxn>
                <a:cxn ang="0">
                  <a:pos x="197" y="110"/>
                </a:cxn>
                <a:cxn ang="0">
                  <a:pos x="214" y="83"/>
                </a:cxn>
                <a:cxn ang="0">
                  <a:pos x="70" y="83"/>
                </a:cxn>
                <a:cxn ang="0">
                  <a:pos x="88" y="110"/>
                </a:cxn>
                <a:cxn ang="0">
                  <a:pos x="0" y="55"/>
                </a:cxn>
              </a:cxnLst>
              <a:rect l="0" t="0" r="r" b="b"/>
              <a:pathLst>
                <a:path w="286" h="110">
                  <a:moveTo>
                    <a:pt x="0" y="55"/>
                  </a:moveTo>
                  <a:lnTo>
                    <a:pt x="88" y="0"/>
                  </a:lnTo>
                  <a:lnTo>
                    <a:pt x="70" y="26"/>
                  </a:lnTo>
                  <a:lnTo>
                    <a:pt x="214" y="26"/>
                  </a:lnTo>
                  <a:lnTo>
                    <a:pt x="197" y="0"/>
                  </a:lnTo>
                  <a:lnTo>
                    <a:pt x="286" y="55"/>
                  </a:lnTo>
                  <a:lnTo>
                    <a:pt x="197" y="110"/>
                  </a:lnTo>
                  <a:lnTo>
                    <a:pt x="214" y="83"/>
                  </a:lnTo>
                  <a:lnTo>
                    <a:pt x="70" y="83"/>
                  </a:lnTo>
                  <a:lnTo>
                    <a:pt x="88" y="11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45" name="Rectangle 497"/>
            <p:cNvSpPr>
              <a:spLocks noChangeArrowheads="1"/>
            </p:cNvSpPr>
            <p:nvPr/>
          </p:nvSpPr>
          <p:spPr bwMode="auto">
            <a:xfrm>
              <a:off x="1943" y="2767"/>
              <a:ext cx="56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VA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6" name="Rectangle 498"/>
            <p:cNvSpPr>
              <a:spLocks noChangeArrowheads="1"/>
            </p:cNvSpPr>
            <p:nvPr/>
          </p:nvSpPr>
          <p:spPr bwMode="auto">
            <a:xfrm>
              <a:off x="2351" y="2767"/>
              <a:ext cx="58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VG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7" name="Rectangle 499"/>
            <p:cNvSpPr>
              <a:spLocks noChangeArrowheads="1"/>
            </p:cNvSpPr>
            <p:nvPr/>
          </p:nvSpPr>
          <p:spPr bwMode="auto">
            <a:xfrm>
              <a:off x="1466" y="2848"/>
              <a:ext cx="162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(GDC)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8" name="Rectangle 500"/>
            <p:cNvSpPr>
              <a:spLocks noChangeArrowheads="1"/>
            </p:cNvSpPr>
            <p:nvPr/>
          </p:nvSpPr>
          <p:spPr bwMode="auto">
            <a:xfrm>
              <a:off x="2586" y="2828"/>
              <a:ext cx="13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(INV)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49" name="Freeform 501"/>
            <p:cNvSpPr>
              <a:spLocks/>
            </p:cNvSpPr>
            <p:nvPr/>
          </p:nvSpPr>
          <p:spPr bwMode="auto">
            <a:xfrm>
              <a:off x="2161" y="1835"/>
              <a:ext cx="303" cy="6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32"/>
                </a:cxn>
                <a:cxn ang="0">
                  <a:pos x="303" y="332"/>
                </a:cxn>
                <a:cxn ang="0">
                  <a:pos x="303" y="664"/>
                </a:cxn>
              </a:cxnLst>
              <a:rect l="0" t="0" r="r" b="b"/>
              <a:pathLst>
                <a:path w="303" h="664">
                  <a:moveTo>
                    <a:pt x="0" y="0"/>
                  </a:moveTo>
                  <a:lnTo>
                    <a:pt x="0" y="332"/>
                  </a:lnTo>
                  <a:lnTo>
                    <a:pt x="303" y="332"/>
                  </a:lnTo>
                  <a:lnTo>
                    <a:pt x="303" y="66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0" name="Freeform 502"/>
            <p:cNvSpPr>
              <a:spLocks/>
            </p:cNvSpPr>
            <p:nvPr/>
          </p:nvSpPr>
          <p:spPr bwMode="auto">
            <a:xfrm>
              <a:off x="2259" y="1893"/>
              <a:ext cx="297" cy="6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4"/>
                </a:cxn>
                <a:cxn ang="0">
                  <a:pos x="297" y="204"/>
                </a:cxn>
                <a:cxn ang="0">
                  <a:pos x="297" y="606"/>
                </a:cxn>
              </a:cxnLst>
              <a:rect l="0" t="0" r="r" b="b"/>
              <a:pathLst>
                <a:path w="297" h="606">
                  <a:moveTo>
                    <a:pt x="0" y="0"/>
                  </a:moveTo>
                  <a:lnTo>
                    <a:pt x="0" y="204"/>
                  </a:lnTo>
                  <a:lnTo>
                    <a:pt x="297" y="204"/>
                  </a:lnTo>
                  <a:lnTo>
                    <a:pt x="297" y="606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1" name="Rectangle 503"/>
            <p:cNvSpPr>
              <a:spLocks noChangeArrowheads="1"/>
            </p:cNvSpPr>
            <p:nvPr/>
          </p:nvSpPr>
          <p:spPr bwMode="auto">
            <a:xfrm rot="16200000">
              <a:off x="2399" y="2592"/>
              <a:ext cx="109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VB - 03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52" name="Rectangle 504"/>
            <p:cNvSpPr>
              <a:spLocks noChangeArrowheads="1"/>
            </p:cNvSpPr>
            <p:nvPr/>
          </p:nvSpPr>
          <p:spPr bwMode="auto">
            <a:xfrm rot="16200000">
              <a:off x="2490" y="2591"/>
              <a:ext cx="109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VB - 07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553" name="Freeform 505"/>
            <p:cNvSpPr>
              <a:spLocks/>
            </p:cNvSpPr>
            <p:nvPr/>
          </p:nvSpPr>
          <p:spPr bwMode="auto">
            <a:xfrm>
              <a:off x="1304" y="1514"/>
              <a:ext cx="19" cy="19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1" y="3"/>
                </a:cxn>
                <a:cxn ang="0">
                  <a:pos x="7" y="0"/>
                </a:cxn>
                <a:cxn ang="0">
                  <a:pos x="12" y="0"/>
                </a:cxn>
                <a:cxn ang="0">
                  <a:pos x="18" y="3"/>
                </a:cxn>
                <a:cxn ang="0">
                  <a:pos x="19" y="9"/>
                </a:cxn>
                <a:cxn ang="0">
                  <a:pos x="18" y="16"/>
                </a:cxn>
                <a:cxn ang="0">
                  <a:pos x="12" y="19"/>
                </a:cxn>
                <a:cxn ang="0">
                  <a:pos x="7" y="19"/>
                </a:cxn>
                <a:cxn ang="0">
                  <a:pos x="1" y="16"/>
                </a:cxn>
                <a:cxn ang="0">
                  <a:pos x="0" y="9"/>
                </a:cxn>
              </a:cxnLst>
              <a:rect l="0" t="0" r="r" b="b"/>
              <a:pathLst>
                <a:path w="19" h="19">
                  <a:moveTo>
                    <a:pt x="0" y="9"/>
                  </a:moveTo>
                  <a:lnTo>
                    <a:pt x="1" y="3"/>
                  </a:lnTo>
                  <a:lnTo>
                    <a:pt x="7" y="0"/>
                  </a:lnTo>
                  <a:lnTo>
                    <a:pt x="12" y="0"/>
                  </a:lnTo>
                  <a:lnTo>
                    <a:pt x="18" y="3"/>
                  </a:lnTo>
                  <a:lnTo>
                    <a:pt x="19" y="9"/>
                  </a:lnTo>
                  <a:lnTo>
                    <a:pt x="18" y="16"/>
                  </a:lnTo>
                  <a:lnTo>
                    <a:pt x="12" y="19"/>
                  </a:lnTo>
                  <a:lnTo>
                    <a:pt x="7" y="19"/>
                  </a:lnTo>
                  <a:lnTo>
                    <a:pt x="1" y="1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554" name="Freeform 506"/>
            <p:cNvSpPr>
              <a:spLocks/>
            </p:cNvSpPr>
            <p:nvPr/>
          </p:nvSpPr>
          <p:spPr bwMode="auto">
            <a:xfrm>
              <a:off x="1995" y="2205"/>
              <a:ext cx="21" cy="2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" y="5"/>
                </a:cxn>
                <a:cxn ang="0">
                  <a:pos x="7" y="0"/>
                </a:cxn>
                <a:cxn ang="0">
                  <a:pos x="14" y="0"/>
                </a:cxn>
                <a:cxn ang="0">
                  <a:pos x="18" y="5"/>
                </a:cxn>
                <a:cxn ang="0">
                  <a:pos x="21" y="11"/>
                </a:cxn>
                <a:cxn ang="0">
                  <a:pos x="18" y="17"/>
                </a:cxn>
                <a:cxn ang="0">
                  <a:pos x="14" y="20"/>
                </a:cxn>
                <a:cxn ang="0">
                  <a:pos x="7" y="20"/>
                </a:cxn>
                <a:cxn ang="0">
                  <a:pos x="2" y="17"/>
                </a:cxn>
                <a:cxn ang="0">
                  <a:pos x="0" y="11"/>
                </a:cxn>
              </a:cxnLst>
              <a:rect l="0" t="0" r="r" b="b"/>
              <a:pathLst>
                <a:path w="21" h="20">
                  <a:moveTo>
                    <a:pt x="0" y="11"/>
                  </a:moveTo>
                  <a:lnTo>
                    <a:pt x="2" y="5"/>
                  </a:lnTo>
                  <a:lnTo>
                    <a:pt x="7" y="0"/>
                  </a:lnTo>
                  <a:lnTo>
                    <a:pt x="14" y="0"/>
                  </a:lnTo>
                  <a:lnTo>
                    <a:pt x="18" y="5"/>
                  </a:lnTo>
                  <a:lnTo>
                    <a:pt x="21" y="11"/>
                  </a:lnTo>
                  <a:lnTo>
                    <a:pt x="18" y="17"/>
                  </a:lnTo>
                  <a:lnTo>
                    <a:pt x="14" y="20"/>
                  </a:lnTo>
                  <a:lnTo>
                    <a:pt x="7" y="20"/>
                  </a:lnTo>
                  <a:lnTo>
                    <a:pt x="2" y="17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555" name="Rectangle 507"/>
          <p:cNvSpPr>
            <a:spLocks noChangeArrowheads="1"/>
          </p:cNvSpPr>
          <p:nvPr/>
        </p:nvSpPr>
        <p:spPr bwMode="auto">
          <a:xfrm>
            <a:off x="457200" y="838200"/>
            <a:ext cx="4459288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DPP-101 B/D[18kW~22kW]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 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 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동시에 턴 온 되었거나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 STACK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결선불량 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 전원불량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출력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Short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된 상태가 발생시</a:t>
            </a:r>
          </a:p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DPP-120 B/D[13kW~15kW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]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SHORT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</p:txBody>
      </p:sp>
      <p:sp>
        <p:nvSpPr>
          <p:cNvPr id="2556" name="Rectangle 508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35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36576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회생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[ER_INV_REGEN_IGBT]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609600" y="838200"/>
            <a:ext cx="4098925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DPP-101,111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 경우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 회생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회생용 구동전원 이상 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 STACK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불량 시 발생</a:t>
            </a:r>
          </a:p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DPP-120,121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 경우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회생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 혹은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 SHORT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066800"/>
            <a:ext cx="4038600" cy="351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DPC-1XX(INV)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및 </a:t>
            </a:r>
          </a:p>
          <a:p>
            <a:pPr defTabSz="873125" latinLnBrk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DPP-101,111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VA, DPP-120,121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상태 확인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DPP-101,111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GP, GXL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확인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DPP-101,111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 STACK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가변저항의 눈금이 흑색으로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MARKING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된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부분에 위치해 있는지 확인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E/L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운행 중이지 않을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TDC 35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검출되면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DPC- 1XX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DPP-10X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커넥터를 확인하고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RA1(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좌표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8I)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+15V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 B/D  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19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DPP-101 B/D VA, DPP-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120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19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연결 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(Short Check-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연결되어 있으면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).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회생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검사후 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DPP-1XX(GDC)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DPC-1XX(INV)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  <a:endParaRPr lang="ko-KR" altLang="en-US" sz="900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280988" y="2239963"/>
            <a:ext cx="4324350" cy="2925762"/>
            <a:chOff x="176" y="1411"/>
            <a:chExt cx="2724" cy="1843"/>
          </a:xfrm>
        </p:grpSpPr>
        <p:grpSp>
          <p:nvGrpSpPr>
            <p:cNvPr id="3" name="Group 21"/>
            <p:cNvGrpSpPr>
              <a:grpSpLocks/>
            </p:cNvGrpSpPr>
            <p:nvPr/>
          </p:nvGrpSpPr>
          <p:grpSpPr bwMode="auto">
            <a:xfrm>
              <a:off x="233" y="1597"/>
              <a:ext cx="2544" cy="1657"/>
              <a:chOff x="233" y="1597"/>
              <a:chExt cx="2544" cy="1657"/>
            </a:xfrm>
          </p:grpSpPr>
          <p:sp>
            <p:nvSpPr>
              <p:cNvPr id="2070" name="Line 22"/>
              <p:cNvSpPr>
                <a:spLocks noChangeShapeType="1"/>
              </p:cNvSpPr>
              <p:nvPr/>
            </p:nvSpPr>
            <p:spPr bwMode="auto">
              <a:xfrm>
                <a:off x="803" y="3107"/>
                <a:ext cx="25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1" name="Line 23"/>
              <p:cNvSpPr>
                <a:spLocks noChangeShapeType="1"/>
              </p:cNvSpPr>
              <p:nvPr/>
            </p:nvSpPr>
            <p:spPr bwMode="auto">
              <a:xfrm>
                <a:off x="803" y="3153"/>
                <a:ext cx="25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2" name="Rectangle 24"/>
              <p:cNvSpPr>
                <a:spLocks noChangeArrowheads="1"/>
              </p:cNvSpPr>
              <p:nvPr/>
            </p:nvSpPr>
            <p:spPr bwMode="auto">
              <a:xfrm>
                <a:off x="2300" y="1909"/>
                <a:ext cx="240" cy="208"/>
              </a:xfrm>
              <a:prstGeom prst="rect">
                <a:avLst/>
              </a:prstGeom>
              <a:solidFill>
                <a:srgbClr val="E6E6E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3" name="Line 25"/>
              <p:cNvSpPr>
                <a:spLocks noChangeShapeType="1"/>
              </p:cNvSpPr>
              <p:nvPr/>
            </p:nvSpPr>
            <p:spPr bwMode="auto">
              <a:xfrm>
                <a:off x="2300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4" name="Line 26"/>
              <p:cNvSpPr>
                <a:spLocks noChangeShapeType="1"/>
              </p:cNvSpPr>
              <p:nvPr/>
            </p:nvSpPr>
            <p:spPr bwMode="auto">
              <a:xfrm>
                <a:off x="2309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5" name="Line 27"/>
              <p:cNvSpPr>
                <a:spLocks noChangeShapeType="1"/>
              </p:cNvSpPr>
              <p:nvPr/>
            </p:nvSpPr>
            <p:spPr bwMode="auto">
              <a:xfrm>
                <a:off x="2319" y="2117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6" name="Line 28"/>
              <p:cNvSpPr>
                <a:spLocks noChangeShapeType="1"/>
              </p:cNvSpPr>
              <p:nvPr/>
            </p:nvSpPr>
            <p:spPr bwMode="auto">
              <a:xfrm>
                <a:off x="2328" y="2117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2337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2346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2356" y="2117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2365" y="2117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1" name="Line 33"/>
              <p:cNvSpPr>
                <a:spLocks noChangeShapeType="1"/>
              </p:cNvSpPr>
              <p:nvPr/>
            </p:nvSpPr>
            <p:spPr bwMode="auto">
              <a:xfrm>
                <a:off x="2374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>
                <a:off x="2383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3" name="Line 35"/>
              <p:cNvSpPr>
                <a:spLocks noChangeShapeType="1"/>
              </p:cNvSpPr>
              <p:nvPr/>
            </p:nvSpPr>
            <p:spPr bwMode="auto">
              <a:xfrm>
                <a:off x="2392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4" name="Line 36"/>
              <p:cNvSpPr>
                <a:spLocks noChangeShapeType="1"/>
              </p:cNvSpPr>
              <p:nvPr/>
            </p:nvSpPr>
            <p:spPr bwMode="auto">
              <a:xfrm>
                <a:off x="2402" y="2117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5" name="Line 37"/>
              <p:cNvSpPr>
                <a:spLocks noChangeShapeType="1"/>
              </p:cNvSpPr>
              <p:nvPr/>
            </p:nvSpPr>
            <p:spPr bwMode="auto">
              <a:xfrm>
                <a:off x="2411" y="2117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6" name="Line 38"/>
              <p:cNvSpPr>
                <a:spLocks noChangeShapeType="1"/>
              </p:cNvSpPr>
              <p:nvPr/>
            </p:nvSpPr>
            <p:spPr bwMode="auto">
              <a:xfrm>
                <a:off x="2420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7" name="Line 39"/>
              <p:cNvSpPr>
                <a:spLocks noChangeShapeType="1"/>
              </p:cNvSpPr>
              <p:nvPr/>
            </p:nvSpPr>
            <p:spPr bwMode="auto">
              <a:xfrm>
                <a:off x="2429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8" name="Line 40"/>
              <p:cNvSpPr>
                <a:spLocks noChangeShapeType="1"/>
              </p:cNvSpPr>
              <p:nvPr/>
            </p:nvSpPr>
            <p:spPr bwMode="auto">
              <a:xfrm>
                <a:off x="2438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9" name="Line 41"/>
              <p:cNvSpPr>
                <a:spLocks noChangeShapeType="1"/>
              </p:cNvSpPr>
              <p:nvPr/>
            </p:nvSpPr>
            <p:spPr bwMode="auto">
              <a:xfrm>
                <a:off x="2448" y="2117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>
                <a:off x="2457" y="2117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>
                <a:off x="2466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2475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2485" y="2117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4" name="Line 46"/>
              <p:cNvSpPr>
                <a:spLocks noChangeShapeType="1"/>
              </p:cNvSpPr>
              <p:nvPr/>
            </p:nvSpPr>
            <p:spPr bwMode="auto">
              <a:xfrm>
                <a:off x="2494" y="2117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>
                <a:off x="2503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6" name="Line 48"/>
              <p:cNvSpPr>
                <a:spLocks noChangeShapeType="1"/>
              </p:cNvSpPr>
              <p:nvPr/>
            </p:nvSpPr>
            <p:spPr bwMode="auto">
              <a:xfrm>
                <a:off x="2512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7" name="Line 49"/>
              <p:cNvSpPr>
                <a:spLocks noChangeShapeType="1"/>
              </p:cNvSpPr>
              <p:nvPr/>
            </p:nvSpPr>
            <p:spPr bwMode="auto">
              <a:xfrm>
                <a:off x="2521" y="2117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8" name="Line 50"/>
              <p:cNvSpPr>
                <a:spLocks noChangeShapeType="1"/>
              </p:cNvSpPr>
              <p:nvPr/>
            </p:nvSpPr>
            <p:spPr bwMode="auto">
              <a:xfrm>
                <a:off x="2531" y="2117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9" name="Line 51"/>
              <p:cNvSpPr>
                <a:spLocks noChangeShapeType="1"/>
              </p:cNvSpPr>
              <p:nvPr/>
            </p:nvSpPr>
            <p:spPr bwMode="auto">
              <a:xfrm flipV="1">
                <a:off x="2540" y="211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0" name="Line 52"/>
              <p:cNvSpPr>
                <a:spLocks noChangeShapeType="1"/>
              </p:cNvSpPr>
              <p:nvPr/>
            </p:nvSpPr>
            <p:spPr bwMode="auto">
              <a:xfrm flipV="1">
                <a:off x="2540" y="210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1" name="Line 53"/>
              <p:cNvSpPr>
                <a:spLocks noChangeShapeType="1"/>
              </p:cNvSpPr>
              <p:nvPr/>
            </p:nvSpPr>
            <p:spPr bwMode="auto">
              <a:xfrm flipV="1">
                <a:off x="2540" y="209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 flipV="1">
                <a:off x="2540" y="208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3" name="Line 55"/>
              <p:cNvSpPr>
                <a:spLocks noChangeShapeType="1"/>
              </p:cNvSpPr>
              <p:nvPr/>
            </p:nvSpPr>
            <p:spPr bwMode="auto">
              <a:xfrm flipV="1">
                <a:off x="2540" y="20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4" name="Line 56"/>
              <p:cNvSpPr>
                <a:spLocks noChangeShapeType="1"/>
              </p:cNvSpPr>
              <p:nvPr/>
            </p:nvSpPr>
            <p:spPr bwMode="auto">
              <a:xfrm flipV="1">
                <a:off x="2540" y="206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5" name="Line 57"/>
              <p:cNvSpPr>
                <a:spLocks noChangeShapeType="1"/>
              </p:cNvSpPr>
              <p:nvPr/>
            </p:nvSpPr>
            <p:spPr bwMode="auto">
              <a:xfrm flipV="1">
                <a:off x="2540" y="205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 flipV="1">
                <a:off x="2540" y="204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 flipV="1">
                <a:off x="2540" y="203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 flipV="1">
                <a:off x="2540" y="202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 flipV="1">
                <a:off x="2540" y="202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 flipV="1">
                <a:off x="2540" y="201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 flipV="1">
                <a:off x="2540" y="200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 flipV="1">
                <a:off x="2540" y="199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 flipV="1">
                <a:off x="2540" y="198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 flipV="1">
                <a:off x="2540" y="197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 flipV="1">
                <a:off x="2540" y="196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 flipV="1">
                <a:off x="2540" y="195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 flipV="1">
                <a:off x="2540" y="194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 flipV="1">
                <a:off x="2540" y="193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 flipV="1">
                <a:off x="2540" y="192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 flipV="1">
                <a:off x="2540" y="191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 flipV="1">
                <a:off x="2540" y="190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2" name="Line 74"/>
              <p:cNvSpPr>
                <a:spLocks noChangeShapeType="1"/>
              </p:cNvSpPr>
              <p:nvPr/>
            </p:nvSpPr>
            <p:spPr bwMode="auto">
              <a:xfrm flipH="1">
                <a:off x="2531" y="190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 flipH="1">
                <a:off x="2521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4" name="Line 76"/>
              <p:cNvSpPr>
                <a:spLocks noChangeShapeType="1"/>
              </p:cNvSpPr>
              <p:nvPr/>
            </p:nvSpPr>
            <p:spPr bwMode="auto">
              <a:xfrm flipH="1">
                <a:off x="2512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5" name="Line 77"/>
              <p:cNvSpPr>
                <a:spLocks noChangeShapeType="1"/>
              </p:cNvSpPr>
              <p:nvPr/>
            </p:nvSpPr>
            <p:spPr bwMode="auto">
              <a:xfrm flipH="1">
                <a:off x="2503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6" name="Line 78"/>
              <p:cNvSpPr>
                <a:spLocks noChangeShapeType="1"/>
              </p:cNvSpPr>
              <p:nvPr/>
            </p:nvSpPr>
            <p:spPr bwMode="auto">
              <a:xfrm flipH="1">
                <a:off x="2494" y="190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7" name="Line 79"/>
              <p:cNvSpPr>
                <a:spLocks noChangeShapeType="1"/>
              </p:cNvSpPr>
              <p:nvPr/>
            </p:nvSpPr>
            <p:spPr bwMode="auto">
              <a:xfrm flipH="1">
                <a:off x="2485" y="190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 flipH="1">
                <a:off x="2475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9" name="Line 81"/>
              <p:cNvSpPr>
                <a:spLocks noChangeShapeType="1"/>
              </p:cNvSpPr>
              <p:nvPr/>
            </p:nvSpPr>
            <p:spPr bwMode="auto">
              <a:xfrm flipH="1">
                <a:off x="2466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 flipH="1">
                <a:off x="2457" y="190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 flipH="1">
                <a:off x="2448" y="190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 flipH="1">
                <a:off x="2438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 flipH="1">
                <a:off x="2429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4" name="Line 86"/>
              <p:cNvSpPr>
                <a:spLocks noChangeShapeType="1"/>
              </p:cNvSpPr>
              <p:nvPr/>
            </p:nvSpPr>
            <p:spPr bwMode="auto">
              <a:xfrm flipH="1">
                <a:off x="2420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5" name="Line 87"/>
              <p:cNvSpPr>
                <a:spLocks noChangeShapeType="1"/>
              </p:cNvSpPr>
              <p:nvPr/>
            </p:nvSpPr>
            <p:spPr bwMode="auto">
              <a:xfrm flipH="1">
                <a:off x="2411" y="190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6" name="Line 88"/>
              <p:cNvSpPr>
                <a:spLocks noChangeShapeType="1"/>
              </p:cNvSpPr>
              <p:nvPr/>
            </p:nvSpPr>
            <p:spPr bwMode="auto">
              <a:xfrm flipH="1">
                <a:off x="2402" y="190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7" name="Line 89"/>
              <p:cNvSpPr>
                <a:spLocks noChangeShapeType="1"/>
              </p:cNvSpPr>
              <p:nvPr/>
            </p:nvSpPr>
            <p:spPr bwMode="auto">
              <a:xfrm flipH="1">
                <a:off x="2392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8" name="Line 90"/>
              <p:cNvSpPr>
                <a:spLocks noChangeShapeType="1"/>
              </p:cNvSpPr>
              <p:nvPr/>
            </p:nvSpPr>
            <p:spPr bwMode="auto">
              <a:xfrm flipH="1">
                <a:off x="2383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 flipH="1">
                <a:off x="2374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 flipH="1">
                <a:off x="2365" y="190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1" name="Line 93"/>
              <p:cNvSpPr>
                <a:spLocks noChangeShapeType="1"/>
              </p:cNvSpPr>
              <p:nvPr/>
            </p:nvSpPr>
            <p:spPr bwMode="auto">
              <a:xfrm flipH="1">
                <a:off x="2356" y="190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 flipH="1">
                <a:off x="2346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 flipH="1">
                <a:off x="2337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 flipH="1">
                <a:off x="2328" y="190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 flipH="1">
                <a:off x="2319" y="190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 flipH="1">
                <a:off x="2309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 flipH="1">
                <a:off x="2300" y="1909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>
                <a:off x="2300" y="191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2300" y="192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0" name="Line 102"/>
              <p:cNvSpPr>
                <a:spLocks noChangeShapeType="1"/>
              </p:cNvSpPr>
              <p:nvPr/>
            </p:nvSpPr>
            <p:spPr bwMode="auto">
              <a:xfrm>
                <a:off x="2300" y="193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1" name="Line 103"/>
              <p:cNvSpPr>
                <a:spLocks noChangeShapeType="1"/>
              </p:cNvSpPr>
              <p:nvPr/>
            </p:nvSpPr>
            <p:spPr bwMode="auto">
              <a:xfrm>
                <a:off x="2300" y="194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2" name="Line 104"/>
              <p:cNvSpPr>
                <a:spLocks noChangeShapeType="1"/>
              </p:cNvSpPr>
              <p:nvPr/>
            </p:nvSpPr>
            <p:spPr bwMode="auto">
              <a:xfrm>
                <a:off x="2300" y="195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3" name="Line 105"/>
              <p:cNvSpPr>
                <a:spLocks noChangeShapeType="1"/>
              </p:cNvSpPr>
              <p:nvPr/>
            </p:nvSpPr>
            <p:spPr bwMode="auto">
              <a:xfrm>
                <a:off x="2300" y="196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4" name="Line 106"/>
              <p:cNvSpPr>
                <a:spLocks noChangeShapeType="1"/>
              </p:cNvSpPr>
              <p:nvPr/>
            </p:nvSpPr>
            <p:spPr bwMode="auto">
              <a:xfrm>
                <a:off x="2300" y="196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5" name="Line 107"/>
              <p:cNvSpPr>
                <a:spLocks noChangeShapeType="1"/>
              </p:cNvSpPr>
              <p:nvPr/>
            </p:nvSpPr>
            <p:spPr bwMode="auto">
              <a:xfrm>
                <a:off x="2300" y="197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6" name="Line 108"/>
              <p:cNvSpPr>
                <a:spLocks noChangeShapeType="1"/>
              </p:cNvSpPr>
              <p:nvPr/>
            </p:nvSpPr>
            <p:spPr bwMode="auto">
              <a:xfrm>
                <a:off x="2300" y="198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7" name="Line 109"/>
              <p:cNvSpPr>
                <a:spLocks noChangeShapeType="1"/>
              </p:cNvSpPr>
              <p:nvPr/>
            </p:nvSpPr>
            <p:spPr bwMode="auto">
              <a:xfrm>
                <a:off x="2300" y="199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auto">
              <a:xfrm>
                <a:off x="2300" y="200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9" name="Line 111"/>
              <p:cNvSpPr>
                <a:spLocks noChangeShapeType="1"/>
              </p:cNvSpPr>
              <p:nvPr/>
            </p:nvSpPr>
            <p:spPr bwMode="auto">
              <a:xfrm>
                <a:off x="2300" y="201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0" name="Line 112"/>
              <p:cNvSpPr>
                <a:spLocks noChangeShapeType="1"/>
              </p:cNvSpPr>
              <p:nvPr/>
            </p:nvSpPr>
            <p:spPr bwMode="auto">
              <a:xfrm>
                <a:off x="2300" y="202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1" name="Line 113"/>
              <p:cNvSpPr>
                <a:spLocks noChangeShapeType="1"/>
              </p:cNvSpPr>
              <p:nvPr/>
            </p:nvSpPr>
            <p:spPr bwMode="auto">
              <a:xfrm>
                <a:off x="2300" y="203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2" name="Line 114"/>
              <p:cNvSpPr>
                <a:spLocks noChangeShapeType="1"/>
              </p:cNvSpPr>
              <p:nvPr/>
            </p:nvSpPr>
            <p:spPr bwMode="auto">
              <a:xfrm>
                <a:off x="2300" y="204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3" name="Line 115"/>
              <p:cNvSpPr>
                <a:spLocks noChangeShapeType="1"/>
              </p:cNvSpPr>
              <p:nvPr/>
            </p:nvSpPr>
            <p:spPr bwMode="auto">
              <a:xfrm>
                <a:off x="2300" y="205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4" name="Line 116"/>
              <p:cNvSpPr>
                <a:spLocks noChangeShapeType="1"/>
              </p:cNvSpPr>
              <p:nvPr/>
            </p:nvSpPr>
            <p:spPr bwMode="auto">
              <a:xfrm>
                <a:off x="2300" y="206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5" name="Line 117"/>
              <p:cNvSpPr>
                <a:spLocks noChangeShapeType="1"/>
              </p:cNvSpPr>
              <p:nvPr/>
            </p:nvSpPr>
            <p:spPr bwMode="auto">
              <a:xfrm>
                <a:off x="2300" y="207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>
                <a:off x="2300" y="208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2300" y="208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2300" y="209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2300" y="210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0" name="Rectangle 122"/>
              <p:cNvSpPr>
                <a:spLocks noChangeArrowheads="1"/>
              </p:cNvSpPr>
              <p:nvPr/>
            </p:nvSpPr>
            <p:spPr bwMode="auto">
              <a:xfrm>
                <a:off x="1191" y="1597"/>
                <a:ext cx="262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ko-KR" altLang="en-US" sz="7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회생 </a:t>
                </a:r>
                <a:r>
                  <a:rPr lang="en-US" altLang="ko-KR" sz="7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IGBT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 flipV="1">
                <a:off x="2228" y="1990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 flipV="1">
                <a:off x="2286" y="1990"/>
                <a:ext cx="1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 flipH="1" flipV="1">
                <a:off x="2229" y="1991"/>
                <a:ext cx="26" cy="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 flipV="1">
                <a:off x="2256" y="1991"/>
                <a:ext cx="29" cy="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 flipV="1">
                <a:off x="2131" y="1933"/>
                <a:ext cx="1" cy="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 flipV="1">
                <a:off x="2190" y="1933"/>
                <a:ext cx="1" cy="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 flipH="1" flipV="1">
                <a:off x="2132" y="1934"/>
                <a:ext cx="27" cy="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 flipV="1">
                <a:off x="2160" y="1934"/>
                <a:ext cx="28" cy="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9" name="Rectangle 131"/>
              <p:cNvSpPr>
                <a:spLocks noChangeArrowheads="1"/>
              </p:cNvSpPr>
              <p:nvPr/>
            </p:nvSpPr>
            <p:spPr bwMode="auto">
              <a:xfrm>
                <a:off x="2023" y="2019"/>
                <a:ext cx="38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W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80" name="Rectangle 132"/>
              <p:cNvSpPr>
                <a:spLocks noChangeArrowheads="1"/>
              </p:cNvSpPr>
              <p:nvPr/>
            </p:nvSpPr>
            <p:spPr bwMode="auto">
              <a:xfrm>
                <a:off x="1803" y="1969"/>
                <a:ext cx="27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81" name="Rectangle 133"/>
              <p:cNvSpPr>
                <a:spLocks noChangeArrowheads="1"/>
              </p:cNvSpPr>
              <p:nvPr/>
            </p:nvSpPr>
            <p:spPr bwMode="auto">
              <a:xfrm>
                <a:off x="1555" y="1915"/>
                <a:ext cx="29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 b="1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U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82" name="Freeform 134"/>
              <p:cNvSpPr>
                <a:spLocks/>
              </p:cNvSpPr>
              <p:nvPr/>
            </p:nvSpPr>
            <p:spPr bwMode="auto">
              <a:xfrm>
                <a:off x="2573" y="1912"/>
                <a:ext cx="204" cy="203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3" y="80"/>
                  </a:cxn>
                  <a:cxn ang="0">
                    <a:pos x="8" y="60"/>
                  </a:cxn>
                  <a:cxn ang="0">
                    <a:pos x="20" y="41"/>
                  </a:cxn>
                  <a:cxn ang="0">
                    <a:pos x="34" y="25"/>
                  </a:cxn>
                  <a:cxn ang="0">
                    <a:pos x="51" y="12"/>
                  </a:cxn>
                  <a:cxn ang="0">
                    <a:pos x="70" y="4"/>
                  </a:cxn>
                  <a:cxn ang="0">
                    <a:pos x="91" y="0"/>
                  </a:cxn>
                  <a:cxn ang="0">
                    <a:pos x="113" y="0"/>
                  </a:cxn>
                  <a:cxn ang="0">
                    <a:pos x="134" y="4"/>
                  </a:cxn>
                  <a:cxn ang="0">
                    <a:pos x="153" y="12"/>
                  </a:cxn>
                  <a:cxn ang="0">
                    <a:pos x="171" y="25"/>
                  </a:cxn>
                  <a:cxn ang="0">
                    <a:pos x="185" y="41"/>
                  </a:cxn>
                  <a:cxn ang="0">
                    <a:pos x="195" y="60"/>
                  </a:cxn>
                  <a:cxn ang="0">
                    <a:pos x="202" y="80"/>
                  </a:cxn>
                  <a:cxn ang="0">
                    <a:pos x="204" y="101"/>
                  </a:cxn>
                  <a:cxn ang="0">
                    <a:pos x="202" y="122"/>
                  </a:cxn>
                  <a:cxn ang="0">
                    <a:pos x="195" y="143"/>
                  </a:cxn>
                  <a:cxn ang="0">
                    <a:pos x="185" y="161"/>
                  </a:cxn>
                  <a:cxn ang="0">
                    <a:pos x="171" y="177"/>
                  </a:cxn>
                  <a:cxn ang="0">
                    <a:pos x="153" y="190"/>
                  </a:cxn>
                  <a:cxn ang="0">
                    <a:pos x="134" y="198"/>
                  </a:cxn>
                  <a:cxn ang="0">
                    <a:pos x="113" y="203"/>
                  </a:cxn>
                  <a:cxn ang="0">
                    <a:pos x="91" y="203"/>
                  </a:cxn>
                  <a:cxn ang="0">
                    <a:pos x="70" y="198"/>
                  </a:cxn>
                  <a:cxn ang="0">
                    <a:pos x="51" y="190"/>
                  </a:cxn>
                  <a:cxn ang="0">
                    <a:pos x="34" y="177"/>
                  </a:cxn>
                  <a:cxn ang="0">
                    <a:pos x="20" y="161"/>
                  </a:cxn>
                  <a:cxn ang="0">
                    <a:pos x="8" y="143"/>
                  </a:cxn>
                  <a:cxn ang="0">
                    <a:pos x="3" y="122"/>
                  </a:cxn>
                  <a:cxn ang="0">
                    <a:pos x="0" y="101"/>
                  </a:cxn>
                </a:cxnLst>
                <a:rect l="0" t="0" r="r" b="b"/>
                <a:pathLst>
                  <a:path w="204" h="203">
                    <a:moveTo>
                      <a:pt x="0" y="101"/>
                    </a:moveTo>
                    <a:lnTo>
                      <a:pt x="3" y="80"/>
                    </a:lnTo>
                    <a:lnTo>
                      <a:pt x="8" y="60"/>
                    </a:lnTo>
                    <a:lnTo>
                      <a:pt x="20" y="41"/>
                    </a:lnTo>
                    <a:lnTo>
                      <a:pt x="34" y="25"/>
                    </a:lnTo>
                    <a:lnTo>
                      <a:pt x="51" y="12"/>
                    </a:lnTo>
                    <a:lnTo>
                      <a:pt x="70" y="4"/>
                    </a:lnTo>
                    <a:lnTo>
                      <a:pt x="91" y="0"/>
                    </a:lnTo>
                    <a:lnTo>
                      <a:pt x="113" y="0"/>
                    </a:lnTo>
                    <a:lnTo>
                      <a:pt x="134" y="4"/>
                    </a:lnTo>
                    <a:lnTo>
                      <a:pt x="153" y="12"/>
                    </a:lnTo>
                    <a:lnTo>
                      <a:pt x="171" y="25"/>
                    </a:lnTo>
                    <a:lnTo>
                      <a:pt x="185" y="41"/>
                    </a:lnTo>
                    <a:lnTo>
                      <a:pt x="195" y="60"/>
                    </a:lnTo>
                    <a:lnTo>
                      <a:pt x="202" y="80"/>
                    </a:lnTo>
                    <a:lnTo>
                      <a:pt x="204" y="101"/>
                    </a:lnTo>
                    <a:lnTo>
                      <a:pt x="202" y="122"/>
                    </a:lnTo>
                    <a:lnTo>
                      <a:pt x="195" y="143"/>
                    </a:lnTo>
                    <a:lnTo>
                      <a:pt x="185" y="161"/>
                    </a:lnTo>
                    <a:lnTo>
                      <a:pt x="171" y="177"/>
                    </a:lnTo>
                    <a:lnTo>
                      <a:pt x="153" y="190"/>
                    </a:lnTo>
                    <a:lnTo>
                      <a:pt x="134" y="198"/>
                    </a:lnTo>
                    <a:lnTo>
                      <a:pt x="113" y="203"/>
                    </a:lnTo>
                    <a:lnTo>
                      <a:pt x="91" y="203"/>
                    </a:lnTo>
                    <a:lnTo>
                      <a:pt x="70" y="198"/>
                    </a:lnTo>
                    <a:lnTo>
                      <a:pt x="51" y="190"/>
                    </a:lnTo>
                    <a:lnTo>
                      <a:pt x="34" y="177"/>
                    </a:lnTo>
                    <a:lnTo>
                      <a:pt x="20" y="161"/>
                    </a:lnTo>
                    <a:lnTo>
                      <a:pt x="8" y="143"/>
                    </a:lnTo>
                    <a:lnTo>
                      <a:pt x="3" y="122"/>
                    </a:lnTo>
                    <a:lnTo>
                      <a:pt x="0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3" name="Rectangle 135"/>
              <p:cNvSpPr>
                <a:spLocks noChangeArrowheads="1"/>
              </p:cNvSpPr>
              <p:nvPr/>
            </p:nvSpPr>
            <p:spPr bwMode="auto">
              <a:xfrm>
                <a:off x="2643" y="1977"/>
                <a:ext cx="63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7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IM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184" name="Rectangle 136"/>
              <p:cNvSpPr>
                <a:spLocks noChangeArrowheads="1"/>
              </p:cNvSpPr>
              <p:nvPr/>
            </p:nvSpPr>
            <p:spPr bwMode="auto">
              <a:xfrm>
                <a:off x="1061" y="2657"/>
                <a:ext cx="980" cy="59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auto">
              <a:xfrm flipH="1">
                <a:off x="919" y="1680"/>
                <a:ext cx="108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6" name="Line 138"/>
              <p:cNvSpPr>
                <a:spLocks noChangeShapeType="1"/>
              </p:cNvSpPr>
              <p:nvPr/>
            </p:nvSpPr>
            <p:spPr bwMode="auto">
              <a:xfrm flipH="1">
                <a:off x="923" y="2375"/>
                <a:ext cx="108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>
                <a:off x="992" y="1904"/>
                <a:ext cx="9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8" name="Freeform 140"/>
              <p:cNvSpPr>
                <a:spLocks/>
              </p:cNvSpPr>
              <p:nvPr/>
            </p:nvSpPr>
            <p:spPr bwMode="auto">
              <a:xfrm>
                <a:off x="991" y="1931"/>
                <a:ext cx="96" cy="12"/>
              </a:xfrm>
              <a:custGeom>
                <a:avLst/>
                <a:gdLst/>
                <a:ahLst/>
                <a:cxnLst>
                  <a:cxn ang="0">
                    <a:pos x="0" y="12"/>
                  </a:cxn>
                  <a:cxn ang="0">
                    <a:pos x="18" y="4"/>
                  </a:cxn>
                  <a:cxn ang="0">
                    <a:pos x="38" y="0"/>
                  </a:cxn>
                  <a:cxn ang="0">
                    <a:pos x="58" y="0"/>
                  </a:cxn>
                  <a:cxn ang="0">
                    <a:pos x="78" y="4"/>
                  </a:cxn>
                  <a:cxn ang="0">
                    <a:pos x="96" y="12"/>
                  </a:cxn>
                </a:cxnLst>
                <a:rect l="0" t="0" r="r" b="b"/>
                <a:pathLst>
                  <a:path w="96" h="12">
                    <a:moveTo>
                      <a:pt x="0" y="12"/>
                    </a:moveTo>
                    <a:lnTo>
                      <a:pt x="18" y="4"/>
                    </a:lnTo>
                    <a:lnTo>
                      <a:pt x="38" y="0"/>
                    </a:lnTo>
                    <a:lnTo>
                      <a:pt x="58" y="0"/>
                    </a:lnTo>
                    <a:lnTo>
                      <a:pt x="78" y="4"/>
                    </a:lnTo>
                    <a:lnTo>
                      <a:pt x="96" y="12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9" name="Line 141"/>
              <p:cNvSpPr>
                <a:spLocks noChangeShapeType="1"/>
              </p:cNvSpPr>
              <p:nvPr/>
            </p:nvSpPr>
            <p:spPr bwMode="auto">
              <a:xfrm>
                <a:off x="992" y="2111"/>
                <a:ext cx="9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0" name="Freeform 142"/>
              <p:cNvSpPr>
                <a:spLocks/>
              </p:cNvSpPr>
              <p:nvPr/>
            </p:nvSpPr>
            <p:spPr bwMode="auto">
              <a:xfrm>
                <a:off x="991" y="2139"/>
                <a:ext cx="96" cy="13"/>
              </a:xfrm>
              <a:custGeom>
                <a:avLst/>
                <a:gdLst/>
                <a:ahLst/>
                <a:cxnLst>
                  <a:cxn ang="0">
                    <a:pos x="0" y="13"/>
                  </a:cxn>
                  <a:cxn ang="0">
                    <a:pos x="18" y="4"/>
                  </a:cxn>
                  <a:cxn ang="0">
                    <a:pos x="38" y="0"/>
                  </a:cxn>
                  <a:cxn ang="0">
                    <a:pos x="58" y="0"/>
                  </a:cxn>
                  <a:cxn ang="0">
                    <a:pos x="78" y="4"/>
                  </a:cxn>
                  <a:cxn ang="0">
                    <a:pos x="96" y="13"/>
                  </a:cxn>
                </a:cxnLst>
                <a:rect l="0" t="0" r="r" b="b"/>
                <a:pathLst>
                  <a:path w="96" h="13">
                    <a:moveTo>
                      <a:pt x="0" y="13"/>
                    </a:moveTo>
                    <a:lnTo>
                      <a:pt x="18" y="4"/>
                    </a:lnTo>
                    <a:lnTo>
                      <a:pt x="38" y="0"/>
                    </a:lnTo>
                    <a:lnTo>
                      <a:pt x="58" y="0"/>
                    </a:lnTo>
                    <a:lnTo>
                      <a:pt x="78" y="4"/>
                    </a:lnTo>
                    <a:lnTo>
                      <a:pt x="96" y="13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1" name="Line 143"/>
              <p:cNvSpPr>
                <a:spLocks noChangeShapeType="1"/>
              </p:cNvSpPr>
              <p:nvPr/>
            </p:nvSpPr>
            <p:spPr bwMode="auto">
              <a:xfrm flipV="1">
                <a:off x="1039" y="1680"/>
                <a:ext cx="1" cy="22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2" name="Line 144"/>
              <p:cNvSpPr>
                <a:spLocks noChangeShapeType="1"/>
              </p:cNvSpPr>
              <p:nvPr/>
            </p:nvSpPr>
            <p:spPr bwMode="auto">
              <a:xfrm flipV="1">
                <a:off x="1039" y="2142"/>
                <a:ext cx="1" cy="23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3" name="Line 145"/>
              <p:cNvSpPr>
                <a:spLocks noChangeShapeType="1"/>
              </p:cNvSpPr>
              <p:nvPr/>
            </p:nvSpPr>
            <p:spPr bwMode="auto">
              <a:xfrm>
                <a:off x="1039" y="1936"/>
                <a:ext cx="1" cy="17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4" name="Rectangle 146"/>
              <p:cNvSpPr>
                <a:spLocks noChangeArrowheads="1"/>
              </p:cNvSpPr>
              <p:nvPr/>
            </p:nvSpPr>
            <p:spPr bwMode="auto">
              <a:xfrm>
                <a:off x="639" y="1633"/>
                <a:ext cx="280" cy="776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5" name="Freeform 147"/>
              <p:cNvSpPr>
                <a:spLocks/>
              </p:cNvSpPr>
              <p:nvPr/>
            </p:nvSpPr>
            <p:spPr bwMode="auto">
              <a:xfrm>
                <a:off x="727" y="1968"/>
                <a:ext cx="106" cy="97"/>
              </a:xfrm>
              <a:custGeom>
                <a:avLst/>
                <a:gdLst/>
                <a:ahLst/>
                <a:cxnLst>
                  <a:cxn ang="0">
                    <a:pos x="0" y="97"/>
                  </a:cxn>
                  <a:cxn ang="0">
                    <a:pos x="106" y="97"/>
                  </a:cxn>
                  <a:cxn ang="0">
                    <a:pos x="53" y="0"/>
                  </a:cxn>
                  <a:cxn ang="0">
                    <a:pos x="0" y="97"/>
                  </a:cxn>
                </a:cxnLst>
                <a:rect l="0" t="0" r="r" b="b"/>
                <a:pathLst>
                  <a:path w="106" h="97">
                    <a:moveTo>
                      <a:pt x="0" y="97"/>
                    </a:moveTo>
                    <a:lnTo>
                      <a:pt x="106" y="97"/>
                    </a:lnTo>
                    <a:lnTo>
                      <a:pt x="53" y="0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6" name="Line 148"/>
              <p:cNvSpPr>
                <a:spLocks noChangeShapeType="1"/>
              </p:cNvSpPr>
              <p:nvPr/>
            </p:nvSpPr>
            <p:spPr bwMode="auto">
              <a:xfrm flipH="1">
                <a:off x="719" y="1968"/>
                <a:ext cx="12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7" name="Line 149"/>
              <p:cNvSpPr>
                <a:spLocks noChangeShapeType="1"/>
              </p:cNvSpPr>
              <p:nvPr/>
            </p:nvSpPr>
            <p:spPr bwMode="auto">
              <a:xfrm>
                <a:off x="780" y="1903"/>
                <a:ext cx="1" cy="23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8" name="Freeform 150"/>
              <p:cNvSpPr>
                <a:spLocks/>
              </p:cNvSpPr>
              <p:nvPr/>
            </p:nvSpPr>
            <p:spPr bwMode="auto">
              <a:xfrm>
                <a:off x="233" y="1919"/>
                <a:ext cx="204" cy="204"/>
              </a:xfrm>
              <a:custGeom>
                <a:avLst/>
                <a:gdLst/>
                <a:ahLst/>
                <a:cxnLst>
                  <a:cxn ang="0">
                    <a:pos x="0" y="102"/>
                  </a:cxn>
                  <a:cxn ang="0">
                    <a:pos x="2" y="80"/>
                  </a:cxn>
                  <a:cxn ang="0">
                    <a:pos x="9" y="61"/>
                  </a:cxn>
                  <a:cxn ang="0">
                    <a:pos x="19" y="42"/>
                  </a:cxn>
                  <a:cxn ang="0">
                    <a:pos x="33" y="26"/>
                  </a:cxn>
                  <a:cxn ang="0">
                    <a:pos x="50" y="14"/>
                  </a:cxn>
                  <a:cxn ang="0">
                    <a:pos x="70" y="4"/>
                  </a:cxn>
                  <a:cxn ang="0">
                    <a:pos x="91" y="0"/>
                  </a:cxn>
                  <a:cxn ang="0">
                    <a:pos x="113" y="0"/>
                  </a:cxn>
                  <a:cxn ang="0">
                    <a:pos x="133" y="4"/>
                  </a:cxn>
                  <a:cxn ang="0">
                    <a:pos x="153" y="14"/>
                  </a:cxn>
                  <a:cxn ang="0">
                    <a:pos x="170" y="26"/>
                  </a:cxn>
                  <a:cxn ang="0">
                    <a:pos x="184" y="42"/>
                  </a:cxn>
                  <a:cxn ang="0">
                    <a:pos x="196" y="61"/>
                  </a:cxn>
                  <a:cxn ang="0">
                    <a:pos x="201" y="80"/>
                  </a:cxn>
                  <a:cxn ang="0">
                    <a:pos x="204" y="102"/>
                  </a:cxn>
                  <a:cxn ang="0">
                    <a:pos x="201" y="123"/>
                  </a:cxn>
                  <a:cxn ang="0">
                    <a:pos x="196" y="144"/>
                  </a:cxn>
                  <a:cxn ang="0">
                    <a:pos x="184" y="162"/>
                  </a:cxn>
                  <a:cxn ang="0">
                    <a:pos x="170" y="177"/>
                  </a:cxn>
                  <a:cxn ang="0">
                    <a:pos x="153" y="190"/>
                  </a:cxn>
                  <a:cxn ang="0">
                    <a:pos x="133" y="199"/>
                  </a:cxn>
                  <a:cxn ang="0">
                    <a:pos x="113" y="204"/>
                  </a:cxn>
                  <a:cxn ang="0">
                    <a:pos x="91" y="204"/>
                  </a:cxn>
                  <a:cxn ang="0">
                    <a:pos x="70" y="199"/>
                  </a:cxn>
                  <a:cxn ang="0">
                    <a:pos x="50" y="190"/>
                  </a:cxn>
                  <a:cxn ang="0">
                    <a:pos x="33" y="177"/>
                  </a:cxn>
                  <a:cxn ang="0">
                    <a:pos x="19" y="162"/>
                  </a:cxn>
                  <a:cxn ang="0">
                    <a:pos x="9" y="144"/>
                  </a:cxn>
                  <a:cxn ang="0">
                    <a:pos x="2" y="123"/>
                  </a:cxn>
                  <a:cxn ang="0">
                    <a:pos x="0" y="102"/>
                  </a:cxn>
                </a:cxnLst>
                <a:rect l="0" t="0" r="r" b="b"/>
                <a:pathLst>
                  <a:path w="204" h="204">
                    <a:moveTo>
                      <a:pt x="0" y="102"/>
                    </a:moveTo>
                    <a:lnTo>
                      <a:pt x="2" y="80"/>
                    </a:lnTo>
                    <a:lnTo>
                      <a:pt x="9" y="61"/>
                    </a:lnTo>
                    <a:lnTo>
                      <a:pt x="19" y="42"/>
                    </a:lnTo>
                    <a:lnTo>
                      <a:pt x="33" y="26"/>
                    </a:lnTo>
                    <a:lnTo>
                      <a:pt x="50" y="14"/>
                    </a:lnTo>
                    <a:lnTo>
                      <a:pt x="70" y="4"/>
                    </a:lnTo>
                    <a:lnTo>
                      <a:pt x="91" y="0"/>
                    </a:lnTo>
                    <a:lnTo>
                      <a:pt x="113" y="0"/>
                    </a:lnTo>
                    <a:lnTo>
                      <a:pt x="133" y="4"/>
                    </a:lnTo>
                    <a:lnTo>
                      <a:pt x="153" y="14"/>
                    </a:lnTo>
                    <a:lnTo>
                      <a:pt x="170" y="26"/>
                    </a:lnTo>
                    <a:lnTo>
                      <a:pt x="184" y="42"/>
                    </a:lnTo>
                    <a:lnTo>
                      <a:pt x="196" y="61"/>
                    </a:lnTo>
                    <a:lnTo>
                      <a:pt x="201" y="80"/>
                    </a:lnTo>
                    <a:lnTo>
                      <a:pt x="204" y="102"/>
                    </a:lnTo>
                    <a:lnTo>
                      <a:pt x="201" y="123"/>
                    </a:lnTo>
                    <a:lnTo>
                      <a:pt x="196" y="144"/>
                    </a:lnTo>
                    <a:lnTo>
                      <a:pt x="184" y="162"/>
                    </a:lnTo>
                    <a:lnTo>
                      <a:pt x="170" y="177"/>
                    </a:lnTo>
                    <a:lnTo>
                      <a:pt x="153" y="190"/>
                    </a:lnTo>
                    <a:lnTo>
                      <a:pt x="133" y="199"/>
                    </a:lnTo>
                    <a:lnTo>
                      <a:pt x="113" y="204"/>
                    </a:lnTo>
                    <a:lnTo>
                      <a:pt x="91" y="204"/>
                    </a:lnTo>
                    <a:lnTo>
                      <a:pt x="70" y="199"/>
                    </a:lnTo>
                    <a:lnTo>
                      <a:pt x="50" y="190"/>
                    </a:lnTo>
                    <a:lnTo>
                      <a:pt x="33" y="177"/>
                    </a:lnTo>
                    <a:lnTo>
                      <a:pt x="19" y="162"/>
                    </a:lnTo>
                    <a:lnTo>
                      <a:pt x="9" y="144"/>
                    </a:lnTo>
                    <a:lnTo>
                      <a:pt x="2" y="123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9" name="Line 151"/>
              <p:cNvSpPr>
                <a:spLocks noChangeShapeType="1"/>
              </p:cNvSpPr>
              <p:nvPr/>
            </p:nvSpPr>
            <p:spPr bwMode="auto">
              <a:xfrm flipH="1">
                <a:off x="437" y="2021"/>
                <a:ext cx="20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0" name="Line 152"/>
              <p:cNvSpPr>
                <a:spLocks noChangeShapeType="1"/>
              </p:cNvSpPr>
              <p:nvPr/>
            </p:nvSpPr>
            <p:spPr bwMode="auto">
              <a:xfrm flipH="1">
                <a:off x="410" y="1952"/>
                <a:ext cx="22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1" name="Line 153"/>
              <p:cNvSpPr>
                <a:spLocks noChangeShapeType="1"/>
              </p:cNvSpPr>
              <p:nvPr/>
            </p:nvSpPr>
            <p:spPr bwMode="auto">
              <a:xfrm flipH="1">
                <a:off x="410" y="2088"/>
                <a:ext cx="22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2" name="Freeform 154"/>
              <p:cNvSpPr>
                <a:spLocks/>
              </p:cNvSpPr>
              <p:nvPr/>
            </p:nvSpPr>
            <p:spPr bwMode="auto">
              <a:xfrm>
                <a:off x="294" y="1983"/>
                <a:ext cx="41" cy="11"/>
              </a:xfrm>
              <a:custGeom>
                <a:avLst/>
                <a:gdLst/>
                <a:ahLst/>
                <a:cxnLst>
                  <a:cxn ang="0">
                    <a:pos x="41" y="11"/>
                  </a:cxn>
                  <a:cxn ang="0">
                    <a:pos x="34" y="4"/>
                  </a:cxn>
                  <a:cxn ang="0">
                    <a:pos x="25" y="0"/>
                  </a:cxn>
                  <a:cxn ang="0">
                    <a:pos x="16" y="0"/>
                  </a:cxn>
                  <a:cxn ang="0">
                    <a:pos x="7" y="4"/>
                  </a:cxn>
                  <a:cxn ang="0">
                    <a:pos x="0" y="11"/>
                  </a:cxn>
                </a:cxnLst>
                <a:rect l="0" t="0" r="r" b="b"/>
                <a:pathLst>
                  <a:path w="41" h="11">
                    <a:moveTo>
                      <a:pt x="41" y="11"/>
                    </a:moveTo>
                    <a:lnTo>
                      <a:pt x="34" y="4"/>
                    </a:lnTo>
                    <a:lnTo>
                      <a:pt x="25" y="0"/>
                    </a:lnTo>
                    <a:lnTo>
                      <a:pt x="16" y="0"/>
                    </a:lnTo>
                    <a:lnTo>
                      <a:pt x="7" y="4"/>
                    </a:lnTo>
                    <a:lnTo>
                      <a:pt x="0" y="1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3" name="Freeform 155"/>
              <p:cNvSpPr>
                <a:spLocks/>
              </p:cNvSpPr>
              <p:nvPr/>
            </p:nvSpPr>
            <p:spPr bwMode="auto">
              <a:xfrm>
                <a:off x="335" y="1994"/>
                <a:ext cx="41" cy="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5"/>
                  </a:cxn>
                  <a:cxn ang="0">
                    <a:pos x="20" y="8"/>
                  </a:cxn>
                  <a:cxn ang="0">
                    <a:pos x="31" y="5"/>
                  </a:cxn>
                  <a:cxn ang="0">
                    <a:pos x="41" y="0"/>
                  </a:cxn>
                </a:cxnLst>
                <a:rect l="0" t="0" r="r" b="b"/>
                <a:pathLst>
                  <a:path w="41" h="8">
                    <a:moveTo>
                      <a:pt x="0" y="0"/>
                    </a:moveTo>
                    <a:lnTo>
                      <a:pt x="9" y="5"/>
                    </a:lnTo>
                    <a:lnTo>
                      <a:pt x="20" y="8"/>
                    </a:lnTo>
                    <a:lnTo>
                      <a:pt x="31" y="5"/>
                    </a:lnTo>
                    <a:lnTo>
                      <a:pt x="41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4" name="Freeform 156"/>
              <p:cNvSpPr>
                <a:spLocks/>
              </p:cNvSpPr>
              <p:nvPr/>
            </p:nvSpPr>
            <p:spPr bwMode="auto">
              <a:xfrm>
                <a:off x="294" y="2011"/>
                <a:ext cx="41" cy="10"/>
              </a:xfrm>
              <a:custGeom>
                <a:avLst/>
                <a:gdLst/>
                <a:ahLst/>
                <a:cxnLst>
                  <a:cxn ang="0">
                    <a:pos x="41" y="10"/>
                  </a:cxn>
                  <a:cxn ang="0">
                    <a:pos x="34" y="3"/>
                  </a:cxn>
                  <a:cxn ang="0">
                    <a:pos x="25" y="0"/>
                  </a:cxn>
                  <a:cxn ang="0">
                    <a:pos x="16" y="0"/>
                  </a:cxn>
                  <a:cxn ang="0">
                    <a:pos x="7" y="3"/>
                  </a:cxn>
                  <a:cxn ang="0">
                    <a:pos x="0" y="10"/>
                  </a:cxn>
                </a:cxnLst>
                <a:rect l="0" t="0" r="r" b="b"/>
                <a:pathLst>
                  <a:path w="41" h="10">
                    <a:moveTo>
                      <a:pt x="41" y="10"/>
                    </a:moveTo>
                    <a:lnTo>
                      <a:pt x="34" y="3"/>
                    </a:lnTo>
                    <a:lnTo>
                      <a:pt x="25" y="0"/>
                    </a:lnTo>
                    <a:lnTo>
                      <a:pt x="16" y="0"/>
                    </a:lnTo>
                    <a:lnTo>
                      <a:pt x="7" y="3"/>
                    </a:lnTo>
                    <a:lnTo>
                      <a:pt x="0" y="1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5" name="Freeform 157"/>
              <p:cNvSpPr>
                <a:spLocks/>
              </p:cNvSpPr>
              <p:nvPr/>
            </p:nvSpPr>
            <p:spPr bwMode="auto">
              <a:xfrm>
                <a:off x="335" y="2021"/>
                <a:ext cx="41" cy="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6"/>
                  </a:cxn>
                  <a:cxn ang="0">
                    <a:pos x="20" y="8"/>
                  </a:cxn>
                  <a:cxn ang="0">
                    <a:pos x="31" y="6"/>
                  </a:cxn>
                  <a:cxn ang="0">
                    <a:pos x="41" y="0"/>
                  </a:cxn>
                </a:cxnLst>
                <a:rect l="0" t="0" r="r" b="b"/>
                <a:pathLst>
                  <a:path w="41" h="8">
                    <a:moveTo>
                      <a:pt x="0" y="0"/>
                    </a:moveTo>
                    <a:lnTo>
                      <a:pt x="9" y="6"/>
                    </a:lnTo>
                    <a:lnTo>
                      <a:pt x="20" y="8"/>
                    </a:lnTo>
                    <a:lnTo>
                      <a:pt x="31" y="6"/>
                    </a:lnTo>
                    <a:lnTo>
                      <a:pt x="41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6" name="Freeform 158"/>
              <p:cNvSpPr>
                <a:spLocks/>
              </p:cNvSpPr>
              <p:nvPr/>
            </p:nvSpPr>
            <p:spPr bwMode="auto">
              <a:xfrm>
                <a:off x="294" y="2037"/>
                <a:ext cx="41" cy="11"/>
              </a:xfrm>
              <a:custGeom>
                <a:avLst/>
                <a:gdLst/>
                <a:ahLst/>
                <a:cxnLst>
                  <a:cxn ang="0">
                    <a:pos x="41" y="11"/>
                  </a:cxn>
                  <a:cxn ang="0">
                    <a:pos x="34" y="4"/>
                  </a:cxn>
                  <a:cxn ang="0">
                    <a:pos x="25" y="0"/>
                  </a:cxn>
                  <a:cxn ang="0">
                    <a:pos x="16" y="0"/>
                  </a:cxn>
                  <a:cxn ang="0">
                    <a:pos x="7" y="4"/>
                  </a:cxn>
                  <a:cxn ang="0">
                    <a:pos x="0" y="11"/>
                  </a:cxn>
                </a:cxnLst>
                <a:rect l="0" t="0" r="r" b="b"/>
                <a:pathLst>
                  <a:path w="41" h="11">
                    <a:moveTo>
                      <a:pt x="41" y="11"/>
                    </a:moveTo>
                    <a:lnTo>
                      <a:pt x="34" y="4"/>
                    </a:lnTo>
                    <a:lnTo>
                      <a:pt x="25" y="0"/>
                    </a:lnTo>
                    <a:lnTo>
                      <a:pt x="16" y="0"/>
                    </a:lnTo>
                    <a:lnTo>
                      <a:pt x="7" y="4"/>
                    </a:lnTo>
                    <a:lnTo>
                      <a:pt x="0" y="11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7" name="Freeform 159"/>
              <p:cNvSpPr>
                <a:spLocks/>
              </p:cNvSpPr>
              <p:nvPr/>
            </p:nvSpPr>
            <p:spPr bwMode="auto">
              <a:xfrm>
                <a:off x="335" y="2048"/>
                <a:ext cx="41" cy="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6"/>
                  </a:cxn>
                  <a:cxn ang="0">
                    <a:pos x="20" y="8"/>
                  </a:cxn>
                  <a:cxn ang="0">
                    <a:pos x="31" y="6"/>
                  </a:cxn>
                  <a:cxn ang="0">
                    <a:pos x="41" y="0"/>
                  </a:cxn>
                </a:cxnLst>
                <a:rect l="0" t="0" r="r" b="b"/>
                <a:pathLst>
                  <a:path w="41" h="8">
                    <a:moveTo>
                      <a:pt x="0" y="0"/>
                    </a:moveTo>
                    <a:lnTo>
                      <a:pt x="9" y="6"/>
                    </a:lnTo>
                    <a:lnTo>
                      <a:pt x="20" y="8"/>
                    </a:lnTo>
                    <a:lnTo>
                      <a:pt x="31" y="6"/>
                    </a:lnTo>
                    <a:lnTo>
                      <a:pt x="41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8" name="Line 160"/>
              <p:cNvSpPr>
                <a:spLocks noChangeShapeType="1"/>
              </p:cNvSpPr>
              <p:nvPr/>
            </p:nvSpPr>
            <p:spPr bwMode="auto">
              <a:xfrm>
                <a:off x="2495" y="1966"/>
                <a:ext cx="7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>
                <a:off x="2253" y="1966"/>
                <a:ext cx="78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0" name="Freeform 162"/>
              <p:cNvSpPr>
                <a:spLocks/>
              </p:cNvSpPr>
              <p:nvPr/>
            </p:nvSpPr>
            <p:spPr bwMode="auto">
              <a:xfrm>
                <a:off x="2331" y="1946"/>
                <a:ext cx="164" cy="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3" y="13"/>
                  </a:cxn>
                  <a:cxn ang="0">
                    <a:pos x="6" y="6"/>
                  </a:cxn>
                  <a:cxn ang="0">
                    <a:pos x="13" y="2"/>
                  </a:cxn>
                  <a:cxn ang="0">
                    <a:pos x="21" y="0"/>
                  </a:cxn>
                  <a:cxn ang="0">
                    <a:pos x="29" y="2"/>
                  </a:cxn>
                  <a:cxn ang="0">
                    <a:pos x="35" y="6"/>
                  </a:cxn>
                  <a:cxn ang="0">
                    <a:pos x="39" y="13"/>
                  </a:cxn>
                  <a:cxn ang="0">
                    <a:pos x="42" y="20"/>
                  </a:cxn>
                  <a:cxn ang="0">
                    <a:pos x="43" y="13"/>
                  </a:cxn>
                  <a:cxn ang="0">
                    <a:pos x="48" y="6"/>
                  </a:cxn>
                  <a:cxn ang="0">
                    <a:pos x="54" y="2"/>
                  </a:cxn>
                  <a:cxn ang="0">
                    <a:pos x="61" y="0"/>
                  </a:cxn>
                  <a:cxn ang="0">
                    <a:pos x="69" y="2"/>
                  </a:cxn>
                  <a:cxn ang="0">
                    <a:pos x="76" y="6"/>
                  </a:cxn>
                  <a:cxn ang="0">
                    <a:pos x="81" y="13"/>
                  </a:cxn>
                  <a:cxn ang="0">
                    <a:pos x="82" y="20"/>
                  </a:cxn>
                  <a:cxn ang="0">
                    <a:pos x="83" y="13"/>
                  </a:cxn>
                  <a:cxn ang="0">
                    <a:pos x="88" y="6"/>
                  </a:cxn>
                  <a:cxn ang="0">
                    <a:pos x="95" y="2"/>
                  </a:cxn>
                  <a:cxn ang="0">
                    <a:pos x="103" y="0"/>
                  </a:cxn>
                  <a:cxn ang="0">
                    <a:pos x="111" y="2"/>
                  </a:cxn>
                  <a:cxn ang="0">
                    <a:pos x="117" y="6"/>
                  </a:cxn>
                  <a:cxn ang="0">
                    <a:pos x="121" y="13"/>
                  </a:cxn>
                  <a:cxn ang="0">
                    <a:pos x="124" y="20"/>
                  </a:cxn>
                  <a:cxn ang="0">
                    <a:pos x="125" y="13"/>
                  </a:cxn>
                  <a:cxn ang="0">
                    <a:pos x="129" y="6"/>
                  </a:cxn>
                  <a:cxn ang="0">
                    <a:pos x="135" y="2"/>
                  </a:cxn>
                  <a:cxn ang="0">
                    <a:pos x="143" y="0"/>
                  </a:cxn>
                  <a:cxn ang="0">
                    <a:pos x="151" y="2"/>
                  </a:cxn>
                  <a:cxn ang="0">
                    <a:pos x="158" y="6"/>
                  </a:cxn>
                  <a:cxn ang="0">
                    <a:pos x="163" y="13"/>
                  </a:cxn>
                  <a:cxn ang="0">
                    <a:pos x="164" y="20"/>
                  </a:cxn>
                </a:cxnLst>
                <a:rect l="0" t="0" r="r" b="b"/>
                <a:pathLst>
                  <a:path w="164" h="20">
                    <a:moveTo>
                      <a:pt x="0" y="20"/>
                    </a:moveTo>
                    <a:lnTo>
                      <a:pt x="3" y="13"/>
                    </a:lnTo>
                    <a:lnTo>
                      <a:pt x="6" y="6"/>
                    </a:lnTo>
                    <a:lnTo>
                      <a:pt x="13" y="2"/>
                    </a:lnTo>
                    <a:lnTo>
                      <a:pt x="21" y="0"/>
                    </a:lnTo>
                    <a:lnTo>
                      <a:pt x="29" y="2"/>
                    </a:lnTo>
                    <a:lnTo>
                      <a:pt x="35" y="6"/>
                    </a:lnTo>
                    <a:lnTo>
                      <a:pt x="39" y="13"/>
                    </a:lnTo>
                    <a:lnTo>
                      <a:pt x="42" y="20"/>
                    </a:lnTo>
                    <a:lnTo>
                      <a:pt x="43" y="13"/>
                    </a:lnTo>
                    <a:lnTo>
                      <a:pt x="48" y="6"/>
                    </a:lnTo>
                    <a:lnTo>
                      <a:pt x="54" y="2"/>
                    </a:lnTo>
                    <a:lnTo>
                      <a:pt x="61" y="0"/>
                    </a:lnTo>
                    <a:lnTo>
                      <a:pt x="69" y="2"/>
                    </a:lnTo>
                    <a:lnTo>
                      <a:pt x="76" y="6"/>
                    </a:lnTo>
                    <a:lnTo>
                      <a:pt x="81" y="13"/>
                    </a:lnTo>
                    <a:lnTo>
                      <a:pt x="82" y="20"/>
                    </a:lnTo>
                    <a:lnTo>
                      <a:pt x="83" y="13"/>
                    </a:lnTo>
                    <a:lnTo>
                      <a:pt x="88" y="6"/>
                    </a:lnTo>
                    <a:lnTo>
                      <a:pt x="95" y="2"/>
                    </a:lnTo>
                    <a:lnTo>
                      <a:pt x="103" y="0"/>
                    </a:lnTo>
                    <a:lnTo>
                      <a:pt x="111" y="2"/>
                    </a:lnTo>
                    <a:lnTo>
                      <a:pt x="117" y="6"/>
                    </a:lnTo>
                    <a:lnTo>
                      <a:pt x="121" y="13"/>
                    </a:lnTo>
                    <a:lnTo>
                      <a:pt x="124" y="20"/>
                    </a:lnTo>
                    <a:lnTo>
                      <a:pt x="125" y="13"/>
                    </a:lnTo>
                    <a:lnTo>
                      <a:pt x="129" y="6"/>
                    </a:lnTo>
                    <a:lnTo>
                      <a:pt x="135" y="2"/>
                    </a:lnTo>
                    <a:lnTo>
                      <a:pt x="143" y="0"/>
                    </a:lnTo>
                    <a:lnTo>
                      <a:pt x="151" y="2"/>
                    </a:lnTo>
                    <a:lnTo>
                      <a:pt x="158" y="6"/>
                    </a:lnTo>
                    <a:lnTo>
                      <a:pt x="163" y="13"/>
                    </a:lnTo>
                    <a:lnTo>
                      <a:pt x="164" y="2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1" name="Line 163"/>
              <p:cNvSpPr>
                <a:spLocks noChangeShapeType="1"/>
              </p:cNvSpPr>
              <p:nvPr/>
            </p:nvSpPr>
            <p:spPr bwMode="auto">
              <a:xfrm>
                <a:off x="2494" y="2021"/>
                <a:ext cx="79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2" name="Line 164"/>
              <p:cNvSpPr>
                <a:spLocks noChangeShapeType="1"/>
              </p:cNvSpPr>
              <p:nvPr/>
            </p:nvSpPr>
            <p:spPr bwMode="auto">
              <a:xfrm>
                <a:off x="2252" y="2021"/>
                <a:ext cx="79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3" name="Freeform 165"/>
              <p:cNvSpPr>
                <a:spLocks/>
              </p:cNvSpPr>
              <p:nvPr/>
            </p:nvSpPr>
            <p:spPr bwMode="auto">
              <a:xfrm>
                <a:off x="2331" y="2001"/>
                <a:ext cx="163" cy="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12"/>
                  </a:cxn>
                  <a:cxn ang="0">
                    <a:pos x="6" y="5"/>
                  </a:cxn>
                  <a:cxn ang="0">
                    <a:pos x="13" y="1"/>
                  </a:cxn>
                  <a:cxn ang="0">
                    <a:pos x="20" y="0"/>
                  </a:cxn>
                  <a:cxn ang="0">
                    <a:pos x="28" y="1"/>
                  </a:cxn>
                  <a:cxn ang="0">
                    <a:pos x="35" y="5"/>
                  </a:cxn>
                  <a:cxn ang="0">
                    <a:pos x="39" y="12"/>
                  </a:cxn>
                  <a:cxn ang="0">
                    <a:pos x="41" y="20"/>
                  </a:cxn>
                  <a:cxn ang="0">
                    <a:pos x="42" y="12"/>
                  </a:cxn>
                  <a:cxn ang="0">
                    <a:pos x="46" y="5"/>
                  </a:cxn>
                  <a:cxn ang="0">
                    <a:pos x="53" y="1"/>
                  </a:cxn>
                  <a:cxn ang="0">
                    <a:pos x="61" y="0"/>
                  </a:cxn>
                  <a:cxn ang="0">
                    <a:pos x="69" y="1"/>
                  </a:cxn>
                  <a:cxn ang="0">
                    <a:pos x="75" y="5"/>
                  </a:cxn>
                  <a:cxn ang="0">
                    <a:pos x="80" y="12"/>
                  </a:cxn>
                  <a:cxn ang="0">
                    <a:pos x="81" y="20"/>
                  </a:cxn>
                  <a:cxn ang="0">
                    <a:pos x="83" y="12"/>
                  </a:cxn>
                  <a:cxn ang="0">
                    <a:pos x="88" y="5"/>
                  </a:cxn>
                  <a:cxn ang="0">
                    <a:pos x="94" y="1"/>
                  </a:cxn>
                  <a:cxn ang="0">
                    <a:pos x="102" y="0"/>
                  </a:cxn>
                  <a:cxn ang="0">
                    <a:pos x="110" y="1"/>
                  </a:cxn>
                  <a:cxn ang="0">
                    <a:pos x="117" y="5"/>
                  </a:cxn>
                  <a:cxn ang="0">
                    <a:pos x="121" y="12"/>
                  </a:cxn>
                  <a:cxn ang="0">
                    <a:pos x="122" y="20"/>
                  </a:cxn>
                  <a:cxn ang="0">
                    <a:pos x="124" y="12"/>
                  </a:cxn>
                  <a:cxn ang="0">
                    <a:pos x="128" y="5"/>
                  </a:cxn>
                  <a:cxn ang="0">
                    <a:pos x="135" y="1"/>
                  </a:cxn>
                  <a:cxn ang="0">
                    <a:pos x="143" y="0"/>
                  </a:cxn>
                  <a:cxn ang="0">
                    <a:pos x="150" y="1"/>
                  </a:cxn>
                  <a:cxn ang="0">
                    <a:pos x="157" y="5"/>
                  </a:cxn>
                  <a:cxn ang="0">
                    <a:pos x="162" y="12"/>
                  </a:cxn>
                  <a:cxn ang="0">
                    <a:pos x="163" y="20"/>
                  </a:cxn>
                </a:cxnLst>
                <a:rect l="0" t="0" r="r" b="b"/>
                <a:pathLst>
                  <a:path w="163" h="20">
                    <a:moveTo>
                      <a:pt x="0" y="20"/>
                    </a:moveTo>
                    <a:lnTo>
                      <a:pt x="1" y="12"/>
                    </a:lnTo>
                    <a:lnTo>
                      <a:pt x="6" y="5"/>
                    </a:lnTo>
                    <a:lnTo>
                      <a:pt x="13" y="1"/>
                    </a:lnTo>
                    <a:lnTo>
                      <a:pt x="20" y="0"/>
                    </a:lnTo>
                    <a:lnTo>
                      <a:pt x="28" y="1"/>
                    </a:lnTo>
                    <a:lnTo>
                      <a:pt x="35" y="5"/>
                    </a:lnTo>
                    <a:lnTo>
                      <a:pt x="39" y="12"/>
                    </a:lnTo>
                    <a:lnTo>
                      <a:pt x="41" y="20"/>
                    </a:lnTo>
                    <a:lnTo>
                      <a:pt x="42" y="12"/>
                    </a:lnTo>
                    <a:lnTo>
                      <a:pt x="46" y="5"/>
                    </a:lnTo>
                    <a:lnTo>
                      <a:pt x="53" y="1"/>
                    </a:lnTo>
                    <a:lnTo>
                      <a:pt x="61" y="0"/>
                    </a:lnTo>
                    <a:lnTo>
                      <a:pt x="69" y="1"/>
                    </a:lnTo>
                    <a:lnTo>
                      <a:pt x="75" y="5"/>
                    </a:lnTo>
                    <a:lnTo>
                      <a:pt x="80" y="12"/>
                    </a:lnTo>
                    <a:lnTo>
                      <a:pt x="81" y="20"/>
                    </a:lnTo>
                    <a:lnTo>
                      <a:pt x="83" y="12"/>
                    </a:lnTo>
                    <a:lnTo>
                      <a:pt x="88" y="5"/>
                    </a:lnTo>
                    <a:lnTo>
                      <a:pt x="94" y="1"/>
                    </a:lnTo>
                    <a:lnTo>
                      <a:pt x="102" y="0"/>
                    </a:lnTo>
                    <a:lnTo>
                      <a:pt x="110" y="1"/>
                    </a:lnTo>
                    <a:lnTo>
                      <a:pt x="117" y="5"/>
                    </a:lnTo>
                    <a:lnTo>
                      <a:pt x="121" y="12"/>
                    </a:lnTo>
                    <a:lnTo>
                      <a:pt x="122" y="20"/>
                    </a:lnTo>
                    <a:lnTo>
                      <a:pt x="124" y="12"/>
                    </a:lnTo>
                    <a:lnTo>
                      <a:pt x="128" y="5"/>
                    </a:lnTo>
                    <a:lnTo>
                      <a:pt x="135" y="1"/>
                    </a:lnTo>
                    <a:lnTo>
                      <a:pt x="143" y="0"/>
                    </a:lnTo>
                    <a:lnTo>
                      <a:pt x="150" y="1"/>
                    </a:lnTo>
                    <a:lnTo>
                      <a:pt x="157" y="5"/>
                    </a:lnTo>
                    <a:lnTo>
                      <a:pt x="162" y="12"/>
                    </a:lnTo>
                    <a:lnTo>
                      <a:pt x="163" y="2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4" name="Line 166"/>
              <p:cNvSpPr>
                <a:spLocks noChangeShapeType="1"/>
              </p:cNvSpPr>
              <p:nvPr/>
            </p:nvSpPr>
            <p:spPr bwMode="auto">
              <a:xfrm>
                <a:off x="2493" y="2075"/>
                <a:ext cx="80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>
                <a:off x="2248" y="2075"/>
                <a:ext cx="8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6" name="Freeform 168"/>
              <p:cNvSpPr>
                <a:spLocks/>
              </p:cNvSpPr>
              <p:nvPr/>
            </p:nvSpPr>
            <p:spPr bwMode="auto">
              <a:xfrm>
                <a:off x="2329" y="2055"/>
                <a:ext cx="164" cy="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12"/>
                  </a:cxn>
                  <a:cxn ang="0">
                    <a:pos x="6" y="5"/>
                  </a:cxn>
                  <a:cxn ang="0">
                    <a:pos x="13" y="1"/>
                  </a:cxn>
                  <a:cxn ang="0">
                    <a:pos x="21" y="0"/>
                  </a:cxn>
                  <a:cxn ang="0">
                    <a:pos x="28" y="1"/>
                  </a:cxn>
                  <a:cxn ang="0">
                    <a:pos x="35" y="5"/>
                  </a:cxn>
                  <a:cxn ang="0">
                    <a:pos x="39" y="12"/>
                  </a:cxn>
                  <a:cxn ang="0">
                    <a:pos x="40" y="20"/>
                  </a:cxn>
                  <a:cxn ang="0">
                    <a:pos x="43" y="12"/>
                  </a:cxn>
                  <a:cxn ang="0">
                    <a:pos x="46" y="5"/>
                  </a:cxn>
                  <a:cxn ang="0">
                    <a:pos x="53" y="1"/>
                  </a:cxn>
                  <a:cxn ang="0">
                    <a:pos x="61" y="0"/>
                  </a:cxn>
                  <a:cxn ang="0">
                    <a:pos x="69" y="1"/>
                  </a:cxn>
                  <a:cxn ang="0">
                    <a:pos x="76" y="5"/>
                  </a:cxn>
                  <a:cxn ang="0">
                    <a:pos x="79" y="12"/>
                  </a:cxn>
                  <a:cxn ang="0">
                    <a:pos x="82" y="20"/>
                  </a:cxn>
                  <a:cxn ang="0">
                    <a:pos x="83" y="12"/>
                  </a:cxn>
                  <a:cxn ang="0">
                    <a:pos x="88" y="5"/>
                  </a:cxn>
                  <a:cxn ang="0">
                    <a:pos x="94" y="1"/>
                  </a:cxn>
                  <a:cxn ang="0">
                    <a:pos x="101" y="0"/>
                  </a:cxn>
                  <a:cxn ang="0">
                    <a:pos x="109" y="1"/>
                  </a:cxn>
                  <a:cxn ang="0">
                    <a:pos x="116" y="5"/>
                  </a:cxn>
                  <a:cxn ang="0">
                    <a:pos x="121" y="12"/>
                  </a:cxn>
                  <a:cxn ang="0">
                    <a:pos x="122" y="20"/>
                  </a:cxn>
                  <a:cxn ang="0">
                    <a:pos x="123" y="12"/>
                  </a:cxn>
                  <a:cxn ang="0">
                    <a:pos x="128" y="5"/>
                  </a:cxn>
                  <a:cxn ang="0">
                    <a:pos x="135" y="1"/>
                  </a:cxn>
                  <a:cxn ang="0">
                    <a:pos x="143" y="0"/>
                  </a:cxn>
                  <a:cxn ang="0">
                    <a:pos x="151" y="1"/>
                  </a:cxn>
                  <a:cxn ang="0">
                    <a:pos x="157" y="5"/>
                  </a:cxn>
                  <a:cxn ang="0">
                    <a:pos x="161" y="12"/>
                  </a:cxn>
                  <a:cxn ang="0">
                    <a:pos x="164" y="20"/>
                  </a:cxn>
                </a:cxnLst>
                <a:rect l="0" t="0" r="r" b="b"/>
                <a:pathLst>
                  <a:path w="164" h="20">
                    <a:moveTo>
                      <a:pt x="0" y="20"/>
                    </a:moveTo>
                    <a:lnTo>
                      <a:pt x="1" y="12"/>
                    </a:lnTo>
                    <a:lnTo>
                      <a:pt x="6" y="5"/>
                    </a:lnTo>
                    <a:lnTo>
                      <a:pt x="13" y="1"/>
                    </a:lnTo>
                    <a:lnTo>
                      <a:pt x="21" y="0"/>
                    </a:lnTo>
                    <a:lnTo>
                      <a:pt x="28" y="1"/>
                    </a:lnTo>
                    <a:lnTo>
                      <a:pt x="35" y="5"/>
                    </a:lnTo>
                    <a:lnTo>
                      <a:pt x="39" y="12"/>
                    </a:lnTo>
                    <a:lnTo>
                      <a:pt x="40" y="20"/>
                    </a:lnTo>
                    <a:lnTo>
                      <a:pt x="43" y="12"/>
                    </a:lnTo>
                    <a:lnTo>
                      <a:pt x="46" y="5"/>
                    </a:lnTo>
                    <a:lnTo>
                      <a:pt x="53" y="1"/>
                    </a:lnTo>
                    <a:lnTo>
                      <a:pt x="61" y="0"/>
                    </a:lnTo>
                    <a:lnTo>
                      <a:pt x="69" y="1"/>
                    </a:lnTo>
                    <a:lnTo>
                      <a:pt x="76" y="5"/>
                    </a:lnTo>
                    <a:lnTo>
                      <a:pt x="79" y="12"/>
                    </a:lnTo>
                    <a:lnTo>
                      <a:pt x="82" y="20"/>
                    </a:lnTo>
                    <a:lnTo>
                      <a:pt x="83" y="12"/>
                    </a:lnTo>
                    <a:lnTo>
                      <a:pt x="88" y="5"/>
                    </a:lnTo>
                    <a:lnTo>
                      <a:pt x="94" y="1"/>
                    </a:lnTo>
                    <a:lnTo>
                      <a:pt x="101" y="0"/>
                    </a:lnTo>
                    <a:lnTo>
                      <a:pt x="109" y="1"/>
                    </a:lnTo>
                    <a:lnTo>
                      <a:pt x="116" y="5"/>
                    </a:lnTo>
                    <a:lnTo>
                      <a:pt x="121" y="12"/>
                    </a:lnTo>
                    <a:lnTo>
                      <a:pt x="122" y="20"/>
                    </a:lnTo>
                    <a:lnTo>
                      <a:pt x="123" y="12"/>
                    </a:lnTo>
                    <a:lnTo>
                      <a:pt x="128" y="5"/>
                    </a:lnTo>
                    <a:lnTo>
                      <a:pt x="135" y="1"/>
                    </a:lnTo>
                    <a:lnTo>
                      <a:pt x="143" y="0"/>
                    </a:lnTo>
                    <a:lnTo>
                      <a:pt x="151" y="1"/>
                    </a:lnTo>
                    <a:lnTo>
                      <a:pt x="157" y="5"/>
                    </a:lnTo>
                    <a:lnTo>
                      <a:pt x="161" y="12"/>
                    </a:lnTo>
                    <a:lnTo>
                      <a:pt x="164" y="2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>
                <a:off x="1538" y="1966"/>
                <a:ext cx="71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8" name="Line 170"/>
              <p:cNvSpPr>
                <a:spLocks noChangeShapeType="1"/>
              </p:cNvSpPr>
              <p:nvPr/>
            </p:nvSpPr>
            <p:spPr bwMode="auto">
              <a:xfrm>
                <a:off x="2005" y="2075"/>
                <a:ext cx="243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>
                <a:off x="1768" y="2021"/>
                <a:ext cx="48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0" name="Freeform 172"/>
              <p:cNvSpPr>
                <a:spLocks/>
              </p:cNvSpPr>
              <p:nvPr/>
            </p:nvSpPr>
            <p:spPr bwMode="auto">
              <a:xfrm>
                <a:off x="1030" y="2366"/>
                <a:ext cx="19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1" y="3"/>
                  </a:cxn>
                  <a:cxn ang="0">
                    <a:pos x="7" y="0"/>
                  </a:cxn>
                  <a:cxn ang="0">
                    <a:pos x="12" y="0"/>
                  </a:cxn>
                  <a:cxn ang="0">
                    <a:pos x="18" y="3"/>
                  </a:cxn>
                  <a:cxn ang="0">
                    <a:pos x="19" y="9"/>
                  </a:cxn>
                  <a:cxn ang="0">
                    <a:pos x="18" y="16"/>
                  </a:cxn>
                  <a:cxn ang="0">
                    <a:pos x="12" y="19"/>
                  </a:cxn>
                  <a:cxn ang="0">
                    <a:pos x="7" y="19"/>
                  </a:cxn>
                  <a:cxn ang="0">
                    <a:pos x="1" y="16"/>
                  </a:cxn>
                  <a:cxn ang="0">
                    <a:pos x="0" y="9"/>
                  </a:cxn>
                </a:cxnLst>
                <a:rect l="0" t="0" r="r" b="b"/>
                <a:pathLst>
                  <a:path w="19" h="19">
                    <a:moveTo>
                      <a:pt x="0" y="9"/>
                    </a:moveTo>
                    <a:lnTo>
                      <a:pt x="1" y="3"/>
                    </a:lnTo>
                    <a:lnTo>
                      <a:pt x="7" y="0"/>
                    </a:lnTo>
                    <a:lnTo>
                      <a:pt x="12" y="0"/>
                    </a:lnTo>
                    <a:lnTo>
                      <a:pt x="18" y="3"/>
                    </a:lnTo>
                    <a:lnTo>
                      <a:pt x="19" y="9"/>
                    </a:lnTo>
                    <a:lnTo>
                      <a:pt x="18" y="16"/>
                    </a:lnTo>
                    <a:lnTo>
                      <a:pt x="12" y="19"/>
                    </a:lnTo>
                    <a:lnTo>
                      <a:pt x="7" y="19"/>
                    </a:lnTo>
                    <a:lnTo>
                      <a:pt x="1" y="1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1" name="Freeform 173"/>
              <p:cNvSpPr>
                <a:spLocks/>
              </p:cNvSpPr>
              <p:nvPr/>
            </p:nvSpPr>
            <p:spPr bwMode="auto">
              <a:xfrm>
                <a:off x="1299" y="1973"/>
                <a:ext cx="21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3" y="3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19" y="3"/>
                  </a:cxn>
                  <a:cxn ang="0">
                    <a:pos x="21" y="9"/>
                  </a:cxn>
                  <a:cxn ang="0">
                    <a:pos x="19" y="16"/>
                  </a:cxn>
                  <a:cxn ang="0">
                    <a:pos x="13" y="19"/>
                  </a:cxn>
                  <a:cxn ang="0">
                    <a:pos x="7" y="19"/>
                  </a:cxn>
                  <a:cxn ang="0">
                    <a:pos x="3" y="16"/>
                  </a:cxn>
                  <a:cxn ang="0">
                    <a:pos x="0" y="9"/>
                  </a:cxn>
                </a:cxnLst>
                <a:rect l="0" t="0" r="r" b="b"/>
                <a:pathLst>
                  <a:path w="21" h="19">
                    <a:moveTo>
                      <a:pt x="0" y="9"/>
                    </a:moveTo>
                    <a:lnTo>
                      <a:pt x="3" y="3"/>
                    </a:lnTo>
                    <a:lnTo>
                      <a:pt x="7" y="0"/>
                    </a:lnTo>
                    <a:lnTo>
                      <a:pt x="13" y="0"/>
                    </a:lnTo>
                    <a:lnTo>
                      <a:pt x="19" y="3"/>
                    </a:lnTo>
                    <a:lnTo>
                      <a:pt x="21" y="9"/>
                    </a:lnTo>
                    <a:lnTo>
                      <a:pt x="19" y="16"/>
                    </a:lnTo>
                    <a:lnTo>
                      <a:pt x="13" y="19"/>
                    </a:lnTo>
                    <a:lnTo>
                      <a:pt x="7" y="19"/>
                    </a:lnTo>
                    <a:lnTo>
                      <a:pt x="3" y="1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2" name="Freeform 174"/>
              <p:cNvSpPr>
                <a:spLocks/>
              </p:cNvSpPr>
              <p:nvPr/>
            </p:nvSpPr>
            <p:spPr bwMode="auto">
              <a:xfrm>
                <a:off x="1030" y="1670"/>
                <a:ext cx="19" cy="19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1" y="3"/>
                  </a:cxn>
                  <a:cxn ang="0">
                    <a:pos x="7" y="0"/>
                  </a:cxn>
                  <a:cxn ang="0">
                    <a:pos x="12" y="0"/>
                  </a:cxn>
                  <a:cxn ang="0">
                    <a:pos x="18" y="3"/>
                  </a:cxn>
                  <a:cxn ang="0">
                    <a:pos x="19" y="10"/>
                  </a:cxn>
                  <a:cxn ang="0">
                    <a:pos x="18" y="16"/>
                  </a:cxn>
                  <a:cxn ang="0">
                    <a:pos x="12" y="19"/>
                  </a:cxn>
                  <a:cxn ang="0">
                    <a:pos x="7" y="19"/>
                  </a:cxn>
                  <a:cxn ang="0">
                    <a:pos x="1" y="16"/>
                  </a:cxn>
                  <a:cxn ang="0">
                    <a:pos x="0" y="10"/>
                  </a:cxn>
                </a:cxnLst>
                <a:rect l="0" t="0" r="r" b="b"/>
                <a:pathLst>
                  <a:path w="19" h="19">
                    <a:moveTo>
                      <a:pt x="0" y="10"/>
                    </a:moveTo>
                    <a:lnTo>
                      <a:pt x="1" y="3"/>
                    </a:lnTo>
                    <a:lnTo>
                      <a:pt x="7" y="0"/>
                    </a:lnTo>
                    <a:lnTo>
                      <a:pt x="12" y="0"/>
                    </a:lnTo>
                    <a:lnTo>
                      <a:pt x="18" y="3"/>
                    </a:lnTo>
                    <a:lnTo>
                      <a:pt x="19" y="10"/>
                    </a:lnTo>
                    <a:lnTo>
                      <a:pt x="18" y="16"/>
                    </a:lnTo>
                    <a:lnTo>
                      <a:pt x="12" y="19"/>
                    </a:lnTo>
                    <a:lnTo>
                      <a:pt x="7" y="19"/>
                    </a:lnTo>
                    <a:lnTo>
                      <a:pt x="1" y="1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3" name="Line 175"/>
              <p:cNvSpPr>
                <a:spLocks noChangeShapeType="1"/>
              </p:cNvSpPr>
              <p:nvPr/>
            </p:nvSpPr>
            <p:spPr bwMode="auto">
              <a:xfrm>
                <a:off x="2573" y="1966"/>
                <a:ext cx="1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4" name="Line 176"/>
              <p:cNvSpPr>
                <a:spLocks noChangeShapeType="1"/>
              </p:cNvSpPr>
              <p:nvPr/>
            </p:nvSpPr>
            <p:spPr bwMode="auto">
              <a:xfrm>
                <a:off x="2573" y="2075"/>
                <a:ext cx="2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5" name="Line 177"/>
              <p:cNvSpPr>
                <a:spLocks noChangeShapeType="1"/>
              </p:cNvSpPr>
              <p:nvPr/>
            </p:nvSpPr>
            <p:spPr bwMode="auto">
              <a:xfrm>
                <a:off x="1312" y="2320"/>
                <a:ext cx="1" cy="5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6" name="Line 178"/>
              <p:cNvSpPr>
                <a:spLocks noChangeShapeType="1"/>
              </p:cNvSpPr>
              <p:nvPr/>
            </p:nvSpPr>
            <p:spPr bwMode="auto">
              <a:xfrm flipV="1">
                <a:off x="1312" y="2113"/>
                <a:ext cx="1" cy="5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7" name="Line 179"/>
              <p:cNvSpPr>
                <a:spLocks noChangeShapeType="1"/>
              </p:cNvSpPr>
              <p:nvPr/>
            </p:nvSpPr>
            <p:spPr bwMode="auto">
              <a:xfrm flipV="1">
                <a:off x="1232" y="2208"/>
                <a:ext cx="1" cy="8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8" name="Line 180"/>
              <p:cNvSpPr>
                <a:spLocks noChangeShapeType="1"/>
              </p:cNvSpPr>
              <p:nvPr/>
            </p:nvSpPr>
            <p:spPr bwMode="auto">
              <a:xfrm flipV="1">
                <a:off x="1251" y="2180"/>
                <a:ext cx="1" cy="14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9" name="Line 181"/>
              <p:cNvSpPr>
                <a:spLocks noChangeShapeType="1"/>
              </p:cNvSpPr>
              <p:nvPr/>
            </p:nvSpPr>
            <p:spPr bwMode="auto">
              <a:xfrm flipH="1" flipV="1">
                <a:off x="1251" y="2275"/>
                <a:ext cx="41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0" name="Freeform 182"/>
              <p:cNvSpPr>
                <a:spLocks/>
              </p:cNvSpPr>
              <p:nvPr/>
            </p:nvSpPr>
            <p:spPr bwMode="auto">
              <a:xfrm>
                <a:off x="1280" y="2289"/>
                <a:ext cx="34" cy="31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34" y="31"/>
                  </a:cxn>
                  <a:cxn ang="0">
                    <a:pos x="0" y="25"/>
                  </a:cxn>
                  <a:cxn ang="0">
                    <a:pos x="17" y="0"/>
                  </a:cxn>
                </a:cxnLst>
                <a:rect l="0" t="0" r="r" b="b"/>
                <a:pathLst>
                  <a:path w="34" h="31">
                    <a:moveTo>
                      <a:pt x="17" y="0"/>
                    </a:moveTo>
                    <a:lnTo>
                      <a:pt x="34" y="31"/>
                    </a:lnTo>
                    <a:lnTo>
                      <a:pt x="0" y="25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1" name="Line 183"/>
              <p:cNvSpPr>
                <a:spLocks noChangeShapeType="1"/>
              </p:cNvSpPr>
              <p:nvPr/>
            </p:nvSpPr>
            <p:spPr bwMode="auto">
              <a:xfrm flipV="1">
                <a:off x="1251" y="2169"/>
                <a:ext cx="61" cy="5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2" name="Freeform 184"/>
              <p:cNvSpPr>
                <a:spLocks/>
              </p:cNvSpPr>
              <p:nvPr/>
            </p:nvSpPr>
            <p:spPr bwMode="auto">
              <a:xfrm>
                <a:off x="1297" y="1831"/>
                <a:ext cx="30" cy="28"/>
              </a:xfrm>
              <a:custGeom>
                <a:avLst/>
                <a:gdLst/>
                <a:ahLst/>
                <a:cxnLst>
                  <a:cxn ang="0">
                    <a:pos x="0" y="28"/>
                  </a:cxn>
                  <a:cxn ang="0">
                    <a:pos x="30" y="28"/>
                  </a:cxn>
                  <a:cxn ang="0">
                    <a:pos x="15" y="0"/>
                  </a:cxn>
                  <a:cxn ang="0">
                    <a:pos x="0" y="28"/>
                  </a:cxn>
                </a:cxnLst>
                <a:rect l="0" t="0" r="r" b="b"/>
                <a:pathLst>
                  <a:path w="30" h="28">
                    <a:moveTo>
                      <a:pt x="0" y="28"/>
                    </a:moveTo>
                    <a:lnTo>
                      <a:pt x="30" y="28"/>
                    </a:lnTo>
                    <a:lnTo>
                      <a:pt x="15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3" name="Line 185"/>
              <p:cNvSpPr>
                <a:spLocks noChangeShapeType="1"/>
              </p:cNvSpPr>
              <p:nvPr/>
            </p:nvSpPr>
            <p:spPr bwMode="auto">
              <a:xfrm flipH="1">
                <a:off x="1208" y="2208"/>
                <a:ext cx="2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 flipH="1">
                <a:off x="1292" y="1832"/>
                <a:ext cx="4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5" name="Freeform 187"/>
              <p:cNvSpPr>
                <a:spLocks/>
              </p:cNvSpPr>
              <p:nvPr/>
            </p:nvSpPr>
            <p:spPr bwMode="auto">
              <a:xfrm>
                <a:off x="1302" y="2365"/>
                <a:ext cx="20" cy="18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2" y="3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18" y="3"/>
                  </a:cxn>
                  <a:cxn ang="0">
                    <a:pos x="20" y="9"/>
                  </a:cxn>
                  <a:cxn ang="0">
                    <a:pos x="18" y="15"/>
                  </a:cxn>
                  <a:cxn ang="0">
                    <a:pos x="13" y="18"/>
                  </a:cxn>
                  <a:cxn ang="0">
                    <a:pos x="7" y="18"/>
                  </a:cxn>
                  <a:cxn ang="0">
                    <a:pos x="2" y="15"/>
                  </a:cxn>
                  <a:cxn ang="0">
                    <a:pos x="0" y="9"/>
                  </a:cxn>
                </a:cxnLst>
                <a:rect l="0" t="0" r="r" b="b"/>
                <a:pathLst>
                  <a:path w="20" h="18">
                    <a:moveTo>
                      <a:pt x="0" y="9"/>
                    </a:moveTo>
                    <a:lnTo>
                      <a:pt x="2" y="3"/>
                    </a:lnTo>
                    <a:lnTo>
                      <a:pt x="7" y="0"/>
                    </a:lnTo>
                    <a:lnTo>
                      <a:pt x="13" y="0"/>
                    </a:lnTo>
                    <a:lnTo>
                      <a:pt x="18" y="3"/>
                    </a:lnTo>
                    <a:lnTo>
                      <a:pt x="20" y="9"/>
                    </a:lnTo>
                    <a:lnTo>
                      <a:pt x="18" y="15"/>
                    </a:lnTo>
                    <a:lnTo>
                      <a:pt x="13" y="18"/>
                    </a:lnTo>
                    <a:lnTo>
                      <a:pt x="7" y="18"/>
                    </a:lnTo>
                    <a:lnTo>
                      <a:pt x="2" y="1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6" name="Line 188"/>
              <p:cNvSpPr>
                <a:spLocks noChangeShapeType="1"/>
              </p:cNvSpPr>
              <p:nvPr/>
            </p:nvSpPr>
            <p:spPr bwMode="auto">
              <a:xfrm>
                <a:off x="1312" y="1859"/>
                <a:ext cx="1" cy="25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7" name="Line 189"/>
              <p:cNvSpPr>
                <a:spLocks noChangeShapeType="1"/>
              </p:cNvSpPr>
              <p:nvPr/>
            </p:nvSpPr>
            <p:spPr bwMode="auto">
              <a:xfrm flipV="1">
                <a:off x="1312" y="1682"/>
                <a:ext cx="1" cy="14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8" name="Rectangle 190"/>
              <p:cNvSpPr>
                <a:spLocks noChangeArrowheads="1"/>
              </p:cNvSpPr>
              <p:nvPr/>
            </p:nvSpPr>
            <p:spPr bwMode="auto">
              <a:xfrm>
                <a:off x="1133" y="1783"/>
                <a:ext cx="45" cy="124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 flipV="1">
                <a:off x="1156" y="1682"/>
                <a:ext cx="1" cy="10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0" name="Freeform 192"/>
              <p:cNvSpPr>
                <a:spLocks/>
              </p:cNvSpPr>
              <p:nvPr/>
            </p:nvSpPr>
            <p:spPr bwMode="auto">
              <a:xfrm>
                <a:off x="1156" y="1907"/>
                <a:ext cx="156" cy="7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7"/>
                  </a:cxn>
                  <a:cxn ang="0">
                    <a:pos x="156" y="77"/>
                  </a:cxn>
                </a:cxnLst>
                <a:rect l="0" t="0" r="r" b="b"/>
                <a:pathLst>
                  <a:path w="156" h="77">
                    <a:moveTo>
                      <a:pt x="0" y="0"/>
                    </a:moveTo>
                    <a:lnTo>
                      <a:pt x="0" y="77"/>
                    </a:lnTo>
                    <a:lnTo>
                      <a:pt x="156" y="77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1" name="Freeform 193"/>
              <p:cNvSpPr>
                <a:spLocks/>
              </p:cNvSpPr>
              <p:nvPr/>
            </p:nvSpPr>
            <p:spPr bwMode="auto">
              <a:xfrm>
                <a:off x="1145" y="1671"/>
                <a:ext cx="21" cy="20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2" y="3"/>
                  </a:cxn>
                  <a:cxn ang="0">
                    <a:pos x="7" y="0"/>
                  </a:cxn>
                  <a:cxn ang="0">
                    <a:pos x="14" y="0"/>
                  </a:cxn>
                  <a:cxn ang="0">
                    <a:pos x="18" y="3"/>
                  </a:cxn>
                  <a:cxn ang="0">
                    <a:pos x="21" y="10"/>
                  </a:cxn>
                  <a:cxn ang="0">
                    <a:pos x="18" y="16"/>
                  </a:cxn>
                  <a:cxn ang="0">
                    <a:pos x="14" y="20"/>
                  </a:cxn>
                  <a:cxn ang="0">
                    <a:pos x="7" y="20"/>
                  </a:cxn>
                  <a:cxn ang="0">
                    <a:pos x="2" y="16"/>
                  </a:cxn>
                  <a:cxn ang="0">
                    <a:pos x="0" y="10"/>
                  </a:cxn>
                </a:cxnLst>
                <a:rect l="0" t="0" r="r" b="b"/>
                <a:pathLst>
                  <a:path w="21" h="20">
                    <a:moveTo>
                      <a:pt x="0" y="10"/>
                    </a:moveTo>
                    <a:lnTo>
                      <a:pt x="2" y="3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18" y="3"/>
                    </a:lnTo>
                    <a:lnTo>
                      <a:pt x="21" y="10"/>
                    </a:lnTo>
                    <a:lnTo>
                      <a:pt x="18" y="16"/>
                    </a:lnTo>
                    <a:lnTo>
                      <a:pt x="14" y="20"/>
                    </a:lnTo>
                    <a:lnTo>
                      <a:pt x="7" y="20"/>
                    </a:lnTo>
                    <a:lnTo>
                      <a:pt x="2" y="1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2" name="Line 194"/>
              <p:cNvSpPr>
                <a:spLocks noChangeShapeType="1"/>
              </p:cNvSpPr>
              <p:nvPr/>
            </p:nvSpPr>
            <p:spPr bwMode="auto">
              <a:xfrm flipV="1">
                <a:off x="1925" y="1771"/>
                <a:ext cx="1" cy="8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3" name="Line 195"/>
              <p:cNvSpPr>
                <a:spLocks noChangeShapeType="1"/>
              </p:cNvSpPr>
              <p:nvPr/>
            </p:nvSpPr>
            <p:spPr bwMode="auto">
              <a:xfrm flipV="1">
                <a:off x="1943" y="1744"/>
                <a:ext cx="1" cy="138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4" name="Line 196"/>
              <p:cNvSpPr>
                <a:spLocks noChangeShapeType="1"/>
              </p:cNvSpPr>
              <p:nvPr/>
            </p:nvSpPr>
            <p:spPr bwMode="auto">
              <a:xfrm flipH="1" flipV="1">
                <a:off x="1943" y="1838"/>
                <a:ext cx="40" cy="28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5" name="Freeform 197"/>
              <p:cNvSpPr>
                <a:spLocks/>
              </p:cNvSpPr>
              <p:nvPr/>
            </p:nvSpPr>
            <p:spPr bwMode="auto">
              <a:xfrm>
                <a:off x="1971" y="1852"/>
                <a:ext cx="34" cy="3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4" y="30"/>
                  </a:cxn>
                  <a:cxn ang="0">
                    <a:pos x="0" y="25"/>
                  </a:cxn>
                  <a:cxn ang="0">
                    <a:pos x="18" y="0"/>
                  </a:cxn>
                </a:cxnLst>
                <a:rect l="0" t="0" r="r" b="b"/>
                <a:pathLst>
                  <a:path w="34" h="30">
                    <a:moveTo>
                      <a:pt x="18" y="0"/>
                    </a:moveTo>
                    <a:lnTo>
                      <a:pt x="34" y="30"/>
                    </a:lnTo>
                    <a:lnTo>
                      <a:pt x="0" y="25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6" name="Line 198"/>
              <p:cNvSpPr>
                <a:spLocks noChangeShapeType="1"/>
              </p:cNvSpPr>
              <p:nvPr/>
            </p:nvSpPr>
            <p:spPr bwMode="auto">
              <a:xfrm flipV="1">
                <a:off x="1943" y="1732"/>
                <a:ext cx="61" cy="5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7" name="Freeform 199"/>
              <p:cNvSpPr>
                <a:spLocks/>
              </p:cNvSpPr>
              <p:nvPr/>
            </p:nvSpPr>
            <p:spPr bwMode="auto">
              <a:xfrm>
                <a:off x="2035" y="1799"/>
                <a:ext cx="30" cy="28"/>
              </a:xfrm>
              <a:custGeom>
                <a:avLst/>
                <a:gdLst/>
                <a:ahLst/>
                <a:cxnLst>
                  <a:cxn ang="0">
                    <a:pos x="0" y="28"/>
                  </a:cxn>
                  <a:cxn ang="0">
                    <a:pos x="30" y="28"/>
                  </a:cxn>
                  <a:cxn ang="0">
                    <a:pos x="15" y="0"/>
                  </a:cxn>
                  <a:cxn ang="0">
                    <a:pos x="0" y="28"/>
                  </a:cxn>
                </a:cxnLst>
                <a:rect l="0" t="0" r="r" b="b"/>
                <a:pathLst>
                  <a:path w="30" h="28">
                    <a:moveTo>
                      <a:pt x="0" y="28"/>
                    </a:moveTo>
                    <a:lnTo>
                      <a:pt x="30" y="28"/>
                    </a:lnTo>
                    <a:lnTo>
                      <a:pt x="15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8" name="Line 200"/>
              <p:cNvSpPr>
                <a:spLocks noChangeShapeType="1"/>
              </p:cNvSpPr>
              <p:nvPr/>
            </p:nvSpPr>
            <p:spPr bwMode="auto">
              <a:xfrm flipH="1">
                <a:off x="1899" y="1771"/>
                <a:ext cx="2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9" name="Line 201"/>
              <p:cNvSpPr>
                <a:spLocks noChangeShapeType="1"/>
              </p:cNvSpPr>
              <p:nvPr/>
            </p:nvSpPr>
            <p:spPr bwMode="auto">
              <a:xfrm flipH="1">
                <a:off x="2033" y="1799"/>
                <a:ext cx="3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0" name="Freeform 202"/>
              <p:cNvSpPr>
                <a:spLocks/>
              </p:cNvSpPr>
              <p:nvPr/>
            </p:nvSpPr>
            <p:spPr bwMode="auto">
              <a:xfrm>
                <a:off x="2004" y="1732"/>
                <a:ext cx="46" cy="67"/>
              </a:xfrm>
              <a:custGeom>
                <a:avLst/>
                <a:gdLst/>
                <a:ahLst/>
                <a:cxnLst>
                  <a:cxn ang="0">
                    <a:pos x="46" y="67"/>
                  </a:cxn>
                  <a:cxn ang="0">
                    <a:pos x="46" y="0"/>
                  </a:cxn>
                  <a:cxn ang="0">
                    <a:pos x="0" y="0"/>
                  </a:cxn>
                </a:cxnLst>
                <a:rect l="0" t="0" r="r" b="b"/>
                <a:pathLst>
                  <a:path w="46" h="67">
                    <a:moveTo>
                      <a:pt x="46" y="67"/>
                    </a:moveTo>
                    <a:lnTo>
                      <a:pt x="46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1" name="Freeform 203"/>
              <p:cNvSpPr>
                <a:spLocks/>
              </p:cNvSpPr>
              <p:nvPr/>
            </p:nvSpPr>
            <p:spPr bwMode="auto">
              <a:xfrm>
                <a:off x="2005" y="1827"/>
                <a:ext cx="45" cy="55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45" y="55"/>
                  </a:cxn>
                  <a:cxn ang="0">
                    <a:pos x="0" y="55"/>
                  </a:cxn>
                </a:cxnLst>
                <a:rect l="0" t="0" r="r" b="b"/>
                <a:pathLst>
                  <a:path w="45" h="55">
                    <a:moveTo>
                      <a:pt x="45" y="0"/>
                    </a:moveTo>
                    <a:lnTo>
                      <a:pt x="45" y="55"/>
                    </a:lnTo>
                    <a:lnTo>
                      <a:pt x="0" y="55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2" name="Line 204"/>
              <p:cNvSpPr>
                <a:spLocks noChangeShapeType="1"/>
              </p:cNvSpPr>
              <p:nvPr/>
            </p:nvSpPr>
            <p:spPr bwMode="auto">
              <a:xfrm flipV="1">
                <a:off x="2004" y="2111"/>
                <a:ext cx="1" cy="5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3" name="Line 205"/>
              <p:cNvSpPr>
                <a:spLocks noChangeShapeType="1"/>
              </p:cNvSpPr>
              <p:nvPr/>
            </p:nvSpPr>
            <p:spPr bwMode="auto">
              <a:xfrm flipV="1">
                <a:off x="1925" y="2205"/>
                <a:ext cx="1" cy="8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4" name="Line 206"/>
              <p:cNvSpPr>
                <a:spLocks noChangeShapeType="1"/>
              </p:cNvSpPr>
              <p:nvPr/>
            </p:nvSpPr>
            <p:spPr bwMode="auto">
              <a:xfrm flipV="1">
                <a:off x="1943" y="2177"/>
                <a:ext cx="1" cy="13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5" name="Line 207"/>
              <p:cNvSpPr>
                <a:spLocks noChangeShapeType="1"/>
              </p:cNvSpPr>
              <p:nvPr/>
            </p:nvSpPr>
            <p:spPr bwMode="auto">
              <a:xfrm flipH="1" flipV="1">
                <a:off x="1943" y="2271"/>
                <a:ext cx="40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6" name="Freeform 208"/>
              <p:cNvSpPr>
                <a:spLocks/>
              </p:cNvSpPr>
              <p:nvPr/>
            </p:nvSpPr>
            <p:spPr bwMode="auto">
              <a:xfrm>
                <a:off x="1971" y="2285"/>
                <a:ext cx="34" cy="3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4" y="31"/>
                  </a:cxn>
                  <a:cxn ang="0">
                    <a:pos x="0" y="26"/>
                  </a:cxn>
                  <a:cxn ang="0">
                    <a:pos x="18" y="0"/>
                  </a:cxn>
                </a:cxnLst>
                <a:rect l="0" t="0" r="r" b="b"/>
                <a:pathLst>
                  <a:path w="34" h="31">
                    <a:moveTo>
                      <a:pt x="18" y="0"/>
                    </a:moveTo>
                    <a:lnTo>
                      <a:pt x="34" y="31"/>
                    </a:lnTo>
                    <a:lnTo>
                      <a:pt x="0" y="26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7" name="Line 209"/>
              <p:cNvSpPr>
                <a:spLocks noChangeShapeType="1"/>
              </p:cNvSpPr>
              <p:nvPr/>
            </p:nvSpPr>
            <p:spPr bwMode="auto">
              <a:xfrm flipV="1">
                <a:off x="1943" y="2166"/>
                <a:ext cx="61" cy="5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8" name="Freeform 210"/>
              <p:cNvSpPr>
                <a:spLocks/>
              </p:cNvSpPr>
              <p:nvPr/>
            </p:nvSpPr>
            <p:spPr bwMode="auto">
              <a:xfrm>
                <a:off x="2035" y="2233"/>
                <a:ext cx="30" cy="28"/>
              </a:xfrm>
              <a:custGeom>
                <a:avLst/>
                <a:gdLst/>
                <a:ahLst/>
                <a:cxnLst>
                  <a:cxn ang="0">
                    <a:pos x="0" y="28"/>
                  </a:cxn>
                  <a:cxn ang="0">
                    <a:pos x="30" y="28"/>
                  </a:cxn>
                  <a:cxn ang="0">
                    <a:pos x="15" y="0"/>
                  </a:cxn>
                  <a:cxn ang="0">
                    <a:pos x="0" y="28"/>
                  </a:cxn>
                </a:cxnLst>
                <a:rect l="0" t="0" r="r" b="b"/>
                <a:pathLst>
                  <a:path w="30" h="28">
                    <a:moveTo>
                      <a:pt x="0" y="28"/>
                    </a:moveTo>
                    <a:lnTo>
                      <a:pt x="30" y="28"/>
                    </a:lnTo>
                    <a:lnTo>
                      <a:pt x="15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9" name="Line 211"/>
              <p:cNvSpPr>
                <a:spLocks noChangeShapeType="1"/>
              </p:cNvSpPr>
              <p:nvPr/>
            </p:nvSpPr>
            <p:spPr bwMode="auto">
              <a:xfrm flipH="1">
                <a:off x="1899" y="2205"/>
                <a:ext cx="2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0" name="Line 212"/>
              <p:cNvSpPr>
                <a:spLocks noChangeShapeType="1"/>
              </p:cNvSpPr>
              <p:nvPr/>
            </p:nvSpPr>
            <p:spPr bwMode="auto">
              <a:xfrm flipH="1">
                <a:off x="2033" y="2233"/>
                <a:ext cx="3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1" name="Freeform 213"/>
              <p:cNvSpPr>
                <a:spLocks/>
              </p:cNvSpPr>
              <p:nvPr/>
            </p:nvSpPr>
            <p:spPr bwMode="auto">
              <a:xfrm>
                <a:off x="2004" y="2166"/>
                <a:ext cx="46" cy="67"/>
              </a:xfrm>
              <a:custGeom>
                <a:avLst/>
                <a:gdLst/>
                <a:ahLst/>
                <a:cxnLst>
                  <a:cxn ang="0">
                    <a:pos x="46" y="67"/>
                  </a:cxn>
                  <a:cxn ang="0">
                    <a:pos x="46" y="0"/>
                  </a:cxn>
                  <a:cxn ang="0">
                    <a:pos x="0" y="0"/>
                  </a:cxn>
                </a:cxnLst>
                <a:rect l="0" t="0" r="r" b="b"/>
                <a:pathLst>
                  <a:path w="46" h="67">
                    <a:moveTo>
                      <a:pt x="46" y="67"/>
                    </a:moveTo>
                    <a:lnTo>
                      <a:pt x="46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2" name="Freeform 214"/>
              <p:cNvSpPr>
                <a:spLocks/>
              </p:cNvSpPr>
              <p:nvPr/>
            </p:nvSpPr>
            <p:spPr bwMode="auto">
              <a:xfrm>
                <a:off x="2005" y="2261"/>
                <a:ext cx="45" cy="55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45" y="55"/>
                  </a:cxn>
                  <a:cxn ang="0">
                    <a:pos x="0" y="55"/>
                  </a:cxn>
                </a:cxnLst>
                <a:rect l="0" t="0" r="r" b="b"/>
                <a:pathLst>
                  <a:path w="45" h="55">
                    <a:moveTo>
                      <a:pt x="45" y="0"/>
                    </a:moveTo>
                    <a:lnTo>
                      <a:pt x="45" y="55"/>
                    </a:lnTo>
                    <a:lnTo>
                      <a:pt x="0" y="55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3" name="Line 215"/>
              <p:cNvSpPr>
                <a:spLocks noChangeShapeType="1"/>
              </p:cNvSpPr>
              <p:nvPr/>
            </p:nvSpPr>
            <p:spPr bwMode="auto">
              <a:xfrm flipV="1">
                <a:off x="2004" y="1679"/>
                <a:ext cx="1" cy="53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4" name="Line 216"/>
              <p:cNvSpPr>
                <a:spLocks noChangeShapeType="1"/>
              </p:cNvSpPr>
              <p:nvPr/>
            </p:nvSpPr>
            <p:spPr bwMode="auto">
              <a:xfrm>
                <a:off x="2004" y="2316"/>
                <a:ext cx="1" cy="5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5" name="Line 217"/>
              <p:cNvSpPr>
                <a:spLocks noChangeShapeType="1"/>
              </p:cNvSpPr>
              <p:nvPr/>
            </p:nvSpPr>
            <p:spPr bwMode="auto">
              <a:xfrm flipV="1">
                <a:off x="2004" y="1882"/>
                <a:ext cx="1" cy="2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6" name="Freeform 218"/>
              <p:cNvSpPr>
                <a:spLocks/>
              </p:cNvSpPr>
              <p:nvPr/>
            </p:nvSpPr>
            <p:spPr bwMode="auto">
              <a:xfrm>
                <a:off x="1995" y="2062"/>
                <a:ext cx="21" cy="19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2" y="3"/>
                  </a:cxn>
                  <a:cxn ang="0">
                    <a:pos x="7" y="0"/>
                  </a:cxn>
                  <a:cxn ang="0">
                    <a:pos x="14" y="0"/>
                  </a:cxn>
                  <a:cxn ang="0">
                    <a:pos x="18" y="3"/>
                  </a:cxn>
                  <a:cxn ang="0">
                    <a:pos x="21" y="9"/>
                  </a:cxn>
                  <a:cxn ang="0">
                    <a:pos x="18" y="16"/>
                  </a:cxn>
                  <a:cxn ang="0">
                    <a:pos x="14" y="19"/>
                  </a:cxn>
                  <a:cxn ang="0">
                    <a:pos x="7" y="19"/>
                  </a:cxn>
                  <a:cxn ang="0">
                    <a:pos x="2" y="16"/>
                  </a:cxn>
                  <a:cxn ang="0">
                    <a:pos x="0" y="9"/>
                  </a:cxn>
                </a:cxnLst>
                <a:rect l="0" t="0" r="r" b="b"/>
                <a:pathLst>
                  <a:path w="21" h="19">
                    <a:moveTo>
                      <a:pt x="0" y="9"/>
                    </a:moveTo>
                    <a:lnTo>
                      <a:pt x="2" y="3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18" y="3"/>
                    </a:lnTo>
                    <a:lnTo>
                      <a:pt x="21" y="9"/>
                    </a:lnTo>
                    <a:lnTo>
                      <a:pt x="18" y="16"/>
                    </a:lnTo>
                    <a:lnTo>
                      <a:pt x="14" y="19"/>
                    </a:lnTo>
                    <a:lnTo>
                      <a:pt x="7" y="19"/>
                    </a:lnTo>
                    <a:lnTo>
                      <a:pt x="2" y="1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7" name="Line 219"/>
              <p:cNvSpPr>
                <a:spLocks noChangeShapeType="1"/>
              </p:cNvSpPr>
              <p:nvPr/>
            </p:nvSpPr>
            <p:spPr bwMode="auto">
              <a:xfrm flipV="1">
                <a:off x="1689" y="1773"/>
                <a:ext cx="1" cy="85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8" name="Line 220"/>
              <p:cNvSpPr>
                <a:spLocks noChangeShapeType="1"/>
              </p:cNvSpPr>
              <p:nvPr/>
            </p:nvSpPr>
            <p:spPr bwMode="auto">
              <a:xfrm flipV="1">
                <a:off x="1707" y="1746"/>
                <a:ext cx="1" cy="13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9" name="Line 221"/>
              <p:cNvSpPr>
                <a:spLocks noChangeShapeType="1"/>
              </p:cNvSpPr>
              <p:nvPr/>
            </p:nvSpPr>
            <p:spPr bwMode="auto">
              <a:xfrm flipH="1" flipV="1">
                <a:off x="1707" y="1840"/>
                <a:ext cx="40" cy="2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270" name="Freeform 222"/>
            <p:cNvSpPr>
              <a:spLocks/>
            </p:cNvSpPr>
            <p:nvPr/>
          </p:nvSpPr>
          <p:spPr bwMode="auto">
            <a:xfrm>
              <a:off x="1735" y="1854"/>
              <a:ext cx="34" cy="3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34" y="31"/>
                </a:cxn>
                <a:cxn ang="0">
                  <a:pos x="0" y="26"/>
                </a:cxn>
                <a:cxn ang="0">
                  <a:pos x="18" y="0"/>
                </a:cxn>
              </a:cxnLst>
              <a:rect l="0" t="0" r="r" b="b"/>
              <a:pathLst>
                <a:path w="34" h="31">
                  <a:moveTo>
                    <a:pt x="18" y="0"/>
                  </a:moveTo>
                  <a:lnTo>
                    <a:pt x="34" y="31"/>
                  </a:lnTo>
                  <a:lnTo>
                    <a:pt x="0" y="2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1" name="Line 223"/>
            <p:cNvSpPr>
              <a:spLocks noChangeShapeType="1"/>
            </p:cNvSpPr>
            <p:nvPr/>
          </p:nvSpPr>
          <p:spPr bwMode="auto">
            <a:xfrm flipV="1">
              <a:off x="1707" y="1735"/>
              <a:ext cx="61" cy="5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2" name="Freeform 224"/>
            <p:cNvSpPr>
              <a:spLocks/>
            </p:cNvSpPr>
            <p:nvPr/>
          </p:nvSpPr>
          <p:spPr bwMode="auto">
            <a:xfrm>
              <a:off x="1799" y="1802"/>
              <a:ext cx="30" cy="28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30" y="28"/>
                </a:cxn>
                <a:cxn ang="0">
                  <a:pos x="15" y="0"/>
                </a:cxn>
                <a:cxn ang="0">
                  <a:pos x="0" y="28"/>
                </a:cxn>
              </a:cxnLst>
              <a:rect l="0" t="0" r="r" b="b"/>
              <a:pathLst>
                <a:path w="30" h="28">
                  <a:moveTo>
                    <a:pt x="0" y="28"/>
                  </a:moveTo>
                  <a:lnTo>
                    <a:pt x="30" y="28"/>
                  </a:lnTo>
                  <a:lnTo>
                    <a:pt x="15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3" name="Line 225"/>
            <p:cNvSpPr>
              <a:spLocks noChangeShapeType="1"/>
            </p:cNvSpPr>
            <p:nvPr/>
          </p:nvSpPr>
          <p:spPr bwMode="auto">
            <a:xfrm flipH="1">
              <a:off x="1664" y="1773"/>
              <a:ext cx="25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4" name="Line 226"/>
            <p:cNvSpPr>
              <a:spLocks noChangeShapeType="1"/>
            </p:cNvSpPr>
            <p:nvPr/>
          </p:nvSpPr>
          <p:spPr bwMode="auto">
            <a:xfrm flipH="1">
              <a:off x="1797" y="1802"/>
              <a:ext cx="3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5" name="Freeform 227"/>
            <p:cNvSpPr>
              <a:spLocks/>
            </p:cNvSpPr>
            <p:nvPr/>
          </p:nvSpPr>
          <p:spPr bwMode="auto">
            <a:xfrm>
              <a:off x="1768" y="1735"/>
              <a:ext cx="46" cy="67"/>
            </a:xfrm>
            <a:custGeom>
              <a:avLst/>
              <a:gdLst/>
              <a:ahLst/>
              <a:cxnLst>
                <a:cxn ang="0">
                  <a:pos x="46" y="67"/>
                </a:cxn>
                <a:cxn ang="0">
                  <a:pos x="46" y="0"/>
                </a:cxn>
                <a:cxn ang="0">
                  <a:pos x="0" y="0"/>
                </a:cxn>
              </a:cxnLst>
              <a:rect l="0" t="0" r="r" b="b"/>
              <a:pathLst>
                <a:path w="46" h="67">
                  <a:moveTo>
                    <a:pt x="46" y="67"/>
                  </a:moveTo>
                  <a:lnTo>
                    <a:pt x="46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6" name="Freeform 228"/>
            <p:cNvSpPr>
              <a:spLocks/>
            </p:cNvSpPr>
            <p:nvPr/>
          </p:nvSpPr>
          <p:spPr bwMode="auto">
            <a:xfrm>
              <a:off x="1769" y="1830"/>
              <a:ext cx="45" cy="55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5" y="55"/>
                </a:cxn>
                <a:cxn ang="0">
                  <a:pos x="0" y="55"/>
                </a:cxn>
              </a:cxnLst>
              <a:rect l="0" t="0" r="r" b="b"/>
              <a:pathLst>
                <a:path w="45" h="55">
                  <a:moveTo>
                    <a:pt x="45" y="0"/>
                  </a:moveTo>
                  <a:lnTo>
                    <a:pt x="45" y="55"/>
                  </a:lnTo>
                  <a:lnTo>
                    <a:pt x="0" y="55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7" name="Line 229"/>
            <p:cNvSpPr>
              <a:spLocks noChangeShapeType="1"/>
            </p:cNvSpPr>
            <p:nvPr/>
          </p:nvSpPr>
          <p:spPr bwMode="auto">
            <a:xfrm flipV="1">
              <a:off x="1768" y="2113"/>
              <a:ext cx="1" cy="5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8" name="Line 230"/>
            <p:cNvSpPr>
              <a:spLocks noChangeShapeType="1"/>
            </p:cNvSpPr>
            <p:nvPr/>
          </p:nvSpPr>
          <p:spPr bwMode="auto">
            <a:xfrm flipV="1">
              <a:off x="1689" y="2208"/>
              <a:ext cx="1" cy="8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9" name="Line 231"/>
            <p:cNvSpPr>
              <a:spLocks noChangeShapeType="1"/>
            </p:cNvSpPr>
            <p:nvPr/>
          </p:nvSpPr>
          <p:spPr bwMode="auto">
            <a:xfrm flipV="1">
              <a:off x="1707" y="2180"/>
              <a:ext cx="1" cy="14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0" name="Line 232"/>
            <p:cNvSpPr>
              <a:spLocks noChangeShapeType="1"/>
            </p:cNvSpPr>
            <p:nvPr/>
          </p:nvSpPr>
          <p:spPr bwMode="auto">
            <a:xfrm flipH="1" flipV="1">
              <a:off x="1707" y="2275"/>
              <a:ext cx="40" cy="2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1" name="Freeform 233"/>
            <p:cNvSpPr>
              <a:spLocks/>
            </p:cNvSpPr>
            <p:nvPr/>
          </p:nvSpPr>
          <p:spPr bwMode="auto">
            <a:xfrm>
              <a:off x="1735" y="2289"/>
              <a:ext cx="34" cy="3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34" y="31"/>
                </a:cxn>
                <a:cxn ang="0">
                  <a:pos x="0" y="25"/>
                </a:cxn>
                <a:cxn ang="0">
                  <a:pos x="18" y="0"/>
                </a:cxn>
              </a:cxnLst>
              <a:rect l="0" t="0" r="r" b="b"/>
              <a:pathLst>
                <a:path w="34" h="31">
                  <a:moveTo>
                    <a:pt x="18" y="0"/>
                  </a:moveTo>
                  <a:lnTo>
                    <a:pt x="34" y="31"/>
                  </a:lnTo>
                  <a:lnTo>
                    <a:pt x="0" y="25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2" name="Line 234"/>
            <p:cNvSpPr>
              <a:spLocks noChangeShapeType="1"/>
            </p:cNvSpPr>
            <p:nvPr/>
          </p:nvSpPr>
          <p:spPr bwMode="auto">
            <a:xfrm flipV="1">
              <a:off x="1707" y="2169"/>
              <a:ext cx="61" cy="5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3" name="Freeform 235"/>
            <p:cNvSpPr>
              <a:spLocks/>
            </p:cNvSpPr>
            <p:nvPr/>
          </p:nvSpPr>
          <p:spPr bwMode="auto">
            <a:xfrm>
              <a:off x="1799" y="2236"/>
              <a:ext cx="30" cy="27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30" y="27"/>
                </a:cxn>
                <a:cxn ang="0">
                  <a:pos x="15" y="0"/>
                </a:cxn>
                <a:cxn ang="0">
                  <a:pos x="0" y="27"/>
                </a:cxn>
              </a:cxnLst>
              <a:rect l="0" t="0" r="r" b="b"/>
              <a:pathLst>
                <a:path w="30" h="27">
                  <a:moveTo>
                    <a:pt x="0" y="27"/>
                  </a:moveTo>
                  <a:lnTo>
                    <a:pt x="30" y="27"/>
                  </a:lnTo>
                  <a:lnTo>
                    <a:pt x="15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4" name="Line 236"/>
            <p:cNvSpPr>
              <a:spLocks noChangeShapeType="1"/>
            </p:cNvSpPr>
            <p:nvPr/>
          </p:nvSpPr>
          <p:spPr bwMode="auto">
            <a:xfrm flipH="1">
              <a:off x="1664" y="2208"/>
              <a:ext cx="25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5" name="Line 237"/>
            <p:cNvSpPr>
              <a:spLocks noChangeShapeType="1"/>
            </p:cNvSpPr>
            <p:nvPr/>
          </p:nvSpPr>
          <p:spPr bwMode="auto">
            <a:xfrm flipH="1">
              <a:off x="1797" y="2236"/>
              <a:ext cx="3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6" name="Freeform 238"/>
            <p:cNvSpPr>
              <a:spLocks/>
            </p:cNvSpPr>
            <p:nvPr/>
          </p:nvSpPr>
          <p:spPr bwMode="auto">
            <a:xfrm>
              <a:off x="1768" y="2169"/>
              <a:ext cx="46" cy="67"/>
            </a:xfrm>
            <a:custGeom>
              <a:avLst/>
              <a:gdLst/>
              <a:ahLst/>
              <a:cxnLst>
                <a:cxn ang="0">
                  <a:pos x="46" y="67"/>
                </a:cxn>
                <a:cxn ang="0">
                  <a:pos x="46" y="0"/>
                </a:cxn>
                <a:cxn ang="0">
                  <a:pos x="0" y="0"/>
                </a:cxn>
              </a:cxnLst>
              <a:rect l="0" t="0" r="r" b="b"/>
              <a:pathLst>
                <a:path w="46" h="67">
                  <a:moveTo>
                    <a:pt x="46" y="67"/>
                  </a:moveTo>
                  <a:lnTo>
                    <a:pt x="46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7" name="Freeform 239"/>
            <p:cNvSpPr>
              <a:spLocks/>
            </p:cNvSpPr>
            <p:nvPr/>
          </p:nvSpPr>
          <p:spPr bwMode="auto">
            <a:xfrm>
              <a:off x="1769" y="2263"/>
              <a:ext cx="45" cy="57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5" y="57"/>
                </a:cxn>
                <a:cxn ang="0">
                  <a:pos x="0" y="57"/>
                </a:cxn>
              </a:cxnLst>
              <a:rect l="0" t="0" r="r" b="b"/>
              <a:pathLst>
                <a:path w="45" h="57">
                  <a:moveTo>
                    <a:pt x="45" y="0"/>
                  </a:moveTo>
                  <a:lnTo>
                    <a:pt x="45" y="57"/>
                  </a:lnTo>
                  <a:lnTo>
                    <a:pt x="0" y="57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8" name="Line 240"/>
            <p:cNvSpPr>
              <a:spLocks noChangeShapeType="1"/>
            </p:cNvSpPr>
            <p:nvPr/>
          </p:nvSpPr>
          <p:spPr bwMode="auto">
            <a:xfrm flipV="1">
              <a:off x="1768" y="1680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9" name="Line 241"/>
            <p:cNvSpPr>
              <a:spLocks noChangeShapeType="1"/>
            </p:cNvSpPr>
            <p:nvPr/>
          </p:nvSpPr>
          <p:spPr bwMode="auto">
            <a:xfrm>
              <a:off x="1768" y="2320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0" name="Line 242"/>
            <p:cNvSpPr>
              <a:spLocks noChangeShapeType="1"/>
            </p:cNvSpPr>
            <p:nvPr/>
          </p:nvSpPr>
          <p:spPr bwMode="auto">
            <a:xfrm flipV="1">
              <a:off x="1768" y="1885"/>
              <a:ext cx="1" cy="22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1" name="Freeform 243"/>
            <p:cNvSpPr>
              <a:spLocks/>
            </p:cNvSpPr>
            <p:nvPr/>
          </p:nvSpPr>
          <p:spPr bwMode="auto">
            <a:xfrm>
              <a:off x="1759" y="1672"/>
              <a:ext cx="21" cy="20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" y="4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8" y="4"/>
                </a:cxn>
                <a:cxn ang="0">
                  <a:pos x="21" y="9"/>
                </a:cxn>
                <a:cxn ang="0">
                  <a:pos x="18" y="15"/>
                </a:cxn>
                <a:cxn ang="0">
                  <a:pos x="14" y="20"/>
                </a:cxn>
                <a:cxn ang="0">
                  <a:pos x="8" y="20"/>
                </a:cxn>
                <a:cxn ang="0">
                  <a:pos x="2" y="15"/>
                </a:cxn>
                <a:cxn ang="0">
                  <a:pos x="0" y="9"/>
                </a:cxn>
              </a:cxnLst>
              <a:rect l="0" t="0" r="r" b="b"/>
              <a:pathLst>
                <a:path w="21" h="20">
                  <a:moveTo>
                    <a:pt x="0" y="9"/>
                  </a:moveTo>
                  <a:lnTo>
                    <a:pt x="2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4"/>
                  </a:lnTo>
                  <a:lnTo>
                    <a:pt x="21" y="9"/>
                  </a:lnTo>
                  <a:lnTo>
                    <a:pt x="18" y="15"/>
                  </a:lnTo>
                  <a:lnTo>
                    <a:pt x="14" y="20"/>
                  </a:lnTo>
                  <a:lnTo>
                    <a:pt x="8" y="20"/>
                  </a:lnTo>
                  <a:lnTo>
                    <a:pt x="2" y="1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2" name="Freeform 244"/>
            <p:cNvSpPr>
              <a:spLocks/>
            </p:cNvSpPr>
            <p:nvPr/>
          </p:nvSpPr>
          <p:spPr bwMode="auto">
            <a:xfrm>
              <a:off x="1758" y="2009"/>
              <a:ext cx="20" cy="19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" y="3"/>
                </a:cxn>
                <a:cxn ang="0">
                  <a:pos x="7" y="0"/>
                </a:cxn>
                <a:cxn ang="0">
                  <a:pos x="14" y="0"/>
                </a:cxn>
                <a:cxn ang="0">
                  <a:pos x="18" y="3"/>
                </a:cxn>
                <a:cxn ang="0">
                  <a:pos x="20" y="9"/>
                </a:cxn>
                <a:cxn ang="0">
                  <a:pos x="18" y="16"/>
                </a:cxn>
                <a:cxn ang="0">
                  <a:pos x="14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9"/>
                </a:cxn>
              </a:cxnLst>
              <a:rect l="0" t="0" r="r" b="b"/>
              <a:pathLst>
                <a:path w="20" h="19">
                  <a:moveTo>
                    <a:pt x="0" y="9"/>
                  </a:moveTo>
                  <a:lnTo>
                    <a:pt x="2" y="3"/>
                  </a:lnTo>
                  <a:lnTo>
                    <a:pt x="7" y="0"/>
                  </a:lnTo>
                  <a:lnTo>
                    <a:pt x="14" y="0"/>
                  </a:lnTo>
                  <a:lnTo>
                    <a:pt x="18" y="3"/>
                  </a:lnTo>
                  <a:lnTo>
                    <a:pt x="20" y="9"/>
                  </a:lnTo>
                  <a:lnTo>
                    <a:pt x="18" y="16"/>
                  </a:lnTo>
                  <a:lnTo>
                    <a:pt x="14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3" name="Freeform 245"/>
            <p:cNvSpPr>
              <a:spLocks/>
            </p:cNvSpPr>
            <p:nvPr/>
          </p:nvSpPr>
          <p:spPr bwMode="auto">
            <a:xfrm>
              <a:off x="1755" y="2362"/>
              <a:ext cx="21" cy="2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9" y="4"/>
                </a:cxn>
                <a:cxn ang="0">
                  <a:pos x="21" y="11"/>
                </a:cxn>
                <a:cxn ang="0">
                  <a:pos x="19" y="17"/>
                </a:cxn>
                <a:cxn ang="0">
                  <a:pos x="14" y="20"/>
                </a:cxn>
                <a:cxn ang="0">
                  <a:pos x="8" y="20"/>
                </a:cxn>
                <a:cxn ang="0">
                  <a:pos x="3" y="17"/>
                </a:cxn>
                <a:cxn ang="0">
                  <a:pos x="0" y="11"/>
                </a:cxn>
              </a:cxnLst>
              <a:rect l="0" t="0" r="r" b="b"/>
              <a:pathLst>
                <a:path w="21" h="20">
                  <a:moveTo>
                    <a:pt x="0" y="11"/>
                  </a:moveTo>
                  <a:lnTo>
                    <a:pt x="3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9" y="4"/>
                  </a:lnTo>
                  <a:lnTo>
                    <a:pt x="21" y="11"/>
                  </a:lnTo>
                  <a:lnTo>
                    <a:pt x="19" y="17"/>
                  </a:lnTo>
                  <a:lnTo>
                    <a:pt x="14" y="20"/>
                  </a:lnTo>
                  <a:lnTo>
                    <a:pt x="8" y="20"/>
                  </a:lnTo>
                  <a:lnTo>
                    <a:pt x="3" y="17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4" name="Line 246"/>
            <p:cNvSpPr>
              <a:spLocks noChangeShapeType="1"/>
            </p:cNvSpPr>
            <p:nvPr/>
          </p:nvSpPr>
          <p:spPr bwMode="auto">
            <a:xfrm flipV="1">
              <a:off x="1532" y="1680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5" name="Line 247"/>
            <p:cNvSpPr>
              <a:spLocks noChangeShapeType="1"/>
            </p:cNvSpPr>
            <p:nvPr/>
          </p:nvSpPr>
          <p:spPr bwMode="auto">
            <a:xfrm>
              <a:off x="1532" y="2320"/>
              <a:ext cx="1" cy="5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6" name="Line 248"/>
            <p:cNvSpPr>
              <a:spLocks noChangeShapeType="1"/>
            </p:cNvSpPr>
            <p:nvPr/>
          </p:nvSpPr>
          <p:spPr bwMode="auto">
            <a:xfrm flipV="1">
              <a:off x="1532" y="1885"/>
              <a:ext cx="1" cy="22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7" name="Line 249"/>
            <p:cNvSpPr>
              <a:spLocks noChangeShapeType="1"/>
            </p:cNvSpPr>
            <p:nvPr/>
          </p:nvSpPr>
          <p:spPr bwMode="auto">
            <a:xfrm flipV="1">
              <a:off x="1452" y="1773"/>
              <a:ext cx="1" cy="8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8" name="Line 250"/>
            <p:cNvSpPr>
              <a:spLocks noChangeShapeType="1"/>
            </p:cNvSpPr>
            <p:nvPr/>
          </p:nvSpPr>
          <p:spPr bwMode="auto">
            <a:xfrm flipV="1">
              <a:off x="1471" y="1746"/>
              <a:ext cx="1" cy="13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9" name="Line 251"/>
            <p:cNvSpPr>
              <a:spLocks noChangeShapeType="1"/>
            </p:cNvSpPr>
            <p:nvPr/>
          </p:nvSpPr>
          <p:spPr bwMode="auto">
            <a:xfrm flipH="1" flipV="1">
              <a:off x="1471" y="1840"/>
              <a:ext cx="41" cy="2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0" name="Freeform 252"/>
            <p:cNvSpPr>
              <a:spLocks/>
            </p:cNvSpPr>
            <p:nvPr/>
          </p:nvSpPr>
          <p:spPr bwMode="auto">
            <a:xfrm>
              <a:off x="1500" y="1854"/>
              <a:ext cx="34" cy="3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34" y="31"/>
                </a:cxn>
                <a:cxn ang="0">
                  <a:pos x="0" y="26"/>
                </a:cxn>
                <a:cxn ang="0">
                  <a:pos x="17" y="0"/>
                </a:cxn>
              </a:cxnLst>
              <a:rect l="0" t="0" r="r" b="b"/>
              <a:pathLst>
                <a:path w="34" h="31">
                  <a:moveTo>
                    <a:pt x="17" y="0"/>
                  </a:moveTo>
                  <a:lnTo>
                    <a:pt x="34" y="31"/>
                  </a:lnTo>
                  <a:lnTo>
                    <a:pt x="0" y="2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1" name="Line 253"/>
            <p:cNvSpPr>
              <a:spLocks noChangeShapeType="1"/>
            </p:cNvSpPr>
            <p:nvPr/>
          </p:nvSpPr>
          <p:spPr bwMode="auto">
            <a:xfrm flipV="1">
              <a:off x="1471" y="1735"/>
              <a:ext cx="61" cy="5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2" name="Freeform 254"/>
            <p:cNvSpPr>
              <a:spLocks/>
            </p:cNvSpPr>
            <p:nvPr/>
          </p:nvSpPr>
          <p:spPr bwMode="auto">
            <a:xfrm>
              <a:off x="1563" y="1802"/>
              <a:ext cx="31" cy="28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31" y="28"/>
                </a:cxn>
                <a:cxn ang="0">
                  <a:pos x="15" y="0"/>
                </a:cxn>
                <a:cxn ang="0">
                  <a:pos x="0" y="28"/>
                </a:cxn>
              </a:cxnLst>
              <a:rect l="0" t="0" r="r" b="b"/>
              <a:pathLst>
                <a:path w="31" h="28">
                  <a:moveTo>
                    <a:pt x="0" y="28"/>
                  </a:moveTo>
                  <a:lnTo>
                    <a:pt x="31" y="28"/>
                  </a:lnTo>
                  <a:lnTo>
                    <a:pt x="15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3" name="Line 255"/>
            <p:cNvSpPr>
              <a:spLocks noChangeShapeType="1"/>
            </p:cNvSpPr>
            <p:nvPr/>
          </p:nvSpPr>
          <p:spPr bwMode="auto">
            <a:xfrm flipH="1">
              <a:off x="1428" y="1773"/>
              <a:ext cx="2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4" name="Line 256"/>
            <p:cNvSpPr>
              <a:spLocks noChangeShapeType="1"/>
            </p:cNvSpPr>
            <p:nvPr/>
          </p:nvSpPr>
          <p:spPr bwMode="auto">
            <a:xfrm flipH="1">
              <a:off x="1561" y="1802"/>
              <a:ext cx="3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5" name="Freeform 257"/>
            <p:cNvSpPr>
              <a:spLocks/>
            </p:cNvSpPr>
            <p:nvPr/>
          </p:nvSpPr>
          <p:spPr bwMode="auto">
            <a:xfrm>
              <a:off x="1532" y="1735"/>
              <a:ext cx="46" cy="67"/>
            </a:xfrm>
            <a:custGeom>
              <a:avLst/>
              <a:gdLst/>
              <a:ahLst/>
              <a:cxnLst>
                <a:cxn ang="0">
                  <a:pos x="46" y="67"/>
                </a:cxn>
                <a:cxn ang="0">
                  <a:pos x="46" y="0"/>
                </a:cxn>
                <a:cxn ang="0">
                  <a:pos x="0" y="0"/>
                </a:cxn>
              </a:cxnLst>
              <a:rect l="0" t="0" r="r" b="b"/>
              <a:pathLst>
                <a:path w="46" h="67">
                  <a:moveTo>
                    <a:pt x="46" y="67"/>
                  </a:moveTo>
                  <a:lnTo>
                    <a:pt x="46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6" name="Freeform 258"/>
            <p:cNvSpPr>
              <a:spLocks/>
            </p:cNvSpPr>
            <p:nvPr/>
          </p:nvSpPr>
          <p:spPr bwMode="auto">
            <a:xfrm>
              <a:off x="1534" y="1830"/>
              <a:ext cx="44" cy="55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44" y="55"/>
                </a:cxn>
                <a:cxn ang="0">
                  <a:pos x="0" y="55"/>
                </a:cxn>
              </a:cxnLst>
              <a:rect l="0" t="0" r="r" b="b"/>
              <a:pathLst>
                <a:path w="44" h="55">
                  <a:moveTo>
                    <a:pt x="44" y="0"/>
                  </a:moveTo>
                  <a:lnTo>
                    <a:pt x="44" y="55"/>
                  </a:lnTo>
                  <a:lnTo>
                    <a:pt x="0" y="55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7" name="Line 259"/>
            <p:cNvSpPr>
              <a:spLocks noChangeShapeType="1"/>
            </p:cNvSpPr>
            <p:nvPr/>
          </p:nvSpPr>
          <p:spPr bwMode="auto">
            <a:xfrm flipV="1">
              <a:off x="1532" y="2113"/>
              <a:ext cx="1" cy="56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8" name="Line 260"/>
            <p:cNvSpPr>
              <a:spLocks noChangeShapeType="1"/>
            </p:cNvSpPr>
            <p:nvPr/>
          </p:nvSpPr>
          <p:spPr bwMode="auto">
            <a:xfrm flipV="1">
              <a:off x="1452" y="2208"/>
              <a:ext cx="1" cy="8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9" name="Line 261"/>
            <p:cNvSpPr>
              <a:spLocks noChangeShapeType="1"/>
            </p:cNvSpPr>
            <p:nvPr/>
          </p:nvSpPr>
          <p:spPr bwMode="auto">
            <a:xfrm flipV="1">
              <a:off x="1471" y="2180"/>
              <a:ext cx="1" cy="14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0" name="Line 262"/>
            <p:cNvSpPr>
              <a:spLocks noChangeShapeType="1"/>
            </p:cNvSpPr>
            <p:nvPr/>
          </p:nvSpPr>
          <p:spPr bwMode="auto">
            <a:xfrm flipH="1" flipV="1">
              <a:off x="1471" y="2275"/>
              <a:ext cx="41" cy="2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1" name="Freeform 263"/>
            <p:cNvSpPr>
              <a:spLocks/>
            </p:cNvSpPr>
            <p:nvPr/>
          </p:nvSpPr>
          <p:spPr bwMode="auto">
            <a:xfrm>
              <a:off x="1500" y="2289"/>
              <a:ext cx="34" cy="31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34" y="31"/>
                </a:cxn>
                <a:cxn ang="0">
                  <a:pos x="0" y="25"/>
                </a:cxn>
                <a:cxn ang="0">
                  <a:pos x="17" y="0"/>
                </a:cxn>
              </a:cxnLst>
              <a:rect l="0" t="0" r="r" b="b"/>
              <a:pathLst>
                <a:path w="34" h="31">
                  <a:moveTo>
                    <a:pt x="17" y="0"/>
                  </a:moveTo>
                  <a:lnTo>
                    <a:pt x="34" y="31"/>
                  </a:lnTo>
                  <a:lnTo>
                    <a:pt x="0" y="2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2" name="Line 264"/>
            <p:cNvSpPr>
              <a:spLocks noChangeShapeType="1"/>
            </p:cNvSpPr>
            <p:nvPr/>
          </p:nvSpPr>
          <p:spPr bwMode="auto">
            <a:xfrm flipV="1">
              <a:off x="1471" y="2169"/>
              <a:ext cx="61" cy="5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3" name="Freeform 265"/>
            <p:cNvSpPr>
              <a:spLocks/>
            </p:cNvSpPr>
            <p:nvPr/>
          </p:nvSpPr>
          <p:spPr bwMode="auto">
            <a:xfrm>
              <a:off x="1563" y="2236"/>
              <a:ext cx="31" cy="27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31" y="27"/>
                </a:cxn>
                <a:cxn ang="0">
                  <a:pos x="15" y="0"/>
                </a:cxn>
                <a:cxn ang="0">
                  <a:pos x="0" y="27"/>
                </a:cxn>
              </a:cxnLst>
              <a:rect l="0" t="0" r="r" b="b"/>
              <a:pathLst>
                <a:path w="31" h="27">
                  <a:moveTo>
                    <a:pt x="0" y="27"/>
                  </a:moveTo>
                  <a:lnTo>
                    <a:pt x="31" y="27"/>
                  </a:lnTo>
                  <a:lnTo>
                    <a:pt x="15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4" name="Line 266"/>
            <p:cNvSpPr>
              <a:spLocks noChangeShapeType="1"/>
            </p:cNvSpPr>
            <p:nvPr/>
          </p:nvSpPr>
          <p:spPr bwMode="auto">
            <a:xfrm flipH="1">
              <a:off x="1428" y="2208"/>
              <a:ext cx="2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5" name="Line 267"/>
            <p:cNvSpPr>
              <a:spLocks noChangeShapeType="1"/>
            </p:cNvSpPr>
            <p:nvPr/>
          </p:nvSpPr>
          <p:spPr bwMode="auto">
            <a:xfrm flipH="1">
              <a:off x="1561" y="2236"/>
              <a:ext cx="34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6" name="Freeform 268"/>
            <p:cNvSpPr>
              <a:spLocks/>
            </p:cNvSpPr>
            <p:nvPr/>
          </p:nvSpPr>
          <p:spPr bwMode="auto">
            <a:xfrm>
              <a:off x="1532" y="2169"/>
              <a:ext cx="46" cy="67"/>
            </a:xfrm>
            <a:custGeom>
              <a:avLst/>
              <a:gdLst/>
              <a:ahLst/>
              <a:cxnLst>
                <a:cxn ang="0">
                  <a:pos x="46" y="67"/>
                </a:cxn>
                <a:cxn ang="0">
                  <a:pos x="46" y="0"/>
                </a:cxn>
                <a:cxn ang="0">
                  <a:pos x="0" y="0"/>
                </a:cxn>
              </a:cxnLst>
              <a:rect l="0" t="0" r="r" b="b"/>
              <a:pathLst>
                <a:path w="46" h="67">
                  <a:moveTo>
                    <a:pt x="46" y="67"/>
                  </a:moveTo>
                  <a:lnTo>
                    <a:pt x="46" y="0"/>
                  </a:lnTo>
                  <a:lnTo>
                    <a:pt x="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7" name="Freeform 269"/>
            <p:cNvSpPr>
              <a:spLocks/>
            </p:cNvSpPr>
            <p:nvPr/>
          </p:nvSpPr>
          <p:spPr bwMode="auto">
            <a:xfrm>
              <a:off x="1534" y="2263"/>
              <a:ext cx="44" cy="57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44" y="57"/>
                </a:cxn>
                <a:cxn ang="0">
                  <a:pos x="0" y="57"/>
                </a:cxn>
              </a:cxnLst>
              <a:rect l="0" t="0" r="r" b="b"/>
              <a:pathLst>
                <a:path w="44" h="57">
                  <a:moveTo>
                    <a:pt x="44" y="0"/>
                  </a:moveTo>
                  <a:lnTo>
                    <a:pt x="44" y="57"/>
                  </a:lnTo>
                  <a:lnTo>
                    <a:pt x="0" y="57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8" name="Freeform 270"/>
            <p:cNvSpPr>
              <a:spLocks/>
            </p:cNvSpPr>
            <p:nvPr/>
          </p:nvSpPr>
          <p:spPr bwMode="auto">
            <a:xfrm>
              <a:off x="1522" y="1954"/>
              <a:ext cx="20" cy="2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" y="4"/>
                </a:cxn>
                <a:cxn ang="0">
                  <a:pos x="7" y="0"/>
                </a:cxn>
                <a:cxn ang="0">
                  <a:pos x="13" y="0"/>
                </a:cxn>
                <a:cxn ang="0">
                  <a:pos x="18" y="4"/>
                </a:cxn>
                <a:cxn ang="0">
                  <a:pos x="20" y="10"/>
                </a:cxn>
                <a:cxn ang="0">
                  <a:pos x="18" y="15"/>
                </a:cxn>
                <a:cxn ang="0">
                  <a:pos x="13" y="20"/>
                </a:cxn>
                <a:cxn ang="0">
                  <a:pos x="7" y="20"/>
                </a:cxn>
                <a:cxn ang="0">
                  <a:pos x="2" y="15"/>
                </a:cxn>
                <a:cxn ang="0">
                  <a:pos x="0" y="10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2" y="4"/>
                  </a:lnTo>
                  <a:lnTo>
                    <a:pt x="7" y="0"/>
                  </a:lnTo>
                  <a:lnTo>
                    <a:pt x="13" y="0"/>
                  </a:lnTo>
                  <a:lnTo>
                    <a:pt x="18" y="4"/>
                  </a:lnTo>
                  <a:lnTo>
                    <a:pt x="20" y="10"/>
                  </a:lnTo>
                  <a:lnTo>
                    <a:pt x="18" y="15"/>
                  </a:lnTo>
                  <a:lnTo>
                    <a:pt x="13" y="20"/>
                  </a:lnTo>
                  <a:lnTo>
                    <a:pt x="7" y="20"/>
                  </a:lnTo>
                  <a:lnTo>
                    <a:pt x="2" y="1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9" name="Freeform 271"/>
            <p:cNvSpPr>
              <a:spLocks/>
            </p:cNvSpPr>
            <p:nvPr/>
          </p:nvSpPr>
          <p:spPr bwMode="auto">
            <a:xfrm>
              <a:off x="1522" y="2365"/>
              <a:ext cx="20" cy="18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" y="3"/>
                </a:cxn>
                <a:cxn ang="0">
                  <a:pos x="7" y="0"/>
                </a:cxn>
                <a:cxn ang="0">
                  <a:pos x="13" y="0"/>
                </a:cxn>
                <a:cxn ang="0">
                  <a:pos x="18" y="3"/>
                </a:cxn>
                <a:cxn ang="0">
                  <a:pos x="20" y="9"/>
                </a:cxn>
                <a:cxn ang="0">
                  <a:pos x="18" y="15"/>
                </a:cxn>
                <a:cxn ang="0">
                  <a:pos x="13" y="18"/>
                </a:cxn>
                <a:cxn ang="0">
                  <a:pos x="7" y="18"/>
                </a:cxn>
                <a:cxn ang="0">
                  <a:pos x="2" y="15"/>
                </a:cxn>
                <a:cxn ang="0">
                  <a:pos x="0" y="9"/>
                </a:cxn>
              </a:cxnLst>
              <a:rect l="0" t="0" r="r" b="b"/>
              <a:pathLst>
                <a:path w="20" h="18">
                  <a:moveTo>
                    <a:pt x="0" y="9"/>
                  </a:moveTo>
                  <a:lnTo>
                    <a:pt x="2" y="3"/>
                  </a:lnTo>
                  <a:lnTo>
                    <a:pt x="7" y="0"/>
                  </a:lnTo>
                  <a:lnTo>
                    <a:pt x="13" y="0"/>
                  </a:lnTo>
                  <a:lnTo>
                    <a:pt x="18" y="3"/>
                  </a:lnTo>
                  <a:lnTo>
                    <a:pt x="20" y="9"/>
                  </a:lnTo>
                  <a:lnTo>
                    <a:pt x="18" y="15"/>
                  </a:lnTo>
                  <a:lnTo>
                    <a:pt x="13" y="18"/>
                  </a:lnTo>
                  <a:lnTo>
                    <a:pt x="7" y="18"/>
                  </a:lnTo>
                  <a:lnTo>
                    <a:pt x="2" y="1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0" name="Freeform 272"/>
            <p:cNvSpPr>
              <a:spLocks/>
            </p:cNvSpPr>
            <p:nvPr/>
          </p:nvSpPr>
          <p:spPr bwMode="auto">
            <a:xfrm>
              <a:off x="1522" y="1671"/>
              <a:ext cx="19" cy="2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1" y="3"/>
                </a:cxn>
                <a:cxn ang="0">
                  <a:pos x="7" y="0"/>
                </a:cxn>
                <a:cxn ang="0">
                  <a:pos x="12" y="0"/>
                </a:cxn>
                <a:cxn ang="0">
                  <a:pos x="18" y="3"/>
                </a:cxn>
                <a:cxn ang="0">
                  <a:pos x="19" y="10"/>
                </a:cxn>
                <a:cxn ang="0">
                  <a:pos x="18" y="16"/>
                </a:cxn>
                <a:cxn ang="0">
                  <a:pos x="12" y="20"/>
                </a:cxn>
                <a:cxn ang="0">
                  <a:pos x="7" y="20"/>
                </a:cxn>
                <a:cxn ang="0">
                  <a:pos x="1" y="16"/>
                </a:cxn>
                <a:cxn ang="0">
                  <a:pos x="0" y="10"/>
                </a:cxn>
              </a:cxnLst>
              <a:rect l="0" t="0" r="r" b="b"/>
              <a:pathLst>
                <a:path w="19" h="20">
                  <a:moveTo>
                    <a:pt x="0" y="10"/>
                  </a:moveTo>
                  <a:lnTo>
                    <a:pt x="1" y="3"/>
                  </a:lnTo>
                  <a:lnTo>
                    <a:pt x="7" y="0"/>
                  </a:lnTo>
                  <a:lnTo>
                    <a:pt x="12" y="0"/>
                  </a:lnTo>
                  <a:lnTo>
                    <a:pt x="18" y="3"/>
                  </a:lnTo>
                  <a:lnTo>
                    <a:pt x="19" y="10"/>
                  </a:lnTo>
                  <a:lnTo>
                    <a:pt x="18" y="16"/>
                  </a:lnTo>
                  <a:lnTo>
                    <a:pt x="12" y="20"/>
                  </a:lnTo>
                  <a:lnTo>
                    <a:pt x="7" y="20"/>
                  </a:lnTo>
                  <a:lnTo>
                    <a:pt x="1" y="1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1" name="Rectangle 273"/>
            <p:cNvSpPr>
              <a:spLocks noChangeArrowheads="1"/>
            </p:cNvSpPr>
            <p:nvPr/>
          </p:nvSpPr>
          <p:spPr bwMode="auto">
            <a:xfrm>
              <a:off x="212" y="1804"/>
              <a:ext cx="233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3</a:t>
              </a:r>
              <a:r>
                <a:rPr lang="ko-KR" altLang="en-US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상 </a:t>
              </a:r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380V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22" name="Rectangle 274"/>
            <p:cNvSpPr>
              <a:spLocks noChangeArrowheads="1"/>
            </p:cNvSpPr>
            <p:nvPr/>
          </p:nvSpPr>
          <p:spPr bwMode="auto">
            <a:xfrm>
              <a:off x="708" y="1473"/>
              <a:ext cx="177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DIODE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23" name="Rectangle 275"/>
            <p:cNvSpPr>
              <a:spLocks noChangeArrowheads="1"/>
            </p:cNvSpPr>
            <p:nvPr/>
          </p:nvSpPr>
          <p:spPr bwMode="auto">
            <a:xfrm>
              <a:off x="619" y="1542"/>
              <a:ext cx="349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CONVERTER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24" name="Rectangle 276"/>
            <p:cNvSpPr>
              <a:spLocks noChangeArrowheads="1"/>
            </p:cNvSpPr>
            <p:nvPr/>
          </p:nvSpPr>
          <p:spPr bwMode="auto">
            <a:xfrm>
              <a:off x="2114" y="1854"/>
              <a:ext cx="114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HCT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25" name="Rectangle 277"/>
            <p:cNvSpPr>
              <a:spLocks noChangeArrowheads="1"/>
            </p:cNvSpPr>
            <p:nvPr/>
          </p:nvSpPr>
          <p:spPr bwMode="auto">
            <a:xfrm>
              <a:off x="1428" y="2919"/>
              <a:ext cx="226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DPP-101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26" name="Rectangle 278"/>
            <p:cNvSpPr>
              <a:spLocks noChangeArrowheads="1"/>
            </p:cNvSpPr>
            <p:nvPr/>
          </p:nvSpPr>
          <p:spPr bwMode="auto">
            <a:xfrm>
              <a:off x="2532" y="2905"/>
              <a:ext cx="24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DPC-1XX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27" name="Freeform 279"/>
            <p:cNvSpPr>
              <a:spLocks/>
            </p:cNvSpPr>
            <p:nvPr/>
          </p:nvSpPr>
          <p:spPr bwMode="auto">
            <a:xfrm>
              <a:off x="1185" y="2208"/>
              <a:ext cx="21" cy="448"/>
            </a:xfrm>
            <a:custGeom>
              <a:avLst/>
              <a:gdLst/>
              <a:ahLst/>
              <a:cxnLst>
                <a:cxn ang="0">
                  <a:pos x="0" y="448"/>
                </a:cxn>
                <a:cxn ang="0">
                  <a:pos x="0" y="0"/>
                </a:cxn>
                <a:cxn ang="0">
                  <a:pos x="21" y="0"/>
                </a:cxn>
              </a:cxnLst>
              <a:rect l="0" t="0" r="r" b="b"/>
              <a:pathLst>
                <a:path w="21" h="448">
                  <a:moveTo>
                    <a:pt x="0" y="448"/>
                  </a:moveTo>
                  <a:lnTo>
                    <a:pt x="0" y="0"/>
                  </a:lnTo>
                  <a:lnTo>
                    <a:pt x="21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8" name="Freeform 280"/>
            <p:cNvSpPr>
              <a:spLocks/>
            </p:cNvSpPr>
            <p:nvPr/>
          </p:nvSpPr>
          <p:spPr bwMode="auto">
            <a:xfrm>
              <a:off x="1221" y="2374"/>
              <a:ext cx="91" cy="282"/>
            </a:xfrm>
            <a:custGeom>
              <a:avLst/>
              <a:gdLst/>
              <a:ahLst/>
              <a:cxnLst>
                <a:cxn ang="0">
                  <a:pos x="91" y="0"/>
                </a:cxn>
                <a:cxn ang="0">
                  <a:pos x="91" y="67"/>
                </a:cxn>
                <a:cxn ang="0">
                  <a:pos x="0" y="67"/>
                </a:cxn>
                <a:cxn ang="0">
                  <a:pos x="0" y="282"/>
                </a:cxn>
              </a:cxnLst>
              <a:rect l="0" t="0" r="r" b="b"/>
              <a:pathLst>
                <a:path w="91" h="282">
                  <a:moveTo>
                    <a:pt x="91" y="0"/>
                  </a:moveTo>
                  <a:lnTo>
                    <a:pt x="91" y="67"/>
                  </a:lnTo>
                  <a:lnTo>
                    <a:pt x="0" y="67"/>
                  </a:lnTo>
                  <a:lnTo>
                    <a:pt x="0" y="282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9" name="Rectangle 281"/>
            <p:cNvSpPr>
              <a:spLocks noChangeArrowheads="1"/>
            </p:cNvSpPr>
            <p:nvPr/>
          </p:nvSpPr>
          <p:spPr bwMode="auto">
            <a:xfrm rot="16200000">
              <a:off x="1090" y="2749"/>
              <a:ext cx="11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GP - 03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30" name="Rectangle 282"/>
            <p:cNvSpPr>
              <a:spLocks noChangeArrowheads="1"/>
            </p:cNvSpPr>
            <p:nvPr/>
          </p:nvSpPr>
          <p:spPr bwMode="auto">
            <a:xfrm rot="16200000">
              <a:off x="1126" y="2749"/>
              <a:ext cx="11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GP - 05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31" name="Rectangle 283"/>
            <p:cNvSpPr>
              <a:spLocks noChangeArrowheads="1"/>
            </p:cNvSpPr>
            <p:nvPr/>
          </p:nvSpPr>
          <p:spPr bwMode="auto">
            <a:xfrm rot="16200000">
              <a:off x="1162" y="2749"/>
              <a:ext cx="11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GP - 09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32" name="Rectangle 284"/>
            <p:cNvSpPr>
              <a:spLocks noChangeArrowheads="1"/>
            </p:cNvSpPr>
            <p:nvPr/>
          </p:nvSpPr>
          <p:spPr bwMode="auto">
            <a:xfrm>
              <a:off x="176" y="2790"/>
              <a:ext cx="25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단상 </a:t>
              </a:r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110V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33" name="Line 285"/>
            <p:cNvSpPr>
              <a:spLocks noChangeShapeType="1"/>
            </p:cNvSpPr>
            <p:nvPr/>
          </p:nvSpPr>
          <p:spPr bwMode="auto">
            <a:xfrm flipH="1">
              <a:off x="283" y="2912"/>
              <a:ext cx="22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4" name="Line 286"/>
            <p:cNvSpPr>
              <a:spLocks noChangeShapeType="1"/>
            </p:cNvSpPr>
            <p:nvPr/>
          </p:nvSpPr>
          <p:spPr bwMode="auto">
            <a:xfrm flipH="1">
              <a:off x="286" y="2997"/>
              <a:ext cx="22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5" name="Freeform 287"/>
            <p:cNvSpPr>
              <a:spLocks/>
            </p:cNvSpPr>
            <p:nvPr/>
          </p:nvSpPr>
          <p:spPr bwMode="auto">
            <a:xfrm>
              <a:off x="212" y="2882"/>
              <a:ext cx="149" cy="148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2" y="56"/>
                </a:cxn>
                <a:cxn ang="0">
                  <a:pos x="8" y="39"/>
                </a:cxn>
                <a:cxn ang="0">
                  <a:pos x="18" y="24"/>
                </a:cxn>
                <a:cxn ang="0">
                  <a:pos x="32" y="13"/>
                </a:cxn>
                <a:cxn ang="0">
                  <a:pos x="48" y="5"/>
                </a:cxn>
                <a:cxn ang="0">
                  <a:pos x="66" y="0"/>
                </a:cxn>
                <a:cxn ang="0">
                  <a:pos x="83" y="0"/>
                </a:cxn>
                <a:cxn ang="0">
                  <a:pos x="100" y="5"/>
                </a:cxn>
                <a:cxn ang="0">
                  <a:pos x="116" y="13"/>
                </a:cxn>
                <a:cxn ang="0">
                  <a:pos x="130" y="24"/>
                </a:cxn>
                <a:cxn ang="0">
                  <a:pos x="139" y="39"/>
                </a:cxn>
                <a:cxn ang="0">
                  <a:pos x="146" y="56"/>
                </a:cxn>
                <a:cxn ang="0">
                  <a:pos x="149" y="74"/>
                </a:cxn>
                <a:cxn ang="0">
                  <a:pos x="146" y="91"/>
                </a:cxn>
                <a:cxn ang="0">
                  <a:pos x="139" y="109"/>
                </a:cxn>
                <a:cxn ang="0">
                  <a:pos x="130" y="124"/>
                </a:cxn>
                <a:cxn ang="0">
                  <a:pos x="116" y="135"/>
                </a:cxn>
                <a:cxn ang="0">
                  <a:pos x="100" y="143"/>
                </a:cxn>
                <a:cxn ang="0">
                  <a:pos x="83" y="148"/>
                </a:cxn>
                <a:cxn ang="0">
                  <a:pos x="66" y="148"/>
                </a:cxn>
                <a:cxn ang="0">
                  <a:pos x="48" y="143"/>
                </a:cxn>
                <a:cxn ang="0">
                  <a:pos x="32" y="135"/>
                </a:cxn>
                <a:cxn ang="0">
                  <a:pos x="18" y="124"/>
                </a:cxn>
                <a:cxn ang="0">
                  <a:pos x="8" y="109"/>
                </a:cxn>
                <a:cxn ang="0">
                  <a:pos x="2" y="91"/>
                </a:cxn>
                <a:cxn ang="0">
                  <a:pos x="0" y="74"/>
                </a:cxn>
              </a:cxnLst>
              <a:rect l="0" t="0" r="r" b="b"/>
              <a:pathLst>
                <a:path w="149" h="148">
                  <a:moveTo>
                    <a:pt x="0" y="74"/>
                  </a:moveTo>
                  <a:lnTo>
                    <a:pt x="2" y="56"/>
                  </a:lnTo>
                  <a:lnTo>
                    <a:pt x="8" y="39"/>
                  </a:lnTo>
                  <a:lnTo>
                    <a:pt x="18" y="24"/>
                  </a:lnTo>
                  <a:lnTo>
                    <a:pt x="32" y="13"/>
                  </a:lnTo>
                  <a:lnTo>
                    <a:pt x="48" y="5"/>
                  </a:lnTo>
                  <a:lnTo>
                    <a:pt x="66" y="0"/>
                  </a:lnTo>
                  <a:lnTo>
                    <a:pt x="83" y="0"/>
                  </a:lnTo>
                  <a:lnTo>
                    <a:pt x="100" y="5"/>
                  </a:lnTo>
                  <a:lnTo>
                    <a:pt x="116" y="13"/>
                  </a:lnTo>
                  <a:lnTo>
                    <a:pt x="130" y="24"/>
                  </a:lnTo>
                  <a:lnTo>
                    <a:pt x="139" y="39"/>
                  </a:lnTo>
                  <a:lnTo>
                    <a:pt x="146" y="56"/>
                  </a:lnTo>
                  <a:lnTo>
                    <a:pt x="149" y="74"/>
                  </a:lnTo>
                  <a:lnTo>
                    <a:pt x="146" y="91"/>
                  </a:lnTo>
                  <a:lnTo>
                    <a:pt x="139" y="109"/>
                  </a:lnTo>
                  <a:lnTo>
                    <a:pt x="130" y="124"/>
                  </a:lnTo>
                  <a:lnTo>
                    <a:pt x="116" y="135"/>
                  </a:lnTo>
                  <a:lnTo>
                    <a:pt x="100" y="143"/>
                  </a:lnTo>
                  <a:lnTo>
                    <a:pt x="83" y="148"/>
                  </a:lnTo>
                  <a:lnTo>
                    <a:pt x="66" y="148"/>
                  </a:lnTo>
                  <a:lnTo>
                    <a:pt x="48" y="143"/>
                  </a:lnTo>
                  <a:lnTo>
                    <a:pt x="32" y="135"/>
                  </a:lnTo>
                  <a:lnTo>
                    <a:pt x="18" y="124"/>
                  </a:lnTo>
                  <a:lnTo>
                    <a:pt x="8" y="109"/>
                  </a:lnTo>
                  <a:lnTo>
                    <a:pt x="2" y="91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6" name="Freeform 288"/>
            <p:cNvSpPr>
              <a:spLocks/>
            </p:cNvSpPr>
            <p:nvPr/>
          </p:nvSpPr>
          <p:spPr bwMode="auto">
            <a:xfrm>
              <a:off x="257" y="2946"/>
              <a:ext cx="29" cy="10"/>
            </a:xfrm>
            <a:custGeom>
              <a:avLst/>
              <a:gdLst/>
              <a:ahLst/>
              <a:cxnLst>
                <a:cxn ang="0">
                  <a:pos x="29" y="10"/>
                </a:cxn>
                <a:cxn ang="0">
                  <a:pos x="25" y="3"/>
                </a:cxn>
                <a:cxn ang="0">
                  <a:pos x="18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0"/>
                </a:cxn>
              </a:cxnLst>
              <a:rect l="0" t="0" r="r" b="b"/>
              <a:pathLst>
                <a:path w="29" h="10">
                  <a:moveTo>
                    <a:pt x="29" y="10"/>
                  </a:moveTo>
                  <a:lnTo>
                    <a:pt x="25" y="3"/>
                  </a:lnTo>
                  <a:lnTo>
                    <a:pt x="18" y="0"/>
                  </a:lnTo>
                  <a:lnTo>
                    <a:pt x="10" y="0"/>
                  </a:lnTo>
                  <a:lnTo>
                    <a:pt x="3" y="3"/>
                  </a:lnTo>
                  <a:lnTo>
                    <a:pt x="0" y="1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7" name="Freeform 289"/>
            <p:cNvSpPr>
              <a:spLocks/>
            </p:cNvSpPr>
            <p:nvPr/>
          </p:nvSpPr>
          <p:spPr bwMode="auto">
            <a:xfrm>
              <a:off x="286" y="2956"/>
              <a:ext cx="30" cy="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6"/>
                </a:cxn>
                <a:cxn ang="0">
                  <a:pos x="15" y="8"/>
                </a:cxn>
                <a:cxn ang="0">
                  <a:pos x="24" y="6"/>
                </a:cxn>
                <a:cxn ang="0">
                  <a:pos x="30" y="0"/>
                </a:cxn>
              </a:cxnLst>
              <a:rect l="0" t="0" r="r" b="b"/>
              <a:pathLst>
                <a:path w="30" h="8">
                  <a:moveTo>
                    <a:pt x="0" y="0"/>
                  </a:moveTo>
                  <a:lnTo>
                    <a:pt x="7" y="6"/>
                  </a:lnTo>
                  <a:lnTo>
                    <a:pt x="15" y="8"/>
                  </a:lnTo>
                  <a:lnTo>
                    <a:pt x="24" y="6"/>
                  </a:lnTo>
                  <a:lnTo>
                    <a:pt x="3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8" name="Rectangle 290"/>
            <p:cNvSpPr>
              <a:spLocks noChangeArrowheads="1"/>
            </p:cNvSpPr>
            <p:nvPr/>
          </p:nvSpPr>
          <p:spPr bwMode="auto">
            <a:xfrm>
              <a:off x="586" y="2885"/>
              <a:ext cx="155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GATE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39" name="Rectangle 291"/>
            <p:cNvSpPr>
              <a:spLocks noChangeArrowheads="1"/>
            </p:cNvSpPr>
            <p:nvPr/>
          </p:nvSpPr>
          <p:spPr bwMode="auto">
            <a:xfrm>
              <a:off x="568" y="2954"/>
              <a:ext cx="19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TRANS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40" name="Rectangle 292"/>
            <p:cNvSpPr>
              <a:spLocks noChangeArrowheads="1"/>
            </p:cNvSpPr>
            <p:nvPr/>
          </p:nvSpPr>
          <p:spPr bwMode="auto">
            <a:xfrm>
              <a:off x="517" y="2657"/>
              <a:ext cx="286" cy="597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1" name="Rectangle 293"/>
            <p:cNvSpPr>
              <a:spLocks noChangeArrowheads="1"/>
            </p:cNvSpPr>
            <p:nvPr/>
          </p:nvSpPr>
          <p:spPr bwMode="auto">
            <a:xfrm>
              <a:off x="1083" y="3084"/>
              <a:ext cx="13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GXL - 09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42" name="Rectangle 294"/>
            <p:cNvSpPr>
              <a:spLocks noChangeArrowheads="1"/>
            </p:cNvSpPr>
            <p:nvPr/>
          </p:nvSpPr>
          <p:spPr bwMode="auto">
            <a:xfrm>
              <a:off x="1083" y="3130"/>
              <a:ext cx="13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GXL - 17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43" name="Rectangle 295"/>
            <p:cNvSpPr>
              <a:spLocks noChangeArrowheads="1"/>
            </p:cNvSpPr>
            <p:nvPr/>
          </p:nvSpPr>
          <p:spPr bwMode="auto">
            <a:xfrm>
              <a:off x="2332" y="2657"/>
              <a:ext cx="568" cy="597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4" name="Freeform 296"/>
            <p:cNvSpPr>
              <a:spLocks/>
            </p:cNvSpPr>
            <p:nvPr/>
          </p:nvSpPr>
          <p:spPr bwMode="auto">
            <a:xfrm>
              <a:off x="2041" y="2901"/>
              <a:ext cx="286" cy="110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88" y="0"/>
                </a:cxn>
                <a:cxn ang="0">
                  <a:pos x="70" y="27"/>
                </a:cxn>
                <a:cxn ang="0">
                  <a:pos x="214" y="27"/>
                </a:cxn>
                <a:cxn ang="0">
                  <a:pos x="197" y="0"/>
                </a:cxn>
                <a:cxn ang="0">
                  <a:pos x="286" y="55"/>
                </a:cxn>
                <a:cxn ang="0">
                  <a:pos x="197" y="110"/>
                </a:cxn>
                <a:cxn ang="0">
                  <a:pos x="214" y="83"/>
                </a:cxn>
                <a:cxn ang="0">
                  <a:pos x="70" y="83"/>
                </a:cxn>
                <a:cxn ang="0">
                  <a:pos x="88" y="110"/>
                </a:cxn>
                <a:cxn ang="0">
                  <a:pos x="0" y="55"/>
                </a:cxn>
              </a:cxnLst>
              <a:rect l="0" t="0" r="r" b="b"/>
              <a:pathLst>
                <a:path w="286" h="110">
                  <a:moveTo>
                    <a:pt x="0" y="55"/>
                  </a:moveTo>
                  <a:lnTo>
                    <a:pt x="88" y="0"/>
                  </a:lnTo>
                  <a:lnTo>
                    <a:pt x="70" y="27"/>
                  </a:lnTo>
                  <a:lnTo>
                    <a:pt x="214" y="27"/>
                  </a:lnTo>
                  <a:lnTo>
                    <a:pt x="197" y="0"/>
                  </a:lnTo>
                  <a:lnTo>
                    <a:pt x="286" y="55"/>
                  </a:lnTo>
                  <a:lnTo>
                    <a:pt x="197" y="110"/>
                  </a:lnTo>
                  <a:lnTo>
                    <a:pt x="214" y="83"/>
                  </a:lnTo>
                  <a:lnTo>
                    <a:pt x="70" y="83"/>
                  </a:lnTo>
                  <a:lnTo>
                    <a:pt x="88" y="11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5" name="Rectangle 297"/>
            <p:cNvSpPr>
              <a:spLocks noChangeArrowheads="1"/>
            </p:cNvSpPr>
            <p:nvPr/>
          </p:nvSpPr>
          <p:spPr bwMode="auto">
            <a:xfrm>
              <a:off x="1942" y="2924"/>
              <a:ext cx="56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VA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46" name="Rectangle 298"/>
            <p:cNvSpPr>
              <a:spLocks noChangeArrowheads="1"/>
            </p:cNvSpPr>
            <p:nvPr/>
          </p:nvSpPr>
          <p:spPr bwMode="auto">
            <a:xfrm>
              <a:off x="2350" y="2924"/>
              <a:ext cx="58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VG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47" name="Rectangle 299"/>
            <p:cNvSpPr>
              <a:spLocks noChangeArrowheads="1"/>
            </p:cNvSpPr>
            <p:nvPr/>
          </p:nvSpPr>
          <p:spPr bwMode="auto">
            <a:xfrm>
              <a:off x="1465" y="3006"/>
              <a:ext cx="162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(GDC)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48" name="Rectangle 300"/>
            <p:cNvSpPr>
              <a:spLocks noChangeArrowheads="1"/>
            </p:cNvSpPr>
            <p:nvPr/>
          </p:nvSpPr>
          <p:spPr bwMode="auto">
            <a:xfrm>
              <a:off x="2585" y="2985"/>
              <a:ext cx="13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(INV)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49" name="Freeform 301"/>
            <p:cNvSpPr>
              <a:spLocks/>
            </p:cNvSpPr>
            <p:nvPr/>
          </p:nvSpPr>
          <p:spPr bwMode="auto">
            <a:xfrm>
              <a:off x="2160" y="1992"/>
              <a:ext cx="303" cy="6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32"/>
                </a:cxn>
                <a:cxn ang="0">
                  <a:pos x="303" y="332"/>
                </a:cxn>
                <a:cxn ang="0">
                  <a:pos x="303" y="665"/>
                </a:cxn>
              </a:cxnLst>
              <a:rect l="0" t="0" r="r" b="b"/>
              <a:pathLst>
                <a:path w="303" h="665">
                  <a:moveTo>
                    <a:pt x="0" y="0"/>
                  </a:moveTo>
                  <a:lnTo>
                    <a:pt x="0" y="332"/>
                  </a:lnTo>
                  <a:lnTo>
                    <a:pt x="303" y="332"/>
                  </a:lnTo>
                  <a:lnTo>
                    <a:pt x="303" y="665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0" name="Freeform 302"/>
            <p:cNvSpPr>
              <a:spLocks/>
            </p:cNvSpPr>
            <p:nvPr/>
          </p:nvSpPr>
          <p:spPr bwMode="auto">
            <a:xfrm>
              <a:off x="2258" y="2050"/>
              <a:ext cx="297" cy="60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4"/>
                </a:cxn>
                <a:cxn ang="0">
                  <a:pos x="297" y="204"/>
                </a:cxn>
                <a:cxn ang="0">
                  <a:pos x="297" y="607"/>
                </a:cxn>
              </a:cxnLst>
              <a:rect l="0" t="0" r="r" b="b"/>
              <a:pathLst>
                <a:path w="297" h="607">
                  <a:moveTo>
                    <a:pt x="0" y="0"/>
                  </a:moveTo>
                  <a:lnTo>
                    <a:pt x="0" y="204"/>
                  </a:lnTo>
                  <a:lnTo>
                    <a:pt x="297" y="204"/>
                  </a:lnTo>
                  <a:lnTo>
                    <a:pt x="297" y="607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1" name="Rectangle 303"/>
            <p:cNvSpPr>
              <a:spLocks noChangeArrowheads="1"/>
            </p:cNvSpPr>
            <p:nvPr/>
          </p:nvSpPr>
          <p:spPr bwMode="auto">
            <a:xfrm rot="16200000">
              <a:off x="2398" y="2749"/>
              <a:ext cx="109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VB - 03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52" name="Rectangle 304"/>
            <p:cNvSpPr>
              <a:spLocks noChangeArrowheads="1"/>
            </p:cNvSpPr>
            <p:nvPr/>
          </p:nvSpPr>
          <p:spPr bwMode="auto">
            <a:xfrm rot="16200000">
              <a:off x="2489" y="2748"/>
              <a:ext cx="109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VB - 07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53" name="Freeform 305"/>
            <p:cNvSpPr>
              <a:spLocks/>
            </p:cNvSpPr>
            <p:nvPr/>
          </p:nvSpPr>
          <p:spPr bwMode="auto">
            <a:xfrm>
              <a:off x="1303" y="1671"/>
              <a:ext cx="19" cy="2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1" y="3"/>
                </a:cxn>
                <a:cxn ang="0">
                  <a:pos x="7" y="0"/>
                </a:cxn>
                <a:cxn ang="0">
                  <a:pos x="12" y="0"/>
                </a:cxn>
                <a:cxn ang="0">
                  <a:pos x="18" y="3"/>
                </a:cxn>
                <a:cxn ang="0">
                  <a:pos x="19" y="10"/>
                </a:cxn>
                <a:cxn ang="0">
                  <a:pos x="18" y="16"/>
                </a:cxn>
                <a:cxn ang="0">
                  <a:pos x="12" y="20"/>
                </a:cxn>
                <a:cxn ang="0">
                  <a:pos x="7" y="20"/>
                </a:cxn>
                <a:cxn ang="0">
                  <a:pos x="1" y="16"/>
                </a:cxn>
                <a:cxn ang="0">
                  <a:pos x="0" y="10"/>
                </a:cxn>
              </a:cxnLst>
              <a:rect l="0" t="0" r="r" b="b"/>
              <a:pathLst>
                <a:path w="19" h="20">
                  <a:moveTo>
                    <a:pt x="0" y="10"/>
                  </a:moveTo>
                  <a:lnTo>
                    <a:pt x="1" y="3"/>
                  </a:lnTo>
                  <a:lnTo>
                    <a:pt x="7" y="0"/>
                  </a:lnTo>
                  <a:lnTo>
                    <a:pt x="12" y="0"/>
                  </a:lnTo>
                  <a:lnTo>
                    <a:pt x="18" y="3"/>
                  </a:lnTo>
                  <a:lnTo>
                    <a:pt x="19" y="10"/>
                  </a:lnTo>
                  <a:lnTo>
                    <a:pt x="18" y="16"/>
                  </a:lnTo>
                  <a:lnTo>
                    <a:pt x="12" y="20"/>
                  </a:lnTo>
                  <a:lnTo>
                    <a:pt x="7" y="20"/>
                  </a:lnTo>
                  <a:lnTo>
                    <a:pt x="1" y="1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4" name="Freeform 306"/>
            <p:cNvSpPr>
              <a:spLocks/>
            </p:cNvSpPr>
            <p:nvPr/>
          </p:nvSpPr>
          <p:spPr bwMode="auto">
            <a:xfrm>
              <a:off x="1151" y="2120"/>
              <a:ext cx="160" cy="536"/>
            </a:xfrm>
            <a:custGeom>
              <a:avLst/>
              <a:gdLst/>
              <a:ahLst/>
              <a:cxnLst>
                <a:cxn ang="0">
                  <a:pos x="0" y="536"/>
                </a:cxn>
                <a:cxn ang="0">
                  <a:pos x="0" y="0"/>
                </a:cxn>
                <a:cxn ang="0">
                  <a:pos x="160" y="0"/>
                </a:cxn>
              </a:cxnLst>
              <a:rect l="0" t="0" r="r" b="b"/>
              <a:pathLst>
                <a:path w="160" h="536">
                  <a:moveTo>
                    <a:pt x="0" y="536"/>
                  </a:moveTo>
                  <a:lnTo>
                    <a:pt x="0" y="0"/>
                  </a:lnTo>
                  <a:lnTo>
                    <a:pt x="160" y="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5" name="Freeform 307"/>
            <p:cNvSpPr>
              <a:spLocks/>
            </p:cNvSpPr>
            <p:nvPr/>
          </p:nvSpPr>
          <p:spPr bwMode="auto">
            <a:xfrm>
              <a:off x="1303" y="2111"/>
              <a:ext cx="20" cy="20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" y="4"/>
                </a:cxn>
                <a:cxn ang="0">
                  <a:pos x="7" y="0"/>
                </a:cxn>
                <a:cxn ang="0">
                  <a:pos x="14" y="0"/>
                </a:cxn>
                <a:cxn ang="0">
                  <a:pos x="18" y="4"/>
                </a:cxn>
                <a:cxn ang="0">
                  <a:pos x="20" y="9"/>
                </a:cxn>
                <a:cxn ang="0">
                  <a:pos x="18" y="15"/>
                </a:cxn>
                <a:cxn ang="0">
                  <a:pos x="14" y="20"/>
                </a:cxn>
                <a:cxn ang="0">
                  <a:pos x="7" y="20"/>
                </a:cxn>
                <a:cxn ang="0">
                  <a:pos x="2" y="15"/>
                </a:cxn>
                <a:cxn ang="0">
                  <a:pos x="0" y="9"/>
                </a:cxn>
              </a:cxnLst>
              <a:rect l="0" t="0" r="r" b="b"/>
              <a:pathLst>
                <a:path w="20" h="20">
                  <a:moveTo>
                    <a:pt x="0" y="9"/>
                  </a:moveTo>
                  <a:lnTo>
                    <a:pt x="2" y="4"/>
                  </a:lnTo>
                  <a:lnTo>
                    <a:pt x="7" y="0"/>
                  </a:lnTo>
                  <a:lnTo>
                    <a:pt x="14" y="0"/>
                  </a:lnTo>
                  <a:lnTo>
                    <a:pt x="18" y="4"/>
                  </a:lnTo>
                  <a:lnTo>
                    <a:pt x="20" y="9"/>
                  </a:lnTo>
                  <a:lnTo>
                    <a:pt x="18" y="15"/>
                  </a:lnTo>
                  <a:lnTo>
                    <a:pt x="14" y="20"/>
                  </a:lnTo>
                  <a:lnTo>
                    <a:pt x="7" y="20"/>
                  </a:lnTo>
                  <a:lnTo>
                    <a:pt x="2" y="1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1A1A1A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6" name="Freeform 308"/>
            <p:cNvSpPr>
              <a:spLocks/>
            </p:cNvSpPr>
            <p:nvPr/>
          </p:nvSpPr>
          <p:spPr bwMode="auto">
            <a:xfrm>
              <a:off x="1230" y="1707"/>
              <a:ext cx="144" cy="642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0" y="0"/>
                </a:cxn>
                <a:cxn ang="0">
                  <a:pos x="144" y="0"/>
                </a:cxn>
                <a:cxn ang="0">
                  <a:pos x="144" y="642"/>
                </a:cxn>
              </a:cxnLst>
              <a:rect l="0" t="0" r="r" b="b"/>
              <a:pathLst>
                <a:path w="144" h="642">
                  <a:moveTo>
                    <a:pt x="0" y="348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642"/>
                  </a:lnTo>
                </a:path>
              </a:pathLst>
            </a:custGeom>
            <a:noFill/>
            <a:ln w="1588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7" name="Freeform 309"/>
            <p:cNvSpPr>
              <a:spLocks/>
            </p:cNvSpPr>
            <p:nvPr/>
          </p:nvSpPr>
          <p:spPr bwMode="auto">
            <a:xfrm>
              <a:off x="1117" y="2055"/>
              <a:ext cx="257" cy="294"/>
            </a:xfrm>
            <a:custGeom>
              <a:avLst/>
              <a:gdLst/>
              <a:ahLst/>
              <a:cxnLst>
                <a:cxn ang="0">
                  <a:pos x="257" y="294"/>
                </a:cxn>
                <a:cxn ang="0">
                  <a:pos x="0" y="294"/>
                </a:cxn>
                <a:cxn ang="0">
                  <a:pos x="0" y="0"/>
                </a:cxn>
                <a:cxn ang="0">
                  <a:pos x="113" y="0"/>
                </a:cxn>
              </a:cxnLst>
              <a:rect l="0" t="0" r="r" b="b"/>
              <a:pathLst>
                <a:path w="257" h="294">
                  <a:moveTo>
                    <a:pt x="257" y="294"/>
                  </a:moveTo>
                  <a:lnTo>
                    <a:pt x="0" y="294"/>
                  </a:lnTo>
                  <a:lnTo>
                    <a:pt x="0" y="0"/>
                  </a:lnTo>
                  <a:lnTo>
                    <a:pt x="113" y="0"/>
                  </a:lnTo>
                </a:path>
              </a:pathLst>
            </a:custGeom>
            <a:noFill/>
            <a:ln w="1588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8" name="Rectangle 310"/>
            <p:cNvSpPr>
              <a:spLocks noChangeArrowheads="1"/>
            </p:cNvSpPr>
            <p:nvPr/>
          </p:nvSpPr>
          <p:spPr bwMode="auto">
            <a:xfrm>
              <a:off x="935" y="1411"/>
              <a:ext cx="240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회생 저항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59" name="Line 311"/>
            <p:cNvSpPr>
              <a:spLocks noChangeShapeType="1"/>
            </p:cNvSpPr>
            <p:nvPr/>
          </p:nvSpPr>
          <p:spPr bwMode="auto">
            <a:xfrm>
              <a:off x="1031" y="1489"/>
              <a:ext cx="74" cy="258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0" name="Freeform 312"/>
            <p:cNvSpPr>
              <a:spLocks/>
            </p:cNvSpPr>
            <p:nvPr/>
          </p:nvSpPr>
          <p:spPr bwMode="auto">
            <a:xfrm>
              <a:off x="1090" y="1740"/>
              <a:ext cx="25" cy="29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0" y="29"/>
                </a:cxn>
                <a:cxn ang="0">
                  <a:pos x="0" y="7"/>
                </a:cxn>
                <a:cxn ang="0">
                  <a:pos x="25" y="0"/>
                </a:cxn>
              </a:cxnLst>
              <a:rect l="0" t="0" r="r" b="b"/>
              <a:pathLst>
                <a:path w="25" h="29">
                  <a:moveTo>
                    <a:pt x="25" y="0"/>
                  </a:moveTo>
                  <a:lnTo>
                    <a:pt x="20" y="29"/>
                  </a:lnTo>
                  <a:lnTo>
                    <a:pt x="0" y="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1" name="Freeform 313"/>
            <p:cNvSpPr>
              <a:spLocks/>
            </p:cNvSpPr>
            <p:nvPr/>
          </p:nvSpPr>
          <p:spPr bwMode="auto">
            <a:xfrm>
              <a:off x="2228" y="1545"/>
              <a:ext cx="544" cy="184"/>
            </a:xfrm>
            <a:custGeom>
              <a:avLst/>
              <a:gdLst/>
              <a:ahLst/>
              <a:cxnLst>
                <a:cxn ang="0">
                  <a:pos x="475" y="184"/>
                </a:cxn>
                <a:cxn ang="0">
                  <a:pos x="491" y="181"/>
                </a:cxn>
                <a:cxn ang="0">
                  <a:pos x="505" y="177"/>
                </a:cxn>
                <a:cxn ang="0">
                  <a:pos x="518" y="169"/>
                </a:cxn>
                <a:cxn ang="0">
                  <a:pos x="530" y="158"/>
                </a:cxn>
                <a:cxn ang="0">
                  <a:pos x="538" y="144"/>
                </a:cxn>
                <a:cxn ang="0">
                  <a:pos x="542" y="131"/>
                </a:cxn>
                <a:cxn ang="0">
                  <a:pos x="544" y="116"/>
                </a:cxn>
                <a:cxn ang="0">
                  <a:pos x="544" y="69"/>
                </a:cxn>
                <a:cxn ang="0">
                  <a:pos x="542" y="53"/>
                </a:cxn>
                <a:cxn ang="0">
                  <a:pos x="538" y="39"/>
                </a:cxn>
                <a:cxn ang="0">
                  <a:pos x="530" y="27"/>
                </a:cxn>
                <a:cxn ang="0">
                  <a:pos x="518" y="15"/>
                </a:cxn>
                <a:cxn ang="0">
                  <a:pos x="505" y="7"/>
                </a:cxn>
                <a:cxn ang="0">
                  <a:pos x="491" y="3"/>
                </a:cxn>
                <a:cxn ang="0">
                  <a:pos x="475" y="0"/>
                </a:cxn>
                <a:cxn ang="0">
                  <a:pos x="68" y="0"/>
                </a:cxn>
                <a:cxn ang="0">
                  <a:pos x="53" y="3"/>
                </a:cxn>
                <a:cxn ang="0">
                  <a:pos x="39" y="7"/>
                </a:cxn>
                <a:cxn ang="0">
                  <a:pos x="25" y="15"/>
                </a:cxn>
                <a:cxn ang="0">
                  <a:pos x="15" y="27"/>
                </a:cxn>
                <a:cxn ang="0">
                  <a:pos x="7" y="39"/>
                </a:cxn>
                <a:cxn ang="0">
                  <a:pos x="2" y="53"/>
                </a:cxn>
                <a:cxn ang="0">
                  <a:pos x="0" y="69"/>
                </a:cxn>
                <a:cxn ang="0">
                  <a:pos x="0" y="116"/>
                </a:cxn>
                <a:cxn ang="0">
                  <a:pos x="2" y="131"/>
                </a:cxn>
                <a:cxn ang="0">
                  <a:pos x="7" y="144"/>
                </a:cxn>
                <a:cxn ang="0">
                  <a:pos x="15" y="158"/>
                </a:cxn>
                <a:cxn ang="0">
                  <a:pos x="25" y="169"/>
                </a:cxn>
                <a:cxn ang="0">
                  <a:pos x="39" y="177"/>
                </a:cxn>
                <a:cxn ang="0">
                  <a:pos x="53" y="181"/>
                </a:cxn>
                <a:cxn ang="0">
                  <a:pos x="68" y="184"/>
                </a:cxn>
                <a:cxn ang="0">
                  <a:pos x="475" y="184"/>
                </a:cxn>
              </a:cxnLst>
              <a:rect l="0" t="0" r="r" b="b"/>
              <a:pathLst>
                <a:path w="544" h="184">
                  <a:moveTo>
                    <a:pt x="475" y="184"/>
                  </a:moveTo>
                  <a:lnTo>
                    <a:pt x="491" y="181"/>
                  </a:lnTo>
                  <a:lnTo>
                    <a:pt x="505" y="177"/>
                  </a:lnTo>
                  <a:lnTo>
                    <a:pt x="518" y="169"/>
                  </a:lnTo>
                  <a:lnTo>
                    <a:pt x="530" y="158"/>
                  </a:lnTo>
                  <a:lnTo>
                    <a:pt x="538" y="144"/>
                  </a:lnTo>
                  <a:lnTo>
                    <a:pt x="542" y="131"/>
                  </a:lnTo>
                  <a:lnTo>
                    <a:pt x="544" y="116"/>
                  </a:lnTo>
                  <a:lnTo>
                    <a:pt x="544" y="69"/>
                  </a:lnTo>
                  <a:lnTo>
                    <a:pt x="542" y="53"/>
                  </a:lnTo>
                  <a:lnTo>
                    <a:pt x="538" y="39"/>
                  </a:lnTo>
                  <a:lnTo>
                    <a:pt x="530" y="27"/>
                  </a:lnTo>
                  <a:lnTo>
                    <a:pt x="518" y="15"/>
                  </a:lnTo>
                  <a:lnTo>
                    <a:pt x="505" y="7"/>
                  </a:lnTo>
                  <a:lnTo>
                    <a:pt x="491" y="3"/>
                  </a:lnTo>
                  <a:lnTo>
                    <a:pt x="475" y="0"/>
                  </a:lnTo>
                  <a:lnTo>
                    <a:pt x="68" y="0"/>
                  </a:lnTo>
                  <a:lnTo>
                    <a:pt x="53" y="3"/>
                  </a:lnTo>
                  <a:lnTo>
                    <a:pt x="39" y="7"/>
                  </a:lnTo>
                  <a:lnTo>
                    <a:pt x="25" y="15"/>
                  </a:lnTo>
                  <a:lnTo>
                    <a:pt x="15" y="27"/>
                  </a:lnTo>
                  <a:lnTo>
                    <a:pt x="7" y="39"/>
                  </a:lnTo>
                  <a:lnTo>
                    <a:pt x="2" y="53"/>
                  </a:lnTo>
                  <a:lnTo>
                    <a:pt x="0" y="69"/>
                  </a:lnTo>
                  <a:lnTo>
                    <a:pt x="0" y="116"/>
                  </a:lnTo>
                  <a:lnTo>
                    <a:pt x="2" y="131"/>
                  </a:lnTo>
                  <a:lnTo>
                    <a:pt x="7" y="144"/>
                  </a:lnTo>
                  <a:lnTo>
                    <a:pt x="15" y="158"/>
                  </a:lnTo>
                  <a:lnTo>
                    <a:pt x="25" y="169"/>
                  </a:lnTo>
                  <a:lnTo>
                    <a:pt x="39" y="177"/>
                  </a:lnTo>
                  <a:lnTo>
                    <a:pt x="53" y="181"/>
                  </a:lnTo>
                  <a:lnTo>
                    <a:pt x="68" y="184"/>
                  </a:lnTo>
                  <a:lnTo>
                    <a:pt x="475" y="184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2" name="Rectangle 314"/>
            <p:cNvSpPr>
              <a:spLocks noChangeArrowheads="1"/>
            </p:cNvSpPr>
            <p:nvPr/>
          </p:nvSpPr>
          <p:spPr bwMode="auto">
            <a:xfrm>
              <a:off x="2405" y="1550"/>
              <a:ext cx="160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리액터는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63" name="Rectangle 315"/>
            <p:cNvSpPr>
              <a:spLocks noChangeArrowheads="1"/>
            </p:cNvSpPr>
            <p:nvPr/>
          </p:nvSpPr>
          <p:spPr bwMode="auto">
            <a:xfrm>
              <a:off x="2336" y="1607"/>
              <a:ext cx="275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모터용량 </a:t>
              </a:r>
              <a:r>
                <a:rPr lang="en-US" altLang="ko-KR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15kW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64" name="Rectangle 316"/>
            <p:cNvSpPr>
              <a:spLocks noChangeArrowheads="1"/>
            </p:cNvSpPr>
            <p:nvPr/>
          </p:nvSpPr>
          <p:spPr bwMode="auto">
            <a:xfrm>
              <a:off x="2352" y="1665"/>
              <a:ext cx="251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 b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이상에만 채용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65" name="Line 317"/>
            <p:cNvSpPr>
              <a:spLocks noChangeShapeType="1"/>
            </p:cNvSpPr>
            <p:nvPr/>
          </p:nvSpPr>
          <p:spPr bwMode="auto">
            <a:xfrm flipH="1">
              <a:off x="2429" y="1729"/>
              <a:ext cx="70" cy="160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6" name="Freeform 318"/>
            <p:cNvSpPr>
              <a:spLocks/>
            </p:cNvSpPr>
            <p:nvPr/>
          </p:nvSpPr>
          <p:spPr bwMode="auto">
            <a:xfrm>
              <a:off x="2419" y="1881"/>
              <a:ext cx="24" cy="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8"/>
                </a:cxn>
                <a:cxn ang="0">
                  <a:pos x="24" y="10"/>
                </a:cxn>
                <a:cxn ang="0">
                  <a:pos x="0" y="0"/>
                </a:cxn>
              </a:cxnLst>
              <a:rect l="0" t="0" r="r" b="b"/>
              <a:pathLst>
                <a:path w="24" h="28">
                  <a:moveTo>
                    <a:pt x="0" y="0"/>
                  </a:moveTo>
                  <a:lnTo>
                    <a:pt x="1" y="28"/>
                  </a:lnTo>
                  <a:lnTo>
                    <a:pt x="24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367" name="Rectangle 319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36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HCT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미삽입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[ER_INV_H_CT]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57200" y="838200"/>
            <a:ext cx="44196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DPC-111 B/D VB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미삽입 검출</a:t>
            </a:r>
          </a:p>
          <a:p>
            <a:pPr defTabSz="873125" eaLnBrk="0" latinLnBrk="0" hangingPunct="0"/>
            <a:r>
              <a:rPr lang="ko-KR" altLang="en-US" sz="1000">
                <a:latin typeface="Arial" charset="0"/>
                <a:ea typeface="굴림체" pitchFamily="49" charset="-127"/>
              </a:rPr>
              <a:t>전류 제어용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DPC-111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커넥터가 연결되지 않았을 때 검출</a:t>
            </a:r>
            <a:endParaRPr lang="ko-KR" altLang="en-US" sz="900" b="1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09600" y="2462213"/>
            <a:ext cx="3582988" cy="1787525"/>
            <a:chOff x="384" y="1551"/>
            <a:chExt cx="2257" cy="1126"/>
          </a:xfrm>
        </p:grpSpPr>
        <p:sp>
          <p:nvSpPr>
            <p:cNvPr id="2068" name="Rectangle 20"/>
            <p:cNvSpPr>
              <a:spLocks noChangeArrowheads="1"/>
            </p:cNvSpPr>
            <p:nvPr/>
          </p:nvSpPr>
          <p:spPr bwMode="auto">
            <a:xfrm>
              <a:off x="1449" y="1551"/>
              <a:ext cx="1192" cy="1126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69" name="Rectangle 21"/>
            <p:cNvSpPr>
              <a:spLocks noChangeArrowheads="1"/>
            </p:cNvSpPr>
            <p:nvPr/>
          </p:nvSpPr>
          <p:spPr bwMode="auto">
            <a:xfrm>
              <a:off x="2159" y="1618"/>
              <a:ext cx="382" cy="138"/>
            </a:xfrm>
            <a:prstGeom prst="rect">
              <a:avLst/>
            </a:prstGeom>
            <a:solidFill>
              <a:srgbClr val="E6E6E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2190" y="1640"/>
              <a:ext cx="34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10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DPC-1XX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1" name="Rectangle 23"/>
            <p:cNvSpPr>
              <a:spLocks noChangeArrowheads="1"/>
            </p:cNvSpPr>
            <p:nvPr/>
          </p:nvSpPr>
          <p:spPr bwMode="auto">
            <a:xfrm>
              <a:off x="1594" y="1653"/>
              <a:ext cx="8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VB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72" name="Rectangle 24"/>
            <p:cNvSpPr>
              <a:spLocks noChangeArrowheads="1"/>
            </p:cNvSpPr>
            <p:nvPr/>
          </p:nvSpPr>
          <p:spPr bwMode="auto">
            <a:xfrm>
              <a:off x="1492" y="1754"/>
              <a:ext cx="258" cy="527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 flipH="1">
              <a:off x="1492" y="1799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1496" y="1847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 flipH="1">
              <a:off x="1496" y="1907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 flipH="1">
              <a:off x="1492" y="1961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7" name="Line 29"/>
            <p:cNvSpPr>
              <a:spLocks noChangeShapeType="1"/>
            </p:cNvSpPr>
            <p:nvPr/>
          </p:nvSpPr>
          <p:spPr bwMode="auto">
            <a:xfrm flipH="1">
              <a:off x="1492" y="2010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 flipH="1">
              <a:off x="1493" y="2066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 flipH="1">
              <a:off x="1496" y="2121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H="1">
              <a:off x="1492" y="2177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 flipH="1">
              <a:off x="1492" y="2224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2" name="Rectangle 34"/>
            <p:cNvSpPr>
              <a:spLocks noChangeArrowheads="1"/>
            </p:cNvSpPr>
            <p:nvPr/>
          </p:nvSpPr>
          <p:spPr bwMode="auto">
            <a:xfrm>
              <a:off x="1592" y="1751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01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3" name="Rectangle 35"/>
            <p:cNvSpPr>
              <a:spLocks noChangeArrowheads="1"/>
            </p:cNvSpPr>
            <p:nvPr/>
          </p:nvSpPr>
          <p:spPr bwMode="auto">
            <a:xfrm>
              <a:off x="1592" y="1805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02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4" name="Rectangle 36"/>
            <p:cNvSpPr>
              <a:spLocks noChangeArrowheads="1"/>
            </p:cNvSpPr>
            <p:nvPr/>
          </p:nvSpPr>
          <p:spPr bwMode="auto">
            <a:xfrm>
              <a:off x="1592" y="1858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03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1592" y="1912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04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1592" y="1966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05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7" name="Rectangle 39"/>
            <p:cNvSpPr>
              <a:spLocks noChangeArrowheads="1"/>
            </p:cNvSpPr>
            <p:nvPr/>
          </p:nvSpPr>
          <p:spPr bwMode="auto">
            <a:xfrm>
              <a:off x="1592" y="2020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06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8" name="Rectangle 40"/>
            <p:cNvSpPr>
              <a:spLocks noChangeArrowheads="1"/>
            </p:cNvSpPr>
            <p:nvPr/>
          </p:nvSpPr>
          <p:spPr bwMode="auto">
            <a:xfrm>
              <a:off x="1592" y="2073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07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9" name="Rectangle 41"/>
            <p:cNvSpPr>
              <a:spLocks noChangeArrowheads="1"/>
            </p:cNvSpPr>
            <p:nvPr/>
          </p:nvSpPr>
          <p:spPr bwMode="auto">
            <a:xfrm>
              <a:off x="1592" y="2127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08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0" name="Rectangle 42"/>
            <p:cNvSpPr>
              <a:spLocks noChangeArrowheads="1"/>
            </p:cNvSpPr>
            <p:nvPr/>
          </p:nvSpPr>
          <p:spPr bwMode="auto">
            <a:xfrm>
              <a:off x="1592" y="2181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09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1" name="Rectangle 43"/>
            <p:cNvSpPr>
              <a:spLocks noChangeArrowheads="1"/>
            </p:cNvSpPr>
            <p:nvPr/>
          </p:nvSpPr>
          <p:spPr bwMode="auto">
            <a:xfrm>
              <a:off x="1592" y="2235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10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2" name="Rectangle 44"/>
            <p:cNvSpPr>
              <a:spLocks noChangeArrowheads="1"/>
            </p:cNvSpPr>
            <p:nvPr/>
          </p:nvSpPr>
          <p:spPr bwMode="auto">
            <a:xfrm>
              <a:off x="1063" y="1748"/>
              <a:ext cx="258" cy="533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3" name="Line 45"/>
            <p:cNvSpPr>
              <a:spLocks noChangeShapeType="1"/>
            </p:cNvSpPr>
            <p:nvPr/>
          </p:nvSpPr>
          <p:spPr bwMode="auto">
            <a:xfrm flipH="1">
              <a:off x="1063" y="1799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 flipH="1">
              <a:off x="1067" y="1848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5" name="Line 47"/>
            <p:cNvSpPr>
              <a:spLocks noChangeShapeType="1"/>
            </p:cNvSpPr>
            <p:nvPr/>
          </p:nvSpPr>
          <p:spPr bwMode="auto">
            <a:xfrm flipH="1">
              <a:off x="1067" y="1908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 flipH="1">
              <a:off x="1063" y="1962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7" name="Line 49"/>
            <p:cNvSpPr>
              <a:spLocks noChangeShapeType="1"/>
            </p:cNvSpPr>
            <p:nvPr/>
          </p:nvSpPr>
          <p:spPr bwMode="auto">
            <a:xfrm flipH="1">
              <a:off x="1063" y="2010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8" name="Line 50"/>
            <p:cNvSpPr>
              <a:spLocks noChangeShapeType="1"/>
            </p:cNvSpPr>
            <p:nvPr/>
          </p:nvSpPr>
          <p:spPr bwMode="auto">
            <a:xfrm flipH="1">
              <a:off x="1064" y="2067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 flipH="1">
              <a:off x="1067" y="2122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0" name="Line 52"/>
            <p:cNvSpPr>
              <a:spLocks noChangeShapeType="1"/>
            </p:cNvSpPr>
            <p:nvPr/>
          </p:nvSpPr>
          <p:spPr bwMode="auto">
            <a:xfrm flipH="1">
              <a:off x="1063" y="2177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1" name="Line 53"/>
            <p:cNvSpPr>
              <a:spLocks noChangeShapeType="1"/>
            </p:cNvSpPr>
            <p:nvPr/>
          </p:nvSpPr>
          <p:spPr bwMode="auto">
            <a:xfrm flipH="1">
              <a:off x="1063" y="2224"/>
              <a:ext cx="2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1164" y="1743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01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1164" y="1796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02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4" name="Rectangle 56"/>
            <p:cNvSpPr>
              <a:spLocks noChangeArrowheads="1"/>
            </p:cNvSpPr>
            <p:nvPr/>
          </p:nvSpPr>
          <p:spPr bwMode="auto">
            <a:xfrm>
              <a:off x="1164" y="1850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03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5" name="Rectangle 57"/>
            <p:cNvSpPr>
              <a:spLocks noChangeArrowheads="1"/>
            </p:cNvSpPr>
            <p:nvPr/>
          </p:nvSpPr>
          <p:spPr bwMode="auto">
            <a:xfrm>
              <a:off x="1164" y="1904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04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6" name="Rectangle 58"/>
            <p:cNvSpPr>
              <a:spLocks noChangeArrowheads="1"/>
            </p:cNvSpPr>
            <p:nvPr/>
          </p:nvSpPr>
          <p:spPr bwMode="auto">
            <a:xfrm>
              <a:off x="1164" y="1958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05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7" name="Rectangle 59"/>
            <p:cNvSpPr>
              <a:spLocks noChangeArrowheads="1"/>
            </p:cNvSpPr>
            <p:nvPr/>
          </p:nvSpPr>
          <p:spPr bwMode="auto">
            <a:xfrm>
              <a:off x="1164" y="2012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06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8" name="Rectangle 60"/>
            <p:cNvSpPr>
              <a:spLocks noChangeArrowheads="1"/>
            </p:cNvSpPr>
            <p:nvPr/>
          </p:nvSpPr>
          <p:spPr bwMode="auto">
            <a:xfrm>
              <a:off x="1164" y="2065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07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09" name="Rectangle 61"/>
            <p:cNvSpPr>
              <a:spLocks noChangeArrowheads="1"/>
            </p:cNvSpPr>
            <p:nvPr/>
          </p:nvSpPr>
          <p:spPr bwMode="auto">
            <a:xfrm>
              <a:off x="1164" y="2119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08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10" name="Rectangle 62"/>
            <p:cNvSpPr>
              <a:spLocks noChangeArrowheads="1"/>
            </p:cNvSpPr>
            <p:nvPr/>
          </p:nvSpPr>
          <p:spPr bwMode="auto">
            <a:xfrm>
              <a:off x="1164" y="2173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09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11" name="Rectangle 63"/>
            <p:cNvSpPr>
              <a:spLocks noChangeArrowheads="1"/>
            </p:cNvSpPr>
            <p:nvPr/>
          </p:nvSpPr>
          <p:spPr bwMode="auto">
            <a:xfrm>
              <a:off x="1164" y="2227"/>
              <a:ext cx="4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10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12" name="Rectangle 64"/>
            <p:cNvSpPr>
              <a:spLocks noChangeArrowheads="1"/>
            </p:cNvSpPr>
            <p:nvPr/>
          </p:nvSpPr>
          <p:spPr bwMode="auto">
            <a:xfrm>
              <a:off x="384" y="2309"/>
              <a:ext cx="37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커넥터 </a:t>
              </a:r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CHECK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13" name="Rectangle 65"/>
            <p:cNvSpPr>
              <a:spLocks noChangeArrowheads="1"/>
            </p:cNvSpPr>
            <p:nvPr/>
          </p:nvSpPr>
          <p:spPr bwMode="auto">
            <a:xfrm>
              <a:off x="750" y="2298"/>
              <a:ext cx="8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 </a:t>
              </a:r>
              <a:r>
                <a:rPr lang="ko-KR" altLang="en-US" sz="8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용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14" name="Rectangle 66"/>
            <p:cNvSpPr>
              <a:spLocks noChangeArrowheads="1"/>
            </p:cNvSpPr>
            <p:nvPr/>
          </p:nvSpPr>
          <p:spPr bwMode="auto">
            <a:xfrm>
              <a:off x="491" y="2380"/>
              <a:ext cx="229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JUMPER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15" name="Line 67"/>
            <p:cNvSpPr>
              <a:spLocks noChangeShapeType="1"/>
            </p:cNvSpPr>
            <p:nvPr/>
          </p:nvSpPr>
          <p:spPr bwMode="auto">
            <a:xfrm flipV="1">
              <a:off x="843" y="2269"/>
              <a:ext cx="91" cy="59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919" y="2256"/>
              <a:ext cx="35" cy="30"/>
            </a:xfrm>
            <a:custGeom>
              <a:avLst/>
              <a:gdLst/>
              <a:ahLst/>
              <a:cxnLst>
                <a:cxn ang="0">
                  <a:pos x="16" y="30"/>
                </a:cxn>
                <a:cxn ang="0">
                  <a:pos x="35" y="0"/>
                </a:cxn>
                <a:cxn ang="0">
                  <a:pos x="0" y="5"/>
                </a:cxn>
                <a:cxn ang="0">
                  <a:pos x="2" y="6"/>
                </a:cxn>
                <a:cxn ang="0">
                  <a:pos x="4" y="7"/>
                </a:cxn>
                <a:cxn ang="0">
                  <a:pos x="6" y="9"/>
                </a:cxn>
                <a:cxn ang="0">
                  <a:pos x="8" y="11"/>
                </a:cxn>
                <a:cxn ang="0">
                  <a:pos x="10" y="13"/>
                </a:cxn>
                <a:cxn ang="0">
                  <a:pos x="11" y="14"/>
                </a:cxn>
                <a:cxn ang="0">
                  <a:pos x="12" y="17"/>
                </a:cxn>
                <a:cxn ang="0">
                  <a:pos x="14" y="19"/>
                </a:cxn>
                <a:cxn ang="0">
                  <a:pos x="15" y="21"/>
                </a:cxn>
                <a:cxn ang="0">
                  <a:pos x="15" y="23"/>
                </a:cxn>
                <a:cxn ang="0">
                  <a:pos x="16" y="26"/>
                </a:cxn>
                <a:cxn ang="0">
                  <a:pos x="16" y="29"/>
                </a:cxn>
                <a:cxn ang="0">
                  <a:pos x="16" y="30"/>
                </a:cxn>
              </a:cxnLst>
              <a:rect l="0" t="0" r="r" b="b"/>
              <a:pathLst>
                <a:path w="35" h="30">
                  <a:moveTo>
                    <a:pt x="16" y="30"/>
                  </a:moveTo>
                  <a:lnTo>
                    <a:pt x="35" y="0"/>
                  </a:lnTo>
                  <a:lnTo>
                    <a:pt x="0" y="5"/>
                  </a:lnTo>
                  <a:lnTo>
                    <a:pt x="2" y="6"/>
                  </a:lnTo>
                  <a:lnTo>
                    <a:pt x="4" y="7"/>
                  </a:lnTo>
                  <a:lnTo>
                    <a:pt x="6" y="9"/>
                  </a:lnTo>
                  <a:lnTo>
                    <a:pt x="8" y="11"/>
                  </a:lnTo>
                  <a:lnTo>
                    <a:pt x="10" y="13"/>
                  </a:lnTo>
                  <a:lnTo>
                    <a:pt x="11" y="14"/>
                  </a:lnTo>
                  <a:lnTo>
                    <a:pt x="12" y="17"/>
                  </a:lnTo>
                  <a:lnTo>
                    <a:pt x="14" y="19"/>
                  </a:lnTo>
                  <a:lnTo>
                    <a:pt x="15" y="21"/>
                  </a:lnTo>
                  <a:lnTo>
                    <a:pt x="15" y="23"/>
                  </a:lnTo>
                  <a:lnTo>
                    <a:pt x="16" y="26"/>
                  </a:lnTo>
                  <a:lnTo>
                    <a:pt x="16" y="29"/>
                  </a:lnTo>
                  <a:lnTo>
                    <a:pt x="16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7" name="Line 69"/>
            <p:cNvSpPr>
              <a:spLocks noChangeShapeType="1"/>
            </p:cNvSpPr>
            <p:nvPr/>
          </p:nvSpPr>
          <p:spPr bwMode="auto">
            <a:xfrm>
              <a:off x="2075" y="2015"/>
              <a:ext cx="1" cy="7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8" name="Line 70"/>
            <p:cNvSpPr>
              <a:spLocks noChangeShapeType="1"/>
            </p:cNvSpPr>
            <p:nvPr/>
          </p:nvSpPr>
          <p:spPr bwMode="auto">
            <a:xfrm>
              <a:off x="2075" y="2173"/>
              <a:ext cx="1" cy="7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9" name="Rectangle 71"/>
            <p:cNvSpPr>
              <a:spLocks noChangeArrowheads="1"/>
            </p:cNvSpPr>
            <p:nvPr/>
          </p:nvSpPr>
          <p:spPr bwMode="auto">
            <a:xfrm>
              <a:off x="2060" y="2087"/>
              <a:ext cx="30" cy="86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20" name="Rectangle 72"/>
            <p:cNvSpPr>
              <a:spLocks noChangeArrowheads="1"/>
            </p:cNvSpPr>
            <p:nvPr/>
          </p:nvSpPr>
          <p:spPr bwMode="auto">
            <a:xfrm>
              <a:off x="2099" y="2109"/>
              <a:ext cx="77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R107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21" name="Line 73"/>
            <p:cNvSpPr>
              <a:spLocks noChangeShapeType="1"/>
            </p:cNvSpPr>
            <p:nvPr/>
          </p:nvSpPr>
          <p:spPr bwMode="auto">
            <a:xfrm flipH="1">
              <a:off x="1747" y="2246"/>
              <a:ext cx="712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22" name="Freeform 74"/>
            <p:cNvSpPr>
              <a:spLocks/>
            </p:cNvSpPr>
            <p:nvPr/>
          </p:nvSpPr>
          <p:spPr bwMode="auto">
            <a:xfrm>
              <a:off x="2456" y="2235"/>
              <a:ext cx="23" cy="2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11"/>
                </a:cxn>
                <a:cxn ang="0">
                  <a:pos x="0" y="23"/>
                </a:cxn>
                <a:cxn ang="0">
                  <a:pos x="0" y="0"/>
                </a:cxn>
              </a:cxnLst>
              <a:rect l="0" t="0" r="r" b="b"/>
              <a:pathLst>
                <a:path w="23" h="23">
                  <a:moveTo>
                    <a:pt x="0" y="0"/>
                  </a:moveTo>
                  <a:lnTo>
                    <a:pt x="23" y="11"/>
                  </a:lnTo>
                  <a:lnTo>
                    <a:pt x="0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23" name="Rectangle 75"/>
            <p:cNvSpPr>
              <a:spLocks noChangeArrowheads="1"/>
            </p:cNvSpPr>
            <p:nvPr/>
          </p:nvSpPr>
          <p:spPr bwMode="auto">
            <a:xfrm>
              <a:off x="2106" y="1962"/>
              <a:ext cx="71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15V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2075" y="2246"/>
              <a:ext cx="1" cy="5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2075" y="2305"/>
              <a:ext cx="1" cy="5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2057" y="2305"/>
              <a:ext cx="35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" y="0"/>
                </a:cxn>
                <a:cxn ang="0">
                  <a:pos x="0" y="0"/>
                </a:cxn>
              </a:cxnLst>
              <a:rect l="0" t="0" r="r" b="b"/>
              <a:pathLst>
                <a:path w="35">
                  <a:moveTo>
                    <a:pt x="0" y="0"/>
                  </a:moveTo>
                  <a:lnTo>
                    <a:pt x="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27" name="Line 79"/>
            <p:cNvSpPr>
              <a:spLocks noChangeShapeType="1"/>
            </p:cNvSpPr>
            <p:nvPr/>
          </p:nvSpPr>
          <p:spPr bwMode="auto">
            <a:xfrm>
              <a:off x="2057" y="2305"/>
              <a:ext cx="3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28" name="Line 80"/>
            <p:cNvSpPr>
              <a:spLocks noChangeShapeType="1"/>
            </p:cNvSpPr>
            <p:nvPr/>
          </p:nvSpPr>
          <p:spPr bwMode="auto">
            <a:xfrm>
              <a:off x="2057" y="2297"/>
              <a:ext cx="3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29" name="Rectangle 81"/>
            <p:cNvSpPr>
              <a:spLocks noChangeArrowheads="1"/>
            </p:cNvSpPr>
            <p:nvPr/>
          </p:nvSpPr>
          <p:spPr bwMode="auto">
            <a:xfrm>
              <a:off x="2111" y="2279"/>
              <a:ext cx="59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C79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30" name="Line 82"/>
            <p:cNvSpPr>
              <a:spLocks noChangeShapeType="1"/>
            </p:cNvSpPr>
            <p:nvPr/>
          </p:nvSpPr>
          <p:spPr bwMode="auto">
            <a:xfrm>
              <a:off x="2061" y="2439"/>
              <a:ext cx="27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31" name="Line 83"/>
            <p:cNvSpPr>
              <a:spLocks noChangeShapeType="1"/>
            </p:cNvSpPr>
            <p:nvPr/>
          </p:nvSpPr>
          <p:spPr bwMode="auto">
            <a:xfrm>
              <a:off x="2048" y="2426"/>
              <a:ext cx="5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32" name="Line 84"/>
            <p:cNvSpPr>
              <a:spLocks noChangeShapeType="1"/>
            </p:cNvSpPr>
            <p:nvPr/>
          </p:nvSpPr>
          <p:spPr bwMode="auto">
            <a:xfrm>
              <a:off x="2035" y="2412"/>
              <a:ext cx="79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33" name="Line 85"/>
            <p:cNvSpPr>
              <a:spLocks noChangeShapeType="1"/>
            </p:cNvSpPr>
            <p:nvPr/>
          </p:nvSpPr>
          <p:spPr bwMode="auto">
            <a:xfrm>
              <a:off x="2075" y="2356"/>
              <a:ext cx="1" cy="56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34" name="Line 86"/>
            <p:cNvSpPr>
              <a:spLocks noChangeShapeType="1"/>
            </p:cNvSpPr>
            <p:nvPr/>
          </p:nvSpPr>
          <p:spPr bwMode="auto">
            <a:xfrm>
              <a:off x="1893" y="2216"/>
              <a:ext cx="27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35" name="Line 87"/>
            <p:cNvSpPr>
              <a:spLocks noChangeShapeType="1"/>
            </p:cNvSpPr>
            <p:nvPr/>
          </p:nvSpPr>
          <p:spPr bwMode="auto">
            <a:xfrm>
              <a:off x="1880" y="2203"/>
              <a:ext cx="52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36" name="Line 88"/>
            <p:cNvSpPr>
              <a:spLocks noChangeShapeType="1"/>
            </p:cNvSpPr>
            <p:nvPr/>
          </p:nvSpPr>
          <p:spPr bwMode="auto">
            <a:xfrm>
              <a:off x="1867" y="2189"/>
              <a:ext cx="79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37" name="Line 89"/>
            <p:cNvSpPr>
              <a:spLocks noChangeShapeType="1"/>
            </p:cNvSpPr>
            <p:nvPr/>
          </p:nvSpPr>
          <p:spPr bwMode="auto">
            <a:xfrm>
              <a:off x="1907" y="2169"/>
              <a:ext cx="1" cy="20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38" name="Line 90"/>
            <p:cNvSpPr>
              <a:spLocks noChangeShapeType="1"/>
            </p:cNvSpPr>
            <p:nvPr/>
          </p:nvSpPr>
          <p:spPr bwMode="auto">
            <a:xfrm flipH="1">
              <a:off x="1750" y="2196"/>
              <a:ext cx="59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39" name="Line 91"/>
            <p:cNvSpPr>
              <a:spLocks noChangeShapeType="1"/>
            </p:cNvSpPr>
            <p:nvPr/>
          </p:nvSpPr>
          <p:spPr bwMode="auto">
            <a:xfrm>
              <a:off x="1809" y="2169"/>
              <a:ext cx="1" cy="2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40" name="Line 92"/>
            <p:cNvSpPr>
              <a:spLocks noChangeShapeType="1"/>
            </p:cNvSpPr>
            <p:nvPr/>
          </p:nvSpPr>
          <p:spPr bwMode="auto">
            <a:xfrm flipH="1">
              <a:off x="1809" y="2169"/>
              <a:ext cx="98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41" name="Rectangle 93"/>
            <p:cNvSpPr>
              <a:spLocks noChangeArrowheads="1"/>
            </p:cNvSpPr>
            <p:nvPr/>
          </p:nvSpPr>
          <p:spPr bwMode="auto">
            <a:xfrm>
              <a:off x="2374" y="2178"/>
              <a:ext cx="138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CTCHK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42" name="Freeform 94"/>
            <p:cNvSpPr>
              <a:spLocks/>
            </p:cNvSpPr>
            <p:nvPr/>
          </p:nvSpPr>
          <p:spPr bwMode="auto">
            <a:xfrm>
              <a:off x="2059" y="1984"/>
              <a:ext cx="31" cy="3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2" y="8"/>
                </a:cxn>
                <a:cxn ang="0">
                  <a:pos x="8" y="2"/>
                </a:cxn>
                <a:cxn ang="0">
                  <a:pos x="16" y="0"/>
                </a:cxn>
                <a:cxn ang="0">
                  <a:pos x="23" y="2"/>
                </a:cxn>
                <a:cxn ang="0">
                  <a:pos x="28" y="8"/>
                </a:cxn>
                <a:cxn ang="0">
                  <a:pos x="31" y="16"/>
                </a:cxn>
                <a:cxn ang="0">
                  <a:pos x="28" y="22"/>
                </a:cxn>
                <a:cxn ang="0">
                  <a:pos x="23" y="28"/>
                </a:cxn>
                <a:cxn ang="0">
                  <a:pos x="16" y="31"/>
                </a:cxn>
                <a:cxn ang="0">
                  <a:pos x="8" y="28"/>
                </a:cxn>
                <a:cxn ang="0">
                  <a:pos x="2" y="22"/>
                </a:cxn>
                <a:cxn ang="0">
                  <a:pos x="0" y="16"/>
                </a:cxn>
              </a:cxnLst>
              <a:rect l="0" t="0" r="r" b="b"/>
              <a:pathLst>
                <a:path w="31" h="31">
                  <a:moveTo>
                    <a:pt x="0" y="16"/>
                  </a:moveTo>
                  <a:lnTo>
                    <a:pt x="2" y="8"/>
                  </a:lnTo>
                  <a:lnTo>
                    <a:pt x="8" y="2"/>
                  </a:lnTo>
                  <a:lnTo>
                    <a:pt x="16" y="0"/>
                  </a:lnTo>
                  <a:lnTo>
                    <a:pt x="23" y="2"/>
                  </a:lnTo>
                  <a:lnTo>
                    <a:pt x="28" y="8"/>
                  </a:lnTo>
                  <a:lnTo>
                    <a:pt x="31" y="16"/>
                  </a:lnTo>
                  <a:lnTo>
                    <a:pt x="28" y="22"/>
                  </a:lnTo>
                  <a:lnTo>
                    <a:pt x="23" y="28"/>
                  </a:lnTo>
                  <a:lnTo>
                    <a:pt x="16" y="31"/>
                  </a:lnTo>
                  <a:lnTo>
                    <a:pt x="8" y="28"/>
                  </a:lnTo>
                  <a:lnTo>
                    <a:pt x="2" y="22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43" name="Freeform 95"/>
            <p:cNvSpPr>
              <a:spLocks/>
            </p:cNvSpPr>
            <p:nvPr/>
          </p:nvSpPr>
          <p:spPr bwMode="auto">
            <a:xfrm>
              <a:off x="2068" y="2239"/>
              <a:ext cx="14" cy="13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3" y="1"/>
                </a:cxn>
                <a:cxn ang="0">
                  <a:pos x="7" y="0"/>
                </a:cxn>
                <a:cxn ang="0">
                  <a:pos x="12" y="1"/>
                </a:cxn>
                <a:cxn ang="0">
                  <a:pos x="14" y="7"/>
                </a:cxn>
                <a:cxn ang="0">
                  <a:pos x="12" y="12"/>
                </a:cxn>
                <a:cxn ang="0">
                  <a:pos x="7" y="13"/>
                </a:cxn>
                <a:cxn ang="0">
                  <a:pos x="3" y="12"/>
                </a:cxn>
                <a:cxn ang="0">
                  <a:pos x="0" y="7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lnTo>
                    <a:pt x="3" y="1"/>
                  </a:lnTo>
                  <a:lnTo>
                    <a:pt x="7" y="0"/>
                  </a:lnTo>
                  <a:lnTo>
                    <a:pt x="12" y="1"/>
                  </a:lnTo>
                  <a:lnTo>
                    <a:pt x="14" y="7"/>
                  </a:lnTo>
                  <a:lnTo>
                    <a:pt x="12" y="12"/>
                  </a:lnTo>
                  <a:lnTo>
                    <a:pt x="7" y="13"/>
                  </a:lnTo>
                  <a:lnTo>
                    <a:pt x="3" y="12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44" name="Line 96"/>
            <p:cNvSpPr>
              <a:spLocks noChangeShapeType="1"/>
            </p:cNvSpPr>
            <p:nvPr/>
          </p:nvSpPr>
          <p:spPr bwMode="auto">
            <a:xfrm flipH="1">
              <a:off x="797" y="1781"/>
              <a:ext cx="267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 flipH="1">
              <a:off x="797" y="1826"/>
              <a:ext cx="267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46" name="Line 98"/>
            <p:cNvSpPr>
              <a:spLocks noChangeShapeType="1"/>
            </p:cNvSpPr>
            <p:nvPr/>
          </p:nvSpPr>
          <p:spPr bwMode="auto">
            <a:xfrm flipH="1">
              <a:off x="797" y="1875"/>
              <a:ext cx="267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47" name="Line 99"/>
            <p:cNvSpPr>
              <a:spLocks noChangeShapeType="1"/>
            </p:cNvSpPr>
            <p:nvPr/>
          </p:nvSpPr>
          <p:spPr bwMode="auto">
            <a:xfrm flipH="1">
              <a:off x="792" y="1935"/>
              <a:ext cx="267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48" name="Line 100"/>
            <p:cNvSpPr>
              <a:spLocks noChangeShapeType="1"/>
            </p:cNvSpPr>
            <p:nvPr/>
          </p:nvSpPr>
          <p:spPr bwMode="auto">
            <a:xfrm flipH="1">
              <a:off x="797" y="2094"/>
              <a:ext cx="267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49" name="Line 101"/>
            <p:cNvSpPr>
              <a:spLocks noChangeShapeType="1"/>
            </p:cNvSpPr>
            <p:nvPr/>
          </p:nvSpPr>
          <p:spPr bwMode="auto">
            <a:xfrm flipH="1">
              <a:off x="792" y="2149"/>
              <a:ext cx="267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50" name="Freeform 102"/>
            <p:cNvSpPr>
              <a:spLocks/>
            </p:cNvSpPr>
            <p:nvPr/>
          </p:nvSpPr>
          <p:spPr bwMode="auto">
            <a:xfrm>
              <a:off x="605" y="1915"/>
              <a:ext cx="126" cy="159"/>
            </a:xfrm>
            <a:custGeom>
              <a:avLst/>
              <a:gdLst/>
              <a:ahLst/>
              <a:cxnLst>
                <a:cxn ang="0">
                  <a:pos x="126" y="120"/>
                </a:cxn>
                <a:cxn ang="0">
                  <a:pos x="126" y="40"/>
                </a:cxn>
                <a:cxn ang="0">
                  <a:pos x="31" y="40"/>
                </a:cxn>
                <a:cxn ang="0">
                  <a:pos x="31" y="0"/>
                </a:cxn>
                <a:cxn ang="0">
                  <a:pos x="0" y="79"/>
                </a:cxn>
                <a:cxn ang="0">
                  <a:pos x="31" y="159"/>
                </a:cxn>
                <a:cxn ang="0">
                  <a:pos x="31" y="120"/>
                </a:cxn>
                <a:cxn ang="0">
                  <a:pos x="126" y="120"/>
                </a:cxn>
              </a:cxnLst>
              <a:rect l="0" t="0" r="r" b="b"/>
              <a:pathLst>
                <a:path w="126" h="159">
                  <a:moveTo>
                    <a:pt x="126" y="120"/>
                  </a:moveTo>
                  <a:lnTo>
                    <a:pt x="126" y="40"/>
                  </a:lnTo>
                  <a:lnTo>
                    <a:pt x="31" y="40"/>
                  </a:lnTo>
                  <a:lnTo>
                    <a:pt x="31" y="0"/>
                  </a:lnTo>
                  <a:lnTo>
                    <a:pt x="0" y="79"/>
                  </a:lnTo>
                  <a:lnTo>
                    <a:pt x="31" y="159"/>
                  </a:lnTo>
                  <a:lnTo>
                    <a:pt x="31" y="120"/>
                  </a:lnTo>
                  <a:lnTo>
                    <a:pt x="126" y="120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151" name="Rectangle 103"/>
            <p:cNvSpPr>
              <a:spLocks noChangeArrowheads="1"/>
            </p:cNvSpPr>
            <p:nvPr/>
          </p:nvSpPr>
          <p:spPr bwMode="auto">
            <a:xfrm>
              <a:off x="406" y="1969"/>
              <a:ext cx="170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HCT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로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152" name="Freeform 104"/>
            <p:cNvSpPr>
              <a:spLocks/>
            </p:cNvSpPr>
            <p:nvPr/>
          </p:nvSpPr>
          <p:spPr bwMode="auto">
            <a:xfrm>
              <a:off x="954" y="2201"/>
              <a:ext cx="110" cy="55"/>
            </a:xfrm>
            <a:custGeom>
              <a:avLst/>
              <a:gdLst/>
              <a:ahLst/>
              <a:cxnLst>
                <a:cxn ang="0">
                  <a:pos x="110" y="55"/>
                </a:cxn>
                <a:cxn ang="0">
                  <a:pos x="27" y="55"/>
                </a:cxn>
                <a:cxn ang="0">
                  <a:pos x="16" y="54"/>
                </a:cxn>
                <a:cxn ang="0">
                  <a:pos x="8" y="47"/>
                </a:cxn>
                <a:cxn ang="0">
                  <a:pos x="1" y="3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1" y="18"/>
                </a:cxn>
                <a:cxn ang="0">
                  <a:pos x="8" y="8"/>
                </a:cxn>
                <a:cxn ang="0">
                  <a:pos x="16" y="3"/>
                </a:cxn>
                <a:cxn ang="0">
                  <a:pos x="27" y="0"/>
                </a:cxn>
                <a:cxn ang="0">
                  <a:pos x="110" y="0"/>
                </a:cxn>
              </a:cxnLst>
              <a:rect l="0" t="0" r="r" b="b"/>
              <a:pathLst>
                <a:path w="110" h="55">
                  <a:moveTo>
                    <a:pt x="110" y="55"/>
                  </a:moveTo>
                  <a:lnTo>
                    <a:pt x="27" y="55"/>
                  </a:lnTo>
                  <a:lnTo>
                    <a:pt x="16" y="54"/>
                  </a:lnTo>
                  <a:lnTo>
                    <a:pt x="8" y="47"/>
                  </a:lnTo>
                  <a:lnTo>
                    <a:pt x="1" y="3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1" y="18"/>
                  </a:lnTo>
                  <a:lnTo>
                    <a:pt x="8" y="8"/>
                  </a:lnTo>
                  <a:lnTo>
                    <a:pt x="16" y="3"/>
                  </a:lnTo>
                  <a:lnTo>
                    <a:pt x="27" y="0"/>
                  </a:lnTo>
                  <a:lnTo>
                    <a:pt x="110" y="0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153" name="Rectangle 105"/>
          <p:cNvSpPr>
            <a:spLocks noChangeArrowheads="1"/>
          </p:cNvSpPr>
          <p:nvPr/>
        </p:nvSpPr>
        <p:spPr bwMode="auto">
          <a:xfrm>
            <a:off x="5029200" y="1143000"/>
            <a:ext cx="4038600" cy="161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DPC-1XX(INV)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연결상태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결선 체크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특히 좌도와 같이 커넥터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CHECK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용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JUMPER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연결되어 있을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측의 커넥터 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Cable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커넥터가 완전히 삽입된 상태임에도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36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발생하면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CABLE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  <a:endParaRPr lang="ko-KR" altLang="en-US" sz="900">
              <a:latin typeface="Arial" charset="0"/>
              <a:ea typeface="굴림체" pitchFamily="49" charset="-127"/>
            </a:endParaRPr>
          </a:p>
        </p:txBody>
      </p:sp>
      <p:sp>
        <p:nvSpPr>
          <p:cNvPr id="2154" name="Rectangle 106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37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STACK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[ER_INV_STACK_THERMAL]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44037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0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IPM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과열되어 파손되는 것을 방지하기 위한 방열판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Thermal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스위치가 동작한 상태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(85℃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endParaRPr lang="en-US" altLang="ko-KR" sz="900" b="1">
              <a:latin typeface="Arial" charset="0"/>
              <a:ea typeface="굴림체" pitchFamily="49" charset="-127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143000"/>
            <a:ext cx="4038600" cy="481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DPP-10X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GP, GXL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DPP-1XX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GA, VA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DPC-1XX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DPP-10X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6, 7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DPP-12X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4, 5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 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DPP-13X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1, 2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연결된 선이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Thermal Guard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양단과  연결이 양호한지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STACK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FAN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동작 여부 확인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FAN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구동전원 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RELAY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기계실 주위 온도가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40℃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이상일 경우 기계실 에어컨 가동여부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방열판이 충분히 냉각된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DPP-101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GP, DPP-12X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GB, DPP-13X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커넥터가  정상적으로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연결시킨 다음 전원을 투입하여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STACK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TDC 37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검출되면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DPC- 11X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DPP-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101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VA, DPP-12X,13X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커넥터를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RA1(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좌표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8I)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+15V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 B/D  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DPP-10X B/D VA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연결여부를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(Short Check-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연결되어 있으면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Thermal Guard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DPP-1XX  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11. STACK FAN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방열판 사이에 먼지 제거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12. STACK FAN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049338" y="2303463"/>
            <a:ext cx="3608387" cy="1679575"/>
            <a:chOff x="661" y="1451"/>
            <a:chExt cx="2273" cy="1058"/>
          </a:xfrm>
        </p:grpSpPr>
        <p:sp>
          <p:nvSpPr>
            <p:cNvPr id="2069" name="Rectangle 21"/>
            <p:cNvSpPr>
              <a:spLocks noChangeArrowheads="1"/>
            </p:cNvSpPr>
            <p:nvPr/>
          </p:nvSpPr>
          <p:spPr bwMode="auto">
            <a:xfrm>
              <a:off x="661" y="1455"/>
              <a:ext cx="400" cy="1039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693" y="1829"/>
              <a:ext cx="334" cy="5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71" name="Rectangle 23"/>
            <p:cNvSpPr>
              <a:spLocks noChangeArrowheads="1"/>
            </p:cNvSpPr>
            <p:nvPr/>
          </p:nvSpPr>
          <p:spPr bwMode="auto">
            <a:xfrm>
              <a:off x="772" y="2046"/>
              <a:ext cx="224" cy="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굴림" charset="-127"/>
                </a:rPr>
                <a:t>IPM</a:t>
              </a:r>
              <a:endParaRPr lang="en-US" altLang="ko-KR"/>
            </a:p>
          </p:txBody>
        </p:sp>
        <p:sp>
          <p:nvSpPr>
            <p:cNvPr id="2072" name="Freeform 24"/>
            <p:cNvSpPr>
              <a:spLocks/>
            </p:cNvSpPr>
            <p:nvPr/>
          </p:nvSpPr>
          <p:spPr bwMode="auto">
            <a:xfrm>
              <a:off x="2534" y="1451"/>
              <a:ext cx="400" cy="127"/>
            </a:xfrm>
            <a:custGeom>
              <a:avLst/>
              <a:gdLst/>
              <a:ahLst/>
              <a:cxnLst>
                <a:cxn ang="0">
                  <a:pos x="675" y="253"/>
                </a:cxn>
                <a:cxn ang="0">
                  <a:pos x="702" y="251"/>
                </a:cxn>
                <a:cxn ang="0">
                  <a:pos x="727" y="241"/>
                </a:cxn>
                <a:cxn ang="0">
                  <a:pos x="750" y="228"/>
                </a:cxn>
                <a:cxn ang="0">
                  <a:pos x="769" y="209"/>
                </a:cxn>
                <a:cxn ang="0">
                  <a:pos x="785" y="188"/>
                </a:cxn>
                <a:cxn ang="0">
                  <a:pos x="792" y="159"/>
                </a:cxn>
                <a:cxn ang="0">
                  <a:pos x="798" y="134"/>
                </a:cxn>
                <a:cxn ang="0">
                  <a:pos x="798" y="120"/>
                </a:cxn>
                <a:cxn ang="0">
                  <a:pos x="792" y="94"/>
                </a:cxn>
                <a:cxn ang="0">
                  <a:pos x="785" y="67"/>
                </a:cxn>
                <a:cxn ang="0">
                  <a:pos x="769" y="44"/>
                </a:cxn>
                <a:cxn ang="0">
                  <a:pos x="750" y="25"/>
                </a:cxn>
                <a:cxn ang="0">
                  <a:pos x="727" y="11"/>
                </a:cxn>
                <a:cxn ang="0">
                  <a:pos x="702" y="2"/>
                </a:cxn>
                <a:cxn ang="0">
                  <a:pos x="675" y="0"/>
                </a:cxn>
                <a:cxn ang="0">
                  <a:pos x="119" y="0"/>
                </a:cxn>
                <a:cxn ang="0">
                  <a:pos x="94" y="2"/>
                </a:cxn>
                <a:cxn ang="0">
                  <a:pos x="67" y="11"/>
                </a:cxn>
                <a:cxn ang="0">
                  <a:pos x="44" y="25"/>
                </a:cxn>
                <a:cxn ang="0">
                  <a:pos x="25" y="44"/>
                </a:cxn>
                <a:cxn ang="0">
                  <a:pos x="12" y="67"/>
                </a:cxn>
                <a:cxn ang="0">
                  <a:pos x="2" y="94"/>
                </a:cxn>
                <a:cxn ang="0">
                  <a:pos x="0" y="120"/>
                </a:cxn>
                <a:cxn ang="0">
                  <a:pos x="0" y="134"/>
                </a:cxn>
                <a:cxn ang="0">
                  <a:pos x="2" y="159"/>
                </a:cxn>
                <a:cxn ang="0">
                  <a:pos x="12" y="188"/>
                </a:cxn>
                <a:cxn ang="0">
                  <a:pos x="25" y="209"/>
                </a:cxn>
                <a:cxn ang="0">
                  <a:pos x="44" y="228"/>
                </a:cxn>
                <a:cxn ang="0">
                  <a:pos x="67" y="241"/>
                </a:cxn>
                <a:cxn ang="0">
                  <a:pos x="94" y="251"/>
                </a:cxn>
                <a:cxn ang="0">
                  <a:pos x="119" y="253"/>
                </a:cxn>
                <a:cxn ang="0">
                  <a:pos x="675" y="253"/>
                </a:cxn>
              </a:cxnLst>
              <a:rect l="0" t="0" r="r" b="b"/>
              <a:pathLst>
                <a:path w="798" h="253">
                  <a:moveTo>
                    <a:pt x="675" y="253"/>
                  </a:moveTo>
                  <a:lnTo>
                    <a:pt x="702" y="251"/>
                  </a:lnTo>
                  <a:lnTo>
                    <a:pt x="727" y="241"/>
                  </a:lnTo>
                  <a:lnTo>
                    <a:pt x="750" y="228"/>
                  </a:lnTo>
                  <a:lnTo>
                    <a:pt x="769" y="209"/>
                  </a:lnTo>
                  <a:lnTo>
                    <a:pt x="785" y="188"/>
                  </a:lnTo>
                  <a:lnTo>
                    <a:pt x="792" y="159"/>
                  </a:lnTo>
                  <a:lnTo>
                    <a:pt x="798" y="134"/>
                  </a:lnTo>
                  <a:lnTo>
                    <a:pt x="798" y="120"/>
                  </a:lnTo>
                  <a:lnTo>
                    <a:pt x="792" y="94"/>
                  </a:lnTo>
                  <a:lnTo>
                    <a:pt x="785" y="67"/>
                  </a:lnTo>
                  <a:lnTo>
                    <a:pt x="769" y="44"/>
                  </a:lnTo>
                  <a:lnTo>
                    <a:pt x="750" y="25"/>
                  </a:lnTo>
                  <a:lnTo>
                    <a:pt x="727" y="11"/>
                  </a:lnTo>
                  <a:lnTo>
                    <a:pt x="702" y="2"/>
                  </a:lnTo>
                  <a:lnTo>
                    <a:pt x="675" y="0"/>
                  </a:lnTo>
                  <a:lnTo>
                    <a:pt x="119" y="0"/>
                  </a:lnTo>
                  <a:lnTo>
                    <a:pt x="94" y="2"/>
                  </a:lnTo>
                  <a:lnTo>
                    <a:pt x="67" y="11"/>
                  </a:lnTo>
                  <a:lnTo>
                    <a:pt x="44" y="25"/>
                  </a:lnTo>
                  <a:lnTo>
                    <a:pt x="25" y="44"/>
                  </a:lnTo>
                  <a:lnTo>
                    <a:pt x="12" y="67"/>
                  </a:lnTo>
                  <a:lnTo>
                    <a:pt x="2" y="94"/>
                  </a:lnTo>
                  <a:lnTo>
                    <a:pt x="0" y="120"/>
                  </a:lnTo>
                  <a:lnTo>
                    <a:pt x="0" y="134"/>
                  </a:lnTo>
                  <a:lnTo>
                    <a:pt x="2" y="159"/>
                  </a:lnTo>
                  <a:lnTo>
                    <a:pt x="12" y="188"/>
                  </a:lnTo>
                  <a:lnTo>
                    <a:pt x="25" y="209"/>
                  </a:lnTo>
                  <a:lnTo>
                    <a:pt x="44" y="228"/>
                  </a:lnTo>
                  <a:lnTo>
                    <a:pt x="67" y="241"/>
                  </a:lnTo>
                  <a:lnTo>
                    <a:pt x="94" y="251"/>
                  </a:lnTo>
                  <a:lnTo>
                    <a:pt x="119" y="253"/>
                  </a:lnTo>
                  <a:lnTo>
                    <a:pt x="675" y="253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364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>
              <a:off x="1373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1381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1388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77" name="Line 29"/>
            <p:cNvSpPr>
              <a:spLocks noChangeShapeType="1"/>
            </p:cNvSpPr>
            <p:nvPr/>
          </p:nvSpPr>
          <p:spPr bwMode="auto">
            <a:xfrm>
              <a:off x="1398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>
              <a:off x="1406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>
              <a:off x="1413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>
              <a:off x="1422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1431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1438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83" name="Line 35"/>
            <p:cNvSpPr>
              <a:spLocks noChangeShapeType="1"/>
            </p:cNvSpPr>
            <p:nvPr/>
          </p:nvSpPr>
          <p:spPr bwMode="auto">
            <a:xfrm>
              <a:off x="1447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84" name="Line 36"/>
            <p:cNvSpPr>
              <a:spLocks noChangeShapeType="1"/>
            </p:cNvSpPr>
            <p:nvPr/>
          </p:nvSpPr>
          <p:spPr bwMode="auto">
            <a:xfrm>
              <a:off x="1455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85" name="Line 37"/>
            <p:cNvSpPr>
              <a:spLocks noChangeShapeType="1"/>
            </p:cNvSpPr>
            <p:nvPr/>
          </p:nvSpPr>
          <p:spPr bwMode="auto">
            <a:xfrm>
              <a:off x="1463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86" name="Line 38"/>
            <p:cNvSpPr>
              <a:spLocks noChangeShapeType="1"/>
            </p:cNvSpPr>
            <p:nvPr/>
          </p:nvSpPr>
          <p:spPr bwMode="auto">
            <a:xfrm>
              <a:off x="1472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87" name="Line 39"/>
            <p:cNvSpPr>
              <a:spLocks noChangeShapeType="1"/>
            </p:cNvSpPr>
            <p:nvPr/>
          </p:nvSpPr>
          <p:spPr bwMode="auto">
            <a:xfrm>
              <a:off x="1480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88" name="Line 40"/>
            <p:cNvSpPr>
              <a:spLocks noChangeShapeType="1"/>
            </p:cNvSpPr>
            <p:nvPr/>
          </p:nvSpPr>
          <p:spPr bwMode="auto">
            <a:xfrm>
              <a:off x="1487" y="2508"/>
              <a:ext cx="6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89" name="Line 41"/>
            <p:cNvSpPr>
              <a:spLocks noChangeShapeType="1"/>
            </p:cNvSpPr>
            <p:nvPr/>
          </p:nvSpPr>
          <p:spPr bwMode="auto">
            <a:xfrm>
              <a:off x="1497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>
              <a:off x="1505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1512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>
              <a:off x="1521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3" name="Line 45"/>
            <p:cNvSpPr>
              <a:spLocks noChangeShapeType="1"/>
            </p:cNvSpPr>
            <p:nvPr/>
          </p:nvSpPr>
          <p:spPr bwMode="auto">
            <a:xfrm>
              <a:off x="1530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>
              <a:off x="1537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5" name="Line 47"/>
            <p:cNvSpPr>
              <a:spLocks noChangeShapeType="1"/>
            </p:cNvSpPr>
            <p:nvPr/>
          </p:nvSpPr>
          <p:spPr bwMode="auto">
            <a:xfrm>
              <a:off x="1546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>
              <a:off x="1554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7" name="Line 49"/>
            <p:cNvSpPr>
              <a:spLocks noChangeShapeType="1"/>
            </p:cNvSpPr>
            <p:nvPr/>
          </p:nvSpPr>
          <p:spPr bwMode="auto">
            <a:xfrm>
              <a:off x="1562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8" name="Line 50"/>
            <p:cNvSpPr>
              <a:spLocks noChangeShapeType="1"/>
            </p:cNvSpPr>
            <p:nvPr/>
          </p:nvSpPr>
          <p:spPr bwMode="auto">
            <a:xfrm>
              <a:off x="1571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1579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0" name="Line 52"/>
            <p:cNvSpPr>
              <a:spLocks noChangeShapeType="1"/>
            </p:cNvSpPr>
            <p:nvPr/>
          </p:nvSpPr>
          <p:spPr bwMode="auto">
            <a:xfrm>
              <a:off x="1586" y="2508"/>
              <a:ext cx="6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1" name="Line 53"/>
            <p:cNvSpPr>
              <a:spLocks noChangeShapeType="1"/>
            </p:cNvSpPr>
            <p:nvPr/>
          </p:nvSpPr>
          <p:spPr bwMode="auto">
            <a:xfrm>
              <a:off x="1596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2" name="Line 54"/>
            <p:cNvSpPr>
              <a:spLocks noChangeShapeType="1"/>
            </p:cNvSpPr>
            <p:nvPr/>
          </p:nvSpPr>
          <p:spPr bwMode="auto">
            <a:xfrm>
              <a:off x="1604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3" name="Line 55"/>
            <p:cNvSpPr>
              <a:spLocks noChangeShapeType="1"/>
            </p:cNvSpPr>
            <p:nvPr/>
          </p:nvSpPr>
          <p:spPr bwMode="auto">
            <a:xfrm>
              <a:off x="1612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4" name="Line 56"/>
            <p:cNvSpPr>
              <a:spLocks noChangeShapeType="1"/>
            </p:cNvSpPr>
            <p:nvPr/>
          </p:nvSpPr>
          <p:spPr bwMode="auto">
            <a:xfrm>
              <a:off x="1620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5" name="Line 57"/>
            <p:cNvSpPr>
              <a:spLocks noChangeShapeType="1"/>
            </p:cNvSpPr>
            <p:nvPr/>
          </p:nvSpPr>
          <p:spPr bwMode="auto">
            <a:xfrm>
              <a:off x="1629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6" name="Line 58"/>
            <p:cNvSpPr>
              <a:spLocks noChangeShapeType="1"/>
            </p:cNvSpPr>
            <p:nvPr/>
          </p:nvSpPr>
          <p:spPr bwMode="auto">
            <a:xfrm>
              <a:off x="1637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7" name="Line 59"/>
            <p:cNvSpPr>
              <a:spLocks noChangeShapeType="1"/>
            </p:cNvSpPr>
            <p:nvPr/>
          </p:nvSpPr>
          <p:spPr bwMode="auto">
            <a:xfrm>
              <a:off x="1645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8" name="Line 60"/>
            <p:cNvSpPr>
              <a:spLocks noChangeShapeType="1"/>
            </p:cNvSpPr>
            <p:nvPr/>
          </p:nvSpPr>
          <p:spPr bwMode="auto">
            <a:xfrm>
              <a:off x="1653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09" name="Line 61"/>
            <p:cNvSpPr>
              <a:spLocks noChangeShapeType="1"/>
            </p:cNvSpPr>
            <p:nvPr/>
          </p:nvSpPr>
          <p:spPr bwMode="auto">
            <a:xfrm>
              <a:off x="1661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10" name="Line 62"/>
            <p:cNvSpPr>
              <a:spLocks noChangeShapeType="1"/>
            </p:cNvSpPr>
            <p:nvPr/>
          </p:nvSpPr>
          <p:spPr bwMode="auto">
            <a:xfrm>
              <a:off x="1669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11" name="Line 63"/>
            <p:cNvSpPr>
              <a:spLocks noChangeShapeType="1"/>
            </p:cNvSpPr>
            <p:nvPr/>
          </p:nvSpPr>
          <p:spPr bwMode="auto">
            <a:xfrm>
              <a:off x="1677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12" name="Line 64"/>
            <p:cNvSpPr>
              <a:spLocks noChangeShapeType="1"/>
            </p:cNvSpPr>
            <p:nvPr/>
          </p:nvSpPr>
          <p:spPr bwMode="auto">
            <a:xfrm>
              <a:off x="1686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13" name="Line 65"/>
            <p:cNvSpPr>
              <a:spLocks noChangeShapeType="1"/>
            </p:cNvSpPr>
            <p:nvPr/>
          </p:nvSpPr>
          <p:spPr bwMode="auto">
            <a:xfrm>
              <a:off x="1694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14" name="Line 66"/>
            <p:cNvSpPr>
              <a:spLocks noChangeShapeType="1"/>
            </p:cNvSpPr>
            <p:nvPr/>
          </p:nvSpPr>
          <p:spPr bwMode="auto">
            <a:xfrm>
              <a:off x="1702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15" name="Line 67"/>
            <p:cNvSpPr>
              <a:spLocks noChangeShapeType="1"/>
            </p:cNvSpPr>
            <p:nvPr/>
          </p:nvSpPr>
          <p:spPr bwMode="auto">
            <a:xfrm>
              <a:off x="1710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16" name="Line 68"/>
            <p:cNvSpPr>
              <a:spLocks noChangeShapeType="1"/>
            </p:cNvSpPr>
            <p:nvPr/>
          </p:nvSpPr>
          <p:spPr bwMode="auto">
            <a:xfrm>
              <a:off x="1719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17" name="Line 69"/>
            <p:cNvSpPr>
              <a:spLocks noChangeShapeType="1"/>
            </p:cNvSpPr>
            <p:nvPr/>
          </p:nvSpPr>
          <p:spPr bwMode="auto">
            <a:xfrm>
              <a:off x="1727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18" name="Line 70"/>
            <p:cNvSpPr>
              <a:spLocks noChangeShapeType="1"/>
            </p:cNvSpPr>
            <p:nvPr/>
          </p:nvSpPr>
          <p:spPr bwMode="auto">
            <a:xfrm>
              <a:off x="1735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19" name="Line 71"/>
            <p:cNvSpPr>
              <a:spLocks noChangeShapeType="1"/>
            </p:cNvSpPr>
            <p:nvPr/>
          </p:nvSpPr>
          <p:spPr bwMode="auto">
            <a:xfrm>
              <a:off x="1743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20" name="Line 72"/>
            <p:cNvSpPr>
              <a:spLocks noChangeShapeType="1"/>
            </p:cNvSpPr>
            <p:nvPr/>
          </p:nvSpPr>
          <p:spPr bwMode="auto">
            <a:xfrm>
              <a:off x="1752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21" name="Line 73"/>
            <p:cNvSpPr>
              <a:spLocks noChangeShapeType="1"/>
            </p:cNvSpPr>
            <p:nvPr/>
          </p:nvSpPr>
          <p:spPr bwMode="auto">
            <a:xfrm>
              <a:off x="1760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22" name="Line 74"/>
            <p:cNvSpPr>
              <a:spLocks noChangeShapeType="1"/>
            </p:cNvSpPr>
            <p:nvPr/>
          </p:nvSpPr>
          <p:spPr bwMode="auto">
            <a:xfrm>
              <a:off x="1768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23" name="Line 75"/>
            <p:cNvSpPr>
              <a:spLocks noChangeShapeType="1"/>
            </p:cNvSpPr>
            <p:nvPr/>
          </p:nvSpPr>
          <p:spPr bwMode="auto">
            <a:xfrm>
              <a:off x="1776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1785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1793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26" name="Line 78"/>
            <p:cNvSpPr>
              <a:spLocks noChangeShapeType="1"/>
            </p:cNvSpPr>
            <p:nvPr/>
          </p:nvSpPr>
          <p:spPr bwMode="auto">
            <a:xfrm>
              <a:off x="1801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27" name="Line 79"/>
            <p:cNvSpPr>
              <a:spLocks noChangeShapeType="1"/>
            </p:cNvSpPr>
            <p:nvPr/>
          </p:nvSpPr>
          <p:spPr bwMode="auto">
            <a:xfrm>
              <a:off x="1809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28" name="Line 80"/>
            <p:cNvSpPr>
              <a:spLocks noChangeShapeType="1"/>
            </p:cNvSpPr>
            <p:nvPr/>
          </p:nvSpPr>
          <p:spPr bwMode="auto">
            <a:xfrm>
              <a:off x="1818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29" name="Line 81"/>
            <p:cNvSpPr>
              <a:spLocks noChangeShapeType="1"/>
            </p:cNvSpPr>
            <p:nvPr/>
          </p:nvSpPr>
          <p:spPr bwMode="auto">
            <a:xfrm>
              <a:off x="1826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0" name="Line 82"/>
            <p:cNvSpPr>
              <a:spLocks noChangeShapeType="1"/>
            </p:cNvSpPr>
            <p:nvPr/>
          </p:nvSpPr>
          <p:spPr bwMode="auto">
            <a:xfrm>
              <a:off x="1834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1" name="Line 83"/>
            <p:cNvSpPr>
              <a:spLocks noChangeShapeType="1"/>
            </p:cNvSpPr>
            <p:nvPr/>
          </p:nvSpPr>
          <p:spPr bwMode="auto">
            <a:xfrm>
              <a:off x="1842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2" name="Line 84"/>
            <p:cNvSpPr>
              <a:spLocks noChangeShapeType="1"/>
            </p:cNvSpPr>
            <p:nvPr/>
          </p:nvSpPr>
          <p:spPr bwMode="auto">
            <a:xfrm>
              <a:off x="1852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3" name="Line 85"/>
            <p:cNvSpPr>
              <a:spLocks noChangeShapeType="1"/>
            </p:cNvSpPr>
            <p:nvPr/>
          </p:nvSpPr>
          <p:spPr bwMode="auto">
            <a:xfrm>
              <a:off x="1859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4" name="Line 86"/>
            <p:cNvSpPr>
              <a:spLocks noChangeShapeType="1"/>
            </p:cNvSpPr>
            <p:nvPr/>
          </p:nvSpPr>
          <p:spPr bwMode="auto">
            <a:xfrm>
              <a:off x="1867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5" name="Line 87"/>
            <p:cNvSpPr>
              <a:spLocks noChangeShapeType="1"/>
            </p:cNvSpPr>
            <p:nvPr/>
          </p:nvSpPr>
          <p:spPr bwMode="auto">
            <a:xfrm>
              <a:off x="1876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6" name="Line 88"/>
            <p:cNvSpPr>
              <a:spLocks noChangeShapeType="1"/>
            </p:cNvSpPr>
            <p:nvPr/>
          </p:nvSpPr>
          <p:spPr bwMode="auto">
            <a:xfrm>
              <a:off x="1884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7" name="Line 89"/>
            <p:cNvSpPr>
              <a:spLocks noChangeShapeType="1"/>
            </p:cNvSpPr>
            <p:nvPr/>
          </p:nvSpPr>
          <p:spPr bwMode="auto">
            <a:xfrm>
              <a:off x="1892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8" name="Line 90"/>
            <p:cNvSpPr>
              <a:spLocks noChangeShapeType="1"/>
            </p:cNvSpPr>
            <p:nvPr/>
          </p:nvSpPr>
          <p:spPr bwMode="auto">
            <a:xfrm>
              <a:off x="1901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9" name="Line 91"/>
            <p:cNvSpPr>
              <a:spLocks noChangeShapeType="1"/>
            </p:cNvSpPr>
            <p:nvPr/>
          </p:nvSpPr>
          <p:spPr bwMode="auto">
            <a:xfrm>
              <a:off x="1909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0" name="Line 92"/>
            <p:cNvSpPr>
              <a:spLocks noChangeShapeType="1"/>
            </p:cNvSpPr>
            <p:nvPr/>
          </p:nvSpPr>
          <p:spPr bwMode="auto">
            <a:xfrm>
              <a:off x="1917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1" name="Line 93"/>
            <p:cNvSpPr>
              <a:spLocks noChangeShapeType="1"/>
            </p:cNvSpPr>
            <p:nvPr/>
          </p:nvSpPr>
          <p:spPr bwMode="auto">
            <a:xfrm>
              <a:off x="1926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2" name="Line 94"/>
            <p:cNvSpPr>
              <a:spLocks noChangeShapeType="1"/>
            </p:cNvSpPr>
            <p:nvPr/>
          </p:nvSpPr>
          <p:spPr bwMode="auto">
            <a:xfrm>
              <a:off x="1934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3" name="Line 95"/>
            <p:cNvSpPr>
              <a:spLocks noChangeShapeType="1"/>
            </p:cNvSpPr>
            <p:nvPr/>
          </p:nvSpPr>
          <p:spPr bwMode="auto">
            <a:xfrm>
              <a:off x="1941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4" name="Line 96"/>
            <p:cNvSpPr>
              <a:spLocks noChangeShapeType="1"/>
            </p:cNvSpPr>
            <p:nvPr/>
          </p:nvSpPr>
          <p:spPr bwMode="auto">
            <a:xfrm>
              <a:off x="1951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>
              <a:off x="1959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6" name="Line 98"/>
            <p:cNvSpPr>
              <a:spLocks noChangeShapeType="1"/>
            </p:cNvSpPr>
            <p:nvPr/>
          </p:nvSpPr>
          <p:spPr bwMode="auto">
            <a:xfrm>
              <a:off x="1966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7" name="Line 99"/>
            <p:cNvSpPr>
              <a:spLocks noChangeShapeType="1"/>
            </p:cNvSpPr>
            <p:nvPr/>
          </p:nvSpPr>
          <p:spPr bwMode="auto">
            <a:xfrm>
              <a:off x="1975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8" name="Line 100"/>
            <p:cNvSpPr>
              <a:spLocks noChangeShapeType="1"/>
            </p:cNvSpPr>
            <p:nvPr/>
          </p:nvSpPr>
          <p:spPr bwMode="auto">
            <a:xfrm>
              <a:off x="1984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9" name="Line 101"/>
            <p:cNvSpPr>
              <a:spLocks noChangeShapeType="1"/>
            </p:cNvSpPr>
            <p:nvPr/>
          </p:nvSpPr>
          <p:spPr bwMode="auto">
            <a:xfrm>
              <a:off x="1991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0" name="Line 102"/>
            <p:cNvSpPr>
              <a:spLocks noChangeShapeType="1"/>
            </p:cNvSpPr>
            <p:nvPr/>
          </p:nvSpPr>
          <p:spPr bwMode="auto">
            <a:xfrm>
              <a:off x="2000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1" name="Line 103"/>
            <p:cNvSpPr>
              <a:spLocks noChangeShapeType="1"/>
            </p:cNvSpPr>
            <p:nvPr/>
          </p:nvSpPr>
          <p:spPr bwMode="auto">
            <a:xfrm>
              <a:off x="2008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2" name="Line 104"/>
            <p:cNvSpPr>
              <a:spLocks noChangeShapeType="1"/>
            </p:cNvSpPr>
            <p:nvPr/>
          </p:nvSpPr>
          <p:spPr bwMode="auto">
            <a:xfrm>
              <a:off x="2016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3" name="Line 105"/>
            <p:cNvSpPr>
              <a:spLocks noChangeShapeType="1"/>
            </p:cNvSpPr>
            <p:nvPr/>
          </p:nvSpPr>
          <p:spPr bwMode="auto">
            <a:xfrm>
              <a:off x="2025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4" name="Line 106"/>
            <p:cNvSpPr>
              <a:spLocks noChangeShapeType="1"/>
            </p:cNvSpPr>
            <p:nvPr/>
          </p:nvSpPr>
          <p:spPr bwMode="auto">
            <a:xfrm>
              <a:off x="2033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>
              <a:off x="2040" y="2508"/>
              <a:ext cx="6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2050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7" name="Line 109"/>
            <p:cNvSpPr>
              <a:spLocks noChangeShapeType="1"/>
            </p:cNvSpPr>
            <p:nvPr/>
          </p:nvSpPr>
          <p:spPr bwMode="auto">
            <a:xfrm>
              <a:off x="2058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8" name="Line 110"/>
            <p:cNvSpPr>
              <a:spLocks noChangeShapeType="1"/>
            </p:cNvSpPr>
            <p:nvPr/>
          </p:nvSpPr>
          <p:spPr bwMode="auto">
            <a:xfrm>
              <a:off x="2065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>
              <a:off x="2074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2083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61" name="Line 113"/>
            <p:cNvSpPr>
              <a:spLocks noChangeShapeType="1"/>
            </p:cNvSpPr>
            <p:nvPr/>
          </p:nvSpPr>
          <p:spPr bwMode="auto">
            <a:xfrm>
              <a:off x="2090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62" name="Line 114"/>
            <p:cNvSpPr>
              <a:spLocks noChangeShapeType="1"/>
            </p:cNvSpPr>
            <p:nvPr/>
          </p:nvSpPr>
          <p:spPr bwMode="auto">
            <a:xfrm>
              <a:off x="2099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63" name="Line 115"/>
            <p:cNvSpPr>
              <a:spLocks noChangeShapeType="1"/>
            </p:cNvSpPr>
            <p:nvPr/>
          </p:nvSpPr>
          <p:spPr bwMode="auto">
            <a:xfrm>
              <a:off x="2107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64" name="Line 116"/>
            <p:cNvSpPr>
              <a:spLocks noChangeShapeType="1"/>
            </p:cNvSpPr>
            <p:nvPr/>
          </p:nvSpPr>
          <p:spPr bwMode="auto">
            <a:xfrm>
              <a:off x="2116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65" name="Line 117"/>
            <p:cNvSpPr>
              <a:spLocks noChangeShapeType="1"/>
            </p:cNvSpPr>
            <p:nvPr/>
          </p:nvSpPr>
          <p:spPr bwMode="auto">
            <a:xfrm>
              <a:off x="2124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66" name="Line 118"/>
            <p:cNvSpPr>
              <a:spLocks noChangeShapeType="1"/>
            </p:cNvSpPr>
            <p:nvPr/>
          </p:nvSpPr>
          <p:spPr bwMode="auto">
            <a:xfrm>
              <a:off x="2132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67" name="Line 119"/>
            <p:cNvSpPr>
              <a:spLocks noChangeShapeType="1"/>
            </p:cNvSpPr>
            <p:nvPr/>
          </p:nvSpPr>
          <p:spPr bwMode="auto">
            <a:xfrm>
              <a:off x="2140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68" name="Line 120"/>
            <p:cNvSpPr>
              <a:spLocks noChangeShapeType="1"/>
            </p:cNvSpPr>
            <p:nvPr/>
          </p:nvSpPr>
          <p:spPr bwMode="auto">
            <a:xfrm>
              <a:off x="2149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69" name="Line 121"/>
            <p:cNvSpPr>
              <a:spLocks noChangeShapeType="1"/>
            </p:cNvSpPr>
            <p:nvPr/>
          </p:nvSpPr>
          <p:spPr bwMode="auto">
            <a:xfrm>
              <a:off x="2156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0" name="Line 122"/>
            <p:cNvSpPr>
              <a:spLocks noChangeShapeType="1"/>
            </p:cNvSpPr>
            <p:nvPr/>
          </p:nvSpPr>
          <p:spPr bwMode="auto">
            <a:xfrm>
              <a:off x="2164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1" name="Line 123"/>
            <p:cNvSpPr>
              <a:spLocks noChangeShapeType="1"/>
            </p:cNvSpPr>
            <p:nvPr/>
          </p:nvSpPr>
          <p:spPr bwMode="auto">
            <a:xfrm>
              <a:off x="2172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2" name="Line 124"/>
            <p:cNvSpPr>
              <a:spLocks noChangeShapeType="1"/>
            </p:cNvSpPr>
            <p:nvPr/>
          </p:nvSpPr>
          <p:spPr bwMode="auto">
            <a:xfrm>
              <a:off x="2181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3" name="Line 125"/>
            <p:cNvSpPr>
              <a:spLocks noChangeShapeType="1"/>
            </p:cNvSpPr>
            <p:nvPr/>
          </p:nvSpPr>
          <p:spPr bwMode="auto">
            <a:xfrm>
              <a:off x="2189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4" name="Line 126"/>
            <p:cNvSpPr>
              <a:spLocks noChangeShapeType="1"/>
            </p:cNvSpPr>
            <p:nvPr/>
          </p:nvSpPr>
          <p:spPr bwMode="auto">
            <a:xfrm>
              <a:off x="2197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5" name="Line 127"/>
            <p:cNvSpPr>
              <a:spLocks noChangeShapeType="1"/>
            </p:cNvSpPr>
            <p:nvPr/>
          </p:nvSpPr>
          <p:spPr bwMode="auto">
            <a:xfrm>
              <a:off x="2206" y="2508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6" name="Line 128"/>
            <p:cNvSpPr>
              <a:spLocks noChangeShapeType="1"/>
            </p:cNvSpPr>
            <p:nvPr/>
          </p:nvSpPr>
          <p:spPr bwMode="auto">
            <a:xfrm>
              <a:off x="2214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7" name="Line 129"/>
            <p:cNvSpPr>
              <a:spLocks noChangeShapeType="1"/>
            </p:cNvSpPr>
            <p:nvPr/>
          </p:nvSpPr>
          <p:spPr bwMode="auto">
            <a:xfrm>
              <a:off x="2222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8" name="Line 130"/>
            <p:cNvSpPr>
              <a:spLocks noChangeShapeType="1"/>
            </p:cNvSpPr>
            <p:nvPr/>
          </p:nvSpPr>
          <p:spPr bwMode="auto">
            <a:xfrm>
              <a:off x="2230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79" name="Line 131"/>
            <p:cNvSpPr>
              <a:spLocks noChangeShapeType="1"/>
            </p:cNvSpPr>
            <p:nvPr/>
          </p:nvSpPr>
          <p:spPr bwMode="auto">
            <a:xfrm>
              <a:off x="2239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0" name="Line 132"/>
            <p:cNvSpPr>
              <a:spLocks noChangeShapeType="1"/>
            </p:cNvSpPr>
            <p:nvPr/>
          </p:nvSpPr>
          <p:spPr bwMode="auto">
            <a:xfrm>
              <a:off x="2247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1" name="Line 133"/>
            <p:cNvSpPr>
              <a:spLocks noChangeShapeType="1"/>
            </p:cNvSpPr>
            <p:nvPr/>
          </p:nvSpPr>
          <p:spPr bwMode="auto">
            <a:xfrm>
              <a:off x="2255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2" name="Line 134"/>
            <p:cNvSpPr>
              <a:spLocks noChangeShapeType="1"/>
            </p:cNvSpPr>
            <p:nvPr/>
          </p:nvSpPr>
          <p:spPr bwMode="auto">
            <a:xfrm>
              <a:off x="2263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3" name="Line 135"/>
            <p:cNvSpPr>
              <a:spLocks noChangeShapeType="1"/>
            </p:cNvSpPr>
            <p:nvPr/>
          </p:nvSpPr>
          <p:spPr bwMode="auto">
            <a:xfrm>
              <a:off x="2272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4" name="Line 136"/>
            <p:cNvSpPr>
              <a:spLocks noChangeShapeType="1"/>
            </p:cNvSpPr>
            <p:nvPr/>
          </p:nvSpPr>
          <p:spPr bwMode="auto">
            <a:xfrm>
              <a:off x="2280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5" name="Line 137"/>
            <p:cNvSpPr>
              <a:spLocks noChangeShapeType="1"/>
            </p:cNvSpPr>
            <p:nvPr/>
          </p:nvSpPr>
          <p:spPr bwMode="auto">
            <a:xfrm>
              <a:off x="2288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6" name="Line 138"/>
            <p:cNvSpPr>
              <a:spLocks noChangeShapeType="1"/>
            </p:cNvSpPr>
            <p:nvPr/>
          </p:nvSpPr>
          <p:spPr bwMode="auto">
            <a:xfrm>
              <a:off x="2296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7" name="Line 139"/>
            <p:cNvSpPr>
              <a:spLocks noChangeShapeType="1"/>
            </p:cNvSpPr>
            <p:nvPr/>
          </p:nvSpPr>
          <p:spPr bwMode="auto">
            <a:xfrm>
              <a:off x="2305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8" name="Line 140"/>
            <p:cNvSpPr>
              <a:spLocks noChangeShapeType="1"/>
            </p:cNvSpPr>
            <p:nvPr/>
          </p:nvSpPr>
          <p:spPr bwMode="auto">
            <a:xfrm>
              <a:off x="2313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89" name="Line 141"/>
            <p:cNvSpPr>
              <a:spLocks noChangeShapeType="1"/>
            </p:cNvSpPr>
            <p:nvPr/>
          </p:nvSpPr>
          <p:spPr bwMode="auto">
            <a:xfrm>
              <a:off x="2321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90" name="Line 142"/>
            <p:cNvSpPr>
              <a:spLocks noChangeShapeType="1"/>
            </p:cNvSpPr>
            <p:nvPr/>
          </p:nvSpPr>
          <p:spPr bwMode="auto">
            <a:xfrm>
              <a:off x="2329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91" name="Line 143"/>
            <p:cNvSpPr>
              <a:spLocks noChangeShapeType="1"/>
            </p:cNvSpPr>
            <p:nvPr/>
          </p:nvSpPr>
          <p:spPr bwMode="auto">
            <a:xfrm>
              <a:off x="2338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92" name="Line 144"/>
            <p:cNvSpPr>
              <a:spLocks noChangeShapeType="1"/>
            </p:cNvSpPr>
            <p:nvPr/>
          </p:nvSpPr>
          <p:spPr bwMode="auto">
            <a:xfrm>
              <a:off x="2346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93" name="Line 145"/>
            <p:cNvSpPr>
              <a:spLocks noChangeShapeType="1"/>
            </p:cNvSpPr>
            <p:nvPr/>
          </p:nvSpPr>
          <p:spPr bwMode="auto">
            <a:xfrm>
              <a:off x="2354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94" name="Line 146"/>
            <p:cNvSpPr>
              <a:spLocks noChangeShapeType="1"/>
            </p:cNvSpPr>
            <p:nvPr/>
          </p:nvSpPr>
          <p:spPr bwMode="auto">
            <a:xfrm>
              <a:off x="2362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95" name="Line 147"/>
            <p:cNvSpPr>
              <a:spLocks noChangeShapeType="1"/>
            </p:cNvSpPr>
            <p:nvPr/>
          </p:nvSpPr>
          <p:spPr bwMode="auto">
            <a:xfrm>
              <a:off x="2371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96" name="Line 148"/>
            <p:cNvSpPr>
              <a:spLocks noChangeShapeType="1"/>
            </p:cNvSpPr>
            <p:nvPr/>
          </p:nvSpPr>
          <p:spPr bwMode="auto">
            <a:xfrm>
              <a:off x="2379" y="2508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97" name="Line 149"/>
            <p:cNvSpPr>
              <a:spLocks noChangeShapeType="1"/>
            </p:cNvSpPr>
            <p:nvPr/>
          </p:nvSpPr>
          <p:spPr bwMode="auto">
            <a:xfrm>
              <a:off x="2387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98" name="Line 150"/>
            <p:cNvSpPr>
              <a:spLocks noChangeShapeType="1"/>
            </p:cNvSpPr>
            <p:nvPr/>
          </p:nvSpPr>
          <p:spPr bwMode="auto">
            <a:xfrm>
              <a:off x="2395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99" name="Line 151"/>
            <p:cNvSpPr>
              <a:spLocks noChangeShapeType="1"/>
            </p:cNvSpPr>
            <p:nvPr/>
          </p:nvSpPr>
          <p:spPr bwMode="auto">
            <a:xfrm>
              <a:off x="2405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00" name="Line 152"/>
            <p:cNvSpPr>
              <a:spLocks noChangeShapeType="1"/>
            </p:cNvSpPr>
            <p:nvPr/>
          </p:nvSpPr>
          <p:spPr bwMode="auto">
            <a:xfrm>
              <a:off x="2412" y="2508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01" name="Line 153"/>
            <p:cNvSpPr>
              <a:spLocks noChangeShapeType="1"/>
            </p:cNvSpPr>
            <p:nvPr/>
          </p:nvSpPr>
          <p:spPr bwMode="auto">
            <a:xfrm flipV="1">
              <a:off x="2420" y="250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02" name="Line 154"/>
            <p:cNvSpPr>
              <a:spLocks noChangeShapeType="1"/>
            </p:cNvSpPr>
            <p:nvPr/>
          </p:nvSpPr>
          <p:spPr bwMode="auto">
            <a:xfrm flipV="1">
              <a:off x="2420" y="249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03" name="Line 155"/>
            <p:cNvSpPr>
              <a:spLocks noChangeShapeType="1"/>
            </p:cNvSpPr>
            <p:nvPr/>
          </p:nvSpPr>
          <p:spPr bwMode="auto">
            <a:xfrm flipV="1">
              <a:off x="2420" y="2487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04" name="Line 156"/>
            <p:cNvSpPr>
              <a:spLocks noChangeShapeType="1"/>
            </p:cNvSpPr>
            <p:nvPr/>
          </p:nvSpPr>
          <p:spPr bwMode="auto">
            <a:xfrm flipV="1">
              <a:off x="2420" y="247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05" name="Line 157"/>
            <p:cNvSpPr>
              <a:spLocks noChangeShapeType="1"/>
            </p:cNvSpPr>
            <p:nvPr/>
          </p:nvSpPr>
          <p:spPr bwMode="auto">
            <a:xfrm flipV="1">
              <a:off x="2420" y="247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06" name="Line 158"/>
            <p:cNvSpPr>
              <a:spLocks noChangeShapeType="1"/>
            </p:cNvSpPr>
            <p:nvPr/>
          </p:nvSpPr>
          <p:spPr bwMode="auto">
            <a:xfrm flipV="1">
              <a:off x="2420" y="246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07" name="Line 159"/>
            <p:cNvSpPr>
              <a:spLocks noChangeShapeType="1"/>
            </p:cNvSpPr>
            <p:nvPr/>
          </p:nvSpPr>
          <p:spPr bwMode="auto">
            <a:xfrm flipV="1">
              <a:off x="2420" y="2454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08" name="Line 160"/>
            <p:cNvSpPr>
              <a:spLocks noChangeShapeType="1"/>
            </p:cNvSpPr>
            <p:nvPr/>
          </p:nvSpPr>
          <p:spPr bwMode="auto">
            <a:xfrm flipV="1">
              <a:off x="2420" y="244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09" name="Line 161"/>
            <p:cNvSpPr>
              <a:spLocks noChangeShapeType="1"/>
            </p:cNvSpPr>
            <p:nvPr/>
          </p:nvSpPr>
          <p:spPr bwMode="auto">
            <a:xfrm flipV="1">
              <a:off x="2420" y="2438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0" name="Line 162"/>
            <p:cNvSpPr>
              <a:spLocks noChangeShapeType="1"/>
            </p:cNvSpPr>
            <p:nvPr/>
          </p:nvSpPr>
          <p:spPr bwMode="auto">
            <a:xfrm flipV="1">
              <a:off x="2420" y="243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1" name="Line 163"/>
            <p:cNvSpPr>
              <a:spLocks noChangeShapeType="1"/>
            </p:cNvSpPr>
            <p:nvPr/>
          </p:nvSpPr>
          <p:spPr bwMode="auto">
            <a:xfrm flipV="1">
              <a:off x="2420" y="242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2" name="Line 164"/>
            <p:cNvSpPr>
              <a:spLocks noChangeShapeType="1"/>
            </p:cNvSpPr>
            <p:nvPr/>
          </p:nvSpPr>
          <p:spPr bwMode="auto">
            <a:xfrm flipV="1">
              <a:off x="2420" y="241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3" name="Line 165"/>
            <p:cNvSpPr>
              <a:spLocks noChangeShapeType="1"/>
            </p:cNvSpPr>
            <p:nvPr/>
          </p:nvSpPr>
          <p:spPr bwMode="auto">
            <a:xfrm flipV="1">
              <a:off x="2420" y="240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4" name="Line 166"/>
            <p:cNvSpPr>
              <a:spLocks noChangeShapeType="1"/>
            </p:cNvSpPr>
            <p:nvPr/>
          </p:nvSpPr>
          <p:spPr bwMode="auto">
            <a:xfrm flipV="1">
              <a:off x="2420" y="239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5" name="Line 167"/>
            <p:cNvSpPr>
              <a:spLocks noChangeShapeType="1"/>
            </p:cNvSpPr>
            <p:nvPr/>
          </p:nvSpPr>
          <p:spPr bwMode="auto">
            <a:xfrm flipV="1">
              <a:off x="2420" y="238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6" name="Line 168"/>
            <p:cNvSpPr>
              <a:spLocks noChangeShapeType="1"/>
            </p:cNvSpPr>
            <p:nvPr/>
          </p:nvSpPr>
          <p:spPr bwMode="auto">
            <a:xfrm flipV="1">
              <a:off x="2420" y="238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7" name="Line 169"/>
            <p:cNvSpPr>
              <a:spLocks noChangeShapeType="1"/>
            </p:cNvSpPr>
            <p:nvPr/>
          </p:nvSpPr>
          <p:spPr bwMode="auto">
            <a:xfrm flipV="1">
              <a:off x="2420" y="2374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8" name="Line 170"/>
            <p:cNvSpPr>
              <a:spLocks noChangeShapeType="1"/>
            </p:cNvSpPr>
            <p:nvPr/>
          </p:nvSpPr>
          <p:spPr bwMode="auto">
            <a:xfrm flipV="1">
              <a:off x="2420" y="236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9" name="Line 171"/>
            <p:cNvSpPr>
              <a:spLocks noChangeShapeType="1"/>
            </p:cNvSpPr>
            <p:nvPr/>
          </p:nvSpPr>
          <p:spPr bwMode="auto">
            <a:xfrm flipV="1">
              <a:off x="2420" y="235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0" name="Line 172"/>
            <p:cNvSpPr>
              <a:spLocks noChangeShapeType="1"/>
            </p:cNvSpPr>
            <p:nvPr/>
          </p:nvSpPr>
          <p:spPr bwMode="auto">
            <a:xfrm flipV="1">
              <a:off x="2420" y="2349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1" name="Line 173"/>
            <p:cNvSpPr>
              <a:spLocks noChangeShapeType="1"/>
            </p:cNvSpPr>
            <p:nvPr/>
          </p:nvSpPr>
          <p:spPr bwMode="auto">
            <a:xfrm flipV="1">
              <a:off x="2420" y="234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2" name="Line 174"/>
            <p:cNvSpPr>
              <a:spLocks noChangeShapeType="1"/>
            </p:cNvSpPr>
            <p:nvPr/>
          </p:nvSpPr>
          <p:spPr bwMode="auto">
            <a:xfrm flipV="1">
              <a:off x="2420" y="2331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3" name="Line 175"/>
            <p:cNvSpPr>
              <a:spLocks noChangeShapeType="1"/>
            </p:cNvSpPr>
            <p:nvPr/>
          </p:nvSpPr>
          <p:spPr bwMode="auto">
            <a:xfrm flipV="1">
              <a:off x="2420" y="232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4" name="Line 176"/>
            <p:cNvSpPr>
              <a:spLocks noChangeShapeType="1"/>
            </p:cNvSpPr>
            <p:nvPr/>
          </p:nvSpPr>
          <p:spPr bwMode="auto">
            <a:xfrm flipV="1">
              <a:off x="2420" y="231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5" name="Line 177"/>
            <p:cNvSpPr>
              <a:spLocks noChangeShapeType="1"/>
            </p:cNvSpPr>
            <p:nvPr/>
          </p:nvSpPr>
          <p:spPr bwMode="auto">
            <a:xfrm flipV="1">
              <a:off x="2420" y="230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6" name="Line 178"/>
            <p:cNvSpPr>
              <a:spLocks noChangeShapeType="1"/>
            </p:cNvSpPr>
            <p:nvPr/>
          </p:nvSpPr>
          <p:spPr bwMode="auto">
            <a:xfrm flipV="1">
              <a:off x="2420" y="2298"/>
              <a:ext cx="1" cy="6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7" name="Line 179"/>
            <p:cNvSpPr>
              <a:spLocks noChangeShapeType="1"/>
            </p:cNvSpPr>
            <p:nvPr/>
          </p:nvSpPr>
          <p:spPr bwMode="auto">
            <a:xfrm flipV="1">
              <a:off x="2420" y="229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8" name="Line 180"/>
            <p:cNvSpPr>
              <a:spLocks noChangeShapeType="1"/>
            </p:cNvSpPr>
            <p:nvPr/>
          </p:nvSpPr>
          <p:spPr bwMode="auto">
            <a:xfrm flipV="1">
              <a:off x="2420" y="228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9" name="Line 181"/>
            <p:cNvSpPr>
              <a:spLocks noChangeShapeType="1"/>
            </p:cNvSpPr>
            <p:nvPr/>
          </p:nvSpPr>
          <p:spPr bwMode="auto">
            <a:xfrm flipV="1">
              <a:off x="2420" y="2274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0" name="Line 182"/>
            <p:cNvSpPr>
              <a:spLocks noChangeShapeType="1"/>
            </p:cNvSpPr>
            <p:nvPr/>
          </p:nvSpPr>
          <p:spPr bwMode="auto">
            <a:xfrm flipV="1">
              <a:off x="2420" y="2265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1" name="Line 183"/>
            <p:cNvSpPr>
              <a:spLocks noChangeShapeType="1"/>
            </p:cNvSpPr>
            <p:nvPr/>
          </p:nvSpPr>
          <p:spPr bwMode="auto">
            <a:xfrm flipV="1">
              <a:off x="2420" y="2258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2" name="Line 184"/>
            <p:cNvSpPr>
              <a:spLocks noChangeShapeType="1"/>
            </p:cNvSpPr>
            <p:nvPr/>
          </p:nvSpPr>
          <p:spPr bwMode="auto">
            <a:xfrm flipV="1">
              <a:off x="2420" y="225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3" name="Line 185"/>
            <p:cNvSpPr>
              <a:spLocks noChangeShapeType="1"/>
            </p:cNvSpPr>
            <p:nvPr/>
          </p:nvSpPr>
          <p:spPr bwMode="auto">
            <a:xfrm flipV="1">
              <a:off x="2420" y="224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4" name="Line 186"/>
            <p:cNvSpPr>
              <a:spLocks noChangeShapeType="1"/>
            </p:cNvSpPr>
            <p:nvPr/>
          </p:nvSpPr>
          <p:spPr bwMode="auto">
            <a:xfrm flipV="1">
              <a:off x="2420" y="223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5" name="Line 187"/>
            <p:cNvSpPr>
              <a:spLocks noChangeShapeType="1"/>
            </p:cNvSpPr>
            <p:nvPr/>
          </p:nvSpPr>
          <p:spPr bwMode="auto">
            <a:xfrm flipV="1">
              <a:off x="2420" y="2225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6" name="Line 188"/>
            <p:cNvSpPr>
              <a:spLocks noChangeShapeType="1"/>
            </p:cNvSpPr>
            <p:nvPr/>
          </p:nvSpPr>
          <p:spPr bwMode="auto">
            <a:xfrm flipV="1">
              <a:off x="2420" y="221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7" name="Line 189"/>
            <p:cNvSpPr>
              <a:spLocks noChangeShapeType="1"/>
            </p:cNvSpPr>
            <p:nvPr/>
          </p:nvSpPr>
          <p:spPr bwMode="auto">
            <a:xfrm flipV="1">
              <a:off x="2420" y="2210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8" name="Line 190"/>
            <p:cNvSpPr>
              <a:spLocks noChangeShapeType="1"/>
            </p:cNvSpPr>
            <p:nvPr/>
          </p:nvSpPr>
          <p:spPr bwMode="auto">
            <a:xfrm flipV="1">
              <a:off x="2420" y="2200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39" name="Line 191"/>
            <p:cNvSpPr>
              <a:spLocks noChangeShapeType="1"/>
            </p:cNvSpPr>
            <p:nvPr/>
          </p:nvSpPr>
          <p:spPr bwMode="auto">
            <a:xfrm flipV="1">
              <a:off x="2420" y="219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0" name="Line 192"/>
            <p:cNvSpPr>
              <a:spLocks noChangeShapeType="1"/>
            </p:cNvSpPr>
            <p:nvPr/>
          </p:nvSpPr>
          <p:spPr bwMode="auto">
            <a:xfrm flipV="1">
              <a:off x="2420" y="218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1" name="Line 193"/>
            <p:cNvSpPr>
              <a:spLocks noChangeShapeType="1"/>
            </p:cNvSpPr>
            <p:nvPr/>
          </p:nvSpPr>
          <p:spPr bwMode="auto">
            <a:xfrm flipV="1">
              <a:off x="2420" y="2176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2" name="Line 194"/>
            <p:cNvSpPr>
              <a:spLocks noChangeShapeType="1"/>
            </p:cNvSpPr>
            <p:nvPr/>
          </p:nvSpPr>
          <p:spPr bwMode="auto">
            <a:xfrm flipV="1">
              <a:off x="2420" y="216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3" name="Line 195"/>
            <p:cNvSpPr>
              <a:spLocks noChangeShapeType="1"/>
            </p:cNvSpPr>
            <p:nvPr/>
          </p:nvSpPr>
          <p:spPr bwMode="auto">
            <a:xfrm flipV="1">
              <a:off x="2420" y="216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4" name="Line 196"/>
            <p:cNvSpPr>
              <a:spLocks noChangeShapeType="1"/>
            </p:cNvSpPr>
            <p:nvPr/>
          </p:nvSpPr>
          <p:spPr bwMode="auto">
            <a:xfrm flipV="1">
              <a:off x="2420" y="215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5" name="Line 197"/>
            <p:cNvSpPr>
              <a:spLocks noChangeShapeType="1"/>
            </p:cNvSpPr>
            <p:nvPr/>
          </p:nvSpPr>
          <p:spPr bwMode="auto">
            <a:xfrm flipV="1">
              <a:off x="2420" y="214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6" name="Line 198"/>
            <p:cNvSpPr>
              <a:spLocks noChangeShapeType="1"/>
            </p:cNvSpPr>
            <p:nvPr/>
          </p:nvSpPr>
          <p:spPr bwMode="auto">
            <a:xfrm flipV="1">
              <a:off x="2420" y="213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7" name="Line 199"/>
            <p:cNvSpPr>
              <a:spLocks noChangeShapeType="1"/>
            </p:cNvSpPr>
            <p:nvPr/>
          </p:nvSpPr>
          <p:spPr bwMode="auto">
            <a:xfrm flipV="1">
              <a:off x="2420" y="212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8" name="Line 200"/>
            <p:cNvSpPr>
              <a:spLocks noChangeShapeType="1"/>
            </p:cNvSpPr>
            <p:nvPr/>
          </p:nvSpPr>
          <p:spPr bwMode="auto">
            <a:xfrm flipV="1">
              <a:off x="2420" y="2119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49" name="Line 201"/>
            <p:cNvSpPr>
              <a:spLocks noChangeShapeType="1"/>
            </p:cNvSpPr>
            <p:nvPr/>
          </p:nvSpPr>
          <p:spPr bwMode="auto">
            <a:xfrm flipV="1">
              <a:off x="2420" y="211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0" name="Line 202"/>
            <p:cNvSpPr>
              <a:spLocks noChangeShapeType="1"/>
            </p:cNvSpPr>
            <p:nvPr/>
          </p:nvSpPr>
          <p:spPr bwMode="auto">
            <a:xfrm flipV="1">
              <a:off x="2420" y="210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1" name="Line 203"/>
            <p:cNvSpPr>
              <a:spLocks noChangeShapeType="1"/>
            </p:cNvSpPr>
            <p:nvPr/>
          </p:nvSpPr>
          <p:spPr bwMode="auto">
            <a:xfrm flipV="1">
              <a:off x="2420" y="2094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2" name="Line 204"/>
            <p:cNvSpPr>
              <a:spLocks noChangeShapeType="1"/>
            </p:cNvSpPr>
            <p:nvPr/>
          </p:nvSpPr>
          <p:spPr bwMode="auto">
            <a:xfrm flipV="1">
              <a:off x="2420" y="208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3" name="Line 205"/>
            <p:cNvSpPr>
              <a:spLocks noChangeShapeType="1"/>
            </p:cNvSpPr>
            <p:nvPr/>
          </p:nvSpPr>
          <p:spPr bwMode="auto">
            <a:xfrm flipV="1">
              <a:off x="2420" y="2077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4" name="Line 206"/>
            <p:cNvSpPr>
              <a:spLocks noChangeShapeType="1"/>
            </p:cNvSpPr>
            <p:nvPr/>
          </p:nvSpPr>
          <p:spPr bwMode="auto">
            <a:xfrm flipV="1">
              <a:off x="2420" y="2070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5" name="Line 207"/>
            <p:cNvSpPr>
              <a:spLocks noChangeShapeType="1"/>
            </p:cNvSpPr>
            <p:nvPr/>
          </p:nvSpPr>
          <p:spPr bwMode="auto">
            <a:xfrm flipV="1">
              <a:off x="2420" y="206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6" name="Line 208"/>
            <p:cNvSpPr>
              <a:spLocks noChangeShapeType="1"/>
            </p:cNvSpPr>
            <p:nvPr/>
          </p:nvSpPr>
          <p:spPr bwMode="auto">
            <a:xfrm flipV="1">
              <a:off x="2420" y="205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7" name="Line 209"/>
            <p:cNvSpPr>
              <a:spLocks noChangeShapeType="1"/>
            </p:cNvSpPr>
            <p:nvPr/>
          </p:nvSpPr>
          <p:spPr bwMode="auto">
            <a:xfrm flipV="1">
              <a:off x="2420" y="2045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8" name="Line 210"/>
            <p:cNvSpPr>
              <a:spLocks noChangeShapeType="1"/>
            </p:cNvSpPr>
            <p:nvPr/>
          </p:nvSpPr>
          <p:spPr bwMode="auto">
            <a:xfrm flipV="1">
              <a:off x="2420" y="2036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59" name="Line 211"/>
            <p:cNvSpPr>
              <a:spLocks noChangeShapeType="1"/>
            </p:cNvSpPr>
            <p:nvPr/>
          </p:nvSpPr>
          <p:spPr bwMode="auto">
            <a:xfrm flipV="1">
              <a:off x="2420" y="202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60" name="Line 212"/>
            <p:cNvSpPr>
              <a:spLocks noChangeShapeType="1"/>
            </p:cNvSpPr>
            <p:nvPr/>
          </p:nvSpPr>
          <p:spPr bwMode="auto">
            <a:xfrm flipV="1">
              <a:off x="2420" y="202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61" name="Line 213"/>
            <p:cNvSpPr>
              <a:spLocks noChangeShapeType="1"/>
            </p:cNvSpPr>
            <p:nvPr/>
          </p:nvSpPr>
          <p:spPr bwMode="auto">
            <a:xfrm flipV="1">
              <a:off x="2420" y="2011"/>
              <a:ext cx="1" cy="6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62" name="Line 214"/>
            <p:cNvSpPr>
              <a:spLocks noChangeShapeType="1"/>
            </p:cNvSpPr>
            <p:nvPr/>
          </p:nvSpPr>
          <p:spPr bwMode="auto">
            <a:xfrm flipV="1">
              <a:off x="2420" y="2004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63" name="Line 215"/>
            <p:cNvSpPr>
              <a:spLocks noChangeShapeType="1"/>
            </p:cNvSpPr>
            <p:nvPr/>
          </p:nvSpPr>
          <p:spPr bwMode="auto">
            <a:xfrm flipV="1">
              <a:off x="2420" y="199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64" name="Line 216"/>
            <p:cNvSpPr>
              <a:spLocks noChangeShapeType="1"/>
            </p:cNvSpPr>
            <p:nvPr/>
          </p:nvSpPr>
          <p:spPr bwMode="auto">
            <a:xfrm flipV="1">
              <a:off x="2420" y="1987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65" name="Line 217"/>
            <p:cNvSpPr>
              <a:spLocks noChangeShapeType="1"/>
            </p:cNvSpPr>
            <p:nvPr/>
          </p:nvSpPr>
          <p:spPr bwMode="auto">
            <a:xfrm flipV="1">
              <a:off x="2420" y="197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66" name="Line 218"/>
            <p:cNvSpPr>
              <a:spLocks noChangeShapeType="1"/>
            </p:cNvSpPr>
            <p:nvPr/>
          </p:nvSpPr>
          <p:spPr bwMode="auto">
            <a:xfrm flipV="1">
              <a:off x="2420" y="197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67" name="Line 219"/>
            <p:cNvSpPr>
              <a:spLocks noChangeShapeType="1"/>
            </p:cNvSpPr>
            <p:nvPr/>
          </p:nvSpPr>
          <p:spPr bwMode="auto">
            <a:xfrm flipV="1">
              <a:off x="2420" y="1962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68" name="Line 220"/>
            <p:cNvSpPr>
              <a:spLocks noChangeShapeType="1"/>
            </p:cNvSpPr>
            <p:nvPr/>
          </p:nvSpPr>
          <p:spPr bwMode="auto">
            <a:xfrm flipV="1">
              <a:off x="2420" y="1955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" name="Group 221"/>
          <p:cNvGrpSpPr>
            <a:grpSpLocks/>
          </p:cNvGrpSpPr>
          <p:nvPr/>
        </p:nvGrpSpPr>
        <p:grpSpPr bwMode="auto">
          <a:xfrm>
            <a:off x="2165350" y="2406650"/>
            <a:ext cx="1677988" cy="688975"/>
            <a:chOff x="1364" y="1516"/>
            <a:chExt cx="1057" cy="434"/>
          </a:xfrm>
        </p:grpSpPr>
        <p:sp>
          <p:nvSpPr>
            <p:cNvPr id="2270" name="Line 222"/>
            <p:cNvSpPr>
              <a:spLocks noChangeShapeType="1"/>
            </p:cNvSpPr>
            <p:nvPr/>
          </p:nvSpPr>
          <p:spPr bwMode="auto">
            <a:xfrm flipV="1">
              <a:off x="2420" y="194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71" name="Line 223"/>
            <p:cNvSpPr>
              <a:spLocks noChangeShapeType="1"/>
            </p:cNvSpPr>
            <p:nvPr/>
          </p:nvSpPr>
          <p:spPr bwMode="auto">
            <a:xfrm flipV="1">
              <a:off x="2420" y="1937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72" name="Line 224"/>
            <p:cNvSpPr>
              <a:spLocks noChangeShapeType="1"/>
            </p:cNvSpPr>
            <p:nvPr/>
          </p:nvSpPr>
          <p:spPr bwMode="auto">
            <a:xfrm flipV="1">
              <a:off x="2420" y="193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73" name="Line 225"/>
            <p:cNvSpPr>
              <a:spLocks noChangeShapeType="1"/>
            </p:cNvSpPr>
            <p:nvPr/>
          </p:nvSpPr>
          <p:spPr bwMode="auto">
            <a:xfrm flipV="1">
              <a:off x="2420" y="192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74" name="Line 226"/>
            <p:cNvSpPr>
              <a:spLocks noChangeShapeType="1"/>
            </p:cNvSpPr>
            <p:nvPr/>
          </p:nvSpPr>
          <p:spPr bwMode="auto">
            <a:xfrm flipV="1">
              <a:off x="2420" y="191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75" name="Line 227"/>
            <p:cNvSpPr>
              <a:spLocks noChangeShapeType="1"/>
            </p:cNvSpPr>
            <p:nvPr/>
          </p:nvSpPr>
          <p:spPr bwMode="auto">
            <a:xfrm flipV="1">
              <a:off x="2420" y="190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76" name="Line 228"/>
            <p:cNvSpPr>
              <a:spLocks noChangeShapeType="1"/>
            </p:cNvSpPr>
            <p:nvPr/>
          </p:nvSpPr>
          <p:spPr bwMode="auto">
            <a:xfrm flipV="1">
              <a:off x="2420" y="189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77" name="Line 229"/>
            <p:cNvSpPr>
              <a:spLocks noChangeShapeType="1"/>
            </p:cNvSpPr>
            <p:nvPr/>
          </p:nvSpPr>
          <p:spPr bwMode="auto">
            <a:xfrm flipV="1">
              <a:off x="2420" y="188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78" name="Line 230"/>
            <p:cNvSpPr>
              <a:spLocks noChangeShapeType="1"/>
            </p:cNvSpPr>
            <p:nvPr/>
          </p:nvSpPr>
          <p:spPr bwMode="auto">
            <a:xfrm flipV="1">
              <a:off x="2420" y="188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79" name="Line 231"/>
            <p:cNvSpPr>
              <a:spLocks noChangeShapeType="1"/>
            </p:cNvSpPr>
            <p:nvPr/>
          </p:nvSpPr>
          <p:spPr bwMode="auto">
            <a:xfrm flipV="1">
              <a:off x="2420" y="187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80" name="Line 232"/>
            <p:cNvSpPr>
              <a:spLocks noChangeShapeType="1"/>
            </p:cNvSpPr>
            <p:nvPr/>
          </p:nvSpPr>
          <p:spPr bwMode="auto">
            <a:xfrm flipV="1">
              <a:off x="2420" y="186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81" name="Line 233"/>
            <p:cNvSpPr>
              <a:spLocks noChangeShapeType="1"/>
            </p:cNvSpPr>
            <p:nvPr/>
          </p:nvSpPr>
          <p:spPr bwMode="auto">
            <a:xfrm flipV="1">
              <a:off x="2420" y="1856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82" name="Line 234"/>
            <p:cNvSpPr>
              <a:spLocks noChangeShapeType="1"/>
            </p:cNvSpPr>
            <p:nvPr/>
          </p:nvSpPr>
          <p:spPr bwMode="auto">
            <a:xfrm flipV="1">
              <a:off x="2420" y="184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83" name="Line 235"/>
            <p:cNvSpPr>
              <a:spLocks noChangeShapeType="1"/>
            </p:cNvSpPr>
            <p:nvPr/>
          </p:nvSpPr>
          <p:spPr bwMode="auto">
            <a:xfrm flipV="1">
              <a:off x="2420" y="1840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84" name="Line 236"/>
            <p:cNvSpPr>
              <a:spLocks noChangeShapeType="1"/>
            </p:cNvSpPr>
            <p:nvPr/>
          </p:nvSpPr>
          <p:spPr bwMode="auto">
            <a:xfrm flipV="1">
              <a:off x="2420" y="183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85" name="Line 237"/>
            <p:cNvSpPr>
              <a:spLocks noChangeShapeType="1"/>
            </p:cNvSpPr>
            <p:nvPr/>
          </p:nvSpPr>
          <p:spPr bwMode="auto">
            <a:xfrm flipV="1">
              <a:off x="2420" y="1823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86" name="Line 238"/>
            <p:cNvSpPr>
              <a:spLocks noChangeShapeType="1"/>
            </p:cNvSpPr>
            <p:nvPr/>
          </p:nvSpPr>
          <p:spPr bwMode="auto">
            <a:xfrm flipV="1">
              <a:off x="2420" y="1815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87" name="Line 239"/>
            <p:cNvSpPr>
              <a:spLocks noChangeShapeType="1"/>
            </p:cNvSpPr>
            <p:nvPr/>
          </p:nvSpPr>
          <p:spPr bwMode="auto">
            <a:xfrm flipV="1">
              <a:off x="2420" y="180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88" name="Line 240"/>
            <p:cNvSpPr>
              <a:spLocks noChangeShapeType="1"/>
            </p:cNvSpPr>
            <p:nvPr/>
          </p:nvSpPr>
          <p:spPr bwMode="auto">
            <a:xfrm flipV="1">
              <a:off x="2420" y="179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89" name="Line 241"/>
            <p:cNvSpPr>
              <a:spLocks noChangeShapeType="1"/>
            </p:cNvSpPr>
            <p:nvPr/>
          </p:nvSpPr>
          <p:spPr bwMode="auto">
            <a:xfrm flipV="1">
              <a:off x="2420" y="1790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90" name="Line 242"/>
            <p:cNvSpPr>
              <a:spLocks noChangeShapeType="1"/>
            </p:cNvSpPr>
            <p:nvPr/>
          </p:nvSpPr>
          <p:spPr bwMode="auto">
            <a:xfrm flipV="1">
              <a:off x="2420" y="178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91" name="Line 243"/>
            <p:cNvSpPr>
              <a:spLocks noChangeShapeType="1"/>
            </p:cNvSpPr>
            <p:nvPr/>
          </p:nvSpPr>
          <p:spPr bwMode="auto">
            <a:xfrm flipV="1">
              <a:off x="2420" y="1773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92" name="Line 244"/>
            <p:cNvSpPr>
              <a:spLocks noChangeShapeType="1"/>
            </p:cNvSpPr>
            <p:nvPr/>
          </p:nvSpPr>
          <p:spPr bwMode="auto">
            <a:xfrm flipV="1">
              <a:off x="2420" y="176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93" name="Line 245"/>
            <p:cNvSpPr>
              <a:spLocks noChangeShapeType="1"/>
            </p:cNvSpPr>
            <p:nvPr/>
          </p:nvSpPr>
          <p:spPr bwMode="auto">
            <a:xfrm flipV="1">
              <a:off x="2420" y="1757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94" name="Line 246"/>
            <p:cNvSpPr>
              <a:spLocks noChangeShapeType="1"/>
            </p:cNvSpPr>
            <p:nvPr/>
          </p:nvSpPr>
          <p:spPr bwMode="auto">
            <a:xfrm flipV="1">
              <a:off x="2420" y="1748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95" name="Line 247"/>
            <p:cNvSpPr>
              <a:spLocks noChangeShapeType="1"/>
            </p:cNvSpPr>
            <p:nvPr/>
          </p:nvSpPr>
          <p:spPr bwMode="auto">
            <a:xfrm flipV="1">
              <a:off x="2420" y="174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96" name="Line 248"/>
            <p:cNvSpPr>
              <a:spLocks noChangeShapeType="1"/>
            </p:cNvSpPr>
            <p:nvPr/>
          </p:nvSpPr>
          <p:spPr bwMode="auto">
            <a:xfrm flipV="1">
              <a:off x="2420" y="173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97" name="Line 249"/>
            <p:cNvSpPr>
              <a:spLocks noChangeShapeType="1"/>
            </p:cNvSpPr>
            <p:nvPr/>
          </p:nvSpPr>
          <p:spPr bwMode="auto">
            <a:xfrm flipV="1">
              <a:off x="2420" y="172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98" name="Line 250"/>
            <p:cNvSpPr>
              <a:spLocks noChangeShapeType="1"/>
            </p:cNvSpPr>
            <p:nvPr/>
          </p:nvSpPr>
          <p:spPr bwMode="auto">
            <a:xfrm flipV="1">
              <a:off x="2420" y="171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99" name="Line 251"/>
            <p:cNvSpPr>
              <a:spLocks noChangeShapeType="1"/>
            </p:cNvSpPr>
            <p:nvPr/>
          </p:nvSpPr>
          <p:spPr bwMode="auto">
            <a:xfrm flipV="1">
              <a:off x="2420" y="170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00" name="Line 252"/>
            <p:cNvSpPr>
              <a:spLocks noChangeShapeType="1"/>
            </p:cNvSpPr>
            <p:nvPr/>
          </p:nvSpPr>
          <p:spPr bwMode="auto">
            <a:xfrm flipV="1">
              <a:off x="2420" y="170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01" name="Line 253"/>
            <p:cNvSpPr>
              <a:spLocks noChangeShapeType="1"/>
            </p:cNvSpPr>
            <p:nvPr/>
          </p:nvSpPr>
          <p:spPr bwMode="auto">
            <a:xfrm flipV="1">
              <a:off x="2420" y="169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02" name="Line 254"/>
            <p:cNvSpPr>
              <a:spLocks noChangeShapeType="1"/>
            </p:cNvSpPr>
            <p:nvPr/>
          </p:nvSpPr>
          <p:spPr bwMode="auto">
            <a:xfrm flipV="1">
              <a:off x="2420" y="168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03" name="Line 255"/>
            <p:cNvSpPr>
              <a:spLocks noChangeShapeType="1"/>
            </p:cNvSpPr>
            <p:nvPr/>
          </p:nvSpPr>
          <p:spPr bwMode="auto">
            <a:xfrm flipV="1">
              <a:off x="2420" y="167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04" name="Line 256"/>
            <p:cNvSpPr>
              <a:spLocks noChangeShapeType="1"/>
            </p:cNvSpPr>
            <p:nvPr/>
          </p:nvSpPr>
          <p:spPr bwMode="auto">
            <a:xfrm flipV="1">
              <a:off x="2420" y="166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05" name="Line 257"/>
            <p:cNvSpPr>
              <a:spLocks noChangeShapeType="1"/>
            </p:cNvSpPr>
            <p:nvPr/>
          </p:nvSpPr>
          <p:spPr bwMode="auto">
            <a:xfrm flipV="1">
              <a:off x="2420" y="165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06" name="Line 258"/>
            <p:cNvSpPr>
              <a:spLocks noChangeShapeType="1"/>
            </p:cNvSpPr>
            <p:nvPr/>
          </p:nvSpPr>
          <p:spPr bwMode="auto">
            <a:xfrm flipV="1">
              <a:off x="2420" y="165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07" name="Line 259"/>
            <p:cNvSpPr>
              <a:spLocks noChangeShapeType="1"/>
            </p:cNvSpPr>
            <p:nvPr/>
          </p:nvSpPr>
          <p:spPr bwMode="auto">
            <a:xfrm flipV="1">
              <a:off x="2420" y="164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08" name="Line 260"/>
            <p:cNvSpPr>
              <a:spLocks noChangeShapeType="1"/>
            </p:cNvSpPr>
            <p:nvPr/>
          </p:nvSpPr>
          <p:spPr bwMode="auto">
            <a:xfrm flipV="1">
              <a:off x="2420" y="163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09" name="Line 261"/>
            <p:cNvSpPr>
              <a:spLocks noChangeShapeType="1"/>
            </p:cNvSpPr>
            <p:nvPr/>
          </p:nvSpPr>
          <p:spPr bwMode="auto">
            <a:xfrm flipV="1">
              <a:off x="2420" y="162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10" name="Line 262"/>
            <p:cNvSpPr>
              <a:spLocks noChangeShapeType="1"/>
            </p:cNvSpPr>
            <p:nvPr/>
          </p:nvSpPr>
          <p:spPr bwMode="auto">
            <a:xfrm flipV="1">
              <a:off x="2420" y="161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11" name="Line 263"/>
            <p:cNvSpPr>
              <a:spLocks noChangeShapeType="1"/>
            </p:cNvSpPr>
            <p:nvPr/>
          </p:nvSpPr>
          <p:spPr bwMode="auto">
            <a:xfrm flipV="1">
              <a:off x="2420" y="161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12" name="Line 264"/>
            <p:cNvSpPr>
              <a:spLocks noChangeShapeType="1"/>
            </p:cNvSpPr>
            <p:nvPr/>
          </p:nvSpPr>
          <p:spPr bwMode="auto">
            <a:xfrm flipV="1">
              <a:off x="2420" y="1601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13" name="Line 265"/>
            <p:cNvSpPr>
              <a:spLocks noChangeShapeType="1"/>
            </p:cNvSpPr>
            <p:nvPr/>
          </p:nvSpPr>
          <p:spPr bwMode="auto">
            <a:xfrm flipV="1">
              <a:off x="2420" y="159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14" name="Line 266"/>
            <p:cNvSpPr>
              <a:spLocks noChangeShapeType="1"/>
            </p:cNvSpPr>
            <p:nvPr/>
          </p:nvSpPr>
          <p:spPr bwMode="auto">
            <a:xfrm flipV="1">
              <a:off x="2420" y="1586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15" name="Line 267"/>
            <p:cNvSpPr>
              <a:spLocks noChangeShapeType="1"/>
            </p:cNvSpPr>
            <p:nvPr/>
          </p:nvSpPr>
          <p:spPr bwMode="auto">
            <a:xfrm flipV="1">
              <a:off x="2420" y="157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16" name="Line 268"/>
            <p:cNvSpPr>
              <a:spLocks noChangeShapeType="1"/>
            </p:cNvSpPr>
            <p:nvPr/>
          </p:nvSpPr>
          <p:spPr bwMode="auto">
            <a:xfrm flipV="1">
              <a:off x="2420" y="1568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17" name="Line 269"/>
            <p:cNvSpPr>
              <a:spLocks noChangeShapeType="1"/>
            </p:cNvSpPr>
            <p:nvPr/>
          </p:nvSpPr>
          <p:spPr bwMode="auto">
            <a:xfrm flipV="1">
              <a:off x="2420" y="1562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18" name="Line 270"/>
            <p:cNvSpPr>
              <a:spLocks noChangeShapeType="1"/>
            </p:cNvSpPr>
            <p:nvPr/>
          </p:nvSpPr>
          <p:spPr bwMode="auto">
            <a:xfrm flipV="1">
              <a:off x="2420" y="155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19" name="Line 271"/>
            <p:cNvSpPr>
              <a:spLocks noChangeShapeType="1"/>
            </p:cNvSpPr>
            <p:nvPr/>
          </p:nvSpPr>
          <p:spPr bwMode="auto">
            <a:xfrm flipV="1">
              <a:off x="2420" y="154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20" name="Line 272"/>
            <p:cNvSpPr>
              <a:spLocks noChangeShapeType="1"/>
            </p:cNvSpPr>
            <p:nvPr/>
          </p:nvSpPr>
          <p:spPr bwMode="auto">
            <a:xfrm flipV="1">
              <a:off x="2420" y="1536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21" name="Line 273"/>
            <p:cNvSpPr>
              <a:spLocks noChangeShapeType="1"/>
            </p:cNvSpPr>
            <p:nvPr/>
          </p:nvSpPr>
          <p:spPr bwMode="auto">
            <a:xfrm flipV="1">
              <a:off x="2420" y="152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22" name="Line 274"/>
            <p:cNvSpPr>
              <a:spLocks noChangeShapeType="1"/>
            </p:cNvSpPr>
            <p:nvPr/>
          </p:nvSpPr>
          <p:spPr bwMode="auto">
            <a:xfrm flipV="1">
              <a:off x="2420" y="152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23" name="Line 275"/>
            <p:cNvSpPr>
              <a:spLocks noChangeShapeType="1"/>
            </p:cNvSpPr>
            <p:nvPr/>
          </p:nvSpPr>
          <p:spPr bwMode="auto">
            <a:xfrm flipH="1">
              <a:off x="2416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24" name="Line 276"/>
            <p:cNvSpPr>
              <a:spLocks noChangeShapeType="1"/>
            </p:cNvSpPr>
            <p:nvPr/>
          </p:nvSpPr>
          <p:spPr bwMode="auto">
            <a:xfrm flipH="1">
              <a:off x="2409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25" name="Line 277"/>
            <p:cNvSpPr>
              <a:spLocks noChangeShapeType="1"/>
            </p:cNvSpPr>
            <p:nvPr/>
          </p:nvSpPr>
          <p:spPr bwMode="auto">
            <a:xfrm flipH="1">
              <a:off x="2399" y="1516"/>
              <a:ext cx="6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26" name="Line 278"/>
            <p:cNvSpPr>
              <a:spLocks noChangeShapeType="1"/>
            </p:cNvSpPr>
            <p:nvPr/>
          </p:nvSpPr>
          <p:spPr bwMode="auto">
            <a:xfrm flipH="1">
              <a:off x="2391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27" name="Line 279"/>
            <p:cNvSpPr>
              <a:spLocks noChangeShapeType="1"/>
            </p:cNvSpPr>
            <p:nvPr/>
          </p:nvSpPr>
          <p:spPr bwMode="auto">
            <a:xfrm flipH="1">
              <a:off x="2384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28" name="Line 280"/>
            <p:cNvSpPr>
              <a:spLocks noChangeShapeType="1"/>
            </p:cNvSpPr>
            <p:nvPr/>
          </p:nvSpPr>
          <p:spPr bwMode="auto">
            <a:xfrm flipH="1">
              <a:off x="2375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29" name="Line 281"/>
            <p:cNvSpPr>
              <a:spLocks noChangeShapeType="1"/>
            </p:cNvSpPr>
            <p:nvPr/>
          </p:nvSpPr>
          <p:spPr bwMode="auto">
            <a:xfrm flipH="1">
              <a:off x="2366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0" name="Line 282"/>
            <p:cNvSpPr>
              <a:spLocks noChangeShapeType="1"/>
            </p:cNvSpPr>
            <p:nvPr/>
          </p:nvSpPr>
          <p:spPr bwMode="auto">
            <a:xfrm flipH="1">
              <a:off x="2359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1" name="Line 283"/>
            <p:cNvSpPr>
              <a:spLocks noChangeShapeType="1"/>
            </p:cNvSpPr>
            <p:nvPr/>
          </p:nvSpPr>
          <p:spPr bwMode="auto">
            <a:xfrm flipH="1">
              <a:off x="2350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2" name="Line 284"/>
            <p:cNvSpPr>
              <a:spLocks noChangeShapeType="1"/>
            </p:cNvSpPr>
            <p:nvPr/>
          </p:nvSpPr>
          <p:spPr bwMode="auto">
            <a:xfrm flipH="1">
              <a:off x="2342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3" name="Line 285"/>
            <p:cNvSpPr>
              <a:spLocks noChangeShapeType="1"/>
            </p:cNvSpPr>
            <p:nvPr/>
          </p:nvSpPr>
          <p:spPr bwMode="auto">
            <a:xfrm flipH="1">
              <a:off x="2334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4" name="Line 286"/>
            <p:cNvSpPr>
              <a:spLocks noChangeShapeType="1"/>
            </p:cNvSpPr>
            <p:nvPr/>
          </p:nvSpPr>
          <p:spPr bwMode="auto">
            <a:xfrm flipH="1">
              <a:off x="2325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5" name="Line 287"/>
            <p:cNvSpPr>
              <a:spLocks noChangeShapeType="1"/>
            </p:cNvSpPr>
            <p:nvPr/>
          </p:nvSpPr>
          <p:spPr bwMode="auto">
            <a:xfrm flipH="1">
              <a:off x="2317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6" name="Line 288"/>
            <p:cNvSpPr>
              <a:spLocks noChangeShapeType="1"/>
            </p:cNvSpPr>
            <p:nvPr/>
          </p:nvSpPr>
          <p:spPr bwMode="auto">
            <a:xfrm flipH="1">
              <a:off x="2309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7" name="Line 289"/>
            <p:cNvSpPr>
              <a:spLocks noChangeShapeType="1"/>
            </p:cNvSpPr>
            <p:nvPr/>
          </p:nvSpPr>
          <p:spPr bwMode="auto">
            <a:xfrm flipH="1">
              <a:off x="2300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8" name="Line 290"/>
            <p:cNvSpPr>
              <a:spLocks noChangeShapeType="1"/>
            </p:cNvSpPr>
            <p:nvPr/>
          </p:nvSpPr>
          <p:spPr bwMode="auto">
            <a:xfrm flipH="1">
              <a:off x="2292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9" name="Line 291"/>
            <p:cNvSpPr>
              <a:spLocks noChangeShapeType="1"/>
            </p:cNvSpPr>
            <p:nvPr/>
          </p:nvSpPr>
          <p:spPr bwMode="auto">
            <a:xfrm flipH="1">
              <a:off x="2284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0" name="Line 292"/>
            <p:cNvSpPr>
              <a:spLocks noChangeShapeType="1"/>
            </p:cNvSpPr>
            <p:nvPr/>
          </p:nvSpPr>
          <p:spPr bwMode="auto">
            <a:xfrm flipH="1">
              <a:off x="2276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1" name="Line 293"/>
            <p:cNvSpPr>
              <a:spLocks noChangeShapeType="1"/>
            </p:cNvSpPr>
            <p:nvPr/>
          </p:nvSpPr>
          <p:spPr bwMode="auto">
            <a:xfrm flipH="1">
              <a:off x="2267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2" name="Line 294"/>
            <p:cNvSpPr>
              <a:spLocks noChangeShapeType="1"/>
            </p:cNvSpPr>
            <p:nvPr/>
          </p:nvSpPr>
          <p:spPr bwMode="auto">
            <a:xfrm flipH="1">
              <a:off x="2259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3" name="Line 295"/>
            <p:cNvSpPr>
              <a:spLocks noChangeShapeType="1"/>
            </p:cNvSpPr>
            <p:nvPr/>
          </p:nvSpPr>
          <p:spPr bwMode="auto">
            <a:xfrm flipH="1">
              <a:off x="2251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4" name="Line 296"/>
            <p:cNvSpPr>
              <a:spLocks noChangeShapeType="1"/>
            </p:cNvSpPr>
            <p:nvPr/>
          </p:nvSpPr>
          <p:spPr bwMode="auto">
            <a:xfrm flipH="1">
              <a:off x="2243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5" name="Line 297"/>
            <p:cNvSpPr>
              <a:spLocks noChangeShapeType="1"/>
            </p:cNvSpPr>
            <p:nvPr/>
          </p:nvSpPr>
          <p:spPr bwMode="auto">
            <a:xfrm flipH="1">
              <a:off x="2234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6" name="Line 298"/>
            <p:cNvSpPr>
              <a:spLocks noChangeShapeType="1"/>
            </p:cNvSpPr>
            <p:nvPr/>
          </p:nvSpPr>
          <p:spPr bwMode="auto">
            <a:xfrm flipH="1">
              <a:off x="2226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7" name="Line 299"/>
            <p:cNvSpPr>
              <a:spLocks noChangeShapeType="1"/>
            </p:cNvSpPr>
            <p:nvPr/>
          </p:nvSpPr>
          <p:spPr bwMode="auto">
            <a:xfrm flipH="1">
              <a:off x="2218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8" name="Line 300"/>
            <p:cNvSpPr>
              <a:spLocks noChangeShapeType="1"/>
            </p:cNvSpPr>
            <p:nvPr/>
          </p:nvSpPr>
          <p:spPr bwMode="auto">
            <a:xfrm flipH="1">
              <a:off x="2209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9" name="Line 301"/>
            <p:cNvSpPr>
              <a:spLocks noChangeShapeType="1"/>
            </p:cNvSpPr>
            <p:nvPr/>
          </p:nvSpPr>
          <p:spPr bwMode="auto">
            <a:xfrm flipH="1">
              <a:off x="2201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0" name="Line 302"/>
            <p:cNvSpPr>
              <a:spLocks noChangeShapeType="1"/>
            </p:cNvSpPr>
            <p:nvPr/>
          </p:nvSpPr>
          <p:spPr bwMode="auto">
            <a:xfrm flipH="1">
              <a:off x="2193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1" name="Line 303"/>
            <p:cNvSpPr>
              <a:spLocks noChangeShapeType="1"/>
            </p:cNvSpPr>
            <p:nvPr/>
          </p:nvSpPr>
          <p:spPr bwMode="auto">
            <a:xfrm flipH="1">
              <a:off x="2184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2" name="Line 304"/>
            <p:cNvSpPr>
              <a:spLocks noChangeShapeType="1"/>
            </p:cNvSpPr>
            <p:nvPr/>
          </p:nvSpPr>
          <p:spPr bwMode="auto">
            <a:xfrm flipH="1">
              <a:off x="2177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3" name="Line 305"/>
            <p:cNvSpPr>
              <a:spLocks noChangeShapeType="1"/>
            </p:cNvSpPr>
            <p:nvPr/>
          </p:nvSpPr>
          <p:spPr bwMode="auto">
            <a:xfrm flipH="1">
              <a:off x="2168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4" name="Line 306"/>
            <p:cNvSpPr>
              <a:spLocks noChangeShapeType="1"/>
            </p:cNvSpPr>
            <p:nvPr/>
          </p:nvSpPr>
          <p:spPr bwMode="auto">
            <a:xfrm flipH="1">
              <a:off x="2159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5" name="Line 307"/>
            <p:cNvSpPr>
              <a:spLocks noChangeShapeType="1"/>
            </p:cNvSpPr>
            <p:nvPr/>
          </p:nvSpPr>
          <p:spPr bwMode="auto">
            <a:xfrm flipH="1">
              <a:off x="2152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6" name="Line 308"/>
            <p:cNvSpPr>
              <a:spLocks noChangeShapeType="1"/>
            </p:cNvSpPr>
            <p:nvPr/>
          </p:nvSpPr>
          <p:spPr bwMode="auto">
            <a:xfrm flipH="1">
              <a:off x="2144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7" name="Line 309"/>
            <p:cNvSpPr>
              <a:spLocks noChangeShapeType="1"/>
            </p:cNvSpPr>
            <p:nvPr/>
          </p:nvSpPr>
          <p:spPr bwMode="auto">
            <a:xfrm flipH="1">
              <a:off x="2134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8" name="Line 310"/>
            <p:cNvSpPr>
              <a:spLocks noChangeShapeType="1"/>
            </p:cNvSpPr>
            <p:nvPr/>
          </p:nvSpPr>
          <p:spPr bwMode="auto">
            <a:xfrm flipH="1">
              <a:off x="2127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9" name="Line 311"/>
            <p:cNvSpPr>
              <a:spLocks noChangeShapeType="1"/>
            </p:cNvSpPr>
            <p:nvPr/>
          </p:nvSpPr>
          <p:spPr bwMode="auto">
            <a:xfrm flipH="1">
              <a:off x="2119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60" name="Line 312"/>
            <p:cNvSpPr>
              <a:spLocks noChangeShapeType="1"/>
            </p:cNvSpPr>
            <p:nvPr/>
          </p:nvSpPr>
          <p:spPr bwMode="auto">
            <a:xfrm flipH="1">
              <a:off x="2110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61" name="Line 313"/>
            <p:cNvSpPr>
              <a:spLocks noChangeShapeType="1"/>
            </p:cNvSpPr>
            <p:nvPr/>
          </p:nvSpPr>
          <p:spPr bwMode="auto">
            <a:xfrm flipH="1">
              <a:off x="2102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62" name="Line 314"/>
            <p:cNvSpPr>
              <a:spLocks noChangeShapeType="1"/>
            </p:cNvSpPr>
            <p:nvPr/>
          </p:nvSpPr>
          <p:spPr bwMode="auto">
            <a:xfrm flipH="1">
              <a:off x="2094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63" name="Line 315"/>
            <p:cNvSpPr>
              <a:spLocks noChangeShapeType="1"/>
            </p:cNvSpPr>
            <p:nvPr/>
          </p:nvSpPr>
          <p:spPr bwMode="auto">
            <a:xfrm flipH="1">
              <a:off x="2085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64" name="Line 316"/>
            <p:cNvSpPr>
              <a:spLocks noChangeShapeType="1"/>
            </p:cNvSpPr>
            <p:nvPr/>
          </p:nvSpPr>
          <p:spPr bwMode="auto">
            <a:xfrm flipH="1">
              <a:off x="2078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65" name="Line 317"/>
            <p:cNvSpPr>
              <a:spLocks noChangeShapeType="1"/>
            </p:cNvSpPr>
            <p:nvPr/>
          </p:nvSpPr>
          <p:spPr bwMode="auto">
            <a:xfrm flipH="1">
              <a:off x="2069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66" name="Line 318"/>
            <p:cNvSpPr>
              <a:spLocks noChangeShapeType="1"/>
            </p:cNvSpPr>
            <p:nvPr/>
          </p:nvSpPr>
          <p:spPr bwMode="auto">
            <a:xfrm flipH="1">
              <a:off x="2060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67" name="Line 319"/>
            <p:cNvSpPr>
              <a:spLocks noChangeShapeType="1"/>
            </p:cNvSpPr>
            <p:nvPr/>
          </p:nvSpPr>
          <p:spPr bwMode="auto">
            <a:xfrm flipH="1">
              <a:off x="2053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68" name="Line 320"/>
            <p:cNvSpPr>
              <a:spLocks noChangeShapeType="1"/>
            </p:cNvSpPr>
            <p:nvPr/>
          </p:nvSpPr>
          <p:spPr bwMode="auto">
            <a:xfrm flipH="1">
              <a:off x="2045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69" name="Line 321"/>
            <p:cNvSpPr>
              <a:spLocks noChangeShapeType="1"/>
            </p:cNvSpPr>
            <p:nvPr/>
          </p:nvSpPr>
          <p:spPr bwMode="auto">
            <a:xfrm flipH="1">
              <a:off x="2035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0" name="Line 322"/>
            <p:cNvSpPr>
              <a:spLocks noChangeShapeType="1"/>
            </p:cNvSpPr>
            <p:nvPr/>
          </p:nvSpPr>
          <p:spPr bwMode="auto">
            <a:xfrm flipH="1">
              <a:off x="2028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1" name="Line 323"/>
            <p:cNvSpPr>
              <a:spLocks noChangeShapeType="1"/>
            </p:cNvSpPr>
            <p:nvPr/>
          </p:nvSpPr>
          <p:spPr bwMode="auto">
            <a:xfrm flipH="1">
              <a:off x="2020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2" name="Line 324"/>
            <p:cNvSpPr>
              <a:spLocks noChangeShapeType="1"/>
            </p:cNvSpPr>
            <p:nvPr/>
          </p:nvSpPr>
          <p:spPr bwMode="auto">
            <a:xfrm flipH="1">
              <a:off x="2011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3" name="Line 325"/>
            <p:cNvSpPr>
              <a:spLocks noChangeShapeType="1"/>
            </p:cNvSpPr>
            <p:nvPr/>
          </p:nvSpPr>
          <p:spPr bwMode="auto">
            <a:xfrm flipH="1">
              <a:off x="2003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4" name="Line 326"/>
            <p:cNvSpPr>
              <a:spLocks noChangeShapeType="1"/>
            </p:cNvSpPr>
            <p:nvPr/>
          </p:nvSpPr>
          <p:spPr bwMode="auto">
            <a:xfrm flipH="1">
              <a:off x="1994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5" name="Line 327"/>
            <p:cNvSpPr>
              <a:spLocks noChangeShapeType="1"/>
            </p:cNvSpPr>
            <p:nvPr/>
          </p:nvSpPr>
          <p:spPr bwMode="auto">
            <a:xfrm flipH="1">
              <a:off x="1986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6" name="Line 328"/>
            <p:cNvSpPr>
              <a:spLocks noChangeShapeType="1"/>
            </p:cNvSpPr>
            <p:nvPr/>
          </p:nvSpPr>
          <p:spPr bwMode="auto">
            <a:xfrm flipH="1">
              <a:off x="1979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7" name="Line 329"/>
            <p:cNvSpPr>
              <a:spLocks noChangeShapeType="1"/>
            </p:cNvSpPr>
            <p:nvPr/>
          </p:nvSpPr>
          <p:spPr bwMode="auto">
            <a:xfrm flipH="1">
              <a:off x="1969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8" name="Line 330"/>
            <p:cNvSpPr>
              <a:spLocks noChangeShapeType="1"/>
            </p:cNvSpPr>
            <p:nvPr/>
          </p:nvSpPr>
          <p:spPr bwMode="auto">
            <a:xfrm flipH="1">
              <a:off x="1961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79" name="Line 331"/>
            <p:cNvSpPr>
              <a:spLocks noChangeShapeType="1"/>
            </p:cNvSpPr>
            <p:nvPr/>
          </p:nvSpPr>
          <p:spPr bwMode="auto">
            <a:xfrm flipH="1">
              <a:off x="1954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0" name="Line 332"/>
            <p:cNvSpPr>
              <a:spLocks noChangeShapeType="1"/>
            </p:cNvSpPr>
            <p:nvPr/>
          </p:nvSpPr>
          <p:spPr bwMode="auto">
            <a:xfrm flipH="1">
              <a:off x="1945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1" name="Line 333"/>
            <p:cNvSpPr>
              <a:spLocks noChangeShapeType="1"/>
            </p:cNvSpPr>
            <p:nvPr/>
          </p:nvSpPr>
          <p:spPr bwMode="auto">
            <a:xfrm flipH="1">
              <a:off x="1936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2" name="Line 334"/>
            <p:cNvSpPr>
              <a:spLocks noChangeShapeType="1"/>
            </p:cNvSpPr>
            <p:nvPr/>
          </p:nvSpPr>
          <p:spPr bwMode="auto">
            <a:xfrm flipH="1">
              <a:off x="1929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3" name="Line 335"/>
            <p:cNvSpPr>
              <a:spLocks noChangeShapeType="1"/>
            </p:cNvSpPr>
            <p:nvPr/>
          </p:nvSpPr>
          <p:spPr bwMode="auto">
            <a:xfrm flipH="1">
              <a:off x="1920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4" name="Line 336"/>
            <p:cNvSpPr>
              <a:spLocks noChangeShapeType="1"/>
            </p:cNvSpPr>
            <p:nvPr/>
          </p:nvSpPr>
          <p:spPr bwMode="auto">
            <a:xfrm flipH="1">
              <a:off x="1912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5" name="Line 337"/>
            <p:cNvSpPr>
              <a:spLocks noChangeShapeType="1"/>
            </p:cNvSpPr>
            <p:nvPr/>
          </p:nvSpPr>
          <p:spPr bwMode="auto">
            <a:xfrm flipH="1">
              <a:off x="1904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6" name="Line 338"/>
            <p:cNvSpPr>
              <a:spLocks noChangeShapeType="1"/>
            </p:cNvSpPr>
            <p:nvPr/>
          </p:nvSpPr>
          <p:spPr bwMode="auto">
            <a:xfrm flipH="1">
              <a:off x="1895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7" name="Line 339"/>
            <p:cNvSpPr>
              <a:spLocks noChangeShapeType="1"/>
            </p:cNvSpPr>
            <p:nvPr/>
          </p:nvSpPr>
          <p:spPr bwMode="auto">
            <a:xfrm flipH="1">
              <a:off x="1888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8" name="Line 340"/>
            <p:cNvSpPr>
              <a:spLocks noChangeShapeType="1"/>
            </p:cNvSpPr>
            <p:nvPr/>
          </p:nvSpPr>
          <p:spPr bwMode="auto">
            <a:xfrm flipH="1">
              <a:off x="1880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89" name="Line 341"/>
            <p:cNvSpPr>
              <a:spLocks noChangeShapeType="1"/>
            </p:cNvSpPr>
            <p:nvPr/>
          </p:nvSpPr>
          <p:spPr bwMode="auto">
            <a:xfrm flipH="1">
              <a:off x="1871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90" name="Line 342"/>
            <p:cNvSpPr>
              <a:spLocks noChangeShapeType="1"/>
            </p:cNvSpPr>
            <p:nvPr/>
          </p:nvSpPr>
          <p:spPr bwMode="auto">
            <a:xfrm flipH="1">
              <a:off x="1863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91" name="Line 343"/>
            <p:cNvSpPr>
              <a:spLocks noChangeShapeType="1"/>
            </p:cNvSpPr>
            <p:nvPr/>
          </p:nvSpPr>
          <p:spPr bwMode="auto">
            <a:xfrm flipH="1">
              <a:off x="1856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92" name="Line 344"/>
            <p:cNvSpPr>
              <a:spLocks noChangeShapeType="1"/>
            </p:cNvSpPr>
            <p:nvPr/>
          </p:nvSpPr>
          <p:spPr bwMode="auto">
            <a:xfrm flipH="1">
              <a:off x="1846" y="1516"/>
              <a:ext cx="6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93" name="Line 345"/>
            <p:cNvSpPr>
              <a:spLocks noChangeShapeType="1"/>
            </p:cNvSpPr>
            <p:nvPr/>
          </p:nvSpPr>
          <p:spPr bwMode="auto">
            <a:xfrm flipH="1">
              <a:off x="1838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94" name="Line 346"/>
            <p:cNvSpPr>
              <a:spLocks noChangeShapeType="1"/>
            </p:cNvSpPr>
            <p:nvPr/>
          </p:nvSpPr>
          <p:spPr bwMode="auto">
            <a:xfrm flipH="1">
              <a:off x="1831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95" name="Line 347"/>
            <p:cNvSpPr>
              <a:spLocks noChangeShapeType="1"/>
            </p:cNvSpPr>
            <p:nvPr/>
          </p:nvSpPr>
          <p:spPr bwMode="auto">
            <a:xfrm flipH="1">
              <a:off x="1822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96" name="Line 348"/>
            <p:cNvSpPr>
              <a:spLocks noChangeShapeType="1"/>
            </p:cNvSpPr>
            <p:nvPr/>
          </p:nvSpPr>
          <p:spPr bwMode="auto">
            <a:xfrm flipH="1">
              <a:off x="1813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97" name="Line 349"/>
            <p:cNvSpPr>
              <a:spLocks noChangeShapeType="1"/>
            </p:cNvSpPr>
            <p:nvPr/>
          </p:nvSpPr>
          <p:spPr bwMode="auto">
            <a:xfrm flipH="1">
              <a:off x="1806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98" name="Line 350"/>
            <p:cNvSpPr>
              <a:spLocks noChangeShapeType="1"/>
            </p:cNvSpPr>
            <p:nvPr/>
          </p:nvSpPr>
          <p:spPr bwMode="auto">
            <a:xfrm flipH="1">
              <a:off x="1797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99" name="Line 351"/>
            <p:cNvSpPr>
              <a:spLocks noChangeShapeType="1"/>
            </p:cNvSpPr>
            <p:nvPr/>
          </p:nvSpPr>
          <p:spPr bwMode="auto">
            <a:xfrm flipH="1">
              <a:off x="1789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00" name="Line 352"/>
            <p:cNvSpPr>
              <a:spLocks noChangeShapeType="1"/>
            </p:cNvSpPr>
            <p:nvPr/>
          </p:nvSpPr>
          <p:spPr bwMode="auto">
            <a:xfrm flipH="1">
              <a:off x="1781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01" name="Line 353"/>
            <p:cNvSpPr>
              <a:spLocks noChangeShapeType="1"/>
            </p:cNvSpPr>
            <p:nvPr/>
          </p:nvSpPr>
          <p:spPr bwMode="auto">
            <a:xfrm flipH="1">
              <a:off x="1772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02" name="Line 354"/>
            <p:cNvSpPr>
              <a:spLocks noChangeShapeType="1"/>
            </p:cNvSpPr>
            <p:nvPr/>
          </p:nvSpPr>
          <p:spPr bwMode="auto">
            <a:xfrm flipH="1">
              <a:off x="1764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03" name="Line 355"/>
            <p:cNvSpPr>
              <a:spLocks noChangeShapeType="1"/>
            </p:cNvSpPr>
            <p:nvPr/>
          </p:nvSpPr>
          <p:spPr bwMode="auto">
            <a:xfrm flipH="1">
              <a:off x="1757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04" name="Line 356"/>
            <p:cNvSpPr>
              <a:spLocks noChangeShapeType="1"/>
            </p:cNvSpPr>
            <p:nvPr/>
          </p:nvSpPr>
          <p:spPr bwMode="auto">
            <a:xfrm flipH="1">
              <a:off x="1747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05" name="Line 357"/>
            <p:cNvSpPr>
              <a:spLocks noChangeShapeType="1"/>
            </p:cNvSpPr>
            <p:nvPr/>
          </p:nvSpPr>
          <p:spPr bwMode="auto">
            <a:xfrm flipH="1">
              <a:off x="1739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06" name="Line 358"/>
            <p:cNvSpPr>
              <a:spLocks noChangeShapeType="1"/>
            </p:cNvSpPr>
            <p:nvPr/>
          </p:nvSpPr>
          <p:spPr bwMode="auto">
            <a:xfrm flipH="1">
              <a:off x="1732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07" name="Line 359"/>
            <p:cNvSpPr>
              <a:spLocks noChangeShapeType="1"/>
            </p:cNvSpPr>
            <p:nvPr/>
          </p:nvSpPr>
          <p:spPr bwMode="auto">
            <a:xfrm flipH="1">
              <a:off x="1723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08" name="Line 360"/>
            <p:cNvSpPr>
              <a:spLocks noChangeShapeType="1"/>
            </p:cNvSpPr>
            <p:nvPr/>
          </p:nvSpPr>
          <p:spPr bwMode="auto">
            <a:xfrm flipH="1">
              <a:off x="1714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09" name="Line 361"/>
            <p:cNvSpPr>
              <a:spLocks noChangeShapeType="1"/>
            </p:cNvSpPr>
            <p:nvPr/>
          </p:nvSpPr>
          <p:spPr bwMode="auto">
            <a:xfrm flipH="1">
              <a:off x="1706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0" name="Line 362"/>
            <p:cNvSpPr>
              <a:spLocks noChangeShapeType="1"/>
            </p:cNvSpPr>
            <p:nvPr/>
          </p:nvSpPr>
          <p:spPr bwMode="auto">
            <a:xfrm flipH="1">
              <a:off x="1698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1" name="Line 363"/>
            <p:cNvSpPr>
              <a:spLocks noChangeShapeType="1"/>
            </p:cNvSpPr>
            <p:nvPr/>
          </p:nvSpPr>
          <p:spPr bwMode="auto">
            <a:xfrm flipH="1">
              <a:off x="1690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2" name="Line 364"/>
            <p:cNvSpPr>
              <a:spLocks noChangeShapeType="1"/>
            </p:cNvSpPr>
            <p:nvPr/>
          </p:nvSpPr>
          <p:spPr bwMode="auto">
            <a:xfrm flipH="1">
              <a:off x="1681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3" name="Line 365"/>
            <p:cNvSpPr>
              <a:spLocks noChangeShapeType="1"/>
            </p:cNvSpPr>
            <p:nvPr/>
          </p:nvSpPr>
          <p:spPr bwMode="auto">
            <a:xfrm flipH="1">
              <a:off x="1673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4" name="Line 366"/>
            <p:cNvSpPr>
              <a:spLocks noChangeShapeType="1"/>
            </p:cNvSpPr>
            <p:nvPr/>
          </p:nvSpPr>
          <p:spPr bwMode="auto">
            <a:xfrm flipH="1">
              <a:off x="1665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5" name="Line 367"/>
            <p:cNvSpPr>
              <a:spLocks noChangeShapeType="1"/>
            </p:cNvSpPr>
            <p:nvPr/>
          </p:nvSpPr>
          <p:spPr bwMode="auto">
            <a:xfrm flipH="1">
              <a:off x="1657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6" name="Line 368"/>
            <p:cNvSpPr>
              <a:spLocks noChangeShapeType="1"/>
            </p:cNvSpPr>
            <p:nvPr/>
          </p:nvSpPr>
          <p:spPr bwMode="auto">
            <a:xfrm flipH="1">
              <a:off x="1648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7" name="Line 369"/>
            <p:cNvSpPr>
              <a:spLocks noChangeShapeType="1"/>
            </p:cNvSpPr>
            <p:nvPr/>
          </p:nvSpPr>
          <p:spPr bwMode="auto">
            <a:xfrm flipH="1">
              <a:off x="1641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8" name="Line 370"/>
            <p:cNvSpPr>
              <a:spLocks noChangeShapeType="1"/>
            </p:cNvSpPr>
            <p:nvPr/>
          </p:nvSpPr>
          <p:spPr bwMode="auto">
            <a:xfrm flipH="1">
              <a:off x="1633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19" name="Line 371"/>
            <p:cNvSpPr>
              <a:spLocks noChangeShapeType="1"/>
            </p:cNvSpPr>
            <p:nvPr/>
          </p:nvSpPr>
          <p:spPr bwMode="auto">
            <a:xfrm flipH="1">
              <a:off x="1625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0" name="Line 372"/>
            <p:cNvSpPr>
              <a:spLocks noChangeShapeType="1"/>
            </p:cNvSpPr>
            <p:nvPr/>
          </p:nvSpPr>
          <p:spPr bwMode="auto">
            <a:xfrm flipH="1">
              <a:off x="1616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1" name="Line 373"/>
            <p:cNvSpPr>
              <a:spLocks noChangeShapeType="1"/>
            </p:cNvSpPr>
            <p:nvPr/>
          </p:nvSpPr>
          <p:spPr bwMode="auto">
            <a:xfrm flipH="1">
              <a:off x="1608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2" name="Line 374"/>
            <p:cNvSpPr>
              <a:spLocks noChangeShapeType="1"/>
            </p:cNvSpPr>
            <p:nvPr/>
          </p:nvSpPr>
          <p:spPr bwMode="auto">
            <a:xfrm flipH="1">
              <a:off x="1600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3" name="Line 375"/>
            <p:cNvSpPr>
              <a:spLocks noChangeShapeType="1"/>
            </p:cNvSpPr>
            <p:nvPr/>
          </p:nvSpPr>
          <p:spPr bwMode="auto">
            <a:xfrm flipH="1">
              <a:off x="1592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4" name="Line 376"/>
            <p:cNvSpPr>
              <a:spLocks noChangeShapeType="1"/>
            </p:cNvSpPr>
            <p:nvPr/>
          </p:nvSpPr>
          <p:spPr bwMode="auto">
            <a:xfrm flipH="1">
              <a:off x="1583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5" name="Line 377"/>
            <p:cNvSpPr>
              <a:spLocks noChangeShapeType="1"/>
            </p:cNvSpPr>
            <p:nvPr/>
          </p:nvSpPr>
          <p:spPr bwMode="auto">
            <a:xfrm flipH="1">
              <a:off x="1575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6" name="Line 378"/>
            <p:cNvSpPr>
              <a:spLocks noChangeShapeType="1"/>
            </p:cNvSpPr>
            <p:nvPr/>
          </p:nvSpPr>
          <p:spPr bwMode="auto">
            <a:xfrm flipH="1">
              <a:off x="1567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7" name="Line 379"/>
            <p:cNvSpPr>
              <a:spLocks noChangeShapeType="1"/>
            </p:cNvSpPr>
            <p:nvPr/>
          </p:nvSpPr>
          <p:spPr bwMode="auto">
            <a:xfrm flipH="1">
              <a:off x="1559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8" name="Line 380"/>
            <p:cNvSpPr>
              <a:spLocks noChangeShapeType="1"/>
            </p:cNvSpPr>
            <p:nvPr/>
          </p:nvSpPr>
          <p:spPr bwMode="auto">
            <a:xfrm flipH="1">
              <a:off x="1550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9" name="Line 381"/>
            <p:cNvSpPr>
              <a:spLocks noChangeShapeType="1"/>
            </p:cNvSpPr>
            <p:nvPr/>
          </p:nvSpPr>
          <p:spPr bwMode="auto">
            <a:xfrm flipH="1">
              <a:off x="1542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0" name="Line 382"/>
            <p:cNvSpPr>
              <a:spLocks noChangeShapeType="1"/>
            </p:cNvSpPr>
            <p:nvPr/>
          </p:nvSpPr>
          <p:spPr bwMode="auto">
            <a:xfrm flipH="1">
              <a:off x="1534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1" name="Line 383"/>
            <p:cNvSpPr>
              <a:spLocks noChangeShapeType="1"/>
            </p:cNvSpPr>
            <p:nvPr/>
          </p:nvSpPr>
          <p:spPr bwMode="auto">
            <a:xfrm flipH="1">
              <a:off x="1526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2" name="Line 384"/>
            <p:cNvSpPr>
              <a:spLocks noChangeShapeType="1"/>
            </p:cNvSpPr>
            <p:nvPr/>
          </p:nvSpPr>
          <p:spPr bwMode="auto">
            <a:xfrm flipH="1">
              <a:off x="1517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3" name="Line 385"/>
            <p:cNvSpPr>
              <a:spLocks noChangeShapeType="1"/>
            </p:cNvSpPr>
            <p:nvPr/>
          </p:nvSpPr>
          <p:spPr bwMode="auto">
            <a:xfrm flipH="1">
              <a:off x="1509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4" name="Line 386"/>
            <p:cNvSpPr>
              <a:spLocks noChangeShapeType="1"/>
            </p:cNvSpPr>
            <p:nvPr/>
          </p:nvSpPr>
          <p:spPr bwMode="auto">
            <a:xfrm flipH="1">
              <a:off x="1501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5" name="Line 387"/>
            <p:cNvSpPr>
              <a:spLocks noChangeShapeType="1"/>
            </p:cNvSpPr>
            <p:nvPr/>
          </p:nvSpPr>
          <p:spPr bwMode="auto">
            <a:xfrm flipH="1">
              <a:off x="1493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6" name="Line 388"/>
            <p:cNvSpPr>
              <a:spLocks noChangeShapeType="1"/>
            </p:cNvSpPr>
            <p:nvPr/>
          </p:nvSpPr>
          <p:spPr bwMode="auto">
            <a:xfrm flipH="1">
              <a:off x="1484" y="1516"/>
              <a:ext cx="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7" name="Line 389"/>
            <p:cNvSpPr>
              <a:spLocks noChangeShapeType="1"/>
            </p:cNvSpPr>
            <p:nvPr/>
          </p:nvSpPr>
          <p:spPr bwMode="auto">
            <a:xfrm flipH="1">
              <a:off x="1476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8" name="Line 390"/>
            <p:cNvSpPr>
              <a:spLocks noChangeShapeType="1"/>
            </p:cNvSpPr>
            <p:nvPr/>
          </p:nvSpPr>
          <p:spPr bwMode="auto">
            <a:xfrm flipH="1">
              <a:off x="1468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9" name="Line 391"/>
            <p:cNvSpPr>
              <a:spLocks noChangeShapeType="1"/>
            </p:cNvSpPr>
            <p:nvPr/>
          </p:nvSpPr>
          <p:spPr bwMode="auto">
            <a:xfrm flipH="1">
              <a:off x="1459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40" name="Line 392"/>
            <p:cNvSpPr>
              <a:spLocks noChangeShapeType="1"/>
            </p:cNvSpPr>
            <p:nvPr/>
          </p:nvSpPr>
          <p:spPr bwMode="auto">
            <a:xfrm flipH="1">
              <a:off x="1451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41" name="Line 393"/>
            <p:cNvSpPr>
              <a:spLocks noChangeShapeType="1"/>
            </p:cNvSpPr>
            <p:nvPr/>
          </p:nvSpPr>
          <p:spPr bwMode="auto">
            <a:xfrm flipH="1">
              <a:off x="1442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42" name="Line 394"/>
            <p:cNvSpPr>
              <a:spLocks noChangeShapeType="1"/>
            </p:cNvSpPr>
            <p:nvPr/>
          </p:nvSpPr>
          <p:spPr bwMode="auto">
            <a:xfrm flipH="1">
              <a:off x="1434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43" name="Line 395"/>
            <p:cNvSpPr>
              <a:spLocks noChangeShapeType="1"/>
            </p:cNvSpPr>
            <p:nvPr/>
          </p:nvSpPr>
          <p:spPr bwMode="auto">
            <a:xfrm flipH="1">
              <a:off x="1427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44" name="Line 396"/>
            <p:cNvSpPr>
              <a:spLocks noChangeShapeType="1"/>
            </p:cNvSpPr>
            <p:nvPr/>
          </p:nvSpPr>
          <p:spPr bwMode="auto">
            <a:xfrm flipH="1">
              <a:off x="1417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45" name="Line 397"/>
            <p:cNvSpPr>
              <a:spLocks noChangeShapeType="1"/>
            </p:cNvSpPr>
            <p:nvPr/>
          </p:nvSpPr>
          <p:spPr bwMode="auto">
            <a:xfrm flipH="1">
              <a:off x="1409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46" name="Line 398"/>
            <p:cNvSpPr>
              <a:spLocks noChangeShapeType="1"/>
            </p:cNvSpPr>
            <p:nvPr/>
          </p:nvSpPr>
          <p:spPr bwMode="auto">
            <a:xfrm flipH="1">
              <a:off x="1402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47" name="Line 399"/>
            <p:cNvSpPr>
              <a:spLocks noChangeShapeType="1"/>
            </p:cNvSpPr>
            <p:nvPr/>
          </p:nvSpPr>
          <p:spPr bwMode="auto">
            <a:xfrm flipH="1">
              <a:off x="1393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48" name="Line 400"/>
            <p:cNvSpPr>
              <a:spLocks noChangeShapeType="1"/>
            </p:cNvSpPr>
            <p:nvPr/>
          </p:nvSpPr>
          <p:spPr bwMode="auto">
            <a:xfrm flipH="1">
              <a:off x="1384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49" name="Line 401"/>
            <p:cNvSpPr>
              <a:spLocks noChangeShapeType="1"/>
            </p:cNvSpPr>
            <p:nvPr/>
          </p:nvSpPr>
          <p:spPr bwMode="auto">
            <a:xfrm flipH="1">
              <a:off x="1377" y="1516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0" name="Line 402"/>
            <p:cNvSpPr>
              <a:spLocks noChangeShapeType="1"/>
            </p:cNvSpPr>
            <p:nvPr/>
          </p:nvSpPr>
          <p:spPr bwMode="auto">
            <a:xfrm flipH="1">
              <a:off x="1368" y="1516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1" name="Line 403"/>
            <p:cNvSpPr>
              <a:spLocks noChangeShapeType="1"/>
            </p:cNvSpPr>
            <p:nvPr/>
          </p:nvSpPr>
          <p:spPr bwMode="auto">
            <a:xfrm>
              <a:off x="1364" y="151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2" name="Line 404"/>
            <p:cNvSpPr>
              <a:spLocks noChangeShapeType="1"/>
            </p:cNvSpPr>
            <p:nvPr/>
          </p:nvSpPr>
          <p:spPr bwMode="auto">
            <a:xfrm>
              <a:off x="1364" y="152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3" name="Line 405"/>
            <p:cNvSpPr>
              <a:spLocks noChangeShapeType="1"/>
            </p:cNvSpPr>
            <p:nvPr/>
          </p:nvSpPr>
          <p:spPr bwMode="auto">
            <a:xfrm>
              <a:off x="1364" y="153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4" name="Line 406"/>
            <p:cNvSpPr>
              <a:spLocks noChangeShapeType="1"/>
            </p:cNvSpPr>
            <p:nvPr/>
          </p:nvSpPr>
          <p:spPr bwMode="auto">
            <a:xfrm>
              <a:off x="1364" y="154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5" name="Line 407"/>
            <p:cNvSpPr>
              <a:spLocks noChangeShapeType="1"/>
            </p:cNvSpPr>
            <p:nvPr/>
          </p:nvSpPr>
          <p:spPr bwMode="auto">
            <a:xfrm>
              <a:off x="1364" y="154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6" name="Line 408"/>
            <p:cNvSpPr>
              <a:spLocks noChangeShapeType="1"/>
            </p:cNvSpPr>
            <p:nvPr/>
          </p:nvSpPr>
          <p:spPr bwMode="auto">
            <a:xfrm>
              <a:off x="1364" y="1557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7" name="Line 409"/>
            <p:cNvSpPr>
              <a:spLocks noChangeShapeType="1"/>
            </p:cNvSpPr>
            <p:nvPr/>
          </p:nvSpPr>
          <p:spPr bwMode="auto">
            <a:xfrm>
              <a:off x="1364" y="1565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8" name="Line 410"/>
            <p:cNvSpPr>
              <a:spLocks noChangeShapeType="1"/>
            </p:cNvSpPr>
            <p:nvPr/>
          </p:nvSpPr>
          <p:spPr bwMode="auto">
            <a:xfrm>
              <a:off x="1364" y="157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59" name="Line 411"/>
            <p:cNvSpPr>
              <a:spLocks noChangeShapeType="1"/>
            </p:cNvSpPr>
            <p:nvPr/>
          </p:nvSpPr>
          <p:spPr bwMode="auto">
            <a:xfrm>
              <a:off x="1364" y="1581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0" name="Line 412"/>
            <p:cNvSpPr>
              <a:spLocks noChangeShapeType="1"/>
            </p:cNvSpPr>
            <p:nvPr/>
          </p:nvSpPr>
          <p:spPr bwMode="auto">
            <a:xfrm>
              <a:off x="1364" y="158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1" name="Line 413"/>
            <p:cNvSpPr>
              <a:spLocks noChangeShapeType="1"/>
            </p:cNvSpPr>
            <p:nvPr/>
          </p:nvSpPr>
          <p:spPr bwMode="auto">
            <a:xfrm>
              <a:off x="1364" y="159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2" name="Line 414"/>
            <p:cNvSpPr>
              <a:spLocks noChangeShapeType="1"/>
            </p:cNvSpPr>
            <p:nvPr/>
          </p:nvSpPr>
          <p:spPr bwMode="auto">
            <a:xfrm>
              <a:off x="1364" y="160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3" name="Line 415"/>
            <p:cNvSpPr>
              <a:spLocks noChangeShapeType="1"/>
            </p:cNvSpPr>
            <p:nvPr/>
          </p:nvSpPr>
          <p:spPr bwMode="auto">
            <a:xfrm>
              <a:off x="1364" y="161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4" name="Line 416"/>
            <p:cNvSpPr>
              <a:spLocks noChangeShapeType="1"/>
            </p:cNvSpPr>
            <p:nvPr/>
          </p:nvSpPr>
          <p:spPr bwMode="auto">
            <a:xfrm>
              <a:off x="1364" y="162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5" name="Line 417"/>
            <p:cNvSpPr>
              <a:spLocks noChangeShapeType="1"/>
            </p:cNvSpPr>
            <p:nvPr/>
          </p:nvSpPr>
          <p:spPr bwMode="auto">
            <a:xfrm>
              <a:off x="1364" y="1630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6" name="Line 418"/>
            <p:cNvSpPr>
              <a:spLocks noChangeShapeType="1"/>
            </p:cNvSpPr>
            <p:nvPr/>
          </p:nvSpPr>
          <p:spPr bwMode="auto">
            <a:xfrm>
              <a:off x="1364" y="163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7" name="Line 419"/>
            <p:cNvSpPr>
              <a:spLocks noChangeShapeType="1"/>
            </p:cNvSpPr>
            <p:nvPr/>
          </p:nvSpPr>
          <p:spPr bwMode="auto">
            <a:xfrm>
              <a:off x="1364" y="164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8" name="Line 420"/>
            <p:cNvSpPr>
              <a:spLocks noChangeShapeType="1"/>
            </p:cNvSpPr>
            <p:nvPr/>
          </p:nvSpPr>
          <p:spPr bwMode="auto">
            <a:xfrm>
              <a:off x="1364" y="165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69" name="Line 421"/>
            <p:cNvSpPr>
              <a:spLocks noChangeShapeType="1"/>
            </p:cNvSpPr>
            <p:nvPr/>
          </p:nvSpPr>
          <p:spPr bwMode="auto">
            <a:xfrm>
              <a:off x="1364" y="1663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22"/>
          <p:cNvGrpSpPr>
            <a:grpSpLocks/>
          </p:cNvGrpSpPr>
          <p:nvPr/>
        </p:nvGrpSpPr>
        <p:grpSpPr bwMode="auto">
          <a:xfrm>
            <a:off x="2165350" y="2654300"/>
            <a:ext cx="1924050" cy="1320800"/>
            <a:chOff x="1364" y="1672"/>
            <a:chExt cx="1212" cy="832"/>
          </a:xfrm>
        </p:grpSpPr>
        <p:sp>
          <p:nvSpPr>
            <p:cNvPr id="2471" name="Line 423"/>
            <p:cNvSpPr>
              <a:spLocks noChangeShapeType="1"/>
            </p:cNvSpPr>
            <p:nvPr/>
          </p:nvSpPr>
          <p:spPr bwMode="auto">
            <a:xfrm>
              <a:off x="1364" y="167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2" name="Line 424"/>
            <p:cNvSpPr>
              <a:spLocks noChangeShapeType="1"/>
            </p:cNvSpPr>
            <p:nvPr/>
          </p:nvSpPr>
          <p:spPr bwMode="auto">
            <a:xfrm>
              <a:off x="1364" y="168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3" name="Line 425"/>
            <p:cNvSpPr>
              <a:spLocks noChangeShapeType="1"/>
            </p:cNvSpPr>
            <p:nvPr/>
          </p:nvSpPr>
          <p:spPr bwMode="auto">
            <a:xfrm>
              <a:off x="1364" y="168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4" name="Line 426"/>
            <p:cNvSpPr>
              <a:spLocks noChangeShapeType="1"/>
            </p:cNvSpPr>
            <p:nvPr/>
          </p:nvSpPr>
          <p:spPr bwMode="auto">
            <a:xfrm>
              <a:off x="1364" y="1696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5" name="Line 427"/>
            <p:cNvSpPr>
              <a:spLocks noChangeShapeType="1"/>
            </p:cNvSpPr>
            <p:nvPr/>
          </p:nvSpPr>
          <p:spPr bwMode="auto">
            <a:xfrm>
              <a:off x="1364" y="170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6" name="Line 428"/>
            <p:cNvSpPr>
              <a:spLocks noChangeShapeType="1"/>
            </p:cNvSpPr>
            <p:nvPr/>
          </p:nvSpPr>
          <p:spPr bwMode="auto">
            <a:xfrm>
              <a:off x="1364" y="171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7" name="Line 429"/>
            <p:cNvSpPr>
              <a:spLocks noChangeShapeType="1"/>
            </p:cNvSpPr>
            <p:nvPr/>
          </p:nvSpPr>
          <p:spPr bwMode="auto">
            <a:xfrm>
              <a:off x="1364" y="172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8" name="Line 430"/>
            <p:cNvSpPr>
              <a:spLocks noChangeShapeType="1"/>
            </p:cNvSpPr>
            <p:nvPr/>
          </p:nvSpPr>
          <p:spPr bwMode="auto">
            <a:xfrm>
              <a:off x="1364" y="1729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79" name="Line 431"/>
            <p:cNvSpPr>
              <a:spLocks noChangeShapeType="1"/>
            </p:cNvSpPr>
            <p:nvPr/>
          </p:nvSpPr>
          <p:spPr bwMode="auto">
            <a:xfrm>
              <a:off x="1364" y="1738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0" name="Line 432"/>
            <p:cNvSpPr>
              <a:spLocks noChangeShapeType="1"/>
            </p:cNvSpPr>
            <p:nvPr/>
          </p:nvSpPr>
          <p:spPr bwMode="auto">
            <a:xfrm>
              <a:off x="1364" y="1745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1" name="Line 433"/>
            <p:cNvSpPr>
              <a:spLocks noChangeShapeType="1"/>
            </p:cNvSpPr>
            <p:nvPr/>
          </p:nvSpPr>
          <p:spPr bwMode="auto">
            <a:xfrm>
              <a:off x="1364" y="175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2" name="Line 434"/>
            <p:cNvSpPr>
              <a:spLocks noChangeShapeType="1"/>
            </p:cNvSpPr>
            <p:nvPr/>
          </p:nvSpPr>
          <p:spPr bwMode="auto">
            <a:xfrm>
              <a:off x="1364" y="176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3" name="Line 435"/>
            <p:cNvSpPr>
              <a:spLocks noChangeShapeType="1"/>
            </p:cNvSpPr>
            <p:nvPr/>
          </p:nvSpPr>
          <p:spPr bwMode="auto">
            <a:xfrm>
              <a:off x="1364" y="1770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4" name="Line 436"/>
            <p:cNvSpPr>
              <a:spLocks noChangeShapeType="1"/>
            </p:cNvSpPr>
            <p:nvPr/>
          </p:nvSpPr>
          <p:spPr bwMode="auto">
            <a:xfrm>
              <a:off x="1364" y="177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5" name="Line 437"/>
            <p:cNvSpPr>
              <a:spLocks noChangeShapeType="1"/>
            </p:cNvSpPr>
            <p:nvPr/>
          </p:nvSpPr>
          <p:spPr bwMode="auto">
            <a:xfrm>
              <a:off x="1364" y="178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6" name="Line 438"/>
            <p:cNvSpPr>
              <a:spLocks noChangeShapeType="1"/>
            </p:cNvSpPr>
            <p:nvPr/>
          </p:nvSpPr>
          <p:spPr bwMode="auto">
            <a:xfrm>
              <a:off x="1364" y="179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7" name="Line 439"/>
            <p:cNvSpPr>
              <a:spLocks noChangeShapeType="1"/>
            </p:cNvSpPr>
            <p:nvPr/>
          </p:nvSpPr>
          <p:spPr bwMode="auto">
            <a:xfrm>
              <a:off x="1364" y="180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8" name="Line 440"/>
            <p:cNvSpPr>
              <a:spLocks noChangeShapeType="1"/>
            </p:cNvSpPr>
            <p:nvPr/>
          </p:nvSpPr>
          <p:spPr bwMode="auto">
            <a:xfrm>
              <a:off x="1364" y="181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9" name="Line 441"/>
            <p:cNvSpPr>
              <a:spLocks noChangeShapeType="1"/>
            </p:cNvSpPr>
            <p:nvPr/>
          </p:nvSpPr>
          <p:spPr bwMode="auto">
            <a:xfrm>
              <a:off x="1364" y="1818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0" name="Line 442"/>
            <p:cNvSpPr>
              <a:spLocks noChangeShapeType="1"/>
            </p:cNvSpPr>
            <p:nvPr/>
          </p:nvSpPr>
          <p:spPr bwMode="auto">
            <a:xfrm>
              <a:off x="1364" y="182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1" name="Line 443"/>
            <p:cNvSpPr>
              <a:spLocks noChangeShapeType="1"/>
            </p:cNvSpPr>
            <p:nvPr/>
          </p:nvSpPr>
          <p:spPr bwMode="auto">
            <a:xfrm>
              <a:off x="1364" y="183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2" name="Line 444"/>
            <p:cNvSpPr>
              <a:spLocks noChangeShapeType="1"/>
            </p:cNvSpPr>
            <p:nvPr/>
          </p:nvSpPr>
          <p:spPr bwMode="auto">
            <a:xfrm>
              <a:off x="1364" y="1843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3" name="Line 445"/>
            <p:cNvSpPr>
              <a:spLocks noChangeShapeType="1"/>
            </p:cNvSpPr>
            <p:nvPr/>
          </p:nvSpPr>
          <p:spPr bwMode="auto">
            <a:xfrm>
              <a:off x="1364" y="185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4" name="Line 446"/>
            <p:cNvSpPr>
              <a:spLocks noChangeShapeType="1"/>
            </p:cNvSpPr>
            <p:nvPr/>
          </p:nvSpPr>
          <p:spPr bwMode="auto">
            <a:xfrm>
              <a:off x="1364" y="1861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5" name="Line 447"/>
            <p:cNvSpPr>
              <a:spLocks noChangeShapeType="1"/>
            </p:cNvSpPr>
            <p:nvPr/>
          </p:nvSpPr>
          <p:spPr bwMode="auto">
            <a:xfrm>
              <a:off x="1364" y="1868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6" name="Line 448"/>
            <p:cNvSpPr>
              <a:spLocks noChangeShapeType="1"/>
            </p:cNvSpPr>
            <p:nvPr/>
          </p:nvSpPr>
          <p:spPr bwMode="auto">
            <a:xfrm>
              <a:off x="1364" y="187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7" name="Line 449"/>
            <p:cNvSpPr>
              <a:spLocks noChangeShapeType="1"/>
            </p:cNvSpPr>
            <p:nvPr/>
          </p:nvSpPr>
          <p:spPr bwMode="auto">
            <a:xfrm>
              <a:off x="1364" y="188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8" name="Line 450"/>
            <p:cNvSpPr>
              <a:spLocks noChangeShapeType="1"/>
            </p:cNvSpPr>
            <p:nvPr/>
          </p:nvSpPr>
          <p:spPr bwMode="auto">
            <a:xfrm>
              <a:off x="1364" y="1893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9" name="Line 451"/>
            <p:cNvSpPr>
              <a:spLocks noChangeShapeType="1"/>
            </p:cNvSpPr>
            <p:nvPr/>
          </p:nvSpPr>
          <p:spPr bwMode="auto">
            <a:xfrm>
              <a:off x="1364" y="190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0" name="Line 452"/>
            <p:cNvSpPr>
              <a:spLocks noChangeShapeType="1"/>
            </p:cNvSpPr>
            <p:nvPr/>
          </p:nvSpPr>
          <p:spPr bwMode="auto">
            <a:xfrm>
              <a:off x="1364" y="1910"/>
              <a:ext cx="1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1" name="Line 453"/>
            <p:cNvSpPr>
              <a:spLocks noChangeShapeType="1"/>
            </p:cNvSpPr>
            <p:nvPr/>
          </p:nvSpPr>
          <p:spPr bwMode="auto">
            <a:xfrm>
              <a:off x="1364" y="1916"/>
              <a:ext cx="1" cy="6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2" name="Line 454"/>
            <p:cNvSpPr>
              <a:spLocks noChangeShapeType="1"/>
            </p:cNvSpPr>
            <p:nvPr/>
          </p:nvSpPr>
          <p:spPr bwMode="auto">
            <a:xfrm>
              <a:off x="1364" y="192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3" name="Line 455"/>
            <p:cNvSpPr>
              <a:spLocks noChangeShapeType="1"/>
            </p:cNvSpPr>
            <p:nvPr/>
          </p:nvSpPr>
          <p:spPr bwMode="auto">
            <a:xfrm>
              <a:off x="1364" y="1934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4" name="Line 456"/>
            <p:cNvSpPr>
              <a:spLocks noChangeShapeType="1"/>
            </p:cNvSpPr>
            <p:nvPr/>
          </p:nvSpPr>
          <p:spPr bwMode="auto">
            <a:xfrm>
              <a:off x="1364" y="194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5" name="Line 457"/>
            <p:cNvSpPr>
              <a:spLocks noChangeShapeType="1"/>
            </p:cNvSpPr>
            <p:nvPr/>
          </p:nvSpPr>
          <p:spPr bwMode="auto">
            <a:xfrm>
              <a:off x="1364" y="1950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6" name="Line 458"/>
            <p:cNvSpPr>
              <a:spLocks noChangeShapeType="1"/>
            </p:cNvSpPr>
            <p:nvPr/>
          </p:nvSpPr>
          <p:spPr bwMode="auto">
            <a:xfrm>
              <a:off x="1364" y="195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7" name="Line 459"/>
            <p:cNvSpPr>
              <a:spLocks noChangeShapeType="1"/>
            </p:cNvSpPr>
            <p:nvPr/>
          </p:nvSpPr>
          <p:spPr bwMode="auto">
            <a:xfrm>
              <a:off x="1364" y="196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8" name="Line 460"/>
            <p:cNvSpPr>
              <a:spLocks noChangeShapeType="1"/>
            </p:cNvSpPr>
            <p:nvPr/>
          </p:nvSpPr>
          <p:spPr bwMode="auto">
            <a:xfrm>
              <a:off x="1364" y="197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9" name="Line 461"/>
            <p:cNvSpPr>
              <a:spLocks noChangeShapeType="1"/>
            </p:cNvSpPr>
            <p:nvPr/>
          </p:nvSpPr>
          <p:spPr bwMode="auto">
            <a:xfrm>
              <a:off x="1364" y="198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0" name="Line 462"/>
            <p:cNvSpPr>
              <a:spLocks noChangeShapeType="1"/>
            </p:cNvSpPr>
            <p:nvPr/>
          </p:nvSpPr>
          <p:spPr bwMode="auto">
            <a:xfrm>
              <a:off x="1364" y="199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1" name="Line 463"/>
            <p:cNvSpPr>
              <a:spLocks noChangeShapeType="1"/>
            </p:cNvSpPr>
            <p:nvPr/>
          </p:nvSpPr>
          <p:spPr bwMode="auto">
            <a:xfrm>
              <a:off x="1364" y="200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2" name="Line 464"/>
            <p:cNvSpPr>
              <a:spLocks noChangeShapeType="1"/>
            </p:cNvSpPr>
            <p:nvPr/>
          </p:nvSpPr>
          <p:spPr bwMode="auto">
            <a:xfrm>
              <a:off x="1364" y="200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3" name="Line 465"/>
            <p:cNvSpPr>
              <a:spLocks noChangeShapeType="1"/>
            </p:cNvSpPr>
            <p:nvPr/>
          </p:nvSpPr>
          <p:spPr bwMode="auto">
            <a:xfrm>
              <a:off x="1364" y="201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4" name="Line 466"/>
            <p:cNvSpPr>
              <a:spLocks noChangeShapeType="1"/>
            </p:cNvSpPr>
            <p:nvPr/>
          </p:nvSpPr>
          <p:spPr bwMode="auto">
            <a:xfrm>
              <a:off x="1364" y="2025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5" name="Line 467"/>
            <p:cNvSpPr>
              <a:spLocks noChangeShapeType="1"/>
            </p:cNvSpPr>
            <p:nvPr/>
          </p:nvSpPr>
          <p:spPr bwMode="auto">
            <a:xfrm>
              <a:off x="1364" y="203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6" name="Line 468"/>
            <p:cNvSpPr>
              <a:spLocks noChangeShapeType="1"/>
            </p:cNvSpPr>
            <p:nvPr/>
          </p:nvSpPr>
          <p:spPr bwMode="auto">
            <a:xfrm>
              <a:off x="1364" y="204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7" name="Line 469"/>
            <p:cNvSpPr>
              <a:spLocks noChangeShapeType="1"/>
            </p:cNvSpPr>
            <p:nvPr/>
          </p:nvSpPr>
          <p:spPr bwMode="auto">
            <a:xfrm>
              <a:off x="1364" y="2050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8" name="Line 470"/>
            <p:cNvSpPr>
              <a:spLocks noChangeShapeType="1"/>
            </p:cNvSpPr>
            <p:nvPr/>
          </p:nvSpPr>
          <p:spPr bwMode="auto">
            <a:xfrm>
              <a:off x="1364" y="2057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9" name="Line 471"/>
            <p:cNvSpPr>
              <a:spLocks noChangeShapeType="1"/>
            </p:cNvSpPr>
            <p:nvPr/>
          </p:nvSpPr>
          <p:spPr bwMode="auto">
            <a:xfrm>
              <a:off x="1364" y="206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0" name="Line 472"/>
            <p:cNvSpPr>
              <a:spLocks noChangeShapeType="1"/>
            </p:cNvSpPr>
            <p:nvPr/>
          </p:nvSpPr>
          <p:spPr bwMode="auto">
            <a:xfrm>
              <a:off x="1364" y="207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1" name="Line 473"/>
            <p:cNvSpPr>
              <a:spLocks noChangeShapeType="1"/>
            </p:cNvSpPr>
            <p:nvPr/>
          </p:nvSpPr>
          <p:spPr bwMode="auto">
            <a:xfrm>
              <a:off x="1364" y="208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2" name="Line 474"/>
            <p:cNvSpPr>
              <a:spLocks noChangeShapeType="1"/>
            </p:cNvSpPr>
            <p:nvPr/>
          </p:nvSpPr>
          <p:spPr bwMode="auto">
            <a:xfrm>
              <a:off x="1364" y="209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3" name="Line 475"/>
            <p:cNvSpPr>
              <a:spLocks noChangeShapeType="1"/>
            </p:cNvSpPr>
            <p:nvPr/>
          </p:nvSpPr>
          <p:spPr bwMode="auto">
            <a:xfrm>
              <a:off x="1364" y="209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4" name="Line 476"/>
            <p:cNvSpPr>
              <a:spLocks noChangeShapeType="1"/>
            </p:cNvSpPr>
            <p:nvPr/>
          </p:nvSpPr>
          <p:spPr bwMode="auto">
            <a:xfrm>
              <a:off x="1364" y="2105"/>
              <a:ext cx="1" cy="6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5" name="Line 477"/>
            <p:cNvSpPr>
              <a:spLocks noChangeShapeType="1"/>
            </p:cNvSpPr>
            <p:nvPr/>
          </p:nvSpPr>
          <p:spPr bwMode="auto">
            <a:xfrm>
              <a:off x="1364" y="211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6" name="Line 478"/>
            <p:cNvSpPr>
              <a:spLocks noChangeShapeType="1"/>
            </p:cNvSpPr>
            <p:nvPr/>
          </p:nvSpPr>
          <p:spPr bwMode="auto">
            <a:xfrm>
              <a:off x="1364" y="212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7" name="Line 479"/>
            <p:cNvSpPr>
              <a:spLocks noChangeShapeType="1"/>
            </p:cNvSpPr>
            <p:nvPr/>
          </p:nvSpPr>
          <p:spPr bwMode="auto">
            <a:xfrm>
              <a:off x="1364" y="2130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8" name="Line 480"/>
            <p:cNvSpPr>
              <a:spLocks noChangeShapeType="1"/>
            </p:cNvSpPr>
            <p:nvPr/>
          </p:nvSpPr>
          <p:spPr bwMode="auto">
            <a:xfrm>
              <a:off x="1364" y="213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9" name="Line 481"/>
            <p:cNvSpPr>
              <a:spLocks noChangeShapeType="1"/>
            </p:cNvSpPr>
            <p:nvPr/>
          </p:nvSpPr>
          <p:spPr bwMode="auto">
            <a:xfrm>
              <a:off x="1364" y="214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0" name="Line 482"/>
            <p:cNvSpPr>
              <a:spLocks noChangeShapeType="1"/>
            </p:cNvSpPr>
            <p:nvPr/>
          </p:nvSpPr>
          <p:spPr bwMode="auto">
            <a:xfrm>
              <a:off x="1364" y="2155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1" name="Line 483"/>
            <p:cNvSpPr>
              <a:spLocks noChangeShapeType="1"/>
            </p:cNvSpPr>
            <p:nvPr/>
          </p:nvSpPr>
          <p:spPr bwMode="auto">
            <a:xfrm>
              <a:off x="1364" y="2164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2" name="Line 484"/>
            <p:cNvSpPr>
              <a:spLocks noChangeShapeType="1"/>
            </p:cNvSpPr>
            <p:nvPr/>
          </p:nvSpPr>
          <p:spPr bwMode="auto">
            <a:xfrm>
              <a:off x="1364" y="2171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3" name="Line 485"/>
            <p:cNvSpPr>
              <a:spLocks noChangeShapeType="1"/>
            </p:cNvSpPr>
            <p:nvPr/>
          </p:nvSpPr>
          <p:spPr bwMode="auto">
            <a:xfrm>
              <a:off x="1364" y="218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4" name="Line 486"/>
            <p:cNvSpPr>
              <a:spLocks noChangeShapeType="1"/>
            </p:cNvSpPr>
            <p:nvPr/>
          </p:nvSpPr>
          <p:spPr bwMode="auto">
            <a:xfrm>
              <a:off x="1364" y="2189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5" name="Line 487"/>
            <p:cNvSpPr>
              <a:spLocks noChangeShapeType="1"/>
            </p:cNvSpPr>
            <p:nvPr/>
          </p:nvSpPr>
          <p:spPr bwMode="auto">
            <a:xfrm>
              <a:off x="1364" y="219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6" name="Line 488"/>
            <p:cNvSpPr>
              <a:spLocks noChangeShapeType="1"/>
            </p:cNvSpPr>
            <p:nvPr/>
          </p:nvSpPr>
          <p:spPr bwMode="auto">
            <a:xfrm>
              <a:off x="1364" y="2205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7" name="Line 489"/>
            <p:cNvSpPr>
              <a:spLocks noChangeShapeType="1"/>
            </p:cNvSpPr>
            <p:nvPr/>
          </p:nvSpPr>
          <p:spPr bwMode="auto">
            <a:xfrm>
              <a:off x="1364" y="221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8" name="Line 490"/>
            <p:cNvSpPr>
              <a:spLocks noChangeShapeType="1"/>
            </p:cNvSpPr>
            <p:nvPr/>
          </p:nvSpPr>
          <p:spPr bwMode="auto">
            <a:xfrm>
              <a:off x="1364" y="222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9" name="Line 491"/>
            <p:cNvSpPr>
              <a:spLocks noChangeShapeType="1"/>
            </p:cNvSpPr>
            <p:nvPr/>
          </p:nvSpPr>
          <p:spPr bwMode="auto">
            <a:xfrm>
              <a:off x="1364" y="223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0" name="Line 492"/>
            <p:cNvSpPr>
              <a:spLocks noChangeShapeType="1"/>
            </p:cNvSpPr>
            <p:nvPr/>
          </p:nvSpPr>
          <p:spPr bwMode="auto">
            <a:xfrm>
              <a:off x="1364" y="223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1" name="Line 493"/>
            <p:cNvSpPr>
              <a:spLocks noChangeShapeType="1"/>
            </p:cNvSpPr>
            <p:nvPr/>
          </p:nvSpPr>
          <p:spPr bwMode="auto">
            <a:xfrm>
              <a:off x="1364" y="224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2" name="Line 494"/>
            <p:cNvSpPr>
              <a:spLocks noChangeShapeType="1"/>
            </p:cNvSpPr>
            <p:nvPr/>
          </p:nvSpPr>
          <p:spPr bwMode="auto">
            <a:xfrm>
              <a:off x="1364" y="225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3" name="Line 495"/>
            <p:cNvSpPr>
              <a:spLocks noChangeShapeType="1"/>
            </p:cNvSpPr>
            <p:nvPr/>
          </p:nvSpPr>
          <p:spPr bwMode="auto">
            <a:xfrm>
              <a:off x="1364" y="226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4" name="Line 496"/>
            <p:cNvSpPr>
              <a:spLocks noChangeShapeType="1"/>
            </p:cNvSpPr>
            <p:nvPr/>
          </p:nvSpPr>
          <p:spPr bwMode="auto">
            <a:xfrm>
              <a:off x="1364" y="227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5" name="Line 497"/>
            <p:cNvSpPr>
              <a:spLocks noChangeShapeType="1"/>
            </p:cNvSpPr>
            <p:nvPr/>
          </p:nvSpPr>
          <p:spPr bwMode="auto">
            <a:xfrm>
              <a:off x="1364" y="2279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6" name="Line 498"/>
            <p:cNvSpPr>
              <a:spLocks noChangeShapeType="1"/>
            </p:cNvSpPr>
            <p:nvPr/>
          </p:nvSpPr>
          <p:spPr bwMode="auto">
            <a:xfrm>
              <a:off x="1364" y="228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7" name="Line 499"/>
            <p:cNvSpPr>
              <a:spLocks noChangeShapeType="1"/>
            </p:cNvSpPr>
            <p:nvPr/>
          </p:nvSpPr>
          <p:spPr bwMode="auto">
            <a:xfrm>
              <a:off x="1364" y="229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8" name="Line 500"/>
            <p:cNvSpPr>
              <a:spLocks noChangeShapeType="1"/>
            </p:cNvSpPr>
            <p:nvPr/>
          </p:nvSpPr>
          <p:spPr bwMode="auto">
            <a:xfrm>
              <a:off x="1364" y="2304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9" name="Line 501"/>
            <p:cNvSpPr>
              <a:spLocks noChangeShapeType="1"/>
            </p:cNvSpPr>
            <p:nvPr/>
          </p:nvSpPr>
          <p:spPr bwMode="auto">
            <a:xfrm>
              <a:off x="1364" y="231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0" name="Line 502"/>
            <p:cNvSpPr>
              <a:spLocks noChangeShapeType="1"/>
            </p:cNvSpPr>
            <p:nvPr/>
          </p:nvSpPr>
          <p:spPr bwMode="auto">
            <a:xfrm>
              <a:off x="1364" y="2319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1" name="Line 503"/>
            <p:cNvSpPr>
              <a:spLocks noChangeShapeType="1"/>
            </p:cNvSpPr>
            <p:nvPr/>
          </p:nvSpPr>
          <p:spPr bwMode="auto">
            <a:xfrm>
              <a:off x="1364" y="2328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2" name="Line 504"/>
            <p:cNvSpPr>
              <a:spLocks noChangeShapeType="1"/>
            </p:cNvSpPr>
            <p:nvPr/>
          </p:nvSpPr>
          <p:spPr bwMode="auto">
            <a:xfrm>
              <a:off x="1364" y="233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3" name="Line 505"/>
            <p:cNvSpPr>
              <a:spLocks noChangeShapeType="1"/>
            </p:cNvSpPr>
            <p:nvPr/>
          </p:nvSpPr>
          <p:spPr bwMode="auto">
            <a:xfrm>
              <a:off x="1364" y="2344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4" name="Line 506"/>
            <p:cNvSpPr>
              <a:spLocks noChangeShapeType="1"/>
            </p:cNvSpPr>
            <p:nvPr/>
          </p:nvSpPr>
          <p:spPr bwMode="auto">
            <a:xfrm>
              <a:off x="1364" y="235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5" name="Line 507"/>
            <p:cNvSpPr>
              <a:spLocks noChangeShapeType="1"/>
            </p:cNvSpPr>
            <p:nvPr/>
          </p:nvSpPr>
          <p:spPr bwMode="auto">
            <a:xfrm>
              <a:off x="1364" y="2360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6" name="Line 508"/>
            <p:cNvSpPr>
              <a:spLocks noChangeShapeType="1"/>
            </p:cNvSpPr>
            <p:nvPr/>
          </p:nvSpPr>
          <p:spPr bwMode="auto">
            <a:xfrm>
              <a:off x="1364" y="2369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7" name="Line 509"/>
            <p:cNvSpPr>
              <a:spLocks noChangeShapeType="1"/>
            </p:cNvSpPr>
            <p:nvPr/>
          </p:nvSpPr>
          <p:spPr bwMode="auto">
            <a:xfrm>
              <a:off x="1364" y="237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8" name="Line 510"/>
            <p:cNvSpPr>
              <a:spLocks noChangeShapeType="1"/>
            </p:cNvSpPr>
            <p:nvPr/>
          </p:nvSpPr>
          <p:spPr bwMode="auto">
            <a:xfrm>
              <a:off x="1364" y="238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59" name="Line 511"/>
            <p:cNvSpPr>
              <a:spLocks noChangeShapeType="1"/>
            </p:cNvSpPr>
            <p:nvPr/>
          </p:nvSpPr>
          <p:spPr bwMode="auto">
            <a:xfrm>
              <a:off x="1364" y="2393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0" name="Line 512"/>
            <p:cNvSpPr>
              <a:spLocks noChangeShapeType="1"/>
            </p:cNvSpPr>
            <p:nvPr/>
          </p:nvSpPr>
          <p:spPr bwMode="auto">
            <a:xfrm>
              <a:off x="1364" y="240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1" name="Line 513"/>
            <p:cNvSpPr>
              <a:spLocks noChangeShapeType="1"/>
            </p:cNvSpPr>
            <p:nvPr/>
          </p:nvSpPr>
          <p:spPr bwMode="auto">
            <a:xfrm>
              <a:off x="1364" y="241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2" name="Line 514"/>
            <p:cNvSpPr>
              <a:spLocks noChangeShapeType="1"/>
            </p:cNvSpPr>
            <p:nvPr/>
          </p:nvSpPr>
          <p:spPr bwMode="auto">
            <a:xfrm>
              <a:off x="1364" y="241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3" name="Line 515"/>
            <p:cNvSpPr>
              <a:spLocks noChangeShapeType="1"/>
            </p:cNvSpPr>
            <p:nvPr/>
          </p:nvSpPr>
          <p:spPr bwMode="auto">
            <a:xfrm>
              <a:off x="1364" y="242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4" name="Line 516"/>
            <p:cNvSpPr>
              <a:spLocks noChangeShapeType="1"/>
            </p:cNvSpPr>
            <p:nvPr/>
          </p:nvSpPr>
          <p:spPr bwMode="auto">
            <a:xfrm>
              <a:off x="1364" y="2434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5" name="Line 517"/>
            <p:cNvSpPr>
              <a:spLocks noChangeShapeType="1"/>
            </p:cNvSpPr>
            <p:nvPr/>
          </p:nvSpPr>
          <p:spPr bwMode="auto">
            <a:xfrm>
              <a:off x="1364" y="2443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6" name="Line 518"/>
            <p:cNvSpPr>
              <a:spLocks noChangeShapeType="1"/>
            </p:cNvSpPr>
            <p:nvPr/>
          </p:nvSpPr>
          <p:spPr bwMode="auto">
            <a:xfrm>
              <a:off x="1364" y="245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7" name="Line 519"/>
            <p:cNvSpPr>
              <a:spLocks noChangeShapeType="1"/>
            </p:cNvSpPr>
            <p:nvPr/>
          </p:nvSpPr>
          <p:spPr bwMode="auto">
            <a:xfrm>
              <a:off x="1364" y="245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8" name="Line 520"/>
            <p:cNvSpPr>
              <a:spLocks noChangeShapeType="1"/>
            </p:cNvSpPr>
            <p:nvPr/>
          </p:nvSpPr>
          <p:spPr bwMode="auto">
            <a:xfrm>
              <a:off x="1364" y="2467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9" name="Line 521"/>
            <p:cNvSpPr>
              <a:spLocks noChangeShapeType="1"/>
            </p:cNvSpPr>
            <p:nvPr/>
          </p:nvSpPr>
          <p:spPr bwMode="auto">
            <a:xfrm>
              <a:off x="1364" y="2475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0" name="Line 522"/>
            <p:cNvSpPr>
              <a:spLocks noChangeShapeType="1"/>
            </p:cNvSpPr>
            <p:nvPr/>
          </p:nvSpPr>
          <p:spPr bwMode="auto">
            <a:xfrm>
              <a:off x="1364" y="2483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1" name="Line 523"/>
            <p:cNvSpPr>
              <a:spLocks noChangeShapeType="1"/>
            </p:cNvSpPr>
            <p:nvPr/>
          </p:nvSpPr>
          <p:spPr bwMode="auto">
            <a:xfrm>
              <a:off x="1364" y="249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2" name="Line 524"/>
            <p:cNvSpPr>
              <a:spLocks noChangeShapeType="1"/>
            </p:cNvSpPr>
            <p:nvPr/>
          </p:nvSpPr>
          <p:spPr bwMode="auto">
            <a:xfrm>
              <a:off x="1364" y="250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3" name="Line 525"/>
            <p:cNvSpPr>
              <a:spLocks noChangeShapeType="1"/>
            </p:cNvSpPr>
            <p:nvPr/>
          </p:nvSpPr>
          <p:spPr bwMode="auto">
            <a:xfrm>
              <a:off x="1994" y="2004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4" name="Line 526"/>
            <p:cNvSpPr>
              <a:spLocks noChangeShapeType="1"/>
            </p:cNvSpPr>
            <p:nvPr/>
          </p:nvSpPr>
          <p:spPr bwMode="auto">
            <a:xfrm>
              <a:off x="2003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5" name="Line 527"/>
            <p:cNvSpPr>
              <a:spLocks noChangeShapeType="1"/>
            </p:cNvSpPr>
            <p:nvPr/>
          </p:nvSpPr>
          <p:spPr bwMode="auto">
            <a:xfrm>
              <a:off x="2011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6" name="Line 528"/>
            <p:cNvSpPr>
              <a:spLocks noChangeShapeType="1"/>
            </p:cNvSpPr>
            <p:nvPr/>
          </p:nvSpPr>
          <p:spPr bwMode="auto">
            <a:xfrm>
              <a:off x="2020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7" name="Line 529"/>
            <p:cNvSpPr>
              <a:spLocks noChangeShapeType="1"/>
            </p:cNvSpPr>
            <p:nvPr/>
          </p:nvSpPr>
          <p:spPr bwMode="auto">
            <a:xfrm>
              <a:off x="2028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8" name="Line 530"/>
            <p:cNvSpPr>
              <a:spLocks noChangeShapeType="1"/>
            </p:cNvSpPr>
            <p:nvPr/>
          </p:nvSpPr>
          <p:spPr bwMode="auto">
            <a:xfrm>
              <a:off x="2035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79" name="Line 531"/>
            <p:cNvSpPr>
              <a:spLocks noChangeShapeType="1"/>
            </p:cNvSpPr>
            <p:nvPr/>
          </p:nvSpPr>
          <p:spPr bwMode="auto">
            <a:xfrm>
              <a:off x="2045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0" name="Line 532"/>
            <p:cNvSpPr>
              <a:spLocks noChangeShapeType="1"/>
            </p:cNvSpPr>
            <p:nvPr/>
          </p:nvSpPr>
          <p:spPr bwMode="auto">
            <a:xfrm>
              <a:off x="2053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1" name="Line 533"/>
            <p:cNvSpPr>
              <a:spLocks noChangeShapeType="1"/>
            </p:cNvSpPr>
            <p:nvPr/>
          </p:nvSpPr>
          <p:spPr bwMode="auto">
            <a:xfrm>
              <a:off x="2060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2" name="Line 534"/>
            <p:cNvSpPr>
              <a:spLocks noChangeShapeType="1"/>
            </p:cNvSpPr>
            <p:nvPr/>
          </p:nvSpPr>
          <p:spPr bwMode="auto">
            <a:xfrm>
              <a:off x="2069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3" name="Line 535"/>
            <p:cNvSpPr>
              <a:spLocks noChangeShapeType="1"/>
            </p:cNvSpPr>
            <p:nvPr/>
          </p:nvSpPr>
          <p:spPr bwMode="auto">
            <a:xfrm>
              <a:off x="2078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4" name="Line 536"/>
            <p:cNvSpPr>
              <a:spLocks noChangeShapeType="1"/>
            </p:cNvSpPr>
            <p:nvPr/>
          </p:nvSpPr>
          <p:spPr bwMode="auto">
            <a:xfrm>
              <a:off x="2085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5" name="Line 537"/>
            <p:cNvSpPr>
              <a:spLocks noChangeShapeType="1"/>
            </p:cNvSpPr>
            <p:nvPr/>
          </p:nvSpPr>
          <p:spPr bwMode="auto">
            <a:xfrm>
              <a:off x="2094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6" name="Line 538"/>
            <p:cNvSpPr>
              <a:spLocks noChangeShapeType="1"/>
            </p:cNvSpPr>
            <p:nvPr/>
          </p:nvSpPr>
          <p:spPr bwMode="auto">
            <a:xfrm>
              <a:off x="2102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7" name="Line 539"/>
            <p:cNvSpPr>
              <a:spLocks noChangeShapeType="1"/>
            </p:cNvSpPr>
            <p:nvPr/>
          </p:nvSpPr>
          <p:spPr bwMode="auto">
            <a:xfrm>
              <a:off x="2110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8" name="Line 540"/>
            <p:cNvSpPr>
              <a:spLocks noChangeShapeType="1"/>
            </p:cNvSpPr>
            <p:nvPr/>
          </p:nvSpPr>
          <p:spPr bwMode="auto">
            <a:xfrm>
              <a:off x="2119" y="2004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9" name="Line 541"/>
            <p:cNvSpPr>
              <a:spLocks noChangeShapeType="1"/>
            </p:cNvSpPr>
            <p:nvPr/>
          </p:nvSpPr>
          <p:spPr bwMode="auto">
            <a:xfrm flipV="1">
              <a:off x="2123" y="199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0" name="Line 542"/>
            <p:cNvSpPr>
              <a:spLocks noChangeShapeType="1"/>
            </p:cNvSpPr>
            <p:nvPr/>
          </p:nvSpPr>
          <p:spPr bwMode="auto">
            <a:xfrm flipV="1">
              <a:off x="2123" y="1987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1" name="Line 543"/>
            <p:cNvSpPr>
              <a:spLocks noChangeShapeType="1"/>
            </p:cNvSpPr>
            <p:nvPr/>
          </p:nvSpPr>
          <p:spPr bwMode="auto">
            <a:xfrm flipV="1">
              <a:off x="2123" y="197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2" name="Line 544"/>
            <p:cNvSpPr>
              <a:spLocks noChangeShapeType="1"/>
            </p:cNvSpPr>
            <p:nvPr/>
          </p:nvSpPr>
          <p:spPr bwMode="auto">
            <a:xfrm flipV="1">
              <a:off x="2123" y="197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3" name="Line 545"/>
            <p:cNvSpPr>
              <a:spLocks noChangeShapeType="1"/>
            </p:cNvSpPr>
            <p:nvPr/>
          </p:nvSpPr>
          <p:spPr bwMode="auto">
            <a:xfrm flipV="1">
              <a:off x="2123" y="1962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4" name="Line 546"/>
            <p:cNvSpPr>
              <a:spLocks noChangeShapeType="1"/>
            </p:cNvSpPr>
            <p:nvPr/>
          </p:nvSpPr>
          <p:spPr bwMode="auto">
            <a:xfrm flipV="1">
              <a:off x="2123" y="1955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5" name="Line 547"/>
            <p:cNvSpPr>
              <a:spLocks noChangeShapeType="1"/>
            </p:cNvSpPr>
            <p:nvPr/>
          </p:nvSpPr>
          <p:spPr bwMode="auto">
            <a:xfrm flipV="1">
              <a:off x="2123" y="194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6" name="Line 548"/>
            <p:cNvSpPr>
              <a:spLocks noChangeShapeType="1"/>
            </p:cNvSpPr>
            <p:nvPr/>
          </p:nvSpPr>
          <p:spPr bwMode="auto">
            <a:xfrm flipV="1">
              <a:off x="2123" y="1937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7" name="Line 549"/>
            <p:cNvSpPr>
              <a:spLocks noChangeShapeType="1"/>
            </p:cNvSpPr>
            <p:nvPr/>
          </p:nvSpPr>
          <p:spPr bwMode="auto">
            <a:xfrm flipV="1">
              <a:off x="2123" y="1930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8" name="Line 550"/>
            <p:cNvSpPr>
              <a:spLocks noChangeShapeType="1"/>
            </p:cNvSpPr>
            <p:nvPr/>
          </p:nvSpPr>
          <p:spPr bwMode="auto">
            <a:xfrm flipV="1">
              <a:off x="2123" y="192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9" name="Line 551"/>
            <p:cNvSpPr>
              <a:spLocks noChangeShapeType="1"/>
            </p:cNvSpPr>
            <p:nvPr/>
          </p:nvSpPr>
          <p:spPr bwMode="auto">
            <a:xfrm flipV="1">
              <a:off x="2123" y="1912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0" name="Line 552"/>
            <p:cNvSpPr>
              <a:spLocks noChangeShapeType="1"/>
            </p:cNvSpPr>
            <p:nvPr/>
          </p:nvSpPr>
          <p:spPr bwMode="auto">
            <a:xfrm flipV="1">
              <a:off x="2123" y="1906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1" name="Line 553"/>
            <p:cNvSpPr>
              <a:spLocks noChangeShapeType="1"/>
            </p:cNvSpPr>
            <p:nvPr/>
          </p:nvSpPr>
          <p:spPr bwMode="auto">
            <a:xfrm flipV="1">
              <a:off x="2123" y="189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2" name="Line 554"/>
            <p:cNvSpPr>
              <a:spLocks noChangeShapeType="1"/>
            </p:cNvSpPr>
            <p:nvPr/>
          </p:nvSpPr>
          <p:spPr bwMode="auto">
            <a:xfrm flipV="1">
              <a:off x="2123" y="1889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3" name="Line 555"/>
            <p:cNvSpPr>
              <a:spLocks noChangeShapeType="1"/>
            </p:cNvSpPr>
            <p:nvPr/>
          </p:nvSpPr>
          <p:spPr bwMode="auto">
            <a:xfrm flipV="1">
              <a:off x="2123" y="1881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4" name="Line 556"/>
            <p:cNvSpPr>
              <a:spLocks noChangeShapeType="1"/>
            </p:cNvSpPr>
            <p:nvPr/>
          </p:nvSpPr>
          <p:spPr bwMode="auto">
            <a:xfrm flipH="1">
              <a:off x="2119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5" name="Line 557"/>
            <p:cNvSpPr>
              <a:spLocks noChangeShapeType="1"/>
            </p:cNvSpPr>
            <p:nvPr/>
          </p:nvSpPr>
          <p:spPr bwMode="auto">
            <a:xfrm flipH="1">
              <a:off x="2110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6" name="Line 558"/>
            <p:cNvSpPr>
              <a:spLocks noChangeShapeType="1"/>
            </p:cNvSpPr>
            <p:nvPr/>
          </p:nvSpPr>
          <p:spPr bwMode="auto">
            <a:xfrm flipH="1">
              <a:off x="2102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7" name="Line 559"/>
            <p:cNvSpPr>
              <a:spLocks noChangeShapeType="1"/>
            </p:cNvSpPr>
            <p:nvPr/>
          </p:nvSpPr>
          <p:spPr bwMode="auto">
            <a:xfrm flipH="1">
              <a:off x="2094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8" name="Line 560"/>
            <p:cNvSpPr>
              <a:spLocks noChangeShapeType="1"/>
            </p:cNvSpPr>
            <p:nvPr/>
          </p:nvSpPr>
          <p:spPr bwMode="auto">
            <a:xfrm flipH="1">
              <a:off x="2085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9" name="Line 561"/>
            <p:cNvSpPr>
              <a:spLocks noChangeShapeType="1"/>
            </p:cNvSpPr>
            <p:nvPr/>
          </p:nvSpPr>
          <p:spPr bwMode="auto">
            <a:xfrm flipH="1">
              <a:off x="2078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0" name="Line 562"/>
            <p:cNvSpPr>
              <a:spLocks noChangeShapeType="1"/>
            </p:cNvSpPr>
            <p:nvPr/>
          </p:nvSpPr>
          <p:spPr bwMode="auto">
            <a:xfrm flipH="1">
              <a:off x="2069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1" name="Line 563"/>
            <p:cNvSpPr>
              <a:spLocks noChangeShapeType="1"/>
            </p:cNvSpPr>
            <p:nvPr/>
          </p:nvSpPr>
          <p:spPr bwMode="auto">
            <a:xfrm flipH="1">
              <a:off x="2060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2" name="Line 564"/>
            <p:cNvSpPr>
              <a:spLocks noChangeShapeType="1"/>
            </p:cNvSpPr>
            <p:nvPr/>
          </p:nvSpPr>
          <p:spPr bwMode="auto">
            <a:xfrm flipH="1">
              <a:off x="2053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3" name="Line 565"/>
            <p:cNvSpPr>
              <a:spLocks noChangeShapeType="1"/>
            </p:cNvSpPr>
            <p:nvPr/>
          </p:nvSpPr>
          <p:spPr bwMode="auto">
            <a:xfrm flipH="1">
              <a:off x="2045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4" name="Line 566"/>
            <p:cNvSpPr>
              <a:spLocks noChangeShapeType="1"/>
            </p:cNvSpPr>
            <p:nvPr/>
          </p:nvSpPr>
          <p:spPr bwMode="auto">
            <a:xfrm flipH="1">
              <a:off x="2035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5" name="Line 567"/>
            <p:cNvSpPr>
              <a:spLocks noChangeShapeType="1"/>
            </p:cNvSpPr>
            <p:nvPr/>
          </p:nvSpPr>
          <p:spPr bwMode="auto">
            <a:xfrm flipH="1">
              <a:off x="2028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6" name="Line 568"/>
            <p:cNvSpPr>
              <a:spLocks noChangeShapeType="1"/>
            </p:cNvSpPr>
            <p:nvPr/>
          </p:nvSpPr>
          <p:spPr bwMode="auto">
            <a:xfrm flipH="1">
              <a:off x="2020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7" name="Line 569"/>
            <p:cNvSpPr>
              <a:spLocks noChangeShapeType="1"/>
            </p:cNvSpPr>
            <p:nvPr/>
          </p:nvSpPr>
          <p:spPr bwMode="auto">
            <a:xfrm flipH="1">
              <a:off x="2011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8" name="Line 570"/>
            <p:cNvSpPr>
              <a:spLocks noChangeShapeType="1"/>
            </p:cNvSpPr>
            <p:nvPr/>
          </p:nvSpPr>
          <p:spPr bwMode="auto">
            <a:xfrm flipH="1">
              <a:off x="2003" y="1877"/>
              <a:ext cx="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9" name="Line 571"/>
            <p:cNvSpPr>
              <a:spLocks noChangeShapeType="1"/>
            </p:cNvSpPr>
            <p:nvPr/>
          </p:nvSpPr>
          <p:spPr bwMode="auto">
            <a:xfrm flipH="1">
              <a:off x="1994" y="1877"/>
              <a:ext cx="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20" name="Line 572"/>
            <p:cNvSpPr>
              <a:spLocks noChangeShapeType="1"/>
            </p:cNvSpPr>
            <p:nvPr/>
          </p:nvSpPr>
          <p:spPr bwMode="auto">
            <a:xfrm>
              <a:off x="1994" y="1881"/>
              <a:ext cx="2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21" name="Line 573"/>
            <p:cNvSpPr>
              <a:spLocks noChangeShapeType="1"/>
            </p:cNvSpPr>
            <p:nvPr/>
          </p:nvSpPr>
          <p:spPr bwMode="auto">
            <a:xfrm>
              <a:off x="1994" y="1889"/>
              <a:ext cx="2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22" name="Line 574"/>
            <p:cNvSpPr>
              <a:spLocks noChangeShapeType="1"/>
            </p:cNvSpPr>
            <p:nvPr/>
          </p:nvSpPr>
          <p:spPr bwMode="auto">
            <a:xfrm>
              <a:off x="1994" y="1898"/>
              <a:ext cx="2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23" name="Line 575"/>
            <p:cNvSpPr>
              <a:spLocks noChangeShapeType="1"/>
            </p:cNvSpPr>
            <p:nvPr/>
          </p:nvSpPr>
          <p:spPr bwMode="auto">
            <a:xfrm>
              <a:off x="1994" y="1906"/>
              <a:ext cx="2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24" name="Line 576"/>
            <p:cNvSpPr>
              <a:spLocks noChangeShapeType="1"/>
            </p:cNvSpPr>
            <p:nvPr/>
          </p:nvSpPr>
          <p:spPr bwMode="auto">
            <a:xfrm>
              <a:off x="1994" y="1912"/>
              <a:ext cx="2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25" name="Line 577"/>
            <p:cNvSpPr>
              <a:spLocks noChangeShapeType="1"/>
            </p:cNvSpPr>
            <p:nvPr/>
          </p:nvSpPr>
          <p:spPr bwMode="auto">
            <a:xfrm>
              <a:off x="1994" y="1922"/>
              <a:ext cx="2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26" name="Line 578"/>
            <p:cNvSpPr>
              <a:spLocks noChangeShapeType="1"/>
            </p:cNvSpPr>
            <p:nvPr/>
          </p:nvSpPr>
          <p:spPr bwMode="auto">
            <a:xfrm>
              <a:off x="1994" y="1930"/>
              <a:ext cx="2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27" name="Line 579"/>
            <p:cNvSpPr>
              <a:spLocks noChangeShapeType="1"/>
            </p:cNvSpPr>
            <p:nvPr/>
          </p:nvSpPr>
          <p:spPr bwMode="auto">
            <a:xfrm>
              <a:off x="1994" y="1937"/>
              <a:ext cx="2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28" name="Line 580"/>
            <p:cNvSpPr>
              <a:spLocks noChangeShapeType="1"/>
            </p:cNvSpPr>
            <p:nvPr/>
          </p:nvSpPr>
          <p:spPr bwMode="auto">
            <a:xfrm>
              <a:off x="1994" y="1946"/>
              <a:ext cx="2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29" name="Line 581"/>
            <p:cNvSpPr>
              <a:spLocks noChangeShapeType="1"/>
            </p:cNvSpPr>
            <p:nvPr/>
          </p:nvSpPr>
          <p:spPr bwMode="auto">
            <a:xfrm>
              <a:off x="1994" y="1955"/>
              <a:ext cx="2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0" name="Line 582"/>
            <p:cNvSpPr>
              <a:spLocks noChangeShapeType="1"/>
            </p:cNvSpPr>
            <p:nvPr/>
          </p:nvSpPr>
          <p:spPr bwMode="auto">
            <a:xfrm>
              <a:off x="1994" y="1962"/>
              <a:ext cx="2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1" name="Line 583"/>
            <p:cNvSpPr>
              <a:spLocks noChangeShapeType="1"/>
            </p:cNvSpPr>
            <p:nvPr/>
          </p:nvSpPr>
          <p:spPr bwMode="auto">
            <a:xfrm>
              <a:off x="1994" y="1971"/>
              <a:ext cx="2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2" name="Line 584"/>
            <p:cNvSpPr>
              <a:spLocks noChangeShapeType="1"/>
            </p:cNvSpPr>
            <p:nvPr/>
          </p:nvSpPr>
          <p:spPr bwMode="auto">
            <a:xfrm>
              <a:off x="1994" y="1979"/>
              <a:ext cx="2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3" name="Line 585"/>
            <p:cNvSpPr>
              <a:spLocks noChangeShapeType="1"/>
            </p:cNvSpPr>
            <p:nvPr/>
          </p:nvSpPr>
          <p:spPr bwMode="auto">
            <a:xfrm>
              <a:off x="1994" y="1987"/>
              <a:ext cx="2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4" name="Line 586"/>
            <p:cNvSpPr>
              <a:spLocks noChangeShapeType="1"/>
            </p:cNvSpPr>
            <p:nvPr/>
          </p:nvSpPr>
          <p:spPr bwMode="auto">
            <a:xfrm>
              <a:off x="1994" y="1996"/>
              <a:ext cx="2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5" name="Line 587"/>
            <p:cNvSpPr>
              <a:spLocks noChangeShapeType="1"/>
            </p:cNvSpPr>
            <p:nvPr/>
          </p:nvSpPr>
          <p:spPr bwMode="auto">
            <a:xfrm flipH="1">
              <a:off x="1709" y="1848"/>
              <a:ext cx="50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6" name="Line 588"/>
            <p:cNvSpPr>
              <a:spLocks noChangeShapeType="1"/>
            </p:cNvSpPr>
            <p:nvPr/>
          </p:nvSpPr>
          <p:spPr bwMode="auto">
            <a:xfrm flipH="1">
              <a:off x="1596" y="1848"/>
              <a:ext cx="48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7" name="Rectangle 589"/>
            <p:cNvSpPr>
              <a:spLocks noChangeArrowheads="1"/>
            </p:cNvSpPr>
            <p:nvPr/>
          </p:nvSpPr>
          <p:spPr bwMode="auto">
            <a:xfrm>
              <a:off x="1644" y="1838"/>
              <a:ext cx="66" cy="23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8" name="Line 590"/>
            <p:cNvSpPr>
              <a:spLocks noChangeShapeType="1"/>
            </p:cNvSpPr>
            <p:nvPr/>
          </p:nvSpPr>
          <p:spPr bwMode="auto">
            <a:xfrm flipV="1">
              <a:off x="1762" y="1978"/>
              <a:ext cx="1" cy="6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39" name="Line 591"/>
            <p:cNvSpPr>
              <a:spLocks noChangeShapeType="1"/>
            </p:cNvSpPr>
            <p:nvPr/>
          </p:nvSpPr>
          <p:spPr bwMode="auto">
            <a:xfrm flipV="1">
              <a:off x="1762" y="1850"/>
              <a:ext cx="1" cy="6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0" name="Rectangle 592"/>
            <p:cNvSpPr>
              <a:spLocks noChangeArrowheads="1"/>
            </p:cNvSpPr>
            <p:nvPr/>
          </p:nvSpPr>
          <p:spPr bwMode="auto">
            <a:xfrm>
              <a:off x="1752" y="1911"/>
              <a:ext cx="22" cy="68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1" name="Line 593"/>
            <p:cNvSpPr>
              <a:spLocks noChangeShapeType="1"/>
            </p:cNvSpPr>
            <p:nvPr/>
          </p:nvSpPr>
          <p:spPr bwMode="auto">
            <a:xfrm>
              <a:off x="1833" y="1849"/>
              <a:ext cx="1" cy="90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2" name="Line 594"/>
            <p:cNvSpPr>
              <a:spLocks noChangeShapeType="1"/>
            </p:cNvSpPr>
            <p:nvPr/>
          </p:nvSpPr>
          <p:spPr bwMode="auto">
            <a:xfrm>
              <a:off x="1833" y="1950"/>
              <a:ext cx="1" cy="9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3" name="Freeform 595"/>
            <p:cNvSpPr>
              <a:spLocks/>
            </p:cNvSpPr>
            <p:nvPr/>
          </p:nvSpPr>
          <p:spPr bwMode="auto">
            <a:xfrm>
              <a:off x="1812" y="1950"/>
              <a:ext cx="42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2" y="0"/>
                </a:cxn>
                <a:cxn ang="0">
                  <a:pos x="0" y="0"/>
                </a:cxn>
              </a:cxnLst>
              <a:rect l="0" t="0" r="r" b="b"/>
              <a:pathLst>
                <a:path w="82">
                  <a:moveTo>
                    <a:pt x="0" y="0"/>
                  </a:moveTo>
                  <a:lnTo>
                    <a:pt x="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4" name="Line 596"/>
            <p:cNvSpPr>
              <a:spLocks noChangeShapeType="1"/>
            </p:cNvSpPr>
            <p:nvPr/>
          </p:nvSpPr>
          <p:spPr bwMode="auto">
            <a:xfrm>
              <a:off x="1812" y="1950"/>
              <a:ext cx="42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5" name="Line 597"/>
            <p:cNvSpPr>
              <a:spLocks noChangeShapeType="1"/>
            </p:cNvSpPr>
            <p:nvPr/>
          </p:nvSpPr>
          <p:spPr bwMode="auto">
            <a:xfrm>
              <a:off x="1812" y="1939"/>
              <a:ext cx="42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6" name="Line 598"/>
            <p:cNvSpPr>
              <a:spLocks noChangeShapeType="1"/>
            </p:cNvSpPr>
            <p:nvPr/>
          </p:nvSpPr>
          <p:spPr bwMode="auto">
            <a:xfrm>
              <a:off x="1762" y="2041"/>
              <a:ext cx="263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7" name="Freeform 599"/>
            <p:cNvSpPr>
              <a:spLocks/>
            </p:cNvSpPr>
            <p:nvPr/>
          </p:nvSpPr>
          <p:spPr bwMode="auto">
            <a:xfrm>
              <a:off x="1887" y="1931"/>
              <a:ext cx="33" cy="28"/>
            </a:xfrm>
            <a:custGeom>
              <a:avLst/>
              <a:gdLst/>
              <a:ahLst/>
              <a:cxnLst>
                <a:cxn ang="0">
                  <a:pos x="0" y="58"/>
                </a:cxn>
                <a:cxn ang="0">
                  <a:pos x="65" y="58"/>
                </a:cxn>
                <a:cxn ang="0">
                  <a:pos x="32" y="0"/>
                </a:cxn>
                <a:cxn ang="0">
                  <a:pos x="0" y="58"/>
                </a:cxn>
              </a:cxnLst>
              <a:rect l="0" t="0" r="r" b="b"/>
              <a:pathLst>
                <a:path w="65" h="58">
                  <a:moveTo>
                    <a:pt x="0" y="58"/>
                  </a:moveTo>
                  <a:lnTo>
                    <a:pt x="65" y="58"/>
                  </a:lnTo>
                  <a:lnTo>
                    <a:pt x="32" y="0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8" name="Line 600"/>
            <p:cNvSpPr>
              <a:spLocks noChangeShapeType="1"/>
            </p:cNvSpPr>
            <p:nvPr/>
          </p:nvSpPr>
          <p:spPr bwMode="auto">
            <a:xfrm flipV="1">
              <a:off x="1904" y="1959"/>
              <a:ext cx="1" cy="8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49" name="Line 601"/>
            <p:cNvSpPr>
              <a:spLocks noChangeShapeType="1"/>
            </p:cNvSpPr>
            <p:nvPr/>
          </p:nvSpPr>
          <p:spPr bwMode="auto">
            <a:xfrm flipV="1">
              <a:off x="1904" y="1850"/>
              <a:ext cx="1" cy="8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0" name="Line 602"/>
            <p:cNvSpPr>
              <a:spLocks noChangeShapeType="1"/>
            </p:cNvSpPr>
            <p:nvPr/>
          </p:nvSpPr>
          <p:spPr bwMode="auto">
            <a:xfrm flipH="1">
              <a:off x="1885" y="1929"/>
              <a:ext cx="3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1" name="Line 603"/>
            <p:cNvSpPr>
              <a:spLocks noChangeShapeType="1"/>
            </p:cNvSpPr>
            <p:nvPr/>
          </p:nvSpPr>
          <p:spPr bwMode="auto">
            <a:xfrm>
              <a:off x="1762" y="1850"/>
              <a:ext cx="262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2" name="Freeform 604"/>
            <p:cNvSpPr>
              <a:spLocks/>
            </p:cNvSpPr>
            <p:nvPr/>
          </p:nvSpPr>
          <p:spPr bwMode="auto">
            <a:xfrm>
              <a:off x="2008" y="1931"/>
              <a:ext cx="32" cy="28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0" y="0"/>
                </a:cxn>
                <a:cxn ang="0">
                  <a:pos x="35" y="58"/>
                </a:cxn>
                <a:cxn ang="0">
                  <a:pos x="66" y="0"/>
                </a:cxn>
              </a:cxnLst>
              <a:rect l="0" t="0" r="r" b="b"/>
              <a:pathLst>
                <a:path w="66" h="58">
                  <a:moveTo>
                    <a:pt x="66" y="0"/>
                  </a:moveTo>
                  <a:lnTo>
                    <a:pt x="0" y="0"/>
                  </a:lnTo>
                  <a:lnTo>
                    <a:pt x="35" y="58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3" name="Line 605"/>
            <p:cNvSpPr>
              <a:spLocks noChangeShapeType="1"/>
            </p:cNvSpPr>
            <p:nvPr/>
          </p:nvSpPr>
          <p:spPr bwMode="auto">
            <a:xfrm>
              <a:off x="2025" y="1850"/>
              <a:ext cx="1" cy="8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4" name="Line 606"/>
            <p:cNvSpPr>
              <a:spLocks noChangeShapeType="1"/>
            </p:cNvSpPr>
            <p:nvPr/>
          </p:nvSpPr>
          <p:spPr bwMode="auto">
            <a:xfrm>
              <a:off x="2025" y="1959"/>
              <a:ext cx="1" cy="8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5" name="Line 607"/>
            <p:cNvSpPr>
              <a:spLocks noChangeShapeType="1"/>
            </p:cNvSpPr>
            <p:nvPr/>
          </p:nvSpPr>
          <p:spPr bwMode="auto">
            <a:xfrm>
              <a:off x="2007" y="1959"/>
              <a:ext cx="3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6" name="Line 608"/>
            <p:cNvSpPr>
              <a:spLocks noChangeShapeType="1"/>
            </p:cNvSpPr>
            <p:nvPr/>
          </p:nvSpPr>
          <p:spPr bwMode="auto">
            <a:xfrm flipV="1">
              <a:off x="2094" y="1849"/>
              <a:ext cx="1" cy="5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7" name="Line 609"/>
            <p:cNvSpPr>
              <a:spLocks noChangeShapeType="1"/>
            </p:cNvSpPr>
            <p:nvPr/>
          </p:nvSpPr>
          <p:spPr bwMode="auto">
            <a:xfrm flipV="1">
              <a:off x="2094" y="1984"/>
              <a:ext cx="1" cy="59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8" name="Line 610"/>
            <p:cNvSpPr>
              <a:spLocks noChangeShapeType="1"/>
            </p:cNvSpPr>
            <p:nvPr/>
          </p:nvSpPr>
          <p:spPr bwMode="auto">
            <a:xfrm flipV="1">
              <a:off x="2057" y="1892"/>
              <a:ext cx="1" cy="100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59" name="Line 611"/>
            <p:cNvSpPr>
              <a:spLocks noChangeShapeType="1"/>
            </p:cNvSpPr>
            <p:nvPr/>
          </p:nvSpPr>
          <p:spPr bwMode="auto">
            <a:xfrm flipH="1" flipV="1">
              <a:off x="2057" y="1959"/>
              <a:ext cx="20" cy="1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0" name="Freeform 612"/>
            <p:cNvSpPr>
              <a:spLocks/>
            </p:cNvSpPr>
            <p:nvPr/>
          </p:nvSpPr>
          <p:spPr bwMode="auto">
            <a:xfrm>
              <a:off x="2066" y="1961"/>
              <a:ext cx="28" cy="23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56" y="46"/>
                </a:cxn>
                <a:cxn ang="0">
                  <a:pos x="0" y="38"/>
                </a:cxn>
                <a:cxn ang="0">
                  <a:pos x="29" y="0"/>
                </a:cxn>
              </a:cxnLst>
              <a:rect l="0" t="0" r="r" b="b"/>
              <a:pathLst>
                <a:path w="56" h="46">
                  <a:moveTo>
                    <a:pt x="29" y="0"/>
                  </a:moveTo>
                  <a:lnTo>
                    <a:pt x="56" y="46"/>
                  </a:lnTo>
                  <a:lnTo>
                    <a:pt x="0" y="38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1" name="Line 613"/>
            <p:cNvSpPr>
              <a:spLocks noChangeShapeType="1"/>
            </p:cNvSpPr>
            <p:nvPr/>
          </p:nvSpPr>
          <p:spPr bwMode="auto">
            <a:xfrm flipV="1">
              <a:off x="2057" y="1902"/>
              <a:ext cx="37" cy="19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2" name="Line 614"/>
            <p:cNvSpPr>
              <a:spLocks noChangeShapeType="1"/>
            </p:cNvSpPr>
            <p:nvPr/>
          </p:nvSpPr>
          <p:spPr bwMode="auto">
            <a:xfrm>
              <a:off x="2094" y="2040"/>
              <a:ext cx="482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3" name="Line 615"/>
            <p:cNvSpPr>
              <a:spLocks noChangeShapeType="1"/>
            </p:cNvSpPr>
            <p:nvPr/>
          </p:nvSpPr>
          <p:spPr bwMode="auto">
            <a:xfrm>
              <a:off x="2092" y="1850"/>
              <a:ext cx="48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4" name="Freeform 616"/>
            <p:cNvSpPr>
              <a:spLocks/>
            </p:cNvSpPr>
            <p:nvPr/>
          </p:nvSpPr>
          <p:spPr bwMode="auto">
            <a:xfrm>
              <a:off x="2155" y="1931"/>
              <a:ext cx="33" cy="28"/>
            </a:xfrm>
            <a:custGeom>
              <a:avLst/>
              <a:gdLst/>
              <a:ahLst/>
              <a:cxnLst>
                <a:cxn ang="0">
                  <a:pos x="0" y="58"/>
                </a:cxn>
                <a:cxn ang="0">
                  <a:pos x="68" y="58"/>
                </a:cxn>
                <a:cxn ang="0">
                  <a:pos x="33" y="0"/>
                </a:cxn>
                <a:cxn ang="0">
                  <a:pos x="0" y="58"/>
                </a:cxn>
              </a:cxnLst>
              <a:rect l="0" t="0" r="r" b="b"/>
              <a:pathLst>
                <a:path w="68" h="58">
                  <a:moveTo>
                    <a:pt x="0" y="58"/>
                  </a:moveTo>
                  <a:lnTo>
                    <a:pt x="68" y="58"/>
                  </a:lnTo>
                  <a:lnTo>
                    <a:pt x="33" y="0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FFFFFF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5" name="Line 617"/>
            <p:cNvSpPr>
              <a:spLocks noChangeShapeType="1"/>
            </p:cNvSpPr>
            <p:nvPr/>
          </p:nvSpPr>
          <p:spPr bwMode="auto">
            <a:xfrm flipV="1">
              <a:off x="2171" y="1959"/>
              <a:ext cx="1" cy="8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6" name="Line 618"/>
            <p:cNvSpPr>
              <a:spLocks noChangeShapeType="1"/>
            </p:cNvSpPr>
            <p:nvPr/>
          </p:nvSpPr>
          <p:spPr bwMode="auto">
            <a:xfrm flipV="1">
              <a:off x="2171" y="1850"/>
              <a:ext cx="1" cy="8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7" name="Line 619"/>
            <p:cNvSpPr>
              <a:spLocks noChangeShapeType="1"/>
            </p:cNvSpPr>
            <p:nvPr/>
          </p:nvSpPr>
          <p:spPr bwMode="auto">
            <a:xfrm flipH="1">
              <a:off x="2153" y="1929"/>
              <a:ext cx="3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8" name="Line 620"/>
            <p:cNvSpPr>
              <a:spLocks noChangeShapeType="1"/>
            </p:cNvSpPr>
            <p:nvPr/>
          </p:nvSpPr>
          <p:spPr bwMode="auto">
            <a:xfrm flipV="1">
              <a:off x="2252" y="1942"/>
              <a:ext cx="1" cy="2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9" name="Line 621"/>
            <p:cNvSpPr>
              <a:spLocks noChangeShapeType="1"/>
            </p:cNvSpPr>
            <p:nvPr/>
          </p:nvSpPr>
          <p:spPr bwMode="auto">
            <a:xfrm flipV="1">
              <a:off x="2252" y="1850"/>
              <a:ext cx="1" cy="2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70" name="Rectangle 622"/>
            <p:cNvSpPr>
              <a:spLocks noChangeArrowheads="1"/>
            </p:cNvSpPr>
            <p:nvPr/>
          </p:nvSpPr>
          <p:spPr bwMode="auto">
            <a:xfrm>
              <a:off x="2242" y="1877"/>
              <a:ext cx="23" cy="66"/>
            </a:xfrm>
            <a:prstGeom prst="rect">
              <a:avLst/>
            </a:prstGeom>
            <a:solidFill>
              <a:srgbClr val="FFFFFF"/>
            </a:solidFill>
            <a:ln w="15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671" name="Line 623"/>
          <p:cNvSpPr>
            <a:spLocks noChangeShapeType="1"/>
          </p:cNvSpPr>
          <p:nvPr/>
        </p:nvSpPr>
        <p:spPr bwMode="auto">
          <a:xfrm>
            <a:off x="3576638" y="3125788"/>
            <a:ext cx="1587" cy="49212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2" name="Line 624"/>
          <p:cNvSpPr>
            <a:spLocks noChangeShapeType="1"/>
          </p:cNvSpPr>
          <p:nvPr/>
        </p:nvSpPr>
        <p:spPr bwMode="auto">
          <a:xfrm>
            <a:off x="3576638" y="3189288"/>
            <a:ext cx="1587" cy="5080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3" name="Freeform 625"/>
          <p:cNvSpPr>
            <a:spLocks/>
          </p:cNvSpPr>
          <p:nvPr/>
        </p:nvSpPr>
        <p:spPr bwMode="auto">
          <a:xfrm>
            <a:off x="3544888" y="3189288"/>
            <a:ext cx="65087" cy="1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3" y="0"/>
              </a:cxn>
              <a:cxn ang="0">
                <a:pos x="0" y="0"/>
              </a:cxn>
            </a:cxnLst>
            <a:rect l="0" t="0" r="r" b="b"/>
            <a:pathLst>
              <a:path w="83">
                <a:moveTo>
                  <a:pt x="0" y="0"/>
                </a:moveTo>
                <a:lnTo>
                  <a:pt x="8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4" name="Line 626"/>
          <p:cNvSpPr>
            <a:spLocks noChangeShapeType="1"/>
          </p:cNvSpPr>
          <p:nvPr/>
        </p:nvSpPr>
        <p:spPr bwMode="auto">
          <a:xfrm>
            <a:off x="3544888" y="3189288"/>
            <a:ext cx="65087" cy="1587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5" name="Line 627"/>
          <p:cNvSpPr>
            <a:spLocks noChangeShapeType="1"/>
          </p:cNvSpPr>
          <p:nvPr/>
        </p:nvSpPr>
        <p:spPr bwMode="auto">
          <a:xfrm>
            <a:off x="3544888" y="3175000"/>
            <a:ext cx="65087" cy="1588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6" name="Rectangle 628"/>
          <p:cNvSpPr>
            <a:spLocks noChangeArrowheads="1"/>
          </p:cNvSpPr>
          <p:nvPr/>
        </p:nvSpPr>
        <p:spPr bwMode="auto">
          <a:xfrm>
            <a:off x="3233738" y="2840038"/>
            <a:ext cx="93662" cy="6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PC</a:t>
            </a:r>
            <a:endParaRPr lang="en-US" altLang="ko-KR"/>
          </a:p>
        </p:txBody>
      </p:sp>
      <p:sp>
        <p:nvSpPr>
          <p:cNvPr id="2677" name="Rectangle 629"/>
          <p:cNvSpPr>
            <a:spLocks noChangeArrowheads="1"/>
          </p:cNvSpPr>
          <p:nvPr/>
        </p:nvSpPr>
        <p:spPr bwMode="auto">
          <a:xfrm>
            <a:off x="4130675" y="2343150"/>
            <a:ext cx="152400" cy="6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4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정상시</a:t>
            </a:r>
            <a:endParaRPr lang="ko-KR" altLang="en-US"/>
          </a:p>
        </p:txBody>
      </p:sp>
      <p:sp>
        <p:nvSpPr>
          <p:cNvPr id="2678" name="Rectangle 630"/>
          <p:cNvSpPr>
            <a:spLocks noChangeArrowheads="1"/>
          </p:cNvSpPr>
          <p:nvPr/>
        </p:nvSpPr>
        <p:spPr bwMode="auto">
          <a:xfrm>
            <a:off x="4295775" y="2339975"/>
            <a:ext cx="238125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LOW(0V)</a:t>
            </a:r>
            <a:endParaRPr lang="en-US" altLang="ko-KR"/>
          </a:p>
        </p:txBody>
      </p:sp>
      <p:sp>
        <p:nvSpPr>
          <p:cNvPr id="2679" name="Rectangle 631"/>
          <p:cNvSpPr>
            <a:spLocks noChangeArrowheads="1"/>
          </p:cNvSpPr>
          <p:nvPr/>
        </p:nvSpPr>
        <p:spPr bwMode="auto">
          <a:xfrm>
            <a:off x="4130675" y="2409825"/>
            <a:ext cx="152400" cy="6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4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이상시</a:t>
            </a:r>
            <a:endParaRPr lang="ko-KR" altLang="en-US"/>
          </a:p>
        </p:txBody>
      </p:sp>
      <p:sp>
        <p:nvSpPr>
          <p:cNvPr id="2680" name="Rectangle 632"/>
          <p:cNvSpPr>
            <a:spLocks noChangeArrowheads="1"/>
          </p:cNvSpPr>
          <p:nvPr/>
        </p:nvSpPr>
        <p:spPr bwMode="auto">
          <a:xfrm>
            <a:off x="4295775" y="2406650"/>
            <a:ext cx="274638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HIGH(15V)</a:t>
            </a:r>
            <a:endParaRPr lang="en-US" altLang="ko-KR"/>
          </a:p>
        </p:txBody>
      </p:sp>
      <p:sp>
        <p:nvSpPr>
          <p:cNvPr id="2681" name="Rectangle 633"/>
          <p:cNvSpPr>
            <a:spLocks noChangeArrowheads="1"/>
          </p:cNvSpPr>
          <p:nvPr/>
        </p:nvSpPr>
        <p:spPr bwMode="auto">
          <a:xfrm>
            <a:off x="4087813" y="2751138"/>
            <a:ext cx="773112" cy="768350"/>
          </a:xfrm>
          <a:prstGeom prst="rect">
            <a:avLst/>
          </a:prstGeom>
          <a:solidFill>
            <a:srgbClr val="FFFFFF"/>
          </a:solidFill>
          <a:ln w="15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82" name="Rectangle 634"/>
          <p:cNvSpPr>
            <a:spLocks noChangeArrowheads="1"/>
          </p:cNvSpPr>
          <p:nvPr/>
        </p:nvSpPr>
        <p:spPr bwMode="auto">
          <a:xfrm>
            <a:off x="4278313" y="3022600"/>
            <a:ext cx="441325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800">
                <a:solidFill>
                  <a:srgbClr val="000000"/>
                </a:solidFill>
                <a:latin typeface="Arial" charset="0"/>
              </a:rPr>
              <a:t>DPC-1XX</a:t>
            </a:r>
            <a:endParaRPr lang="en-US" altLang="ko-KR"/>
          </a:p>
        </p:txBody>
      </p:sp>
      <p:sp>
        <p:nvSpPr>
          <p:cNvPr id="2683" name="Rectangle 635"/>
          <p:cNvSpPr>
            <a:spLocks noChangeArrowheads="1"/>
          </p:cNvSpPr>
          <p:nvPr/>
        </p:nvSpPr>
        <p:spPr bwMode="auto">
          <a:xfrm>
            <a:off x="4362450" y="3136900"/>
            <a:ext cx="77788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800">
                <a:solidFill>
                  <a:srgbClr val="000000"/>
                </a:solidFill>
                <a:latin typeface="Arial" charset="0"/>
              </a:rPr>
              <a:t>(</a:t>
            </a:r>
            <a:endParaRPr lang="en-US" altLang="ko-KR"/>
          </a:p>
        </p:txBody>
      </p:sp>
      <p:sp>
        <p:nvSpPr>
          <p:cNvPr id="2684" name="Rectangle 636"/>
          <p:cNvSpPr>
            <a:spLocks noChangeArrowheads="1"/>
          </p:cNvSpPr>
          <p:nvPr/>
        </p:nvSpPr>
        <p:spPr bwMode="auto">
          <a:xfrm>
            <a:off x="4395788" y="3136900"/>
            <a:ext cx="247650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800">
                <a:solidFill>
                  <a:srgbClr val="000000"/>
                </a:solidFill>
                <a:latin typeface="Arial" charset="0"/>
              </a:rPr>
              <a:t>INV)</a:t>
            </a:r>
            <a:endParaRPr lang="en-US" altLang="ko-KR"/>
          </a:p>
        </p:txBody>
      </p:sp>
      <p:sp>
        <p:nvSpPr>
          <p:cNvPr id="2685" name="Rectangle 637"/>
          <p:cNvSpPr>
            <a:spLocks noChangeArrowheads="1"/>
          </p:cNvSpPr>
          <p:nvPr/>
        </p:nvSpPr>
        <p:spPr bwMode="auto">
          <a:xfrm>
            <a:off x="2843213" y="3565525"/>
            <a:ext cx="474662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800">
                <a:solidFill>
                  <a:srgbClr val="000000"/>
                </a:solidFill>
                <a:latin typeface="Arial" charset="0"/>
              </a:rPr>
              <a:t>DPP-1XX</a:t>
            </a:r>
            <a:endParaRPr lang="en-US" altLang="ko-KR"/>
          </a:p>
        </p:txBody>
      </p:sp>
      <p:sp>
        <p:nvSpPr>
          <p:cNvPr id="2686" name="Rectangle 638"/>
          <p:cNvSpPr>
            <a:spLocks noChangeArrowheads="1"/>
          </p:cNvSpPr>
          <p:nvPr/>
        </p:nvSpPr>
        <p:spPr bwMode="auto">
          <a:xfrm>
            <a:off x="2867025" y="3679825"/>
            <a:ext cx="77788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800">
                <a:solidFill>
                  <a:srgbClr val="000000"/>
                </a:solidFill>
                <a:latin typeface="Arial" charset="0"/>
              </a:rPr>
              <a:t>(</a:t>
            </a:r>
            <a:endParaRPr lang="en-US" altLang="ko-KR"/>
          </a:p>
        </p:txBody>
      </p:sp>
      <p:sp>
        <p:nvSpPr>
          <p:cNvPr id="2687" name="Rectangle 639"/>
          <p:cNvSpPr>
            <a:spLocks noChangeArrowheads="1"/>
          </p:cNvSpPr>
          <p:nvPr/>
        </p:nvSpPr>
        <p:spPr bwMode="auto">
          <a:xfrm>
            <a:off x="2946400" y="3673475"/>
            <a:ext cx="303213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800">
                <a:solidFill>
                  <a:srgbClr val="000000"/>
                </a:solidFill>
                <a:latin typeface="Arial" charset="0"/>
              </a:rPr>
              <a:t>GDC)</a:t>
            </a:r>
            <a:endParaRPr lang="en-US" altLang="ko-KR"/>
          </a:p>
        </p:txBody>
      </p:sp>
      <p:sp>
        <p:nvSpPr>
          <p:cNvPr id="2688" name="Rectangle 640"/>
          <p:cNvSpPr>
            <a:spLocks noChangeArrowheads="1"/>
          </p:cNvSpPr>
          <p:nvPr/>
        </p:nvSpPr>
        <p:spPr bwMode="auto">
          <a:xfrm>
            <a:off x="2382838" y="2246313"/>
            <a:ext cx="3810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10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방열판</a:t>
            </a:r>
            <a:endParaRPr lang="ko-KR" altLang="en-US"/>
          </a:p>
        </p:txBody>
      </p:sp>
      <p:sp>
        <p:nvSpPr>
          <p:cNvPr id="2689" name="Rectangle 641"/>
          <p:cNvSpPr>
            <a:spLocks noChangeArrowheads="1"/>
          </p:cNvSpPr>
          <p:nvPr/>
        </p:nvSpPr>
        <p:spPr bwMode="auto">
          <a:xfrm>
            <a:off x="2797175" y="2246313"/>
            <a:ext cx="317500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10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과열</a:t>
            </a:r>
            <a:endParaRPr lang="ko-KR" altLang="en-US"/>
          </a:p>
        </p:txBody>
      </p:sp>
      <p:sp>
        <p:nvSpPr>
          <p:cNvPr id="2690" name="Rectangle 642"/>
          <p:cNvSpPr>
            <a:spLocks noChangeArrowheads="1"/>
          </p:cNvSpPr>
          <p:nvPr/>
        </p:nvSpPr>
        <p:spPr bwMode="auto">
          <a:xfrm>
            <a:off x="3092450" y="2249488"/>
            <a:ext cx="573088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10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검출회로</a:t>
            </a:r>
            <a:endParaRPr lang="ko-KR" altLang="en-US"/>
          </a:p>
        </p:txBody>
      </p:sp>
      <p:sp>
        <p:nvSpPr>
          <p:cNvPr id="2691" name="Rectangle 643"/>
          <p:cNvSpPr>
            <a:spLocks noChangeArrowheads="1"/>
          </p:cNvSpPr>
          <p:nvPr/>
        </p:nvSpPr>
        <p:spPr bwMode="auto">
          <a:xfrm>
            <a:off x="4116388" y="2908300"/>
            <a:ext cx="198437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VG - 17</a:t>
            </a:r>
            <a:endParaRPr lang="en-US" altLang="ko-KR"/>
          </a:p>
        </p:txBody>
      </p:sp>
      <p:sp>
        <p:nvSpPr>
          <p:cNvPr id="2692" name="Rectangle 644"/>
          <p:cNvSpPr>
            <a:spLocks noChangeArrowheads="1"/>
          </p:cNvSpPr>
          <p:nvPr/>
        </p:nvSpPr>
        <p:spPr bwMode="auto">
          <a:xfrm>
            <a:off x="4113213" y="3219450"/>
            <a:ext cx="198437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VG - 18</a:t>
            </a:r>
            <a:endParaRPr lang="en-US" altLang="ko-KR"/>
          </a:p>
        </p:txBody>
      </p:sp>
      <p:sp>
        <p:nvSpPr>
          <p:cNvPr id="2693" name="Freeform 645"/>
          <p:cNvSpPr>
            <a:spLocks/>
          </p:cNvSpPr>
          <p:nvPr/>
        </p:nvSpPr>
        <p:spPr bwMode="auto">
          <a:xfrm>
            <a:off x="2790825" y="2928938"/>
            <a:ext cx="14288" cy="17462"/>
          </a:xfrm>
          <a:custGeom>
            <a:avLst/>
            <a:gdLst/>
            <a:ahLst/>
            <a:cxnLst>
              <a:cxn ang="0">
                <a:pos x="0" y="11"/>
              </a:cxn>
              <a:cxn ang="0">
                <a:pos x="2" y="3"/>
              </a:cxn>
              <a:cxn ang="0">
                <a:pos x="10" y="0"/>
              </a:cxn>
              <a:cxn ang="0">
                <a:pos x="16" y="3"/>
              </a:cxn>
              <a:cxn ang="0">
                <a:pos x="19" y="11"/>
              </a:cxn>
              <a:cxn ang="0">
                <a:pos x="16" y="17"/>
              </a:cxn>
              <a:cxn ang="0">
                <a:pos x="10" y="21"/>
              </a:cxn>
              <a:cxn ang="0">
                <a:pos x="2" y="17"/>
              </a:cxn>
              <a:cxn ang="0">
                <a:pos x="0" y="11"/>
              </a:cxn>
            </a:cxnLst>
            <a:rect l="0" t="0" r="r" b="b"/>
            <a:pathLst>
              <a:path w="19" h="21">
                <a:moveTo>
                  <a:pt x="0" y="11"/>
                </a:moveTo>
                <a:lnTo>
                  <a:pt x="2" y="3"/>
                </a:lnTo>
                <a:lnTo>
                  <a:pt x="10" y="0"/>
                </a:lnTo>
                <a:lnTo>
                  <a:pt x="16" y="3"/>
                </a:lnTo>
                <a:lnTo>
                  <a:pt x="19" y="11"/>
                </a:lnTo>
                <a:lnTo>
                  <a:pt x="16" y="17"/>
                </a:lnTo>
                <a:lnTo>
                  <a:pt x="10" y="21"/>
                </a:lnTo>
                <a:lnTo>
                  <a:pt x="2" y="17"/>
                </a:lnTo>
                <a:lnTo>
                  <a:pt x="0" y="11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4" name="Freeform 646"/>
          <p:cNvSpPr>
            <a:spLocks/>
          </p:cNvSpPr>
          <p:nvPr/>
        </p:nvSpPr>
        <p:spPr bwMode="auto">
          <a:xfrm>
            <a:off x="2903538" y="2928938"/>
            <a:ext cx="12700" cy="17462"/>
          </a:xfrm>
          <a:custGeom>
            <a:avLst/>
            <a:gdLst/>
            <a:ahLst/>
            <a:cxnLst>
              <a:cxn ang="0">
                <a:pos x="0" y="11"/>
              </a:cxn>
              <a:cxn ang="0">
                <a:pos x="2" y="3"/>
              </a:cxn>
              <a:cxn ang="0">
                <a:pos x="8" y="0"/>
              </a:cxn>
              <a:cxn ang="0">
                <a:pos x="16" y="3"/>
              </a:cxn>
              <a:cxn ang="0">
                <a:pos x="18" y="11"/>
              </a:cxn>
              <a:cxn ang="0">
                <a:pos x="16" y="17"/>
              </a:cxn>
              <a:cxn ang="0">
                <a:pos x="8" y="21"/>
              </a:cxn>
              <a:cxn ang="0">
                <a:pos x="2" y="17"/>
              </a:cxn>
              <a:cxn ang="0">
                <a:pos x="0" y="11"/>
              </a:cxn>
            </a:cxnLst>
            <a:rect l="0" t="0" r="r" b="b"/>
            <a:pathLst>
              <a:path w="18" h="21">
                <a:moveTo>
                  <a:pt x="0" y="11"/>
                </a:moveTo>
                <a:lnTo>
                  <a:pt x="2" y="3"/>
                </a:lnTo>
                <a:lnTo>
                  <a:pt x="8" y="0"/>
                </a:lnTo>
                <a:lnTo>
                  <a:pt x="16" y="3"/>
                </a:lnTo>
                <a:lnTo>
                  <a:pt x="18" y="11"/>
                </a:lnTo>
                <a:lnTo>
                  <a:pt x="16" y="17"/>
                </a:lnTo>
                <a:lnTo>
                  <a:pt x="8" y="21"/>
                </a:lnTo>
                <a:lnTo>
                  <a:pt x="2" y="17"/>
                </a:lnTo>
                <a:lnTo>
                  <a:pt x="0" y="11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5" name="Freeform 647"/>
          <p:cNvSpPr>
            <a:spLocks/>
          </p:cNvSpPr>
          <p:nvPr/>
        </p:nvSpPr>
        <p:spPr bwMode="auto">
          <a:xfrm>
            <a:off x="3009900" y="2928938"/>
            <a:ext cx="17463" cy="17462"/>
          </a:xfrm>
          <a:custGeom>
            <a:avLst/>
            <a:gdLst/>
            <a:ahLst/>
            <a:cxnLst>
              <a:cxn ang="0">
                <a:pos x="0" y="11"/>
              </a:cxn>
              <a:cxn ang="0">
                <a:pos x="2" y="3"/>
              </a:cxn>
              <a:cxn ang="0">
                <a:pos x="12" y="0"/>
              </a:cxn>
              <a:cxn ang="0">
                <a:pos x="17" y="3"/>
              </a:cxn>
              <a:cxn ang="0">
                <a:pos x="21" y="11"/>
              </a:cxn>
              <a:cxn ang="0">
                <a:pos x="17" y="17"/>
              </a:cxn>
              <a:cxn ang="0">
                <a:pos x="12" y="21"/>
              </a:cxn>
              <a:cxn ang="0">
                <a:pos x="2" y="17"/>
              </a:cxn>
              <a:cxn ang="0">
                <a:pos x="0" y="11"/>
              </a:cxn>
            </a:cxnLst>
            <a:rect l="0" t="0" r="r" b="b"/>
            <a:pathLst>
              <a:path w="21" h="21">
                <a:moveTo>
                  <a:pt x="0" y="11"/>
                </a:moveTo>
                <a:lnTo>
                  <a:pt x="2" y="3"/>
                </a:lnTo>
                <a:lnTo>
                  <a:pt x="12" y="0"/>
                </a:lnTo>
                <a:lnTo>
                  <a:pt x="17" y="3"/>
                </a:lnTo>
                <a:lnTo>
                  <a:pt x="21" y="11"/>
                </a:lnTo>
                <a:lnTo>
                  <a:pt x="17" y="17"/>
                </a:lnTo>
                <a:lnTo>
                  <a:pt x="12" y="21"/>
                </a:lnTo>
                <a:lnTo>
                  <a:pt x="2" y="17"/>
                </a:lnTo>
                <a:lnTo>
                  <a:pt x="0" y="11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6" name="Freeform 648"/>
          <p:cNvSpPr>
            <a:spLocks/>
          </p:cNvSpPr>
          <p:nvPr/>
        </p:nvSpPr>
        <p:spPr bwMode="auto">
          <a:xfrm>
            <a:off x="2790825" y="3230563"/>
            <a:ext cx="14288" cy="17462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2" y="6"/>
              </a:cxn>
              <a:cxn ang="0">
                <a:pos x="10" y="0"/>
              </a:cxn>
              <a:cxn ang="0">
                <a:pos x="16" y="6"/>
              </a:cxn>
              <a:cxn ang="0">
                <a:pos x="19" y="12"/>
              </a:cxn>
              <a:cxn ang="0">
                <a:pos x="16" y="19"/>
              </a:cxn>
              <a:cxn ang="0">
                <a:pos x="10" y="21"/>
              </a:cxn>
              <a:cxn ang="0">
                <a:pos x="2" y="19"/>
              </a:cxn>
              <a:cxn ang="0">
                <a:pos x="0" y="12"/>
              </a:cxn>
            </a:cxnLst>
            <a:rect l="0" t="0" r="r" b="b"/>
            <a:pathLst>
              <a:path w="19" h="21">
                <a:moveTo>
                  <a:pt x="0" y="12"/>
                </a:moveTo>
                <a:lnTo>
                  <a:pt x="2" y="6"/>
                </a:lnTo>
                <a:lnTo>
                  <a:pt x="10" y="0"/>
                </a:lnTo>
                <a:lnTo>
                  <a:pt x="16" y="6"/>
                </a:lnTo>
                <a:lnTo>
                  <a:pt x="19" y="12"/>
                </a:lnTo>
                <a:lnTo>
                  <a:pt x="16" y="19"/>
                </a:lnTo>
                <a:lnTo>
                  <a:pt x="10" y="21"/>
                </a:lnTo>
                <a:lnTo>
                  <a:pt x="2" y="19"/>
                </a:lnTo>
                <a:lnTo>
                  <a:pt x="0" y="12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7" name="Freeform 649"/>
          <p:cNvSpPr>
            <a:spLocks/>
          </p:cNvSpPr>
          <p:nvPr/>
        </p:nvSpPr>
        <p:spPr bwMode="auto">
          <a:xfrm>
            <a:off x="2903538" y="3230563"/>
            <a:ext cx="12700" cy="17462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2" y="6"/>
              </a:cxn>
              <a:cxn ang="0">
                <a:pos x="8" y="0"/>
              </a:cxn>
              <a:cxn ang="0">
                <a:pos x="16" y="6"/>
              </a:cxn>
              <a:cxn ang="0">
                <a:pos x="18" y="12"/>
              </a:cxn>
              <a:cxn ang="0">
                <a:pos x="16" y="19"/>
              </a:cxn>
              <a:cxn ang="0">
                <a:pos x="8" y="21"/>
              </a:cxn>
              <a:cxn ang="0">
                <a:pos x="2" y="19"/>
              </a:cxn>
              <a:cxn ang="0">
                <a:pos x="0" y="12"/>
              </a:cxn>
            </a:cxnLst>
            <a:rect l="0" t="0" r="r" b="b"/>
            <a:pathLst>
              <a:path w="18" h="21">
                <a:moveTo>
                  <a:pt x="0" y="12"/>
                </a:moveTo>
                <a:lnTo>
                  <a:pt x="2" y="6"/>
                </a:lnTo>
                <a:lnTo>
                  <a:pt x="8" y="0"/>
                </a:lnTo>
                <a:lnTo>
                  <a:pt x="16" y="6"/>
                </a:lnTo>
                <a:lnTo>
                  <a:pt x="18" y="12"/>
                </a:lnTo>
                <a:lnTo>
                  <a:pt x="16" y="19"/>
                </a:lnTo>
                <a:lnTo>
                  <a:pt x="8" y="21"/>
                </a:lnTo>
                <a:lnTo>
                  <a:pt x="2" y="19"/>
                </a:lnTo>
                <a:lnTo>
                  <a:pt x="0" y="12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8" name="Freeform 650"/>
          <p:cNvSpPr>
            <a:spLocks/>
          </p:cNvSpPr>
          <p:nvPr/>
        </p:nvSpPr>
        <p:spPr bwMode="auto">
          <a:xfrm>
            <a:off x="3009900" y="3230563"/>
            <a:ext cx="17463" cy="17462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2" y="6"/>
              </a:cxn>
              <a:cxn ang="0">
                <a:pos x="12" y="0"/>
              </a:cxn>
              <a:cxn ang="0">
                <a:pos x="17" y="6"/>
              </a:cxn>
              <a:cxn ang="0">
                <a:pos x="21" y="12"/>
              </a:cxn>
              <a:cxn ang="0">
                <a:pos x="17" y="19"/>
              </a:cxn>
              <a:cxn ang="0">
                <a:pos x="12" y="21"/>
              </a:cxn>
              <a:cxn ang="0">
                <a:pos x="2" y="19"/>
              </a:cxn>
              <a:cxn ang="0">
                <a:pos x="0" y="12"/>
              </a:cxn>
            </a:cxnLst>
            <a:rect l="0" t="0" r="r" b="b"/>
            <a:pathLst>
              <a:path w="21" h="21">
                <a:moveTo>
                  <a:pt x="0" y="12"/>
                </a:moveTo>
                <a:lnTo>
                  <a:pt x="2" y="6"/>
                </a:lnTo>
                <a:lnTo>
                  <a:pt x="12" y="0"/>
                </a:lnTo>
                <a:lnTo>
                  <a:pt x="17" y="6"/>
                </a:lnTo>
                <a:lnTo>
                  <a:pt x="21" y="12"/>
                </a:lnTo>
                <a:lnTo>
                  <a:pt x="17" y="19"/>
                </a:lnTo>
                <a:lnTo>
                  <a:pt x="12" y="21"/>
                </a:lnTo>
                <a:lnTo>
                  <a:pt x="2" y="19"/>
                </a:lnTo>
                <a:lnTo>
                  <a:pt x="0" y="12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9" name="Freeform 651"/>
          <p:cNvSpPr>
            <a:spLocks/>
          </p:cNvSpPr>
          <p:nvPr/>
        </p:nvSpPr>
        <p:spPr bwMode="auto">
          <a:xfrm>
            <a:off x="3567113" y="2928938"/>
            <a:ext cx="15875" cy="17462"/>
          </a:xfrm>
          <a:custGeom>
            <a:avLst/>
            <a:gdLst/>
            <a:ahLst/>
            <a:cxnLst>
              <a:cxn ang="0">
                <a:pos x="0" y="11"/>
              </a:cxn>
              <a:cxn ang="0">
                <a:pos x="4" y="3"/>
              </a:cxn>
              <a:cxn ang="0">
                <a:pos x="10" y="0"/>
              </a:cxn>
              <a:cxn ang="0">
                <a:pos x="15" y="3"/>
              </a:cxn>
              <a:cxn ang="0">
                <a:pos x="19" y="11"/>
              </a:cxn>
              <a:cxn ang="0">
                <a:pos x="15" y="17"/>
              </a:cxn>
              <a:cxn ang="0">
                <a:pos x="10" y="21"/>
              </a:cxn>
              <a:cxn ang="0">
                <a:pos x="4" y="17"/>
              </a:cxn>
              <a:cxn ang="0">
                <a:pos x="0" y="11"/>
              </a:cxn>
            </a:cxnLst>
            <a:rect l="0" t="0" r="r" b="b"/>
            <a:pathLst>
              <a:path w="19" h="21">
                <a:moveTo>
                  <a:pt x="0" y="11"/>
                </a:moveTo>
                <a:lnTo>
                  <a:pt x="4" y="3"/>
                </a:lnTo>
                <a:lnTo>
                  <a:pt x="10" y="0"/>
                </a:lnTo>
                <a:lnTo>
                  <a:pt x="15" y="3"/>
                </a:lnTo>
                <a:lnTo>
                  <a:pt x="19" y="11"/>
                </a:lnTo>
                <a:lnTo>
                  <a:pt x="15" y="17"/>
                </a:lnTo>
                <a:lnTo>
                  <a:pt x="10" y="21"/>
                </a:lnTo>
                <a:lnTo>
                  <a:pt x="4" y="17"/>
                </a:lnTo>
                <a:lnTo>
                  <a:pt x="0" y="11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0" name="Freeform 652"/>
          <p:cNvSpPr>
            <a:spLocks/>
          </p:cNvSpPr>
          <p:nvPr/>
        </p:nvSpPr>
        <p:spPr bwMode="auto">
          <a:xfrm>
            <a:off x="3441700" y="2927350"/>
            <a:ext cx="17463" cy="17463"/>
          </a:xfrm>
          <a:custGeom>
            <a:avLst/>
            <a:gdLst/>
            <a:ahLst/>
            <a:cxnLst>
              <a:cxn ang="0">
                <a:pos x="0" y="11"/>
              </a:cxn>
              <a:cxn ang="0">
                <a:pos x="2" y="5"/>
              </a:cxn>
              <a:cxn ang="0">
                <a:pos x="10" y="0"/>
              </a:cxn>
              <a:cxn ang="0">
                <a:pos x="18" y="5"/>
              </a:cxn>
              <a:cxn ang="0">
                <a:pos x="21" y="11"/>
              </a:cxn>
              <a:cxn ang="0">
                <a:pos x="18" y="19"/>
              </a:cxn>
              <a:cxn ang="0">
                <a:pos x="10" y="21"/>
              </a:cxn>
              <a:cxn ang="0">
                <a:pos x="2" y="19"/>
              </a:cxn>
              <a:cxn ang="0">
                <a:pos x="0" y="11"/>
              </a:cxn>
            </a:cxnLst>
            <a:rect l="0" t="0" r="r" b="b"/>
            <a:pathLst>
              <a:path w="21" h="21">
                <a:moveTo>
                  <a:pt x="0" y="11"/>
                </a:moveTo>
                <a:lnTo>
                  <a:pt x="2" y="5"/>
                </a:lnTo>
                <a:lnTo>
                  <a:pt x="10" y="0"/>
                </a:lnTo>
                <a:lnTo>
                  <a:pt x="18" y="5"/>
                </a:lnTo>
                <a:lnTo>
                  <a:pt x="21" y="11"/>
                </a:lnTo>
                <a:lnTo>
                  <a:pt x="18" y="19"/>
                </a:lnTo>
                <a:lnTo>
                  <a:pt x="10" y="21"/>
                </a:lnTo>
                <a:lnTo>
                  <a:pt x="2" y="19"/>
                </a:lnTo>
                <a:lnTo>
                  <a:pt x="0" y="11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1" name="Freeform 653"/>
          <p:cNvSpPr>
            <a:spLocks/>
          </p:cNvSpPr>
          <p:nvPr/>
        </p:nvSpPr>
        <p:spPr bwMode="auto">
          <a:xfrm>
            <a:off x="3567113" y="3230563"/>
            <a:ext cx="15875" cy="15875"/>
          </a:xfrm>
          <a:custGeom>
            <a:avLst/>
            <a:gdLst/>
            <a:ahLst/>
            <a:cxnLst>
              <a:cxn ang="0">
                <a:pos x="0" y="10"/>
              </a:cxn>
              <a:cxn ang="0">
                <a:pos x="4" y="2"/>
              </a:cxn>
              <a:cxn ang="0">
                <a:pos x="10" y="0"/>
              </a:cxn>
              <a:cxn ang="0">
                <a:pos x="15" y="2"/>
              </a:cxn>
              <a:cxn ang="0">
                <a:pos x="19" y="10"/>
              </a:cxn>
              <a:cxn ang="0">
                <a:pos x="15" y="18"/>
              </a:cxn>
              <a:cxn ang="0">
                <a:pos x="10" y="19"/>
              </a:cxn>
              <a:cxn ang="0">
                <a:pos x="4" y="18"/>
              </a:cxn>
              <a:cxn ang="0">
                <a:pos x="0" y="10"/>
              </a:cxn>
            </a:cxnLst>
            <a:rect l="0" t="0" r="r" b="b"/>
            <a:pathLst>
              <a:path w="19" h="19">
                <a:moveTo>
                  <a:pt x="0" y="10"/>
                </a:moveTo>
                <a:lnTo>
                  <a:pt x="4" y="2"/>
                </a:lnTo>
                <a:lnTo>
                  <a:pt x="10" y="0"/>
                </a:lnTo>
                <a:lnTo>
                  <a:pt x="15" y="2"/>
                </a:lnTo>
                <a:lnTo>
                  <a:pt x="19" y="10"/>
                </a:lnTo>
                <a:lnTo>
                  <a:pt x="15" y="18"/>
                </a:lnTo>
                <a:lnTo>
                  <a:pt x="10" y="19"/>
                </a:lnTo>
                <a:lnTo>
                  <a:pt x="4" y="18"/>
                </a:lnTo>
                <a:lnTo>
                  <a:pt x="0" y="10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2" name="Freeform 654"/>
          <p:cNvSpPr>
            <a:spLocks/>
          </p:cNvSpPr>
          <p:nvPr/>
        </p:nvSpPr>
        <p:spPr bwMode="auto">
          <a:xfrm>
            <a:off x="3441700" y="3228975"/>
            <a:ext cx="17463" cy="17463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2" y="4"/>
              </a:cxn>
              <a:cxn ang="0">
                <a:pos x="10" y="0"/>
              </a:cxn>
              <a:cxn ang="0">
                <a:pos x="18" y="4"/>
              </a:cxn>
              <a:cxn ang="0">
                <a:pos x="21" y="12"/>
              </a:cxn>
              <a:cxn ang="0">
                <a:pos x="18" y="20"/>
              </a:cxn>
              <a:cxn ang="0">
                <a:pos x="10" y="21"/>
              </a:cxn>
              <a:cxn ang="0">
                <a:pos x="2" y="20"/>
              </a:cxn>
              <a:cxn ang="0">
                <a:pos x="0" y="12"/>
              </a:cxn>
            </a:cxnLst>
            <a:rect l="0" t="0" r="r" b="b"/>
            <a:pathLst>
              <a:path w="21" h="21">
                <a:moveTo>
                  <a:pt x="0" y="12"/>
                </a:moveTo>
                <a:lnTo>
                  <a:pt x="2" y="4"/>
                </a:lnTo>
                <a:lnTo>
                  <a:pt x="10" y="0"/>
                </a:lnTo>
                <a:lnTo>
                  <a:pt x="18" y="4"/>
                </a:lnTo>
                <a:lnTo>
                  <a:pt x="21" y="12"/>
                </a:lnTo>
                <a:lnTo>
                  <a:pt x="18" y="20"/>
                </a:lnTo>
                <a:lnTo>
                  <a:pt x="10" y="21"/>
                </a:lnTo>
                <a:lnTo>
                  <a:pt x="2" y="20"/>
                </a:lnTo>
                <a:lnTo>
                  <a:pt x="0" y="12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3" name="Line 655"/>
          <p:cNvSpPr>
            <a:spLocks noChangeShapeType="1"/>
          </p:cNvSpPr>
          <p:nvPr/>
        </p:nvSpPr>
        <p:spPr bwMode="auto">
          <a:xfrm flipH="1">
            <a:off x="3475038" y="2406650"/>
            <a:ext cx="547687" cy="500063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4" name="Freeform 656"/>
          <p:cNvSpPr>
            <a:spLocks/>
          </p:cNvSpPr>
          <p:nvPr/>
        </p:nvSpPr>
        <p:spPr bwMode="auto">
          <a:xfrm>
            <a:off x="3449638" y="2887663"/>
            <a:ext cx="39687" cy="39687"/>
          </a:xfrm>
          <a:custGeom>
            <a:avLst/>
            <a:gdLst/>
            <a:ahLst/>
            <a:cxnLst>
              <a:cxn ang="0">
                <a:pos x="19" y="0"/>
              </a:cxn>
              <a:cxn ang="0">
                <a:pos x="0" y="50"/>
              </a:cxn>
              <a:cxn ang="0">
                <a:pos x="50" y="36"/>
              </a:cxn>
              <a:cxn ang="0">
                <a:pos x="19" y="0"/>
              </a:cxn>
            </a:cxnLst>
            <a:rect l="0" t="0" r="r" b="b"/>
            <a:pathLst>
              <a:path w="50" h="50">
                <a:moveTo>
                  <a:pt x="19" y="0"/>
                </a:moveTo>
                <a:lnTo>
                  <a:pt x="0" y="50"/>
                </a:lnTo>
                <a:lnTo>
                  <a:pt x="50" y="36"/>
                </a:lnTo>
                <a:lnTo>
                  <a:pt x="1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5" name="Rectangle 657"/>
          <p:cNvSpPr>
            <a:spLocks noChangeArrowheads="1"/>
          </p:cNvSpPr>
          <p:nvPr/>
        </p:nvSpPr>
        <p:spPr bwMode="auto">
          <a:xfrm>
            <a:off x="1163638" y="3046413"/>
            <a:ext cx="409575" cy="85725"/>
          </a:xfrm>
          <a:prstGeom prst="rect">
            <a:avLst/>
          </a:prstGeom>
          <a:solidFill>
            <a:srgbClr val="CDCDCD"/>
          </a:solidFill>
          <a:ln w="15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6" name="Rectangle 658"/>
          <p:cNvSpPr>
            <a:spLocks noChangeArrowheads="1"/>
          </p:cNvSpPr>
          <p:nvPr/>
        </p:nvSpPr>
        <p:spPr bwMode="auto">
          <a:xfrm>
            <a:off x="1247775" y="3070225"/>
            <a:ext cx="128588" cy="5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4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회생</a:t>
            </a:r>
            <a:endParaRPr lang="ko-KR" altLang="en-US"/>
          </a:p>
        </p:txBody>
      </p:sp>
      <p:sp>
        <p:nvSpPr>
          <p:cNvPr id="2707" name="Rectangle 659"/>
          <p:cNvSpPr>
            <a:spLocks noChangeArrowheads="1"/>
          </p:cNvSpPr>
          <p:nvPr/>
        </p:nvSpPr>
        <p:spPr bwMode="auto">
          <a:xfrm>
            <a:off x="1363663" y="3067050"/>
            <a:ext cx="139700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IGBT</a:t>
            </a:r>
            <a:endParaRPr lang="en-US" altLang="ko-KR"/>
          </a:p>
        </p:txBody>
      </p:sp>
      <p:sp>
        <p:nvSpPr>
          <p:cNvPr id="2708" name="Rectangle 660"/>
          <p:cNvSpPr>
            <a:spLocks noChangeArrowheads="1"/>
          </p:cNvSpPr>
          <p:nvPr/>
        </p:nvSpPr>
        <p:spPr bwMode="auto">
          <a:xfrm>
            <a:off x="1200150" y="2400300"/>
            <a:ext cx="334963" cy="179388"/>
          </a:xfrm>
          <a:prstGeom prst="rect">
            <a:avLst/>
          </a:prstGeom>
          <a:solidFill>
            <a:srgbClr val="CDCDCD"/>
          </a:solidFill>
          <a:ln w="15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9" name="Rectangle 661"/>
          <p:cNvSpPr>
            <a:spLocks noChangeArrowheads="1"/>
          </p:cNvSpPr>
          <p:nvPr/>
        </p:nvSpPr>
        <p:spPr bwMode="auto">
          <a:xfrm>
            <a:off x="1282700" y="2425700"/>
            <a:ext cx="182563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DIODE</a:t>
            </a:r>
            <a:endParaRPr lang="en-US" altLang="ko-KR"/>
          </a:p>
        </p:txBody>
      </p:sp>
      <p:sp>
        <p:nvSpPr>
          <p:cNvPr id="2710" name="Rectangle 662"/>
          <p:cNvSpPr>
            <a:spLocks noChangeArrowheads="1"/>
          </p:cNvSpPr>
          <p:nvPr/>
        </p:nvSpPr>
        <p:spPr bwMode="auto">
          <a:xfrm>
            <a:off x="1282700" y="2489200"/>
            <a:ext cx="182563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CONV.</a:t>
            </a:r>
            <a:endParaRPr lang="en-US" altLang="ko-KR"/>
          </a:p>
        </p:txBody>
      </p:sp>
      <p:sp>
        <p:nvSpPr>
          <p:cNvPr id="2711" name="Rectangle 663"/>
          <p:cNvSpPr>
            <a:spLocks noChangeArrowheads="1"/>
          </p:cNvSpPr>
          <p:nvPr/>
        </p:nvSpPr>
        <p:spPr bwMode="auto">
          <a:xfrm>
            <a:off x="1057275" y="3959225"/>
            <a:ext cx="620713" cy="153988"/>
          </a:xfrm>
          <a:prstGeom prst="rect">
            <a:avLst/>
          </a:prstGeom>
          <a:solidFill>
            <a:srgbClr val="B3B3B3"/>
          </a:solidFill>
          <a:ln w="15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2" name="Rectangle 664"/>
          <p:cNvSpPr>
            <a:spLocks noChangeArrowheads="1"/>
          </p:cNvSpPr>
          <p:nvPr/>
        </p:nvSpPr>
        <p:spPr bwMode="auto">
          <a:xfrm>
            <a:off x="1316038" y="4013200"/>
            <a:ext cx="125412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FAN</a:t>
            </a:r>
            <a:endParaRPr lang="en-US" altLang="ko-KR"/>
          </a:p>
        </p:txBody>
      </p:sp>
      <p:sp>
        <p:nvSpPr>
          <p:cNvPr id="2713" name="Rectangle 665"/>
          <p:cNvSpPr>
            <a:spLocks noChangeArrowheads="1"/>
          </p:cNvSpPr>
          <p:nvPr/>
        </p:nvSpPr>
        <p:spPr bwMode="auto">
          <a:xfrm>
            <a:off x="1120775" y="2617788"/>
            <a:ext cx="31750" cy="115887"/>
          </a:xfrm>
          <a:prstGeom prst="rect">
            <a:avLst/>
          </a:prstGeom>
          <a:solidFill>
            <a:srgbClr val="E6E6E6"/>
          </a:solidFill>
          <a:ln w="15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4" name="Line 666"/>
          <p:cNvSpPr>
            <a:spLocks noChangeShapeType="1"/>
          </p:cNvSpPr>
          <p:nvPr/>
        </p:nvSpPr>
        <p:spPr bwMode="auto">
          <a:xfrm flipH="1">
            <a:off x="1081088" y="2617788"/>
            <a:ext cx="39687" cy="5715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5" name="Line 667"/>
          <p:cNvSpPr>
            <a:spLocks noChangeShapeType="1"/>
          </p:cNvSpPr>
          <p:nvPr/>
        </p:nvSpPr>
        <p:spPr bwMode="auto">
          <a:xfrm flipH="1" flipV="1">
            <a:off x="1081088" y="2674938"/>
            <a:ext cx="39687" cy="5715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6" name="Freeform 668"/>
          <p:cNvSpPr>
            <a:spLocks/>
          </p:cNvSpPr>
          <p:nvPr/>
        </p:nvSpPr>
        <p:spPr bwMode="auto">
          <a:xfrm>
            <a:off x="1087438" y="2667000"/>
            <a:ext cx="14287" cy="15875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2" y="4"/>
              </a:cxn>
              <a:cxn ang="0">
                <a:pos x="9" y="0"/>
              </a:cxn>
              <a:cxn ang="0">
                <a:pos x="15" y="4"/>
              </a:cxn>
              <a:cxn ang="0">
                <a:pos x="17" y="9"/>
              </a:cxn>
              <a:cxn ang="0">
                <a:pos x="15" y="15"/>
              </a:cxn>
              <a:cxn ang="0">
                <a:pos x="9" y="19"/>
              </a:cxn>
              <a:cxn ang="0">
                <a:pos x="2" y="15"/>
              </a:cxn>
              <a:cxn ang="0">
                <a:pos x="0" y="9"/>
              </a:cxn>
            </a:cxnLst>
            <a:rect l="0" t="0" r="r" b="b"/>
            <a:pathLst>
              <a:path w="17" h="19">
                <a:moveTo>
                  <a:pt x="0" y="9"/>
                </a:moveTo>
                <a:lnTo>
                  <a:pt x="2" y="4"/>
                </a:lnTo>
                <a:lnTo>
                  <a:pt x="9" y="0"/>
                </a:lnTo>
                <a:lnTo>
                  <a:pt x="15" y="4"/>
                </a:lnTo>
                <a:lnTo>
                  <a:pt x="17" y="9"/>
                </a:lnTo>
                <a:lnTo>
                  <a:pt x="15" y="15"/>
                </a:lnTo>
                <a:lnTo>
                  <a:pt x="9" y="19"/>
                </a:lnTo>
                <a:lnTo>
                  <a:pt x="2" y="15"/>
                </a:lnTo>
                <a:lnTo>
                  <a:pt x="0" y="9"/>
                </a:lnTo>
                <a:close/>
              </a:path>
            </a:pathLst>
          </a:custGeom>
          <a:solidFill>
            <a:srgbClr val="FFFFFF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7" name="Rectangle 669"/>
          <p:cNvSpPr>
            <a:spLocks noChangeArrowheads="1"/>
          </p:cNvSpPr>
          <p:nvPr/>
        </p:nvSpPr>
        <p:spPr bwMode="auto">
          <a:xfrm>
            <a:off x="1123950" y="2613025"/>
            <a:ext cx="20638" cy="6350"/>
          </a:xfrm>
          <a:prstGeom prst="rect">
            <a:avLst/>
          </a:prstGeom>
          <a:solidFill>
            <a:srgbClr val="FFFFFF"/>
          </a:solidFill>
          <a:ln w="15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8" name="Rectangle 670"/>
          <p:cNvSpPr>
            <a:spLocks noChangeArrowheads="1"/>
          </p:cNvSpPr>
          <p:nvPr/>
        </p:nvSpPr>
        <p:spPr bwMode="auto">
          <a:xfrm>
            <a:off x="1123950" y="2732088"/>
            <a:ext cx="20638" cy="6350"/>
          </a:xfrm>
          <a:prstGeom prst="rect">
            <a:avLst/>
          </a:prstGeom>
          <a:solidFill>
            <a:srgbClr val="FFFFFF"/>
          </a:solidFill>
          <a:ln w="15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9" name="Line 671"/>
          <p:cNvSpPr>
            <a:spLocks noChangeShapeType="1"/>
          </p:cNvSpPr>
          <p:nvPr/>
        </p:nvSpPr>
        <p:spPr bwMode="auto">
          <a:xfrm flipH="1">
            <a:off x="1090613" y="2674938"/>
            <a:ext cx="7937" cy="1587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0" name="Line 672"/>
          <p:cNvSpPr>
            <a:spLocks noChangeShapeType="1"/>
          </p:cNvSpPr>
          <p:nvPr/>
        </p:nvSpPr>
        <p:spPr bwMode="auto">
          <a:xfrm flipV="1">
            <a:off x="1095375" y="2671763"/>
            <a:ext cx="1588" cy="635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1" name="Freeform 673"/>
          <p:cNvSpPr>
            <a:spLocks/>
          </p:cNvSpPr>
          <p:nvPr/>
        </p:nvSpPr>
        <p:spPr bwMode="auto">
          <a:xfrm>
            <a:off x="1203325" y="2657475"/>
            <a:ext cx="169863" cy="17463"/>
          </a:xfrm>
          <a:custGeom>
            <a:avLst/>
            <a:gdLst/>
            <a:ahLst/>
            <a:cxnLst>
              <a:cxn ang="0">
                <a:pos x="215" y="23"/>
              </a:cxn>
              <a:cxn ang="0">
                <a:pos x="175" y="6"/>
              </a:cxn>
              <a:cxn ang="0">
                <a:pos x="131" y="0"/>
              </a:cxn>
              <a:cxn ang="0">
                <a:pos x="87" y="0"/>
              </a:cxn>
              <a:cxn ang="0">
                <a:pos x="42" y="6"/>
              </a:cxn>
              <a:cxn ang="0">
                <a:pos x="0" y="23"/>
              </a:cxn>
            </a:cxnLst>
            <a:rect l="0" t="0" r="r" b="b"/>
            <a:pathLst>
              <a:path w="215" h="23">
                <a:moveTo>
                  <a:pt x="215" y="23"/>
                </a:moveTo>
                <a:lnTo>
                  <a:pt x="175" y="6"/>
                </a:lnTo>
                <a:lnTo>
                  <a:pt x="131" y="0"/>
                </a:lnTo>
                <a:lnTo>
                  <a:pt x="87" y="0"/>
                </a:lnTo>
                <a:lnTo>
                  <a:pt x="42" y="6"/>
                </a:lnTo>
                <a:lnTo>
                  <a:pt x="0" y="23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2" name="Freeform 674"/>
          <p:cNvSpPr>
            <a:spLocks/>
          </p:cNvSpPr>
          <p:nvPr/>
        </p:nvSpPr>
        <p:spPr bwMode="auto">
          <a:xfrm>
            <a:off x="1373188" y="2674938"/>
            <a:ext cx="176212" cy="17462"/>
          </a:xfrm>
          <a:custGeom>
            <a:avLst/>
            <a:gdLst/>
            <a:ahLst/>
            <a:cxnLst>
              <a:cxn ang="0">
                <a:pos x="222" y="0"/>
              </a:cxn>
              <a:cxn ang="0">
                <a:pos x="179" y="14"/>
              </a:cxn>
              <a:cxn ang="0">
                <a:pos x="133" y="22"/>
              </a:cxn>
              <a:cxn ang="0">
                <a:pos x="89" y="22"/>
              </a:cxn>
              <a:cxn ang="0">
                <a:pos x="43" y="14"/>
              </a:cxn>
              <a:cxn ang="0">
                <a:pos x="0" y="0"/>
              </a:cxn>
            </a:cxnLst>
            <a:rect l="0" t="0" r="r" b="b"/>
            <a:pathLst>
              <a:path w="222" h="22">
                <a:moveTo>
                  <a:pt x="222" y="0"/>
                </a:moveTo>
                <a:lnTo>
                  <a:pt x="179" y="14"/>
                </a:lnTo>
                <a:lnTo>
                  <a:pt x="133" y="22"/>
                </a:lnTo>
                <a:lnTo>
                  <a:pt x="89" y="22"/>
                </a:lnTo>
                <a:lnTo>
                  <a:pt x="43" y="14"/>
                </a:lnTo>
                <a:lnTo>
                  <a:pt x="0" y="0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3" name="Freeform 675"/>
          <p:cNvSpPr>
            <a:spLocks/>
          </p:cNvSpPr>
          <p:nvPr/>
        </p:nvSpPr>
        <p:spPr bwMode="auto">
          <a:xfrm>
            <a:off x="1549400" y="2657475"/>
            <a:ext cx="173038" cy="17463"/>
          </a:xfrm>
          <a:custGeom>
            <a:avLst/>
            <a:gdLst/>
            <a:ahLst/>
            <a:cxnLst>
              <a:cxn ang="0">
                <a:pos x="219" y="23"/>
              </a:cxn>
              <a:cxn ang="0">
                <a:pos x="177" y="6"/>
              </a:cxn>
              <a:cxn ang="0">
                <a:pos x="132" y="0"/>
              </a:cxn>
              <a:cxn ang="0">
                <a:pos x="86" y="0"/>
              </a:cxn>
              <a:cxn ang="0">
                <a:pos x="42" y="6"/>
              </a:cxn>
              <a:cxn ang="0">
                <a:pos x="0" y="23"/>
              </a:cxn>
            </a:cxnLst>
            <a:rect l="0" t="0" r="r" b="b"/>
            <a:pathLst>
              <a:path w="219" h="23">
                <a:moveTo>
                  <a:pt x="219" y="23"/>
                </a:moveTo>
                <a:lnTo>
                  <a:pt x="177" y="6"/>
                </a:lnTo>
                <a:lnTo>
                  <a:pt x="132" y="0"/>
                </a:lnTo>
                <a:lnTo>
                  <a:pt x="86" y="0"/>
                </a:lnTo>
                <a:lnTo>
                  <a:pt x="42" y="6"/>
                </a:lnTo>
                <a:lnTo>
                  <a:pt x="0" y="23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4" name="Freeform 676"/>
          <p:cNvSpPr>
            <a:spLocks/>
          </p:cNvSpPr>
          <p:nvPr/>
        </p:nvSpPr>
        <p:spPr bwMode="auto">
          <a:xfrm>
            <a:off x="1722438" y="2674938"/>
            <a:ext cx="174625" cy="17462"/>
          </a:xfrm>
          <a:custGeom>
            <a:avLst/>
            <a:gdLst/>
            <a:ahLst/>
            <a:cxnLst>
              <a:cxn ang="0">
                <a:pos x="219" y="0"/>
              </a:cxn>
              <a:cxn ang="0">
                <a:pos x="177" y="14"/>
              </a:cxn>
              <a:cxn ang="0">
                <a:pos x="133" y="22"/>
              </a:cxn>
              <a:cxn ang="0">
                <a:pos x="86" y="22"/>
              </a:cxn>
              <a:cxn ang="0">
                <a:pos x="44" y="14"/>
              </a:cxn>
              <a:cxn ang="0">
                <a:pos x="0" y="0"/>
              </a:cxn>
            </a:cxnLst>
            <a:rect l="0" t="0" r="r" b="b"/>
            <a:pathLst>
              <a:path w="219" h="22">
                <a:moveTo>
                  <a:pt x="219" y="0"/>
                </a:moveTo>
                <a:lnTo>
                  <a:pt x="177" y="14"/>
                </a:lnTo>
                <a:lnTo>
                  <a:pt x="133" y="22"/>
                </a:lnTo>
                <a:lnTo>
                  <a:pt x="86" y="22"/>
                </a:lnTo>
                <a:lnTo>
                  <a:pt x="44" y="14"/>
                </a:lnTo>
                <a:lnTo>
                  <a:pt x="0" y="0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5" name="Freeform 677"/>
          <p:cNvSpPr>
            <a:spLocks/>
          </p:cNvSpPr>
          <p:nvPr/>
        </p:nvSpPr>
        <p:spPr bwMode="auto">
          <a:xfrm>
            <a:off x="1897063" y="2657475"/>
            <a:ext cx="176212" cy="17463"/>
          </a:xfrm>
          <a:custGeom>
            <a:avLst/>
            <a:gdLst/>
            <a:ahLst/>
            <a:cxnLst>
              <a:cxn ang="0">
                <a:pos x="221" y="23"/>
              </a:cxn>
              <a:cxn ang="0">
                <a:pos x="177" y="6"/>
              </a:cxn>
              <a:cxn ang="0">
                <a:pos x="133" y="0"/>
              </a:cxn>
              <a:cxn ang="0">
                <a:pos x="89" y="0"/>
              </a:cxn>
              <a:cxn ang="0">
                <a:pos x="42" y="6"/>
              </a:cxn>
              <a:cxn ang="0">
                <a:pos x="0" y="23"/>
              </a:cxn>
            </a:cxnLst>
            <a:rect l="0" t="0" r="r" b="b"/>
            <a:pathLst>
              <a:path w="221" h="23">
                <a:moveTo>
                  <a:pt x="221" y="23"/>
                </a:moveTo>
                <a:lnTo>
                  <a:pt x="177" y="6"/>
                </a:lnTo>
                <a:lnTo>
                  <a:pt x="133" y="0"/>
                </a:lnTo>
                <a:lnTo>
                  <a:pt x="89" y="0"/>
                </a:lnTo>
                <a:lnTo>
                  <a:pt x="42" y="6"/>
                </a:lnTo>
                <a:lnTo>
                  <a:pt x="0" y="23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6" name="Freeform 678"/>
          <p:cNvSpPr>
            <a:spLocks/>
          </p:cNvSpPr>
          <p:nvPr/>
        </p:nvSpPr>
        <p:spPr bwMode="auto">
          <a:xfrm>
            <a:off x="1203325" y="2674938"/>
            <a:ext cx="169863" cy="17462"/>
          </a:xfrm>
          <a:custGeom>
            <a:avLst/>
            <a:gdLst/>
            <a:ahLst/>
            <a:cxnLst>
              <a:cxn ang="0">
                <a:pos x="215" y="0"/>
              </a:cxn>
              <a:cxn ang="0">
                <a:pos x="175" y="14"/>
              </a:cxn>
              <a:cxn ang="0">
                <a:pos x="131" y="22"/>
              </a:cxn>
              <a:cxn ang="0">
                <a:pos x="87" y="22"/>
              </a:cxn>
              <a:cxn ang="0">
                <a:pos x="42" y="14"/>
              </a:cxn>
              <a:cxn ang="0">
                <a:pos x="0" y="0"/>
              </a:cxn>
            </a:cxnLst>
            <a:rect l="0" t="0" r="r" b="b"/>
            <a:pathLst>
              <a:path w="215" h="22">
                <a:moveTo>
                  <a:pt x="215" y="0"/>
                </a:moveTo>
                <a:lnTo>
                  <a:pt x="175" y="14"/>
                </a:lnTo>
                <a:lnTo>
                  <a:pt x="131" y="22"/>
                </a:lnTo>
                <a:lnTo>
                  <a:pt x="87" y="22"/>
                </a:lnTo>
                <a:lnTo>
                  <a:pt x="42" y="14"/>
                </a:lnTo>
                <a:lnTo>
                  <a:pt x="0" y="0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7" name="Freeform 679"/>
          <p:cNvSpPr>
            <a:spLocks/>
          </p:cNvSpPr>
          <p:nvPr/>
        </p:nvSpPr>
        <p:spPr bwMode="auto">
          <a:xfrm>
            <a:off x="1373188" y="2657475"/>
            <a:ext cx="176212" cy="17463"/>
          </a:xfrm>
          <a:custGeom>
            <a:avLst/>
            <a:gdLst/>
            <a:ahLst/>
            <a:cxnLst>
              <a:cxn ang="0">
                <a:pos x="222" y="23"/>
              </a:cxn>
              <a:cxn ang="0">
                <a:pos x="179" y="6"/>
              </a:cxn>
              <a:cxn ang="0">
                <a:pos x="133" y="0"/>
              </a:cxn>
              <a:cxn ang="0">
                <a:pos x="89" y="0"/>
              </a:cxn>
              <a:cxn ang="0">
                <a:pos x="43" y="6"/>
              </a:cxn>
              <a:cxn ang="0">
                <a:pos x="0" y="23"/>
              </a:cxn>
            </a:cxnLst>
            <a:rect l="0" t="0" r="r" b="b"/>
            <a:pathLst>
              <a:path w="222" h="23">
                <a:moveTo>
                  <a:pt x="222" y="23"/>
                </a:moveTo>
                <a:lnTo>
                  <a:pt x="179" y="6"/>
                </a:lnTo>
                <a:lnTo>
                  <a:pt x="133" y="0"/>
                </a:lnTo>
                <a:lnTo>
                  <a:pt x="89" y="0"/>
                </a:lnTo>
                <a:lnTo>
                  <a:pt x="43" y="6"/>
                </a:lnTo>
                <a:lnTo>
                  <a:pt x="0" y="23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8" name="Freeform 680"/>
          <p:cNvSpPr>
            <a:spLocks/>
          </p:cNvSpPr>
          <p:nvPr/>
        </p:nvSpPr>
        <p:spPr bwMode="auto">
          <a:xfrm>
            <a:off x="1549400" y="2674938"/>
            <a:ext cx="173038" cy="17462"/>
          </a:xfrm>
          <a:custGeom>
            <a:avLst/>
            <a:gdLst/>
            <a:ahLst/>
            <a:cxnLst>
              <a:cxn ang="0">
                <a:pos x="219" y="0"/>
              </a:cxn>
              <a:cxn ang="0">
                <a:pos x="177" y="14"/>
              </a:cxn>
              <a:cxn ang="0">
                <a:pos x="132" y="22"/>
              </a:cxn>
              <a:cxn ang="0">
                <a:pos x="86" y="22"/>
              </a:cxn>
              <a:cxn ang="0">
                <a:pos x="42" y="14"/>
              </a:cxn>
              <a:cxn ang="0">
                <a:pos x="0" y="0"/>
              </a:cxn>
            </a:cxnLst>
            <a:rect l="0" t="0" r="r" b="b"/>
            <a:pathLst>
              <a:path w="219" h="22">
                <a:moveTo>
                  <a:pt x="219" y="0"/>
                </a:moveTo>
                <a:lnTo>
                  <a:pt x="177" y="14"/>
                </a:lnTo>
                <a:lnTo>
                  <a:pt x="132" y="22"/>
                </a:lnTo>
                <a:lnTo>
                  <a:pt x="86" y="22"/>
                </a:lnTo>
                <a:lnTo>
                  <a:pt x="42" y="14"/>
                </a:lnTo>
                <a:lnTo>
                  <a:pt x="0" y="0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9" name="Freeform 681"/>
          <p:cNvSpPr>
            <a:spLocks/>
          </p:cNvSpPr>
          <p:nvPr/>
        </p:nvSpPr>
        <p:spPr bwMode="auto">
          <a:xfrm>
            <a:off x="1722438" y="2657475"/>
            <a:ext cx="174625" cy="17463"/>
          </a:xfrm>
          <a:custGeom>
            <a:avLst/>
            <a:gdLst/>
            <a:ahLst/>
            <a:cxnLst>
              <a:cxn ang="0">
                <a:pos x="219" y="23"/>
              </a:cxn>
              <a:cxn ang="0">
                <a:pos x="177" y="6"/>
              </a:cxn>
              <a:cxn ang="0">
                <a:pos x="133" y="0"/>
              </a:cxn>
              <a:cxn ang="0">
                <a:pos x="86" y="0"/>
              </a:cxn>
              <a:cxn ang="0">
                <a:pos x="44" y="6"/>
              </a:cxn>
              <a:cxn ang="0">
                <a:pos x="0" y="23"/>
              </a:cxn>
            </a:cxnLst>
            <a:rect l="0" t="0" r="r" b="b"/>
            <a:pathLst>
              <a:path w="219" h="23">
                <a:moveTo>
                  <a:pt x="219" y="23"/>
                </a:moveTo>
                <a:lnTo>
                  <a:pt x="177" y="6"/>
                </a:lnTo>
                <a:lnTo>
                  <a:pt x="133" y="0"/>
                </a:lnTo>
                <a:lnTo>
                  <a:pt x="86" y="0"/>
                </a:lnTo>
                <a:lnTo>
                  <a:pt x="44" y="6"/>
                </a:lnTo>
                <a:lnTo>
                  <a:pt x="0" y="23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0" name="Freeform 682"/>
          <p:cNvSpPr>
            <a:spLocks/>
          </p:cNvSpPr>
          <p:nvPr/>
        </p:nvSpPr>
        <p:spPr bwMode="auto">
          <a:xfrm>
            <a:off x="1133475" y="2601913"/>
            <a:ext cx="60325" cy="44450"/>
          </a:xfrm>
          <a:custGeom>
            <a:avLst/>
            <a:gdLst/>
            <a:ahLst/>
            <a:cxnLst>
              <a:cxn ang="0">
                <a:pos x="0" y="14"/>
              </a:cxn>
              <a:cxn ang="0">
                <a:pos x="0" y="8"/>
              </a:cxn>
              <a:cxn ang="0">
                <a:pos x="1" y="2"/>
              </a:cxn>
              <a:cxn ang="0">
                <a:pos x="7" y="0"/>
              </a:cxn>
              <a:cxn ang="0">
                <a:pos x="44" y="0"/>
              </a:cxn>
              <a:cxn ang="0">
                <a:pos x="59" y="4"/>
              </a:cxn>
              <a:cxn ang="0">
                <a:pos x="71" y="14"/>
              </a:cxn>
              <a:cxn ang="0">
                <a:pos x="75" y="27"/>
              </a:cxn>
              <a:cxn ang="0">
                <a:pos x="75" y="56"/>
              </a:cxn>
            </a:cxnLst>
            <a:rect l="0" t="0" r="r" b="b"/>
            <a:pathLst>
              <a:path w="75" h="56">
                <a:moveTo>
                  <a:pt x="0" y="14"/>
                </a:moveTo>
                <a:lnTo>
                  <a:pt x="0" y="8"/>
                </a:lnTo>
                <a:lnTo>
                  <a:pt x="1" y="2"/>
                </a:lnTo>
                <a:lnTo>
                  <a:pt x="7" y="0"/>
                </a:lnTo>
                <a:lnTo>
                  <a:pt x="44" y="0"/>
                </a:lnTo>
                <a:lnTo>
                  <a:pt x="59" y="4"/>
                </a:lnTo>
                <a:lnTo>
                  <a:pt x="71" y="14"/>
                </a:lnTo>
                <a:lnTo>
                  <a:pt x="75" y="27"/>
                </a:lnTo>
                <a:lnTo>
                  <a:pt x="75" y="56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1" name="Freeform 683"/>
          <p:cNvSpPr>
            <a:spLocks/>
          </p:cNvSpPr>
          <p:nvPr/>
        </p:nvSpPr>
        <p:spPr bwMode="auto">
          <a:xfrm>
            <a:off x="1133475" y="2698750"/>
            <a:ext cx="60325" cy="50800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0" y="54"/>
              </a:cxn>
              <a:cxn ang="0">
                <a:pos x="1" y="63"/>
              </a:cxn>
              <a:cxn ang="0">
                <a:pos x="7" y="65"/>
              </a:cxn>
              <a:cxn ang="0">
                <a:pos x="40" y="65"/>
              </a:cxn>
              <a:cxn ang="0">
                <a:pos x="51" y="63"/>
              </a:cxn>
              <a:cxn ang="0">
                <a:pos x="65" y="52"/>
              </a:cxn>
              <a:cxn ang="0">
                <a:pos x="71" y="42"/>
              </a:cxn>
              <a:cxn ang="0">
                <a:pos x="75" y="31"/>
              </a:cxn>
              <a:cxn ang="0">
                <a:pos x="75" y="0"/>
              </a:cxn>
            </a:cxnLst>
            <a:rect l="0" t="0" r="r" b="b"/>
            <a:pathLst>
              <a:path w="75" h="65">
                <a:moveTo>
                  <a:pt x="0" y="48"/>
                </a:moveTo>
                <a:lnTo>
                  <a:pt x="0" y="54"/>
                </a:lnTo>
                <a:lnTo>
                  <a:pt x="1" y="63"/>
                </a:lnTo>
                <a:lnTo>
                  <a:pt x="7" y="65"/>
                </a:lnTo>
                <a:lnTo>
                  <a:pt x="40" y="65"/>
                </a:lnTo>
                <a:lnTo>
                  <a:pt x="51" y="63"/>
                </a:lnTo>
                <a:lnTo>
                  <a:pt x="65" y="52"/>
                </a:lnTo>
                <a:lnTo>
                  <a:pt x="71" y="42"/>
                </a:lnTo>
                <a:lnTo>
                  <a:pt x="75" y="31"/>
                </a:lnTo>
                <a:lnTo>
                  <a:pt x="75" y="0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2" name="Freeform 684"/>
          <p:cNvSpPr>
            <a:spLocks/>
          </p:cNvSpPr>
          <p:nvPr/>
        </p:nvSpPr>
        <p:spPr bwMode="auto">
          <a:xfrm>
            <a:off x="1192213" y="2646363"/>
            <a:ext cx="11112" cy="28575"/>
          </a:xfrm>
          <a:custGeom>
            <a:avLst/>
            <a:gdLst/>
            <a:ahLst/>
            <a:cxnLst>
              <a:cxn ang="0">
                <a:pos x="2" y="0"/>
              </a:cxn>
              <a:cxn ang="0">
                <a:pos x="0" y="13"/>
              </a:cxn>
              <a:cxn ang="0">
                <a:pos x="3" y="27"/>
              </a:cxn>
              <a:cxn ang="0">
                <a:pos x="13" y="36"/>
              </a:cxn>
            </a:cxnLst>
            <a:rect l="0" t="0" r="r" b="b"/>
            <a:pathLst>
              <a:path w="13" h="36">
                <a:moveTo>
                  <a:pt x="2" y="0"/>
                </a:moveTo>
                <a:lnTo>
                  <a:pt x="0" y="13"/>
                </a:lnTo>
                <a:lnTo>
                  <a:pt x="3" y="27"/>
                </a:lnTo>
                <a:lnTo>
                  <a:pt x="13" y="36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3" name="Freeform 685"/>
          <p:cNvSpPr>
            <a:spLocks/>
          </p:cNvSpPr>
          <p:nvPr/>
        </p:nvSpPr>
        <p:spPr bwMode="auto">
          <a:xfrm>
            <a:off x="1192213" y="2674938"/>
            <a:ext cx="11112" cy="23812"/>
          </a:xfrm>
          <a:custGeom>
            <a:avLst/>
            <a:gdLst/>
            <a:ahLst/>
            <a:cxnLst>
              <a:cxn ang="0">
                <a:pos x="13" y="0"/>
              </a:cxn>
              <a:cxn ang="0">
                <a:pos x="3" y="8"/>
              </a:cxn>
              <a:cxn ang="0">
                <a:pos x="0" y="18"/>
              </a:cxn>
              <a:cxn ang="0">
                <a:pos x="2" y="29"/>
              </a:cxn>
            </a:cxnLst>
            <a:rect l="0" t="0" r="r" b="b"/>
            <a:pathLst>
              <a:path w="13" h="29">
                <a:moveTo>
                  <a:pt x="13" y="0"/>
                </a:moveTo>
                <a:lnTo>
                  <a:pt x="3" y="8"/>
                </a:lnTo>
                <a:lnTo>
                  <a:pt x="0" y="18"/>
                </a:lnTo>
                <a:lnTo>
                  <a:pt x="2" y="29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4" name="Freeform 686"/>
          <p:cNvSpPr>
            <a:spLocks/>
          </p:cNvSpPr>
          <p:nvPr/>
        </p:nvSpPr>
        <p:spPr bwMode="auto">
          <a:xfrm>
            <a:off x="1897063" y="2674938"/>
            <a:ext cx="176212" cy="17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2" y="14"/>
              </a:cxn>
              <a:cxn ang="0">
                <a:pos x="89" y="22"/>
              </a:cxn>
              <a:cxn ang="0">
                <a:pos x="133" y="22"/>
              </a:cxn>
              <a:cxn ang="0">
                <a:pos x="177" y="14"/>
              </a:cxn>
              <a:cxn ang="0">
                <a:pos x="221" y="0"/>
              </a:cxn>
            </a:cxnLst>
            <a:rect l="0" t="0" r="r" b="b"/>
            <a:pathLst>
              <a:path w="221" h="22">
                <a:moveTo>
                  <a:pt x="0" y="0"/>
                </a:moveTo>
                <a:lnTo>
                  <a:pt x="42" y="14"/>
                </a:lnTo>
                <a:lnTo>
                  <a:pt x="89" y="22"/>
                </a:lnTo>
                <a:lnTo>
                  <a:pt x="133" y="22"/>
                </a:lnTo>
                <a:lnTo>
                  <a:pt x="177" y="14"/>
                </a:lnTo>
                <a:lnTo>
                  <a:pt x="221" y="0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5" name="Freeform 687"/>
          <p:cNvSpPr>
            <a:spLocks/>
          </p:cNvSpPr>
          <p:nvPr/>
        </p:nvSpPr>
        <p:spPr bwMode="auto">
          <a:xfrm>
            <a:off x="2092325" y="2598738"/>
            <a:ext cx="66675" cy="44450"/>
          </a:xfrm>
          <a:custGeom>
            <a:avLst/>
            <a:gdLst/>
            <a:ahLst/>
            <a:cxnLst>
              <a:cxn ang="0">
                <a:pos x="85" y="0"/>
              </a:cxn>
              <a:cxn ang="0">
                <a:pos x="31" y="0"/>
              </a:cxn>
              <a:cxn ang="0">
                <a:pos x="16" y="3"/>
              </a:cxn>
              <a:cxn ang="0">
                <a:pos x="4" y="13"/>
              </a:cxn>
              <a:cxn ang="0">
                <a:pos x="0" y="26"/>
              </a:cxn>
              <a:cxn ang="0">
                <a:pos x="0" y="55"/>
              </a:cxn>
            </a:cxnLst>
            <a:rect l="0" t="0" r="r" b="b"/>
            <a:pathLst>
              <a:path w="85" h="55">
                <a:moveTo>
                  <a:pt x="85" y="0"/>
                </a:moveTo>
                <a:lnTo>
                  <a:pt x="31" y="0"/>
                </a:lnTo>
                <a:lnTo>
                  <a:pt x="16" y="3"/>
                </a:lnTo>
                <a:lnTo>
                  <a:pt x="4" y="13"/>
                </a:lnTo>
                <a:lnTo>
                  <a:pt x="0" y="26"/>
                </a:lnTo>
                <a:lnTo>
                  <a:pt x="0" y="55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6" name="Freeform 688"/>
          <p:cNvSpPr>
            <a:spLocks/>
          </p:cNvSpPr>
          <p:nvPr/>
        </p:nvSpPr>
        <p:spPr bwMode="auto">
          <a:xfrm>
            <a:off x="2073275" y="2643188"/>
            <a:ext cx="19050" cy="31750"/>
          </a:xfrm>
          <a:custGeom>
            <a:avLst/>
            <a:gdLst/>
            <a:ahLst/>
            <a:cxnLst>
              <a:cxn ang="0">
                <a:pos x="25" y="0"/>
              </a:cxn>
              <a:cxn ang="0">
                <a:pos x="25" y="14"/>
              </a:cxn>
              <a:cxn ang="0">
                <a:pos x="19" y="25"/>
              </a:cxn>
              <a:cxn ang="0">
                <a:pos x="12" y="37"/>
              </a:cxn>
              <a:cxn ang="0">
                <a:pos x="0" y="40"/>
              </a:cxn>
            </a:cxnLst>
            <a:rect l="0" t="0" r="r" b="b"/>
            <a:pathLst>
              <a:path w="25" h="40">
                <a:moveTo>
                  <a:pt x="25" y="0"/>
                </a:moveTo>
                <a:lnTo>
                  <a:pt x="25" y="14"/>
                </a:lnTo>
                <a:lnTo>
                  <a:pt x="19" y="25"/>
                </a:lnTo>
                <a:lnTo>
                  <a:pt x="12" y="37"/>
                </a:lnTo>
                <a:lnTo>
                  <a:pt x="0" y="40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7" name="Freeform 689"/>
          <p:cNvSpPr>
            <a:spLocks/>
          </p:cNvSpPr>
          <p:nvPr/>
        </p:nvSpPr>
        <p:spPr bwMode="auto">
          <a:xfrm>
            <a:off x="2092325" y="2706688"/>
            <a:ext cx="66675" cy="46037"/>
          </a:xfrm>
          <a:custGeom>
            <a:avLst/>
            <a:gdLst/>
            <a:ahLst/>
            <a:cxnLst>
              <a:cxn ang="0">
                <a:pos x="85" y="57"/>
              </a:cxn>
              <a:cxn ang="0">
                <a:pos x="31" y="57"/>
              </a:cxn>
              <a:cxn ang="0">
                <a:pos x="16" y="53"/>
              </a:cxn>
              <a:cxn ang="0">
                <a:pos x="4" y="40"/>
              </a:cxn>
              <a:cxn ang="0">
                <a:pos x="0" y="27"/>
              </a:cxn>
              <a:cxn ang="0">
                <a:pos x="0" y="0"/>
              </a:cxn>
            </a:cxnLst>
            <a:rect l="0" t="0" r="r" b="b"/>
            <a:pathLst>
              <a:path w="85" h="57">
                <a:moveTo>
                  <a:pt x="85" y="57"/>
                </a:moveTo>
                <a:lnTo>
                  <a:pt x="31" y="57"/>
                </a:lnTo>
                <a:lnTo>
                  <a:pt x="16" y="53"/>
                </a:lnTo>
                <a:lnTo>
                  <a:pt x="4" y="40"/>
                </a:lnTo>
                <a:lnTo>
                  <a:pt x="0" y="27"/>
                </a:lnTo>
                <a:lnTo>
                  <a:pt x="0" y="0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8" name="Freeform 690"/>
          <p:cNvSpPr>
            <a:spLocks/>
          </p:cNvSpPr>
          <p:nvPr/>
        </p:nvSpPr>
        <p:spPr bwMode="auto">
          <a:xfrm>
            <a:off x="2073275" y="2674938"/>
            <a:ext cx="19050" cy="31750"/>
          </a:xfrm>
          <a:custGeom>
            <a:avLst/>
            <a:gdLst/>
            <a:ahLst/>
            <a:cxnLst>
              <a:cxn ang="0">
                <a:pos x="25" y="41"/>
              </a:cxn>
              <a:cxn ang="0">
                <a:pos x="25" y="27"/>
              </a:cxn>
              <a:cxn ang="0">
                <a:pos x="19" y="14"/>
              </a:cxn>
              <a:cxn ang="0">
                <a:pos x="12" y="4"/>
              </a:cxn>
              <a:cxn ang="0">
                <a:pos x="0" y="0"/>
              </a:cxn>
            </a:cxnLst>
            <a:rect l="0" t="0" r="r" b="b"/>
            <a:pathLst>
              <a:path w="25" h="41">
                <a:moveTo>
                  <a:pt x="25" y="41"/>
                </a:moveTo>
                <a:lnTo>
                  <a:pt x="25" y="27"/>
                </a:lnTo>
                <a:lnTo>
                  <a:pt x="19" y="14"/>
                </a:lnTo>
                <a:lnTo>
                  <a:pt x="12" y="4"/>
                </a:lnTo>
                <a:lnTo>
                  <a:pt x="0" y="0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9" name="Freeform 691"/>
          <p:cNvSpPr>
            <a:spLocks/>
          </p:cNvSpPr>
          <p:nvPr/>
        </p:nvSpPr>
        <p:spPr bwMode="auto">
          <a:xfrm>
            <a:off x="2159000" y="2598738"/>
            <a:ext cx="638175" cy="6492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08" y="0"/>
              </a:cxn>
              <a:cxn ang="0">
                <a:pos x="308" y="816"/>
              </a:cxn>
              <a:cxn ang="0">
                <a:pos x="804" y="816"/>
              </a:cxn>
            </a:cxnLst>
            <a:rect l="0" t="0" r="r" b="b"/>
            <a:pathLst>
              <a:path w="804" h="816">
                <a:moveTo>
                  <a:pt x="0" y="0"/>
                </a:moveTo>
                <a:lnTo>
                  <a:pt x="308" y="0"/>
                </a:lnTo>
                <a:lnTo>
                  <a:pt x="308" y="816"/>
                </a:lnTo>
                <a:lnTo>
                  <a:pt x="804" y="816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40" name="Freeform 692"/>
          <p:cNvSpPr>
            <a:spLocks/>
          </p:cNvSpPr>
          <p:nvPr/>
        </p:nvSpPr>
        <p:spPr bwMode="auto">
          <a:xfrm>
            <a:off x="2159000" y="2752725"/>
            <a:ext cx="290513" cy="673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83" y="0"/>
              </a:cxn>
              <a:cxn ang="0">
                <a:pos x="183" y="848"/>
              </a:cxn>
              <a:cxn ang="0">
                <a:pos x="365" y="848"/>
              </a:cxn>
            </a:cxnLst>
            <a:rect l="0" t="0" r="r" b="b"/>
            <a:pathLst>
              <a:path w="365" h="848">
                <a:moveTo>
                  <a:pt x="0" y="0"/>
                </a:moveTo>
                <a:lnTo>
                  <a:pt x="183" y="0"/>
                </a:lnTo>
                <a:lnTo>
                  <a:pt x="183" y="848"/>
                </a:lnTo>
                <a:lnTo>
                  <a:pt x="365" y="848"/>
                </a:lnTo>
              </a:path>
            </a:pathLst>
          </a:custGeom>
          <a:noFill/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41" name="Freeform 693"/>
          <p:cNvSpPr>
            <a:spLocks/>
          </p:cNvSpPr>
          <p:nvPr/>
        </p:nvSpPr>
        <p:spPr bwMode="auto">
          <a:xfrm>
            <a:off x="2446338" y="3411538"/>
            <a:ext cx="23812" cy="22225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2" y="4"/>
              </a:cxn>
              <a:cxn ang="0">
                <a:pos x="10" y="0"/>
              </a:cxn>
              <a:cxn ang="0">
                <a:pos x="18" y="0"/>
              </a:cxn>
              <a:cxn ang="0">
                <a:pos x="25" y="4"/>
              </a:cxn>
              <a:cxn ang="0">
                <a:pos x="29" y="12"/>
              </a:cxn>
              <a:cxn ang="0">
                <a:pos x="25" y="23"/>
              </a:cxn>
              <a:cxn ang="0">
                <a:pos x="18" y="27"/>
              </a:cxn>
              <a:cxn ang="0">
                <a:pos x="10" y="27"/>
              </a:cxn>
              <a:cxn ang="0">
                <a:pos x="2" y="23"/>
              </a:cxn>
              <a:cxn ang="0">
                <a:pos x="0" y="12"/>
              </a:cxn>
            </a:cxnLst>
            <a:rect l="0" t="0" r="r" b="b"/>
            <a:pathLst>
              <a:path w="29" h="27">
                <a:moveTo>
                  <a:pt x="0" y="12"/>
                </a:moveTo>
                <a:lnTo>
                  <a:pt x="2" y="4"/>
                </a:lnTo>
                <a:lnTo>
                  <a:pt x="10" y="0"/>
                </a:lnTo>
                <a:lnTo>
                  <a:pt x="18" y="0"/>
                </a:lnTo>
                <a:lnTo>
                  <a:pt x="25" y="4"/>
                </a:lnTo>
                <a:lnTo>
                  <a:pt x="29" y="12"/>
                </a:lnTo>
                <a:lnTo>
                  <a:pt x="25" y="23"/>
                </a:lnTo>
                <a:lnTo>
                  <a:pt x="18" y="27"/>
                </a:lnTo>
                <a:lnTo>
                  <a:pt x="10" y="27"/>
                </a:lnTo>
                <a:lnTo>
                  <a:pt x="2" y="23"/>
                </a:lnTo>
                <a:lnTo>
                  <a:pt x="0" y="12"/>
                </a:lnTo>
                <a:close/>
              </a:path>
            </a:pathLst>
          </a:custGeom>
          <a:solidFill>
            <a:srgbClr val="FFFFFF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42" name="Rectangle 694"/>
          <p:cNvSpPr>
            <a:spLocks noChangeArrowheads="1"/>
          </p:cNvSpPr>
          <p:nvPr/>
        </p:nvSpPr>
        <p:spPr bwMode="auto">
          <a:xfrm>
            <a:off x="2506663" y="3392488"/>
            <a:ext cx="68262" cy="6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-9</a:t>
            </a:r>
            <a:endParaRPr lang="en-US" altLang="ko-KR"/>
          </a:p>
        </p:txBody>
      </p:sp>
      <p:sp>
        <p:nvSpPr>
          <p:cNvPr id="2743" name="Rectangle 695"/>
          <p:cNvSpPr>
            <a:spLocks noChangeArrowheads="1"/>
          </p:cNvSpPr>
          <p:nvPr/>
        </p:nvSpPr>
        <p:spPr bwMode="auto">
          <a:xfrm>
            <a:off x="2552700" y="3392488"/>
            <a:ext cx="57150" cy="6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V</a:t>
            </a:r>
            <a:endParaRPr lang="en-US" altLang="ko-KR"/>
          </a:p>
        </p:txBody>
      </p:sp>
      <p:sp>
        <p:nvSpPr>
          <p:cNvPr id="2744" name="Rectangle 696"/>
          <p:cNvSpPr>
            <a:spLocks noChangeArrowheads="1"/>
          </p:cNvSpPr>
          <p:nvPr/>
        </p:nvSpPr>
        <p:spPr bwMode="auto">
          <a:xfrm>
            <a:off x="2174875" y="2528888"/>
            <a:ext cx="293688" cy="6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THERMAL1</a:t>
            </a:r>
            <a:endParaRPr lang="en-US" altLang="ko-KR"/>
          </a:p>
        </p:txBody>
      </p:sp>
      <p:sp>
        <p:nvSpPr>
          <p:cNvPr id="2745" name="Line 697"/>
          <p:cNvSpPr>
            <a:spLocks noChangeShapeType="1"/>
          </p:cNvSpPr>
          <p:nvPr/>
        </p:nvSpPr>
        <p:spPr bwMode="auto">
          <a:xfrm>
            <a:off x="2532063" y="2900363"/>
            <a:ext cx="1587" cy="33337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46" name="Freeform 698"/>
          <p:cNvSpPr>
            <a:spLocks/>
          </p:cNvSpPr>
          <p:nvPr/>
        </p:nvSpPr>
        <p:spPr bwMode="auto">
          <a:xfrm>
            <a:off x="2522538" y="2879725"/>
            <a:ext cx="22225" cy="22225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2" y="4"/>
              </a:cxn>
              <a:cxn ang="0">
                <a:pos x="9" y="0"/>
              </a:cxn>
              <a:cxn ang="0">
                <a:pos x="17" y="0"/>
              </a:cxn>
              <a:cxn ang="0">
                <a:pos x="23" y="4"/>
              </a:cxn>
              <a:cxn ang="0">
                <a:pos x="27" y="12"/>
              </a:cxn>
              <a:cxn ang="0">
                <a:pos x="23" y="21"/>
              </a:cxn>
              <a:cxn ang="0">
                <a:pos x="17" y="29"/>
              </a:cxn>
              <a:cxn ang="0">
                <a:pos x="9" y="29"/>
              </a:cxn>
              <a:cxn ang="0">
                <a:pos x="2" y="21"/>
              </a:cxn>
              <a:cxn ang="0">
                <a:pos x="0" y="12"/>
              </a:cxn>
            </a:cxnLst>
            <a:rect l="0" t="0" r="r" b="b"/>
            <a:pathLst>
              <a:path w="27" h="29">
                <a:moveTo>
                  <a:pt x="0" y="12"/>
                </a:moveTo>
                <a:lnTo>
                  <a:pt x="2" y="4"/>
                </a:lnTo>
                <a:lnTo>
                  <a:pt x="9" y="0"/>
                </a:lnTo>
                <a:lnTo>
                  <a:pt x="17" y="0"/>
                </a:lnTo>
                <a:lnTo>
                  <a:pt x="23" y="4"/>
                </a:lnTo>
                <a:lnTo>
                  <a:pt x="27" y="12"/>
                </a:lnTo>
                <a:lnTo>
                  <a:pt x="23" y="21"/>
                </a:lnTo>
                <a:lnTo>
                  <a:pt x="17" y="29"/>
                </a:lnTo>
                <a:lnTo>
                  <a:pt x="9" y="29"/>
                </a:lnTo>
                <a:lnTo>
                  <a:pt x="2" y="21"/>
                </a:lnTo>
                <a:lnTo>
                  <a:pt x="0" y="12"/>
                </a:lnTo>
                <a:close/>
              </a:path>
            </a:pathLst>
          </a:custGeom>
          <a:solidFill>
            <a:srgbClr val="FFFFFF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47" name="Rectangle 699"/>
          <p:cNvSpPr>
            <a:spLocks noChangeArrowheads="1"/>
          </p:cNvSpPr>
          <p:nvPr/>
        </p:nvSpPr>
        <p:spPr bwMode="auto">
          <a:xfrm>
            <a:off x="2484438" y="2795588"/>
            <a:ext cx="79375" cy="6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15</a:t>
            </a:r>
            <a:endParaRPr lang="en-US" altLang="ko-KR"/>
          </a:p>
        </p:txBody>
      </p:sp>
      <p:sp>
        <p:nvSpPr>
          <p:cNvPr id="2748" name="Rectangle 700"/>
          <p:cNvSpPr>
            <a:spLocks noChangeArrowheads="1"/>
          </p:cNvSpPr>
          <p:nvPr/>
        </p:nvSpPr>
        <p:spPr bwMode="auto">
          <a:xfrm>
            <a:off x="2541588" y="2795588"/>
            <a:ext cx="57150" cy="6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V</a:t>
            </a:r>
            <a:endParaRPr lang="en-US" altLang="ko-KR"/>
          </a:p>
        </p:txBody>
      </p:sp>
      <p:sp>
        <p:nvSpPr>
          <p:cNvPr id="2749" name="Rectangle 701"/>
          <p:cNvSpPr>
            <a:spLocks noChangeArrowheads="1"/>
          </p:cNvSpPr>
          <p:nvPr/>
        </p:nvSpPr>
        <p:spPr bwMode="auto">
          <a:xfrm>
            <a:off x="1057275" y="2109788"/>
            <a:ext cx="7620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Arial" charset="0"/>
              </a:rPr>
              <a:t>INV. STACK</a:t>
            </a:r>
            <a:endParaRPr lang="en-US" altLang="ko-KR"/>
          </a:p>
        </p:txBody>
      </p:sp>
      <p:sp>
        <p:nvSpPr>
          <p:cNvPr id="2750" name="Freeform 702"/>
          <p:cNvSpPr>
            <a:spLocks/>
          </p:cNvSpPr>
          <p:nvPr/>
        </p:nvSpPr>
        <p:spPr bwMode="auto">
          <a:xfrm>
            <a:off x="179388" y="2344738"/>
            <a:ext cx="633412" cy="201612"/>
          </a:xfrm>
          <a:custGeom>
            <a:avLst/>
            <a:gdLst/>
            <a:ahLst/>
            <a:cxnLst>
              <a:cxn ang="0">
                <a:pos x="677" y="253"/>
              </a:cxn>
              <a:cxn ang="0">
                <a:pos x="703" y="248"/>
              </a:cxn>
              <a:cxn ang="0">
                <a:pos x="728" y="240"/>
              </a:cxn>
              <a:cxn ang="0">
                <a:pos x="753" y="227"/>
              </a:cxn>
              <a:cxn ang="0">
                <a:pos x="771" y="207"/>
              </a:cxn>
              <a:cxn ang="0">
                <a:pos x="784" y="184"/>
              </a:cxn>
              <a:cxn ang="0">
                <a:pos x="796" y="160"/>
              </a:cxn>
              <a:cxn ang="0">
                <a:pos x="798" y="135"/>
              </a:cxn>
              <a:cxn ang="0">
                <a:pos x="798" y="121"/>
              </a:cxn>
              <a:cxn ang="0">
                <a:pos x="796" y="94"/>
              </a:cxn>
              <a:cxn ang="0">
                <a:pos x="784" y="67"/>
              </a:cxn>
              <a:cxn ang="0">
                <a:pos x="771" y="44"/>
              </a:cxn>
              <a:cxn ang="0">
                <a:pos x="753" y="27"/>
              </a:cxn>
              <a:cxn ang="0">
                <a:pos x="728" y="12"/>
              </a:cxn>
              <a:cxn ang="0">
                <a:pos x="703" y="2"/>
              </a:cxn>
              <a:cxn ang="0">
                <a:pos x="677" y="0"/>
              </a:cxn>
              <a:cxn ang="0">
                <a:pos x="123" y="0"/>
              </a:cxn>
              <a:cxn ang="0">
                <a:pos x="96" y="2"/>
              </a:cxn>
              <a:cxn ang="0">
                <a:pos x="69" y="12"/>
              </a:cxn>
              <a:cxn ang="0">
                <a:pos x="46" y="27"/>
              </a:cxn>
              <a:cxn ang="0">
                <a:pos x="28" y="44"/>
              </a:cxn>
              <a:cxn ang="0">
                <a:pos x="11" y="67"/>
              </a:cxn>
              <a:cxn ang="0">
                <a:pos x="2" y="94"/>
              </a:cxn>
              <a:cxn ang="0">
                <a:pos x="0" y="121"/>
              </a:cxn>
              <a:cxn ang="0">
                <a:pos x="0" y="135"/>
              </a:cxn>
              <a:cxn ang="0">
                <a:pos x="2" y="160"/>
              </a:cxn>
              <a:cxn ang="0">
                <a:pos x="11" y="184"/>
              </a:cxn>
              <a:cxn ang="0">
                <a:pos x="28" y="207"/>
              </a:cxn>
              <a:cxn ang="0">
                <a:pos x="46" y="227"/>
              </a:cxn>
              <a:cxn ang="0">
                <a:pos x="69" y="240"/>
              </a:cxn>
              <a:cxn ang="0">
                <a:pos x="96" y="248"/>
              </a:cxn>
              <a:cxn ang="0">
                <a:pos x="123" y="253"/>
              </a:cxn>
              <a:cxn ang="0">
                <a:pos x="677" y="253"/>
              </a:cxn>
            </a:cxnLst>
            <a:rect l="0" t="0" r="r" b="b"/>
            <a:pathLst>
              <a:path w="798" h="253">
                <a:moveTo>
                  <a:pt x="677" y="253"/>
                </a:moveTo>
                <a:lnTo>
                  <a:pt x="703" y="248"/>
                </a:lnTo>
                <a:lnTo>
                  <a:pt x="728" y="240"/>
                </a:lnTo>
                <a:lnTo>
                  <a:pt x="753" y="227"/>
                </a:lnTo>
                <a:lnTo>
                  <a:pt x="771" y="207"/>
                </a:lnTo>
                <a:lnTo>
                  <a:pt x="784" y="184"/>
                </a:lnTo>
                <a:lnTo>
                  <a:pt x="796" y="160"/>
                </a:lnTo>
                <a:lnTo>
                  <a:pt x="798" y="135"/>
                </a:lnTo>
                <a:lnTo>
                  <a:pt x="798" y="121"/>
                </a:lnTo>
                <a:lnTo>
                  <a:pt x="796" y="94"/>
                </a:lnTo>
                <a:lnTo>
                  <a:pt x="784" y="67"/>
                </a:lnTo>
                <a:lnTo>
                  <a:pt x="771" y="44"/>
                </a:lnTo>
                <a:lnTo>
                  <a:pt x="753" y="27"/>
                </a:lnTo>
                <a:lnTo>
                  <a:pt x="728" y="12"/>
                </a:lnTo>
                <a:lnTo>
                  <a:pt x="703" y="2"/>
                </a:lnTo>
                <a:lnTo>
                  <a:pt x="677" y="0"/>
                </a:lnTo>
                <a:lnTo>
                  <a:pt x="123" y="0"/>
                </a:lnTo>
                <a:lnTo>
                  <a:pt x="96" y="2"/>
                </a:lnTo>
                <a:lnTo>
                  <a:pt x="69" y="12"/>
                </a:lnTo>
                <a:lnTo>
                  <a:pt x="46" y="27"/>
                </a:lnTo>
                <a:lnTo>
                  <a:pt x="28" y="44"/>
                </a:lnTo>
                <a:lnTo>
                  <a:pt x="11" y="67"/>
                </a:lnTo>
                <a:lnTo>
                  <a:pt x="2" y="94"/>
                </a:lnTo>
                <a:lnTo>
                  <a:pt x="0" y="121"/>
                </a:lnTo>
                <a:lnTo>
                  <a:pt x="0" y="135"/>
                </a:lnTo>
                <a:lnTo>
                  <a:pt x="2" y="160"/>
                </a:lnTo>
                <a:lnTo>
                  <a:pt x="11" y="184"/>
                </a:lnTo>
                <a:lnTo>
                  <a:pt x="28" y="207"/>
                </a:lnTo>
                <a:lnTo>
                  <a:pt x="46" y="227"/>
                </a:lnTo>
                <a:lnTo>
                  <a:pt x="69" y="240"/>
                </a:lnTo>
                <a:lnTo>
                  <a:pt x="96" y="248"/>
                </a:lnTo>
                <a:lnTo>
                  <a:pt x="123" y="253"/>
                </a:lnTo>
                <a:lnTo>
                  <a:pt x="677" y="253"/>
                </a:lnTo>
                <a:close/>
              </a:path>
            </a:pathLst>
          </a:custGeom>
          <a:solidFill>
            <a:srgbClr val="FFFFFF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51" name="Rectangle 703"/>
          <p:cNvSpPr>
            <a:spLocks noChangeArrowheads="1"/>
          </p:cNvSpPr>
          <p:nvPr/>
        </p:nvSpPr>
        <p:spPr bwMode="auto">
          <a:xfrm>
            <a:off x="287338" y="2414588"/>
            <a:ext cx="460375" cy="6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THERMAL GUARD</a:t>
            </a:r>
            <a:endParaRPr lang="en-US" altLang="ko-KR"/>
          </a:p>
        </p:txBody>
      </p:sp>
      <p:sp>
        <p:nvSpPr>
          <p:cNvPr id="2752" name="Line 704"/>
          <p:cNvSpPr>
            <a:spLocks noChangeShapeType="1"/>
          </p:cNvSpPr>
          <p:nvPr/>
        </p:nvSpPr>
        <p:spPr bwMode="auto">
          <a:xfrm>
            <a:off x="812800" y="2446338"/>
            <a:ext cx="238125" cy="14922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53" name="Freeform 705"/>
          <p:cNvSpPr>
            <a:spLocks/>
          </p:cNvSpPr>
          <p:nvPr/>
        </p:nvSpPr>
        <p:spPr bwMode="auto">
          <a:xfrm>
            <a:off x="1039813" y="2576513"/>
            <a:ext cx="41275" cy="36512"/>
          </a:xfrm>
          <a:custGeom>
            <a:avLst/>
            <a:gdLst/>
            <a:ahLst/>
            <a:cxnLst>
              <a:cxn ang="0">
                <a:pos x="23" y="0"/>
              </a:cxn>
              <a:cxn ang="0">
                <a:pos x="52" y="46"/>
              </a:cxn>
              <a:cxn ang="0">
                <a:pos x="0" y="42"/>
              </a:cxn>
              <a:cxn ang="0">
                <a:pos x="23" y="0"/>
              </a:cxn>
            </a:cxnLst>
            <a:rect l="0" t="0" r="r" b="b"/>
            <a:pathLst>
              <a:path w="52" h="46">
                <a:moveTo>
                  <a:pt x="23" y="0"/>
                </a:moveTo>
                <a:lnTo>
                  <a:pt x="52" y="46"/>
                </a:lnTo>
                <a:lnTo>
                  <a:pt x="0" y="42"/>
                </a:lnTo>
                <a:lnTo>
                  <a:pt x="23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54" name="Rectangle 706"/>
          <p:cNvSpPr>
            <a:spLocks noChangeArrowheads="1"/>
          </p:cNvSpPr>
          <p:nvPr/>
        </p:nvSpPr>
        <p:spPr bwMode="auto">
          <a:xfrm>
            <a:off x="1157288" y="3617913"/>
            <a:ext cx="415925" cy="98425"/>
          </a:xfrm>
          <a:prstGeom prst="rect">
            <a:avLst/>
          </a:prstGeom>
          <a:solidFill>
            <a:srgbClr val="CDCDCD"/>
          </a:solidFill>
          <a:ln w="15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55" name="Rectangle 707"/>
          <p:cNvSpPr>
            <a:spLocks noChangeArrowheads="1"/>
          </p:cNvSpPr>
          <p:nvPr/>
        </p:nvSpPr>
        <p:spPr bwMode="auto">
          <a:xfrm>
            <a:off x="1244600" y="3635375"/>
            <a:ext cx="73025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W</a:t>
            </a:r>
            <a:endParaRPr lang="en-US" altLang="ko-KR"/>
          </a:p>
        </p:txBody>
      </p:sp>
      <p:sp>
        <p:nvSpPr>
          <p:cNvPr id="2756" name="Rectangle 708"/>
          <p:cNvSpPr>
            <a:spLocks noChangeArrowheads="1"/>
          </p:cNvSpPr>
          <p:nvPr/>
        </p:nvSpPr>
        <p:spPr bwMode="auto">
          <a:xfrm>
            <a:off x="1293813" y="3638550"/>
            <a:ext cx="76200" cy="5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4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상</a:t>
            </a:r>
            <a:endParaRPr lang="ko-KR" altLang="en-US"/>
          </a:p>
        </p:txBody>
      </p:sp>
      <p:sp>
        <p:nvSpPr>
          <p:cNvPr id="2757" name="Rectangle 709"/>
          <p:cNvSpPr>
            <a:spLocks noChangeArrowheads="1"/>
          </p:cNvSpPr>
          <p:nvPr/>
        </p:nvSpPr>
        <p:spPr bwMode="auto">
          <a:xfrm>
            <a:off x="1362075" y="3635375"/>
            <a:ext cx="139700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IGBT</a:t>
            </a:r>
            <a:endParaRPr lang="en-US" altLang="ko-KR"/>
          </a:p>
        </p:txBody>
      </p:sp>
      <p:sp>
        <p:nvSpPr>
          <p:cNvPr id="2758" name="Rectangle 710"/>
          <p:cNvSpPr>
            <a:spLocks noChangeArrowheads="1"/>
          </p:cNvSpPr>
          <p:nvPr/>
        </p:nvSpPr>
        <p:spPr bwMode="auto">
          <a:xfrm>
            <a:off x="1157288" y="3516313"/>
            <a:ext cx="415925" cy="101600"/>
          </a:xfrm>
          <a:prstGeom prst="rect">
            <a:avLst/>
          </a:prstGeom>
          <a:solidFill>
            <a:srgbClr val="CDCDCD"/>
          </a:solidFill>
          <a:ln w="15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59" name="Rectangle 711"/>
          <p:cNvSpPr>
            <a:spLocks noChangeArrowheads="1"/>
          </p:cNvSpPr>
          <p:nvPr/>
        </p:nvSpPr>
        <p:spPr bwMode="auto">
          <a:xfrm>
            <a:off x="1254125" y="3533775"/>
            <a:ext cx="57150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V</a:t>
            </a:r>
            <a:endParaRPr lang="en-US" altLang="ko-KR"/>
          </a:p>
        </p:txBody>
      </p:sp>
      <p:sp>
        <p:nvSpPr>
          <p:cNvPr id="2760" name="Rectangle 712"/>
          <p:cNvSpPr>
            <a:spLocks noChangeArrowheads="1"/>
          </p:cNvSpPr>
          <p:nvPr/>
        </p:nvSpPr>
        <p:spPr bwMode="auto">
          <a:xfrm>
            <a:off x="1287463" y="3536950"/>
            <a:ext cx="76200" cy="5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4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상</a:t>
            </a:r>
            <a:endParaRPr lang="ko-KR" altLang="en-US"/>
          </a:p>
        </p:txBody>
      </p:sp>
      <p:sp>
        <p:nvSpPr>
          <p:cNvPr id="2761" name="Rectangle 713"/>
          <p:cNvSpPr>
            <a:spLocks noChangeArrowheads="1"/>
          </p:cNvSpPr>
          <p:nvPr/>
        </p:nvSpPr>
        <p:spPr bwMode="auto">
          <a:xfrm>
            <a:off x="1355725" y="3533775"/>
            <a:ext cx="139700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IGBT</a:t>
            </a:r>
            <a:endParaRPr lang="en-US" altLang="ko-KR"/>
          </a:p>
        </p:txBody>
      </p:sp>
      <p:sp>
        <p:nvSpPr>
          <p:cNvPr id="2762" name="Rectangle 714"/>
          <p:cNvSpPr>
            <a:spLocks noChangeArrowheads="1"/>
          </p:cNvSpPr>
          <p:nvPr/>
        </p:nvSpPr>
        <p:spPr bwMode="auto">
          <a:xfrm>
            <a:off x="1155700" y="3416300"/>
            <a:ext cx="415925" cy="98425"/>
          </a:xfrm>
          <a:prstGeom prst="rect">
            <a:avLst/>
          </a:prstGeom>
          <a:solidFill>
            <a:srgbClr val="CDCDCD"/>
          </a:solidFill>
          <a:ln w="15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63" name="Rectangle 715"/>
          <p:cNvSpPr>
            <a:spLocks noChangeArrowheads="1"/>
          </p:cNvSpPr>
          <p:nvPr/>
        </p:nvSpPr>
        <p:spPr bwMode="auto">
          <a:xfrm>
            <a:off x="1246188" y="3435350"/>
            <a:ext cx="60325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U</a:t>
            </a:r>
            <a:endParaRPr lang="en-US" altLang="ko-KR"/>
          </a:p>
        </p:txBody>
      </p:sp>
      <p:sp>
        <p:nvSpPr>
          <p:cNvPr id="2764" name="Rectangle 716"/>
          <p:cNvSpPr>
            <a:spLocks noChangeArrowheads="1"/>
          </p:cNvSpPr>
          <p:nvPr/>
        </p:nvSpPr>
        <p:spPr bwMode="auto">
          <a:xfrm>
            <a:off x="1284288" y="3438525"/>
            <a:ext cx="76200" cy="5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ko-KR" altLang="en-US" sz="40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상</a:t>
            </a:r>
            <a:endParaRPr lang="ko-KR" altLang="en-US"/>
          </a:p>
        </p:txBody>
      </p:sp>
      <p:sp>
        <p:nvSpPr>
          <p:cNvPr id="2765" name="Rectangle 717"/>
          <p:cNvSpPr>
            <a:spLocks noChangeArrowheads="1"/>
          </p:cNvSpPr>
          <p:nvPr/>
        </p:nvSpPr>
        <p:spPr bwMode="auto">
          <a:xfrm>
            <a:off x="1352550" y="3435350"/>
            <a:ext cx="139700" cy="6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IGBT</a:t>
            </a:r>
            <a:endParaRPr lang="en-US" altLang="ko-KR"/>
          </a:p>
        </p:txBody>
      </p:sp>
      <p:sp>
        <p:nvSpPr>
          <p:cNvPr id="2766" name="Rectangle 718"/>
          <p:cNvSpPr>
            <a:spLocks noChangeArrowheads="1"/>
          </p:cNvSpPr>
          <p:nvPr/>
        </p:nvSpPr>
        <p:spPr bwMode="auto">
          <a:xfrm>
            <a:off x="2174875" y="2671763"/>
            <a:ext cx="293688" cy="6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400">
                <a:solidFill>
                  <a:srgbClr val="000000"/>
                </a:solidFill>
                <a:latin typeface="Arial" charset="0"/>
              </a:rPr>
              <a:t>THERMAL2</a:t>
            </a:r>
            <a:endParaRPr lang="en-US" altLang="ko-KR"/>
          </a:p>
        </p:txBody>
      </p:sp>
      <p:grpSp>
        <p:nvGrpSpPr>
          <p:cNvPr id="5" name="Group 719"/>
          <p:cNvGrpSpPr>
            <a:grpSpLocks/>
          </p:cNvGrpSpPr>
          <p:nvPr/>
        </p:nvGrpSpPr>
        <p:grpSpPr bwMode="auto">
          <a:xfrm>
            <a:off x="1447800" y="4343400"/>
            <a:ext cx="1947863" cy="773113"/>
            <a:chOff x="768" y="2785"/>
            <a:chExt cx="1227" cy="487"/>
          </a:xfrm>
        </p:grpSpPr>
        <p:sp>
          <p:nvSpPr>
            <p:cNvPr id="2768" name="Rectangle 720"/>
            <p:cNvSpPr>
              <a:spLocks noChangeArrowheads="1"/>
            </p:cNvSpPr>
            <p:nvPr/>
          </p:nvSpPr>
          <p:spPr bwMode="auto">
            <a:xfrm>
              <a:off x="1179" y="278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" name="Rectangle 721"/>
            <p:cNvSpPr>
              <a:spLocks noChangeArrowheads="1"/>
            </p:cNvSpPr>
            <p:nvPr/>
          </p:nvSpPr>
          <p:spPr bwMode="auto">
            <a:xfrm>
              <a:off x="1200" y="280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THERMAL1</a:t>
              </a:r>
              <a:endParaRPr lang="en-US" altLang="ko-KR"/>
            </a:p>
          </p:txBody>
        </p:sp>
        <p:sp>
          <p:nvSpPr>
            <p:cNvPr id="2770" name="Rectangle 722"/>
            <p:cNvSpPr>
              <a:spLocks noChangeArrowheads="1"/>
            </p:cNvSpPr>
            <p:nvPr/>
          </p:nvSpPr>
          <p:spPr bwMode="auto">
            <a:xfrm>
              <a:off x="1584" y="278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1" name="Rectangle 723"/>
            <p:cNvSpPr>
              <a:spLocks noChangeArrowheads="1"/>
            </p:cNvSpPr>
            <p:nvPr/>
          </p:nvSpPr>
          <p:spPr bwMode="auto">
            <a:xfrm>
              <a:off x="1605" y="280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THERMAL2</a:t>
              </a:r>
            </a:p>
          </p:txBody>
        </p:sp>
        <p:sp>
          <p:nvSpPr>
            <p:cNvPr id="2772" name="Rectangle 724"/>
            <p:cNvSpPr>
              <a:spLocks noChangeArrowheads="1"/>
            </p:cNvSpPr>
            <p:nvPr/>
          </p:nvSpPr>
          <p:spPr bwMode="auto">
            <a:xfrm>
              <a:off x="768" y="278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3" name="Rectangle 725"/>
            <p:cNvSpPr>
              <a:spLocks noChangeArrowheads="1"/>
            </p:cNvSpPr>
            <p:nvPr/>
          </p:nvSpPr>
          <p:spPr bwMode="auto">
            <a:xfrm>
              <a:off x="768" y="280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B/D</a:t>
              </a:r>
              <a:r>
                <a:rPr lang="ko-KR" altLang="en-US" sz="600">
                  <a:solidFill>
                    <a:srgbClr val="000000"/>
                  </a:solidFill>
                  <a:latin typeface="굴림" charset="-127"/>
                </a:rPr>
                <a:t>명</a:t>
              </a:r>
              <a:endParaRPr lang="ko-KR" altLang="en-US"/>
            </a:p>
          </p:txBody>
        </p:sp>
        <p:sp>
          <p:nvSpPr>
            <p:cNvPr id="2774" name="Rectangle 726"/>
            <p:cNvSpPr>
              <a:spLocks noChangeArrowheads="1"/>
            </p:cNvSpPr>
            <p:nvPr/>
          </p:nvSpPr>
          <p:spPr bwMode="auto">
            <a:xfrm>
              <a:off x="1179" y="290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5" name="Rectangle 727"/>
            <p:cNvSpPr>
              <a:spLocks noChangeArrowheads="1"/>
            </p:cNvSpPr>
            <p:nvPr/>
          </p:nvSpPr>
          <p:spPr bwMode="auto">
            <a:xfrm>
              <a:off x="1584" y="290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6" name="Rectangle 728"/>
            <p:cNvSpPr>
              <a:spLocks noChangeArrowheads="1"/>
            </p:cNvSpPr>
            <p:nvPr/>
          </p:nvSpPr>
          <p:spPr bwMode="auto">
            <a:xfrm>
              <a:off x="768" y="290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7" name="Rectangle 729"/>
            <p:cNvSpPr>
              <a:spLocks noChangeArrowheads="1"/>
            </p:cNvSpPr>
            <p:nvPr/>
          </p:nvSpPr>
          <p:spPr bwMode="auto">
            <a:xfrm>
              <a:off x="768" y="292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DPP-12X</a:t>
              </a:r>
              <a:endParaRPr lang="en-US" altLang="ko-KR"/>
            </a:p>
          </p:txBody>
        </p:sp>
        <p:sp>
          <p:nvSpPr>
            <p:cNvPr id="2778" name="Rectangle 730"/>
            <p:cNvSpPr>
              <a:spLocks noChangeArrowheads="1"/>
            </p:cNvSpPr>
            <p:nvPr/>
          </p:nvSpPr>
          <p:spPr bwMode="auto">
            <a:xfrm>
              <a:off x="1179" y="302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9" name="Rectangle 731"/>
            <p:cNvSpPr>
              <a:spLocks noChangeArrowheads="1"/>
            </p:cNvSpPr>
            <p:nvPr/>
          </p:nvSpPr>
          <p:spPr bwMode="auto">
            <a:xfrm>
              <a:off x="1584" y="302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80" name="Rectangle 732"/>
            <p:cNvSpPr>
              <a:spLocks noChangeArrowheads="1"/>
            </p:cNvSpPr>
            <p:nvPr/>
          </p:nvSpPr>
          <p:spPr bwMode="auto">
            <a:xfrm>
              <a:off x="768" y="302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81" name="Rectangle 733"/>
            <p:cNvSpPr>
              <a:spLocks noChangeArrowheads="1"/>
            </p:cNvSpPr>
            <p:nvPr/>
          </p:nvSpPr>
          <p:spPr bwMode="auto">
            <a:xfrm>
              <a:off x="768" y="304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DPP-13X</a:t>
              </a:r>
              <a:endParaRPr lang="en-US" altLang="ko-KR"/>
            </a:p>
          </p:txBody>
        </p:sp>
        <p:sp>
          <p:nvSpPr>
            <p:cNvPr id="2782" name="Rectangle 734"/>
            <p:cNvSpPr>
              <a:spLocks noChangeArrowheads="1"/>
            </p:cNvSpPr>
            <p:nvPr/>
          </p:nvSpPr>
          <p:spPr bwMode="auto">
            <a:xfrm>
              <a:off x="1179" y="3149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83" name="Rectangle 735"/>
            <p:cNvSpPr>
              <a:spLocks noChangeArrowheads="1"/>
            </p:cNvSpPr>
            <p:nvPr/>
          </p:nvSpPr>
          <p:spPr bwMode="auto">
            <a:xfrm>
              <a:off x="1200" y="3196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GP-06</a:t>
              </a:r>
              <a:endParaRPr lang="en-US" altLang="ko-KR"/>
            </a:p>
          </p:txBody>
        </p:sp>
        <p:sp>
          <p:nvSpPr>
            <p:cNvPr id="2784" name="Rectangle 736"/>
            <p:cNvSpPr>
              <a:spLocks noChangeArrowheads="1"/>
            </p:cNvSpPr>
            <p:nvPr/>
          </p:nvSpPr>
          <p:spPr bwMode="auto">
            <a:xfrm>
              <a:off x="1584" y="3149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85" name="Rectangle 737"/>
            <p:cNvSpPr>
              <a:spLocks noChangeArrowheads="1"/>
            </p:cNvSpPr>
            <p:nvPr/>
          </p:nvSpPr>
          <p:spPr bwMode="auto">
            <a:xfrm>
              <a:off x="768" y="3149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86" name="Rectangle 738"/>
            <p:cNvSpPr>
              <a:spLocks noChangeArrowheads="1"/>
            </p:cNvSpPr>
            <p:nvPr/>
          </p:nvSpPr>
          <p:spPr bwMode="auto">
            <a:xfrm>
              <a:off x="768" y="3172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DPP-101</a:t>
              </a:r>
              <a:endParaRPr lang="en-US" altLang="ko-KR"/>
            </a:p>
          </p:txBody>
        </p:sp>
        <p:sp>
          <p:nvSpPr>
            <p:cNvPr id="2787" name="Rectangle 739"/>
            <p:cNvSpPr>
              <a:spLocks noChangeArrowheads="1"/>
            </p:cNvSpPr>
            <p:nvPr/>
          </p:nvSpPr>
          <p:spPr bwMode="auto">
            <a:xfrm>
              <a:off x="1584" y="3196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GP-07</a:t>
              </a:r>
              <a:endParaRPr lang="en-US" altLang="ko-KR"/>
            </a:p>
          </p:txBody>
        </p:sp>
        <p:sp>
          <p:nvSpPr>
            <p:cNvPr id="2788" name="Rectangle 740"/>
            <p:cNvSpPr>
              <a:spLocks noChangeArrowheads="1"/>
            </p:cNvSpPr>
            <p:nvPr/>
          </p:nvSpPr>
          <p:spPr bwMode="auto">
            <a:xfrm>
              <a:off x="1200" y="2956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GB-04</a:t>
              </a:r>
              <a:endParaRPr lang="en-US" altLang="ko-KR"/>
            </a:p>
          </p:txBody>
        </p:sp>
        <p:sp>
          <p:nvSpPr>
            <p:cNvPr id="2789" name="Rectangle 741"/>
            <p:cNvSpPr>
              <a:spLocks noChangeArrowheads="1"/>
            </p:cNvSpPr>
            <p:nvPr/>
          </p:nvSpPr>
          <p:spPr bwMode="auto">
            <a:xfrm>
              <a:off x="1584" y="2956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GB-05</a:t>
              </a:r>
              <a:endParaRPr lang="en-US" altLang="ko-KR"/>
            </a:p>
          </p:txBody>
        </p:sp>
        <p:sp>
          <p:nvSpPr>
            <p:cNvPr id="2790" name="Rectangle 742"/>
            <p:cNvSpPr>
              <a:spLocks noChangeArrowheads="1"/>
            </p:cNvSpPr>
            <p:nvPr/>
          </p:nvSpPr>
          <p:spPr bwMode="auto">
            <a:xfrm>
              <a:off x="1200" y="306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TH-01</a:t>
              </a:r>
              <a:endParaRPr lang="en-US" altLang="ko-KR"/>
            </a:p>
          </p:txBody>
        </p:sp>
        <p:sp>
          <p:nvSpPr>
            <p:cNvPr id="2791" name="Rectangle 743"/>
            <p:cNvSpPr>
              <a:spLocks noChangeArrowheads="1"/>
            </p:cNvSpPr>
            <p:nvPr/>
          </p:nvSpPr>
          <p:spPr bwMode="auto">
            <a:xfrm>
              <a:off x="1588" y="3076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TH-02</a:t>
              </a:r>
              <a:endParaRPr lang="en-US" altLang="ko-KR"/>
            </a:p>
          </p:txBody>
        </p:sp>
      </p:grpSp>
      <p:sp>
        <p:nvSpPr>
          <p:cNvPr id="2792" name="Rectangle 744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38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LRT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운전이상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[ER_LOTOR_ROCK_ERR]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4327525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LRT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운전중 이상 조건을 검출하여 엘리베이터를 더 이상 기동 불가하게 함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206500"/>
            <a:ext cx="40386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MOTOR CODE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올바른지 확인 할것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ENCODER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결선상태를 확인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3.BRAKE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제동력이 올바르지 않을 경우에 도 발생하므로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BRAKE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전원을 확인 할것   </a:t>
            </a:r>
            <a:endParaRPr lang="ko-KR" altLang="en-US" sz="900">
              <a:latin typeface="Arial" charset="0"/>
              <a:ea typeface="굴림체" pitchFamily="49" charset="-127"/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1905000"/>
            <a:ext cx="45720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1.LRT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중에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MOTOR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회전을 검출될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검출함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2.LRT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중에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ROTARY ENCODER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움직임이 발생할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endParaRPr lang="ko-KR" altLang="en-US" sz="9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41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INV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전류제어이상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[ER_INV_C_CNTL]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432752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모터이상 또는 입력전원이 불안정하거나 전압이 낮을 경우 모터 정격치 이상으로 전류지령이 출력될 때 검출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066800"/>
            <a:ext cx="4038600" cy="275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HCT TURN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수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.(INV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과전류의 도표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 용량 및 제어반 용량 등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정확한지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(annunciator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확인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DSP spec write(A52E)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다시 수행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체크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CP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입력되는 전원전압이 정상인지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권상기의 기어 체크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브레이크의 석방 상태 체크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ENOCODER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상태 확인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CAR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CWT  RAIL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끼임이 없는 지 확인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</a:t>
            </a:r>
            <a:r>
              <a:rPr lang="en-US" altLang="ko-KR" sz="1000" baseline="50000">
                <a:latin typeface="Arial" charset="0"/>
                <a:ea typeface="굴림체" pitchFamily="49" charset="-127"/>
              </a:rPr>
              <a:t>2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11. 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  <a:endParaRPr lang="ko-KR" altLang="en-US" sz="900">
              <a:latin typeface="Arial" charset="0"/>
              <a:ea typeface="굴림체" pitchFamily="49" charset="-127"/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4343400"/>
            <a:ext cx="45720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모터가 기동하여 가속구간을 지나고 정격속도를 주행할 때 전류 지령치가 모터 정격전류의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이상인 경우에 검출</a:t>
            </a:r>
            <a:endParaRPr lang="ko-KR" altLang="en-US" sz="900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153988" y="2549525"/>
            <a:ext cx="4646612" cy="1576388"/>
            <a:chOff x="97" y="1606"/>
            <a:chExt cx="2927" cy="993"/>
          </a:xfrm>
        </p:grpSpPr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97" y="1606"/>
              <a:ext cx="2927" cy="993"/>
              <a:chOff x="97" y="1606"/>
              <a:chExt cx="2927" cy="993"/>
            </a:xfrm>
          </p:grpSpPr>
          <p:sp>
            <p:nvSpPr>
              <p:cNvPr id="2071" name="Line 23"/>
              <p:cNvSpPr>
                <a:spLocks noChangeShapeType="1"/>
              </p:cNvSpPr>
              <p:nvPr/>
            </p:nvSpPr>
            <p:spPr bwMode="auto">
              <a:xfrm flipH="1">
                <a:off x="816" y="2084"/>
                <a:ext cx="34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2" name="Line 24"/>
              <p:cNvSpPr>
                <a:spLocks noChangeShapeType="1"/>
              </p:cNvSpPr>
              <p:nvPr/>
            </p:nvSpPr>
            <p:spPr bwMode="auto">
              <a:xfrm flipH="1">
                <a:off x="398" y="1989"/>
                <a:ext cx="1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3" name="Line 25"/>
              <p:cNvSpPr>
                <a:spLocks noChangeShapeType="1"/>
              </p:cNvSpPr>
              <p:nvPr/>
            </p:nvSpPr>
            <p:spPr bwMode="auto">
              <a:xfrm flipH="1">
                <a:off x="398" y="2156"/>
                <a:ext cx="187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4" name="Rectangle 26"/>
              <p:cNvSpPr>
                <a:spLocks noChangeArrowheads="1"/>
              </p:cNvSpPr>
              <p:nvPr/>
            </p:nvSpPr>
            <p:spPr bwMode="auto">
              <a:xfrm>
                <a:off x="582" y="1938"/>
                <a:ext cx="234" cy="292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5" name="Rectangle 27"/>
              <p:cNvSpPr>
                <a:spLocks noChangeArrowheads="1"/>
              </p:cNvSpPr>
              <p:nvPr/>
            </p:nvSpPr>
            <p:spPr bwMode="auto">
              <a:xfrm>
                <a:off x="651" y="2016"/>
                <a:ext cx="112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ko-KR" altLang="en-US" sz="7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속도</a:t>
                </a:r>
                <a:endParaRPr lang="ko-KR" altLang="en-US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076" name="Rectangle 28"/>
              <p:cNvSpPr>
                <a:spLocks noChangeArrowheads="1"/>
              </p:cNvSpPr>
              <p:nvPr/>
            </p:nvSpPr>
            <p:spPr bwMode="auto">
              <a:xfrm>
                <a:off x="626" y="2083"/>
                <a:ext cx="168" cy="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ko-KR" altLang="en-US" sz="7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제어기</a:t>
                </a:r>
                <a:endParaRPr lang="ko-KR" altLang="en-US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97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120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143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166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1" name="Line 33"/>
              <p:cNvSpPr>
                <a:spLocks noChangeShapeType="1"/>
              </p:cNvSpPr>
              <p:nvPr/>
            </p:nvSpPr>
            <p:spPr bwMode="auto">
              <a:xfrm>
                <a:off x="189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>
                <a:off x="212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3" name="Line 35"/>
              <p:cNvSpPr>
                <a:spLocks noChangeShapeType="1"/>
              </p:cNvSpPr>
              <p:nvPr/>
            </p:nvSpPr>
            <p:spPr bwMode="auto">
              <a:xfrm>
                <a:off x="235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4" name="Line 36"/>
              <p:cNvSpPr>
                <a:spLocks noChangeShapeType="1"/>
              </p:cNvSpPr>
              <p:nvPr/>
            </p:nvSpPr>
            <p:spPr bwMode="auto">
              <a:xfrm>
                <a:off x="258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5" name="Line 37"/>
              <p:cNvSpPr>
                <a:spLocks noChangeShapeType="1"/>
              </p:cNvSpPr>
              <p:nvPr/>
            </p:nvSpPr>
            <p:spPr bwMode="auto">
              <a:xfrm>
                <a:off x="281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6" name="Line 38"/>
              <p:cNvSpPr>
                <a:spLocks noChangeShapeType="1"/>
              </p:cNvSpPr>
              <p:nvPr/>
            </p:nvSpPr>
            <p:spPr bwMode="auto">
              <a:xfrm>
                <a:off x="304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7" name="Line 39"/>
              <p:cNvSpPr>
                <a:spLocks noChangeShapeType="1"/>
              </p:cNvSpPr>
              <p:nvPr/>
            </p:nvSpPr>
            <p:spPr bwMode="auto">
              <a:xfrm>
                <a:off x="327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8" name="Line 40"/>
              <p:cNvSpPr>
                <a:spLocks noChangeShapeType="1"/>
              </p:cNvSpPr>
              <p:nvPr/>
            </p:nvSpPr>
            <p:spPr bwMode="auto">
              <a:xfrm>
                <a:off x="351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9" name="Line 41"/>
              <p:cNvSpPr>
                <a:spLocks noChangeShapeType="1"/>
              </p:cNvSpPr>
              <p:nvPr/>
            </p:nvSpPr>
            <p:spPr bwMode="auto">
              <a:xfrm>
                <a:off x="374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>
                <a:off x="397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>
                <a:off x="420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443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466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4" name="Line 46"/>
              <p:cNvSpPr>
                <a:spLocks noChangeShapeType="1"/>
              </p:cNvSpPr>
              <p:nvPr/>
            </p:nvSpPr>
            <p:spPr bwMode="auto">
              <a:xfrm>
                <a:off x="489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>
                <a:off x="512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6" name="Line 48"/>
              <p:cNvSpPr>
                <a:spLocks noChangeShapeType="1"/>
              </p:cNvSpPr>
              <p:nvPr/>
            </p:nvSpPr>
            <p:spPr bwMode="auto">
              <a:xfrm>
                <a:off x="535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7" name="Line 49"/>
              <p:cNvSpPr>
                <a:spLocks noChangeShapeType="1"/>
              </p:cNvSpPr>
              <p:nvPr/>
            </p:nvSpPr>
            <p:spPr bwMode="auto">
              <a:xfrm>
                <a:off x="558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8" name="Line 50"/>
              <p:cNvSpPr>
                <a:spLocks noChangeShapeType="1"/>
              </p:cNvSpPr>
              <p:nvPr/>
            </p:nvSpPr>
            <p:spPr bwMode="auto">
              <a:xfrm>
                <a:off x="581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9" name="Line 51"/>
              <p:cNvSpPr>
                <a:spLocks noChangeShapeType="1"/>
              </p:cNvSpPr>
              <p:nvPr/>
            </p:nvSpPr>
            <p:spPr bwMode="auto">
              <a:xfrm>
                <a:off x="604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0" name="Line 52"/>
              <p:cNvSpPr>
                <a:spLocks noChangeShapeType="1"/>
              </p:cNvSpPr>
              <p:nvPr/>
            </p:nvSpPr>
            <p:spPr bwMode="auto">
              <a:xfrm>
                <a:off x="627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1" name="Line 53"/>
              <p:cNvSpPr>
                <a:spLocks noChangeShapeType="1"/>
              </p:cNvSpPr>
              <p:nvPr/>
            </p:nvSpPr>
            <p:spPr bwMode="auto">
              <a:xfrm>
                <a:off x="650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>
                <a:off x="673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3" name="Line 55"/>
              <p:cNvSpPr>
                <a:spLocks noChangeShapeType="1"/>
              </p:cNvSpPr>
              <p:nvPr/>
            </p:nvSpPr>
            <p:spPr bwMode="auto">
              <a:xfrm>
                <a:off x="696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4" name="Line 56"/>
              <p:cNvSpPr>
                <a:spLocks noChangeShapeType="1"/>
              </p:cNvSpPr>
              <p:nvPr/>
            </p:nvSpPr>
            <p:spPr bwMode="auto">
              <a:xfrm>
                <a:off x="719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5" name="Line 57"/>
              <p:cNvSpPr>
                <a:spLocks noChangeShapeType="1"/>
              </p:cNvSpPr>
              <p:nvPr/>
            </p:nvSpPr>
            <p:spPr bwMode="auto">
              <a:xfrm>
                <a:off x="742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>
                <a:off x="765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>
                <a:off x="788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>
                <a:off x="811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>
                <a:off x="834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>
                <a:off x="857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>
                <a:off x="881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904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>
                <a:off x="927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950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>
                <a:off x="973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>
                <a:off x="996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>
                <a:off x="1019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>
                <a:off x="1042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>
                <a:off x="1065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>
                <a:off x="1088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>
                <a:off x="1111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2" name="Line 74"/>
              <p:cNvSpPr>
                <a:spLocks noChangeShapeType="1"/>
              </p:cNvSpPr>
              <p:nvPr/>
            </p:nvSpPr>
            <p:spPr bwMode="auto">
              <a:xfrm>
                <a:off x="1134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>
                <a:off x="1157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4" name="Line 76"/>
              <p:cNvSpPr>
                <a:spLocks noChangeShapeType="1"/>
              </p:cNvSpPr>
              <p:nvPr/>
            </p:nvSpPr>
            <p:spPr bwMode="auto">
              <a:xfrm>
                <a:off x="1180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5" name="Line 77"/>
              <p:cNvSpPr>
                <a:spLocks noChangeShapeType="1"/>
              </p:cNvSpPr>
              <p:nvPr/>
            </p:nvSpPr>
            <p:spPr bwMode="auto">
              <a:xfrm>
                <a:off x="1203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6" name="Line 78"/>
              <p:cNvSpPr>
                <a:spLocks noChangeShapeType="1"/>
              </p:cNvSpPr>
              <p:nvPr/>
            </p:nvSpPr>
            <p:spPr bwMode="auto">
              <a:xfrm>
                <a:off x="1226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7" name="Line 79"/>
              <p:cNvSpPr>
                <a:spLocks noChangeShapeType="1"/>
              </p:cNvSpPr>
              <p:nvPr/>
            </p:nvSpPr>
            <p:spPr bwMode="auto">
              <a:xfrm>
                <a:off x="1249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>
                <a:off x="1272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9" name="Line 81"/>
              <p:cNvSpPr>
                <a:spLocks noChangeShapeType="1"/>
              </p:cNvSpPr>
              <p:nvPr/>
            </p:nvSpPr>
            <p:spPr bwMode="auto">
              <a:xfrm>
                <a:off x="1295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>
                <a:off x="1318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>
                <a:off x="1341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>
                <a:off x="1364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>
                <a:off x="1387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4" name="Line 86"/>
              <p:cNvSpPr>
                <a:spLocks noChangeShapeType="1"/>
              </p:cNvSpPr>
              <p:nvPr/>
            </p:nvSpPr>
            <p:spPr bwMode="auto">
              <a:xfrm>
                <a:off x="1410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5" name="Line 87"/>
              <p:cNvSpPr>
                <a:spLocks noChangeShapeType="1"/>
              </p:cNvSpPr>
              <p:nvPr/>
            </p:nvSpPr>
            <p:spPr bwMode="auto">
              <a:xfrm>
                <a:off x="1434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6" name="Line 88"/>
              <p:cNvSpPr>
                <a:spLocks noChangeShapeType="1"/>
              </p:cNvSpPr>
              <p:nvPr/>
            </p:nvSpPr>
            <p:spPr bwMode="auto">
              <a:xfrm>
                <a:off x="1457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7" name="Line 89"/>
              <p:cNvSpPr>
                <a:spLocks noChangeShapeType="1"/>
              </p:cNvSpPr>
              <p:nvPr/>
            </p:nvSpPr>
            <p:spPr bwMode="auto">
              <a:xfrm>
                <a:off x="1480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8" name="Line 90"/>
              <p:cNvSpPr>
                <a:spLocks noChangeShapeType="1"/>
              </p:cNvSpPr>
              <p:nvPr/>
            </p:nvSpPr>
            <p:spPr bwMode="auto">
              <a:xfrm>
                <a:off x="1503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>
                <a:off x="1526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>
                <a:off x="1549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1" name="Line 93"/>
              <p:cNvSpPr>
                <a:spLocks noChangeShapeType="1"/>
              </p:cNvSpPr>
              <p:nvPr/>
            </p:nvSpPr>
            <p:spPr bwMode="auto">
              <a:xfrm>
                <a:off x="1572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>
                <a:off x="1595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>
                <a:off x="1618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>
                <a:off x="1641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>
                <a:off x="1664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>
                <a:off x="1687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>
                <a:off x="1710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>
                <a:off x="1733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1756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0" name="Line 102"/>
              <p:cNvSpPr>
                <a:spLocks noChangeShapeType="1"/>
              </p:cNvSpPr>
              <p:nvPr/>
            </p:nvSpPr>
            <p:spPr bwMode="auto">
              <a:xfrm>
                <a:off x="1779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1" name="Line 103"/>
              <p:cNvSpPr>
                <a:spLocks noChangeShapeType="1"/>
              </p:cNvSpPr>
              <p:nvPr/>
            </p:nvSpPr>
            <p:spPr bwMode="auto">
              <a:xfrm>
                <a:off x="1802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2" name="Line 104"/>
              <p:cNvSpPr>
                <a:spLocks noChangeShapeType="1"/>
              </p:cNvSpPr>
              <p:nvPr/>
            </p:nvSpPr>
            <p:spPr bwMode="auto">
              <a:xfrm>
                <a:off x="1825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3" name="Line 105"/>
              <p:cNvSpPr>
                <a:spLocks noChangeShapeType="1"/>
              </p:cNvSpPr>
              <p:nvPr/>
            </p:nvSpPr>
            <p:spPr bwMode="auto">
              <a:xfrm>
                <a:off x="1848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4" name="Line 106"/>
              <p:cNvSpPr>
                <a:spLocks noChangeShapeType="1"/>
              </p:cNvSpPr>
              <p:nvPr/>
            </p:nvSpPr>
            <p:spPr bwMode="auto">
              <a:xfrm>
                <a:off x="1871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5" name="Line 107"/>
              <p:cNvSpPr>
                <a:spLocks noChangeShapeType="1"/>
              </p:cNvSpPr>
              <p:nvPr/>
            </p:nvSpPr>
            <p:spPr bwMode="auto">
              <a:xfrm>
                <a:off x="1894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6" name="Line 108"/>
              <p:cNvSpPr>
                <a:spLocks noChangeShapeType="1"/>
              </p:cNvSpPr>
              <p:nvPr/>
            </p:nvSpPr>
            <p:spPr bwMode="auto">
              <a:xfrm>
                <a:off x="1917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7" name="Line 109"/>
              <p:cNvSpPr>
                <a:spLocks noChangeShapeType="1"/>
              </p:cNvSpPr>
              <p:nvPr/>
            </p:nvSpPr>
            <p:spPr bwMode="auto">
              <a:xfrm>
                <a:off x="1940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auto">
              <a:xfrm>
                <a:off x="1963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9" name="Line 111"/>
              <p:cNvSpPr>
                <a:spLocks noChangeShapeType="1"/>
              </p:cNvSpPr>
              <p:nvPr/>
            </p:nvSpPr>
            <p:spPr bwMode="auto">
              <a:xfrm>
                <a:off x="1987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0" name="Line 112"/>
              <p:cNvSpPr>
                <a:spLocks noChangeShapeType="1"/>
              </p:cNvSpPr>
              <p:nvPr/>
            </p:nvSpPr>
            <p:spPr bwMode="auto">
              <a:xfrm>
                <a:off x="2010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1" name="Line 113"/>
              <p:cNvSpPr>
                <a:spLocks noChangeShapeType="1"/>
              </p:cNvSpPr>
              <p:nvPr/>
            </p:nvSpPr>
            <p:spPr bwMode="auto">
              <a:xfrm>
                <a:off x="2033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2" name="Line 114"/>
              <p:cNvSpPr>
                <a:spLocks noChangeShapeType="1"/>
              </p:cNvSpPr>
              <p:nvPr/>
            </p:nvSpPr>
            <p:spPr bwMode="auto">
              <a:xfrm>
                <a:off x="2056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3" name="Line 115"/>
              <p:cNvSpPr>
                <a:spLocks noChangeShapeType="1"/>
              </p:cNvSpPr>
              <p:nvPr/>
            </p:nvSpPr>
            <p:spPr bwMode="auto">
              <a:xfrm>
                <a:off x="2079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4" name="Line 116"/>
              <p:cNvSpPr>
                <a:spLocks noChangeShapeType="1"/>
              </p:cNvSpPr>
              <p:nvPr/>
            </p:nvSpPr>
            <p:spPr bwMode="auto">
              <a:xfrm>
                <a:off x="2102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5" name="Line 117"/>
              <p:cNvSpPr>
                <a:spLocks noChangeShapeType="1"/>
              </p:cNvSpPr>
              <p:nvPr/>
            </p:nvSpPr>
            <p:spPr bwMode="auto">
              <a:xfrm>
                <a:off x="2125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>
                <a:off x="2148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2171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2194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2217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>
                <a:off x="2240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>
                <a:off x="2263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>
                <a:off x="2286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>
                <a:off x="2309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>
                <a:off x="2332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>
                <a:off x="2355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>
                <a:off x="2378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>
                <a:off x="2401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>
                <a:off x="2424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9" name="Line 131"/>
              <p:cNvSpPr>
                <a:spLocks noChangeShapeType="1"/>
              </p:cNvSpPr>
              <p:nvPr/>
            </p:nvSpPr>
            <p:spPr bwMode="auto">
              <a:xfrm>
                <a:off x="2447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0" name="Line 132"/>
              <p:cNvSpPr>
                <a:spLocks noChangeShapeType="1"/>
              </p:cNvSpPr>
              <p:nvPr/>
            </p:nvSpPr>
            <p:spPr bwMode="auto">
              <a:xfrm>
                <a:off x="2470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1" name="Line 133"/>
              <p:cNvSpPr>
                <a:spLocks noChangeShapeType="1"/>
              </p:cNvSpPr>
              <p:nvPr/>
            </p:nvSpPr>
            <p:spPr bwMode="auto">
              <a:xfrm>
                <a:off x="2493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2" name="Line 134"/>
              <p:cNvSpPr>
                <a:spLocks noChangeShapeType="1"/>
              </p:cNvSpPr>
              <p:nvPr/>
            </p:nvSpPr>
            <p:spPr bwMode="auto">
              <a:xfrm>
                <a:off x="2516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3" name="Line 135"/>
              <p:cNvSpPr>
                <a:spLocks noChangeShapeType="1"/>
              </p:cNvSpPr>
              <p:nvPr/>
            </p:nvSpPr>
            <p:spPr bwMode="auto">
              <a:xfrm>
                <a:off x="2540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4" name="Line 136"/>
              <p:cNvSpPr>
                <a:spLocks noChangeShapeType="1"/>
              </p:cNvSpPr>
              <p:nvPr/>
            </p:nvSpPr>
            <p:spPr bwMode="auto">
              <a:xfrm>
                <a:off x="2563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auto">
              <a:xfrm>
                <a:off x="2586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6" name="Line 138"/>
              <p:cNvSpPr>
                <a:spLocks noChangeShapeType="1"/>
              </p:cNvSpPr>
              <p:nvPr/>
            </p:nvSpPr>
            <p:spPr bwMode="auto">
              <a:xfrm>
                <a:off x="2609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>
                <a:off x="2632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8" name="Line 140"/>
              <p:cNvSpPr>
                <a:spLocks noChangeShapeType="1"/>
              </p:cNvSpPr>
              <p:nvPr/>
            </p:nvSpPr>
            <p:spPr bwMode="auto">
              <a:xfrm>
                <a:off x="2655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9" name="Line 141"/>
              <p:cNvSpPr>
                <a:spLocks noChangeShapeType="1"/>
              </p:cNvSpPr>
              <p:nvPr/>
            </p:nvSpPr>
            <p:spPr bwMode="auto">
              <a:xfrm>
                <a:off x="2678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0" name="Line 142"/>
              <p:cNvSpPr>
                <a:spLocks noChangeShapeType="1"/>
              </p:cNvSpPr>
              <p:nvPr/>
            </p:nvSpPr>
            <p:spPr bwMode="auto">
              <a:xfrm>
                <a:off x="2701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1" name="Line 143"/>
              <p:cNvSpPr>
                <a:spLocks noChangeShapeType="1"/>
              </p:cNvSpPr>
              <p:nvPr/>
            </p:nvSpPr>
            <p:spPr bwMode="auto">
              <a:xfrm>
                <a:off x="2724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2" name="Line 144"/>
              <p:cNvSpPr>
                <a:spLocks noChangeShapeType="1"/>
              </p:cNvSpPr>
              <p:nvPr/>
            </p:nvSpPr>
            <p:spPr bwMode="auto">
              <a:xfrm>
                <a:off x="2747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3" name="Line 145"/>
              <p:cNvSpPr>
                <a:spLocks noChangeShapeType="1"/>
              </p:cNvSpPr>
              <p:nvPr/>
            </p:nvSpPr>
            <p:spPr bwMode="auto">
              <a:xfrm>
                <a:off x="2770" y="2598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4" name="Line 146"/>
              <p:cNvSpPr>
                <a:spLocks noChangeShapeType="1"/>
              </p:cNvSpPr>
              <p:nvPr/>
            </p:nvSpPr>
            <p:spPr bwMode="auto">
              <a:xfrm>
                <a:off x="2793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5" name="Line 147"/>
              <p:cNvSpPr>
                <a:spLocks noChangeShapeType="1"/>
              </p:cNvSpPr>
              <p:nvPr/>
            </p:nvSpPr>
            <p:spPr bwMode="auto">
              <a:xfrm>
                <a:off x="2816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6" name="Line 148"/>
              <p:cNvSpPr>
                <a:spLocks noChangeShapeType="1"/>
              </p:cNvSpPr>
              <p:nvPr/>
            </p:nvSpPr>
            <p:spPr bwMode="auto">
              <a:xfrm>
                <a:off x="2839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7" name="Line 149"/>
              <p:cNvSpPr>
                <a:spLocks noChangeShapeType="1"/>
              </p:cNvSpPr>
              <p:nvPr/>
            </p:nvSpPr>
            <p:spPr bwMode="auto">
              <a:xfrm>
                <a:off x="2862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8" name="Line 150"/>
              <p:cNvSpPr>
                <a:spLocks noChangeShapeType="1"/>
              </p:cNvSpPr>
              <p:nvPr/>
            </p:nvSpPr>
            <p:spPr bwMode="auto">
              <a:xfrm>
                <a:off x="2885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9" name="Line 151"/>
              <p:cNvSpPr>
                <a:spLocks noChangeShapeType="1"/>
              </p:cNvSpPr>
              <p:nvPr/>
            </p:nvSpPr>
            <p:spPr bwMode="auto">
              <a:xfrm>
                <a:off x="2908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0" name="Line 152"/>
              <p:cNvSpPr>
                <a:spLocks noChangeShapeType="1"/>
              </p:cNvSpPr>
              <p:nvPr/>
            </p:nvSpPr>
            <p:spPr bwMode="auto">
              <a:xfrm>
                <a:off x="2931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1" name="Line 153"/>
              <p:cNvSpPr>
                <a:spLocks noChangeShapeType="1"/>
              </p:cNvSpPr>
              <p:nvPr/>
            </p:nvSpPr>
            <p:spPr bwMode="auto">
              <a:xfrm>
                <a:off x="2954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2" name="Line 154"/>
              <p:cNvSpPr>
                <a:spLocks noChangeShapeType="1"/>
              </p:cNvSpPr>
              <p:nvPr/>
            </p:nvSpPr>
            <p:spPr bwMode="auto">
              <a:xfrm>
                <a:off x="2977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3" name="Line 155"/>
              <p:cNvSpPr>
                <a:spLocks noChangeShapeType="1"/>
              </p:cNvSpPr>
              <p:nvPr/>
            </p:nvSpPr>
            <p:spPr bwMode="auto">
              <a:xfrm>
                <a:off x="3000" y="2598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4" name="Line 156"/>
              <p:cNvSpPr>
                <a:spLocks noChangeShapeType="1"/>
              </p:cNvSpPr>
              <p:nvPr/>
            </p:nvSpPr>
            <p:spPr bwMode="auto">
              <a:xfrm flipV="1">
                <a:off x="3023" y="2586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5" name="Line 157"/>
              <p:cNvSpPr>
                <a:spLocks noChangeShapeType="1"/>
              </p:cNvSpPr>
              <p:nvPr/>
            </p:nvSpPr>
            <p:spPr bwMode="auto">
              <a:xfrm flipV="1">
                <a:off x="3023" y="2563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6" name="Line 158"/>
              <p:cNvSpPr>
                <a:spLocks noChangeShapeType="1"/>
              </p:cNvSpPr>
              <p:nvPr/>
            </p:nvSpPr>
            <p:spPr bwMode="auto">
              <a:xfrm flipV="1">
                <a:off x="3023" y="2540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7" name="Line 159"/>
              <p:cNvSpPr>
                <a:spLocks noChangeShapeType="1"/>
              </p:cNvSpPr>
              <p:nvPr/>
            </p:nvSpPr>
            <p:spPr bwMode="auto">
              <a:xfrm flipV="1">
                <a:off x="3023" y="2517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8" name="Line 160"/>
              <p:cNvSpPr>
                <a:spLocks noChangeShapeType="1"/>
              </p:cNvSpPr>
              <p:nvPr/>
            </p:nvSpPr>
            <p:spPr bwMode="auto">
              <a:xfrm flipV="1">
                <a:off x="3023" y="2494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 flipV="1">
                <a:off x="3023" y="2471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0" name="Line 162"/>
              <p:cNvSpPr>
                <a:spLocks noChangeShapeType="1"/>
              </p:cNvSpPr>
              <p:nvPr/>
            </p:nvSpPr>
            <p:spPr bwMode="auto">
              <a:xfrm flipV="1">
                <a:off x="3023" y="2448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1" name="Line 163"/>
              <p:cNvSpPr>
                <a:spLocks noChangeShapeType="1"/>
              </p:cNvSpPr>
              <p:nvPr/>
            </p:nvSpPr>
            <p:spPr bwMode="auto">
              <a:xfrm flipV="1">
                <a:off x="3023" y="2425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2" name="Line 164"/>
              <p:cNvSpPr>
                <a:spLocks noChangeShapeType="1"/>
              </p:cNvSpPr>
              <p:nvPr/>
            </p:nvSpPr>
            <p:spPr bwMode="auto">
              <a:xfrm flipV="1">
                <a:off x="3023" y="2402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3" name="Line 165"/>
              <p:cNvSpPr>
                <a:spLocks noChangeShapeType="1"/>
              </p:cNvSpPr>
              <p:nvPr/>
            </p:nvSpPr>
            <p:spPr bwMode="auto">
              <a:xfrm flipV="1">
                <a:off x="3023" y="2379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4" name="Line 166"/>
              <p:cNvSpPr>
                <a:spLocks noChangeShapeType="1"/>
              </p:cNvSpPr>
              <p:nvPr/>
            </p:nvSpPr>
            <p:spPr bwMode="auto">
              <a:xfrm flipV="1">
                <a:off x="3023" y="2356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 flipV="1">
                <a:off x="3023" y="2333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 flipV="1">
                <a:off x="3023" y="2310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 flipV="1">
                <a:off x="3023" y="2287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8" name="Line 170"/>
              <p:cNvSpPr>
                <a:spLocks noChangeShapeType="1"/>
              </p:cNvSpPr>
              <p:nvPr/>
            </p:nvSpPr>
            <p:spPr bwMode="auto">
              <a:xfrm flipV="1">
                <a:off x="3023" y="2264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 flipV="1">
                <a:off x="3023" y="2241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0" name="Line 172"/>
              <p:cNvSpPr>
                <a:spLocks noChangeShapeType="1"/>
              </p:cNvSpPr>
              <p:nvPr/>
            </p:nvSpPr>
            <p:spPr bwMode="auto">
              <a:xfrm flipV="1">
                <a:off x="3023" y="2218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1" name="Line 173"/>
              <p:cNvSpPr>
                <a:spLocks noChangeShapeType="1"/>
              </p:cNvSpPr>
              <p:nvPr/>
            </p:nvSpPr>
            <p:spPr bwMode="auto">
              <a:xfrm flipV="1">
                <a:off x="3023" y="2195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2" name="Line 174"/>
              <p:cNvSpPr>
                <a:spLocks noChangeShapeType="1"/>
              </p:cNvSpPr>
              <p:nvPr/>
            </p:nvSpPr>
            <p:spPr bwMode="auto">
              <a:xfrm flipV="1">
                <a:off x="3023" y="2172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3" name="Line 175"/>
              <p:cNvSpPr>
                <a:spLocks noChangeShapeType="1"/>
              </p:cNvSpPr>
              <p:nvPr/>
            </p:nvSpPr>
            <p:spPr bwMode="auto">
              <a:xfrm flipV="1">
                <a:off x="3023" y="2149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4" name="Line 176"/>
              <p:cNvSpPr>
                <a:spLocks noChangeShapeType="1"/>
              </p:cNvSpPr>
              <p:nvPr/>
            </p:nvSpPr>
            <p:spPr bwMode="auto">
              <a:xfrm flipV="1">
                <a:off x="3023" y="2126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5" name="Line 177"/>
              <p:cNvSpPr>
                <a:spLocks noChangeShapeType="1"/>
              </p:cNvSpPr>
              <p:nvPr/>
            </p:nvSpPr>
            <p:spPr bwMode="auto">
              <a:xfrm flipV="1">
                <a:off x="3023" y="2103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6" name="Line 178"/>
              <p:cNvSpPr>
                <a:spLocks noChangeShapeType="1"/>
              </p:cNvSpPr>
              <p:nvPr/>
            </p:nvSpPr>
            <p:spPr bwMode="auto">
              <a:xfrm flipV="1">
                <a:off x="3023" y="2079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7" name="Line 179"/>
              <p:cNvSpPr>
                <a:spLocks noChangeShapeType="1"/>
              </p:cNvSpPr>
              <p:nvPr/>
            </p:nvSpPr>
            <p:spPr bwMode="auto">
              <a:xfrm flipV="1">
                <a:off x="3023" y="2056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8" name="Line 180"/>
              <p:cNvSpPr>
                <a:spLocks noChangeShapeType="1"/>
              </p:cNvSpPr>
              <p:nvPr/>
            </p:nvSpPr>
            <p:spPr bwMode="auto">
              <a:xfrm flipV="1">
                <a:off x="3023" y="2033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9" name="Line 181"/>
              <p:cNvSpPr>
                <a:spLocks noChangeShapeType="1"/>
              </p:cNvSpPr>
              <p:nvPr/>
            </p:nvSpPr>
            <p:spPr bwMode="auto">
              <a:xfrm flipV="1">
                <a:off x="3023" y="2010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0" name="Line 182"/>
              <p:cNvSpPr>
                <a:spLocks noChangeShapeType="1"/>
              </p:cNvSpPr>
              <p:nvPr/>
            </p:nvSpPr>
            <p:spPr bwMode="auto">
              <a:xfrm flipV="1">
                <a:off x="3023" y="1987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1" name="Line 183"/>
              <p:cNvSpPr>
                <a:spLocks noChangeShapeType="1"/>
              </p:cNvSpPr>
              <p:nvPr/>
            </p:nvSpPr>
            <p:spPr bwMode="auto">
              <a:xfrm flipV="1">
                <a:off x="3023" y="1964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2" name="Line 184"/>
              <p:cNvSpPr>
                <a:spLocks noChangeShapeType="1"/>
              </p:cNvSpPr>
              <p:nvPr/>
            </p:nvSpPr>
            <p:spPr bwMode="auto">
              <a:xfrm flipV="1">
                <a:off x="3023" y="1941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3" name="Line 185"/>
              <p:cNvSpPr>
                <a:spLocks noChangeShapeType="1"/>
              </p:cNvSpPr>
              <p:nvPr/>
            </p:nvSpPr>
            <p:spPr bwMode="auto">
              <a:xfrm flipV="1">
                <a:off x="3023" y="1918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 flipV="1">
                <a:off x="3023" y="1895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5" name="Line 187"/>
              <p:cNvSpPr>
                <a:spLocks noChangeShapeType="1"/>
              </p:cNvSpPr>
              <p:nvPr/>
            </p:nvSpPr>
            <p:spPr bwMode="auto">
              <a:xfrm flipV="1">
                <a:off x="3023" y="1872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6" name="Line 188"/>
              <p:cNvSpPr>
                <a:spLocks noChangeShapeType="1"/>
              </p:cNvSpPr>
              <p:nvPr/>
            </p:nvSpPr>
            <p:spPr bwMode="auto">
              <a:xfrm flipV="1">
                <a:off x="3023" y="1849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7" name="Line 189"/>
              <p:cNvSpPr>
                <a:spLocks noChangeShapeType="1"/>
              </p:cNvSpPr>
              <p:nvPr/>
            </p:nvSpPr>
            <p:spPr bwMode="auto">
              <a:xfrm flipV="1">
                <a:off x="3023" y="1826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8" name="Line 190"/>
              <p:cNvSpPr>
                <a:spLocks noChangeShapeType="1"/>
              </p:cNvSpPr>
              <p:nvPr/>
            </p:nvSpPr>
            <p:spPr bwMode="auto">
              <a:xfrm flipV="1">
                <a:off x="3023" y="1803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 flipV="1">
                <a:off x="3023" y="1780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0" name="Line 192"/>
              <p:cNvSpPr>
                <a:spLocks noChangeShapeType="1"/>
              </p:cNvSpPr>
              <p:nvPr/>
            </p:nvSpPr>
            <p:spPr bwMode="auto">
              <a:xfrm flipV="1">
                <a:off x="3023" y="1757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1" name="Line 193"/>
              <p:cNvSpPr>
                <a:spLocks noChangeShapeType="1"/>
              </p:cNvSpPr>
              <p:nvPr/>
            </p:nvSpPr>
            <p:spPr bwMode="auto">
              <a:xfrm flipV="1">
                <a:off x="3023" y="1734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2" name="Line 194"/>
              <p:cNvSpPr>
                <a:spLocks noChangeShapeType="1"/>
              </p:cNvSpPr>
              <p:nvPr/>
            </p:nvSpPr>
            <p:spPr bwMode="auto">
              <a:xfrm flipV="1">
                <a:off x="3023" y="1711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3" name="Line 195"/>
              <p:cNvSpPr>
                <a:spLocks noChangeShapeType="1"/>
              </p:cNvSpPr>
              <p:nvPr/>
            </p:nvSpPr>
            <p:spPr bwMode="auto">
              <a:xfrm flipV="1">
                <a:off x="3023" y="1688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4" name="Line 196"/>
              <p:cNvSpPr>
                <a:spLocks noChangeShapeType="1"/>
              </p:cNvSpPr>
              <p:nvPr/>
            </p:nvSpPr>
            <p:spPr bwMode="auto">
              <a:xfrm flipV="1">
                <a:off x="3023" y="1665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5" name="Line 197"/>
              <p:cNvSpPr>
                <a:spLocks noChangeShapeType="1"/>
              </p:cNvSpPr>
              <p:nvPr/>
            </p:nvSpPr>
            <p:spPr bwMode="auto">
              <a:xfrm flipV="1">
                <a:off x="3023" y="1642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6" name="Line 198"/>
              <p:cNvSpPr>
                <a:spLocks noChangeShapeType="1"/>
              </p:cNvSpPr>
              <p:nvPr/>
            </p:nvSpPr>
            <p:spPr bwMode="auto">
              <a:xfrm flipV="1">
                <a:off x="3023" y="1619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7" name="Freeform 199"/>
              <p:cNvSpPr>
                <a:spLocks/>
              </p:cNvSpPr>
              <p:nvPr/>
            </p:nvSpPr>
            <p:spPr bwMode="auto">
              <a:xfrm>
                <a:off x="3012" y="1606"/>
                <a:ext cx="11" cy="1"/>
              </a:xfrm>
              <a:custGeom>
                <a:avLst/>
                <a:gdLst/>
                <a:ahLst/>
                <a:cxnLst>
                  <a:cxn ang="0">
                    <a:pos x="22" y="2"/>
                  </a:cxn>
                  <a:cxn ang="0">
                    <a:pos x="22" y="0"/>
                  </a:cxn>
                  <a:cxn ang="0">
                    <a:pos x="0" y="0"/>
                  </a:cxn>
                </a:cxnLst>
                <a:rect l="0" t="0" r="r" b="b"/>
                <a:pathLst>
                  <a:path w="22" h="2">
                    <a:moveTo>
                      <a:pt x="22" y="2"/>
                    </a:moveTo>
                    <a:lnTo>
                      <a:pt x="22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8" name="Line 200"/>
              <p:cNvSpPr>
                <a:spLocks noChangeShapeType="1"/>
              </p:cNvSpPr>
              <p:nvPr/>
            </p:nvSpPr>
            <p:spPr bwMode="auto">
              <a:xfrm flipH="1">
                <a:off x="2989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9" name="Line 201"/>
              <p:cNvSpPr>
                <a:spLocks noChangeShapeType="1"/>
              </p:cNvSpPr>
              <p:nvPr/>
            </p:nvSpPr>
            <p:spPr bwMode="auto">
              <a:xfrm flipH="1">
                <a:off x="2966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0" name="Line 202"/>
              <p:cNvSpPr>
                <a:spLocks noChangeShapeType="1"/>
              </p:cNvSpPr>
              <p:nvPr/>
            </p:nvSpPr>
            <p:spPr bwMode="auto">
              <a:xfrm flipH="1">
                <a:off x="2943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1" name="Line 203"/>
              <p:cNvSpPr>
                <a:spLocks noChangeShapeType="1"/>
              </p:cNvSpPr>
              <p:nvPr/>
            </p:nvSpPr>
            <p:spPr bwMode="auto">
              <a:xfrm flipH="1">
                <a:off x="2920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2" name="Line 204"/>
              <p:cNvSpPr>
                <a:spLocks noChangeShapeType="1"/>
              </p:cNvSpPr>
              <p:nvPr/>
            </p:nvSpPr>
            <p:spPr bwMode="auto">
              <a:xfrm flipH="1">
                <a:off x="2897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3" name="Line 205"/>
              <p:cNvSpPr>
                <a:spLocks noChangeShapeType="1"/>
              </p:cNvSpPr>
              <p:nvPr/>
            </p:nvSpPr>
            <p:spPr bwMode="auto">
              <a:xfrm flipH="1">
                <a:off x="2874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4" name="Line 206"/>
              <p:cNvSpPr>
                <a:spLocks noChangeShapeType="1"/>
              </p:cNvSpPr>
              <p:nvPr/>
            </p:nvSpPr>
            <p:spPr bwMode="auto">
              <a:xfrm flipH="1">
                <a:off x="2851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5" name="Line 207"/>
              <p:cNvSpPr>
                <a:spLocks noChangeShapeType="1"/>
              </p:cNvSpPr>
              <p:nvPr/>
            </p:nvSpPr>
            <p:spPr bwMode="auto">
              <a:xfrm flipH="1">
                <a:off x="2828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6" name="Line 208"/>
              <p:cNvSpPr>
                <a:spLocks noChangeShapeType="1"/>
              </p:cNvSpPr>
              <p:nvPr/>
            </p:nvSpPr>
            <p:spPr bwMode="auto">
              <a:xfrm flipH="1">
                <a:off x="2805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7" name="Line 209"/>
              <p:cNvSpPr>
                <a:spLocks noChangeShapeType="1"/>
              </p:cNvSpPr>
              <p:nvPr/>
            </p:nvSpPr>
            <p:spPr bwMode="auto">
              <a:xfrm flipH="1">
                <a:off x="2782" y="160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8" name="Line 210"/>
              <p:cNvSpPr>
                <a:spLocks noChangeShapeType="1"/>
              </p:cNvSpPr>
              <p:nvPr/>
            </p:nvSpPr>
            <p:spPr bwMode="auto">
              <a:xfrm flipH="1">
                <a:off x="2759" y="160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9" name="Line 211"/>
              <p:cNvSpPr>
                <a:spLocks noChangeShapeType="1"/>
              </p:cNvSpPr>
              <p:nvPr/>
            </p:nvSpPr>
            <p:spPr bwMode="auto">
              <a:xfrm flipH="1">
                <a:off x="2736" y="160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0" name="Line 212"/>
              <p:cNvSpPr>
                <a:spLocks noChangeShapeType="1"/>
              </p:cNvSpPr>
              <p:nvPr/>
            </p:nvSpPr>
            <p:spPr bwMode="auto">
              <a:xfrm flipH="1">
                <a:off x="2713" y="160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1" name="Line 213"/>
              <p:cNvSpPr>
                <a:spLocks noChangeShapeType="1"/>
              </p:cNvSpPr>
              <p:nvPr/>
            </p:nvSpPr>
            <p:spPr bwMode="auto">
              <a:xfrm flipH="1">
                <a:off x="2690" y="160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2" name="Line 214"/>
              <p:cNvSpPr>
                <a:spLocks noChangeShapeType="1"/>
              </p:cNvSpPr>
              <p:nvPr/>
            </p:nvSpPr>
            <p:spPr bwMode="auto">
              <a:xfrm flipH="1">
                <a:off x="2667" y="160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3" name="Line 215"/>
              <p:cNvSpPr>
                <a:spLocks noChangeShapeType="1"/>
              </p:cNvSpPr>
              <p:nvPr/>
            </p:nvSpPr>
            <p:spPr bwMode="auto">
              <a:xfrm flipH="1">
                <a:off x="2644" y="160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4" name="Line 216"/>
              <p:cNvSpPr>
                <a:spLocks noChangeShapeType="1"/>
              </p:cNvSpPr>
              <p:nvPr/>
            </p:nvSpPr>
            <p:spPr bwMode="auto">
              <a:xfrm flipH="1">
                <a:off x="2621" y="160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5" name="Line 217"/>
              <p:cNvSpPr>
                <a:spLocks noChangeShapeType="1"/>
              </p:cNvSpPr>
              <p:nvPr/>
            </p:nvSpPr>
            <p:spPr bwMode="auto">
              <a:xfrm flipH="1">
                <a:off x="2598" y="160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6" name="Line 218"/>
              <p:cNvSpPr>
                <a:spLocks noChangeShapeType="1"/>
              </p:cNvSpPr>
              <p:nvPr/>
            </p:nvSpPr>
            <p:spPr bwMode="auto">
              <a:xfrm flipH="1">
                <a:off x="2575" y="160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7" name="Line 219"/>
              <p:cNvSpPr>
                <a:spLocks noChangeShapeType="1"/>
              </p:cNvSpPr>
              <p:nvPr/>
            </p:nvSpPr>
            <p:spPr bwMode="auto">
              <a:xfrm flipH="1">
                <a:off x="2552" y="160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8" name="Line 220"/>
              <p:cNvSpPr>
                <a:spLocks noChangeShapeType="1"/>
              </p:cNvSpPr>
              <p:nvPr/>
            </p:nvSpPr>
            <p:spPr bwMode="auto">
              <a:xfrm flipH="1">
                <a:off x="2528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9" name="Line 221"/>
              <p:cNvSpPr>
                <a:spLocks noChangeShapeType="1"/>
              </p:cNvSpPr>
              <p:nvPr/>
            </p:nvSpPr>
            <p:spPr bwMode="auto">
              <a:xfrm flipH="1">
                <a:off x="2505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0" name="Line 222"/>
              <p:cNvSpPr>
                <a:spLocks noChangeShapeType="1"/>
              </p:cNvSpPr>
              <p:nvPr/>
            </p:nvSpPr>
            <p:spPr bwMode="auto">
              <a:xfrm flipH="1">
                <a:off x="2482" y="160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271" name="Line 223"/>
            <p:cNvSpPr>
              <a:spLocks noChangeShapeType="1"/>
            </p:cNvSpPr>
            <p:nvPr/>
          </p:nvSpPr>
          <p:spPr bwMode="auto">
            <a:xfrm flipH="1">
              <a:off x="2459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2" name="Line 224"/>
            <p:cNvSpPr>
              <a:spLocks noChangeShapeType="1"/>
            </p:cNvSpPr>
            <p:nvPr/>
          </p:nvSpPr>
          <p:spPr bwMode="auto">
            <a:xfrm flipH="1">
              <a:off x="2436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3" name="Line 225"/>
            <p:cNvSpPr>
              <a:spLocks noChangeShapeType="1"/>
            </p:cNvSpPr>
            <p:nvPr/>
          </p:nvSpPr>
          <p:spPr bwMode="auto">
            <a:xfrm flipH="1">
              <a:off x="2413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4" name="Line 226"/>
            <p:cNvSpPr>
              <a:spLocks noChangeShapeType="1"/>
            </p:cNvSpPr>
            <p:nvPr/>
          </p:nvSpPr>
          <p:spPr bwMode="auto">
            <a:xfrm flipH="1">
              <a:off x="2390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5" name="Line 227"/>
            <p:cNvSpPr>
              <a:spLocks noChangeShapeType="1"/>
            </p:cNvSpPr>
            <p:nvPr/>
          </p:nvSpPr>
          <p:spPr bwMode="auto">
            <a:xfrm flipH="1">
              <a:off x="2367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6" name="Line 228"/>
            <p:cNvSpPr>
              <a:spLocks noChangeShapeType="1"/>
            </p:cNvSpPr>
            <p:nvPr/>
          </p:nvSpPr>
          <p:spPr bwMode="auto">
            <a:xfrm flipH="1">
              <a:off x="2344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7" name="Line 229"/>
            <p:cNvSpPr>
              <a:spLocks noChangeShapeType="1"/>
            </p:cNvSpPr>
            <p:nvPr/>
          </p:nvSpPr>
          <p:spPr bwMode="auto">
            <a:xfrm flipH="1">
              <a:off x="2321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8" name="Line 230"/>
            <p:cNvSpPr>
              <a:spLocks noChangeShapeType="1"/>
            </p:cNvSpPr>
            <p:nvPr/>
          </p:nvSpPr>
          <p:spPr bwMode="auto">
            <a:xfrm flipH="1">
              <a:off x="2298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9" name="Line 231"/>
            <p:cNvSpPr>
              <a:spLocks noChangeShapeType="1"/>
            </p:cNvSpPr>
            <p:nvPr/>
          </p:nvSpPr>
          <p:spPr bwMode="auto">
            <a:xfrm flipH="1">
              <a:off x="2275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0" name="Line 232"/>
            <p:cNvSpPr>
              <a:spLocks noChangeShapeType="1"/>
            </p:cNvSpPr>
            <p:nvPr/>
          </p:nvSpPr>
          <p:spPr bwMode="auto">
            <a:xfrm flipH="1">
              <a:off x="2252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1" name="Line 233"/>
            <p:cNvSpPr>
              <a:spLocks noChangeShapeType="1"/>
            </p:cNvSpPr>
            <p:nvPr/>
          </p:nvSpPr>
          <p:spPr bwMode="auto">
            <a:xfrm flipH="1">
              <a:off x="2229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2" name="Line 234"/>
            <p:cNvSpPr>
              <a:spLocks noChangeShapeType="1"/>
            </p:cNvSpPr>
            <p:nvPr/>
          </p:nvSpPr>
          <p:spPr bwMode="auto">
            <a:xfrm flipH="1">
              <a:off x="2206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3" name="Line 235"/>
            <p:cNvSpPr>
              <a:spLocks noChangeShapeType="1"/>
            </p:cNvSpPr>
            <p:nvPr/>
          </p:nvSpPr>
          <p:spPr bwMode="auto">
            <a:xfrm flipH="1">
              <a:off x="2183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4" name="Line 236"/>
            <p:cNvSpPr>
              <a:spLocks noChangeShapeType="1"/>
            </p:cNvSpPr>
            <p:nvPr/>
          </p:nvSpPr>
          <p:spPr bwMode="auto">
            <a:xfrm flipH="1">
              <a:off x="2160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5" name="Line 237"/>
            <p:cNvSpPr>
              <a:spLocks noChangeShapeType="1"/>
            </p:cNvSpPr>
            <p:nvPr/>
          </p:nvSpPr>
          <p:spPr bwMode="auto">
            <a:xfrm flipH="1">
              <a:off x="2137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6" name="Line 238"/>
            <p:cNvSpPr>
              <a:spLocks noChangeShapeType="1"/>
            </p:cNvSpPr>
            <p:nvPr/>
          </p:nvSpPr>
          <p:spPr bwMode="auto">
            <a:xfrm flipH="1">
              <a:off x="2114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7" name="Line 239"/>
            <p:cNvSpPr>
              <a:spLocks noChangeShapeType="1"/>
            </p:cNvSpPr>
            <p:nvPr/>
          </p:nvSpPr>
          <p:spPr bwMode="auto">
            <a:xfrm flipH="1">
              <a:off x="2091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8" name="Line 240"/>
            <p:cNvSpPr>
              <a:spLocks noChangeShapeType="1"/>
            </p:cNvSpPr>
            <p:nvPr/>
          </p:nvSpPr>
          <p:spPr bwMode="auto">
            <a:xfrm flipH="1">
              <a:off x="2068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9" name="Line 241"/>
            <p:cNvSpPr>
              <a:spLocks noChangeShapeType="1"/>
            </p:cNvSpPr>
            <p:nvPr/>
          </p:nvSpPr>
          <p:spPr bwMode="auto">
            <a:xfrm flipH="1">
              <a:off x="2045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0" name="Line 242"/>
            <p:cNvSpPr>
              <a:spLocks noChangeShapeType="1"/>
            </p:cNvSpPr>
            <p:nvPr/>
          </p:nvSpPr>
          <p:spPr bwMode="auto">
            <a:xfrm flipH="1">
              <a:off x="2022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1" name="Line 243"/>
            <p:cNvSpPr>
              <a:spLocks noChangeShapeType="1"/>
            </p:cNvSpPr>
            <p:nvPr/>
          </p:nvSpPr>
          <p:spPr bwMode="auto">
            <a:xfrm flipH="1">
              <a:off x="1999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2" name="Line 244"/>
            <p:cNvSpPr>
              <a:spLocks noChangeShapeType="1"/>
            </p:cNvSpPr>
            <p:nvPr/>
          </p:nvSpPr>
          <p:spPr bwMode="auto">
            <a:xfrm flipH="1">
              <a:off x="1975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3" name="Line 245"/>
            <p:cNvSpPr>
              <a:spLocks noChangeShapeType="1"/>
            </p:cNvSpPr>
            <p:nvPr/>
          </p:nvSpPr>
          <p:spPr bwMode="auto">
            <a:xfrm flipH="1">
              <a:off x="1952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4" name="Line 246"/>
            <p:cNvSpPr>
              <a:spLocks noChangeShapeType="1"/>
            </p:cNvSpPr>
            <p:nvPr/>
          </p:nvSpPr>
          <p:spPr bwMode="auto">
            <a:xfrm flipH="1">
              <a:off x="1929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5" name="Line 247"/>
            <p:cNvSpPr>
              <a:spLocks noChangeShapeType="1"/>
            </p:cNvSpPr>
            <p:nvPr/>
          </p:nvSpPr>
          <p:spPr bwMode="auto">
            <a:xfrm flipH="1">
              <a:off x="1906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6" name="Line 248"/>
            <p:cNvSpPr>
              <a:spLocks noChangeShapeType="1"/>
            </p:cNvSpPr>
            <p:nvPr/>
          </p:nvSpPr>
          <p:spPr bwMode="auto">
            <a:xfrm flipH="1">
              <a:off x="1883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7" name="Line 249"/>
            <p:cNvSpPr>
              <a:spLocks noChangeShapeType="1"/>
            </p:cNvSpPr>
            <p:nvPr/>
          </p:nvSpPr>
          <p:spPr bwMode="auto">
            <a:xfrm flipH="1">
              <a:off x="1860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8" name="Line 250"/>
            <p:cNvSpPr>
              <a:spLocks noChangeShapeType="1"/>
            </p:cNvSpPr>
            <p:nvPr/>
          </p:nvSpPr>
          <p:spPr bwMode="auto">
            <a:xfrm flipH="1">
              <a:off x="1837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9" name="Line 251"/>
            <p:cNvSpPr>
              <a:spLocks noChangeShapeType="1"/>
            </p:cNvSpPr>
            <p:nvPr/>
          </p:nvSpPr>
          <p:spPr bwMode="auto">
            <a:xfrm flipH="1">
              <a:off x="1814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0" name="Line 252"/>
            <p:cNvSpPr>
              <a:spLocks noChangeShapeType="1"/>
            </p:cNvSpPr>
            <p:nvPr/>
          </p:nvSpPr>
          <p:spPr bwMode="auto">
            <a:xfrm flipH="1">
              <a:off x="1791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1" name="Line 253"/>
            <p:cNvSpPr>
              <a:spLocks noChangeShapeType="1"/>
            </p:cNvSpPr>
            <p:nvPr/>
          </p:nvSpPr>
          <p:spPr bwMode="auto">
            <a:xfrm flipH="1">
              <a:off x="1768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2" name="Line 254"/>
            <p:cNvSpPr>
              <a:spLocks noChangeShapeType="1"/>
            </p:cNvSpPr>
            <p:nvPr/>
          </p:nvSpPr>
          <p:spPr bwMode="auto">
            <a:xfrm flipH="1">
              <a:off x="1745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3" name="Line 255"/>
            <p:cNvSpPr>
              <a:spLocks noChangeShapeType="1"/>
            </p:cNvSpPr>
            <p:nvPr/>
          </p:nvSpPr>
          <p:spPr bwMode="auto">
            <a:xfrm flipH="1">
              <a:off x="1722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4" name="Line 256"/>
            <p:cNvSpPr>
              <a:spLocks noChangeShapeType="1"/>
            </p:cNvSpPr>
            <p:nvPr/>
          </p:nvSpPr>
          <p:spPr bwMode="auto">
            <a:xfrm flipH="1">
              <a:off x="1699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5" name="Line 257"/>
            <p:cNvSpPr>
              <a:spLocks noChangeShapeType="1"/>
            </p:cNvSpPr>
            <p:nvPr/>
          </p:nvSpPr>
          <p:spPr bwMode="auto">
            <a:xfrm flipH="1">
              <a:off x="1676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6" name="Line 258"/>
            <p:cNvSpPr>
              <a:spLocks noChangeShapeType="1"/>
            </p:cNvSpPr>
            <p:nvPr/>
          </p:nvSpPr>
          <p:spPr bwMode="auto">
            <a:xfrm flipH="1">
              <a:off x="1653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7" name="Line 259"/>
            <p:cNvSpPr>
              <a:spLocks noChangeShapeType="1"/>
            </p:cNvSpPr>
            <p:nvPr/>
          </p:nvSpPr>
          <p:spPr bwMode="auto">
            <a:xfrm flipH="1">
              <a:off x="1630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8" name="Line 260"/>
            <p:cNvSpPr>
              <a:spLocks noChangeShapeType="1"/>
            </p:cNvSpPr>
            <p:nvPr/>
          </p:nvSpPr>
          <p:spPr bwMode="auto">
            <a:xfrm flipH="1">
              <a:off x="1607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9" name="Line 261"/>
            <p:cNvSpPr>
              <a:spLocks noChangeShapeType="1"/>
            </p:cNvSpPr>
            <p:nvPr/>
          </p:nvSpPr>
          <p:spPr bwMode="auto">
            <a:xfrm flipH="1">
              <a:off x="1584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0" name="Line 262"/>
            <p:cNvSpPr>
              <a:spLocks noChangeShapeType="1"/>
            </p:cNvSpPr>
            <p:nvPr/>
          </p:nvSpPr>
          <p:spPr bwMode="auto">
            <a:xfrm flipH="1">
              <a:off x="1561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1" name="Line 263"/>
            <p:cNvSpPr>
              <a:spLocks noChangeShapeType="1"/>
            </p:cNvSpPr>
            <p:nvPr/>
          </p:nvSpPr>
          <p:spPr bwMode="auto">
            <a:xfrm flipH="1">
              <a:off x="1538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2" name="Line 264"/>
            <p:cNvSpPr>
              <a:spLocks noChangeShapeType="1"/>
            </p:cNvSpPr>
            <p:nvPr/>
          </p:nvSpPr>
          <p:spPr bwMode="auto">
            <a:xfrm flipH="1">
              <a:off x="1515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3" name="Line 265"/>
            <p:cNvSpPr>
              <a:spLocks noChangeShapeType="1"/>
            </p:cNvSpPr>
            <p:nvPr/>
          </p:nvSpPr>
          <p:spPr bwMode="auto">
            <a:xfrm flipH="1">
              <a:off x="1492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4" name="Line 266"/>
            <p:cNvSpPr>
              <a:spLocks noChangeShapeType="1"/>
            </p:cNvSpPr>
            <p:nvPr/>
          </p:nvSpPr>
          <p:spPr bwMode="auto">
            <a:xfrm flipH="1">
              <a:off x="1469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5" name="Line 267"/>
            <p:cNvSpPr>
              <a:spLocks noChangeShapeType="1"/>
            </p:cNvSpPr>
            <p:nvPr/>
          </p:nvSpPr>
          <p:spPr bwMode="auto">
            <a:xfrm flipH="1">
              <a:off x="1446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6" name="Line 268"/>
            <p:cNvSpPr>
              <a:spLocks noChangeShapeType="1"/>
            </p:cNvSpPr>
            <p:nvPr/>
          </p:nvSpPr>
          <p:spPr bwMode="auto">
            <a:xfrm flipH="1">
              <a:off x="1422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7" name="Line 269"/>
            <p:cNvSpPr>
              <a:spLocks noChangeShapeType="1"/>
            </p:cNvSpPr>
            <p:nvPr/>
          </p:nvSpPr>
          <p:spPr bwMode="auto">
            <a:xfrm flipH="1">
              <a:off x="1399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8" name="Line 270"/>
            <p:cNvSpPr>
              <a:spLocks noChangeShapeType="1"/>
            </p:cNvSpPr>
            <p:nvPr/>
          </p:nvSpPr>
          <p:spPr bwMode="auto">
            <a:xfrm flipH="1">
              <a:off x="1376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9" name="Line 271"/>
            <p:cNvSpPr>
              <a:spLocks noChangeShapeType="1"/>
            </p:cNvSpPr>
            <p:nvPr/>
          </p:nvSpPr>
          <p:spPr bwMode="auto">
            <a:xfrm flipH="1">
              <a:off x="1353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0" name="Line 272"/>
            <p:cNvSpPr>
              <a:spLocks noChangeShapeType="1"/>
            </p:cNvSpPr>
            <p:nvPr/>
          </p:nvSpPr>
          <p:spPr bwMode="auto">
            <a:xfrm flipH="1">
              <a:off x="1330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1" name="Line 273"/>
            <p:cNvSpPr>
              <a:spLocks noChangeShapeType="1"/>
            </p:cNvSpPr>
            <p:nvPr/>
          </p:nvSpPr>
          <p:spPr bwMode="auto">
            <a:xfrm flipH="1">
              <a:off x="1307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2" name="Line 274"/>
            <p:cNvSpPr>
              <a:spLocks noChangeShapeType="1"/>
            </p:cNvSpPr>
            <p:nvPr/>
          </p:nvSpPr>
          <p:spPr bwMode="auto">
            <a:xfrm flipH="1">
              <a:off x="1284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3" name="Line 275"/>
            <p:cNvSpPr>
              <a:spLocks noChangeShapeType="1"/>
            </p:cNvSpPr>
            <p:nvPr/>
          </p:nvSpPr>
          <p:spPr bwMode="auto">
            <a:xfrm flipH="1">
              <a:off x="1261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4" name="Line 276"/>
            <p:cNvSpPr>
              <a:spLocks noChangeShapeType="1"/>
            </p:cNvSpPr>
            <p:nvPr/>
          </p:nvSpPr>
          <p:spPr bwMode="auto">
            <a:xfrm flipH="1">
              <a:off x="1238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5" name="Line 277"/>
            <p:cNvSpPr>
              <a:spLocks noChangeShapeType="1"/>
            </p:cNvSpPr>
            <p:nvPr/>
          </p:nvSpPr>
          <p:spPr bwMode="auto">
            <a:xfrm flipH="1">
              <a:off x="1215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6" name="Line 278"/>
            <p:cNvSpPr>
              <a:spLocks noChangeShapeType="1"/>
            </p:cNvSpPr>
            <p:nvPr/>
          </p:nvSpPr>
          <p:spPr bwMode="auto">
            <a:xfrm flipH="1">
              <a:off x="1192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7" name="Line 279"/>
            <p:cNvSpPr>
              <a:spLocks noChangeShapeType="1"/>
            </p:cNvSpPr>
            <p:nvPr/>
          </p:nvSpPr>
          <p:spPr bwMode="auto">
            <a:xfrm flipH="1">
              <a:off x="1169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8" name="Line 280"/>
            <p:cNvSpPr>
              <a:spLocks noChangeShapeType="1"/>
            </p:cNvSpPr>
            <p:nvPr/>
          </p:nvSpPr>
          <p:spPr bwMode="auto">
            <a:xfrm flipH="1">
              <a:off x="1146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9" name="Line 281"/>
            <p:cNvSpPr>
              <a:spLocks noChangeShapeType="1"/>
            </p:cNvSpPr>
            <p:nvPr/>
          </p:nvSpPr>
          <p:spPr bwMode="auto">
            <a:xfrm flipH="1">
              <a:off x="1123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0" name="Line 282"/>
            <p:cNvSpPr>
              <a:spLocks noChangeShapeType="1"/>
            </p:cNvSpPr>
            <p:nvPr/>
          </p:nvSpPr>
          <p:spPr bwMode="auto">
            <a:xfrm flipH="1">
              <a:off x="1100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1" name="Line 283"/>
            <p:cNvSpPr>
              <a:spLocks noChangeShapeType="1"/>
            </p:cNvSpPr>
            <p:nvPr/>
          </p:nvSpPr>
          <p:spPr bwMode="auto">
            <a:xfrm flipH="1">
              <a:off x="1077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2" name="Line 284"/>
            <p:cNvSpPr>
              <a:spLocks noChangeShapeType="1"/>
            </p:cNvSpPr>
            <p:nvPr/>
          </p:nvSpPr>
          <p:spPr bwMode="auto">
            <a:xfrm flipH="1">
              <a:off x="1054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3" name="Line 285"/>
            <p:cNvSpPr>
              <a:spLocks noChangeShapeType="1"/>
            </p:cNvSpPr>
            <p:nvPr/>
          </p:nvSpPr>
          <p:spPr bwMode="auto">
            <a:xfrm flipH="1">
              <a:off x="1031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4" name="Line 286"/>
            <p:cNvSpPr>
              <a:spLocks noChangeShapeType="1"/>
            </p:cNvSpPr>
            <p:nvPr/>
          </p:nvSpPr>
          <p:spPr bwMode="auto">
            <a:xfrm flipH="1">
              <a:off x="1008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5" name="Line 287"/>
            <p:cNvSpPr>
              <a:spLocks noChangeShapeType="1"/>
            </p:cNvSpPr>
            <p:nvPr/>
          </p:nvSpPr>
          <p:spPr bwMode="auto">
            <a:xfrm flipH="1">
              <a:off x="985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6" name="Line 288"/>
            <p:cNvSpPr>
              <a:spLocks noChangeShapeType="1"/>
            </p:cNvSpPr>
            <p:nvPr/>
          </p:nvSpPr>
          <p:spPr bwMode="auto">
            <a:xfrm flipH="1">
              <a:off x="962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7" name="Line 289"/>
            <p:cNvSpPr>
              <a:spLocks noChangeShapeType="1"/>
            </p:cNvSpPr>
            <p:nvPr/>
          </p:nvSpPr>
          <p:spPr bwMode="auto">
            <a:xfrm flipH="1">
              <a:off x="939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8" name="Line 290"/>
            <p:cNvSpPr>
              <a:spLocks noChangeShapeType="1"/>
            </p:cNvSpPr>
            <p:nvPr/>
          </p:nvSpPr>
          <p:spPr bwMode="auto">
            <a:xfrm flipH="1">
              <a:off x="916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9" name="Line 291"/>
            <p:cNvSpPr>
              <a:spLocks noChangeShapeType="1"/>
            </p:cNvSpPr>
            <p:nvPr/>
          </p:nvSpPr>
          <p:spPr bwMode="auto">
            <a:xfrm flipH="1">
              <a:off x="893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0" name="Line 292"/>
            <p:cNvSpPr>
              <a:spLocks noChangeShapeType="1"/>
            </p:cNvSpPr>
            <p:nvPr/>
          </p:nvSpPr>
          <p:spPr bwMode="auto">
            <a:xfrm flipH="1">
              <a:off x="869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1" name="Line 293"/>
            <p:cNvSpPr>
              <a:spLocks noChangeShapeType="1"/>
            </p:cNvSpPr>
            <p:nvPr/>
          </p:nvSpPr>
          <p:spPr bwMode="auto">
            <a:xfrm flipH="1">
              <a:off x="846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2" name="Line 294"/>
            <p:cNvSpPr>
              <a:spLocks noChangeShapeType="1"/>
            </p:cNvSpPr>
            <p:nvPr/>
          </p:nvSpPr>
          <p:spPr bwMode="auto">
            <a:xfrm flipH="1">
              <a:off x="823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3" name="Line 295"/>
            <p:cNvSpPr>
              <a:spLocks noChangeShapeType="1"/>
            </p:cNvSpPr>
            <p:nvPr/>
          </p:nvSpPr>
          <p:spPr bwMode="auto">
            <a:xfrm flipH="1">
              <a:off x="800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4" name="Line 296"/>
            <p:cNvSpPr>
              <a:spLocks noChangeShapeType="1"/>
            </p:cNvSpPr>
            <p:nvPr/>
          </p:nvSpPr>
          <p:spPr bwMode="auto">
            <a:xfrm flipH="1">
              <a:off x="777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5" name="Line 297"/>
            <p:cNvSpPr>
              <a:spLocks noChangeShapeType="1"/>
            </p:cNvSpPr>
            <p:nvPr/>
          </p:nvSpPr>
          <p:spPr bwMode="auto">
            <a:xfrm flipH="1">
              <a:off x="754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6" name="Line 298"/>
            <p:cNvSpPr>
              <a:spLocks noChangeShapeType="1"/>
            </p:cNvSpPr>
            <p:nvPr/>
          </p:nvSpPr>
          <p:spPr bwMode="auto">
            <a:xfrm flipH="1">
              <a:off x="731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7" name="Line 299"/>
            <p:cNvSpPr>
              <a:spLocks noChangeShapeType="1"/>
            </p:cNvSpPr>
            <p:nvPr/>
          </p:nvSpPr>
          <p:spPr bwMode="auto">
            <a:xfrm flipH="1">
              <a:off x="708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8" name="Line 300"/>
            <p:cNvSpPr>
              <a:spLocks noChangeShapeType="1"/>
            </p:cNvSpPr>
            <p:nvPr/>
          </p:nvSpPr>
          <p:spPr bwMode="auto">
            <a:xfrm flipH="1">
              <a:off x="685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9" name="Line 301"/>
            <p:cNvSpPr>
              <a:spLocks noChangeShapeType="1"/>
            </p:cNvSpPr>
            <p:nvPr/>
          </p:nvSpPr>
          <p:spPr bwMode="auto">
            <a:xfrm flipH="1">
              <a:off x="662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0" name="Line 302"/>
            <p:cNvSpPr>
              <a:spLocks noChangeShapeType="1"/>
            </p:cNvSpPr>
            <p:nvPr/>
          </p:nvSpPr>
          <p:spPr bwMode="auto">
            <a:xfrm flipH="1">
              <a:off x="639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1" name="Line 303"/>
            <p:cNvSpPr>
              <a:spLocks noChangeShapeType="1"/>
            </p:cNvSpPr>
            <p:nvPr/>
          </p:nvSpPr>
          <p:spPr bwMode="auto">
            <a:xfrm flipH="1">
              <a:off x="616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2" name="Line 304"/>
            <p:cNvSpPr>
              <a:spLocks noChangeShapeType="1"/>
            </p:cNvSpPr>
            <p:nvPr/>
          </p:nvSpPr>
          <p:spPr bwMode="auto">
            <a:xfrm flipH="1">
              <a:off x="593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3" name="Line 305"/>
            <p:cNvSpPr>
              <a:spLocks noChangeShapeType="1"/>
            </p:cNvSpPr>
            <p:nvPr/>
          </p:nvSpPr>
          <p:spPr bwMode="auto">
            <a:xfrm flipH="1">
              <a:off x="570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4" name="Line 306"/>
            <p:cNvSpPr>
              <a:spLocks noChangeShapeType="1"/>
            </p:cNvSpPr>
            <p:nvPr/>
          </p:nvSpPr>
          <p:spPr bwMode="auto">
            <a:xfrm flipH="1">
              <a:off x="547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5" name="Line 307"/>
            <p:cNvSpPr>
              <a:spLocks noChangeShapeType="1"/>
            </p:cNvSpPr>
            <p:nvPr/>
          </p:nvSpPr>
          <p:spPr bwMode="auto">
            <a:xfrm flipH="1">
              <a:off x="524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6" name="Line 308"/>
            <p:cNvSpPr>
              <a:spLocks noChangeShapeType="1"/>
            </p:cNvSpPr>
            <p:nvPr/>
          </p:nvSpPr>
          <p:spPr bwMode="auto">
            <a:xfrm flipH="1">
              <a:off x="501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7" name="Line 309"/>
            <p:cNvSpPr>
              <a:spLocks noChangeShapeType="1"/>
            </p:cNvSpPr>
            <p:nvPr/>
          </p:nvSpPr>
          <p:spPr bwMode="auto">
            <a:xfrm flipH="1">
              <a:off x="478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8" name="Line 310"/>
            <p:cNvSpPr>
              <a:spLocks noChangeShapeType="1"/>
            </p:cNvSpPr>
            <p:nvPr/>
          </p:nvSpPr>
          <p:spPr bwMode="auto">
            <a:xfrm flipH="1">
              <a:off x="455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9" name="Line 311"/>
            <p:cNvSpPr>
              <a:spLocks noChangeShapeType="1"/>
            </p:cNvSpPr>
            <p:nvPr/>
          </p:nvSpPr>
          <p:spPr bwMode="auto">
            <a:xfrm flipH="1">
              <a:off x="432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0" name="Line 312"/>
            <p:cNvSpPr>
              <a:spLocks noChangeShapeType="1"/>
            </p:cNvSpPr>
            <p:nvPr/>
          </p:nvSpPr>
          <p:spPr bwMode="auto">
            <a:xfrm flipH="1">
              <a:off x="409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1" name="Line 313"/>
            <p:cNvSpPr>
              <a:spLocks noChangeShapeType="1"/>
            </p:cNvSpPr>
            <p:nvPr/>
          </p:nvSpPr>
          <p:spPr bwMode="auto">
            <a:xfrm flipH="1">
              <a:off x="386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2" name="Line 314"/>
            <p:cNvSpPr>
              <a:spLocks noChangeShapeType="1"/>
            </p:cNvSpPr>
            <p:nvPr/>
          </p:nvSpPr>
          <p:spPr bwMode="auto">
            <a:xfrm flipH="1">
              <a:off x="363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3" name="Line 315"/>
            <p:cNvSpPr>
              <a:spLocks noChangeShapeType="1"/>
            </p:cNvSpPr>
            <p:nvPr/>
          </p:nvSpPr>
          <p:spPr bwMode="auto">
            <a:xfrm flipH="1">
              <a:off x="340" y="1606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4" name="Line 316"/>
            <p:cNvSpPr>
              <a:spLocks noChangeShapeType="1"/>
            </p:cNvSpPr>
            <p:nvPr/>
          </p:nvSpPr>
          <p:spPr bwMode="auto">
            <a:xfrm flipH="1">
              <a:off x="316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5" name="Line 317"/>
            <p:cNvSpPr>
              <a:spLocks noChangeShapeType="1"/>
            </p:cNvSpPr>
            <p:nvPr/>
          </p:nvSpPr>
          <p:spPr bwMode="auto">
            <a:xfrm flipH="1">
              <a:off x="293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6" name="Line 318"/>
            <p:cNvSpPr>
              <a:spLocks noChangeShapeType="1"/>
            </p:cNvSpPr>
            <p:nvPr/>
          </p:nvSpPr>
          <p:spPr bwMode="auto">
            <a:xfrm flipH="1">
              <a:off x="270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7" name="Line 319"/>
            <p:cNvSpPr>
              <a:spLocks noChangeShapeType="1"/>
            </p:cNvSpPr>
            <p:nvPr/>
          </p:nvSpPr>
          <p:spPr bwMode="auto">
            <a:xfrm flipH="1">
              <a:off x="247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8" name="Line 320"/>
            <p:cNvSpPr>
              <a:spLocks noChangeShapeType="1"/>
            </p:cNvSpPr>
            <p:nvPr/>
          </p:nvSpPr>
          <p:spPr bwMode="auto">
            <a:xfrm flipH="1">
              <a:off x="224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9" name="Line 321"/>
            <p:cNvSpPr>
              <a:spLocks noChangeShapeType="1"/>
            </p:cNvSpPr>
            <p:nvPr/>
          </p:nvSpPr>
          <p:spPr bwMode="auto">
            <a:xfrm flipH="1">
              <a:off x="201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0" name="Line 322"/>
            <p:cNvSpPr>
              <a:spLocks noChangeShapeType="1"/>
            </p:cNvSpPr>
            <p:nvPr/>
          </p:nvSpPr>
          <p:spPr bwMode="auto">
            <a:xfrm flipH="1">
              <a:off x="178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1" name="Line 323"/>
            <p:cNvSpPr>
              <a:spLocks noChangeShapeType="1"/>
            </p:cNvSpPr>
            <p:nvPr/>
          </p:nvSpPr>
          <p:spPr bwMode="auto">
            <a:xfrm flipH="1">
              <a:off x="155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2" name="Line 324"/>
            <p:cNvSpPr>
              <a:spLocks noChangeShapeType="1"/>
            </p:cNvSpPr>
            <p:nvPr/>
          </p:nvSpPr>
          <p:spPr bwMode="auto">
            <a:xfrm flipH="1">
              <a:off x="132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3" name="Line 325"/>
            <p:cNvSpPr>
              <a:spLocks noChangeShapeType="1"/>
            </p:cNvSpPr>
            <p:nvPr/>
          </p:nvSpPr>
          <p:spPr bwMode="auto">
            <a:xfrm flipH="1">
              <a:off x="109" y="1606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4" name="Freeform 326"/>
            <p:cNvSpPr>
              <a:spLocks/>
            </p:cNvSpPr>
            <p:nvPr/>
          </p:nvSpPr>
          <p:spPr bwMode="auto">
            <a:xfrm>
              <a:off x="97" y="1606"/>
              <a:ext cx="1" cy="1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23"/>
                </a:cxn>
              </a:cxnLst>
              <a:rect l="0" t="0" r="r" b="b"/>
              <a:pathLst>
                <a:path w="1" h="23">
                  <a:moveTo>
                    <a:pt x="1" y="0"/>
                  </a:moveTo>
                  <a:lnTo>
                    <a:pt x="0" y="0"/>
                  </a:lnTo>
                  <a:lnTo>
                    <a:pt x="0" y="23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5" name="Line 327"/>
            <p:cNvSpPr>
              <a:spLocks noChangeShapeType="1"/>
            </p:cNvSpPr>
            <p:nvPr/>
          </p:nvSpPr>
          <p:spPr bwMode="auto">
            <a:xfrm>
              <a:off x="97" y="1629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6" name="Line 328"/>
            <p:cNvSpPr>
              <a:spLocks noChangeShapeType="1"/>
            </p:cNvSpPr>
            <p:nvPr/>
          </p:nvSpPr>
          <p:spPr bwMode="auto">
            <a:xfrm>
              <a:off x="97" y="1652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7" name="Line 329"/>
            <p:cNvSpPr>
              <a:spLocks noChangeShapeType="1"/>
            </p:cNvSpPr>
            <p:nvPr/>
          </p:nvSpPr>
          <p:spPr bwMode="auto">
            <a:xfrm>
              <a:off x="97" y="1675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8" name="Line 330"/>
            <p:cNvSpPr>
              <a:spLocks noChangeShapeType="1"/>
            </p:cNvSpPr>
            <p:nvPr/>
          </p:nvSpPr>
          <p:spPr bwMode="auto">
            <a:xfrm>
              <a:off x="97" y="1698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9" name="Line 331"/>
            <p:cNvSpPr>
              <a:spLocks noChangeShapeType="1"/>
            </p:cNvSpPr>
            <p:nvPr/>
          </p:nvSpPr>
          <p:spPr bwMode="auto">
            <a:xfrm>
              <a:off x="97" y="1721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80" name="Line 332"/>
            <p:cNvSpPr>
              <a:spLocks noChangeShapeType="1"/>
            </p:cNvSpPr>
            <p:nvPr/>
          </p:nvSpPr>
          <p:spPr bwMode="auto">
            <a:xfrm>
              <a:off x="97" y="1744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81" name="Line 333"/>
            <p:cNvSpPr>
              <a:spLocks noChangeShapeType="1"/>
            </p:cNvSpPr>
            <p:nvPr/>
          </p:nvSpPr>
          <p:spPr bwMode="auto">
            <a:xfrm>
              <a:off x="97" y="1767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82" name="Line 334"/>
            <p:cNvSpPr>
              <a:spLocks noChangeShapeType="1"/>
            </p:cNvSpPr>
            <p:nvPr/>
          </p:nvSpPr>
          <p:spPr bwMode="auto">
            <a:xfrm>
              <a:off x="97" y="1790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83" name="Line 335"/>
            <p:cNvSpPr>
              <a:spLocks noChangeShapeType="1"/>
            </p:cNvSpPr>
            <p:nvPr/>
          </p:nvSpPr>
          <p:spPr bwMode="auto">
            <a:xfrm>
              <a:off x="97" y="1813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84" name="Line 336"/>
            <p:cNvSpPr>
              <a:spLocks noChangeShapeType="1"/>
            </p:cNvSpPr>
            <p:nvPr/>
          </p:nvSpPr>
          <p:spPr bwMode="auto">
            <a:xfrm>
              <a:off x="97" y="1836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85" name="Line 337"/>
            <p:cNvSpPr>
              <a:spLocks noChangeShapeType="1"/>
            </p:cNvSpPr>
            <p:nvPr/>
          </p:nvSpPr>
          <p:spPr bwMode="auto">
            <a:xfrm>
              <a:off x="97" y="1859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86" name="Line 338"/>
            <p:cNvSpPr>
              <a:spLocks noChangeShapeType="1"/>
            </p:cNvSpPr>
            <p:nvPr/>
          </p:nvSpPr>
          <p:spPr bwMode="auto">
            <a:xfrm>
              <a:off x="97" y="1882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87" name="Line 339"/>
            <p:cNvSpPr>
              <a:spLocks noChangeShapeType="1"/>
            </p:cNvSpPr>
            <p:nvPr/>
          </p:nvSpPr>
          <p:spPr bwMode="auto">
            <a:xfrm>
              <a:off x="97" y="1905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88" name="Line 340"/>
            <p:cNvSpPr>
              <a:spLocks noChangeShapeType="1"/>
            </p:cNvSpPr>
            <p:nvPr/>
          </p:nvSpPr>
          <p:spPr bwMode="auto">
            <a:xfrm>
              <a:off x="97" y="1928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89" name="Line 341"/>
            <p:cNvSpPr>
              <a:spLocks noChangeShapeType="1"/>
            </p:cNvSpPr>
            <p:nvPr/>
          </p:nvSpPr>
          <p:spPr bwMode="auto">
            <a:xfrm>
              <a:off x="97" y="1951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90" name="Line 342"/>
            <p:cNvSpPr>
              <a:spLocks noChangeShapeType="1"/>
            </p:cNvSpPr>
            <p:nvPr/>
          </p:nvSpPr>
          <p:spPr bwMode="auto">
            <a:xfrm>
              <a:off x="97" y="1974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91" name="Line 343"/>
            <p:cNvSpPr>
              <a:spLocks noChangeShapeType="1"/>
            </p:cNvSpPr>
            <p:nvPr/>
          </p:nvSpPr>
          <p:spPr bwMode="auto">
            <a:xfrm>
              <a:off x="97" y="1997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92" name="Line 344"/>
            <p:cNvSpPr>
              <a:spLocks noChangeShapeType="1"/>
            </p:cNvSpPr>
            <p:nvPr/>
          </p:nvSpPr>
          <p:spPr bwMode="auto">
            <a:xfrm>
              <a:off x="97" y="2020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93" name="Line 345"/>
            <p:cNvSpPr>
              <a:spLocks noChangeShapeType="1"/>
            </p:cNvSpPr>
            <p:nvPr/>
          </p:nvSpPr>
          <p:spPr bwMode="auto">
            <a:xfrm>
              <a:off x="97" y="2043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94" name="Line 346"/>
            <p:cNvSpPr>
              <a:spLocks noChangeShapeType="1"/>
            </p:cNvSpPr>
            <p:nvPr/>
          </p:nvSpPr>
          <p:spPr bwMode="auto">
            <a:xfrm>
              <a:off x="97" y="2066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95" name="Line 347"/>
            <p:cNvSpPr>
              <a:spLocks noChangeShapeType="1"/>
            </p:cNvSpPr>
            <p:nvPr/>
          </p:nvSpPr>
          <p:spPr bwMode="auto">
            <a:xfrm>
              <a:off x="97" y="2090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96" name="Line 348"/>
            <p:cNvSpPr>
              <a:spLocks noChangeShapeType="1"/>
            </p:cNvSpPr>
            <p:nvPr/>
          </p:nvSpPr>
          <p:spPr bwMode="auto">
            <a:xfrm>
              <a:off x="97" y="2113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97" name="Line 349"/>
            <p:cNvSpPr>
              <a:spLocks noChangeShapeType="1"/>
            </p:cNvSpPr>
            <p:nvPr/>
          </p:nvSpPr>
          <p:spPr bwMode="auto">
            <a:xfrm>
              <a:off x="97" y="2136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98" name="Line 350"/>
            <p:cNvSpPr>
              <a:spLocks noChangeShapeType="1"/>
            </p:cNvSpPr>
            <p:nvPr/>
          </p:nvSpPr>
          <p:spPr bwMode="auto">
            <a:xfrm>
              <a:off x="97" y="2159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99" name="Line 351"/>
            <p:cNvSpPr>
              <a:spLocks noChangeShapeType="1"/>
            </p:cNvSpPr>
            <p:nvPr/>
          </p:nvSpPr>
          <p:spPr bwMode="auto">
            <a:xfrm>
              <a:off x="97" y="2182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00" name="Line 352"/>
            <p:cNvSpPr>
              <a:spLocks noChangeShapeType="1"/>
            </p:cNvSpPr>
            <p:nvPr/>
          </p:nvSpPr>
          <p:spPr bwMode="auto">
            <a:xfrm>
              <a:off x="97" y="2205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01" name="Line 353"/>
            <p:cNvSpPr>
              <a:spLocks noChangeShapeType="1"/>
            </p:cNvSpPr>
            <p:nvPr/>
          </p:nvSpPr>
          <p:spPr bwMode="auto">
            <a:xfrm>
              <a:off x="97" y="2228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02" name="Line 354"/>
            <p:cNvSpPr>
              <a:spLocks noChangeShapeType="1"/>
            </p:cNvSpPr>
            <p:nvPr/>
          </p:nvSpPr>
          <p:spPr bwMode="auto">
            <a:xfrm>
              <a:off x="97" y="2251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03" name="Line 355"/>
            <p:cNvSpPr>
              <a:spLocks noChangeShapeType="1"/>
            </p:cNvSpPr>
            <p:nvPr/>
          </p:nvSpPr>
          <p:spPr bwMode="auto">
            <a:xfrm>
              <a:off x="97" y="2274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04" name="Line 356"/>
            <p:cNvSpPr>
              <a:spLocks noChangeShapeType="1"/>
            </p:cNvSpPr>
            <p:nvPr/>
          </p:nvSpPr>
          <p:spPr bwMode="auto">
            <a:xfrm>
              <a:off x="97" y="2297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05" name="Line 357"/>
            <p:cNvSpPr>
              <a:spLocks noChangeShapeType="1"/>
            </p:cNvSpPr>
            <p:nvPr/>
          </p:nvSpPr>
          <p:spPr bwMode="auto">
            <a:xfrm>
              <a:off x="97" y="2320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06" name="Line 358"/>
            <p:cNvSpPr>
              <a:spLocks noChangeShapeType="1"/>
            </p:cNvSpPr>
            <p:nvPr/>
          </p:nvSpPr>
          <p:spPr bwMode="auto">
            <a:xfrm>
              <a:off x="97" y="2343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07" name="Line 359"/>
            <p:cNvSpPr>
              <a:spLocks noChangeShapeType="1"/>
            </p:cNvSpPr>
            <p:nvPr/>
          </p:nvSpPr>
          <p:spPr bwMode="auto">
            <a:xfrm>
              <a:off x="97" y="2366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08" name="Line 360"/>
            <p:cNvSpPr>
              <a:spLocks noChangeShapeType="1"/>
            </p:cNvSpPr>
            <p:nvPr/>
          </p:nvSpPr>
          <p:spPr bwMode="auto">
            <a:xfrm>
              <a:off x="97" y="2389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09" name="Line 361"/>
            <p:cNvSpPr>
              <a:spLocks noChangeShapeType="1"/>
            </p:cNvSpPr>
            <p:nvPr/>
          </p:nvSpPr>
          <p:spPr bwMode="auto">
            <a:xfrm>
              <a:off x="97" y="2412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10" name="Line 362"/>
            <p:cNvSpPr>
              <a:spLocks noChangeShapeType="1"/>
            </p:cNvSpPr>
            <p:nvPr/>
          </p:nvSpPr>
          <p:spPr bwMode="auto">
            <a:xfrm>
              <a:off x="97" y="2435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11" name="Line 363"/>
            <p:cNvSpPr>
              <a:spLocks noChangeShapeType="1"/>
            </p:cNvSpPr>
            <p:nvPr/>
          </p:nvSpPr>
          <p:spPr bwMode="auto">
            <a:xfrm>
              <a:off x="97" y="2458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12" name="Line 364"/>
            <p:cNvSpPr>
              <a:spLocks noChangeShapeType="1"/>
            </p:cNvSpPr>
            <p:nvPr/>
          </p:nvSpPr>
          <p:spPr bwMode="auto">
            <a:xfrm>
              <a:off x="97" y="2481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13" name="Line 365"/>
            <p:cNvSpPr>
              <a:spLocks noChangeShapeType="1"/>
            </p:cNvSpPr>
            <p:nvPr/>
          </p:nvSpPr>
          <p:spPr bwMode="auto">
            <a:xfrm>
              <a:off x="97" y="2504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14" name="Line 366"/>
            <p:cNvSpPr>
              <a:spLocks noChangeShapeType="1"/>
            </p:cNvSpPr>
            <p:nvPr/>
          </p:nvSpPr>
          <p:spPr bwMode="auto">
            <a:xfrm>
              <a:off x="97" y="2527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15" name="Line 367"/>
            <p:cNvSpPr>
              <a:spLocks noChangeShapeType="1"/>
            </p:cNvSpPr>
            <p:nvPr/>
          </p:nvSpPr>
          <p:spPr bwMode="auto">
            <a:xfrm>
              <a:off x="97" y="2550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16" name="Line 368"/>
            <p:cNvSpPr>
              <a:spLocks noChangeShapeType="1"/>
            </p:cNvSpPr>
            <p:nvPr/>
          </p:nvSpPr>
          <p:spPr bwMode="auto">
            <a:xfrm>
              <a:off x="97" y="2573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17" name="Line 369"/>
            <p:cNvSpPr>
              <a:spLocks noChangeShapeType="1"/>
            </p:cNvSpPr>
            <p:nvPr/>
          </p:nvSpPr>
          <p:spPr bwMode="auto">
            <a:xfrm>
              <a:off x="97" y="2597"/>
              <a:ext cx="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18" name="Rectangle 370"/>
            <p:cNvSpPr>
              <a:spLocks noChangeArrowheads="1"/>
            </p:cNvSpPr>
            <p:nvPr/>
          </p:nvSpPr>
          <p:spPr bwMode="auto">
            <a:xfrm>
              <a:off x="2199" y="1645"/>
              <a:ext cx="324" cy="102"/>
            </a:xfrm>
            <a:prstGeom prst="rect">
              <a:avLst/>
            </a:prstGeom>
            <a:solidFill>
              <a:srgbClr val="E6E6E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19" name="Rectangle 371"/>
            <p:cNvSpPr>
              <a:spLocks noChangeArrowheads="1"/>
            </p:cNvSpPr>
            <p:nvPr/>
          </p:nvSpPr>
          <p:spPr bwMode="auto">
            <a:xfrm>
              <a:off x="2245" y="1662"/>
              <a:ext cx="24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DPC-1XX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20" name="Rectangle 372"/>
            <p:cNvSpPr>
              <a:spLocks noChangeArrowheads="1"/>
            </p:cNvSpPr>
            <p:nvPr/>
          </p:nvSpPr>
          <p:spPr bwMode="auto">
            <a:xfrm>
              <a:off x="2200" y="1738"/>
              <a:ext cx="324" cy="102"/>
            </a:xfrm>
            <a:prstGeom prst="rect">
              <a:avLst/>
            </a:prstGeom>
            <a:solidFill>
              <a:srgbClr val="E6E6E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21" name="Rectangle 373"/>
            <p:cNvSpPr>
              <a:spLocks noChangeArrowheads="1"/>
            </p:cNvSpPr>
            <p:nvPr/>
          </p:nvSpPr>
          <p:spPr bwMode="auto">
            <a:xfrm>
              <a:off x="2297" y="1755"/>
              <a:ext cx="13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(INV)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22" name="Rectangle 374"/>
            <p:cNvSpPr>
              <a:spLocks noChangeArrowheads="1"/>
            </p:cNvSpPr>
            <p:nvPr/>
          </p:nvSpPr>
          <p:spPr bwMode="auto">
            <a:xfrm>
              <a:off x="188" y="1958"/>
              <a:ext cx="160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속도지령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23" name="Line 375"/>
            <p:cNvSpPr>
              <a:spLocks noChangeShapeType="1"/>
            </p:cNvSpPr>
            <p:nvPr/>
          </p:nvSpPr>
          <p:spPr bwMode="auto">
            <a:xfrm flipH="1" flipV="1">
              <a:off x="2334" y="2083"/>
              <a:ext cx="19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24" name="Line 376"/>
            <p:cNvSpPr>
              <a:spLocks noChangeShapeType="1"/>
            </p:cNvSpPr>
            <p:nvPr/>
          </p:nvSpPr>
          <p:spPr bwMode="auto">
            <a:xfrm>
              <a:off x="2524" y="2037"/>
              <a:ext cx="1" cy="17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25" name="Line 377"/>
            <p:cNvSpPr>
              <a:spLocks noChangeShapeType="1"/>
            </p:cNvSpPr>
            <p:nvPr/>
          </p:nvSpPr>
          <p:spPr bwMode="auto">
            <a:xfrm flipH="1" flipV="1">
              <a:off x="2524" y="2037"/>
              <a:ext cx="142" cy="8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26" name="Line 378"/>
            <p:cNvSpPr>
              <a:spLocks noChangeShapeType="1"/>
            </p:cNvSpPr>
            <p:nvPr/>
          </p:nvSpPr>
          <p:spPr bwMode="auto">
            <a:xfrm flipH="1">
              <a:off x="2524" y="2122"/>
              <a:ext cx="142" cy="8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27" name="Freeform 379"/>
            <p:cNvSpPr>
              <a:spLocks/>
            </p:cNvSpPr>
            <p:nvPr/>
          </p:nvSpPr>
          <p:spPr bwMode="auto">
            <a:xfrm>
              <a:off x="2462" y="2162"/>
              <a:ext cx="62" cy="193"/>
            </a:xfrm>
            <a:custGeom>
              <a:avLst/>
              <a:gdLst/>
              <a:ahLst/>
              <a:cxnLst>
                <a:cxn ang="0">
                  <a:pos x="187" y="0"/>
                </a:cxn>
                <a:cxn ang="0">
                  <a:pos x="0" y="0"/>
                </a:cxn>
                <a:cxn ang="0">
                  <a:pos x="0" y="578"/>
                </a:cxn>
              </a:cxnLst>
              <a:rect l="0" t="0" r="r" b="b"/>
              <a:pathLst>
                <a:path w="187" h="578">
                  <a:moveTo>
                    <a:pt x="187" y="0"/>
                  </a:moveTo>
                  <a:lnTo>
                    <a:pt x="0" y="0"/>
                  </a:lnTo>
                  <a:lnTo>
                    <a:pt x="0" y="578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28" name="Rectangle 380"/>
            <p:cNvSpPr>
              <a:spLocks noChangeArrowheads="1"/>
            </p:cNvSpPr>
            <p:nvPr/>
          </p:nvSpPr>
          <p:spPr bwMode="auto">
            <a:xfrm>
              <a:off x="2327" y="2373"/>
              <a:ext cx="291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전동기 정격전류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29" name="Rectangle 381"/>
            <p:cNvSpPr>
              <a:spLocks noChangeArrowheads="1"/>
            </p:cNvSpPr>
            <p:nvPr/>
          </p:nvSpPr>
          <p:spPr bwMode="auto">
            <a:xfrm>
              <a:off x="2385" y="2430"/>
              <a:ext cx="16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의  </a:t>
              </a:r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150%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30" name="Rectangle 382"/>
            <p:cNvSpPr>
              <a:spLocks noChangeArrowheads="1"/>
            </p:cNvSpPr>
            <p:nvPr/>
          </p:nvSpPr>
          <p:spPr bwMode="auto">
            <a:xfrm>
              <a:off x="2539" y="2059"/>
              <a:ext cx="19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+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31" name="Rectangle 383"/>
            <p:cNvSpPr>
              <a:spLocks noChangeArrowheads="1"/>
            </p:cNvSpPr>
            <p:nvPr/>
          </p:nvSpPr>
          <p:spPr bwMode="auto">
            <a:xfrm>
              <a:off x="2546" y="2138"/>
              <a:ext cx="1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-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32" name="Line 384"/>
            <p:cNvSpPr>
              <a:spLocks noChangeShapeType="1"/>
            </p:cNvSpPr>
            <p:nvPr/>
          </p:nvSpPr>
          <p:spPr bwMode="auto">
            <a:xfrm flipH="1">
              <a:off x="2666" y="2122"/>
              <a:ext cx="139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33" name="Rectangle 385"/>
            <p:cNvSpPr>
              <a:spLocks noChangeArrowheads="1"/>
            </p:cNvSpPr>
            <p:nvPr/>
          </p:nvSpPr>
          <p:spPr bwMode="auto">
            <a:xfrm>
              <a:off x="2729" y="1995"/>
              <a:ext cx="160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전류제어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34" name="Rectangle 386"/>
            <p:cNvSpPr>
              <a:spLocks noChangeArrowheads="1"/>
            </p:cNvSpPr>
            <p:nvPr/>
          </p:nvSpPr>
          <p:spPr bwMode="auto">
            <a:xfrm>
              <a:off x="2722" y="2053"/>
              <a:ext cx="171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이상 검출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35" name="Rectangle 387"/>
            <p:cNvSpPr>
              <a:spLocks noChangeArrowheads="1"/>
            </p:cNvSpPr>
            <p:nvPr/>
          </p:nvSpPr>
          <p:spPr bwMode="auto">
            <a:xfrm>
              <a:off x="178" y="2132"/>
              <a:ext cx="160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실제속도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36" name="Rectangle 388"/>
            <p:cNvSpPr>
              <a:spLocks noChangeArrowheads="1"/>
            </p:cNvSpPr>
            <p:nvPr/>
          </p:nvSpPr>
          <p:spPr bwMode="auto">
            <a:xfrm>
              <a:off x="1157" y="1938"/>
              <a:ext cx="630" cy="292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4" name="Group 389"/>
            <p:cNvGrpSpPr>
              <a:grpSpLocks/>
            </p:cNvGrpSpPr>
            <p:nvPr/>
          </p:nvGrpSpPr>
          <p:grpSpPr bwMode="auto">
            <a:xfrm>
              <a:off x="1193" y="2002"/>
              <a:ext cx="565" cy="156"/>
              <a:chOff x="1193" y="2002"/>
              <a:chExt cx="565" cy="156"/>
            </a:xfrm>
          </p:grpSpPr>
          <p:sp>
            <p:nvSpPr>
              <p:cNvPr id="2438" name="Line 390"/>
              <p:cNvSpPr>
                <a:spLocks noChangeShapeType="1"/>
              </p:cNvSpPr>
              <p:nvPr/>
            </p:nvSpPr>
            <p:spPr bwMode="auto">
              <a:xfrm flipV="1">
                <a:off x="1193" y="2098"/>
                <a:ext cx="6" cy="3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39" name="Line 391"/>
              <p:cNvSpPr>
                <a:spLocks noChangeShapeType="1"/>
              </p:cNvSpPr>
              <p:nvPr/>
            </p:nvSpPr>
            <p:spPr bwMode="auto">
              <a:xfrm>
                <a:off x="1199" y="2099"/>
                <a:ext cx="9" cy="59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0" name="Line 392"/>
              <p:cNvSpPr>
                <a:spLocks noChangeShapeType="1"/>
              </p:cNvSpPr>
              <p:nvPr/>
            </p:nvSpPr>
            <p:spPr bwMode="auto">
              <a:xfrm flipV="1">
                <a:off x="1209" y="2002"/>
                <a:ext cx="12" cy="156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1" name="Line 393"/>
              <p:cNvSpPr>
                <a:spLocks noChangeShapeType="1"/>
              </p:cNvSpPr>
              <p:nvPr/>
            </p:nvSpPr>
            <p:spPr bwMode="auto">
              <a:xfrm>
                <a:off x="1221" y="2002"/>
                <a:ext cx="439" cy="1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442" name="Rectangle 394"/>
              <p:cNvSpPr>
                <a:spLocks noChangeArrowheads="1"/>
              </p:cNvSpPr>
              <p:nvPr/>
            </p:nvSpPr>
            <p:spPr bwMode="auto">
              <a:xfrm>
                <a:off x="1223" y="2016"/>
                <a:ext cx="13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(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43" name="Rectangle 395"/>
              <p:cNvSpPr>
                <a:spLocks noChangeArrowheads="1"/>
              </p:cNvSpPr>
              <p:nvPr/>
            </p:nvSpPr>
            <p:spPr bwMode="auto">
              <a:xfrm>
                <a:off x="1579" y="2016"/>
                <a:ext cx="13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44" name="Rectangle 396"/>
              <p:cNvSpPr>
                <a:spLocks noChangeArrowheads="1"/>
              </p:cNvSpPr>
              <p:nvPr/>
            </p:nvSpPr>
            <p:spPr bwMode="auto">
              <a:xfrm>
                <a:off x="1259" y="2101"/>
                <a:ext cx="13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(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45" name="Rectangle 397"/>
              <p:cNvSpPr>
                <a:spLocks noChangeArrowheads="1"/>
              </p:cNvSpPr>
              <p:nvPr/>
            </p:nvSpPr>
            <p:spPr bwMode="auto">
              <a:xfrm>
                <a:off x="1615" y="2101"/>
                <a:ext cx="13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46" name="Rectangle 398"/>
              <p:cNvSpPr>
                <a:spLocks noChangeArrowheads="1"/>
              </p:cNvSpPr>
              <p:nvPr/>
            </p:nvSpPr>
            <p:spPr bwMode="auto">
              <a:xfrm>
                <a:off x="1242" y="2018"/>
                <a:ext cx="280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ko-KR" altLang="en-US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토크분전류지령</a:t>
                </a:r>
                <a:endParaRPr lang="ko-KR" altLang="en-US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47" name="Rectangle 399"/>
              <p:cNvSpPr>
                <a:spLocks noChangeArrowheads="1"/>
              </p:cNvSpPr>
              <p:nvPr/>
            </p:nvSpPr>
            <p:spPr bwMode="auto">
              <a:xfrm>
                <a:off x="1277" y="2103"/>
                <a:ext cx="280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ko-KR" altLang="en-US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여자분전류지령</a:t>
                </a:r>
                <a:endParaRPr lang="ko-KR" altLang="en-US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48" name="Rectangle 400"/>
              <p:cNvSpPr>
                <a:spLocks noChangeArrowheads="1"/>
              </p:cNvSpPr>
              <p:nvPr/>
            </p:nvSpPr>
            <p:spPr bwMode="auto">
              <a:xfrm>
                <a:off x="1678" y="2054"/>
                <a:ext cx="80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ko-KR" altLang="en-US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연산</a:t>
                </a:r>
                <a:endParaRPr lang="ko-KR" altLang="en-US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49" name="Rectangle 401"/>
              <p:cNvSpPr>
                <a:spLocks noChangeArrowheads="1"/>
              </p:cNvSpPr>
              <p:nvPr/>
            </p:nvSpPr>
            <p:spPr bwMode="auto">
              <a:xfrm>
                <a:off x="1598" y="2006"/>
                <a:ext cx="18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2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50" name="Rectangle 402"/>
              <p:cNvSpPr>
                <a:spLocks noChangeArrowheads="1"/>
              </p:cNvSpPr>
              <p:nvPr/>
            </p:nvSpPr>
            <p:spPr bwMode="auto">
              <a:xfrm>
                <a:off x="1634" y="2090"/>
                <a:ext cx="18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2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451" name="Rectangle 403"/>
              <p:cNvSpPr>
                <a:spLocks noChangeArrowheads="1"/>
              </p:cNvSpPr>
              <p:nvPr/>
            </p:nvSpPr>
            <p:spPr bwMode="auto">
              <a:xfrm>
                <a:off x="1224" y="2096"/>
                <a:ext cx="23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+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</p:grpSp>
        <p:sp>
          <p:nvSpPr>
            <p:cNvPr id="2452" name="Rectangle 404"/>
            <p:cNvSpPr>
              <a:spLocks noChangeArrowheads="1"/>
            </p:cNvSpPr>
            <p:nvPr/>
          </p:nvSpPr>
          <p:spPr bwMode="auto">
            <a:xfrm>
              <a:off x="964" y="1957"/>
              <a:ext cx="120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토크분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53" name="Rectangle 405"/>
            <p:cNvSpPr>
              <a:spLocks noChangeArrowheads="1"/>
            </p:cNvSpPr>
            <p:nvPr/>
          </p:nvSpPr>
          <p:spPr bwMode="auto">
            <a:xfrm>
              <a:off x="942" y="2015"/>
              <a:ext cx="160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전류지령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54" name="Freeform 406"/>
            <p:cNvSpPr>
              <a:spLocks/>
            </p:cNvSpPr>
            <p:nvPr/>
          </p:nvSpPr>
          <p:spPr bwMode="auto">
            <a:xfrm>
              <a:off x="936" y="2173"/>
              <a:ext cx="216" cy="193"/>
            </a:xfrm>
            <a:custGeom>
              <a:avLst/>
              <a:gdLst/>
              <a:ahLst/>
              <a:cxnLst>
                <a:cxn ang="0">
                  <a:pos x="646" y="0"/>
                </a:cxn>
                <a:cxn ang="0">
                  <a:pos x="0" y="0"/>
                </a:cxn>
                <a:cxn ang="0">
                  <a:pos x="0" y="579"/>
                </a:cxn>
              </a:cxnLst>
              <a:rect l="0" t="0" r="r" b="b"/>
              <a:pathLst>
                <a:path w="646" h="579">
                  <a:moveTo>
                    <a:pt x="646" y="0"/>
                  </a:moveTo>
                  <a:lnTo>
                    <a:pt x="0" y="0"/>
                  </a:lnTo>
                  <a:lnTo>
                    <a:pt x="0" y="579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55" name="Rectangle 407"/>
            <p:cNvSpPr>
              <a:spLocks noChangeArrowheads="1"/>
            </p:cNvSpPr>
            <p:nvPr/>
          </p:nvSpPr>
          <p:spPr bwMode="auto">
            <a:xfrm>
              <a:off x="862" y="2394"/>
              <a:ext cx="120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여자분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56" name="Rectangle 408"/>
            <p:cNvSpPr>
              <a:spLocks noChangeArrowheads="1"/>
            </p:cNvSpPr>
            <p:nvPr/>
          </p:nvSpPr>
          <p:spPr bwMode="auto">
            <a:xfrm>
              <a:off x="841" y="2451"/>
              <a:ext cx="160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전류지령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57" name="Rectangle 409"/>
            <p:cNvSpPr>
              <a:spLocks noChangeArrowheads="1"/>
            </p:cNvSpPr>
            <p:nvPr/>
          </p:nvSpPr>
          <p:spPr bwMode="auto">
            <a:xfrm>
              <a:off x="1875" y="1938"/>
              <a:ext cx="459" cy="289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458" name="Rectangle 410"/>
            <p:cNvSpPr>
              <a:spLocks noChangeArrowheads="1"/>
            </p:cNvSpPr>
            <p:nvPr/>
          </p:nvSpPr>
          <p:spPr bwMode="auto">
            <a:xfrm>
              <a:off x="2031" y="1981"/>
              <a:ext cx="16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기동후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59" name="Rectangle 411"/>
            <p:cNvSpPr>
              <a:spLocks noChangeArrowheads="1"/>
            </p:cNvSpPr>
            <p:nvPr/>
          </p:nvSpPr>
          <p:spPr bwMode="auto">
            <a:xfrm>
              <a:off x="1958" y="2049"/>
              <a:ext cx="336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소정시간이후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60" name="Rectangle 412"/>
            <p:cNvSpPr>
              <a:spLocks noChangeArrowheads="1"/>
            </p:cNvSpPr>
            <p:nvPr/>
          </p:nvSpPr>
          <p:spPr bwMode="auto">
            <a:xfrm>
              <a:off x="1999" y="2116"/>
              <a:ext cx="240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부터 검출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461" name="Line 413"/>
            <p:cNvSpPr>
              <a:spLocks noChangeShapeType="1"/>
            </p:cNvSpPr>
            <p:nvPr/>
          </p:nvSpPr>
          <p:spPr bwMode="auto">
            <a:xfrm flipH="1">
              <a:off x="1787" y="2083"/>
              <a:ext cx="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462" name="Rectangle 414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48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50292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37338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DC LINK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저 전압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[ER_INV_DC_LINK_UV]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41910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DC LINK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330V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이하인 상태가 검출된 경우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6025" y="1054100"/>
            <a:ext cx="4117975" cy="534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DPC-1XX(INV)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상태</a:t>
            </a:r>
          </a:p>
          <a:p>
            <a:pPr defTabSz="873125" latinLnBrk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확인 및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GA,VA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확인</a:t>
            </a:r>
          </a:p>
          <a:p>
            <a:pPr defTabSz="873125" latinLnBrk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GW, GP, GXL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확인 할 것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DPP-1XX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GW, GP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STACK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결선 확인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 직후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LINK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 전압을 측정하여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330V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이하의 전압이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측정되는지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330V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이하의 전압이 측정되지 않으면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STACK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 결선불량 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STACK 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 또는</a:t>
            </a:r>
          </a:p>
          <a:p>
            <a:pPr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 B/D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불량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TP7(DPP-101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좌표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9N)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측정하여 정상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전압인지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(1:+15V, 2:-9V, 4:GND)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RA1(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좌표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8I)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+15V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 B/D  VG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 B/D GA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GA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연결여부를 확인한다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(Short Check-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연결되어 있으면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).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전압이 충전되지 않는 경우이므로 회생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MAIN IGBT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고장을 체크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RCR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저항 값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체크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콘덴서 검사 후 이상 시 교체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입력 전압을 체크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11. DPP-1XX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 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기동 직후 가속 초반 부에서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48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발생하면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S/W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되는 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가속 초반 부에서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S/W 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 소지가 있음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52400" y="1828800"/>
            <a:ext cx="4718050" cy="3136900"/>
            <a:chOff x="96" y="1152"/>
            <a:chExt cx="2972" cy="1976"/>
          </a:xfrm>
        </p:grpSpPr>
        <p:grpSp>
          <p:nvGrpSpPr>
            <p:cNvPr id="3" name="Group 21"/>
            <p:cNvGrpSpPr>
              <a:grpSpLocks/>
            </p:cNvGrpSpPr>
            <p:nvPr/>
          </p:nvGrpSpPr>
          <p:grpSpPr bwMode="auto">
            <a:xfrm>
              <a:off x="96" y="1308"/>
              <a:ext cx="2816" cy="1219"/>
              <a:chOff x="64" y="1452"/>
              <a:chExt cx="2815" cy="1219"/>
            </a:xfrm>
          </p:grpSpPr>
          <p:sp>
            <p:nvSpPr>
              <p:cNvPr id="2070" name="Freeform 22"/>
              <p:cNvSpPr>
                <a:spLocks/>
              </p:cNvSpPr>
              <p:nvPr/>
            </p:nvSpPr>
            <p:spPr bwMode="auto">
              <a:xfrm>
                <a:off x="2434" y="1624"/>
                <a:ext cx="445" cy="143"/>
              </a:xfrm>
              <a:custGeom>
                <a:avLst/>
                <a:gdLst/>
                <a:ahLst/>
                <a:cxnLst>
                  <a:cxn ang="0">
                    <a:pos x="377" y="143"/>
                  </a:cxn>
                  <a:cxn ang="0">
                    <a:pos x="392" y="140"/>
                  </a:cxn>
                  <a:cxn ang="0">
                    <a:pos x="407" y="136"/>
                  </a:cxn>
                  <a:cxn ang="0">
                    <a:pos x="419" y="128"/>
                  </a:cxn>
                  <a:cxn ang="0">
                    <a:pos x="431" y="117"/>
                  </a:cxn>
                  <a:cxn ang="0">
                    <a:pos x="439" y="103"/>
                  </a:cxn>
                  <a:cxn ang="0">
                    <a:pos x="444" y="90"/>
                  </a:cxn>
                  <a:cxn ang="0">
                    <a:pos x="445" y="75"/>
                  </a:cxn>
                  <a:cxn ang="0">
                    <a:pos x="445" y="68"/>
                  </a:cxn>
                  <a:cxn ang="0">
                    <a:pos x="444" y="53"/>
                  </a:cxn>
                  <a:cxn ang="0">
                    <a:pos x="439" y="38"/>
                  </a:cxn>
                  <a:cxn ang="0">
                    <a:pos x="431" y="25"/>
                  </a:cxn>
                  <a:cxn ang="0">
                    <a:pos x="419" y="15"/>
                  </a:cxn>
                  <a:cxn ang="0">
                    <a:pos x="407" y="7"/>
                  </a:cxn>
                  <a:cxn ang="0">
                    <a:pos x="392" y="1"/>
                  </a:cxn>
                  <a:cxn ang="0">
                    <a:pos x="377" y="0"/>
                  </a:cxn>
                  <a:cxn ang="0">
                    <a:pos x="68" y="0"/>
                  </a:cxn>
                  <a:cxn ang="0">
                    <a:pos x="53" y="1"/>
                  </a:cxn>
                  <a:cxn ang="0">
                    <a:pos x="38" y="7"/>
                  </a:cxn>
                  <a:cxn ang="0">
                    <a:pos x="25" y="15"/>
                  </a:cxn>
                  <a:cxn ang="0">
                    <a:pos x="15" y="25"/>
                  </a:cxn>
                  <a:cxn ang="0">
                    <a:pos x="7" y="38"/>
                  </a:cxn>
                  <a:cxn ang="0">
                    <a:pos x="1" y="53"/>
                  </a:cxn>
                  <a:cxn ang="0">
                    <a:pos x="0" y="68"/>
                  </a:cxn>
                  <a:cxn ang="0">
                    <a:pos x="0" y="75"/>
                  </a:cxn>
                  <a:cxn ang="0">
                    <a:pos x="1" y="90"/>
                  </a:cxn>
                  <a:cxn ang="0">
                    <a:pos x="7" y="103"/>
                  </a:cxn>
                  <a:cxn ang="0">
                    <a:pos x="15" y="117"/>
                  </a:cxn>
                  <a:cxn ang="0">
                    <a:pos x="25" y="128"/>
                  </a:cxn>
                  <a:cxn ang="0">
                    <a:pos x="38" y="136"/>
                  </a:cxn>
                  <a:cxn ang="0">
                    <a:pos x="53" y="140"/>
                  </a:cxn>
                  <a:cxn ang="0">
                    <a:pos x="68" y="143"/>
                  </a:cxn>
                  <a:cxn ang="0">
                    <a:pos x="377" y="143"/>
                  </a:cxn>
                </a:cxnLst>
                <a:rect l="0" t="0" r="r" b="b"/>
                <a:pathLst>
                  <a:path w="445" h="143">
                    <a:moveTo>
                      <a:pt x="377" y="143"/>
                    </a:moveTo>
                    <a:lnTo>
                      <a:pt x="392" y="140"/>
                    </a:lnTo>
                    <a:lnTo>
                      <a:pt x="407" y="136"/>
                    </a:lnTo>
                    <a:lnTo>
                      <a:pt x="419" y="128"/>
                    </a:lnTo>
                    <a:lnTo>
                      <a:pt x="431" y="117"/>
                    </a:lnTo>
                    <a:lnTo>
                      <a:pt x="439" y="103"/>
                    </a:lnTo>
                    <a:lnTo>
                      <a:pt x="444" y="90"/>
                    </a:lnTo>
                    <a:lnTo>
                      <a:pt x="445" y="75"/>
                    </a:lnTo>
                    <a:lnTo>
                      <a:pt x="445" y="68"/>
                    </a:lnTo>
                    <a:lnTo>
                      <a:pt x="444" y="53"/>
                    </a:lnTo>
                    <a:lnTo>
                      <a:pt x="439" y="38"/>
                    </a:lnTo>
                    <a:lnTo>
                      <a:pt x="431" y="25"/>
                    </a:lnTo>
                    <a:lnTo>
                      <a:pt x="419" y="15"/>
                    </a:lnTo>
                    <a:lnTo>
                      <a:pt x="407" y="7"/>
                    </a:lnTo>
                    <a:lnTo>
                      <a:pt x="392" y="1"/>
                    </a:lnTo>
                    <a:lnTo>
                      <a:pt x="377" y="0"/>
                    </a:lnTo>
                    <a:lnTo>
                      <a:pt x="68" y="0"/>
                    </a:lnTo>
                    <a:lnTo>
                      <a:pt x="53" y="1"/>
                    </a:lnTo>
                    <a:lnTo>
                      <a:pt x="38" y="7"/>
                    </a:lnTo>
                    <a:lnTo>
                      <a:pt x="25" y="15"/>
                    </a:lnTo>
                    <a:lnTo>
                      <a:pt x="15" y="25"/>
                    </a:lnTo>
                    <a:lnTo>
                      <a:pt x="7" y="38"/>
                    </a:lnTo>
                    <a:lnTo>
                      <a:pt x="1" y="53"/>
                    </a:lnTo>
                    <a:lnTo>
                      <a:pt x="0" y="68"/>
                    </a:lnTo>
                    <a:lnTo>
                      <a:pt x="0" y="75"/>
                    </a:lnTo>
                    <a:lnTo>
                      <a:pt x="1" y="90"/>
                    </a:lnTo>
                    <a:lnTo>
                      <a:pt x="7" y="103"/>
                    </a:lnTo>
                    <a:lnTo>
                      <a:pt x="15" y="117"/>
                    </a:lnTo>
                    <a:lnTo>
                      <a:pt x="25" y="128"/>
                    </a:lnTo>
                    <a:lnTo>
                      <a:pt x="38" y="136"/>
                    </a:lnTo>
                    <a:lnTo>
                      <a:pt x="53" y="140"/>
                    </a:lnTo>
                    <a:lnTo>
                      <a:pt x="68" y="143"/>
                    </a:lnTo>
                    <a:lnTo>
                      <a:pt x="377" y="143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1" name="Rectangle 23"/>
              <p:cNvSpPr>
                <a:spLocks noChangeArrowheads="1"/>
              </p:cNvSpPr>
              <p:nvPr/>
            </p:nvSpPr>
            <p:spPr bwMode="auto">
              <a:xfrm>
                <a:off x="64" y="1452"/>
                <a:ext cx="2249" cy="121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2" name="Line 24"/>
              <p:cNvSpPr>
                <a:spLocks noChangeShapeType="1"/>
              </p:cNvSpPr>
              <p:nvPr/>
            </p:nvSpPr>
            <p:spPr bwMode="auto">
              <a:xfrm>
                <a:off x="6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3" name="Line 25"/>
              <p:cNvSpPr>
                <a:spLocks noChangeShapeType="1"/>
              </p:cNvSpPr>
              <p:nvPr/>
            </p:nvSpPr>
            <p:spPr bwMode="auto">
              <a:xfrm>
                <a:off x="7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4" name="Line 26"/>
              <p:cNvSpPr>
                <a:spLocks noChangeShapeType="1"/>
              </p:cNvSpPr>
              <p:nvPr/>
            </p:nvSpPr>
            <p:spPr bwMode="auto">
              <a:xfrm>
                <a:off x="8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5" name="Line 27"/>
              <p:cNvSpPr>
                <a:spLocks noChangeShapeType="1"/>
              </p:cNvSpPr>
              <p:nvPr/>
            </p:nvSpPr>
            <p:spPr bwMode="auto">
              <a:xfrm>
                <a:off x="9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6" name="Line 28"/>
              <p:cNvSpPr>
                <a:spLocks noChangeShapeType="1"/>
              </p:cNvSpPr>
              <p:nvPr/>
            </p:nvSpPr>
            <p:spPr bwMode="auto">
              <a:xfrm>
                <a:off x="10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11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11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12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13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1" name="Line 33"/>
              <p:cNvSpPr>
                <a:spLocks noChangeShapeType="1"/>
              </p:cNvSpPr>
              <p:nvPr/>
            </p:nvSpPr>
            <p:spPr bwMode="auto">
              <a:xfrm>
                <a:off x="14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>
                <a:off x="15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3" name="Line 35"/>
              <p:cNvSpPr>
                <a:spLocks noChangeShapeType="1"/>
              </p:cNvSpPr>
              <p:nvPr/>
            </p:nvSpPr>
            <p:spPr bwMode="auto">
              <a:xfrm>
                <a:off x="16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4" name="Line 36"/>
              <p:cNvSpPr>
                <a:spLocks noChangeShapeType="1"/>
              </p:cNvSpPr>
              <p:nvPr/>
            </p:nvSpPr>
            <p:spPr bwMode="auto">
              <a:xfrm>
                <a:off x="17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5" name="Line 37"/>
              <p:cNvSpPr>
                <a:spLocks noChangeShapeType="1"/>
              </p:cNvSpPr>
              <p:nvPr/>
            </p:nvSpPr>
            <p:spPr bwMode="auto">
              <a:xfrm>
                <a:off x="18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6" name="Line 38"/>
              <p:cNvSpPr>
                <a:spLocks noChangeShapeType="1"/>
              </p:cNvSpPr>
              <p:nvPr/>
            </p:nvSpPr>
            <p:spPr bwMode="auto">
              <a:xfrm>
                <a:off x="19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7" name="Line 39"/>
              <p:cNvSpPr>
                <a:spLocks noChangeShapeType="1"/>
              </p:cNvSpPr>
              <p:nvPr/>
            </p:nvSpPr>
            <p:spPr bwMode="auto">
              <a:xfrm>
                <a:off x="20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8" name="Line 40"/>
              <p:cNvSpPr>
                <a:spLocks noChangeShapeType="1"/>
              </p:cNvSpPr>
              <p:nvPr/>
            </p:nvSpPr>
            <p:spPr bwMode="auto">
              <a:xfrm>
                <a:off x="21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89" name="Line 41"/>
              <p:cNvSpPr>
                <a:spLocks noChangeShapeType="1"/>
              </p:cNvSpPr>
              <p:nvPr/>
            </p:nvSpPr>
            <p:spPr bwMode="auto">
              <a:xfrm>
                <a:off x="22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>
                <a:off x="23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>
                <a:off x="23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24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25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4" name="Line 46"/>
              <p:cNvSpPr>
                <a:spLocks noChangeShapeType="1"/>
              </p:cNvSpPr>
              <p:nvPr/>
            </p:nvSpPr>
            <p:spPr bwMode="auto">
              <a:xfrm>
                <a:off x="26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>
                <a:off x="27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6" name="Line 48"/>
              <p:cNvSpPr>
                <a:spLocks noChangeShapeType="1"/>
              </p:cNvSpPr>
              <p:nvPr/>
            </p:nvSpPr>
            <p:spPr bwMode="auto">
              <a:xfrm>
                <a:off x="28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7" name="Line 49"/>
              <p:cNvSpPr>
                <a:spLocks noChangeShapeType="1"/>
              </p:cNvSpPr>
              <p:nvPr/>
            </p:nvSpPr>
            <p:spPr bwMode="auto">
              <a:xfrm>
                <a:off x="29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8" name="Line 50"/>
              <p:cNvSpPr>
                <a:spLocks noChangeShapeType="1"/>
              </p:cNvSpPr>
              <p:nvPr/>
            </p:nvSpPr>
            <p:spPr bwMode="auto">
              <a:xfrm>
                <a:off x="30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9" name="Line 51"/>
              <p:cNvSpPr>
                <a:spLocks noChangeShapeType="1"/>
              </p:cNvSpPr>
              <p:nvPr/>
            </p:nvSpPr>
            <p:spPr bwMode="auto">
              <a:xfrm>
                <a:off x="31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0" name="Line 52"/>
              <p:cNvSpPr>
                <a:spLocks noChangeShapeType="1"/>
              </p:cNvSpPr>
              <p:nvPr/>
            </p:nvSpPr>
            <p:spPr bwMode="auto">
              <a:xfrm>
                <a:off x="32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1" name="Line 53"/>
              <p:cNvSpPr>
                <a:spLocks noChangeShapeType="1"/>
              </p:cNvSpPr>
              <p:nvPr/>
            </p:nvSpPr>
            <p:spPr bwMode="auto">
              <a:xfrm>
                <a:off x="33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>
                <a:off x="34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3" name="Line 55"/>
              <p:cNvSpPr>
                <a:spLocks noChangeShapeType="1"/>
              </p:cNvSpPr>
              <p:nvPr/>
            </p:nvSpPr>
            <p:spPr bwMode="auto">
              <a:xfrm>
                <a:off x="35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4" name="Line 56"/>
              <p:cNvSpPr>
                <a:spLocks noChangeShapeType="1"/>
              </p:cNvSpPr>
              <p:nvPr/>
            </p:nvSpPr>
            <p:spPr bwMode="auto">
              <a:xfrm>
                <a:off x="35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5" name="Line 57"/>
              <p:cNvSpPr>
                <a:spLocks noChangeShapeType="1"/>
              </p:cNvSpPr>
              <p:nvPr/>
            </p:nvSpPr>
            <p:spPr bwMode="auto">
              <a:xfrm>
                <a:off x="36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>
                <a:off x="37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>
                <a:off x="38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>
                <a:off x="39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>
                <a:off x="40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>
                <a:off x="41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>
                <a:off x="42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43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>
                <a:off x="44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45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>
                <a:off x="46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>
                <a:off x="47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>
                <a:off x="47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>
                <a:off x="48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>
                <a:off x="49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>
                <a:off x="50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>
                <a:off x="51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2" name="Line 74"/>
              <p:cNvSpPr>
                <a:spLocks noChangeShapeType="1"/>
              </p:cNvSpPr>
              <p:nvPr/>
            </p:nvSpPr>
            <p:spPr bwMode="auto">
              <a:xfrm>
                <a:off x="52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>
                <a:off x="53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4" name="Line 76"/>
              <p:cNvSpPr>
                <a:spLocks noChangeShapeType="1"/>
              </p:cNvSpPr>
              <p:nvPr/>
            </p:nvSpPr>
            <p:spPr bwMode="auto">
              <a:xfrm>
                <a:off x="54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5" name="Line 77"/>
              <p:cNvSpPr>
                <a:spLocks noChangeShapeType="1"/>
              </p:cNvSpPr>
              <p:nvPr/>
            </p:nvSpPr>
            <p:spPr bwMode="auto">
              <a:xfrm>
                <a:off x="55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6" name="Line 78"/>
              <p:cNvSpPr>
                <a:spLocks noChangeShapeType="1"/>
              </p:cNvSpPr>
              <p:nvPr/>
            </p:nvSpPr>
            <p:spPr bwMode="auto">
              <a:xfrm>
                <a:off x="56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7" name="Line 79"/>
              <p:cNvSpPr>
                <a:spLocks noChangeShapeType="1"/>
              </p:cNvSpPr>
              <p:nvPr/>
            </p:nvSpPr>
            <p:spPr bwMode="auto">
              <a:xfrm>
                <a:off x="57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>
                <a:off x="58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29" name="Line 81"/>
              <p:cNvSpPr>
                <a:spLocks noChangeShapeType="1"/>
              </p:cNvSpPr>
              <p:nvPr/>
            </p:nvSpPr>
            <p:spPr bwMode="auto">
              <a:xfrm>
                <a:off x="58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>
                <a:off x="59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>
                <a:off x="60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>
                <a:off x="61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>
                <a:off x="62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4" name="Line 86"/>
              <p:cNvSpPr>
                <a:spLocks noChangeShapeType="1"/>
              </p:cNvSpPr>
              <p:nvPr/>
            </p:nvSpPr>
            <p:spPr bwMode="auto">
              <a:xfrm>
                <a:off x="63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5" name="Line 87"/>
              <p:cNvSpPr>
                <a:spLocks noChangeShapeType="1"/>
              </p:cNvSpPr>
              <p:nvPr/>
            </p:nvSpPr>
            <p:spPr bwMode="auto">
              <a:xfrm>
                <a:off x="64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6" name="Line 88"/>
              <p:cNvSpPr>
                <a:spLocks noChangeShapeType="1"/>
              </p:cNvSpPr>
              <p:nvPr/>
            </p:nvSpPr>
            <p:spPr bwMode="auto">
              <a:xfrm>
                <a:off x="65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7" name="Line 89"/>
              <p:cNvSpPr>
                <a:spLocks noChangeShapeType="1"/>
              </p:cNvSpPr>
              <p:nvPr/>
            </p:nvSpPr>
            <p:spPr bwMode="auto">
              <a:xfrm>
                <a:off x="66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8" name="Line 90"/>
              <p:cNvSpPr>
                <a:spLocks noChangeShapeType="1"/>
              </p:cNvSpPr>
              <p:nvPr/>
            </p:nvSpPr>
            <p:spPr bwMode="auto">
              <a:xfrm>
                <a:off x="67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>
                <a:off x="68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>
                <a:off x="69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1" name="Line 93"/>
              <p:cNvSpPr>
                <a:spLocks noChangeShapeType="1"/>
              </p:cNvSpPr>
              <p:nvPr/>
            </p:nvSpPr>
            <p:spPr bwMode="auto">
              <a:xfrm>
                <a:off x="70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>
                <a:off x="70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>
                <a:off x="71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>
                <a:off x="72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>
                <a:off x="73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>
                <a:off x="74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>
                <a:off x="75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>
                <a:off x="76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77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0" name="Line 102"/>
              <p:cNvSpPr>
                <a:spLocks noChangeShapeType="1"/>
              </p:cNvSpPr>
              <p:nvPr/>
            </p:nvSpPr>
            <p:spPr bwMode="auto">
              <a:xfrm>
                <a:off x="78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1" name="Line 103"/>
              <p:cNvSpPr>
                <a:spLocks noChangeShapeType="1"/>
              </p:cNvSpPr>
              <p:nvPr/>
            </p:nvSpPr>
            <p:spPr bwMode="auto">
              <a:xfrm>
                <a:off x="79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2" name="Line 104"/>
              <p:cNvSpPr>
                <a:spLocks noChangeShapeType="1"/>
              </p:cNvSpPr>
              <p:nvPr/>
            </p:nvSpPr>
            <p:spPr bwMode="auto">
              <a:xfrm>
                <a:off x="80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3" name="Line 105"/>
              <p:cNvSpPr>
                <a:spLocks noChangeShapeType="1"/>
              </p:cNvSpPr>
              <p:nvPr/>
            </p:nvSpPr>
            <p:spPr bwMode="auto">
              <a:xfrm>
                <a:off x="81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4" name="Line 106"/>
              <p:cNvSpPr>
                <a:spLocks noChangeShapeType="1"/>
              </p:cNvSpPr>
              <p:nvPr/>
            </p:nvSpPr>
            <p:spPr bwMode="auto">
              <a:xfrm>
                <a:off x="82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5" name="Line 107"/>
              <p:cNvSpPr>
                <a:spLocks noChangeShapeType="1"/>
              </p:cNvSpPr>
              <p:nvPr/>
            </p:nvSpPr>
            <p:spPr bwMode="auto">
              <a:xfrm>
                <a:off x="82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6" name="Line 108"/>
              <p:cNvSpPr>
                <a:spLocks noChangeShapeType="1"/>
              </p:cNvSpPr>
              <p:nvPr/>
            </p:nvSpPr>
            <p:spPr bwMode="auto">
              <a:xfrm>
                <a:off x="83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7" name="Line 109"/>
              <p:cNvSpPr>
                <a:spLocks noChangeShapeType="1"/>
              </p:cNvSpPr>
              <p:nvPr/>
            </p:nvSpPr>
            <p:spPr bwMode="auto">
              <a:xfrm>
                <a:off x="84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auto">
              <a:xfrm>
                <a:off x="85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9" name="Line 111"/>
              <p:cNvSpPr>
                <a:spLocks noChangeShapeType="1"/>
              </p:cNvSpPr>
              <p:nvPr/>
            </p:nvSpPr>
            <p:spPr bwMode="auto">
              <a:xfrm>
                <a:off x="86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0" name="Line 112"/>
              <p:cNvSpPr>
                <a:spLocks noChangeShapeType="1"/>
              </p:cNvSpPr>
              <p:nvPr/>
            </p:nvSpPr>
            <p:spPr bwMode="auto">
              <a:xfrm>
                <a:off x="87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1" name="Line 113"/>
              <p:cNvSpPr>
                <a:spLocks noChangeShapeType="1"/>
              </p:cNvSpPr>
              <p:nvPr/>
            </p:nvSpPr>
            <p:spPr bwMode="auto">
              <a:xfrm>
                <a:off x="88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2" name="Line 114"/>
              <p:cNvSpPr>
                <a:spLocks noChangeShapeType="1"/>
              </p:cNvSpPr>
              <p:nvPr/>
            </p:nvSpPr>
            <p:spPr bwMode="auto">
              <a:xfrm>
                <a:off x="89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3" name="Line 115"/>
              <p:cNvSpPr>
                <a:spLocks noChangeShapeType="1"/>
              </p:cNvSpPr>
              <p:nvPr/>
            </p:nvSpPr>
            <p:spPr bwMode="auto">
              <a:xfrm>
                <a:off x="90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4" name="Line 116"/>
              <p:cNvSpPr>
                <a:spLocks noChangeShapeType="1"/>
              </p:cNvSpPr>
              <p:nvPr/>
            </p:nvSpPr>
            <p:spPr bwMode="auto">
              <a:xfrm>
                <a:off x="91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5" name="Line 117"/>
              <p:cNvSpPr>
                <a:spLocks noChangeShapeType="1"/>
              </p:cNvSpPr>
              <p:nvPr/>
            </p:nvSpPr>
            <p:spPr bwMode="auto">
              <a:xfrm>
                <a:off x="92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>
                <a:off x="93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94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94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95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>
                <a:off x="96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>
                <a:off x="97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>
                <a:off x="98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>
                <a:off x="99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>
                <a:off x="100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>
                <a:off x="101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>
                <a:off x="102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>
                <a:off x="103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>
                <a:off x="104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79" name="Line 131"/>
              <p:cNvSpPr>
                <a:spLocks noChangeShapeType="1"/>
              </p:cNvSpPr>
              <p:nvPr/>
            </p:nvSpPr>
            <p:spPr bwMode="auto">
              <a:xfrm>
                <a:off x="105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0" name="Line 132"/>
              <p:cNvSpPr>
                <a:spLocks noChangeShapeType="1"/>
              </p:cNvSpPr>
              <p:nvPr/>
            </p:nvSpPr>
            <p:spPr bwMode="auto">
              <a:xfrm>
                <a:off x="106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1" name="Line 133"/>
              <p:cNvSpPr>
                <a:spLocks noChangeShapeType="1"/>
              </p:cNvSpPr>
              <p:nvPr/>
            </p:nvSpPr>
            <p:spPr bwMode="auto">
              <a:xfrm>
                <a:off x="106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2" name="Line 134"/>
              <p:cNvSpPr>
                <a:spLocks noChangeShapeType="1"/>
              </p:cNvSpPr>
              <p:nvPr/>
            </p:nvSpPr>
            <p:spPr bwMode="auto">
              <a:xfrm>
                <a:off x="107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3" name="Line 135"/>
              <p:cNvSpPr>
                <a:spLocks noChangeShapeType="1"/>
              </p:cNvSpPr>
              <p:nvPr/>
            </p:nvSpPr>
            <p:spPr bwMode="auto">
              <a:xfrm>
                <a:off x="108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4" name="Line 136"/>
              <p:cNvSpPr>
                <a:spLocks noChangeShapeType="1"/>
              </p:cNvSpPr>
              <p:nvPr/>
            </p:nvSpPr>
            <p:spPr bwMode="auto">
              <a:xfrm>
                <a:off x="109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auto">
              <a:xfrm>
                <a:off x="110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6" name="Line 138"/>
              <p:cNvSpPr>
                <a:spLocks noChangeShapeType="1"/>
              </p:cNvSpPr>
              <p:nvPr/>
            </p:nvSpPr>
            <p:spPr bwMode="auto">
              <a:xfrm>
                <a:off x="111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>
                <a:off x="112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8" name="Line 140"/>
              <p:cNvSpPr>
                <a:spLocks noChangeShapeType="1"/>
              </p:cNvSpPr>
              <p:nvPr/>
            </p:nvSpPr>
            <p:spPr bwMode="auto">
              <a:xfrm>
                <a:off x="113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9" name="Line 141"/>
              <p:cNvSpPr>
                <a:spLocks noChangeShapeType="1"/>
              </p:cNvSpPr>
              <p:nvPr/>
            </p:nvSpPr>
            <p:spPr bwMode="auto">
              <a:xfrm>
                <a:off x="114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0" name="Line 142"/>
              <p:cNvSpPr>
                <a:spLocks noChangeShapeType="1"/>
              </p:cNvSpPr>
              <p:nvPr/>
            </p:nvSpPr>
            <p:spPr bwMode="auto">
              <a:xfrm>
                <a:off x="115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1" name="Line 143"/>
              <p:cNvSpPr>
                <a:spLocks noChangeShapeType="1"/>
              </p:cNvSpPr>
              <p:nvPr/>
            </p:nvSpPr>
            <p:spPr bwMode="auto">
              <a:xfrm>
                <a:off x="116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2" name="Line 144"/>
              <p:cNvSpPr>
                <a:spLocks noChangeShapeType="1"/>
              </p:cNvSpPr>
              <p:nvPr/>
            </p:nvSpPr>
            <p:spPr bwMode="auto">
              <a:xfrm>
                <a:off x="117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3" name="Line 145"/>
              <p:cNvSpPr>
                <a:spLocks noChangeShapeType="1"/>
              </p:cNvSpPr>
              <p:nvPr/>
            </p:nvSpPr>
            <p:spPr bwMode="auto">
              <a:xfrm>
                <a:off x="117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4" name="Line 146"/>
              <p:cNvSpPr>
                <a:spLocks noChangeShapeType="1"/>
              </p:cNvSpPr>
              <p:nvPr/>
            </p:nvSpPr>
            <p:spPr bwMode="auto">
              <a:xfrm>
                <a:off x="118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5" name="Line 147"/>
              <p:cNvSpPr>
                <a:spLocks noChangeShapeType="1"/>
              </p:cNvSpPr>
              <p:nvPr/>
            </p:nvSpPr>
            <p:spPr bwMode="auto">
              <a:xfrm>
                <a:off x="119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6" name="Line 148"/>
              <p:cNvSpPr>
                <a:spLocks noChangeShapeType="1"/>
              </p:cNvSpPr>
              <p:nvPr/>
            </p:nvSpPr>
            <p:spPr bwMode="auto">
              <a:xfrm>
                <a:off x="120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7" name="Line 149"/>
              <p:cNvSpPr>
                <a:spLocks noChangeShapeType="1"/>
              </p:cNvSpPr>
              <p:nvPr/>
            </p:nvSpPr>
            <p:spPr bwMode="auto">
              <a:xfrm>
                <a:off x="121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8" name="Line 150"/>
              <p:cNvSpPr>
                <a:spLocks noChangeShapeType="1"/>
              </p:cNvSpPr>
              <p:nvPr/>
            </p:nvSpPr>
            <p:spPr bwMode="auto">
              <a:xfrm>
                <a:off x="122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99" name="Line 151"/>
              <p:cNvSpPr>
                <a:spLocks noChangeShapeType="1"/>
              </p:cNvSpPr>
              <p:nvPr/>
            </p:nvSpPr>
            <p:spPr bwMode="auto">
              <a:xfrm>
                <a:off x="123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0" name="Line 152"/>
              <p:cNvSpPr>
                <a:spLocks noChangeShapeType="1"/>
              </p:cNvSpPr>
              <p:nvPr/>
            </p:nvSpPr>
            <p:spPr bwMode="auto">
              <a:xfrm>
                <a:off x="124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1" name="Line 153"/>
              <p:cNvSpPr>
                <a:spLocks noChangeShapeType="1"/>
              </p:cNvSpPr>
              <p:nvPr/>
            </p:nvSpPr>
            <p:spPr bwMode="auto">
              <a:xfrm>
                <a:off x="125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2" name="Line 154"/>
              <p:cNvSpPr>
                <a:spLocks noChangeShapeType="1"/>
              </p:cNvSpPr>
              <p:nvPr/>
            </p:nvSpPr>
            <p:spPr bwMode="auto">
              <a:xfrm>
                <a:off x="126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3" name="Line 155"/>
              <p:cNvSpPr>
                <a:spLocks noChangeShapeType="1"/>
              </p:cNvSpPr>
              <p:nvPr/>
            </p:nvSpPr>
            <p:spPr bwMode="auto">
              <a:xfrm>
                <a:off x="127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4" name="Line 156"/>
              <p:cNvSpPr>
                <a:spLocks noChangeShapeType="1"/>
              </p:cNvSpPr>
              <p:nvPr/>
            </p:nvSpPr>
            <p:spPr bwMode="auto">
              <a:xfrm>
                <a:off x="128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5" name="Line 157"/>
              <p:cNvSpPr>
                <a:spLocks noChangeShapeType="1"/>
              </p:cNvSpPr>
              <p:nvPr/>
            </p:nvSpPr>
            <p:spPr bwMode="auto">
              <a:xfrm>
                <a:off x="129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6" name="Line 158"/>
              <p:cNvSpPr>
                <a:spLocks noChangeShapeType="1"/>
              </p:cNvSpPr>
              <p:nvPr/>
            </p:nvSpPr>
            <p:spPr bwMode="auto">
              <a:xfrm>
                <a:off x="129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7" name="Line 159"/>
              <p:cNvSpPr>
                <a:spLocks noChangeShapeType="1"/>
              </p:cNvSpPr>
              <p:nvPr/>
            </p:nvSpPr>
            <p:spPr bwMode="auto">
              <a:xfrm>
                <a:off x="130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8" name="Line 160"/>
              <p:cNvSpPr>
                <a:spLocks noChangeShapeType="1"/>
              </p:cNvSpPr>
              <p:nvPr/>
            </p:nvSpPr>
            <p:spPr bwMode="auto">
              <a:xfrm>
                <a:off x="131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>
                <a:off x="132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0" name="Line 162"/>
              <p:cNvSpPr>
                <a:spLocks noChangeShapeType="1"/>
              </p:cNvSpPr>
              <p:nvPr/>
            </p:nvSpPr>
            <p:spPr bwMode="auto">
              <a:xfrm>
                <a:off x="133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1" name="Line 163"/>
              <p:cNvSpPr>
                <a:spLocks noChangeShapeType="1"/>
              </p:cNvSpPr>
              <p:nvPr/>
            </p:nvSpPr>
            <p:spPr bwMode="auto">
              <a:xfrm>
                <a:off x="134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2" name="Line 164"/>
              <p:cNvSpPr>
                <a:spLocks noChangeShapeType="1"/>
              </p:cNvSpPr>
              <p:nvPr/>
            </p:nvSpPr>
            <p:spPr bwMode="auto">
              <a:xfrm>
                <a:off x="135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3" name="Line 165"/>
              <p:cNvSpPr>
                <a:spLocks noChangeShapeType="1"/>
              </p:cNvSpPr>
              <p:nvPr/>
            </p:nvSpPr>
            <p:spPr bwMode="auto">
              <a:xfrm>
                <a:off x="136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4" name="Line 166"/>
              <p:cNvSpPr>
                <a:spLocks noChangeShapeType="1"/>
              </p:cNvSpPr>
              <p:nvPr/>
            </p:nvSpPr>
            <p:spPr bwMode="auto">
              <a:xfrm>
                <a:off x="137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>
                <a:off x="138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>
                <a:off x="139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>
                <a:off x="140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8" name="Line 170"/>
              <p:cNvSpPr>
                <a:spLocks noChangeShapeType="1"/>
              </p:cNvSpPr>
              <p:nvPr/>
            </p:nvSpPr>
            <p:spPr bwMode="auto">
              <a:xfrm>
                <a:off x="141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>
                <a:off x="141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0" name="Line 172"/>
              <p:cNvSpPr>
                <a:spLocks noChangeShapeType="1"/>
              </p:cNvSpPr>
              <p:nvPr/>
            </p:nvSpPr>
            <p:spPr bwMode="auto">
              <a:xfrm>
                <a:off x="142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1" name="Line 173"/>
              <p:cNvSpPr>
                <a:spLocks noChangeShapeType="1"/>
              </p:cNvSpPr>
              <p:nvPr/>
            </p:nvSpPr>
            <p:spPr bwMode="auto">
              <a:xfrm>
                <a:off x="143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2" name="Line 174"/>
              <p:cNvSpPr>
                <a:spLocks noChangeShapeType="1"/>
              </p:cNvSpPr>
              <p:nvPr/>
            </p:nvSpPr>
            <p:spPr bwMode="auto">
              <a:xfrm>
                <a:off x="144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3" name="Line 175"/>
              <p:cNvSpPr>
                <a:spLocks noChangeShapeType="1"/>
              </p:cNvSpPr>
              <p:nvPr/>
            </p:nvSpPr>
            <p:spPr bwMode="auto">
              <a:xfrm>
                <a:off x="145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4" name="Line 176"/>
              <p:cNvSpPr>
                <a:spLocks noChangeShapeType="1"/>
              </p:cNvSpPr>
              <p:nvPr/>
            </p:nvSpPr>
            <p:spPr bwMode="auto">
              <a:xfrm>
                <a:off x="146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5" name="Line 177"/>
              <p:cNvSpPr>
                <a:spLocks noChangeShapeType="1"/>
              </p:cNvSpPr>
              <p:nvPr/>
            </p:nvSpPr>
            <p:spPr bwMode="auto">
              <a:xfrm>
                <a:off x="147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6" name="Line 178"/>
              <p:cNvSpPr>
                <a:spLocks noChangeShapeType="1"/>
              </p:cNvSpPr>
              <p:nvPr/>
            </p:nvSpPr>
            <p:spPr bwMode="auto">
              <a:xfrm>
                <a:off x="148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7" name="Line 179"/>
              <p:cNvSpPr>
                <a:spLocks noChangeShapeType="1"/>
              </p:cNvSpPr>
              <p:nvPr/>
            </p:nvSpPr>
            <p:spPr bwMode="auto">
              <a:xfrm>
                <a:off x="149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8" name="Line 180"/>
              <p:cNvSpPr>
                <a:spLocks noChangeShapeType="1"/>
              </p:cNvSpPr>
              <p:nvPr/>
            </p:nvSpPr>
            <p:spPr bwMode="auto">
              <a:xfrm>
                <a:off x="150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9" name="Line 181"/>
              <p:cNvSpPr>
                <a:spLocks noChangeShapeType="1"/>
              </p:cNvSpPr>
              <p:nvPr/>
            </p:nvSpPr>
            <p:spPr bwMode="auto">
              <a:xfrm>
                <a:off x="151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0" name="Line 182"/>
              <p:cNvSpPr>
                <a:spLocks noChangeShapeType="1"/>
              </p:cNvSpPr>
              <p:nvPr/>
            </p:nvSpPr>
            <p:spPr bwMode="auto">
              <a:xfrm>
                <a:off x="152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1" name="Line 183"/>
              <p:cNvSpPr>
                <a:spLocks noChangeShapeType="1"/>
              </p:cNvSpPr>
              <p:nvPr/>
            </p:nvSpPr>
            <p:spPr bwMode="auto">
              <a:xfrm>
                <a:off x="153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2" name="Line 184"/>
              <p:cNvSpPr>
                <a:spLocks noChangeShapeType="1"/>
              </p:cNvSpPr>
              <p:nvPr/>
            </p:nvSpPr>
            <p:spPr bwMode="auto">
              <a:xfrm>
                <a:off x="153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3" name="Line 185"/>
              <p:cNvSpPr>
                <a:spLocks noChangeShapeType="1"/>
              </p:cNvSpPr>
              <p:nvPr/>
            </p:nvSpPr>
            <p:spPr bwMode="auto">
              <a:xfrm>
                <a:off x="154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>
                <a:off x="155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5" name="Line 187"/>
              <p:cNvSpPr>
                <a:spLocks noChangeShapeType="1"/>
              </p:cNvSpPr>
              <p:nvPr/>
            </p:nvSpPr>
            <p:spPr bwMode="auto">
              <a:xfrm>
                <a:off x="156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6" name="Line 188"/>
              <p:cNvSpPr>
                <a:spLocks noChangeShapeType="1"/>
              </p:cNvSpPr>
              <p:nvPr/>
            </p:nvSpPr>
            <p:spPr bwMode="auto">
              <a:xfrm>
                <a:off x="157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7" name="Line 189"/>
              <p:cNvSpPr>
                <a:spLocks noChangeShapeType="1"/>
              </p:cNvSpPr>
              <p:nvPr/>
            </p:nvSpPr>
            <p:spPr bwMode="auto">
              <a:xfrm>
                <a:off x="158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8" name="Line 190"/>
              <p:cNvSpPr>
                <a:spLocks noChangeShapeType="1"/>
              </p:cNvSpPr>
              <p:nvPr/>
            </p:nvSpPr>
            <p:spPr bwMode="auto">
              <a:xfrm>
                <a:off x="159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>
                <a:off x="160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0" name="Line 192"/>
              <p:cNvSpPr>
                <a:spLocks noChangeShapeType="1"/>
              </p:cNvSpPr>
              <p:nvPr/>
            </p:nvSpPr>
            <p:spPr bwMode="auto">
              <a:xfrm>
                <a:off x="161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1" name="Line 193"/>
              <p:cNvSpPr>
                <a:spLocks noChangeShapeType="1"/>
              </p:cNvSpPr>
              <p:nvPr/>
            </p:nvSpPr>
            <p:spPr bwMode="auto">
              <a:xfrm>
                <a:off x="162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2" name="Line 194"/>
              <p:cNvSpPr>
                <a:spLocks noChangeShapeType="1"/>
              </p:cNvSpPr>
              <p:nvPr/>
            </p:nvSpPr>
            <p:spPr bwMode="auto">
              <a:xfrm>
                <a:off x="163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3" name="Line 195"/>
              <p:cNvSpPr>
                <a:spLocks noChangeShapeType="1"/>
              </p:cNvSpPr>
              <p:nvPr/>
            </p:nvSpPr>
            <p:spPr bwMode="auto">
              <a:xfrm>
                <a:off x="164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4" name="Line 196"/>
              <p:cNvSpPr>
                <a:spLocks noChangeShapeType="1"/>
              </p:cNvSpPr>
              <p:nvPr/>
            </p:nvSpPr>
            <p:spPr bwMode="auto">
              <a:xfrm>
                <a:off x="164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5" name="Line 197"/>
              <p:cNvSpPr>
                <a:spLocks noChangeShapeType="1"/>
              </p:cNvSpPr>
              <p:nvPr/>
            </p:nvSpPr>
            <p:spPr bwMode="auto">
              <a:xfrm>
                <a:off x="165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6" name="Line 198"/>
              <p:cNvSpPr>
                <a:spLocks noChangeShapeType="1"/>
              </p:cNvSpPr>
              <p:nvPr/>
            </p:nvSpPr>
            <p:spPr bwMode="auto">
              <a:xfrm>
                <a:off x="166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7" name="Line 199"/>
              <p:cNvSpPr>
                <a:spLocks noChangeShapeType="1"/>
              </p:cNvSpPr>
              <p:nvPr/>
            </p:nvSpPr>
            <p:spPr bwMode="auto">
              <a:xfrm>
                <a:off x="167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8" name="Line 200"/>
              <p:cNvSpPr>
                <a:spLocks noChangeShapeType="1"/>
              </p:cNvSpPr>
              <p:nvPr/>
            </p:nvSpPr>
            <p:spPr bwMode="auto">
              <a:xfrm>
                <a:off x="168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49" name="Line 201"/>
              <p:cNvSpPr>
                <a:spLocks noChangeShapeType="1"/>
              </p:cNvSpPr>
              <p:nvPr/>
            </p:nvSpPr>
            <p:spPr bwMode="auto">
              <a:xfrm>
                <a:off x="169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0" name="Line 202"/>
              <p:cNvSpPr>
                <a:spLocks noChangeShapeType="1"/>
              </p:cNvSpPr>
              <p:nvPr/>
            </p:nvSpPr>
            <p:spPr bwMode="auto">
              <a:xfrm>
                <a:off x="170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1" name="Line 203"/>
              <p:cNvSpPr>
                <a:spLocks noChangeShapeType="1"/>
              </p:cNvSpPr>
              <p:nvPr/>
            </p:nvSpPr>
            <p:spPr bwMode="auto">
              <a:xfrm>
                <a:off x="171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2" name="Line 204"/>
              <p:cNvSpPr>
                <a:spLocks noChangeShapeType="1"/>
              </p:cNvSpPr>
              <p:nvPr/>
            </p:nvSpPr>
            <p:spPr bwMode="auto">
              <a:xfrm>
                <a:off x="172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3" name="Line 205"/>
              <p:cNvSpPr>
                <a:spLocks noChangeShapeType="1"/>
              </p:cNvSpPr>
              <p:nvPr/>
            </p:nvSpPr>
            <p:spPr bwMode="auto">
              <a:xfrm>
                <a:off x="173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4" name="Line 206"/>
              <p:cNvSpPr>
                <a:spLocks noChangeShapeType="1"/>
              </p:cNvSpPr>
              <p:nvPr/>
            </p:nvSpPr>
            <p:spPr bwMode="auto">
              <a:xfrm>
                <a:off x="174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5" name="Line 207"/>
              <p:cNvSpPr>
                <a:spLocks noChangeShapeType="1"/>
              </p:cNvSpPr>
              <p:nvPr/>
            </p:nvSpPr>
            <p:spPr bwMode="auto">
              <a:xfrm>
                <a:off x="175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6" name="Line 208"/>
              <p:cNvSpPr>
                <a:spLocks noChangeShapeType="1"/>
              </p:cNvSpPr>
              <p:nvPr/>
            </p:nvSpPr>
            <p:spPr bwMode="auto">
              <a:xfrm>
                <a:off x="176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7" name="Line 209"/>
              <p:cNvSpPr>
                <a:spLocks noChangeShapeType="1"/>
              </p:cNvSpPr>
              <p:nvPr/>
            </p:nvSpPr>
            <p:spPr bwMode="auto">
              <a:xfrm>
                <a:off x="176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8" name="Line 210"/>
              <p:cNvSpPr>
                <a:spLocks noChangeShapeType="1"/>
              </p:cNvSpPr>
              <p:nvPr/>
            </p:nvSpPr>
            <p:spPr bwMode="auto">
              <a:xfrm>
                <a:off x="177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59" name="Line 211"/>
              <p:cNvSpPr>
                <a:spLocks noChangeShapeType="1"/>
              </p:cNvSpPr>
              <p:nvPr/>
            </p:nvSpPr>
            <p:spPr bwMode="auto">
              <a:xfrm>
                <a:off x="178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0" name="Line 212"/>
              <p:cNvSpPr>
                <a:spLocks noChangeShapeType="1"/>
              </p:cNvSpPr>
              <p:nvPr/>
            </p:nvSpPr>
            <p:spPr bwMode="auto">
              <a:xfrm>
                <a:off x="179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1" name="Line 213"/>
              <p:cNvSpPr>
                <a:spLocks noChangeShapeType="1"/>
              </p:cNvSpPr>
              <p:nvPr/>
            </p:nvSpPr>
            <p:spPr bwMode="auto">
              <a:xfrm>
                <a:off x="180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2" name="Line 214"/>
              <p:cNvSpPr>
                <a:spLocks noChangeShapeType="1"/>
              </p:cNvSpPr>
              <p:nvPr/>
            </p:nvSpPr>
            <p:spPr bwMode="auto">
              <a:xfrm>
                <a:off x="181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3" name="Line 215"/>
              <p:cNvSpPr>
                <a:spLocks noChangeShapeType="1"/>
              </p:cNvSpPr>
              <p:nvPr/>
            </p:nvSpPr>
            <p:spPr bwMode="auto">
              <a:xfrm>
                <a:off x="182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4" name="Line 216"/>
              <p:cNvSpPr>
                <a:spLocks noChangeShapeType="1"/>
              </p:cNvSpPr>
              <p:nvPr/>
            </p:nvSpPr>
            <p:spPr bwMode="auto">
              <a:xfrm>
                <a:off x="183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5" name="Line 217"/>
              <p:cNvSpPr>
                <a:spLocks noChangeShapeType="1"/>
              </p:cNvSpPr>
              <p:nvPr/>
            </p:nvSpPr>
            <p:spPr bwMode="auto">
              <a:xfrm>
                <a:off x="184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6" name="Line 218"/>
              <p:cNvSpPr>
                <a:spLocks noChangeShapeType="1"/>
              </p:cNvSpPr>
              <p:nvPr/>
            </p:nvSpPr>
            <p:spPr bwMode="auto">
              <a:xfrm>
                <a:off x="185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7" name="Line 219"/>
              <p:cNvSpPr>
                <a:spLocks noChangeShapeType="1"/>
              </p:cNvSpPr>
              <p:nvPr/>
            </p:nvSpPr>
            <p:spPr bwMode="auto">
              <a:xfrm>
                <a:off x="186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8" name="Line 220"/>
              <p:cNvSpPr>
                <a:spLocks noChangeShapeType="1"/>
              </p:cNvSpPr>
              <p:nvPr/>
            </p:nvSpPr>
            <p:spPr bwMode="auto">
              <a:xfrm>
                <a:off x="1871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69" name="Line 221"/>
              <p:cNvSpPr>
                <a:spLocks noChangeShapeType="1"/>
              </p:cNvSpPr>
              <p:nvPr/>
            </p:nvSpPr>
            <p:spPr bwMode="auto">
              <a:xfrm>
                <a:off x="188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" name="Group 222"/>
            <p:cNvGrpSpPr>
              <a:grpSpLocks/>
            </p:cNvGrpSpPr>
            <p:nvPr/>
          </p:nvGrpSpPr>
          <p:grpSpPr bwMode="auto">
            <a:xfrm>
              <a:off x="1921" y="1308"/>
              <a:ext cx="426" cy="1219"/>
              <a:chOff x="1889" y="1452"/>
              <a:chExt cx="425" cy="1219"/>
            </a:xfrm>
          </p:grpSpPr>
          <p:sp>
            <p:nvSpPr>
              <p:cNvPr id="2271" name="Line 223"/>
              <p:cNvSpPr>
                <a:spLocks noChangeShapeType="1"/>
              </p:cNvSpPr>
              <p:nvPr/>
            </p:nvSpPr>
            <p:spPr bwMode="auto">
              <a:xfrm>
                <a:off x="188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2" name="Line 224"/>
              <p:cNvSpPr>
                <a:spLocks noChangeShapeType="1"/>
              </p:cNvSpPr>
              <p:nvPr/>
            </p:nvSpPr>
            <p:spPr bwMode="auto">
              <a:xfrm>
                <a:off x="189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3" name="Line 225"/>
              <p:cNvSpPr>
                <a:spLocks noChangeShapeType="1"/>
              </p:cNvSpPr>
              <p:nvPr/>
            </p:nvSpPr>
            <p:spPr bwMode="auto">
              <a:xfrm>
                <a:off x="190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4" name="Line 226"/>
              <p:cNvSpPr>
                <a:spLocks noChangeShapeType="1"/>
              </p:cNvSpPr>
              <p:nvPr/>
            </p:nvSpPr>
            <p:spPr bwMode="auto">
              <a:xfrm>
                <a:off x="191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5" name="Line 227"/>
              <p:cNvSpPr>
                <a:spLocks noChangeShapeType="1"/>
              </p:cNvSpPr>
              <p:nvPr/>
            </p:nvSpPr>
            <p:spPr bwMode="auto">
              <a:xfrm>
                <a:off x="192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6" name="Line 228"/>
              <p:cNvSpPr>
                <a:spLocks noChangeShapeType="1"/>
              </p:cNvSpPr>
              <p:nvPr/>
            </p:nvSpPr>
            <p:spPr bwMode="auto">
              <a:xfrm>
                <a:off x="193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7" name="Line 229"/>
              <p:cNvSpPr>
                <a:spLocks noChangeShapeType="1"/>
              </p:cNvSpPr>
              <p:nvPr/>
            </p:nvSpPr>
            <p:spPr bwMode="auto">
              <a:xfrm>
                <a:off x="194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8" name="Line 230"/>
              <p:cNvSpPr>
                <a:spLocks noChangeShapeType="1"/>
              </p:cNvSpPr>
              <p:nvPr/>
            </p:nvSpPr>
            <p:spPr bwMode="auto">
              <a:xfrm>
                <a:off x="195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79" name="Line 231"/>
              <p:cNvSpPr>
                <a:spLocks noChangeShapeType="1"/>
              </p:cNvSpPr>
              <p:nvPr/>
            </p:nvSpPr>
            <p:spPr bwMode="auto">
              <a:xfrm>
                <a:off x="196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0" name="Line 232"/>
              <p:cNvSpPr>
                <a:spLocks noChangeShapeType="1"/>
              </p:cNvSpPr>
              <p:nvPr/>
            </p:nvSpPr>
            <p:spPr bwMode="auto">
              <a:xfrm>
                <a:off x="197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1" name="Line 233"/>
              <p:cNvSpPr>
                <a:spLocks noChangeShapeType="1"/>
              </p:cNvSpPr>
              <p:nvPr/>
            </p:nvSpPr>
            <p:spPr bwMode="auto">
              <a:xfrm>
                <a:off x="198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2" name="Line 234"/>
              <p:cNvSpPr>
                <a:spLocks noChangeShapeType="1"/>
              </p:cNvSpPr>
              <p:nvPr/>
            </p:nvSpPr>
            <p:spPr bwMode="auto">
              <a:xfrm>
                <a:off x="199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3" name="Line 235"/>
              <p:cNvSpPr>
                <a:spLocks noChangeShapeType="1"/>
              </p:cNvSpPr>
              <p:nvPr/>
            </p:nvSpPr>
            <p:spPr bwMode="auto">
              <a:xfrm>
                <a:off x="200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4" name="Line 236"/>
              <p:cNvSpPr>
                <a:spLocks noChangeShapeType="1"/>
              </p:cNvSpPr>
              <p:nvPr/>
            </p:nvSpPr>
            <p:spPr bwMode="auto">
              <a:xfrm>
                <a:off x="200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5" name="Line 237"/>
              <p:cNvSpPr>
                <a:spLocks noChangeShapeType="1"/>
              </p:cNvSpPr>
              <p:nvPr/>
            </p:nvSpPr>
            <p:spPr bwMode="auto">
              <a:xfrm>
                <a:off x="201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6" name="Line 238"/>
              <p:cNvSpPr>
                <a:spLocks noChangeShapeType="1"/>
              </p:cNvSpPr>
              <p:nvPr/>
            </p:nvSpPr>
            <p:spPr bwMode="auto">
              <a:xfrm>
                <a:off x="202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7" name="Line 239"/>
              <p:cNvSpPr>
                <a:spLocks noChangeShapeType="1"/>
              </p:cNvSpPr>
              <p:nvPr/>
            </p:nvSpPr>
            <p:spPr bwMode="auto">
              <a:xfrm>
                <a:off x="2037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8" name="Line 240"/>
              <p:cNvSpPr>
                <a:spLocks noChangeShapeType="1"/>
              </p:cNvSpPr>
              <p:nvPr/>
            </p:nvSpPr>
            <p:spPr bwMode="auto">
              <a:xfrm>
                <a:off x="204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89" name="Line 241"/>
              <p:cNvSpPr>
                <a:spLocks noChangeShapeType="1"/>
              </p:cNvSpPr>
              <p:nvPr/>
            </p:nvSpPr>
            <p:spPr bwMode="auto">
              <a:xfrm>
                <a:off x="205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0" name="Line 242"/>
              <p:cNvSpPr>
                <a:spLocks noChangeShapeType="1"/>
              </p:cNvSpPr>
              <p:nvPr/>
            </p:nvSpPr>
            <p:spPr bwMode="auto">
              <a:xfrm>
                <a:off x="206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1" name="Line 243"/>
              <p:cNvSpPr>
                <a:spLocks noChangeShapeType="1"/>
              </p:cNvSpPr>
              <p:nvPr/>
            </p:nvSpPr>
            <p:spPr bwMode="auto">
              <a:xfrm>
                <a:off x="207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2" name="Line 244"/>
              <p:cNvSpPr>
                <a:spLocks noChangeShapeType="1"/>
              </p:cNvSpPr>
              <p:nvPr/>
            </p:nvSpPr>
            <p:spPr bwMode="auto">
              <a:xfrm>
                <a:off x="2083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3" name="Line 245"/>
              <p:cNvSpPr>
                <a:spLocks noChangeShapeType="1"/>
              </p:cNvSpPr>
              <p:nvPr/>
            </p:nvSpPr>
            <p:spPr bwMode="auto">
              <a:xfrm>
                <a:off x="209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4" name="Line 246"/>
              <p:cNvSpPr>
                <a:spLocks noChangeShapeType="1"/>
              </p:cNvSpPr>
              <p:nvPr/>
            </p:nvSpPr>
            <p:spPr bwMode="auto">
              <a:xfrm>
                <a:off x="210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5" name="Line 247"/>
              <p:cNvSpPr>
                <a:spLocks noChangeShapeType="1"/>
              </p:cNvSpPr>
              <p:nvPr/>
            </p:nvSpPr>
            <p:spPr bwMode="auto">
              <a:xfrm>
                <a:off x="211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6" name="Line 248"/>
              <p:cNvSpPr>
                <a:spLocks noChangeShapeType="1"/>
              </p:cNvSpPr>
              <p:nvPr/>
            </p:nvSpPr>
            <p:spPr bwMode="auto">
              <a:xfrm>
                <a:off x="2120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7" name="Line 249"/>
              <p:cNvSpPr>
                <a:spLocks noChangeShapeType="1"/>
              </p:cNvSpPr>
              <p:nvPr/>
            </p:nvSpPr>
            <p:spPr bwMode="auto">
              <a:xfrm>
                <a:off x="212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8" name="Line 250"/>
              <p:cNvSpPr>
                <a:spLocks noChangeShapeType="1"/>
              </p:cNvSpPr>
              <p:nvPr/>
            </p:nvSpPr>
            <p:spPr bwMode="auto">
              <a:xfrm>
                <a:off x="2138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9" name="Line 251"/>
              <p:cNvSpPr>
                <a:spLocks noChangeShapeType="1"/>
              </p:cNvSpPr>
              <p:nvPr/>
            </p:nvSpPr>
            <p:spPr bwMode="auto">
              <a:xfrm>
                <a:off x="214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0" name="Line 252"/>
              <p:cNvSpPr>
                <a:spLocks noChangeShapeType="1"/>
              </p:cNvSpPr>
              <p:nvPr/>
            </p:nvSpPr>
            <p:spPr bwMode="auto">
              <a:xfrm>
                <a:off x="215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1" name="Line 253"/>
              <p:cNvSpPr>
                <a:spLocks noChangeShapeType="1"/>
              </p:cNvSpPr>
              <p:nvPr/>
            </p:nvSpPr>
            <p:spPr bwMode="auto">
              <a:xfrm>
                <a:off x="2166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2" name="Line 254"/>
              <p:cNvSpPr>
                <a:spLocks noChangeShapeType="1"/>
              </p:cNvSpPr>
              <p:nvPr/>
            </p:nvSpPr>
            <p:spPr bwMode="auto">
              <a:xfrm>
                <a:off x="217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3" name="Line 255"/>
              <p:cNvSpPr>
                <a:spLocks noChangeShapeType="1"/>
              </p:cNvSpPr>
              <p:nvPr/>
            </p:nvSpPr>
            <p:spPr bwMode="auto">
              <a:xfrm>
                <a:off x="2184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4" name="Line 256"/>
              <p:cNvSpPr>
                <a:spLocks noChangeShapeType="1"/>
              </p:cNvSpPr>
              <p:nvPr/>
            </p:nvSpPr>
            <p:spPr bwMode="auto">
              <a:xfrm>
                <a:off x="2193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5" name="Line 257"/>
              <p:cNvSpPr>
                <a:spLocks noChangeShapeType="1"/>
              </p:cNvSpPr>
              <p:nvPr/>
            </p:nvSpPr>
            <p:spPr bwMode="auto">
              <a:xfrm>
                <a:off x="2202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6" name="Line 258"/>
              <p:cNvSpPr>
                <a:spLocks noChangeShapeType="1"/>
              </p:cNvSpPr>
              <p:nvPr/>
            </p:nvSpPr>
            <p:spPr bwMode="auto">
              <a:xfrm>
                <a:off x="2212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7" name="Line 259"/>
              <p:cNvSpPr>
                <a:spLocks noChangeShapeType="1"/>
              </p:cNvSpPr>
              <p:nvPr/>
            </p:nvSpPr>
            <p:spPr bwMode="auto">
              <a:xfrm>
                <a:off x="2221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8" name="Line 260"/>
              <p:cNvSpPr>
                <a:spLocks noChangeShapeType="1"/>
              </p:cNvSpPr>
              <p:nvPr/>
            </p:nvSpPr>
            <p:spPr bwMode="auto">
              <a:xfrm>
                <a:off x="2230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9" name="Line 261"/>
              <p:cNvSpPr>
                <a:spLocks noChangeShapeType="1"/>
              </p:cNvSpPr>
              <p:nvPr/>
            </p:nvSpPr>
            <p:spPr bwMode="auto">
              <a:xfrm>
                <a:off x="2239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0" name="Line 262"/>
              <p:cNvSpPr>
                <a:spLocks noChangeShapeType="1"/>
              </p:cNvSpPr>
              <p:nvPr/>
            </p:nvSpPr>
            <p:spPr bwMode="auto">
              <a:xfrm>
                <a:off x="2249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1" name="Line 263"/>
              <p:cNvSpPr>
                <a:spLocks noChangeShapeType="1"/>
              </p:cNvSpPr>
              <p:nvPr/>
            </p:nvSpPr>
            <p:spPr bwMode="auto">
              <a:xfrm>
                <a:off x="2258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2" name="Line 264"/>
              <p:cNvSpPr>
                <a:spLocks noChangeShapeType="1"/>
              </p:cNvSpPr>
              <p:nvPr/>
            </p:nvSpPr>
            <p:spPr bwMode="auto">
              <a:xfrm>
                <a:off x="2267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3" name="Line 265"/>
              <p:cNvSpPr>
                <a:spLocks noChangeShapeType="1"/>
              </p:cNvSpPr>
              <p:nvPr/>
            </p:nvSpPr>
            <p:spPr bwMode="auto">
              <a:xfrm>
                <a:off x="2276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4" name="Line 266"/>
              <p:cNvSpPr>
                <a:spLocks noChangeShapeType="1"/>
              </p:cNvSpPr>
              <p:nvPr/>
            </p:nvSpPr>
            <p:spPr bwMode="auto">
              <a:xfrm>
                <a:off x="2285" y="2670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5" name="Line 267"/>
              <p:cNvSpPr>
                <a:spLocks noChangeShapeType="1"/>
              </p:cNvSpPr>
              <p:nvPr/>
            </p:nvSpPr>
            <p:spPr bwMode="auto">
              <a:xfrm>
                <a:off x="2295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6" name="Line 268"/>
              <p:cNvSpPr>
                <a:spLocks noChangeShapeType="1"/>
              </p:cNvSpPr>
              <p:nvPr/>
            </p:nvSpPr>
            <p:spPr bwMode="auto">
              <a:xfrm>
                <a:off x="2304" y="2670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7" name="Line 269"/>
              <p:cNvSpPr>
                <a:spLocks noChangeShapeType="1"/>
              </p:cNvSpPr>
              <p:nvPr/>
            </p:nvSpPr>
            <p:spPr bwMode="auto">
              <a:xfrm flipV="1">
                <a:off x="2313" y="266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8" name="Line 270"/>
              <p:cNvSpPr>
                <a:spLocks noChangeShapeType="1"/>
              </p:cNvSpPr>
              <p:nvPr/>
            </p:nvSpPr>
            <p:spPr bwMode="auto">
              <a:xfrm flipV="1">
                <a:off x="2313" y="265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19" name="Line 271"/>
              <p:cNvSpPr>
                <a:spLocks noChangeShapeType="1"/>
              </p:cNvSpPr>
              <p:nvPr/>
            </p:nvSpPr>
            <p:spPr bwMode="auto">
              <a:xfrm flipV="1">
                <a:off x="2313" y="264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0" name="Line 272"/>
              <p:cNvSpPr>
                <a:spLocks noChangeShapeType="1"/>
              </p:cNvSpPr>
              <p:nvPr/>
            </p:nvSpPr>
            <p:spPr bwMode="auto">
              <a:xfrm flipV="1">
                <a:off x="2313" y="263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1" name="Line 273"/>
              <p:cNvSpPr>
                <a:spLocks noChangeShapeType="1"/>
              </p:cNvSpPr>
              <p:nvPr/>
            </p:nvSpPr>
            <p:spPr bwMode="auto">
              <a:xfrm flipV="1">
                <a:off x="2313" y="262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2" name="Line 274"/>
              <p:cNvSpPr>
                <a:spLocks noChangeShapeType="1"/>
              </p:cNvSpPr>
              <p:nvPr/>
            </p:nvSpPr>
            <p:spPr bwMode="auto">
              <a:xfrm flipV="1">
                <a:off x="2313" y="261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3" name="Line 275"/>
              <p:cNvSpPr>
                <a:spLocks noChangeShapeType="1"/>
              </p:cNvSpPr>
              <p:nvPr/>
            </p:nvSpPr>
            <p:spPr bwMode="auto">
              <a:xfrm flipV="1">
                <a:off x="2313" y="261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4" name="Line 276"/>
              <p:cNvSpPr>
                <a:spLocks noChangeShapeType="1"/>
              </p:cNvSpPr>
              <p:nvPr/>
            </p:nvSpPr>
            <p:spPr bwMode="auto">
              <a:xfrm flipV="1">
                <a:off x="2313" y="260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5" name="Line 277"/>
              <p:cNvSpPr>
                <a:spLocks noChangeShapeType="1"/>
              </p:cNvSpPr>
              <p:nvPr/>
            </p:nvSpPr>
            <p:spPr bwMode="auto">
              <a:xfrm flipV="1">
                <a:off x="2313" y="259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6" name="Line 278"/>
              <p:cNvSpPr>
                <a:spLocks noChangeShapeType="1"/>
              </p:cNvSpPr>
              <p:nvPr/>
            </p:nvSpPr>
            <p:spPr bwMode="auto">
              <a:xfrm flipV="1">
                <a:off x="2313" y="258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7" name="Line 279"/>
              <p:cNvSpPr>
                <a:spLocks noChangeShapeType="1"/>
              </p:cNvSpPr>
              <p:nvPr/>
            </p:nvSpPr>
            <p:spPr bwMode="auto">
              <a:xfrm flipV="1">
                <a:off x="2313" y="257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8" name="Line 280"/>
              <p:cNvSpPr>
                <a:spLocks noChangeShapeType="1"/>
              </p:cNvSpPr>
              <p:nvPr/>
            </p:nvSpPr>
            <p:spPr bwMode="auto">
              <a:xfrm flipV="1">
                <a:off x="2313" y="256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29" name="Line 281"/>
              <p:cNvSpPr>
                <a:spLocks noChangeShapeType="1"/>
              </p:cNvSpPr>
              <p:nvPr/>
            </p:nvSpPr>
            <p:spPr bwMode="auto">
              <a:xfrm flipV="1">
                <a:off x="2313" y="255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0" name="Line 282"/>
              <p:cNvSpPr>
                <a:spLocks noChangeShapeType="1"/>
              </p:cNvSpPr>
              <p:nvPr/>
            </p:nvSpPr>
            <p:spPr bwMode="auto">
              <a:xfrm flipV="1">
                <a:off x="2313" y="254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1" name="Line 283"/>
              <p:cNvSpPr>
                <a:spLocks noChangeShapeType="1"/>
              </p:cNvSpPr>
              <p:nvPr/>
            </p:nvSpPr>
            <p:spPr bwMode="auto">
              <a:xfrm flipV="1">
                <a:off x="2313" y="253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2" name="Line 284"/>
              <p:cNvSpPr>
                <a:spLocks noChangeShapeType="1"/>
              </p:cNvSpPr>
              <p:nvPr/>
            </p:nvSpPr>
            <p:spPr bwMode="auto">
              <a:xfrm flipV="1">
                <a:off x="2313" y="252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3" name="Line 285"/>
              <p:cNvSpPr>
                <a:spLocks noChangeShapeType="1"/>
              </p:cNvSpPr>
              <p:nvPr/>
            </p:nvSpPr>
            <p:spPr bwMode="auto">
              <a:xfrm flipV="1">
                <a:off x="2313" y="251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4" name="Line 286"/>
              <p:cNvSpPr>
                <a:spLocks noChangeShapeType="1"/>
              </p:cNvSpPr>
              <p:nvPr/>
            </p:nvSpPr>
            <p:spPr bwMode="auto">
              <a:xfrm flipV="1">
                <a:off x="2313" y="250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5" name="Line 287"/>
              <p:cNvSpPr>
                <a:spLocks noChangeShapeType="1"/>
              </p:cNvSpPr>
              <p:nvPr/>
            </p:nvSpPr>
            <p:spPr bwMode="auto">
              <a:xfrm flipV="1">
                <a:off x="2313" y="24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6" name="Line 288"/>
              <p:cNvSpPr>
                <a:spLocks noChangeShapeType="1"/>
              </p:cNvSpPr>
              <p:nvPr/>
            </p:nvSpPr>
            <p:spPr bwMode="auto">
              <a:xfrm flipV="1">
                <a:off x="2313" y="249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7" name="Line 289"/>
              <p:cNvSpPr>
                <a:spLocks noChangeShapeType="1"/>
              </p:cNvSpPr>
              <p:nvPr/>
            </p:nvSpPr>
            <p:spPr bwMode="auto">
              <a:xfrm flipV="1">
                <a:off x="2313" y="248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8" name="Line 290"/>
              <p:cNvSpPr>
                <a:spLocks noChangeShapeType="1"/>
              </p:cNvSpPr>
              <p:nvPr/>
            </p:nvSpPr>
            <p:spPr bwMode="auto">
              <a:xfrm flipV="1">
                <a:off x="2313" y="247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9" name="Line 291"/>
              <p:cNvSpPr>
                <a:spLocks noChangeShapeType="1"/>
              </p:cNvSpPr>
              <p:nvPr/>
            </p:nvSpPr>
            <p:spPr bwMode="auto">
              <a:xfrm flipV="1">
                <a:off x="2313" y="246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0" name="Line 292"/>
              <p:cNvSpPr>
                <a:spLocks noChangeShapeType="1"/>
              </p:cNvSpPr>
              <p:nvPr/>
            </p:nvSpPr>
            <p:spPr bwMode="auto">
              <a:xfrm flipV="1">
                <a:off x="2313" y="245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1" name="Line 293"/>
              <p:cNvSpPr>
                <a:spLocks noChangeShapeType="1"/>
              </p:cNvSpPr>
              <p:nvPr/>
            </p:nvSpPr>
            <p:spPr bwMode="auto">
              <a:xfrm flipV="1">
                <a:off x="2313" y="244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2" name="Line 294"/>
              <p:cNvSpPr>
                <a:spLocks noChangeShapeType="1"/>
              </p:cNvSpPr>
              <p:nvPr/>
            </p:nvSpPr>
            <p:spPr bwMode="auto">
              <a:xfrm flipV="1">
                <a:off x="2313" y="243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3" name="Line 295"/>
              <p:cNvSpPr>
                <a:spLocks noChangeShapeType="1"/>
              </p:cNvSpPr>
              <p:nvPr/>
            </p:nvSpPr>
            <p:spPr bwMode="auto">
              <a:xfrm flipV="1">
                <a:off x="2313" y="242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4" name="Line 296"/>
              <p:cNvSpPr>
                <a:spLocks noChangeShapeType="1"/>
              </p:cNvSpPr>
              <p:nvPr/>
            </p:nvSpPr>
            <p:spPr bwMode="auto">
              <a:xfrm flipV="1">
                <a:off x="2313" y="241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5" name="Line 297"/>
              <p:cNvSpPr>
                <a:spLocks noChangeShapeType="1"/>
              </p:cNvSpPr>
              <p:nvPr/>
            </p:nvSpPr>
            <p:spPr bwMode="auto">
              <a:xfrm flipV="1">
                <a:off x="2313" y="240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6" name="Line 298"/>
              <p:cNvSpPr>
                <a:spLocks noChangeShapeType="1"/>
              </p:cNvSpPr>
              <p:nvPr/>
            </p:nvSpPr>
            <p:spPr bwMode="auto">
              <a:xfrm flipV="1">
                <a:off x="2313" y="239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7" name="Line 299"/>
              <p:cNvSpPr>
                <a:spLocks noChangeShapeType="1"/>
              </p:cNvSpPr>
              <p:nvPr/>
            </p:nvSpPr>
            <p:spPr bwMode="auto">
              <a:xfrm flipV="1">
                <a:off x="2313" y="238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8" name="Line 300"/>
              <p:cNvSpPr>
                <a:spLocks noChangeShapeType="1"/>
              </p:cNvSpPr>
              <p:nvPr/>
            </p:nvSpPr>
            <p:spPr bwMode="auto">
              <a:xfrm flipV="1">
                <a:off x="2313" y="238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9" name="Line 301"/>
              <p:cNvSpPr>
                <a:spLocks noChangeShapeType="1"/>
              </p:cNvSpPr>
              <p:nvPr/>
            </p:nvSpPr>
            <p:spPr bwMode="auto">
              <a:xfrm flipV="1">
                <a:off x="2313" y="237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0" name="Line 302"/>
              <p:cNvSpPr>
                <a:spLocks noChangeShapeType="1"/>
              </p:cNvSpPr>
              <p:nvPr/>
            </p:nvSpPr>
            <p:spPr bwMode="auto">
              <a:xfrm flipV="1">
                <a:off x="2313" y="236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1" name="Line 303"/>
              <p:cNvSpPr>
                <a:spLocks noChangeShapeType="1"/>
              </p:cNvSpPr>
              <p:nvPr/>
            </p:nvSpPr>
            <p:spPr bwMode="auto">
              <a:xfrm flipV="1">
                <a:off x="2313" y="235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2" name="Line 304"/>
              <p:cNvSpPr>
                <a:spLocks noChangeShapeType="1"/>
              </p:cNvSpPr>
              <p:nvPr/>
            </p:nvSpPr>
            <p:spPr bwMode="auto">
              <a:xfrm flipV="1">
                <a:off x="2313" y="234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3" name="Line 305"/>
              <p:cNvSpPr>
                <a:spLocks noChangeShapeType="1"/>
              </p:cNvSpPr>
              <p:nvPr/>
            </p:nvSpPr>
            <p:spPr bwMode="auto">
              <a:xfrm flipV="1">
                <a:off x="2313" y="233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4" name="Line 306"/>
              <p:cNvSpPr>
                <a:spLocks noChangeShapeType="1"/>
              </p:cNvSpPr>
              <p:nvPr/>
            </p:nvSpPr>
            <p:spPr bwMode="auto">
              <a:xfrm flipV="1">
                <a:off x="2313" y="232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5" name="Line 307"/>
              <p:cNvSpPr>
                <a:spLocks noChangeShapeType="1"/>
              </p:cNvSpPr>
              <p:nvPr/>
            </p:nvSpPr>
            <p:spPr bwMode="auto">
              <a:xfrm flipV="1">
                <a:off x="2313" y="231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6" name="Line 308"/>
              <p:cNvSpPr>
                <a:spLocks noChangeShapeType="1"/>
              </p:cNvSpPr>
              <p:nvPr/>
            </p:nvSpPr>
            <p:spPr bwMode="auto">
              <a:xfrm flipV="1">
                <a:off x="2313" y="230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7" name="Line 309"/>
              <p:cNvSpPr>
                <a:spLocks noChangeShapeType="1"/>
              </p:cNvSpPr>
              <p:nvPr/>
            </p:nvSpPr>
            <p:spPr bwMode="auto">
              <a:xfrm flipV="1">
                <a:off x="2313" y="229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8" name="Line 310"/>
              <p:cNvSpPr>
                <a:spLocks noChangeShapeType="1"/>
              </p:cNvSpPr>
              <p:nvPr/>
            </p:nvSpPr>
            <p:spPr bwMode="auto">
              <a:xfrm flipV="1">
                <a:off x="2313" y="228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59" name="Line 311"/>
              <p:cNvSpPr>
                <a:spLocks noChangeShapeType="1"/>
              </p:cNvSpPr>
              <p:nvPr/>
            </p:nvSpPr>
            <p:spPr bwMode="auto">
              <a:xfrm flipV="1">
                <a:off x="2313" y="227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0" name="Line 312"/>
              <p:cNvSpPr>
                <a:spLocks noChangeShapeType="1"/>
              </p:cNvSpPr>
              <p:nvPr/>
            </p:nvSpPr>
            <p:spPr bwMode="auto">
              <a:xfrm flipV="1">
                <a:off x="2313" y="226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1" name="Line 313"/>
              <p:cNvSpPr>
                <a:spLocks noChangeShapeType="1"/>
              </p:cNvSpPr>
              <p:nvPr/>
            </p:nvSpPr>
            <p:spPr bwMode="auto">
              <a:xfrm flipV="1">
                <a:off x="2313" y="226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2" name="Line 314"/>
              <p:cNvSpPr>
                <a:spLocks noChangeShapeType="1"/>
              </p:cNvSpPr>
              <p:nvPr/>
            </p:nvSpPr>
            <p:spPr bwMode="auto">
              <a:xfrm flipV="1">
                <a:off x="2313" y="225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3" name="Line 315"/>
              <p:cNvSpPr>
                <a:spLocks noChangeShapeType="1"/>
              </p:cNvSpPr>
              <p:nvPr/>
            </p:nvSpPr>
            <p:spPr bwMode="auto">
              <a:xfrm flipV="1">
                <a:off x="2313" y="224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4" name="Line 316"/>
              <p:cNvSpPr>
                <a:spLocks noChangeShapeType="1"/>
              </p:cNvSpPr>
              <p:nvPr/>
            </p:nvSpPr>
            <p:spPr bwMode="auto">
              <a:xfrm flipV="1">
                <a:off x="2313" y="223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5" name="Line 317"/>
              <p:cNvSpPr>
                <a:spLocks noChangeShapeType="1"/>
              </p:cNvSpPr>
              <p:nvPr/>
            </p:nvSpPr>
            <p:spPr bwMode="auto">
              <a:xfrm flipV="1">
                <a:off x="2313" y="222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6" name="Line 318"/>
              <p:cNvSpPr>
                <a:spLocks noChangeShapeType="1"/>
              </p:cNvSpPr>
              <p:nvPr/>
            </p:nvSpPr>
            <p:spPr bwMode="auto">
              <a:xfrm flipV="1">
                <a:off x="2313" y="221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7" name="Line 319"/>
              <p:cNvSpPr>
                <a:spLocks noChangeShapeType="1"/>
              </p:cNvSpPr>
              <p:nvPr/>
            </p:nvSpPr>
            <p:spPr bwMode="auto">
              <a:xfrm flipV="1">
                <a:off x="2313" y="22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8" name="Line 320"/>
              <p:cNvSpPr>
                <a:spLocks noChangeShapeType="1"/>
              </p:cNvSpPr>
              <p:nvPr/>
            </p:nvSpPr>
            <p:spPr bwMode="auto">
              <a:xfrm flipV="1">
                <a:off x="2313" y="219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69" name="Line 321"/>
              <p:cNvSpPr>
                <a:spLocks noChangeShapeType="1"/>
              </p:cNvSpPr>
              <p:nvPr/>
            </p:nvSpPr>
            <p:spPr bwMode="auto">
              <a:xfrm flipV="1">
                <a:off x="2313" y="218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0" name="Line 322"/>
              <p:cNvSpPr>
                <a:spLocks noChangeShapeType="1"/>
              </p:cNvSpPr>
              <p:nvPr/>
            </p:nvSpPr>
            <p:spPr bwMode="auto">
              <a:xfrm flipV="1">
                <a:off x="2313" y="217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1" name="Line 323"/>
              <p:cNvSpPr>
                <a:spLocks noChangeShapeType="1"/>
              </p:cNvSpPr>
              <p:nvPr/>
            </p:nvSpPr>
            <p:spPr bwMode="auto">
              <a:xfrm flipV="1">
                <a:off x="2313" y="216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2" name="Line 324"/>
              <p:cNvSpPr>
                <a:spLocks noChangeShapeType="1"/>
              </p:cNvSpPr>
              <p:nvPr/>
            </p:nvSpPr>
            <p:spPr bwMode="auto">
              <a:xfrm flipV="1">
                <a:off x="2313" y="21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3" name="Line 325"/>
              <p:cNvSpPr>
                <a:spLocks noChangeShapeType="1"/>
              </p:cNvSpPr>
              <p:nvPr/>
            </p:nvSpPr>
            <p:spPr bwMode="auto">
              <a:xfrm flipV="1">
                <a:off x="2313" y="214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4" name="Line 326"/>
              <p:cNvSpPr>
                <a:spLocks noChangeShapeType="1"/>
              </p:cNvSpPr>
              <p:nvPr/>
            </p:nvSpPr>
            <p:spPr bwMode="auto">
              <a:xfrm flipV="1">
                <a:off x="2313" y="214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5" name="Line 327"/>
              <p:cNvSpPr>
                <a:spLocks noChangeShapeType="1"/>
              </p:cNvSpPr>
              <p:nvPr/>
            </p:nvSpPr>
            <p:spPr bwMode="auto">
              <a:xfrm flipV="1">
                <a:off x="2313" y="213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6" name="Line 328"/>
              <p:cNvSpPr>
                <a:spLocks noChangeShapeType="1"/>
              </p:cNvSpPr>
              <p:nvPr/>
            </p:nvSpPr>
            <p:spPr bwMode="auto">
              <a:xfrm flipV="1">
                <a:off x="2313" y="212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7" name="Line 329"/>
              <p:cNvSpPr>
                <a:spLocks noChangeShapeType="1"/>
              </p:cNvSpPr>
              <p:nvPr/>
            </p:nvSpPr>
            <p:spPr bwMode="auto">
              <a:xfrm flipV="1">
                <a:off x="2313" y="211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8" name="Line 330"/>
              <p:cNvSpPr>
                <a:spLocks noChangeShapeType="1"/>
              </p:cNvSpPr>
              <p:nvPr/>
            </p:nvSpPr>
            <p:spPr bwMode="auto">
              <a:xfrm flipV="1">
                <a:off x="2313" y="210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79" name="Line 331"/>
              <p:cNvSpPr>
                <a:spLocks noChangeShapeType="1"/>
              </p:cNvSpPr>
              <p:nvPr/>
            </p:nvSpPr>
            <p:spPr bwMode="auto">
              <a:xfrm flipV="1">
                <a:off x="2313" y="209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0" name="Line 332"/>
              <p:cNvSpPr>
                <a:spLocks noChangeShapeType="1"/>
              </p:cNvSpPr>
              <p:nvPr/>
            </p:nvSpPr>
            <p:spPr bwMode="auto">
              <a:xfrm flipV="1">
                <a:off x="2313" y="208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1" name="Line 333"/>
              <p:cNvSpPr>
                <a:spLocks noChangeShapeType="1"/>
              </p:cNvSpPr>
              <p:nvPr/>
            </p:nvSpPr>
            <p:spPr bwMode="auto">
              <a:xfrm flipV="1">
                <a:off x="2313" y="20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2" name="Line 334"/>
              <p:cNvSpPr>
                <a:spLocks noChangeShapeType="1"/>
              </p:cNvSpPr>
              <p:nvPr/>
            </p:nvSpPr>
            <p:spPr bwMode="auto">
              <a:xfrm flipV="1">
                <a:off x="2313" y="206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3" name="Line 335"/>
              <p:cNvSpPr>
                <a:spLocks noChangeShapeType="1"/>
              </p:cNvSpPr>
              <p:nvPr/>
            </p:nvSpPr>
            <p:spPr bwMode="auto">
              <a:xfrm flipV="1">
                <a:off x="2313" y="205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4" name="Line 336"/>
              <p:cNvSpPr>
                <a:spLocks noChangeShapeType="1"/>
              </p:cNvSpPr>
              <p:nvPr/>
            </p:nvSpPr>
            <p:spPr bwMode="auto">
              <a:xfrm flipV="1">
                <a:off x="2313" y="204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5" name="Line 337"/>
              <p:cNvSpPr>
                <a:spLocks noChangeShapeType="1"/>
              </p:cNvSpPr>
              <p:nvPr/>
            </p:nvSpPr>
            <p:spPr bwMode="auto">
              <a:xfrm flipV="1">
                <a:off x="2313" y="203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6" name="Line 338"/>
              <p:cNvSpPr>
                <a:spLocks noChangeShapeType="1"/>
              </p:cNvSpPr>
              <p:nvPr/>
            </p:nvSpPr>
            <p:spPr bwMode="auto">
              <a:xfrm flipV="1">
                <a:off x="2313" y="202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7" name="Line 339"/>
              <p:cNvSpPr>
                <a:spLocks noChangeShapeType="1"/>
              </p:cNvSpPr>
              <p:nvPr/>
            </p:nvSpPr>
            <p:spPr bwMode="auto">
              <a:xfrm flipV="1">
                <a:off x="2313" y="202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8" name="Line 340"/>
              <p:cNvSpPr>
                <a:spLocks noChangeShapeType="1"/>
              </p:cNvSpPr>
              <p:nvPr/>
            </p:nvSpPr>
            <p:spPr bwMode="auto">
              <a:xfrm flipV="1">
                <a:off x="2313" y="201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89" name="Line 341"/>
              <p:cNvSpPr>
                <a:spLocks noChangeShapeType="1"/>
              </p:cNvSpPr>
              <p:nvPr/>
            </p:nvSpPr>
            <p:spPr bwMode="auto">
              <a:xfrm flipV="1">
                <a:off x="2313" y="200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0" name="Line 342"/>
              <p:cNvSpPr>
                <a:spLocks noChangeShapeType="1"/>
              </p:cNvSpPr>
              <p:nvPr/>
            </p:nvSpPr>
            <p:spPr bwMode="auto">
              <a:xfrm flipV="1">
                <a:off x="2313" y="199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1" name="Line 343"/>
              <p:cNvSpPr>
                <a:spLocks noChangeShapeType="1"/>
              </p:cNvSpPr>
              <p:nvPr/>
            </p:nvSpPr>
            <p:spPr bwMode="auto">
              <a:xfrm flipV="1">
                <a:off x="2313" y="198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2" name="Line 344"/>
              <p:cNvSpPr>
                <a:spLocks noChangeShapeType="1"/>
              </p:cNvSpPr>
              <p:nvPr/>
            </p:nvSpPr>
            <p:spPr bwMode="auto">
              <a:xfrm flipV="1">
                <a:off x="2313" y="197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3" name="Line 345"/>
              <p:cNvSpPr>
                <a:spLocks noChangeShapeType="1"/>
              </p:cNvSpPr>
              <p:nvPr/>
            </p:nvSpPr>
            <p:spPr bwMode="auto">
              <a:xfrm flipV="1">
                <a:off x="2313" y="196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4" name="Line 346"/>
              <p:cNvSpPr>
                <a:spLocks noChangeShapeType="1"/>
              </p:cNvSpPr>
              <p:nvPr/>
            </p:nvSpPr>
            <p:spPr bwMode="auto">
              <a:xfrm flipV="1">
                <a:off x="2313" y="195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5" name="Line 347"/>
              <p:cNvSpPr>
                <a:spLocks noChangeShapeType="1"/>
              </p:cNvSpPr>
              <p:nvPr/>
            </p:nvSpPr>
            <p:spPr bwMode="auto">
              <a:xfrm flipV="1">
                <a:off x="2313" y="194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6" name="Line 348"/>
              <p:cNvSpPr>
                <a:spLocks noChangeShapeType="1"/>
              </p:cNvSpPr>
              <p:nvPr/>
            </p:nvSpPr>
            <p:spPr bwMode="auto">
              <a:xfrm flipV="1">
                <a:off x="2313" y="193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7" name="Line 349"/>
              <p:cNvSpPr>
                <a:spLocks noChangeShapeType="1"/>
              </p:cNvSpPr>
              <p:nvPr/>
            </p:nvSpPr>
            <p:spPr bwMode="auto">
              <a:xfrm flipV="1">
                <a:off x="2313" y="192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8" name="Line 350"/>
              <p:cNvSpPr>
                <a:spLocks noChangeShapeType="1"/>
              </p:cNvSpPr>
              <p:nvPr/>
            </p:nvSpPr>
            <p:spPr bwMode="auto">
              <a:xfrm flipV="1">
                <a:off x="2313" y="191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99" name="Line 351"/>
              <p:cNvSpPr>
                <a:spLocks noChangeShapeType="1"/>
              </p:cNvSpPr>
              <p:nvPr/>
            </p:nvSpPr>
            <p:spPr bwMode="auto">
              <a:xfrm flipV="1">
                <a:off x="2313" y="191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0" name="Line 352"/>
              <p:cNvSpPr>
                <a:spLocks noChangeShapeType="1"/>
              </p:cNvSpPr>
              <p:nvPr/>
            </p:nvSpPr>
            <p:spPr bwMode="auto">
              <a:xfrm flipV="1">
                <a:off x="2313" y="190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1" name="Line 353"/>
              <p:cNvSpPr>
                <a:spLocks noChangeShapeType="1"/>
              </p:cNvSpPr>
              <p:nvPr/>
            </p:nvSpPr>
            <p:spPr bwMode="auto">
              <a:xfrm flipV="1">
                <a:off x="2313" y="189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2" name="Line 354"/>
              <p:cNvSpPr>
                <a:spLocks noChangeShapeType="1"/>
              </p:cNvSpPr>
              <p:nvPr/>
            </p:nvSpPr>
            <p:spPr bwMode="auto">
              <a:xfrm flipV="1">
                <a:off x="2313" y="188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3" name="Line 355"/>
              <p:cNvSpPr>
                <a:spLocks noChangeShapeType="1"/>
              </p:cNvSpPr>
              <p:nvPr/>
            </p:nvSpPr>
            <p:spPr bwMode="auto">
              <a:xfrm flipV="1">
                <a:off x="2313" y="187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4" name="Line 356"/>
              <p:cNvSpPr>
                <a:spLocks noChangeShapeType="1"/>
              </p:cNvSpPr>
              <p:nvPr/>
            </p:nvSpPr>
            <p:spPr bwMode="auto">
              <a:xfrm flipV="1">
                <a:off x="2313" y="186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5" name="Line 357"/>
              <p:cNvSpPr>
                <a:spLocks noChangeShapeType="1"/>
              </p:cNvSpPr>
              <p:nvPr/>
            </p:nvSpPr>
            <p:spPr bwMode="auto">
              <a:xfrm flipV="1">
                <a:off x="2313" y="185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6" name="Line 358"/>
              <p:cNvSpPr>
                <a:spLocks noChangeShapeType="1"/>
              </p:cNvSpPr>
              <p:nvPr/>
            </p:nvSpPr>
            <p:spPr bwMode="auto">
              <a:xfrm flipV="1">
                <a:off x="2313" y="184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7" name="Line 359"/>
              <p:cNvSpPr>
                <a:spLocks noChangeShapeType="1"/>
              </p:cNvSpPr>
              <p:nvPr/>
            </p:nvSpPr>
            <p:spPr bwMode="auto">
              <a:xfrm flipV="1">
                <a:off x="2313" y="183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8" name="Line 360"/>
              <p:cNvSpPr>
                <a:spLocks noChangeShapeType="1"/>
              </p:cNvSpPr>
              <p:nvPr/>
            </p:nvSpPr>
            <p:spPr bwMode="auto">
              <a:xfrm flipV="1">
                <a:off x="2313" y="182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9" name="Line 361"/>
              <p:cNvSpPr>
                <a:spLocks noChangeShapeType="1"/>
              </p:cNvSpPr>
              <p:nvPr/>
            </p:nvSpPr>
            <p:spPr bwMode="auto">
              <a:xfrm flipV="1">
                <a:off x="2313" y="181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0" name="Line 362"/>
              <p:cNvSpPr>
                <a:spLocks noChangeShapeType="1"/>
              </p:cNvSpPr>
              <p:nvPr/>
            </p:nvSpPr>
            <p:spPr bwMode="auto">
              <a:xfrm flipV="1">
                <a:off x="2313" y="180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1" name="Line 363"/>
              <p:cNvSpPr>
                <a:spLocks noChangeShapeType="1"/>
              </p:cNvSpPr>
              <p:nvPr/>
            </p:nvSpPr>
            <p:spPr bwMode="auto">
              <a:xfrm flipV="1">
                <a:off x="2313" y="17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2" name="Line 364"/>
              <p:cNvSpPr>
                <a:spLocks noChangeShapeType="1"/>
              </p:cNvSpPr>
              <p:nvPr/>
            </p:nvSpPr>
            <p:spPr bwMode="auto">
              <a:xfrm flipV="1">
                <a:off x="2313" y="179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3" name="Line 365"/>
              <p:cNvSpPr>
                <a:spLocks noChangeShapeType="1"/>
              </p:cNvSpPr>
              <p:nvPr/>
            </p:nvSpPr>
            <p:spPr bwMode="auto">
              <a:xfrm flipV="1">
                <a:off x="2313" y="178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4" name="Line 366"/>
              <p:cNvSpPr>
                <a:spLocks noChangeShapeType="1"/>
              </p:cNvSpPr>
              <p:nvPr/>
            </p:nvSpPr>
            <p:spPr bwMode="auto">
              <a:xfrm flipV="1">
                <a:off x="2313" y="177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5" name="Line 367"/>
              <p:cNvSpPr>
                <a:spLocks noChangeShapeType="1"/>
              </p:cNvSpPr>
              <p:nvPr/>
            </p:nvSpPr>
            <p:spPr bwMode="auto">
              <a:xfrm flipV="1">
                <a:off x="2313" y="176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6" name="Line 368"/>
              <p:cNvSpPr>
                <a:spLocks noChangeShapeType="1"/>
              </p:cNvSpPr>
              <p:nvPr/>
            </p:nvSpPr>
            <p:spPr bwMode="auto">
              <a:xfrm flipV="1">
                <a:off x="2313" y="175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7" name="Line 369"/>
              <p:cNvSpPr>
                <a:spLocks noChangeShapeType="1"/>
              </p:cNvSpPr>
              <p:nvPr/>
            </p:nvSpPr>
            <p:spPr bwMode="auto">
              <a:xfrm flipV="1">
                <a:off x="2313" y="174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8" name="Line 370"/>
              <p:cNvSpPr>
                <a:spLocks noChangeShapeType="1"/>
              </p:cNvSpPr>
              <p:nvPr/>
            </p:nvSpPr>
            <p:spPr bwMode="auto">
              <a:xfrm flipV="1">
                <a:off x="2313" y="173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19" name="Line 371"/>
              <p:cNvSpPr>
                <a:spLocks noChangeShapeType="1"/>
              </p:cNvSpPr>
              <p:nvPr/>
            </p:nvSpPr>
            <p:spPr bwMode="auto">
              <a:xfrm flipV="1">
                <a:off x="2313" y="172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0" name="Line 372"/>
              <p:cNvSpPr>
                <a:spLocks noChangeShapeType="1"/>
              </p:cNvSpPr>
              <p:nvPr/>
            </p:nvSpPr>
            <p:spPr bwMode="auto">
              <a:xfrm flipV="1">
                <a:off x="2313" y="171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1" name="Line 373"/>
              <p:cNvSpPr>
                <a:spLocks noChangeShapeType="1"/>
              </p:cNvSpPr>
              <p:nvPr/>
            </p:nvSpPr>
            <p:spPr bwMode="auto">
              <a:xfrm flipV="1">
                <a:off x="2313" y="170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2" name="Line 374"/>
              <p:cNvSpPr>
                <a:spLocks noChangeShapeType="1"/>
              </p:cNvSpPr>
              <p:nvPr/>
            </p:nvSpPr>
            <p:spPr bwMode="auto">
              <a:xfrm flipV="1">
                <a:off x="2313" y="169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3" name="Line 375"/>
              <p:cNvSpPr>
                <a:spLocks noChangeShapeType="1"/>
              </p:cNvSpPr>
              <p:nvPr/>
            </p:nvSpPr>
            <p:spPr bwMode="auto">
              <a:xfrm flipV="1">
                <a:off x="2313" y="168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4" name="Line 376"/>
              <p:cNvSpPr>
                <a:spLocks noChangeShapeType="1"/>
              </p:cNvSpPr>
              <p:nvPr/>
            </p:nvSpPr>
            <p:spPr bwMode="auto">
              <a:xfrm flipV="1">
                <a:off x="2313" y="167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5" name="Line 377"/>
              <p:cNvSpPr>
                <a:spLocks noChangeShapeType="1"/>
              </p:cNvSpPr>
              <p:nvPr/>
            </p:nvSpPr>
            <p:spPr bwMode="auto">
              <a:xfrm flipV="1">
                <a:off x="2313" y="167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6" name="Line 378"/>
              <p:cNvSpPr>
                <a:spLocks noChangeShapeType="1"/>
              </p:cNvSpPr>
              <p:nvPr/>
            </p:nvSpPr>
            <p:spPr bwMode="auto">
              <a:xfrm flipV="1">
                <a:off x="2313" y="166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7" name="Line 379"/>
              <p:cNvSpPr>
                <a:spLocks noChangeShapeType="1"/>
              </p:cNvSpPr>
              <p:nvPr/>
            </p:nvSpPr>
            <p:spPr bwMode="auto">
              <a:xfrm flipV="1">
                <a:off x="2313" y="165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8" name="Line 380"/>
              <p:cNvSpPr>
                <a:spLocks noChangeShapeType="1"/>
              </p:cNvSpPr>
              <p:nvPr/>
            </p:nvSpPr>
            <p:spPr bwMode="auto">
              <a:xfrm flipV="1">
                <a:off x="2313" y="164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9" name="Line 381"/>
              <p:cNvSpPr>
                <a:spLocks noChangeShapeType="1"/>
              </p:cNvSpPr>
              <p:nvPr/>
            </p:nvSpPr>
            <p:spPr bwMode="auto">
              <a:xfrm flipV="1">
                <a:off x="2313" y="163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0" name="Line 382"/>
              <p:cNvSpPr>
                <a:spLocks noChangeShapeType="1"/>
              </p:cNvSpPr>
              <p:nvPr/>
            </p:nvSpPr>
            <p:spPr bwMode="auto">
              <a:xfrm flipV="1">
                <a:off x="2313" y="162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1" name="Line 383"/>
              <p:cNvSpPr>
                <a:spLocks noChangeShapeType="1"/>
              </p:cNvSpPr>
              <p:nvPr/>
            </p:nvSpPr>
            <p:spPr bwMode="auto">
              <a:xfrm flipV="1">
                <a:off x="2313" y="161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2" name="Line 384"/>
              <p:cNvSpPr>
                <a:spLocks noChangeShapeType="1"/>
              </p:cNvSpPr>
              <p:nvPr/>
            </p:nvSpPr>
            <p:spPr bwMode="auto">
              <a:xfrm flipV="1">
                <a:off x="2313" y="160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3" name="Line 385"/>
              <p:cNvSpPr>
                <a:spLocks noChangeShapeType="1"/>
              </p:cNvSpPr>
              <p:nvPr/>
            </p:nvSpPr>
            <p:spPr bwMode="auto">
              <a:xfrm flipV="1">
                <a:off x="2313" y="159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4" name="Line 386"/>
              <p:cNvSpPr>
                <a:spLocks noChangeShapeType="1"/>
              </p:cNvSpPr>
              <p:nvPr/>
            </p:nvSpPr>
            <p:spPr bwMode="auto">
              <a:xfrm flipV="1">
                <a:off x="2313" y="158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5" name="Line 387"/>
              <p:cNvSpPr>
                <a:spLocks noChangeShapeType="1"/>
              </p:cNvSpPr>
              <p:nvPr/>
            </p:nvSpPr>
            <p:spPr bwMode="auto">
              <a:xfrm flipV="1">
                <a:off x="2313" y="157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6" name="Line 388"/>
              <p:cNvSpPr>
                <a:spLocks noChangeShapeType="1"/>
              </p:cNvSpPr>
              <p:nvPr/>
            </p:nvSpPr>
            <p:spPr bwMode="auto">
              <a:xfrm flipV="1">
                <a:off x="2313" y="156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7" name="Line 389"/>
              <p:cNvSpPr>
                <a:spLocks noChangeShapeType="1"/>
              </p:cNvSpPr>
              <p:nvPr/>
            </p:nvSpPr>
            <p:spPr bwMode="auto">
              <a:xfrm flipV="1">
                <a:off x="2313" y="155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8" name="Line 390"/>
              <p:cNvSpPr>
                <a:spLocks noChangeShapeType="1"/>
              </p:cNvSpPr>
              <p:nvPr/>
            </p:nvSpPr>
            <p:spPr bwMode="auto">
              <a:xfrm flipV="1">
                <a:off x="2313" y="155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9" name="Line 391"/>
              <p:cNvSpPr>
                <a:spLocks noChangeShapeType="1"/>
              </p:cNvSpPr>
              <p:nvPr/>
            </p:nvSpPr>
            <p:spPr bwMode="auto">
              <a:xfrm flipV="1">
                <a:off x="2313" y="154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0" name="Line 392"/>
              <p:cNvSpPr>
                <a:spLocks noChangeShapeType="1"/>
              </p:cNvSpPr>
              <p:nvPr/>
            </p:nvSpPr>
            <p:spPr bwMode="auto">
              <a:xfrm flipV="1">
                <a:off x="2313" y="153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1" name="Line 393"/>
              <p:cNvSpPr>
                <a:spLocks noChangeShapeType="1"/>
              </p:cNvSpPr>
              <p:nvPr/>
            </p:nvSpPr>
            <p:spPr bwMode="auto">
              <a:xfrm flipV="1">
                <a:off x="2313" y="152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2" name="Line 394"/>
              <p:cNvSpPr>
                <a:spLocks noChangeShapeType="1"/>
              </p:cNvSpPr>
              <p:nvPr/>
            </p:nvSpPr>
            <p:spPr bwMode="auto">
              <a:xfrm flipV="1">
                <a:off x="2313" y="151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3" name="Line 395"/>
              <p:cNvSpPr>
                <a:spLocks noChangeShapeType="1"/>
              </p:cNvSpPr>
              <p:nvPr/>
            </p:nvSpPr>
            <p:spPr bwMode="auto">
              <a:xfrm flipV="1">
                <a:off x="2313" y="15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4" name="Line 396"/>
              <p:cNvSpPr>
                <a:spLocks noChangeShapeType="1"/>
              </p:cNvSpPr>
              <p:nvPr/>
            </p:nvSpPr>
            <p:spPr bwMode="auto">
              <a:xfrm flipV="1">
                <a:off x="2313" y="149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5" name="Line 397"/>
              <p:cNvSpPr>
                <a:spLocks noChangeShapeType="1"/>
              </p:cNvSpPr>
              <p:nvPr/>
            </p:nvSpPr>
            <p:spPr bwMode="auto">
              <a:xfrm flipV="1">
                <a:off x="2313" y="148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6" name="Line 398"/>
              <p:cNvSpPr>
                <a:spLocks noChangeShapeType="1"/>
              </p:cNvSpPr>
              <p:nvPr/>
            </p:nvSpPr>
            <p:spPr bwMode="auto">
              <a:xfrm flipV="1">
                <a:off x="2313" y="147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7" name="Line 399"/>
              <p:cNvSpPr>
                <a:spLocks noChangeShapeType="1"/>
              </p:cNvSpPr>
              <p:nvPr/>
            </p:nvSpPr>
            <p:spPr bwMode="auto">
              <a:xfrm flipV="1">
                <a:off x="2313" y="146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8" name="Line 400"/>
              <p:cNvSpPr>
                <a:spLocks noChangeShapeType="1"/>
              </p:cNvSpPr>
              <p:nvPr/>
            </p:nvSpPr>
            <p:spPr bwMode="auto">
              <a:xfrm flipV="1">
                <a:off x="2313" y="14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49" name="Freeform 401"/>
              <p:cNvSpPr>
                <a:spLocks/>
              </p:cNvSpPr>
              <p:nvPr/>
            </p:nvSpPr>
            <p:spPr bwMode="auto">
              <a:xfrm>
                <a:off x="2310" y="1452"/>
                <a:ext cx="3" cy="1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3" y="0"/>
                  </a:cxn>
                  <a:cxn ang="0">
                    <a:pos x="0" y="0"/>
                  </a:cxn>
                </a:cxnLst>
                <a:rect l="0" t="0" r="r" b="b"/>
                <a:pathLst>
                  <a:path w="3" h="1">
                    <a:moveTo>
                      <a:pt x="3" y="1"/>
                    </a:move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0" name="Line 402"/>
              <p:cNvSpPr>
                <a:spLocks noChangeShapeType="1"/>
              </p:cNvSpPr>
              <p:nvPr/>
            </p:nvSpPr>
            <p:spPr bwMode="auto">
              <a:xfrm flipH="1">
                <a:off x="230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1" name="Line 403"/>
              <p:cNvSpPr>
                <a:spLocks noChangeShapeType="1"/>
              </p:cNvSpPr>
              <p:nvPr/>
            </p:nvSpPr>
            <p:spPr bwMode="auto">
              <a:xfrm flipH="1">
                <a:off x="229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2" name="Line 404"/>
              <p:cNvSpPr>
                <a:spLocks noChangeShapeType="1"/>
              </p:cNvSpPr>
              <p:nvPr/>
            </p:nvSpPr>
            <p:spPr bwMode="auto">
              <a:xfrm flipH="1">
                <a:off x="228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3" name="Line 405"/>
              <p:cNvSpPr>
                <a:spLocks noChangeShapeType="1"/>
              </p:cNvSpPr>
              <p:nvPr/>
            </p:nvSpPr>
            <p:spPr bwMode="auto">
              <a:xfrm flipH="1">
                <a:off x="227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4" name="Line 406"/>
              <p:cNvSpPr>
                <a:spLocks noChangeShapeType="1"/>
              </p:cNvSpPr>
              <p:nvPr/>
            </p:nvSpPr>
            <p:spPr bwMode="auto">
              <a:xfrm flipH="1">
                <a:off x="226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5" name="Line 407"/>
              <p:cNvSpPr>
                <a:spLocks noChangeShapeType="1"/>
              </p:cNvSpPr>
              <p:nvPr/>
            </p:nvSpPr>
            <p:spPr bwMode="auto">
              <a:xfrm flipH="1">
                <a:off x="225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6" name="Line 408"/>
              <p:cNvSpPr>
                <a:spLocks noChangeShapeType="1"/>
              </p:cNvSpPr>
              <p:nvPr/>
            </p:nvSpPr>
            <p:spPr bwMode="auto">
              <a:xfrm flipH="1">
                <a:off x="224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7" name="Line 409"/>
              <p:cNvSpPr>
                <a:spLocks noChangeShapeType="1"/>
              </p:cNvSpPr>
              <p:nvPr/>
            </p:nvSpPr>
            <p:spPr bwMode="auto">
              <a:xfrm flipH="1">
                <a:off x="223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8" name="Line 410"/>
              <p:cNvSpPr>
                <a:spLocks noChangeShapeType="1"/>
              </p:cNvSpPr>
              <p:nvPr/>
            </p:nvSpPr>
            <p:spPr bwMode="auto">
              <a:xfrm flipH="1">
                <a:off x="222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59" name="Line 411"/>
              <p:cNvSpPr>
                <a:spLocks noChangeShapeType="1"/>
              </p:cNvSpPr>
              <p:nvPr/>
            </p:nvSpPr>
            <p:spPr bwMode="auto">
              <a:xfrm flipH="1">
                <a:off x="221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0" name="Line 412"/>
              <p:cNvSpPr>
                <a:spLocks noChangeShapeType="1"/>
              </p:cNvSpPr>
              <p:nvPr/>
            </p:nvSpPr>
            <p:spPr bwMode="auto">
              <a:xfrm flipH="1">
                <a:off x="220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1" name="Line 413"/>
              <p:cNvSpPr>
                <a:spLocks noChangeShapeType="1"/>
              </p:cNvSpPr>
              <p:nvPr/>
            </p:nvSpPr>
            <p:spPr bwMode="auto">
              <a:xfrm flipH="1">
                <a:off x="219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2" name="Line 414"/>
              <p:cNvSpPr>
                <a:spLocks noChangeShapeType="1"/>
              </p:cNvSpPr>
              <p:nvPr/>
            </p:nvSpPr>
            <p:spPr bwMode="auto">
              <a:xfrm flipH="1">
                <a:off x="219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3" name="Line 415"/>
              <p:cNvSpPr>
                <a:spLocks noChangeShapeType="1"/>
              </p:cNvSpPr>
              <p:nvPr/>
            </p:nvSpPr>
            <p:spPr bwMode="auto">
              <a:xfrm flipH="1">
                <a:off x="218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4" name="Line 416"/>
              <p:cNvSpPr>
                <a:spLocks noChangeShapeType="1"/>
              </p:cNvSpPr>
              <p:nvPr/>
            </p:nvSpPr>
            <p:spPr bwMode="auto">
              <a:xfrm flipH="1">
                <a:off x="217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5" name="Line 417"/>
              <p:cNvSpPr>
                <a:spLocks noChangeShapeType="1"/>
              </p:cNvSpPr>
              <p:nvPr/>
            </p:nvSpPr>
            <p:spPr bwMode="auto">
              <a:xfrm flipH="1">
                <a:off x="216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6" name="Line 418"/>
              <p:cNvSpPr>
                <a:spLocks noChangeShapeType="1"/>
              </p:cNvSpPr>
              <p:nvPr/>
            </p:nvSpPr>
            <p:spPr bwMode="auto">
              <a:xfrm flipH="1">
                <a:off x="215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7" name="Line 419"/>
              <p:cNvSpPr>
                <a:spLocks noChangeShapeType="1"/>
              </p:cNvSpPr>
              <p:nvPr/>
            </p:nvSpPr>
            <p:spPr bwMode="auto">
              <a:xfrm flipH="1">
                <a:off x="214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8" name="Line 420"/>
              <p:cNvSpPr>
                <a:spLocks noChangeShapeType="1"/>
              </p:cNvSpPr>
              <p:nvPr/>
            </p:nvSpPr>
            <p:spPr bwMode="auto">
              <a:xfrm flipH="1">
                <a:off x="213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9" name="Line 421"/>
              <p:cNvSpPr>
                <a:spLocks noChangeShapeType="1"/>
              </p:cNvSpPr>
              <p:nvPr/>
            </p:nvSpPr>
            <p:spPr bwMode="auto">
              <a:xfrm flipH="1">
                <a:off x="212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0" name="Line 422"/>
              <p:cNvSpPr>
                <a:spLocks noChangeShapeType="1"/>
              </p:cNvSpPr>
              <p:nvPr/>
            </p:nvSpPr>
            <p:spPr bwMode="auto">
              <a:xfrm flipH="1">
                <a:off x="211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" name="Group 423"/>
            <p:cNvGrpSpPr>
              <a:grpSpLocks/>
            </p:cNvGrpSpPr>
            <p:nvPr/>
          </p:nvGrpSpPr>
          <p:grpSpPr bwMode="auto">
            <a:xfrm>
              <a:off x="306" y="1308"/>
              <a:ext cx="1838" cy="1"/>
              <a:chOff x="273" y="1452"/>
              <a:chExt cx="1838" cy="1"/>
            </a:xfrm>
          </p:grpSpPr>
          <p:sp>
            <p:nvSpPr>
              <p:cNvPr id="2472" name="Line 424"/>
              <p:cNvSpPr>
                <a:spLocks noChangeShapeType="1"/>
              </p:cNvSpPr>
              <p:nvPr/>
            </p:nvSpPr>
            <p:spPr bwMode="auto">
              <a:xfrm flipH="1">
                <a:off x="210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3" name="Line 425"/>
              <p:cNvSpPr>
                <a:spLocks noChangeShapeType="1"/>
              </p:cNvSpPr>
              <p:nvPr/>
            </p:nvSpPr>
            <p:spPr bwMode="auto">
              <a:xfrm flipH="1">
                <a:off x="209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4" name="Line 426"/>
              <p:cNvSpPr>
                <a:spLocks noChangeShapeType="1"/>
              </p:cNvSpPr>
              <p:nvPr/>
            </p:nvSpPr>
            <p:spPr bwMode="auto">
              <a:xfrm flipH="1">
                <a:off x="208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5" name="Line 427"/>
              <p:cNvSpPr>
                <a:spLocks noChangeShapeType="1"/>
              </p:cNvSpPr>
              <p:nvPr/>
            </p:nvSpPr>
            <p:spPr bwMode="auto">
              <a:xfrm flipH="1">
                <a:off x="207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6" name="Line 428"/>
              <p:cNvSpPr>
                <a:spLocks noChangeShapeType="1"/>
              </p:cNvSpPr>
              <p:nvPr/>
            </p:nvSpPr>
            <p:spPr bwMode="auto">
              <a:xfrm flipH="1">
                <a:off x="207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7" name="Line 429"/>
              <p:cNvSpPr>
                <a:spLocks noChangeShapeType="1"/>
              </p:cNvSpPr>
              <p:nvPr/>
            </p:nvSpPr>
            <p:spPr bwMode="auto">
              <a:xfrm flipH="1">
                <a:off x="206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8" name="Line 430"/>
              <p:cNvSpPr>
                <a:spLocks noChangeShapeType="1"/>
              </p:cNvSpPr>
              <p:nvPr/>
            </p:nvSpPr>
            <p:spPr bwMode="auto">
              <a:xfrm flipH="1">
                <a:off x="205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79" name="Line 431"/>
              <p:cNvSpPr>
                <a:spLocks noChangeShapeType="1"/>
              </p:cNvSpPr>
              <p:nvPr/>
            </p:nvSpPr>
            <p:spPr bwMode="auto">
              <a:xfrm flipH="1">
                <a:off x="204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0" name="Line 432"/>
              <p:cNvSpPr>
                <a:spLocks noChangeShapeType="1"/>
              </p:cNvSpPr>
              <p:nvPr/>
            </p:nvSpPr>
            <p:spPr bwMode="auto">
              <a:xfrm flipH="1">
                <a:off x="203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1" name="Line 433"/>
              <p:cNvSpPr>
                <a:spLocks noChangeShapeType="1"/>
              </p:cNvSpPr>
              <p:nvPr/>
            </p:nvSpPr>
            <p:spPr bwMode="auto">
              <a:xfrm flipH="1">
                <a:off x="202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2" name="Line 434"/>
              <p:cNvSpPr>
                <a:spLocks noChangeShapeType="1"/>
              </p:cNvSpPr>
              <p:nvPr/>
            </p:nvSpPr>
            <p:spPr bwMode="auto">
              <a:xfrm flipH="1">
                <a:off x="201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3" name="Line 435"/>
              <p:cNvSpPr>
                <a:spLocks noChangeShapeType="1"/>
              </p:cNvSpPr>
              <p:nvPr/>
            </p:nvSpPr>
            <p:spPr bwMode="auto">
              <a:xfrm flipH="1">
                <a:off x="200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4" name="Line 436"/>
              <p:cNvSpPr>
                <a:spLocks noChangeShapeType="1"/>
              </p:cNvSpPr>
              <p:nvPr/>
            </p:nvSpPr>
            <p:spPr bwMode="auto">
              <a:xfrm flipH="1">
                <a:off x="199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5" name="Line 437"/>
              <p:cNvSpPr>
                <a:spLocks noChangeShapeType="1"/>
              </p:cNvSpPr>
              <p:nvPr/>
            </p:nvSpPr>
            <p:spPr bwMode="auto">
              <a:xfrm flipH="1">
                <a:off x="198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6" name="Line 438"/>
              <p:cNvSpPr>
                <a:spLocks noChangeShapeType="1"/>
              </p:cNvSpPr>
              <p:nvPr/>
            </p:nvSpPr>
            <p:spPr bwMode="auto">
              <a:xfrm flipH="1">
                <a:off x="197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7" name="Line 439"/>
              <p:cNvSpPr>
                <a:spLocks noChangeShapeType="1"/>
              </p:cNvSpPr>
              <p:nvPr/>
            </p:nvSpPr>
            <p:spPr bwMode="auto">
              <a:xfrm flipH="1">
                <a:off x="196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8" name="Line 440"/>
              <p:cNvSpPr>
                <a:spLocks noChangeShapeType="1"/>
              </p:cNvSpPr>
              <p:nvPr/>
            </p:nvSpPr>
            <p:spPr bwMode="auto">
              <a:xfrm flipH="1">
                <a:off x="195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89" name="Line 441"/>
              <p:cNvSpPr>
                <a:spLocks noChangeShapeType="1"/>
              </p:cNvSpPr>
              <p:nvPr/>
            </p:nvSpPr>
            <p:spPr bwMode="auto">
              <a:xfrm flipH="1">
                <a:off x="195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0" name="Line 442"/>
              <p:cNvSpPr>
                <a:spLocks noChangeShapeType="1"/>
              </p:cNvSpPr>
              <p:nvPr/>
            </p:nvSpPr>
            <p:spPr bwMode="auto">
              <a:xfrm flipH="1">
                <a:off x="194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1" name="Line 443"/>
              <p:cNvSpPr>
                <a:spLocks noChangeShapeType="1"/>
              </p:cNvSpPr>
              <p:nvPr/>
            </p:nvSpPr>
            <p:spPr bwMode="auto">
              <a:xfrm flipH="1">
                <a:off x="193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2" name="Line 444"/>
              <p:cNvSpPr>
                <a:spLocks noChangeShapeType="1"/>
              </p:cNvSpPr>
              <p:nvPr/>
            </p:nvSpPr>
            <p:spPr bwMode="auto">
              <a:xfrm flipH="1">
                <a:off x="192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3" name="Line 445"/>
              <p:cNvSpPr>
                <a:spLocks noChangeShapeType="1"/>
              </p:cNvSpPr>
              <p:nvPr/>
            </p:nvSpPr>
            <p:spPr bwMode="auto">
              <a:xfrm flipH="1">
                <a:off x="191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4" name="Line 446"/>
              <p:cNvSpPr>
                <a:spLocks noChangeShapeType="1"/>
              </p:cNvSpPr>
              <p:nvPr/>
            </p:nvSpPr>
            <p:spPr bwMode="auto">
              <a:xfrm flipH="1">
                <a:off x="190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5" name="Line 447"/>
              <p:cNvSpPr>
                <a:spLocks noChangeShapeType="1"/>
              </p:cNvSpPr>
              <p:nvPr/>
            </p:nvSpPr>
            <p:spPr bwMode="auto">
              <a:xfrm flipH="1">
                <a:off x="189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6" name="Line 448"/>
              <p:cNvSpPr>
                <a:spLocks noChangeShapeType="1"/>
              </p:cNvSpPr>
              <p:nvPr/>
            </p:nvSpPr>
            <p:spPr bwMode="auto">
              <a:xfrm flipH="1">
                <a:off x="188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7" name="Line 449"/>
              <p:cNvSpPr>
                <a:spLocks noChangeShapeType="1"/>
              </p:cNvSpPr>
              <p:nvPr/>
            </p:nvSpPr>
            <p:spPr bwMode="auto">
              <a:xfrm flipH="1">
                <a:off x="187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8" name="Line 450"/>
              <p:cNvSpPr>
                <a:spLocks noChangeShapeType="1"/>
              </p:cNvSpPr>
              <p:nvPr/>
            </p:nvSpPr>
            <p:spPr bwMode="auto">
              <a:xfrm flipH="1">
                <a:off x="186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99" name="Line 451"/>
              <p:cNvSpPr>
                <a:spLocks noChangeShapeType="1"/>
              </p:cNvSpPr>
              <p:nvPr/>
            </p:nvSpPr>
            <p:spPr bwMode="auto">
              <a:xfrm flipH="1">
                <a:off x="185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0" name="Line 452"/>
              <p:cNvSpPr>
                <a:spLocks noChangeShapeType="1"/>
              </p:cNvSpPr>
              <p:nvPr/>
            </p:nvSpPr>
            <p:spPr bwMode="auto">
              <a:xfrm flipH="1">
                <a:off x="184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1" name="Line 453"/>
              <p:cNvSpPr>
                <a:spLocks noChangeShapeType="1"/>
              </p:cNvSpPr>
              <p:nvPr/>
            </p:nvSpPr>
            <p:spPr bwMode="auto">
              <a:xfrm flipH="1">
                <a:off x="184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2" name="Line 454"/>
              <p:cNvSpPr>
                <a:spLocks noChangeShapeType="1"/>
              </p:cNvSpPr>
              <p:nvPr/>
            </p:nvSpPr>
            <p:spPr bwMode="auto">
              <a:xfrm flipH="1">
                <a:off x="183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3" name="Line 455"/>
              <p:cNvSpPr>
                <a:spLocks noChangeShapeType="1"/>
              </p:cNvSpPr>
              <p:nvPr/>
            </p:nvSpPr>
            <p:spPr bwMode="auto">
              <a:xfrm flipH="1">
                <a:off x="182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4" name="Line 456"/>
              <p:cNvSpPr>
                <a:spLocks noChangeShapeType="1"/>
              </p:cNvSpPr>
              <p:nvPr/>
            </p:nvSpPr>
            <p:spPr bwMode="auto">
              <a:xfrm flipH="1">
                <a:off x="181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5" name="Line 457"/>
              <p:cNvSpPr>
                <a:spLocks noChangeShapeType="1"/>
              </p:cNvSpPr>
              <p:nvPr/>
            </p:nvSpPr>
            <p:spPr bwMode="auto">
              <a:xfrm flipH="1">
                <a:off x="180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6" name="Line 458"/>
              <p:cNvSpPr>
                <a:spLocks noChangeShapeType="1"/>
              </p:cNvSpPr>
              <p:nvPr/>
            </p:nvSpPr>
            <p:spPr bwMode="auto">
              <a:xfrm flipH="1">
                <a:off x="179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7" name="Line 459"/>
              <p:cNvSpPr>
                <a:spLocks noChangeShapeType="1"/>
              </p:cNvSpPr>
              <p:nvPr/>
            </p:nvSpPr>
            <p:spPr bwMode="auto">
              <a:xfrm flipH="1">
                <a:off x="178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8" name="Line 460"/>
              <p:cNvSpPr>
                <a:spLocks noChangeShapeType="1"/>
              </p:cNvSpPr>
              <p:nvPr/>
            </p:nvSpPr>
            <p:spPr bwMode="auto">
              <a:xfrm flipH="1">
                <a:off x="177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09" name="Line 461"/>
              <p:cNvSpPr>
                <a:spLocks noChangeShapeType="1"/>
              </p:cNvSpPr>
              <p:nvPr/>
            </p:nvSpPr>
            <p:spPr bwMode="auto">
              <a:xfrm flipH="1">
                <a:off x="176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0" name="Line 462"/>
              <p:cNvSpPr>
                <a:spLocks noChangeShapeType="1"/>
              </p:cNvSpPr>
              <p:nvPr/>
            </p:nvSpPr>
            <p:spPr bwMode="auto">
              <a:xfrm flipH="1">
                <a:off x="175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1" name="Line 463"/>
              <p:cNvSpPr>
                <a:spLocks noChangeShapeType="1"/>
              </p:cNvSpPr>
              <p:nvPr/>
            </p:nvSpPr>
            <p:spPr bwMode="auto">
              <a:xfrm flipH="1">
                <a:off x="174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2" name="Line 464"/>
              <p:cNvSpPr>
                <a:spLocks noChangeShapeType="1"/>
              </p:cNvSpPr>
              <p:nvPr/>
            </p:nvSpPr>
            <p:spPr bwMode="auto">
              <a:xfrm flipH="1">
                <a:off x="173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3" name="Line 465"/>
              <p:cNvSpPr>
                <a:spLocks noChangeShapeType="1"/>
              </p:cNvSpPr>
              <p:nvPr/>
            </p:nvSpPr>
            <p:spPr bwMode="auto">
              <a:xfrm flipH="1">
                <a:off x="172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4" name="Line 466"/>
              <p:cNvSpPr>
                <a:spLocks noChangeShapeType="1"/>
              </p:cNvSpPr>
              <p:nvPr/>
            </p:nvSpPr>
            <p:spPr bwMode="auto">
              <a:xfrm flipH="1">
                <a:off x="172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5" name="Line 467"/>
              <p:cNvSpPr>
                <a:spLocks noChangeShapeType="1"/>
              </p:cNvSpPr>
              <p:nvPr/>
            </p:nvSpPr>
            <p:spPr bwMode="auto">
              <a:xfrm flipH="1">
                <a:off x="171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6" name="Line 468"/>
              <p:cNvSpPr>
                <a:spLocks noChangeShapeType="1"/>
              </p:cNvSpPr>
              <p:nvPr/>
            </p:nvSpPr>
            <p:spPr bwMode="auto">
              <a:xfrm flipH="1">
                <a:off x="170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7" name="Line 469"/>
              <p:cNvSpPr>
                <a:spLocks noChangeShapeType="1"/>
              </p:cNvSpPr>
              <p:nvPr/>
            </p:nvSpPr>
            <p:spPr bwMode="auto">
              <a:xfrm flipH="1">
                <a:off x="169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8" name="Line 470"/>
              <p:cNvSpPr>
                <a:spLocks noChangeShapeType="1"/>
              </p:cNvSpPr>
              <p:nvPr/>
            </p:nvSpPr>
            <p:spPr bwMode="auto">
              <a:xfrm flipH="1">
                <a:off x="168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9" name="Line 471"/>
              <p:cNvSpPr>
                <a:spLocks noChangeShapeType="1"/>
              </p:cNvSpPr>
              <p:nvPr/>
            </p:nvSpPr>
            <p:spPr bwMode="auto">
              <a:xfrm flipH="1">
                <a:off x="167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0" name="Line 472"/>
              <p:cNvSpPr>
                <a:spLocks noChangeShapeType="1"/>
              </p:cNvSpPr>
              <p:nvPr/>
            </p:nvSpPr>
            <p:spPr bwMode="auto">
              <a:xfrm flipH="1">
                <a:off x="166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1" name="Line 473"/>
              <p:cNvSpPr>
                <a:spLocks noChangeShapeType="1"/>
              </p:cNvSpPr>
              <p:nvPr/>
            </p:nvSpPr>
            <p:spPr bwMode="auto">
              <a:xfrm flipH="1">
                <a:off x="165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2" name="Line 474"/>
              <p:cNvSpPr>
                <a:spLocks noChangeShapeType="1"/>
              </p:cNvSpPr>
              <p:nvPr/>
            </p:nvSpPr>
            <p:spPr bwMode="auto">
              <a:xfrm flipH="1">
                <a:off x="164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3" name="Line 475"/>
              <p:cNvSpPr>
                <a:spLocks noChangeShapeType="1"/>
              </p:cNvSpPr>
              <p:nvPr/>
            </p:nvSpPr>
            <p:spPr bwMode="auto">
              <a:xfrm flipH="1">
                <a:off x="163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4" name="Line 476"/>
              <p:cNvSpPr>
                <a:spLocks noChangeShapeType="1"/>
              </p:cNvSpPr>
              <p:nvPr/>
            </p:nvSpPr>
            <p:spPr bwMode="auto">
              <a:xfrm flipH="1">
                <a:off x="162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5" name="Line 477"/>
              <p:cNvSpPr>
                <a:spLocks noChangeShapeType="1"/>
              </p:cNvSpPr>
              <p:nvPr/>
            </p:nvSpPr>
            <p:spPr bwMode="auto">
              <a:xfrm flipH="1">
                <a:off x="161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6" name="Line 478"/>
              <p:cNvSpPr>
                <a:spLocks noChangeShapeType="1"/>
              </p:cNvSpPr>
              <p:nvPr/>
            </p:nvSpPr>
            <p:spPr bwMode="auto">
              <a:xfrm flipH="1">
                <a:off x="160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7" name="Line 479"/>
              <p:cNvSpPr>
                <a:spLocks noChangeShapeType="1"/>
              </p:cNvSpPr>
              <p:nvPr/>
            </p:nvSpPr>
            <p:spPr bwMode="auto">
              <a:xfrm flipH="1">
                <a:off x="160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8" name="Line 480"/>
              <p:cNvSpPr>
                <a:spLocks noChangeShapeType="1"/>
              </p:cNvSpPr>
              <p:nvPr/>
            </p:nvSpPr>
            <p:spPr bwMode="auto">
              <a:xfrm flipH="1">
                <a:off x="159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9" name="Line 481"/>
              <p:cNvSpPr>
                <a:spLocks noChangeShapeType="1"/>
              </p:cNvSpPr>
              <p:nvPr/>
            </p:nvSpPr>
            <p:spPr bwMode="auto">
              <a:xfrm flipH="1">
                <a:off x="158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0" name="Line 482"/>
              <p:cNvSpPr>
                <a:spLocks noChangeShapeType="1"/>
              </p:cNvSpPr>
              <p:nvPr/>
            </p:nvSpPr>
            <p:spPr bwMode="auto">
              <a:xfrm flipH="1">
                <a:off x="157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1" name="Line 483"/>
              <p:cNvSpPr>
                <a:spLocks noChangeShapeType="1"/>
              </p:cNvSpPr>
              <p:nvPr/>
            </p:nvSpPr>
            <p:spPr bwMode="auto">
              <a:xfrm flipH="1">
                <a:off x="156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2" name="Line 484"/>
              <p:cNvSpPr>
                <a:spLocks noChangeShapeType="1"/>
              </p:cNvSpPr>
              <p:nvPr/>
            </p:nvSpPr>
            <p:spPr bwMode="auto">
              <a:xfrm flipH="1">
                <a:off x="155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3" name="Line 485"/>
              <p:cNvSpPr>
                <a:spLocks noChangeShapeType="1"/>
              </p:cNvSpPr>
              <p:nvPr/>
            </p:nvSpPr>
            <p:spPr bwMode="auto">
              <a:xfrm flipH="1">
                <a:off x="154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4" name="Line 486"/>
              <p:cNvSpPr>
                <a:spLocks noChangeShapeType="1"/>
              </p:cNvSpPr>
              <p:nvPr/>
            </p:nvSpPr>
            <p:spPr bwMode="auto">
              <a:xfrm flipH="1">
                <a:off x="153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5" name="Line 487"/>
              <p:cNvSpPr>
                <a:spLocks noChangeShapeType="1"/>
              </p:cNvSpPr>
              <p:nvPr/>
            </p:nvSpPr>
            <p:spPr bwMode="auto">
              <a:xfrm flipH="1">
                <a:off x="152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6" name="Line 488"/>
              <p:cNvSpPr>
                <a:spLocks noChangeShapeType="1"/>
              </p:cNvSpPr>
              <p:nvPr/>
            </p:nvSpPr>
            <p:spPr bwMode="auto">
              <a:xfrm flipH="1">
                <a:off x="151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7" name="Line 489"/>
              <p:cNvSpPr>
                <a:spLocks noChangeShapeType="1"/>
              </p:cNvSpPr>
              <p:nvPr/>
            </p:nvSpPr>
            <p:spPr bwMode="auto">
              <a:xfrm flipH="1">
                <a:off x="150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8" name="Line 490"/>
              <p:cNvSpPr>
                <a:spLocks noChangeShapeType="1"/>
              </p:cNvSpPr>
              <p:nvPr/>
            </p:nvSpPr>
            <p:spPr bwMode="auto">
              <a:xfrm flipH="1">
                <a:off x="149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39" name="Line 491"/>
              <p:cNvSpPr>
                <a:spLocks noChangeShapeType="1"/>
              </p:cNvSpPr>
              <p:nvPr/>
            </p:nvSpPr>
            <p:spPr bwMode="auto">
              <a:xfrm flipH="1">
                <a:off x="148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0" name="Line 492"/>
              <p:cNvSpPr>
                <a:spLocks noChangeShapeType="1"/>
              </p:cNvSpPr>
              <p:nvPr/>
            </p:nvSpPr>
            <p:spPr bwMode="auto">
              <a:xfrm flipH="1">
                <a:off x="148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1" name="Line 493"/>
              <p:cNvSpPr>
                <a:spLocks noChangeShapeType="1"/>
              </p:cNvSpPr>
              <p:nvPr/>
            </p:nvSpPr>
            <p:spPr bwMode="auto">
              <a:xfrm flipH="1">
                <a:off x="147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2" name="Line 494"/>
              <p:cNvSpPr>
                <a:spLocks noChangeShapeType="1"/>
              </p:cNvSpPr>
              <p:nvPr/>
            </p:nvSpPr>
            <p:spPr bwMode="auto">
              <a:xfrm flipH="1">
                <a:off x="146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3" name="Line 495"/>
              <p:cNvSpPr>
                <a:spLocks noChangeShapeType="1"/>
              </p:cNvSpPr>
              <p:nvPr/>
            </p:nvSpPr>
            <p:spPr bwMode="auto">
              <a:xfrm flipH="1">
                <a:off x="145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4" name="Line 496"/>
              <p:cNvSpPr>
                <a:spLocks noChangeShapeType="1"/>
              </p:cNvSpPr>
              <p:nvPr/>
            </p:nvSpPr>
            <p:spPr bwMode="auto">
              <a:xfrm flipH="1">
                <a:off x="144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5" name="Line 497"/>
              <p:cNvSpPr>
                <a:spLocks noChangeShapeType="1"/>
              </p:cNvSpPr>
              <p:nvPr/>
            </p:nvSpPr>
            <p:spPr bwMode="auto">
              <a:xfrm flipH="1">
                <a:off x="143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6" name="Line 498"/>
              <p:cNvSpPr>
                <a:spLocks noChangeShapeType="1"/>
              </p:cNvSpPr>
              <p:nvPr/>
            </p:nvSpPr>
            <p:spPr bwMode="auto">
              <a:xfrm flipH="1">
                <a:off x="142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7" name="Line 499"/>
              <p:cNvSpPr>
                <a:spLocks noChangeShapeType="1"/>
              </p:cNvSpPr>
              <p:nvPr/>
            </p:nvSpPr>
            <p:spPr bwMode="auto">
              <a:xfrm flipH="1">
                <a:off x="141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8" name="Line 500"/>
              <p:cNvSpPr>
                <a:spLocks noChangeShapeType="1"/>
              </p:cNvSpPr>
              <p:nvPr/>
            </p:nvSpPr>
            <p:spPr bwMode="auto">
              <a:xfrm flipH="1">
                <a:off x="140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49" name="Line 501"/>
              <p:cNvSpPr>
                <a:spLocks noChangeShapeType="1"/>
              </p:cNvSpPr>
              <p:nvPr/>
            </p:nvSpPr>
            <p:spPr bwMode="auto">
              <a:xfrm flipH="1">
                <a:off x="139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0" name="Line 502"/>
              <p:cNvSpPr>
                <a:spLocks noChangeShapeType="1"/>
              </p:cNvSpPr>
              <p:nvPr/>
            </p:nvSpPr>
            <p:spPr bwMode="auto">
              <a:xfrm flipH="1">
                <a:off x="138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1" name="Line 503"/>
              <p:cNvSpPr>
                <a:spLocks noChangeShapeType="1"/>
              </p:cNvSpPr>
              <p:nvPr/>
            </p:nvSpPr>
            <p:spPr bwMode="auto">
              <a:xfrm flipH="1">
                <a:off x="137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2" name="Line 504"/>
              <p:cNvSpPr>
                <a:spLocks noChangeShapeType="1"/>
              </p:cNvSpPr>
              <p:nvPr/>
            </p:nvSpPr>
            <p:spPr bwMode="auto">
              <a:xfrm flipH="1">
                <a:off x="136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3" name="Line 505"/>
              <p:cNvSpPr>
                <a:spLocks noChangeShapeType="1"/>
              </p:cNvSpPr>
              <p:nvPr/>
            </p:nvSpPr>
            <p:spPr bwMode="auto">
              <a:xfrm flipH="1">
                <a:off x="136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4" name="Line 506"/>
              <p:cNvSpPr>
                <a:spLocks noChangeShapeType="1"/>
              </p:cNvSpPr>
              <p:nvPr/>
            </p:nvSpPr>
            <p:spPr bwMode="auto">
              <a:xfrm flipH="1">
                <a:off x="135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5" name="Line 507"/>
              <p:cNvSpPr>
                <a:spLocks noChangeShapeType="1"/>
              </p:cNvSpPr>
              <p:nvPr/>
            </p:nvSpPr>
            <p:spPr bwMode="auto">
              <a:xfrm flipH="1">
                <a:off x="134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6" name="Line 508"/>
              <p:cNvSpPr>
                <a:spLocks noChangeShapeType="1"/>
              </p:cNvSpPr>
              <p:nvPr/>
            </p:nvSpPr>
            <p:spPr bwMode="auto">
              <a:xfrm flipH="1">
                <a:off x="133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7" name="Line 509"/>
              <p:cNvSpPr>
                <a:spLocks noChangeShapeType="1"/>
              </p:cNvSpPr>
              <p:nvPr/>
            </p:nvSpPr>
            <p:spPr bwMode="auto">
              <a:xfrm flipH="1">
                <a:off x="132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8" name="Line 510"/>
              <p:cNvSpPr>
                <a:spLocks noChangeShapeType="1"/>
              </p:cNvSpPr>
              <p:nvPr/>
            </p:nvSpPr>
            <p:spPr bwMode="auto">
              <a:xfrm flipH="1">
                <a:off x="131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59" name="Line 511"/>
              <p:cNvSpPr>
                <a:spLocks noChangeShapeType="1"/>
              </p:cNvSpPr>
              <p:nvPr/>
            </p:nvSpPr>
            <p:spPr bwMode="auto">
              <a:xfrm flipH="1">
                <a:off x="130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0" name="Line 512"/>
              <p:cNvSpPr>
                <a:spLocks noChangeShapeType="1"/>
              </p:cNvSpPr>
              <p:nvPr/>
            </p:nvSpPr>
            <p:spPr bwMode="auto">
              <a:xfrm flipH="1">
                <a:off x="129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1" name="Line 513"/>
              <p:cNvSpPr>
                <a:spLocks noChangeShapeType="1"/>
              </p:cNvSpPr>
              <p:nvPr/>
            </p:nvSpPr>
            <p:spPr bwMode="auto">
              <a:xfrm flipH="1">
                <a:off x="128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2" name="Line 514"/>
              <p:cNvSpPr>
                <a:spLocks noChangeShapeType="1"/>
              </p:cNvSpPr>
              <p:nvPr/>
            </p:nvSpPr>
            <p:spPr bwMode="auto">
              <a:xfrm flipH="1">
                <a:off x="127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3" name="Line 515"/>
              <p:cNvSpPr>
                <a:spLocks noChangeShapeType="1"/>
              </p:cNvSpPr>
              <p:nvPr/>
            </p:nvSpPr>
            <p:spPr bwMode="auto">
              <a:xfrm flipH="1">
                <a:off x="126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4" name="Line 516"/>
              <p:cNvSpPr>
                <a:spLocks noChangeShapeType="1"/>
              </p:cNvSpPr>
              <p:nvPr/>
            </p:nvSpPr>
            <p:spPr bwMode="auto">
              <a:xfrm flipH="1">
                <a:off x="125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5" name="Line 517"/>
              <p:cNvSpPr>
                <a:spLocks noChangeShapeType="1"/>
              </p:cNvSpPr>
              <p:nvPr/>
            </p:nvSpPr>
            <p:spPr bwMode="auto">
              <a:xfrm flipH="1">
                <a:off x="125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6" name="Line 518"/>
              <p:cNvSpPr>
                <a:spLocks noChangeShapeType="1"/>
              </p:cNvSpPr>
              <p:nvPr/>
            </p:nvSpPr>
            <p:spPr bwMode="auto">
              <a:xfrm flipH="1">
                <a:off x="124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7" name="Line 519"/>
              <p:cNvSpPr>
                <a:spLocks noChangeShapeType="1"/>
              </p:cNvSpPr>
              <p:nvPr/>
            </p:nvSpPr>
            <p:spPr bwMode="auto">
              <a:xfrm flipH="1">
                <a:off x="123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8" name="Line 520"/>
              <p:cNvSpPr>
                <a:spLocks noChangeShapeType="1"/>
              </p:cNvSpPr>
              <p:nvPr/>
            </p:nvSpPr>
            <p:spPr bwMode="auto">
              <a:xfrm flipH="1">
                <a:off x="122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69" name="Line 521"/>
              <p:cNvSpPr>
                <a:spLocks noChangeShapeType="1"/>
              </p:cNvSpPr>
              <p:nvPr/>
            </p:nvSpPr>
            <p:spPr bwMode="auto">
              <a:xfrm flipH="1">
                <a:off x="121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0" name="Line 522"/>
              <p:cNvSpPr>
                <a:spLocks noChangeShapeType="1"/>
              </p:cNvSpPr>
              <p:nvPr/>
            </p:nvSpPr>
            <p:spPr bwMode="auto">
              <a:xfrm flipH="1">
                <a:off x="120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1" name="Line 523"/>
              <p:cNvSpPr>
                <a:spLocks noChangeShapeType="1"/>
              </p:cNvSpPr>
              <p:nvPr/>
            </p:nvSpPr>
            <p:spPr bwMode="auto">
              <a:xfrm flipH="1">
                <a:off x="119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2" name="Line 524"/>
              <p:cNvSpPr>
                <a:spLocks noChangeShapeType="1"/>
              </p:cNvSpPr>
              <p:nvPr/>
            </p:nvSpPr>
            <p:spPr bwMode="auto">
              <a:xfrm flipH="1">
                <a:off x="118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3" name="Line 525"/>
              <p:cNvSpPr>
                <a:spLocks noChangeShapeType="1"/>
              </p:cNvSpPr>
              <p:nvPr/>
            </p:nvSpPr>
            <p:spPr bwMode="auto">
              <a:xfrm flipH="1">
                <a:off x="117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4" name="Line 526"/>
              <p:cNvSpPr>
                <a:spLocks noChangeShapeType="1"/>
              </p:cNvSpPr>
              <p:nvPr/>
            </p:nvSpPr>
            <p:spPr bwMode="auto">
              <a:xfrm flipH="1">
                <a:off x="116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5" name="Line 527"/>
              <p:cNvSpPr>
                <a:spLocks noChangeShapeType="1"/>
              </p:cNvSpPr>
              <p:nvPr/>
            </p:nvSpPr>
            <p:spPr bwMode="auto">
              <a:xfrm flipH="1">
                <a:off x="115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6" name="Line 528"/>
              <p:cNvSpPr>
                <a:spLocks noChangeShapeType="1"/>
              </p:cNvSpPr>
              <p:nvPr/>
            </p:nvSpPr>
            <p:spPr bwMode="auto">
              <a:xfrm flipH="1">
                <a:off x="114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7" name="Line 529"/>
              <p:cNvSpPr>
                <a:spLocks noChangeShapeType="1"/>
              </p:cNvSpPr>
              <p:nvPr/>
            </p:nvSpPr>
            <p:spPr bwMode="auto">
              <a:xfrm flipH="1">
                <a:off x="113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8" name="Line 530"/>
              <p:cNvSpPr>
                <a:spLocks noChangeShapeType="1"/>
              </p:cNvSpPr>
              <p:nvPr/>
            </p:nvSpPr>
            <p:spPr bwMode="auto">
              <a:xfrm flipH="1">
                <a:off x="113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79" name="Line 531"/>
              <p:cNvSpPr>
                <a:spLocks noChangeShapeType="1"/>
              </p:cNvSpPr>
              <p:nvPr/>
            </p:nvSpPr>
            <p:spPr bwMode="auto">
              <a:xfrm flipH="1">
                <a:off x="112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0" name="Line 532"/>
              <p:cNvSpPr>
                <a:spLocks noChangeShapeType="1"/>
              </p:cNvSpPr>
              <p:nvPr/>
            </p:nvSpPr>
            <p:spPr bwMode="auto">
              <a:xfrm flipH="1">
                <a:off x="111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1" name="Line 533"/>
              <p:cNvSpPr>
                <a:spLocks noChangeShapeType="1"/>
              </p:cNvSpPr>
              <p:nvPr/>
            </p:nvSpPr>
            <p:spPr bwMode="auto">
              <a:xfrm flipH="1">
                <a:off x="110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2" name="Line 534"/>
              <p:cNvSpPr>
                <a:spLocks noChangeShapeType="1"/>
              </p:cNvSpPr>
              <p:nvPr/>
            </p:nvSpPr>
            <p:spPr bwMode="auto">
              <a:xfrm flipH="1">
                <a:off x="109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3" name="Line 535"/>
              <p:cNvSpPr>
                <a:spLocks noChangeShapeType="1"/>
              </p:cNvSpPr>
              <p:nvPr/>
            </p:nvSpPr>
            <p:spPr bwMode="auto">
              <a:xfrm flipH="1">
                <a:off x="108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4" name="Line 536"/>
              <p:cNvSpPr>
                <a:spLocks noChangeShapeType="1"/>
              </p:cNvSpPr>
              <p:nvPr/>
            </p:nvSpPr>
            <p:spPr bwMode="auto">
              <a:xfrm flipH="1">
                <a:off x="107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5" name="Line 537"/>
              <p:cNvSpPr>
                <a:spLocks noChangeShapeType="1"/>
              </p:cNvSpPr>
              <p:nvPr/>
            </p:nvSpPr>
            <p:spPr bwMode="auto">
              <a:xfrm flipH="1">
                <a:off x="106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6" name="Line 538"/>
              <p:cNvSpPr>
                <a:spLocks noChangeShapeType="1"/>
              </p:cNvSpPr>
              <p:nvPr/>
            </p:nvSpPr>
            <p:spPr bwMode="auto">
              <a:xfrm flipH="1">
                <a:off x="105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7" name="Line 539"/>
              <p:cNvSpPr>
                <a:spLocks noChangeShapeType="1"/>
              </p:cNvSpPr>
              <p:nvPr/>
            </p:nvSpPr>
            <p:spPr bwMode="auto">
              <a:xfrm flipH="1">
                <a:off x="104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8" name="Line 540"/>
              <p:cNvSpPr>
                <a:spLocks noChangeShapeType="1"/>
              </p:cNvSpPr>
              <p:nvPr/>
            </p:nvSpPr>
            <p:spPr bwMode="auto">
              <a:xfrm flipH="1">
                <a:off x="103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89" name="Line 541"/>
              <p:cNvSpPr>
                <a:spLocks noChangeShapeType="1"/>
              </p:cNvSpPr>
              <p:nvPr/>
            </p:nvSpPr>
            <p:spPr bwMode="auto">
              <a:xfrm flipH="1">
                <a:off x="102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0" name="Line 542"/>
              <p:cNvSpPr>
                <a:spLocks noChangeShapeType="1"/>
              </p:cNvSpPr>
              <p:nvPr/>
            </p:nvSpPr>
            <p:spPr bwMode="auto">
              <a:xfrm flipH="1">
                <a:off x="101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1" name="Line 543"/>
              <p:cNvSpPr>
                <a:spLocks noChangeShapeType="1"/>
              </p:cNvSpPr>
              <p:nvPr/>
            </p:nvSpPr>
            <p:spPr bwMode="auto">
              <a:xfrm flipH="1">
                <a:off x="101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2" name="Line 544"/>
              <p:cNvSpPr>
                <a:spLocks noChangeShapeType="1"/>
              </p:cNvSpPr>
              <p:nvPr/>
            </p:nvSpPr>
            <p:spPr bwMode="auto">
              <a:xfrm flipH="1">
                <a:off x="100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3" name="Line 545"/>
              <p:cNvSpPr>
                <a:spLocks noChangeShapeType="1"/>
              </p:cNvSpPr>
              <p:nvPr/>
            </p:nvSpPr>
            <p:spPr bwMode="auto">
              <a:xfrm flipH="1">
                <a:off x="99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4" name="Line 546"/>
              <p:cNvSpPr>
                <a:spLocks noChangeShapeType="1"/>
              </p:cNvSpPr>
              <p:nvPr/>
            </p:nvSpPr>
            <p:spPr bwMode="auto">
              <a:xfrm flipH="1">
                <a:off x="98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5" name="Line 547"/>
              <p:cNvSpPr>
                <a:spLocks noChangeShapeType="1"/>
              </p:cNvSpPr>
              <p:nvPr/>
            </p:nvSpPr>
            <p:spPr bwMode="auto">
              <a:xfrm flipH="1">
                <a:off x="97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6" name="Line 548"/>
              <p:cNvSpPr>
                <a:spLocks noChangeShapeType="1"/>
              </p:cNvSpPr>
              <p:nvPr/>
            </p:nvSpPr>
            <p:spPr bwMode="auto">
              <a:xfrm flipH="1">
                <a:off x="96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7" name="Line 549"/>
              <p:cNvSpPr>
                <a:spLocks noChangeShapeType="1"/>
              </p:cNvSpPr>
              <p:nvPr/>
            </p:nvSpPr>
            <p:spPr bwMode="auto">
              <a:xfrm flipH="1">
                <a:off x="95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8" name="Line 550"/>
              <p:cNvSpPr>
                <a:spLocks noChangeShapeType="1"/>
              </p:cNvSpPr>
              <p:nvPr/>
            </p:nvSpPr>
            <p:spPr bwMode="auto">
              <a:xfrm flipH="1">
                <a:off x="94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99" name="Line 551"/>
              <p:cNvSpPr>
                <a:spLocks noChangeShapeType="1"/>
              </p:cNvSpPr>
              <p:nvPr/>
            </p:nvSpPr>
            <p:spPr bwMode="auto">
              <a:xfrm flipH="1">
                <a:off x="93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0" name="Line 552"/>
              <p:cNvSpPr>
                <a:spLocks noChangeShapeType="1"/>
              </p:cNvSpPr>
              <p:nvPr/>
            </p:nvSpPr>
            <p:spPr bwMode="auto">
              <a:xfrm flipH="1">
                <a:off x="92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1" name="Line 553"/>
              <p:cNvSpPr>
                <a:spLocks noChangeShapeType="1"/>
              </p:cNvSpPr>
              <p:nvPr/>
            </p:nvSpPr>
            <p:spPr bwMode="auto">
              <a:xfrm flipH="1">
                <a:off x="91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2" name="Line 554"/>
              <p:cNvSpPr>
                <a:spLocks noChangeShapeType="1"/>
              </p:cNvSpPr>
              <p:nvPr/>
            </p:nvSpPr>
            <p:spPr bwMode="auto">
              <a:xfrm flipH="1">
                <a:off x="90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3" name="Line 555"/>
              <p:cNvSpPr>
                <a:spLocks noChangeShapeType="1"/>
              </p:cNvSpPr>
              <p:nvPr/>
            </p:nvSpPr>
            <p:spPr bwMode="auto">
              <a:xfrm flipH="1">
                <a:off x="89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4" name="Line 556"/>
              <p:cNvSpPr>
                <a:spLocks noChangeShapeType="1"/>
              </p:cNvSpPr>
              <p:nvPr/>
            </p:nvSpPr>
            <p:spPr bwMode="auto">
              <a:xfrm flipH="1">
                <a:off x="89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5" name="Line 557"/>
              <p:cNvSpPr>
                <a:spLocks noChangeShapeType="1"/>
              </p:cNvSpPr>
              <p:nvPr/>
            </p:nvSpPr>
            <p:spPr bwMode="auto">
              <a:xfrm flipH="1">
                <a:off x="88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6" name="Line 558"/>
              <p:cNvSpPr>
                <a:spLocks noChangeShapeType="1"/>
              </p:cNvSpPr>
              <p:nvPr/>
            </p:nvSpPr>
            <p:spPr bwMode="auto">
              <a:xfrm flipH="1">
                <a:off x="87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7" name="Line 559"/>
              <p:cNvSpPr>
                <a:spLocks noChangeShapeType="1"/>
              </p:cNvSpPr>
              <p:nvPr/>
            </p:nvSpPr>
            <p:spPr bwMode="auto">
              <a:xfrm flipH="1">
                <a:off x="86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8" name="Line 560"/>
              <p:cNvSpPr>
                <a:spLocks noChangeShapeType="1"/>
              </p:cNvSpPr>
              <p:nvPr/>
            </p:nvSpPr>
            <p:spPr bwMode="auto">
              <a:xfrm flipH="1">
                <a:off x="85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9" name="Line 561"/>
              <p:cNvSpPr>
                <a:spLocks noChangeShapeType="1"/>
              </p:cNvSpPr>
              <p:nvPr/>
            </p:nvSpPr>
            <p:spPr bwMode="auto">
              <a:xfrm flipH="1">
                <a:off x="84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0" name="Line 562"/>
              <p:cNvSpPr>
                <a:spLocks noChangeShapeType="1"/>
              </p:cNvSpPr>
              <p:nvPr/>
            </p:nvSpPr>
            <p:spPr bwMode="auto">
              <a:xfrm flipH="1">
                <a:off x="83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1" name="Line 563"/>
              <p:cNvSpPr>
                <a:spLocks noChangeShapeType="1"/>
              </p:cNvSpPr>
              <p:nvPr/>
            </p:nvSpPr>
            <p:spPr bwMode="auto">
              <a:xfrm flipH="1">
                <a:off x="82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2" name="Line 564"/>
              <p:cNvSpPr>
                <a:spLocks noChangeShapeType="1"/>
              </p:cNvSpPr>
              <p:nvPr/>
            </p:nvSpPr>
            <p:spPr bwMode="auto">
              <a:xfrm flipH="1">
                <a:off x="81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3" name="Line 565"/>
              <p:cNvSpPr>
                <a:spLocks noChangeShapeType="1"/>
              </p:cNvSpPr>
              <p:nvPr/>
            </p:nvSpPr>
            <p:spPr bwMode="auto">
              <a:xfrm flipH="1">
                <a:off x="80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4" name="Line 566"/>
              <p:cNvSpPr>
                <a:spLocks noChangeShapeType="1"/>
              </p:cNvSpPr>
              <p:nvPr/>
            </p:nvSpPr>
            <p:spPr bwMode="auto">
              <a:xfrm flipH="1">
                <a:off x="79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5" name="Line 567"/>
              <p:cNvSpPr>
                <a:spLocks noChangeShapeType="1"/>
              </p:cNvSpPr>
              <p:nvPr/>
            </p:nvSpPr>
            <p:spPr bwMode="auto">
              <a:xfrm flipH="1">
                <a:off x="78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6" name="Line 568"/>
              <p:cNvSpPr>
                <a:spLocks noChangeShapeType="1"/>
              </p:cNvSpPr>
              <p:nvPr/>
            </p:nvSpPr>
            <p:spPr bwMode="auto">
              <a:xfrm flipH="1">
                <a:off x="78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7" name="Line 569"/>
              <p:cNvSpPr>
                <a:spLocks noChangeShapeType="1"/>
              </p:cNvSpPr>
              <p:nvPr/>
            </p:nvSpPr>
            <p:spPr bwMode="auto">
              <a:xfrm flipH="1">
                <a:off x="77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8" name="Line 570"/>
              <p:cNvSpPr>
                <a:spLocks noChangeShapeType="1"/>
              </p:cNvSpPr>
              <p:nvPr/>
            </p:nvSpPr>
            <p:spPr bwMode="auto">
              <a:xfrm flipH="1">
                <a:off x="76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9" name="Line 571"/>
              <p:cNvSpPr>
                <a:spLocks noChangeShapeType="1"/>
              </p:cNvSpPr>
              <p:nvPr/>
            </p:nvSpPr>
            <p:spPr bwMode="auto">
              <a:xfrm flipH="1">
                <a:off x="75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0" name="Line 572"/>
              <p:cNvSpPr>
                <a:spLocks noChangeShapeType="1"/>
              </p:cNvSpPr>
              <p:nvPr/>
            </p:nvSpPr>
            <p:spPr bwMode="auto">
              <a:xfrm flipH="1">
                <a:off x="74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1" name="Line 573"/>
              <p:cNvSpPr>
                <a:spLocks noChangeShapeType="1"/>
              </p:cNvSpPr>
              <p:nvPr/>
            </p:nvSpPr>
            <p:spPr bwMode="auto">
              <a:xfrm flipH="1">
                <a:off x="73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2" name="Line 574"/>
              <p:cNvSpPr>
                <a:spLocks noChangeShapeType="1"/>
              </p:cNvSpPr>
              <p:nvPr/>
            </p:nvSpPr>
            <p:spPr bwMode="auto">
              <a:xfrm flipH="1">
                <a:off x="72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3" name="Line 575"/>
              <p:cNvSpPr>
                <a:spLocks noChangeShapeType="1"/>
              </p:cNvSpPr>
              <p:nvPr/>
            </p:nvSpPr>
            <p:spPr bwMode="auto">
              <a:xfrm flipH="1">
                <a:off x="71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4" name="Line 576"/>
              <p:cNvSpPr>
                <a:spLocks noChangeShapeType="1"/>
              </p:cNvSpPr>
              <p:nvPr/>
            </p:nvSpPr>
            <p:spPr bwMode="auto">
              <a:xfrm flipH="1">
                <a:off x="70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5" name="Line 577"/>
              <p:cNvSpPr>
                <a:spLocks noChangeShapeType="1"/>
              </p:cNvSpPr>
              <p:nvPr/>
            </p:nvSpPr>
            <p:spPr bwMode="auto">
              <a:xfrm flipH="1">
                <a:off x="69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6" name="Line 578"/>
              <p:cNvSpPr>
                <a:spLocks noChangeShapeType="1"/>
              </p:cNvSpPr>
              <p:nvPr/>
            </p:nvSpPr>
            <p:spPr bwMode="auto">
              <a:xfrm flipH="1">
                <a:off x="68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7" name="Line 579"/>
              <p:cNvSpPr>
                <a:spLocks noChangeShapeType="1"/>
              </p:cNvSpPr>
              <p:nvPr/>
            </p:nvSpPr>
            <p:spPr bwMode="auto">
              <a:xfrm flipH="1">
                <a:off x="67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8" name="Line 580"/>
              <p:cNvSpPr>
                <a:spLocks noChangeShapeType="1"/>
              </p:cNvSpPr>
              <p:nvPr/>
            </p:nvSpPr>
            <p:spPr bwMode="auto">
              <a:xfrm flipH="1">
                <a:off x="66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29" name="Line 581"/>
              <p:cNvSpPr>
                <a:spLocks noChangeShapeType="1"/>
              </p:cNvSpPr>
              <p:nvPr/>
            </p:nvSpPr>
            <p:spPr bwMode="auto">
              <a:xfrm flipH="1">
                <a:off x="66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0" name="Line 582"/>
              <p:cNvSpPr>
                <a:spLocks noChangeShapeType="1"/>
              </p:cNvSpPr>
              <p:nvPr/>
            </p:nvSpPr>
            <p:spPr bwMode="auto">
              <a:xfrm flipH="1">
                <a:off x="65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1" name="Line 583"/>
              <p:cNvSpPr>
                <a:spLocks noChangeShapeType="1"/>
              </p:cNvSpPr>
              <p:nvPr/>
            </p:nvSpPr>
            <p:spPr bwMode="auto">
              <a:xfrm flipH="1">
                <a:off x="64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2" name="Line 584"/>
              <p:cNvSpPr>
                <a:spLocks noChangeShapeType="1"/>
              </p:cNvSpPr>
              <p:nvPr/>
            </p:nvSpPr>
            <p:spPr bwMode="auto">
              <a:xfrm flipH="1">
                <a:off x="63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3" name="Line 585"/>
              <p:cNvSpPr>
                <a:spLocks noChangeShapeType="1"/>
              </p:cNvSpPr>
              <p:nvPr/>
            </p:nvSpPr>
            <p:spPr bwMode="auto">
              <a:xfrm flipH="1">
                <a:off x="62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4" name="Line 586"/>
              <p:cNvSpPr>
                <a:spLocks noChangeShapeType="1"/>
              </p:cNvSpPr>
              <p:nvPr/>
            </p:nvSpPr>
            <p:spPr bwMode="auto">
              <a:xfrm flipH="1">
                <a:off x="61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5" name="Line 587"/>
              <p:cNvSpPr>
                <a:spLocks noChangeShapeType="1"/>
              </p:cNvSpPr>
              <p:nvPr/>
            </p:nvSpPr>
            <p:spPr bwMode="auto">
              <a:xfrm flipH="1">
                <a:off x="60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6" name="Line 588"/>
              <p:cNvSpPr>
                <a:spLocks noChangeShapeType="1"/>
              </p:cNvSpPr>
              <p:nvPr/>
            </p:nvSpPr>
            <p:spPr bwMode="auto">
              <a:xfrm flipH="1">
                <a:off x="59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7" name="Line 589"/>
              <p:cNvSpPr>
                <a:spLocks noChangeShapeType="1"/>
              </p:cNvSpPr>
              <p:nvPr/>
            </p:nvSpPr>
            <p:spPr bwMode="auto">
              <a:xfrm flipH="1">
                <a:off x="58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8" name="Line 590"/>
              <p:cNvSpPr>
                <a:spLocks noChangeShapeType="1"/>
              </p:cNvSpPr>
              <p:nvPr/>
            </p:nvSpPr>
            <p:spPr bwMode="auto">
              <a:xfrm flipH="1">
                <a:off x="57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39" name="Line 591"/>
              <p:cNvSpPr>
                <a:spLocks noChangeShapeType="1"/>
              </p:cNvSpPr>
              <p:nvPr/>
            </p:nvSpPr>
            <p:spPr bwMode="auto">
              <a:xfrm flipH="1">
                <a:off x="56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0" name="Line 592"/>
              <p:cNvSpPr>
                <a:spLocks noChangeShapeType="1"/>
              </p:cNvSpPr>
              <p:nvPr/>
            </p:nvSpPr>
            <p:spPr bwMode="auto">
              <a:xfrm flipH="1">
                <a:off x="55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1" name="Line 593"/>
              <p:cNvSpPr>
                <a:spLocks noChangeShapeType="1"/>
              </p:cNvSpPr>
              <p:nvPr/>
            </p:nvSpPr>
            <p:spPr bwMode="auto">
              <a:xfrm flipH="1">
                <a:off x="54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2" name="Line 594"/>
              <p:cNvSpPr>
                <a:spLocks noChangeShapeType="1"/>
              </p:cNvSpPr>
              <p:nvPr/>
            </p:nvSpPr>
            <p:spPr bwMode="auto">
              <a:xfrm flipH="1">
                <a:off x="54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3" name="Line 595"/>
              <p:cNvSpPr>
                <a:spLocks noChangeShapeType="1"/>
              </p:cNvSpPr>
              <p:nvPr/>
            </p:nvSpPr>
            <p:spPr bwMode="auto">
              <a:xfrm flipH="1">
                <a:off x="53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4" name="Line 596"/>
              <p:cNvSpPr>
                <a:spLocks noChangeShapeType="1"/>
              </p:cNvSpPr>
              <p:nvPr/>
            </p:nvSpPr>
            <p:spPr bwMode="auto">
              <a:xfrm flipH="1">
                <a:off x="52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5" name="Line 597"/>
              <p:cNvSpPr>
                <a:spLocks noChangeShapeType="1"/>
              </p:cNvSpPr>
              <p:nvPr/>
            </p:nvSpPr>
            <p:spPr bwMode="auto">
              <a:xfrm flipH="1">
                <a:off x="51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6" name="Line 598"/>
              <p:cNvSpPr>
                <a:spLocks noChangeShapeType="1"/>
              </p:cNvSpPr>
              <p:nvPr/>
            </p:nvSpPr>
            <p:spPr bwMode="auto">
              <a:xfrm flipH="1">
                <a:off x="50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7" name="Line 599"/>
              <p:cNvSpPr>
                <a:spLocks noChangeShapeType="1"/>
              </p:cNvSpPr>
              <p:nvPr/>
            </p:nvSpPr>
            <p:spPr bwMode="auto">
              <a:xfrm flipH="1">
                <a:off x="49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8" name="Line 600"/>
              <p:cNvSpPr>
                <a:spLocks noChangeShapeType="1"/>
              </p:cNvSpPr>
              <p:nvPr/>
            </p:nvSpPr>
            <p:spPr bwMode="auto">
              <a:xfrm flipH="1">
                <a:off x="48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49" name="Line 601"/>
              <p:cNvSpPr>
                <a:spLocks noChangeShapeType="1"/>
              </p:cNvSpPr>
              <p:nvPr/>
            </p:nvSpPr>
            <p:spPr bwMode="auto">
              <a:xfrm flipH="1">
                <a:off x="47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0" name="Line 602"/>
              <p:cNvSpPr>
                <a:spLocks noChangeShapeType="1"/>
              </p:cNvSpPr>
              <p:nvPr/>
            </p:nvSpPr>
            <p:spPr bwMode="auto">
              <a:xfrm flipH="1">
                <a:off x="46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1" name="Line 603"/>
              <p:cNvSpPr>
                <a:spLocks noChangeShapeType="1"/>
              </p:cNvSpPr>
              <p:nvPr/>
            </p:nvSpPr>
            <p:spPr bwMode="auto">
              <a:xfrm flipH="1">
                <a:off x="45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2" name="Line 604"/>
              <p:cNvSpPr>
                <a:spLocks noChangeShapeType="1"/>
              </p:cNvSpPr>
              <p:nvPr/>
            </p:nvSpPr>
            <p:spPr bwMode="auto">
              <a:xfrm flipH="1">
                <a:off x="448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3" name="Line 605"/>
              <p:cNvSpPr>
                <a:spLocks noChangeShapeType="1"/>
              </p:cNvSpPr>
              <p:nvPr/>
            </p:nvSpPr>
            <p:spPr bwMode="auto">
              <a:xfrm flipH="1">
                <a:off x="43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4" name="Line 606"/>
              <p:cNvSpPr>
                <a:spLocks noChangeShapeType="1"/>
              </p:cNvSpPr>
              <p:nvPr/>
            </p:nvSpPr>
            <p:spPr bwMode="auto">
              <a:xfrm flipH="1">
                <a:off x="42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5" name="Line 607"/>
              <p:cNvSpPr>
                <a:spLocks noChangeShapeType="1"/>
              </p:cNvSpPr>
              <p:nvPr/>
            </p:nvSpPr>
            <p:spPr bwMode="auto">
              <a:xfrm flipH="1">
                <a:off x="42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6" name="Line 608"/>
              <p:cNvSpPr>
                <a:spLocks noChangeShapeType="1"/>
              </p:cNvSpPr>
              <p:nvPr/>
            </p:nvSpPr>
            <p:spPr bwMode="auto">
              <a:xfrm flipH="1">
                <a:off x="411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7" name="Line 609"/>
              <p:cNvSpPr>
                <a:spLocks noChangeShapeType="1"/>
              </p:cNvSpPr>
              <p:nvPr/>
            </p:nvSpPr>
            <p:spPr bwMode="auto">
              <a:xfrm flipH="1">
                <a:off x="40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8" name="Line 610"/>
              <p:cNvSpPr>
                <a:spLocks noChangeShapeType="1"/>
              </p:cNvSpPr>
              <p:nvPr/>
            </p:nvSpPr>
            <p:spPr bwMode="auto">
              <a:xfrm flipH="1">
                <a:off x="39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59" name="Line 611"/>
              <p:cNvSpPr>
                <a:spLocks noChangeShapeType="1"/>
              </p:cNvSpPr>
              <p:nvPr/>
            </p:nvSpPr>
            <p:spPr bwMode="auto">
              <a:xfrm flipH="1">
                <a:off x="38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0" name="Line 612"/>
              <p:cNvSpPr>
                <a:spLocks noChangeShapeType="1"/>
              </p:cNvSpPr>
              <p:nvPr/>
            </p:nvSpPr>
            <p:spPr bwMode="auto">
              <a:xfrm flipH="1">
                <a:off x="37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1" name="Line 613"/>
              <p:cNvSpPr>
                <a:spLocks noChangeShapeType="1"/>
              </p:cNvSpPr>
              <p:nvPr/>
            </p:nvSpPr>
            <p:spPr bwMode="auto">
              <a:xfrm flipH="1">
                <a:off x="365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2" name="Line 614"/>
              <p:cNvSpPr>
                <a:spLocks noChangeShapeType="1"/>
              </p:cNvSpPr>
              <p:nvPr/>
            </p:nvSpPr>
            <p:spPr bwMode="auto">
              <a:xfrm flipH="1">
                <a:off x="35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3" name="Line 615"/>
              <p:cNvSpPr>
                <a:spLocks noChangeShapeType="1"/>
              </p:cNvSpPr>
              <p:nvPr/>
            </p:nvSpPr>
            <p:spPr bwMode="auto">
              <a:xfrm flipH="1">
                <a:off x="34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4" name="Line 616"/>
              <p:cNvSpPr>
                <a:spLocks noChangeShapeType="1"/>
              </p:cNvSpPr>
              <p:nvPr/>
            </p:nvSpPr>
            <p:spPr bwMode="auto">
              <a:xfrm flipH="1">
                <a:off x="33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5" name="Line 617"/>
              <p:cNvSpPr>
                <a:spLocks noChangeShapeType="1"/>
              </p:cNvSpPr>
              <p:nvPr/>
            </p:nvSpPr>
            <p:spPr bwMode="auto">
              <a:xfrm flipH="1">
                <a:off x="32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6" name="Line 618"/>
              <p:cNvSpPr>
                <a:spLocks noChangeShapeType="1"/>
              </p:cNvSpPr>
              <p:nvPr/>
            </p:nvSpPr>
            <p:spPr bwMode="auto">
              <a:xfrm flipH="1">
                <a:off x="31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7" name="Line 619"/>
              <p:cNvSpPr>
                <a:spLocks noChangeShapeType="1"/>
              </p:cNvSpPr>
              <p:nvPr/>
            </p:nvSpPr>
            <p:spPr bwMode="auto">
              <a:xfrm flipH="1">
                <a:off x="30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8" name="Line 620"/>
              <p:cNvSpPr>
                <a:spLocks noChangeShapeType="1"/>
              </p:cNvSpPr>
              <p:nvPr/>
            </p:nvSpPr>
            <p:spPr bwMode="auto">
              <a:xfrm flipH="1">
                <a:off x="30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69" name="Line 621"/>
              <p:cNvSpPr>
                <a:spLocks noChangeShapeType="1"/>
              </p:cNvSpPr>
              <p:nvPr/>
            </p:nvSpPr>
            <p:spPr bwMode="auto">
              <a:xfrm flipH="1">
                <a:off x="29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0" name="Line 622"/>
              <p:cNvSpPr>
                <a:spLocks noChangeShapeType="1"/>
              </p:cNvSpPr>
              <p:nvPr/>
            </p:nvSpPr>
            <p:spPr bwMode="auto">
              <a:xfrm flipH="1">
                <a:off x="282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1" name="Line 623"/>
              <p:cNvSpPr>
                <a:spLocks noChangeShapeType="1"/>
              </p:cNvSpPr>
              <p:nvPr/>
            </p:nvSpPr>
            <p:spPr bwMode="auto">
              <a:xfrm flipH="1">
                <a:off x="27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6" name="Group 624"/>
            <p:cNvGrpSpPr>
              <a:grpSpLocks/>
            </p:cNvGrpSpPr>
            <p:nvPr/>
          </p:nvGrpSpPr>
          <p:grpSpPr bwMode="auto">
            <a:xfrm>
              <a:off x="96" y="1308"/>
              <a:ext cx="1945" cy="1218"/>
              <a:chOff x="64" y="1452"/>
              <a:chExt cx="1945" cy="1218"/>
            </a:xfrm>
          </p:grpSpPr>
          <p:sp>
            <p:nvSpPr>
              <p:cNvPr id="2673" name="Line 625"/>
              <p:cNvSpPr>
                <a:spLocks noChangeShapeType="1"/>
              </p:cNvSpPr>
              <p:nvPr/>
            </p:nvSpPr>
            <p:spPr bwMode="auto">
              <a:xfrm flipH="1">
                <a:off x="263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4" name="Line 626"/>
              <p:cNvSpPr>
                <a:spLocks noChangeShapeType="1"/>
              </p:cNvSpPr>
              <p:nvPr/>
            </p:nvSpPr>
            <p:spPr bwMode="auto">
              <a:xfrm flipH="1">
                <a:off x="25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5" name="Line 627"/>
              <p:cNvSpPr>
                <a:spLocks noChangeShapeType="1"/>
              </p:cNvSpPr>
              <p:nvPr/>
            </p:nvSpPr>
            <p:spPr bwMode="auto">
              <a:xfrm flipH="1">
                <a:off x="24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6" name="Line 628"/>
              <p:cNvSpPr>
                <a:spLocks noChangeShapeType="1"/>
              </p:cNvSpPr>
              <p:nvPr/>
            </p:nvSpPr>
            <p:spPr bwMode="auto">
              <a:xfrm flipH="1">
                <a:off x="236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7" name="Line 629"/>
              <p:cNvSpPr>
                <a:spLocks noChangeShapeType="1"/>
              </p:cNvSpPr>
              <p:nvPr/>
            </p:nvSpPr>
            <p:spPr bwMode="auto">
              <a:xfrm flipH="1">
                <a:off x="22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8" name="Line 630"/>
              <p:cNvSpPr>
                <a:spLocks noChangeShapeType="1"/>
              </p:cNvSpPr>
              <p:nvPr/>
            </p:nvSpPr>
            <p:spPr bwMode="auto">
              <a:xfrm flipH="1">
                <a:off x="21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79" name="Line 631"/>
              <p:cNvSpPr>
                <a:spLocks noChangeShapeType="1"/>
              </p:cNvSpPr>
              <p:nvPr/>
            </p:nvSpPr>
            <p:spPr bwMode="auto">
              <a:xfrm flipH="1">
                <a:off x="20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0" name="Line 632"/>
              <p:cNvSpPr>
                <a:spLocks noChangeShapeType="1"/>
              </p:cNvSpPr>
              <p:nvPr/>
            </p:nvSpPr>
            <p:spPr bwMode="auto">
              <a:xfrm flipH="1">
                <a:off x="199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1" name="Line 633"/>
              <p:cNvSpPr>
                <a:spLocks noChangeShapeType="1"/>
              </p:cNvSpPr>
              <p:nvPr/>
            </p:nvSpPr>
            <p:spPr bwMode="auto">
              <a:xfrm flipH="1">
                <a:off x="19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2" name="Line 634"/>
              <p:cNvSpPr>
                <a:spLocks noChangeShapeType="1"/>
              </p:cNvSpPr>
              <p:nvPr/>
            </p:nvSpPr>
            <p:spPr bwMode="auto">
              <a:xfrm flipH="1">
                <a:off x="180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3" name="Line 635"/>
              <p:cNvSpPr>
                <a:spLocks noChangeShapeType="1"/>
              </p:cNvSpPr>
              <p:nvPr/>
            </p:nvSpPr>
            <p:spPr bwMode="auto">
              <a:xfrm flipH="1">
                <a:off x="171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4" name="Line 636"/>
              <p:cNvSpPr>
                <a:spLocks noChangeShapeType="1"/>
              </p:cNvSpPr>
              <p:nvPr/>
            </p:nvSpPr>
            <p:spPr bwMode="auto">
              <a:xfrm flipH="1">
                <a:off x="162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5" name="Line 637"/>
              <p:cNvSpPr>
                <a:spLocks noChangeShapeType="1"/>
              </p:cNvSpPr>
              <p:nvPr/>
            </p:nvSpPr>
            <p:spPr bwMode="auto">
              <a:xfrm flipH="1">
                <a:off x="153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6" name="Line 638"/>
              <p:cNvSpPr>
                <a:spLocks noChangeShapeType="1"/>
              </p:cNvSpPr>
              <p:nvPr/>
            </p:nvSpPr>
            <p:spPr bwMode="auto">
              <a:xfrm flipH="1">
                <a:off x="144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7" name="Line 639"/>
              <p:cNvSpPr>
                <a:spLocks noChangeShapeType="1"/>
              </p:cNvSpPr>
              <p:nvPr/>
            </p:nvSpPr>
            <p:spPr bwMode="auto">
              <a:xfrm flipH="1">
                <a:off x="134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8" name="Line 640"/>
              <p:cNvSpPr>
                <a:spLocks noChangeShapeType="1"/>
              </p:cNvSpPr>
              <p:nvPr/>
            </p:nvSpPr>
            <p:spPr bwMode="auto">
              <a:xfrm flipH="1">
                <a:off x="125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89" name="Line 641"/>
              <p:cNvSpPr>
                <a:spLocks noChangeShapeType="1"/>
              </p:cNvSpPr>
              <p:nvPr/>
            </p:nvSpPr>
            <p:spPr bwMode="auto">
              <a:xfrm flipH="1">
                <a:off x="116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0" name="Line 642"/>
              <p:cNvSpPr>
                <a:spLocks noChangeShapeType="1"/>
              </p:cNvSpPr>
              <p:nvPr/>
            </p:nvSpPr>
            <p:spPr bwMode="auto">
              <a:xfrm flipH="1">
                <a:off x="107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1" name="Line 643"/>
              <p:cNvSpPr>
                <a:spLocks noChangeShapeType="1"/>
              </p:cNvSpPr>
              <p:nvPr/>
            </p:nvSpPr>
            <p:spPr bwMode="auto">
              <a:xfrm flipH="1">
                <a:off x="97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2" name="Line 644"/>
              <p:cNvSpPr>
                <a:spLocks noChangeShapeType="1"/>
              </p:cNvSpPr>
              <p:nvPr/>
            </p:nvSpPr>
            <p:spPr bwMode="auto">
              <a:xfrm flipH="1">
                <a:off x="88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3" name="Line 645"/>
              <p:cNvSpPr>
                <a:spLocks noChangeShapeType="1"/>
              </p:cNvSpPr>
              <p:nvPr/>
            </p:nvSpPr>
            <p:spPr bwMode="auto">
              <a:xfrm flipH="1">
                <a:off x="79" y="1452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4" name="Line 646"/>
              <p:cNvSpPr>
                <a:spLocks noChangeShapeType="1"/>
              </p:cNvSpPr>
              <p:nvPr/>
            </p:nvSpPr>
            <p:spPr bwMode="auto">
              <a:xfrm flipH="1">
                <a:off x="70" y="1452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5" name="Freeform 647"/>
              <p:cNvSpPr>
                <a:spLocks/>
              </p:cNvSpPr>
              <p:nvPr/>
            </p:nvSpPr>
            <p:spPr bwMode="auto">
              <a:xfrm>
                <a:off x="64" y="1452"/>
                <a:ext cx="1" cy="4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3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6" name="Line 648"/>
              <p:cNvSpPr>
                <a:spLocks noChangeShapeType="1"/>
              </p:cNvSpPr>
              <p:nvPr/>
            </p:nvSpPr>
            <p:spPr bwMode="auto">
              <a:xfrm>
                <a:off x="64" y="146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7" name="Line 649"/>
              <p:cNvSpPr>
                <a:spLocks noChangeShapeType="1"/>
              </p:cNvSpPr>
              <p:nvPr/>
            </p:nvSpPr>
            <p:spPr bwMode="auto">
              <a:xfrm>
                <a:off x="64" y="146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8" name="Line 650"/>
              <p:cNvSpPr>
                <a:spLocks noChangeShapeType="1"/>
              </p:cNvSpPr>
              <p:nvPr/>
            </p:nvSpPr>
            <p:spPr bwMode="auto">
              <a:xfrm>
                <a:off x="64" y="147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9" name="Line 651"/>
              <p:cNvSpPr>
                <a:spLocks noChangeShapeType="1"/>
              </p:cNvSpPr>
              <p:nvPr/>
            </p:nvSpPr>
            <p:spPr bwMode="auto">
              <a:xfrm>
                <a:off x="64" y="148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0" name="Line 652"/>
              <p:cNvSpPr>
                <a:spLocks noChangeShapeType="1"/>
              </p:cNvSpPr>
              <p:nvPr/>
            </p:nvSpPr>
            <p:spPr bwMode="auto">
              <a:xfrm>
                <a:off x="64" y="149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1" name="Line 653"/>
              <p:cNvSpPr>
                <a:spLocks noChangeShapeType="1"/>
              </p:cNvSpPr>
              <p:nvPr/>
            </p:nvSpPr>
            <p:spPr bwMode="auto">
              <a:xfrm>
                <a:off x="64" y="150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2" name="Line 654"/>
              <p:cNvSpPr>
                <a:spLocks noChangeShapeType="1"/>
              </p:cNvSpPr>
              <p:nvPr/>
            </p:nvSpPr>
            <p:spPr bwMode="auto">
              <a:xfrm>
                <a:off x="64" y="151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3" name="Line 655"/>
              <p:cNvSpPr>
                <a:spLocks noChangeShapeType="1"/>
              </p:cNvSpPr>
              <p:nvPr/>
            </p:nvSpPr>
            <p:spPr bwMode="auto">
              <a:xfrm>
                <a:off x="64" y="152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4" name="Line 656"/>
              <p:cNvSpPr>
                <a:spLocks noChangeShapeType="1"/>
              </p:cNvSpPr>
              <p:nvPr/>
            </p:nvSpPr>
            <p:spPr bwMode="auto">
              <a:xfrm>
                <a:off x="64" y="153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5" name="Line 657"/>
              <p:cNvSpPr>
                <a:spLocks noChangeShapeType="1"/>
              </p:cNvSpPr>
              <p:nvPr/>
            </p:nvSpPr>
            <p:spPr bwMode="auto">
              <a:xfrm>
                <a:off x="64" y="154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6" name="Line 658"/>
              <p:cNvSpPr>
                <a:spLocks noChangeShapeType="1"/>
              </p:cNvSpPr>
              <p:nvPr/>
            </p:nvSpPr>
            <p:spPr bwMode="auto">
              <a:xfrm>
                <a:off x="64" y="155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7" name="Line 659"/>
              <p:cNvSpPr>
                <a:spLocks noChangeShapeType="1"/>
              </p:cNvSpPr>
              <p:nvPr/>
            </p:nvSpPr>
            <p:spPr bwMode="auto">
              <a:xfrm>
                <a:off x="64" y="156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8" name="Line 660"/>
              <p:cNvSpPr>
                <a:spLocks noChangeShapeType="1"/>
              </p:cNvSpPr>
              <p:nvPr/>
            </p:nvSpPr>
            <p:spPr bwMode="auto">
              <a:xfrm>
                <a:off x="64" y="157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9" name="Line 661"/>
              <p:cNvSpPr>
                <a:spLocks noChangeShapeType="1"/>
              </p:cNvSpPr>
              <p:nvPr/>
            </p:nvSpPr>
            <p:spPr bwMode="auto">
              <a:xfrm>
                <a:off x="64" y="158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0" name="Line 662"/>
              <p:cNvSpPr>
                <a:spLocks noChangeShapeType="1"/>
              </p:cNvSpPr>
              <p:nvPr/>
            </p:nvSpPr>
            <p:spPr bwMode="auto">
              <a:xfrm>
                <a:off x="64" y="158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1" name="Line 663"/>
              <p:cNvSpPr>
                <a:spLocks noChangeShapeType="1"/>
              </p:cNvSpPr>
              <p:nvPr/>
            </p:nvSpPr>
            <p:spPr bwMode="auto">
              <a:xfrm>
                <a:off x="64" y="159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2" name="Line 664"/>
              <p:cNvSpPr>
                <a:spLocks noChangeShapeType="1"/>
              </p:cNvSpPr>
              <p:nvPr/>
            </p:nvSpPr>
            <p:spPr bwMode="auto">
              <a:xfrm>
                <a:off x="64" y="160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3" name="Line 665"/>
              <p:cNvSpPr>
                <a:spLocks noChangeShapeType="1"/>
              </p:cNvSpPr>
              <p:nvPr/>
            </p:nvSpPr>
            <p:spPr bwMode="auto">
              <a:xfrm>
                <a:off x="64" y="161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4" name="Line 666"/>
              <p:cNvSpPr>
                <a:spLocks noChangeShapeType="1"/>
              </p:cNvSpPr>
              <p:nvPr/>
            </p:nvSpPr>
            <p:spPr bwMode="auto">
              <a:xfrm>
                <a:off x="64" y="162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5" name="Line 667"/>
              <p:cNvSpPr>
                <a:spLocks noChangeShapeType="1"/>
              </p:cNvSpPr>
              <p:nvPr/>
            </p:nvSpPr>
            <p:spPr bwMode="auto">
              <a:xfrm>
                <a:off x="64" y="163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6" name="Line 668"/>
              <p:cNvSpPr>
                <a:spLocks noChangeShapeType="1"/>
              </p:cNvSpPr>
              <p:nvPr/>
            </p:nvSpPr>
            <p:spPr bwMode="auto">
              <a:xfrm>
                <a:off x="64" y="164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7" name="Line 669"/>
              <p:cNvSpPr>
                <a:spLocks noChangeShapeType="1"/>
              </p:cNvSpPr>
              <p:nvPr/>
            </p:nvSpPr>
            <p:spPr bwMode="auto">
              <a:xfrm>
                <a:off x="64" y="165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8" name="Line 670"/>
              <p:cNvSpPr>
                <a:spLocks noChangeShapeType="1"/>
              </p:cNvSpPr>
              <p:nvPr/>
            </p:nvSpPr>
            <p:spPr bwMode="auto">
              <a:xfrm>
                <a:off x="64" y="166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19" name="Line 671"/>
              <p:cNvSpPr>
                <a:spLocks noChangeShapeType="1"/>
              </p:cNvSpPr>
              <p:nvPr/>
            </p:nvSpPr>
            <p:spPr bwMode="auto">
              <a:xfrm>
                <a:off x="64" y="167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0" name="Line 672"/>
              <p:cNvSpPr>
                <a:spLocks noChangeShapeType="1"/>
              </p:cNvSpPr>
              <p:nvPr/>
            </p:nvSpPr>
            <p:spPr bwMode="auto">
              <a:xfrm>
                <a:off x="64" y="168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1" name="Line 673"/>
              <p:cNvSpPr>
                <a:spLocks noChangeShapeType="1"/>
              </p:cNvSpPr>
              <p:nvPr/>
            </p:nvSpPr>
            <p:spPr bwMode="auto">
              <a:xfrm>
                <a:off x="64" y="169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2" name="Line 674"/>
              <p:cNvSpPr>
                <a:spLocks noChangeShapeType="1"/>
              </p:cNvSpPr>
              <p:nvPr/>
            </p:nvSpPr>
            <p:spPr bwMode="auto">
              <a:xfrm>
                <a:off x="64" y="170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3" name="Line 675"/>
              <p:cNvSpPr>
                <a:spLocks noChangeShapeType="1"/>
              </p:cNvSpPr>
              <p:nvPr/>
            </p:nvSpPr>
            <p:spPr bwMode="auto">
              <a:xfrm>
                <a:off x="64" y="170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4" name="Line 676"/>
              <p:cNvSpPr>
                <a:spLocks noChangeShapeType="1"/>
              </p:cNvSpPr>
              <p:nvPr/>
            </p:nvSpPr>
            <p:spPr bwMode="auto">
              <a:xfrm>
                <a:off x="64" y="171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5" name="Line 677"/>
              <p:cNvSpPr>
                <a:spLocks noChangeShapeType="1"/>
              </p:cNvSpPr>
              <p:nvPr/>
            </p:nvSpPr>
            <p:spPr bwMode="auto">
              <a:xfrm>
                <a:off x="64" y="172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6" name="Line 678"/>
              <p:cNvSpPr>
                <a:spLocks noChangeShapeType="1"/>
              </p:cNvSpPr>
              <p:nvPr/>
            </p:nvSpPr>
            <p:spPr bwMode="auto">
              <a:xfrm>
                <a:off x="64" y="173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7" name="Line 679"/>
              <p:cNvSpPr>
                <a:spLocks noChangeShapeType="1"/>
              </p:cNvSpPr>
              <p:nvPr/>
            </p:nvSpPr>
            <p:spPr bwMode="auto">
              <a:xfrm>
                <a:off x="64" y="174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8" name="Line 680"/>
              <p:cNvSpPr>
                <a:spLocks noChangeShapeType="1"/>
              </p:cNvSpPr>
              <p:nvPr/>
            </p:nvSpPr>
            <p:spPr bwMode="auto">
              <a:xfrm>
                <a:off x="64" y="175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29" name="Line 681"/>
              <p:cNvSpPr>
                <a:spLocks noChangeShapeType="1"/>
              </p:cNvSpPr>
              <p:nvPr/>
            </p:nvSpPr>
            <p:spPr bwMode="auto">
              <a:xfrm>
                <a:off x="64" y="176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0" name="Line 682"/>
              <p:cNvSpPr>
                <a:spLocks noChangeShapeType="1"/>
              </p:cNvSpPr>
              <p:nvPr/>
            </p:nvSpPr>
            <p:spPr bwMode="auto">
              <a:xfrm>
                <a:off x="64" y="177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1" name="Line 683"/>
              <p:cNvSpPr>
                <a:spLocks noChangeShapeType="1"/>
              </p:cNvSpPr>
              <p:nvPr/>
            </p:nvSpPr>
            <p:spPr bwMode="auto">
              <a:xfrm>
                <a:off x="64" y="178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2" name="Line 684"/>
              <p:cNvSpPr>
                <a:spLocks noChangeShapeType="1"/>
              </p:cNvSpPr>
              <p:nvPr/>
            </p:nvSpPr>
            <p:spPr bwMode="auto">
              <a:xfrm>
                <a:off x="64" y="179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3" name="Line 685"/>
              <p:cNvSpPr>
                <a:spLocks noChangeShapeType="1"/>
              </p:cNvSpPr>
              <p:nvPr/>
            </p:nvSpPr>
            <p:spPr bwMode="auto">
              <a:xfrm>
                <a:off x="64" y="180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4" name="Line 686"/>
              <p:cNvSpPr>
                <a:spLocks noChangeShapeType="1"/>
              </p:cNvSpPr>
              <p:nvPr/>
            </p:nvSpPr>
            <p:spPr bwMode="auto">
              <a:xfrm>
                <a:off x="64" y="181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5" name="Line 687"/>
              <p:cNvSpPr>
                <a:spLocks noChangeShapeType="1"/>
              </p:cNvSpPr>
              <p:nvPr/>
            </p:nvSpPr>
            <p:spPr bwMode="auto">
              <a:xfrm>
                <a:off x="64" y="182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6" name="Line 688"/>
              <p:cNvSpPr>
                <a:spLocks noChangeShapeType="1"/>
              </p:cNvSpPr>
              <p:nvPr/>
            </p:nvSpPr>
            <p:spPr bwMode="auto">
              <a:xfrm>
                <a:off x="64" y="182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7" name="Line 689"/>
              <p:cNvSpPr>
                <a:spLocks noChangeShapeType="1"/>
              </p:cNvSpPr>
              <p:nvPr/>
            </p:nvSpPr>
            <p:spPr bwMode="auto">
              <a:xfrm>
                <a:off x="64" y="183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8" name="Line 690"/>
              <p:cNvSpPr>
                <a:spLocks noChangeShapeType="1"/>
              </p:cNvSpPr>
              <p:nvPr/>
            </p:nvSpPr>
            <p:spPr bwMode="auto">
              <a:xfrm>
                <a:off x="64" y="184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39" name="Line 691"/>
              <p:cNvSpPr>
                <a:spLocks noChangeShapeType="1"/>
              </p:cNvSpPr>
              <p:nvPr/>
            </p:nvSpPr>
            <p:spPr bwMode="auto">
              <a:xfrm>
                <a:off x="64" y="185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0" name="Line 692"/>
              <p:cNvSpPr>
                <a:spLocks noChangeShapeType="1"/>
              </p:cNvSpPr>
              <p:nvPr/>
            </p:nvSpPr>
            <p:spPr bwMode="auto">
              <a:xfrm>
                <a:off x="64" y="186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1" name="Line 693"/>
              <p:cNvSpPr>
                <a:spLocks noChangeShapeType="1"/>
              </p:cNvSpPr>
              <p:nvPr/>
            </p:nvSpPr>
            <p:spPr bwMode="auto">
              <a:xfrm>
                <a:off x="64" y="18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2" name="Line 694"/>
              <p:cNvSpPr>
                <a:spLocks noChangeShapeType="1"/>
              </p:cNvSpPr>
              <p:nvPr/>
            </p:nvSpPr>
            <p:spPr bwMode="auto">
              <a:xfrm>
                <a:off x="64" y="188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3" name="Line 695"/>
              <p:cNvSpPr>
                <a:spLocks noChangeShapeType="1"/>
              </p:cNvSpPr>
              <p:nvPr/>
            </p:nvSpPr>
            <p:spPr bwMode="auto">
              <a:xfrm>
                <a:off x="64" y="189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4" name="Line 696"/>
              <p:cNvSpPr>
                <a:spLocks noChangeShapeType="1"/>
              </p:cNvSpPr>
              <p:nvPr/>
            </p:nvSpPr>
            <p:spPr bwMode="auto">
              <a:xfrm>
                <a:off x="64" y="190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5" name="Line 697"/>
              <p:cNvSpPr>
                <a:spLocks noChangeShapeType="1"/>
              </p:cNvSpPr>
              <p:nvPr/>
            </p:nvSpPr>
            <p:spPr bwMode="auto">
              <a:xfrm>
                <a:off x="64" y="191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6" name="Line 698"/>
              <p:cNvSpPr>
                <a:spLocks noChangeShapeType="1"/>
              </p:cNvSpPr>
              <p:nvPr/>
            </p:nvSpPr>
            <p:spPr bwMode="auto">
              <a:xfrm>
                <a:off x="64" y="192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7" name="Line 699"/>
              <p:cNvSpPr>
                <a:spLocks noChangeShapeType="1"/>
              </p:cNvSpPr>
              <p:nvPr/>
            </p:nvSpPr>
            <p:spPr bwMode="auto">
              <a:xfrm>
                <a:off x="64" y="193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8" name="Line 700"/>
              <p:cNvSpPr>
                <a:spLocks noChangeShapeType="1"/>
              </p:cNvSpPr>
              <p:nvPr/>
            </p:nvSpPr>
            <p:spPr bwMode="auto">
              <a:xfrm>
                <a:off x="64" y="193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49" name="Line 701"/>
              <p:cNvSpPr>
                <a:spLocks noChangeShapeType="1"/>
              </p:cNvSpPr>
              <p:nvPr/>
            </p:nvSpPr>
            <p:spPr bwMode="auto">
              <a:xfrm>
                <a:off x="64" y="194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0" name="Line 702"/>
              <p:cNvSpPr>
                <a:spLocks noChangeShapeType="1"/>
              </p:cNvSpPr>
              <p:nvPr/>
            </p:nvSpPr>
            <p:spPr bwMode="auto">
              <a:xfrm>
                <a:off x="64" y="19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1" name="Line 703"/>
              <p:cNvSpPr>
                <a:spLocks noChangeShapeType="1"/>
              </p:cNvSpPr>
              <p:nvPr/>
            </p:nvSpPr>
            <p:spPr bwMode="auto">
              <a:xfrm>
                <a:off x="64" y="196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2" name="Line 704"/>
              <p:cNvSpPr>
                <a:spLocks noChangeShapeType="1"/>
              </p:cNvSpPr>
              <p:nvPr/>
            </p:nvSpPr>
            <p:spPr bwMode="auto">
              <a:xfrm>
                <a:off x="64" y="197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3" name="Line 705"/>
              <p:cNvSpPr>
                <a:spLocks noChangeShapeType="1"/>
              </p:cNvSpPr>
              <p:nvPr/>
            </p:nvSpPr>
            <p:spPr bwMode="auto">
              <a:xfrm>
                <a:off x="64" y="198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4" name="Line 706"/>
              <p:cNvSpPr>
                <a:spLocks noChangeShapeType="1"/>
              </p:cNvSpPr>
              <p:nvPr/>
            </p:nvSpPr>
            <p:spPr bwMode="auto">
              <a:xfrm>
                <a:off x="64" y="199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5" name="Line 707"/>
              <p:cNvSpPr>
                <a:spLocks noChangeShapeType="1"/>
              </p:cNvSpPr>
              <p:nvPr/>
            </p:nvSpPr>
            <p:spPr bwMode="auto">
              <a:xfrm>
                <a:off x="64" y="20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6" name="Line 708"/>
              <p:cNvSpPr>
                <a:spLocks noChangeShapeType="1"/>
              </p:cNvSpPr>
              <p:nvPr/>
            </p:nvSpPr>
            <p:spPr bwMode="auto">
              <a:xfrm>
                <a:off x="64" y="201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7" name="Line 709"/>
              <p:cNvSpPr>
                <a:spLocks noChangeShapeType="1"/>
              </p:cNvSpPr>
              <p:nvPr/>
            </p:nvSpPr>
            <p:spPr bwMode="auto">
              <a:xfrm>
                <a:off x="64" y="202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8" name="Line 710"/>
              <p:cNvSpPr>
                <a:spLocks noChangeShapeType="1"/>
              </p:cNvSpPr>
              <p:nvPr/>
            </p:nvSpPr>
            <p:spPr bwMode="auto">
              <a:xfrm>
                <a:off x="64" y="203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59" name="Line 711"/>
              <p:cNvSpPr>
                <a:spLocks noChangeShapeType="1"/>
              </p:cNvSpPr>
              <p:nvPr/>
            </p:nvSpPr>
            <p:spPr bwMode="auto">
              <a:xfrm>
                <a:off x="64" y="204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0" name="Line 712"/>
              <p:cNvSpPr>
                <a:spLocks noChangeShapeType="1"/>
              </p:cNvSpPr>
              <p:nvPr/>
            </p:nvSpPr>
            <p:spPr bwMode="auto">
              <a:xfrm>
                <a:off x="64" y="205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1" name="Line 713"/>
              <p:cNvSpPr>
                <a:spLocks noChangeShapeType="1"/>
              </p:cNvSpPr>
              <p:nvPr/>
            </p:nvSpPr>
            <p:spPr bwMode="auto">
              <a:xfrm>
                <a:off x="64" y="205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2" name="Line 714"/>
              <p:cNvSpPr>
                <a:spLocks noChangeShapeType="1"/>
              </p:cNvSpPr>
              <p:nvPr/>
            </p:nvSpPr>
            <p:spPr bwMode="auto">
              <a:xfrm>
                <a:off x="64" y="206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3" name="Line 715"/>
              <p:cNvSpPr>
                <a:spLocks noChangeShapeType="1"/>
              </p:cNvSpPr>
              <p:nvPr/>
            </p:nvSpPr>
            <p:spPr bwMode="auto">
              <a:xfrm>
                <a:off x="64" y="207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4" name="Line 716"/>
              <p:cNvSpPr>
                <a:spLocks noChangeShapeType="1"/>
              </p:cNvSpPr>
              <p:nvPr/>
            </p:nvSpPr>
            <p:spPr bwMode="auto">
              <a:xfrm>
                <a:off x="64" y="208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5" name="Line 717"/>
              <p:cNvSpPr>
                <a:spLocks noChangeShapeType="1"/>
              </p:cNvSpPr>
              <p:nvPr/>
            </p:nvSpPr>
            <p:spPr bwMode="auto">
              <a:xfrm>
                <a:off x="64" y="209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6" name="Line 718"/>
              <p:cNvSpPr>
                <a:spLocks noChangeShapeType="1"/>
              </p:cNvSpPr>
              <p:nvPr/>
            </p:nvSpPr>
            <p:spPr bwMode="auto">
              <a:xfrm>
                <a:off x="64" y="210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7" name="Line 719"/>
              <p:cNvSpPr>
                <a:spLocks noChangeShapeType="1"/>
              </p:cNvSpPr>
              <p:nvPr/>
            </p:nvSpPr>
            <p:spPr bwMode="auto">
              <a:xfrm>
                <a:off x="64" y="211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8" name="Line 720"/>
              <p:cNvSpPr>
                <a:spLocks noChangeShapeType="1"/>
              </p:cNvSpPr>
              <p:nvPr/>
            </p:nvSpPr>
            <p:spPr bwMode="auto">
              <a:xfrm>
                <a:off x="64" y="212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69" name="Line 721"/>
              <p:cNvSpPr>
                <a:spLocks noChangeShapeType="1"/>
              </p:cNvSpPr>
              <p:nvPr/>
            </p:nvSpPr>
            <p:spPr bwMode="auto">
              <a:xfrm>
                <a:off x="64" y="213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0" name="Line 722"/>
              <p:cNvSpPr>
                <a:spLocks noChangeShapeType="1"/>
              </p:cNvSpPr>
              <p:nvPr/>
            </p:nvSpPr>
            <p:spPr bwMode="auto">
              <a:xfrm>
                <a:off x="64" y="214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1" name="Line 723"/>
              <p:cNvSpPr>
                <a:spLocks noChangeShapeType="1"/>
              </p:cNvSpPr>
              <p:nvPr/>
            </p:nvSpPr>
            <p:spPr bwMode="auto">
              <a:xfrm>
                <a:off x="64" y="215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2" name="Line 724"/>
              <p:cNvSpPr>
                <a:spLocks noChangeShapeType="1"/>
              </p:cNvSpPr>
              <p:nvPr/>
            </p:nvSpPr>
            <p:spPr bwMode="auto">
              <a:xfrm>
                <a:off x="64" y="216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3" name="Line 725"/>
              <p:cNvSpPr>
                <a:spLocks noChangeShapeType="1"/>
              </p:cNvSpPr>
              <p:nvPr/>
            </p:nvSpPr>
            <p:spPr bwMode="auto">
              <a:xfrm>
                <a:off x="64" y="217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4" name="Line 726"/>
              <p:cNvSpPr>
                <a:spLocks noChangeShapeType="1"/>
              </p:cNvSpPr>
              <p:nvPr/>
            </p:nvSpPr>
            <p:spPr bwMode="auto">
              <a:xfrm>
                <a:off x="64" y="217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5" name="Line 727"/>
              <p:cNvSpPr>
                <a:spLocks noChangeShapeType="1"/>
              </p:cNvSpPr>
              <p:nvPr/>
            </p:nvSpPr>
            <p:spPr bwMode="auto">
              <a:xfrm>
                <a:off x="64" y="218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6" name="Line 728"/>
              <p:cNvSpPr>
                <a:spLocks noChangeShapeType="1"/>
              </p:cNvSpPr>
              <p:nvPr/>
            </p:nvSpPr>
            <p:spPr bwMode="auto">
              <a:xfrm>
                <a:off x="64" y="219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7" name="Line 729"/>
              <p:cNvSpPr>
                <a:spLocks noChangeShapeType="1"/>
              </p:cNvSpPr>
              <p:nvPr/>
            </p:nvSpPr>
            <p:spPr bwMode="auto">
              <a:xfrm>
                <a:off x="64" y="220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8" name="Line 730"/>
              <p:cNvSpPr>
                <a:spLocks noChangeShapeType="1"/>
              </p:cNvSpPr>
              <p:nvPr/>
            </p:nvSpPr>
            <p:spPr bwMode="auto">
              <a:xfrm>
                <a:off x="64" y="221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9" name="Line 731"/>
              <p:cNvSpPr>
                <a:spLocks noChangeShapeType="1"/>
              </p:cNvSpPr>
              <p:nvPr/>
            </p:nvSpPr>
            <p:spPr bwMode="auto">
              <a:xfrm>
                <a:off x="64" y="222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0" name="Line 732"/>
              <p:cNvSpPr>
                <a:spLocks noChangeShapeType="1"/>
              </p:cNvSpPr>
              <p:nvPr/>
            </p:nvSpPr>
            <p:spPr bwMode="auto">
              <a:xfrm>
                <a:off x="64" y="223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1" name="Line 733"/>
              <p:cNvSpPr>
                <a:spLocks noChangeShapeType="1"/>
              </p:cNvSpPr>
              <p:nvPr/>
            </p:nvSpPr>
            <p:spPr bwMode="auto">
              <a:xfrm>
                <a:off x="64" y="224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2" name="Line 734"/>
              <p:cNvSpPr>
                <a:spLocks noChangeShapeType="1"/>
              </p:cNvSpPr>
              <p:nvPr/>
            </p:nvSpPr>
            <p:spPr bwMode="auto">
              <a:xfrm>
                <a:off x="64" y="225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3" name="Line 735"/>
              <p:cNvSpPr>
                <a:spLocks noChangeShapeType="1"/>
              </p:cNvSpPr>
              <p:nvPr/>
            </p:nvSpPr>
            <p:spPr bwMode="auto">
              <a:xfrm>
                <a:off x="64" y="226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4" name="Line 736"/>
              <p:cNvSpPr>
                <a:spLocks noChangeShapeType="1"/>
              </p:cNvSpPr>
              <p:nvPr/>
            </p:nvSpPr>
            <p:spPr bwMode="auto">
              <a:xfrm>
                <a:off x="64" y="227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5" name="Line 737"/>
              <p:cNvSpPr>
                <a:spLocks noChangeShapeType="1"/>
              </p:cNvSpPr>
              <p:nvPr/>
            </p:nvSpPr>
            <p:spPr bwMode="auto">
              <a:xfrm>
                <a:off x="64" y="228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6" name="Line 738"/>
              <p:cNvSpPr>
                <a:spLocks noChangeShapeType="1"/>
              </p:cNvSpPr>
              <p:nvPr/>
            </p:nvSpPr>
            <p:spPr bwMode="auto">
              <a:xfrm>
                <a:off x="64" y="229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7" name="Line 739"/>
              <p:cNvSpPr>
                <a:spLocks noChangeShapeType="1"/>
              </p:cNvSpPr>
              <p:nvPr/>
            </p:nvSpPr>
            <p:spPr bwMode="auto">
              <a:xfrm>
                <a:off x="64" y="229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8" name="Line 740"/>
              <p:cNvSpPr>
                <a:spLocks noChangeShapeType="1"/>
              </p:cNvSpPr>
              <p:nvPr/>
            </p:nvSpPr>
            <p:spPr bwMode="auto">
              <a:xfrm>
                <a:off x="64" y="230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9" name="Line 741"/>
              <p:cNvSpPr>
                <a:spLocks noChangeShapeType="1"/>
              </p:cNvSpPr>
              <p:nvPr/>
            </p:nvSpPr>
            <p:spPr bwMode="auto">
              <a:xfrm>
                <a:off x="64" y="231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0" name="Line 742"/>
              <p:cNvSpPr>
                <a:spLocks noChangeShapeType="1"/>
              </p:cNvSpPr>
              <p:nvPr/>
            </p:nvSpPr>
            <p:spPr bwMode="auto">
              <a:xfrm>
                <a:off x="64" y="232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1" name="Line 743"/>
              <p:cNvSpPr>
                <a:spLocks noChangeShapeType="1"/>
              </p:cNvSpPr>
              <p:nvPr/>
            </p:nvSpPr>
            <p:spPr bwMode="auto">
              <a:xfrm>
                <a:off x="64" y="233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2" name="Line 744"/>
              <p:cNvSpPr>
                <a:spLocks noChangeShapeType="1"/>
              </p:cNvSpPr>
              <p:nvPr/>
            </p:nvSpPr>
            <p:spPr bwMode="auto">
              <a:xfrm>
                <a:off x="64" y="234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3" name="Line 745"/>
              <p:cNvSpPr>
                <a:spLocks noChangeShapeType="1"/>
              </p:cNvSpPr>
              <p:nvPr/>
            </p:nvSpPr>
            <p:spPr bwMode="auto">
              <a:xfrm>
                <a:off x="64" y="235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4" name="Line 746"/>
              <p:cNvSpPr>
                <a:spLocks noChangeShapeType="1"/>
              </p:cNvSpPr>
              <p:nvPr/>
            </p:nvSpPr>
            <p:spPr bwMode="auto">
              <a:xfrm>
                <a:off x="64" y="236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5" name="Line 747"/>
              <p:cNvSpPr>
                <a:spLocks noChangeShapeType="1"/>
              </p:cNvSpPr>
              <p:nvPr/>
            </p:nvSpPr>
            <p:spPr bwMode="auto">
              <a:xfrm>
                <a:off x="64" y="237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6" name="Line 748"/>
              <p:cNvSpPr>
                <a:spLocks noChangeShapeType="1"/>
              </p:cNvSpPr>
              <p:nvPr/>
            </p:nvSpPr>
            <p:spPr bwMode="auto">
              <a:xfrm>
                <a:off x="64" y="238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7" name="Line 749"/>
              <p:cNvSpPr>
                <a:spLocks noChangeShapeType="1"/>
              </p:cNvSpPr>
              <p:nvPr/>
            </p:nvSpPr>
            <p:spPr bwMode="auto">
              <a:xfrm>
                <a:off x="64" y="239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8" name="Line 750"/>
              <p:cNvSpPr>
                <a:spLocks noChangeShapeType="1"/>
              </p:cNvSpPr>
              <p:nvPr/>
            </p:nvSpPr>
            <p:spPr bwMode="auto">
              <a:xfrm>
                <a:off x="64" y="240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9" name="Line 751"/>
              <p:cNvSpPr>
                <a:spLocks noChangeShapeType="1"/>
              </p:cNvSpPr>
              <p:nvPr/>
            </p:nvSpPr>
            <p:spPr bwMode="auto">
              <a:xfrm>
                <a:off x="64" y="241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0" name="Line 752"/>
              <p:cNvSpPr>
                <a:spLocks noChangeShapeType="1"/>
              </p:cNvSpPr>
              <p:nvPr/>
            </p:nvSpPr>
            <p:spPr bwMode="auto">
              <a:xfrm>
                <a:off x="64" y="241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1" name="Line 753"/>
              <p:cNvSpPr>
                <a:spLocks noChangeShapeType="1"/>
              </p:cNvSpPr>
              <p:nvPr/>
            </p:nvSpPr>
            <p:spPr bwMode="auto">
              <a:xfrm>
                <a:off x="64" y="242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2" name="Line 754"/>
              <p:cNvSpPr>
                <a:spLocks noChangeShapeType="1"/>
              </p:cNvSpPr>
              <p:nvPr/>
            </p:nvSpPr>
            <p:spPr bwMode="auto">
              <a:xfrm>
                <a:off x="64" y="243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3" name="Line 755"/>
              <p:cNvSpPr>
                <a:spLocks noChangeShapeType="1"/>
              </p:cNvSpPr>
              <p:nvPr/>
            </p:nvSpPr>
            <p:spPr bwMode="auto">
              <a:xfrm>
                <a:off x="64" y="244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4" name="Line 756"/>
              <p:cNvSpPr>
                <a:spLocks noChangeShapeType="1"/>
              </p:cNvSpPr>
              <p:nvPr/>
            </p:nvSpPr>
            <p:spPr bwMode="auto">
              <a:xfrm>
                <a:off x="64" y="245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5" name="Line 757"/>
              <p:cNvSpPr>
                <a:spLocks noChangeShapeType="1"/>
              </p:cNvSpPr>
              <p:nvPr/>
            </p:nvSpPr>
            <p:spPr bwMode="auto">
              <a:xfrm>
                <a:off x="64" y="246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6" name="Line 758"/>
              <p:cNvSpPr>
                <a:spLocks noChangeShapeType="1"/>
              </p:cNvSpPr>
              <p:nvPr/>
            </p:nvSpPr>
            <p:spPr bwMode="auto">
              <a:xfrm>
                <a:off x="64" y="247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7" name="Line 759"/>
              <p:cNvSpPr>
                <a:spLocks noChangeShapeType="1"/>
              </p:cNvSpPr>
              <p:nvPr/>
            </p:nvSpPr>
            <p:spPr bwMode="auto">
              <a:xfrm>
                <a:off x="64" y="248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8" name="Line 760"/>
              <p:cNvSpPr>
                <a:spLocks noChangeShapeType="1"/>
              </p:cNvSpPr>
              <p:nvPr/>
            </p:nvSpPr>
            <p:spPr bwMode="auto">
              <a:xfrm>
                <a:off x="64" y="249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09" name="Line 761"/>
              <p:cNvSpPr>
                <a:spLocks noChangeShapeType="1"/>
              </p:cNvSpPr>
              <p:nvPr/>
            </p:nvSpPr>
            <p:spPr bwMode="auto">
              <a:xfrm>
                <a:off x="64" y="250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0" name="Line 762"/>
              <p:cNvSpPr>
                <a:spLocks noChangeShapeType="1"/>
              </p:cNvSpPr>
              <p:nvPr/>
            </p:nvSpPr>
            <p:spPr bwMode="auto">
              <a:xfrm>
                <a:off x="64" y="251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1" name="Line 763"/>
              <p:cNvSpPr>
                <a:spLocks noChangeShapeType="1"/>
              </p:cNvSpPr>
              <p:nvPr/>
            </p:nvSpPr>
            <p:spPr bwMode="auto">
              <a:xfrm>
                <a:off x="64" y="252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2" name="Line 764"/>
              <p:cNvSpPr>
                <a:spLocks noChangeShapeType="1"/>
              </p:cNvSpPr>
              <p:nvPr/>
            </p:nvSpPr>
            <p:spPr bwMode="auto">
              <a:xfrm>
                <a:off x="64" y="252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3" name="Line 765"/>
              <p:cNvSpPr>
                <a:spLocks noChangeShapeType="1"/>
              </p:cNvSpPr>
              <p:nvPr/>
            </p:nvSpPr>
            <p:spPr bwMode="auto">
              <a:xfrm>
                <a:off x="64" y="253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4" name="Line 766"/>
              <p:cNvSpPr>
                <a:spLocks noChangeShapeType="1"/>
              </p:cNvSpPr>
              <p:nvPr/>
            </p:nvSpPr>
            <p:spPr bwMode="auto">
              <a:xfrm>
                <a:off x="64" y="254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5" name="Line 767"/>
              <p:cNvSpPr>
                <a:spLocks noChangeShapeType="1"/>
              </p:cNvSpPr>
              <p:nvPr/>
            </p:nvSpPr>
            <p:spPr bwMode="auto">
              <a:xfrm>
                <a:off x="64" y="255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6" name="Line 768"/>
              <p:cNvSpPr>
                <a:spLocks noChangeShapeType="1"/>
              </p:cNvSpPr>
              <p:nvPr/>
            </p:nvSpPr>
            <p:spPr bwMode="auto">
              <a:xfrm>
                <a:off x="64" y="256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7" name="Line 769"/>
              <p:cNvSpPr>
                <a:spLocks noChangeShapeType="1"/>
              </p:cNvSpPr>
              <p:nvPr/>
            </p:nvSpPr>
            <p:spPr bwMode="auto">
              <a:xfrm>
                <a:off x="64" y="257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8" name="Line 770"/>
              <p:cNvSpPr>
                <a:spLocks noChangeShapeType="1"/>
              </p:cNvSpPr>
              <p:nvPr/>
            </p:nvSpPr>
            <p:spPr bwMode="auto">
              <a:xfrm>
                <a:off x="64" y="2585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9" name="Line 771"/>
              <p:cNvSpPr>
                <a:spLocks noChangeShapeType="1"/>
              </p:cNvSpPr>
              <p:nvPr/>
            </p:nvSpPr>
            <p:spPr bwMode="auto">
              <a:xfrm>
                <a:off x="64" y="259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0" name="Line 772"/>
              <p:cNvSpPr>
                <a:spLocks noChangeShapeType="1"/>
              </p:cNvSpPr>
              <p:nvPr/>
            </p:nvSpPr>
            <p:spPr bwMode="auto">
              <a:xfrm>
                <a:off x="64" y="260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1" name="Line 773"/>
              <p:cNvSpPr>
                <a:spLocks noChangeShapeType="1"/>
              </p:cNvSpPr>
              <p:nvPr/>
            </p:nvSpPr>
            <p:spPr bwMode="auto">
              <a:xfrm>
                <a:off x="64" y="261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2" name="Line 774"/>
              <p:cNvSpPr>
                <a:spLocks noChangeShapeType="1"/>
              </p:cNvSpPr>
              <p:nvPr/>
            </p:nvSpPr>
            <p:spPr bwMode="auto">
              <a:xfrm>
                <a:off x="64" y="262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3" name="Line 775"/>
              <p:cNvSpPr>
                <a:spLocks noChangeShapeType="1"/>
              </p:cNvSpPr>
              <p:nvPr/>
            </p:nvSpPr>
            <p:spPr bwMode="auto">
              <a:xfrm>
                <a:off x="64" y="263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4" name="Line 776"/>
              <p:cNvSpPr>
                <a:spLocks noChangeShapeType="1"/>
              </p:cNvSpPr>
              <p:nvPr/>
            </p:nvSpPr>
            <p:spPr bwMode="auto">
              <a:xfrm>
                <a:off x="64" y="264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5" name="Line 777"/>
              <p:cNvSpPr>
                <a:spLocks noChangeShapeType="1"/>
              </p:cNvSpPr>
              <p:nvPr/>
            </p:nvSpPr>
            <p:spPr bwMode="auto">
              <a:xfrm>
                <a:off x="64" y="264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6" name="Line 778"/>
              <p:cNvSpPr>
                <a:spLocks noChangeShapeType="1"/>
              </p:cNvSpPr>
              <p:nvPr/>
            </p:nvSpPr>
            <p:spPr bwMode="auto">
              <a:xfrm>
                <a:off x="64" y="26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7" name="Line 779"/>
              <p:cNvSpPr>
                <a:spLocks noChangeShapeType="1"/>
              </p:cNvSpPr>
              <p:nvPr/>
            </p:nvSpPr>
            <p:spPr bwMode="auto">
              <a:xfrm>
                <a:off x="64" y="2668"/>
                <a:ext cx="1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8" name="Rectangle 780"/>
              <p:cNvSpPr>
                <a:spLocks noChangeArrowheads="1"/>
              </p:cNvSpPr>
              <p:nvPr/>
            </p:nvSpPr>
            <p:spPr bwMode="auto">
              <a:xfrm>
                <a:off x="1864" y="2088"/>
                <a:ext cx="144" cy="14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9" name="Line 781"/>
              <p:cNvSpPr>
                <a:spLocks noChangeShapeType="1"/>
              </p:cNvSpPr>
              <p:nvPr/>
            </p:nvSpPr>
            <p:spPr bwMode="auto">
              <a:xfrm>
                <a:off x="1864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0" name="Line 782"/>
              <p:cNvSpPr>
                <a:spLocks noChangeShapeType="1"/>
              </p:cNvSpPr>
              <p:nvPr/>
            </p:nvSpPr>
            <p:spPr bwMode="auto">
              <a:xfrm>
                <a:off x="1873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1" name="Line 783"/>
              <p:cNvSpPr>
                <a:spLocks noChangeShapeType="1"/>
              </p:cNvSpPr>
              <p:nvPr/>
            </p:nvSpPr>
            <p:spPr bwMode="auto">
              <a:xfrm>
                <a:off x="1882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2" name="Line 784"/>
              <p:cNvSpPr>
                <a:spLocks noChangeShapeType="1"/>
              </p:cNvSpPr>
              <p:nvPr/>
            </p:nvSpPr>
            <p:spPr bwMode="auto">
              <a:xfrm>
                <a:off x="1891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3" name="Line 785"/>
              <p:cNvSpPr>
                <a:spLocks noChangeShapeType="1"/>
              </p:cNvSpPr>
              <p:nvPr/>
            </p:nvSpPr>
            <p:spPr bwMode="auto">
              <a:xfrm>
                <a:off x="1901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4" name="Line 786"/>
              <p:cNvSpPr>
                <a:spLocks noChangeShapeType="1"/>
              </p:cNvSpPr>
              <p:nvPr/>
            </p:nvSpPr>
            <p:spPr bwMode="auto">
              <a:xfrm>
                <a:off x="1910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5" name="Line 787"/>
              <p:cNvSpPr>
                <a:spLocks noChangeShapeType="1"/>
              </p:cNvSpPr>
              <p:nvPr/>
            </p:nvSpPr>
            <p:spPr bwMode="auto">
              <a:xfrm>
                <a:off x="1919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6" name="Line 788"/>
              <p:cNvSpPr>
                <a:spLocks noChangeShapeType="1"/>
              </p:cNvSpPr>
              <p:nvPr/>
            </p:nvSpPr>
            <p:spPr bwMode="auto">
              <a:xfrm>
                <a:off x="1928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7" name="Line 789"/>
              <p:cNvSpPr>
                <a:spLocks noChangeShapeType="1"/>
              </p:cNvSpPr>
              <p:nvPr/>
            </p:nvSpPr>
            <p:spPr bwMode="auto">
              <a:xfrm>
                <a:off x="1937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8" name="Line 790"/>
              <p:cNvSpPr>
                <a:spLocks noChangeShapeType="1"/>
              </p:cNvSpPr>
              <p:nvPr/>
            </p:nvSpPr>
            <p:spPr bwMode="auto">
              <a:xfrm>
                <a:off x="1947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9" name="Line 791"/>
              <p:cNvSpPr>
                <a:spLocks noChangeShapeType="1"/>
              </p:cNvSpPr>
              <p:nvPr/>
            </p:nvSpPr>
            <p:spPr bwMode="auto">
              <a:xfrm>
                <a:off x="1956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0" name="Line 792"/>
              <p:cNvSpPr>
                <a:spLocks noChangeShapeType="1"/>
              </p:cNvSpPr>
              <p:nvPr/>
            </p:nvSpPr>
            <p:spPr bwMode="auto">
              <a:xfrm>
                <a:off x="1965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1" name="Line 793"/>
              <p:cNvSpPr>
                <a:spLocks noChangeShapeType="1"/>
              </p:cNvSpPr>
              <p:nvPr/>
            </p:nvSpPr>
            <p:spPr bwMode="auto">
              <a:xfrm>
                <a:off x="1974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2" name="Line 794"/>
              <p:cNvSpPr>
                <a:spLocks noChangeShapeType="1"/>
              </p:cNvSpPr>
              <p:nvPr/>
            </p:nvSpPr>
            <p:spPr bwMode="auto">
              <a:xfrm>
                <a:off x="1984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3" name="Line 795"/>
              <p:cNvSpPr>
                <a:spLocks noChangeShapeType="1"/>
              </p:cNvSpPr>
              <p:nvPr/>
            </p:nvSpPr>
            <p:spPr bwMode="auto">
              <a:xfrm>
                <a:off x="1993" y="223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4" name="Line 796"/>
              <p:cNvSpPr>
                <a:spLocks noChangeShapeType="1"/>
              </p:cNvSpPr>
              <p:nvPr/>
            </p:nvSpPr>
            <p:spPr bwMode="auto">
              <a:xfrm>
                <a:off x="2002" y="2231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5" name="Line 797"/>
              <p:cNvSpPr>
                <a:spLocks noChangeShapeType="1"/>
              </p:cNvSpPr>
              <p:nvPr/>
            </p:nvSpPr>
            <p:spPr bwMode="auto">
              <a:xfrm flipV="1">
                <a:off x="2008" y="222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6" name="Line 798"/>
              <p:cNvSpPr>
                <a:spLocks noChangeShapeType="1"/>
              </p:cNvSpPr>
              <p:nvPr/>
            </p:nvSpPr>
            <p:spPr bwMode="auto">
              <a:xfrm flipV="1">
                <a:off x="2008" y="221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7" name="Line 799"/>
              <p:cNvSpPr>
                <a:spLocks noChangeShapeType="1"/>
              </p:cNvSpPr>
              <p:nvPr/>
            </p:nvSpPr>
            <p:spPr bwMode="auto">
              <a:xfrm flipV="1">
                <a:off x="2008" y="220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8" name="Line 800"/>
              <p:cNvSpPr>
                <a:spLocks noChangeShapeType="1"/>
              </p:cNvSpPr>
              <p:nvPr/>
            </p:nvSpPr>
            <p:spPr bwMode="auto">
              <a:xfrm flipV="1">
                <a:off x="2008" y="219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49" name="Line 801"/>
              <p:cNvSpPr>
                <a:spLocks noChangeShapeType="1"/>
              </p:cNvSpPr>
              <p:nvPr/>
            </p:nvSpPr>
            <p:spPr bwMode="auto">
              <a:xfrm flipV="1">
                <a:off x="2008" y="2186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0" name="Line 802"/>
              <p:cNvSpPr>
                <a:spLocks noChangeShapeType="1"/>
              </p:cNvSpPr>
              <p:nvPr/>
            </p:nvSpPr>
            <p:spPr bwMode="auto">
              <a:xfrm flipV="1">
                <a:off x="2008" y="217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1" name="Line 803"/>
              <p:cNvSpPr>
                <a:spLocks noChangeShapeType="1"/>
              </p:cNvSpPr>
              <p:nvPr/>
            </p:nvSpPr>
            <p:spPr bwMode="auto">
              <a:xfrm flipV="1">
                <a:off x="2008" y="2168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2" name="Line 804"/>
              <p:cNvSpPr>
                <a:spLocks noChangeShapeType="1"/>
              </p:cNvSpPr>
              <p:nvPr/>
            </p:nvSpPr>
            <p:spPr bwMode="auto">
              <a:xfrm flipV="1">
                <a:off x="2008" y="215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3" name="Line 805"/>
              <p:cNvSpPr>
                <a:spLocks noChangeShapeType="1"/>
              </p:cNvSpPr>
              <p:nvPr/>
            </p:nvSpPr>
            <p:spPr bwMode="auto">
              <a:xfrm flipV="1">
                <a:off x="2008" y="214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4" name="Line 806"/>
              <p:cNvSpPr>
                <a:spLocks noChangeShapeType="1"/>
              </p:cNvSpPr>
              <p:nvPr/>
            </p:nvSpPr>
            <p:spPr bwMode="auto">
              <a:xfrm flipV="1">
                <a:off x="2008" y="214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5" name="Line 807"/>
              <p:cNvSpPr>
                <a:spLocks noChangeShapeType="1"/>
              </p:cNvSpPr>
              <p:nvPr/>
            </p:nvSpPr>
            <p:spPr bwMode="auto">
              <a:xfrm flipV="1">
                <a:off x="2008" y="2131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6" name="Line 808"/>
              <p:cNvSpPr>
                <a:spLocks noChangeShapeType="1"/>
              </p:cNvSpPr>
              <p:nvPr/>
            </p:nvSpPr>
            <p:spPr bwMode="auto">
              <a:xfrm flipV="1">
                <a:off x="2008" y="212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7" name="Line 809"/>
              <p:cNvSpPr>
                <a:spLocks noChangeShapeType="1"/>
              </p:cNvSpPr>
              <p:nvPr/>
            </p:nvSpPr>
            <p:spPr bwMode="auto">
              <a:xfrm flipV="1">
                <a:off x="2008" y="2112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8" name="Line 810"/>
              <p:cNvSpPr>
                <a:spLocks noChangeShapeType="1"/>
              </p:cNvSpPr>
              <p:nvPr/>
            </p:nvSpPr>
            <p:spPr bwMode="auto">
              <a:xfrm flipV="1">
                <a:off x="2008" y="210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59" name="Line 811"/>
              <p:cNvSpPr>
                <a:spLocks noChangeShapeType="1"/>
              </p:cNvSpPr>
              <p:nvPr/>
            </p:nvSpPr>
            <p:spPr bwMode="auto">
              <a:xfrm flipV="1">
                <a:off x="2008" y="2094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0" name="Freeform 812"/>
              <p:cNvSpPr>
                <a:spLocks/>
              </p:cNvSpPr>
              <p:nvPr/>
            </p:nvSpPr>
            <p:spPr bwMode="auto">
              <a:xfrm>
                <a:off x="2004" y="2088"/>
                <a:ext cx="4" cy="1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3" y="0"/>
                  </a:cxn>
                  <a:cxn ang="0">
                    <a:pos x="0" y="0"/>
                  </a:cxn>
                </a:cxnLst>
                <a:rect l="0" t="0" r="r" b="b"/>
                <a:pathLst>
                  <a:path w="3" h="1">
                    <a:moveTo>
                      <a:pt x="3" y="1"/>
                    </a:move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1" name="Line 813"/>
              <p:cNvSpPr>
                <a:spLocks noChangeShapeType="1"/>
              </p:cNvSpPr>
              <p:nvPr/>
            </p:nvSpPr>
            <p:spPr bwMode="auto">
              <a:xfrm flipH="1">
                <a:off x="1995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2" name="Line 814"/>
              <p:cNvSpPr>
                <a:spLocks noChangeShapeType="1"/>
              </p:cNvSpPr>
              <p:nvPr/>
            </p:nvSpPr>
            <p:spPr bwMode="auto">
              <a:xfrm flipH="1">
                <a:off x="1986" y="2088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3" name="Line 815"/>
              <p:cNvSpPr>
                <a:spLocks noChangeShapeType="1"/>
              </p:cNvSpPr>
              <p:nvPr/>
            </p:nvSpPr>
            <p:spPr bwMode="auto">
              <a:xfrm flipH="1">
                <a:off x="1977" y="2088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4" name="Line 816"/>
              <p:cNvSpPr>
                <a:spLocks noChangeShapeType="1"/>
              </p:cNvSpPr>
              <p:nvPr/>
            </p:nvSpPr>
            <p:spPr bwMode="auto">
              <a:xfrm flipH="1">
                <a:off x="1967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5" name="Line 817"/>
              <p:cNvSpPr>
                <a:spLocks noChangeShapeType="1"/>
              </p:cNvSpPr>
              <p:nvPr/>
            </p:nvSpPr>
            <p:spPr bwMode="auto">
              <a:xfrm flipH="1">
                <a:off x="1958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6" name="Line 818"/>
              <p:cNvSpPr>
                <a:spLocks noChangeShapeType="1"/>
              </p:cNvSpPr>
              <p:nvPr/>
            </p:nvSpPr>
            <p:spPr bwMode="auto">
              <a:xfrm flipH="1">
                <a:off x="1949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7" name="Line 819"/>
              <p:cNvSpPr>
                <a:spLocks noChangeShapeType="1"/>
              </p:cNvSpPr>
              <p:nvPr/>
            </p:nvSpPr>
            <p:spPr bwMode="auto">
              <a:xfrm flipH="1">
                <a:off x="1940" y="2088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8" name="Line 820"/>
              <p:cNvSpPr>
                <a:spLocks noChangeShapeType="1"/>
              </p:cNvSpPr>
              <p:nvPr/>
            </p:nvSpPr>
            <p:spPr bwMode="auto">
              <a:xfrm flipH="1">
                <a:off x="1931" y="2088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69" name="Line 821"/>
              <p:cNvSpPr>
                <a:spLocks noChangeShapeType="1"/>
              </p:cNvSpPr>
              <p:nvPr/>
            </p:nvSpPr>
            <p:spPr bwMode="auto">
              <a:xfrm flipH="1">
                <a:off x="1921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70" name="Line 822"/>
              <p:cNvSpPr>
                <a:spLocks noChangeShapeType="1"/>
              </p:cNvSpPr>
              <p:nvPr/>
            </p:nvSpPr>
            <p:spPr bwMode="auto">
              <a:xfrm flipH="1">
                <a:off x="1912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71" name="Line 823"/>
              <p:cNvSpPr>
                <a:spLocks noChangeShapeType="1"/>
              </p:cNvSpPr>
              <p:nvPr/>
            </p:nvSpPr>
            <p:spPr bwMode="auto">
              <a:xfrm flipH="1">
                <a:off x="1903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72" name="Line 824"/>
              <p:cNvSpPr>
                <a:spLocks noChangeShapeType="1"/>
              </p:cNvSpPr>
              <p:nvPr/>
            </p:nvSpPr>
            <p:spPr bwMode="auto">
              <a:xfrm flipH="1">
                <a:off x="1894" y="2088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" name="Group 825"/>
            <p:cNvGrpSpPr>
              <a:grpSpLocks/>
            </p:cNvGrpSpPr>
            <p:nvPr/>
          </p:nvGrpSpPr>
          <p:grpSpPr bwMode="auto">
            <a:xfrm>
              <a:off x="129" y="1152"/>
              <a:ext cx="2939" cy="1268"/>
              <a:chOff x="116" y="1300"/>
              <a:chExt cx="2939" cy="1268"/>
            </a:xfrm>
          </p:grpSpPr>
          <p:sp>
            <p:nvSpPr>
              <p:cNvPr id="2874" name="Line 826"/>
              <p:cNvSpPr>
                <a:spLocks noChangeShapeType="1"/>
              </p:cNvSpPr>
              <p:nvPr/>
            </p:nvSpPr>
            <p:spPr bwMode="auto">
              <a:xfrm flipH="1">
                <a:off x="1884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75" name="Line 827"/>
              <p:cNvSpPr>
                <a:spLocks noChangeShapeType="1"/>
              </p:cNvSpPr>
              <p:nvPr/>
            </p:nvSpPr>
            <p:spPr bwMode="auto">
              <a:xfrm flipH="1">
                <a:off x="1875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76" name="Line 828"/>
              <p:cNvSpPr>
                <a:spLocks noChangeShapeType="1"/>
              </p:cNvSpPr>
              <p:nvPr/>
            </p:nvSpPr>
            <p:spPr bwMode="auto">
              <a:xfrm flipH="1">
                <a:off x="1866" y="2088"/>
                <a:ext cx="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77" name="Line 829"/>
              <p:cNvSpPr>
                <a:spLocks noChangeShapeType="1"/>
              </p:cNvSpPr>
              <p:nvPr/>
            </p:nvSpPr>
            <p:spPr bwMode="auto">
              <a:xfrm>
                <a:off x="1864" y="209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78" name="Line 830"/>
              <p:cNvSpPr>
                <a:spLocks noChangeShapeType="1"/>
              </p:cNvSpPr>
              <p:nvPr/>
            </p:nvSpPr>
            <p:spPr bwMode="auto">
              <a:xfrm>
                <a:off x="1864" y="2100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79" name="Line 831"/>
              <p:cNvSpPr>
                <a:spLocks noChangeShapeType="1"/>
              </p:cNvSpPr>
              <p:nvPr/>
            </p:nvSpPr>
            <p:spPr bwMode="auto">
              <a:xfrm>
                <a:off x="1864" y="2109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0" name="Line 832"/>
              <p:cNvSpPr>
                <a:spLocks noChangeShapeType="1"/>
              </p:cNvSpPr>
              <p:nvPr/>
            </p:nvSpPr>
            <p:spPr bwMode="auto">
              <a:xfrm>
                <a:off x="1864" y="2118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1" name="Line 833"/>
              <p:cNvSpPr>
                <a:spLocks noChangeShapeType="1"/>
              </p:cNvSpPr>
              <p:nvPr/>
            </p:nvSpPr>
            <p:spPr bwMode="auto">
              <a:xfrm>
                <a:off x="1864" y="2127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2" name="Line 834"/>
              <p:cNvSpPr>
                <a:spLocks noChangeShapeType="1"/>
              </p:cNvSpPr>
              <p:nvPr/>
            </p:nvSpPr>
            <p:spPr bwMode="auto">
              <a:xfrm>
                <a:off x="1864" y="2137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3" name="Line 835"/>
              <p:cNvSpPr>
                <a:spLocks noChangeShapeType="1"/>
              </p:cNvSpPr>
              <p:nvPr/>
            </p:nvSpPr>
            <p:spPr bwMode="auto">
              <a:xfrm>
                <a:off x="1864" y="2146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4" name="Line 836"/>
              <p:cNvSpPr>
                <a:spLocks noChangeShapeType="1"/>
              </p:cNvSpPr>
              <p:nvPr/>
            </p:nvSpPr>
            <p:spPr bwMode="auto">
              <a:xfrm>
                <a:off x="1864" y="2155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5" name="Line 837"/>
              <p:cNvSpPr>
                <a:spLocks noChangeShapeType="1"/>
              </p:cNvSpPr>
              <p:nvPr/>
            </p:nvSpPr>
            <p:spPr bwMode="auto">
              <a:xfrm>
                <a:off x="1864" y="2164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6" name="Line 838"/>
              <p:cNvSpPr>
                <a:spLocks noChangeShapeType="1"/>
              </p:cNvSpPr>
              <p:nvPr/>
            </p:nvSpPr>
            <p:spPr bwMode="auto">
              <a:xfrm>
                <a:off x="1864" y="2173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7" name="Line 839"/>
              <p:cNvSpPr>
                <a:spLocks noChangeShapeType="1"/>
              </p:cNvSpPr>
              <p:nvPr/>
            </p:nvSpPr>
            <p:spPr bwMode="auto">
              <a:xfrm>
                <a:off x="1864" y="2183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8" name="Line 840"/>
              <p:cNvSpPr>
                <a:spLocks noChangeShapeType="1"/>
              </p:cNvSpPr>
              <p:nvPr/>
            </p:nvSpPr>
            <p:spPr bwMode="auto">
              <a:xfrm>
                <a:off x="1864" y="2192"/>
                <a:ext cx="1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89" name="Line 841"/>
              <p:cNvSpPr>
                <a:spLocks noChangeShapeType="1"/>
              </p:cNvSpPr>
              <p:nvPr/>
            </p:nvSpPr>
            <p:spPr bwMode="auto">
              <a:xfrm>
                <a:off x="1864" y="2201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0" name="Line 842"/>
              <p:cNvSpPr>
                <a:spLocks noChangeShapeType="1"/>
              </p:cNvSpPr>
              <p:nvPr/>
            </p:nvSpPr>
            <p:spPr bwMode="auto">
              <a:xfrm>
                <a:off x="1864" y="2210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1" name="Line 843"/>
              <p:cNvSpPr>
                <a:spLocks noChangeShapeType="1"/>
              </p:cNvSpPr>
              <p:nvPr/>
            </p:nvSpPr>
            <p:spPr bwMode="auto">
              <a:xfrm>
                <a:off x="1864" y="2219"/>
                <a:ext cx="1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2" name="Line 844"/>
              <p:cNvSpPr>
                <a:spLocks noChangeShapeType="1"/>
              </p:cNvSpPr>
              <p:nvPr/>
            </p:nvSpPr>
            <p:spPr bwMode="auto">
              <a:xfrm>
                <a:off x="1864" y="2229"/>
                <a:ext cx="1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3" name="Line 845"/>
              <p:cNvSpPr>
                <a:spLocks noChangeShapeType="1"/>
              </p:cNvSpPr>
              <p:nvPr/>
            </p:nvSpPr>
            <p:spPr bwMode="auto">
              <a:xfrm flipV="1">
                <a:off x="766" y="1931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4" name="Line 846"/>
              <p:cNvSpPr>
                <a:spLocks noChangeShapeType="1"/>
              </p:cNvSpPr>
              <p:nvPr/>
            </p:nvSpPr>
            <p:spPr bwMode="auto">
              <a:xfrm flipV="1">
                <a:off x="766" y="1836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5" name="Rectangle 847"/>
              <p:cNvSpPr>
                <a:spLocks noChangeArrowheads="1"/>
              </p:cNvSpPr>
              <p:nvPr/>
            </p:nvSpPr>
            <p:spPr bwMode="auto">
              <a:xfrm>
                <a:off x="753" y="1858"/>
                <a:ext cx="24" cy="7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6" name="Rectangle 848"/>
              <p:cNvSpPr>
                <a:spLocks noChangeArrowheads="1"/>
              </p:cNvSpPr>
              <p:nvPr/>
            </p:nvSpPr>
            <p:spPr bwMode="auto">
              <a:xfrm>
                <a:off x="651" y="1870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897" name="Line 849"/>
              <p:cNvSpPr>
                <a:spLocks noChangeShapeType="1"/>
              </p:cNvSpPr>
              <p:nvPr/>
            </p:nvSpPr>
            <p:spPr bwMode="auto">
              <a:xfrm flipV="1">
                <a:off x="766" y="2050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8" name="Line 850"/>
              <p:cNvSpPr>
                <a:spLocks noChangeShapeType="1"/>
              </p:cNvSpPr>
              <p:nvPr/>
            </p:nvSpPr>
            <p:spPr bwMode="auto">
              <a:xfrm flipV="1">
                <a:off x="766" y="1954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899" name="Rectangle 851"/>
              <p:cNvSpPr>
                <a:spLocks noChangeArrowheads="1"/>
              </p:cNvSpPr>
              <p:nvPr/>
            </p:nvSpPr>
            <p:spPr bwMode="auto">
              <a:xfrm>
                <a:off x="753" y="1976"/>
                <a:ext cx="24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0" name="Rectangle 852"/>
              <p:cNvSpPr>
                <a:spLocks noChangeArrowheads="1"/>
              </p:cNvSpPr>
              <p:nvPr/>
            </p:nvSpPr>
            <p:spPr bwMode="auto">
              <a:xfrm>
                <a:off x="651" y="1989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01" name="Freeform 853"/>
              <p:cNvSpPr>
                <a:spLocks/>
              </p:cNvSpPr>
              <p:nvPr/>
            </p:nvSpPr>
            <p:spPr bwMode="auto">
              <a:xfrm>
                <a:off x="808" y="1817"/>
                <a:ext cx="33" cy="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7"/>
                  </a:cxn>
                  <a:cxn ang="0">
                    <a:pos x="33" y="19"/>
                  </a:cxn>
                  <a:cxn ang="0">
                    <a:pos x="0" y="0"/>
                  </a:cxn>
                </a:cxnLst>
                <a:rect l="0" t="0" r="r" b="b"/>
                <a:pathLst>
                  <a:path w="33" h="37">
                    <a:moveTo>
                      <a:pt x="0" y="0"/>
                    </a:moveTo>
                    <a:lnTo>
                      <a:pt x="0" y="37"/>
                    </a:lnTo>
                    <a:lnTo>
                      <a:pt x="33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2" name="Line 854"/>
              <p:cNvSpPr>
                <a:spLocks noChangeShapeType="1"/>
              </p:cNvSpPr>
              <p:nvPr/>
            </p:nvSpPr>
            <p:spPr bwMode="auto">
              <a:xfrm>
                <a:off x="766" y="1836"/>
                <a:ext cx="4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3" name="Line 855"/>
              <p:cNvSpPr>
                <a:spLocks noChangeShapeType="1"/>
              </p:cNvSpPr>
              <p:nvPr/>
            </p:nvSpPr>
            <p:spPr bwMode="auto">
              <a:xfrm>
                <a:off x="841" y="1836"/>
                <a:ext cx="4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4" name="Line 856"/>
              <p:cNvSpPr>
                <a:spLocks noChangeShapeType="1"/>
              </p:cNvSpPr>
              <p:nvPr/>
            </p:nvSpPr>
            <p:spPr bwMode="auto">
              <a:xfrm flipV="1">
                <a:off x="839" y="1817"/>
                <a:ext cx="1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5" name="Line 857"/>
              <p:cNvSpPr>
                <a:spLocks noChangeShapeType="1"/>
              </p:cNvSpPr>
              <p:nvPr/>
            </p:nvSpPr>
            <p:spPr bwMode="auto">
              <a:xfrm flipV="1">
                <a:off x="766" y="2170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6" name="Line 858"/>
              <p:cNvSpPr>
                <a:spLocks noChangeShapeType="1"/>
              </p:cNvSpPr>
              <p:nvPr/>
            </p:nvSpPr>
            <p:spPr bwMode="auto">
              <a:xfrm flipV="1">
                <a:off x="766" y="2072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7" name="Rectangle 859"/>
              <p:cNvSpPr>
                <a:spLocks noChangeArrowheads="1"/>
              </p:cNvSpPr>
              <p:nvPr/>
            </p:nvSpPr>
            <p:spPr bwMode="auto">
              <a:xfrm>
                <a:off x="753" y="2096"/>
                <a:ext cx="24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08" name="Rectangle 860"/>
              <p:cNvSpPr>
                <a:spLocks noChangeArrowheads="1"/>
              </p:cNvSpPr>
              <p:nvPr/>
            </p:nvSpPr>
            <p:spPr bwMode="auto">
              <a:xfrm>
                <a:off x="651" y="2109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09" name="Line 861"/>
              <p:cNvSpPr>
                <a:spLocks noChangeShapeType="1"/>
              </p:cNvSpPr>
              <p:nvPr/>
            </p:nvSpPr>
            <p:spPr bwMode="auto">
              <a:xfrm flipV="1">
                <a:off x="792" y="2355"/>
                <a:ext cx="14" cy="1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0" name="Line 862"/>
              <p:cNvSpPr>
                <a:spLocks noChangeShapeType="1"/>
              </p:cNvSpPr>
              <p:nvPr/>
            </p:nvSpPr>
            <p:spPr bwMode="auto">
              <a:xfrm>
                <a:off x="806" y="2354"/>
                <a:ext cx="8" cy="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1" name="Freeform 863"/>
              <p:cNvSpPr>
                <a:spLocks/>
              </p:cNvSpPr>
              <p:nvPr/>
            </p:nvSpPr>
            <p:spPr bwMode="auto">
              <a:xfrm>
                <a:off x="814" y="2340"/>
                <a:ext cx="13" cy="21"/>
              </a:xfrm>
              <a:custGeom>
                <a:avLst/>
                <a:gdLst/>
                <a:ahLst/>
                <a:cxnLst>
                  <a:cxn ang="0">
                    <a:pos x="0" y="21"/>
                  </a:cxn>
                  <a:cxn ang="0">
                    <a:pos x="12" y="0"/>
                  </a:cxn>
                  <a:cxn ang="0">
                    <a:pos x="13" y="10"/>
                  </a:cxn>
                </a:cxnLst>
                <a:rect l="0" t="0" r="r" b="b"/>
                <a:pathLst>
                  <a:path w="13" h="21">
                    <a:moveTo>
                      <a:pt x="0" y="21"/>
                    </a:moveTo>
                    <a:lnTo>
                      <a:pt x="12" y="0"/>
                    </a:lnTo>
                    <a:lnTo>
                      <a:pt x="13" y="1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2" name="Line 864"/>
              <p:cNvSpPr>
                <a:spLocks noChangeShapeType="1"/>
              </p:cNvSpPr>
              <p:nvPr/>
            </p:nvSpPr>
            <p:spPr bwMode="auto">
              <a:xfrm flipH="1">
                <a:off x="819" y="2340"/>
                <a:ext cx="7" cy="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3" name="Line 865"/>
              <p:cNvSpPr>
                <a:spLocks noChangeShapeType="1"/>
              </p:cNvSpPr>
              <p:nvPr/>
            </p:nvSpPr>
            <p:spPr bwMode="auto">
              <a:xfrm flipV="1">
                <a:off x="789" y="2338"/>
                <a:ext cx="14" cy="1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4" name="Line 866"/>
              <p:cNvSpPr>
                <a:spLocks noChangeShapeType="1"/>
              </p:cNvSpPr>
              <p:nvPr/>
            </p:nvSpPr>
            <p:spPr bwMode="auto">
              <a:xfrm>
                <a:off x="803" y="2338"/>
                <a:ext cx="8" cy="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5" name="Freeform 867"/>
              <p:cNvSpPr>
                <a:spLocks/>
              </p:cNvSpPr>
              <p:nvPr/>
            </p:nvSpPr>
            <p:spPr bwMode="auto">
              <a:xfrm>
                <a:off x="811" y="2323"/>
                <a:ext cx="12" cy="2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12" y="0"/>
                  </a:cxn>
                  <a:cxn ang="0">
                    <a:pos x="12" y="9"/>
                  </a:cxn>
                </a:cxnLst>
                <a:rect l="0" t="0" r="r" b="b"/>
                <a:pathLst>
                  <a:path w="12" h="22">
                    <a:moveTo>
                      <a:pt x="0" y="22"/>
                    </a:moveTo>
                    <a:lnTo>
                      <a:pt x="12" y="0"/>
                    </a:lnTo>
                    <a:lnTo>
                      <a:pt x="12" y="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6" name="Line 868"/>
              <p:cNvSpPr>
                <a:spLocks noChangeShapeType="1"/>
              </p:cNvSpPr>
              <p:nvPr/>
            </p:nvSpPr>
            <p:spPr bwMode="auto">
              <a:xfrm flipH="1">
                <a:off x="816" y="2323"/>
                <a:ext cx="7" cy="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7" name="Freeform 869"/>
              <p:cNvSpPr>
                <a:spLocks/>
              </p:cNvSpPr>
              <p:nvPr/>
            </p:nvSpPr>
            <p:spPr bwMode="auto">
              <a:xfrm>
                <a:off x="747" y="2357"/>
                <a:ext cx="36" cy="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" y="0"/>
                  </a:cxn>
                  <a:cxn ang="0">
                    <a:pos x="19" y="32"/>
                  </a:cxn>
                  <a:cxn ang="0">
                    <a:pos x="0" y="0"/>
                  </a:cxn>
                </a:cxnLst>
                <a:rect l="0" t="0" r="r" b="b"/>
                <a:pathLst>
                  <a:path w="36" h="32">
                    <a:moveTo>
                      <a:pt x="0" y="0"/>
                    </a:moveTo>
                    <a:lnTo>
                      <a:pt x="36" y="0"/>
                    </a:lnTo>
                    <a:lnTo>
                      <a:pt x="19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8" name="Line 870"/>
              <p:cNvSpPr>
                <a:spLocks noChangeShapeType="1"/>
              </p:cNvSpPr>
              <p:nvPr/>
            </p:nvSpPr>
            <p:spPr bwMode="auto">
              <a:xfrm>
                <a:off x="766" y="2314"/>
                <a:ext cx="1" cy="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19" name="Line 871"/>
              <p:cNvSpPr>
                <a:spLocks noChangeShapeType="1"/>
              </p:cNvSpPr>
              <p:nvPr/>
            </p:nvSpPr>
            <p:spPr bwMode="auto">
              <a:xfrm>
                <a:off x="766" y="2389"/>
                <a:ext cx="1" cy="4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0" name="Rectangle 872"/>
              <p:cNvSpPr>
                <a:spLocks noChangeArrowheads="1"/>
              </p:cNvSpPr>
              <p:nvPr/>
            </p:nvSpPr>
            <p:spPr bwMode="auto">
              <a:xfrm>
                <a:off x="642" y="2348"/>
                <a:ext cx="62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LED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21" name="Line 873"/>
              <p:cNvSpPr>
                <a:spLocks noChangeShapeType="1"/>
              </p:cNvSpPr>
              <p:nvPr/>
            </p:nvSpPr>
            <p:spPr bwMode="auto">
              <a:xfrm flipH="1">
                <a:off x="746" y="2390"/>
                <a:ext cx="39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2" name="Line 874"/>
              <p:cNvSpPr>
                <a:spLocks noChangeShapeType="1"/>
              </p:cNvSpPr>
              <p:nvPr/>
            </p:nvSpPr>
            <p:spPr bwMode="auto">
              <a:xfrm>
                <a:off x="757" y="2472"/>
                <a:ext cx="17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3" name="Line 875"/>
              <p:cNvSpPr>
                <a:spLocks noChangeShapeType="1"/>
              </p:cNvSpPr>
              <p:nvPr/>
            </p:nvSpPr>
            <p:spPr bwMode="auto">
              <a:xfrm>
                <a:off x="748" y="2464"/>
                <a:ext cx="3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4" name="Line 876"/>
              <p:cNvSpPr>
                <a:spLocks noChangeShapeType="1"/>
              </p:cNvSpPr>
              <p:nvPr/>
            </p:nvSpPr>
            <p:spPr bwMode="auto">
              <a:xfrm>
                <a:off x="740" y="2456"/>
                <a:ext cx="50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5" name="Line 877"/>
              <p:cNvSpPr>
                <a:spLocks noChangeShapeType="1"/>
              </p:cNvSpPr>
              <p:nvPr/>
            </p:nvSpPr>
            <p:spPr bwMode="auto">
              <a:xfrm>
                <a:off x="766" y="2431"/>
                <a:ext cx="1" cy="2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6" name="Line 878"/>
              <p:cNvSpPr>
                <a:spLocks noChangeShapeType="1"/>
              </p:cNvSpPr>
              <p:nvPr/>
            </p:nvSpPr>
            <p:spPr bwMode="auto">
              <a:xfrm>
                <a:off x="883" y="1836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7" name="Line 879"/>
              <p:cNvSpPr>
                <a:spLocks noChangeShapeType="1"/>
              </p:cNvSpPr>
              <p:nvPr/>
            </p:nvSpPr>
            <p:spPr bwMode="auto">
              <a:xfrm>
                <a:off x="883" y="1931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8" name="Rectangle 880"/>
              <p:cNvSpPr>
                <a:spLocks noChangeArrowheads="1"/>
              </p:cNvSpPr>
              <p:nvPr/>
            </p:nvSpPr>
            <p:spPr bwMode="auto">
              <a:xfrm>
                <a:off x="872" y="1858"/>
                <a:ext cx="24" cy="7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29" name="Rectangle 881"/>
              <p:cNvSpPr>
                <a:spLocks noChangeArrowheads="1"/>
              </p:cNvSpPr>
              <p:nvPr/>
            </p:nvSpPr>
            <p:spPr bwMode="auto">
              <a:xfrm>
                <a:off x="919" y="1870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30" name="Line 882"/>
              <p:cNvSpPr>
                <a:spLocks noChangeShapeType="1"/>
              </p:cNvSpPr>
              <p:nvPr/>
            </p:nvSpPr>
            <p:spPr bwMode="auto">
              <a:xfrm>
                <a:off x="883" y="1954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1" name="Line 883"/>
              <p:cNvSpPr>
                <a:spLocks noChangeShapeType="1"/>
              </p:cNvSpPr>
              <p:nvPr/>
            </p:nvSpPr>
            <p:spPr bwMode="auto">
              <a:xfrm>
                <a:off x="883" y="2051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2" name="Rectangle 884"/>
              <p:cNvSpPr>
                <a:spLocks noChangeArrowheads="1"/>
              </p:cNvSpPr>
              <p:nvPr/>
            </p:nvSpPr>
            <p:spPr bwMode="auto">
              <a:xfrm>
                <a:off x="872" y="1978"/>
                <a:ext cx="24" cy="7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3" name="Rectangle 885"/>
              <p:cNvSpPr>
                <a:spLocks noChangeArrowheads="1"/>
              </p:cNvSpPr>
              <p:nvPr/>
            </p:nvSpPr>
            <p:spPr bwMode="auto">
              <a:xfrm>
                <a:off x="919" y="1990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34" name="Line 886"/>
              <p:cNvSpPr>
                <a:spLocks noChangeShapeType="1"/>
              </p:cNvSpPr>
              <p:nvPr/>
            </p:nvSpPr>
            <p:spPr bwMode="auto">
              <a:xfrm>
                <a:off x="884" y="2194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5" name="Line 887"/>
              <p:cNvSpPr>
                <a:spLocks noChangeShapeType="1"/>
              </p:cNvSpPr>
              <p:nvPr/>
            </p:nvSpPr>
            <p:spPr bwMode="auto">
              <a:xfrm>
                <a:off x="884" y="2290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6" name="Rectangle 888"/>
              <p:cNvSpPr>
                <a:spLocks noChangeArrowheads="1"/>
              </p:cNvSpPr>
              <p:nvPr/>
            </p:nvSpPr>
            <p:spPr bwMode="auto">
              <a:xfrm>
                <a:off x="872" y="2216"/>
                <a:ext cx="25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7" name="Rectangle 889"/>
              <p:cNvSpPr>
                <a:spLocks noChangeArrowheads="1"/>
              </p:cNvSpPr>
              <p:nvPr/>
            </p:nvSpPr>
            <p:spPr bwMode="auto">
              <a:xfrm>
                <a:off x="919" y="2228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38" name="Line 890"/>
              <p:cNvSpPr>
                <a:spLocks noChangeShapeType="1"/>
              </p:cNvSpPr>
              <p:nvPr/>
            </p:nvSpPr>
            <p:spPr bwMode="auto">
              <a:xfrm>
                <a:off x="883" y="2074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39" name="Line 891"/>
              <p:cNvSpPr>
                <a:spLocks noChangeShapeType="1"/>
              </p:cNvSpPr>
              <p:nvPr/>
            </p:nvSpPr>
            <p:spPr bwMode="auto">
              <a:xfrm>
                <a:off x="883" y="2171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0" name="Rectangle 892"/>
              <p:cNvSpPr>
                <a:spLocks noChangeArrowheads="1"/>
              </p:cNvSpPr>
              <p:nvPr/>
            </p:nvSpPr>
            <p:spPr bwMode="auto">
              <a:xfrm>
                <a:off x="872" y="2097"/>
                <a:ext cx="24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1" name="Rectangle 893"/>
              <p:cNvSpPr>
                <a:spLocks noChangeArrowheads="1"/>
              </p:cNvSpPr>
              <p:nvPr/>
            </p:nvSpPr>
            <p:spPr bwMode="auto">
              <a:xfrm>
                <a:off x="919" y="2110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42" name="Line 894"/>
              <p:cNvSpPr>
                <a:spLocks noChangeShapeType="1"/>
              </p:cNvSpPr>
              <p:nvPr/>
            </p:nvSpPr>
            <p:spPr bwMode="auto">
              <a:xfrm flipV="1">
                <a:off x="766" y="2292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3" name="Line 895"/>
              <p:cNvSpPr>
                <a:spLocks noChangeShapeType="1"/>
              </p:cNvSpPr>
              <p:nvPr/>
            </p:nvSpPr>
            <p:spPr bwMode="auto">
              <a:xfrm flipV="1">
                <a:off x="766" y="2194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4" name="Rectangle 896"/>
              <p:cNvSpPr>
                <a:spLocks noChangeArrowheads="1"/>
              </p:cNvSpPr>
              <p:nvPr/>
            </p:nvSpPr>
            <p:spPr bwMode="auto">
              <a:xfrm>
                <a:off x="753" y="2218"/>
                <a:ext cx="24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5" name="Rectangle 897"/>
              <p:cNvSpPr>
                <a:spLocks noChangeArrowheads="1"/>
              </p:cNvSpPr>
              <p:nvPr/>
            </p:nvSpPr>
            <p:spPr bwMode="auto">
              <a:xfrm>
                <a:off x="651" y="2231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46" name="Line 898"/>
              <p:cNvSpPr>
                <a:spLocks noChangeShapeType="1"/>
              </p:cNvSpPr>
              <p:nvPr/>
            </p:nvSpPr>
            <p:spPr bwMode="auto">
              <a:xfrm>
                <a:off x="884" y="2313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7" name="Line 899"/>
              <p:cNvSpPr>
                <a:spLocks noChangeShapeType="1"/>
              </p:cNvSpPr>
              <p:nvPr/>
            </p:nvSpPr>
            <p:spPr bwMode="auto">
              <a:xfrm>
                <a:off x="884" y="2408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8" name="Rectangle 900"/>
              <p:cNvSpPr>
                <a:spLocks noChangeArrowheads="1"/>
              </p:cNvSpPr>
              <p:nvPr/>
            </p:nvSpPr>
            <p:spPr bwMode="auto">
              <a:xfrm>
                <a:off x="872" y="2335"/>
                <a:ext cx="25" cy="7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49" name="Rectangle 901"/>
              <p:cNvSpPr>
                <a:spLocks noChangeArrowheads="1"/>
              </p:cNvSpPr>
              <p:nvPr/>
            </p:nvSpPr>
            <p:spPr bwMode="auto">
              <a:xfrm>
                <a:off x="919" y="2347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50" name="Line 902"/>
              <p:cNvSpPr>
                <a:spLocks noChangeShapeType="1"/>
              </p:cNvSpPr>
              <p:nvPr/>
            </p:nvSpPr>
            <p:spPr bwMode="auto">
              <a:xfrm>
                <a:off x="884" y="2430"/>
                <a:ext cx="1" cy="6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1" name="Freeform 903"/>
              <p:cNvSpPr>
                <a:spLocks/>
              </p:cNvSpPr>
              <p:nvPr/>
            </p:nvSpPr>
            <p:spPr bwMode="auto">
              <a:xfrm>
                <a:off x="876" y="2491"/>
                <a:ext cx="16" cy="16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3" y="4"/>
                  </a:cxn>
                  <a:cxn ang="0">
                    <a:pos x="6" y="0"/>
                  </a:cxn>
                  <a:cxn ang="0">
                    <a:pos x="11" y="0"/>
                  </a:cxn>
                  <a:cxn ang="0">
                    <a:pos x="15" y="4"/>
                  </a:cxn>
                  <a:cxn ang="0">
                    <a:pos x="16" y="8"/>
                  </a:cxn>
                  <a:cxn ang="0">
                    <a:pos x="15" y="13"/>
                  </a:cxn>
                  <a:cxn ang="0">
                    <a:pos x="11" y="16"/>
                  </a:cxn>
                  <a:cxn ang="0">
                    <a:pos x="6" y="16"/>
                  </a:cxn>
                  <a:cxn ang="0">
                    <a:pos x="3" y="13"/>
                  </a:cxn>
                  <a:cxn ang="0">
                    <a:pos x="0" y="8"/>
                  </a:cxn>
                </a:cxnLst>
                <a:rect l="0" t="0" r="r" b="b"/>
                <a:pathLst>
                  <a:path w="16" h="16">
                    <a:moveTo>
                      <a:pt x="0" y="8"/>
                    </a:moveTo>
                    <a:lnTo>
                      <a:pt x="3" y="4"/>
                    </a:lnTo>
                    <a:lnTo>
                      <a:pt x="6" y="0"/>
                    </a:lnTo>
                    <a:lnTo>
                      <a:pt x="11" y="0"/>
                    </a:lnTo>
                    <a:lnTo>
                      <a:pt x="15" y="4"/>
                    </a:lnTo>
                    <a:lnTo>
                      <a:pt x="16" y="8"/>
                    </a:lnTo>
                    <a:lnTo>
                      <a:pt x="15" y="13"/>
                    </a:lnTo>
                    <a:lnTo>
                      <a:pt x="11" y="16"/>
                    </a:lnTo>
                    <a:lnTo>
                      <a:pt x="6" y="16"/>
                    </a:lnTo>
                    <a:lnTo>
                      <a:pt x="3" y="13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2" name="Rectangle 904"/>
              <p:cNvSpPr>
                <a:spLocks noChangeArrowheads="1"/>
              </p:cNvSpPr>
              <p:nvPr/>
            </p:nvSpPr>
            <p:spPr bwMode="auto">
              <a:xfrm>
                <a:off x="854" y="2530"/>
                <a:ext cx="50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-9V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53" name="Line 905"/>
              <p:cNvSpPr>
                <a:spLocks noChangeShapeType="1"/>
              </p:cNvSpPr>
              <p:nvPr/>
            </p:nvSpPr>
            <p:spPr bwMode="auto">
              <a:xfrm>
                <a:off x="1020" y="2312"/>
                <a:ext cx="1" cy="5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4" name="Line 906"/>
              <p:cNvSpPr>
                <a:spLocks noChangeShapeType="1"/>
              </p:cNvSpPr>
              <p:nvPr/>
            </p:nvSpPr>
            <p:spPr bwMode="auto">
              <a:xfrm>
                <a:off x="1020" y="2377"/>
                <a:ext cx="1" cy="5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5" name="Freeform 907"/>
              <p:cNvSpPr>
                <a:spLocks/>
              </p:cNvSpPr>
              <p:nvPr/>
            </p:nvSpPr>
            <p:spPr bwMode="auto">
              <a:xfrm>
                <a:off x="998" y="2377"/>
                <a:ext cx="44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4" y="0"/>
                  </a:cxn>
                  <a:cxn ang="0">
                    <a:pos x="0" y="0"/>
                  </a:cxn>
                </a:cxnLst>
                <a:rect l="0" t="0" r="r" b="b"/>
                <a:pathLst>
                  <a:path w="44">
                    <a:moveTo>
                      <a:pt x="0" y="0"/>
                    </a:moveTo>
                    <a:lnTo>
                      <a:pt x="4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6" name="Line 908"/>
              <p:cNvSpPr>
                <a:spLocks noChangeShapeType="1"/>
              </p:cNvSpPr>
              <p:nvPr/>
            </p:nvSpPr>
            <p:spPr bwMode="auto">
              <a:xfrm>
                <a:off x="998" y="2377"/>
                <a:ext cx="4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7" name="Line 909"/>
              <p:cNvSpPr>
                <a:spLocks noChangeShapeType="1"/>
              </p:cNvSpPr>
              <p:nvPr/>
            </p:nvSpPr>
            <p:spPr bwMode="auto">
              <a:xfrm>
                <a:off x="998" y="2366"/>
                <a:ext cx="4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58" name="Rectangle 910"/>
              <p:cNvSpPr>
                <a:spLocks noChangeArrowheads="1"/>
              </p:cNvSpPr>
              <p:nvPr/>
            </p:nvSpPr>
            <p:spPr bwMode="auto">
              <a:xfrm>
                <a:off x="1076" y="2347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59" name="Line 911"/>
              <p:cNvSpPr>
                <a:spLocks noChangeShapeType="1"/>
              </p:cNvSpPr>
              <p:nvPr/>
            </p:nvSpPr>
            <p:spPr bwMode="auto">
              <a:xfrm>
                <a:off x="884" y="2313"/>
                <a:ext cx="33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0" name="Line 912"/>
              <p:cNvSpPr>
                <a:spLocks noChangeShapeType="1"/>
              </p:cNvSpPr>
              <p:nvPr/>
            </p:nvSpPr>
            <p:spPr bwMode="auto">
              <a:xfrm>
                <a:off x="884" y="2430"/>
                <a:ext cx="136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1" name="Line 913"/>
              <p:cNvSpPr>
                <a:spLocks noChangeShapeType="1"/>
              </p:cNvSpPr>
              <p:nvPr/>
            </p:nvSpPr>
            <p:spPr bwMode="auto">
              <a:xfrm flipV="1">
                <a:off x="1217" y="2171"/>
                <a:ext cx="1" cy="20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2" name="Line 914"/>
              <p:cNvSpPr>
                <a:spLocks noChangeShapeType="1"/>
              </p:cNvSpPr>
              <p:nvPr/>
            </p:nvSpPr>
            <p:spPr bwMode="auto">
              <a:xfrm flipV="1">
                <a:off x="1217" y="2271"/>
                <a:ext cx="171" cy="10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3" name="Line 915"/>
              <p:cNvSpPr>
                <a:spLocks noChangeShapeType="1"/>
              </p:cNvSpPr>
              <p:nvPr/>
            </p:nvSpPr>
            <p:spPr bwMode="auto">
              <a:xfrm>
                <a:off x="1217" y="2171"/>
                <a:ext cx="171" cy="10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4" name="Rectangle 916"/>
              <p:cNvSpPr>
                <a:spLocks noChangeArrowheads="1"/>
              </p:cNvSpPr>
              <p:nvPr/>
            </p:nvSpPr>
            <p:spPr bwMode="auto">
              <a:xfrm>
                <a:off x="1235" y="2286"/>
                <a:ext cx="23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+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65" name="Rectangle 917"/>
              <p:cNvSpPr>
                <a:spLocks noChangeArrowheads="1"/>
              </p:cNvSpPr>
              <p:nvPr/>
            </p:nvSpPr>
            <p:spPr bwMode="auto">
              <a:xfrm>
                <a:off x="1236" y="2199"/>
                <a:ext cx="13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-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66" name="Line 918"/>
              <p:cNvSpPr>
                <a:spLocks noChangeShapeType="1"/>
              </p:cNvSpPr>
              <p:nvPr/>
            </p:nvSpPr>
            <p:spPr bwMode="auto">
              <a:xfrm>
                <a:off x="1296" y="1754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7" name="Line 919"/>
              <p:cNvSpPr>
                <a:spLocks noChangeShapeType="1"/>
              </p:cNvSpPr>
              <p:nvPr/>
            </p:nvSpPr>
            <p:spPr bwMode="auto">
              <a:xfrm>
                <a:off x="1296" y="1851"/>
                <a:ext cx="1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8" name="Rectangle 920"/>
              <p:cNvSpPr>
                <a:spLocks noChangeArrowheads="1"/>
              </p:cNvSpPr>
              <p:nvPr/>
            </p:nvSpPr>
            <p:spPr bwMode="auto">
              <a:xfrm>
                <a:off x="1283" y="1777"/>
                <a:ext cx="25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69" name="Rectangle 921"/>
              <p:cNvSpPr>
                <a:spLocks noChangeArrowheads="1"/>
              </p:cNvSpPr>
              <p:nvPr/>
            </p:nvSpPr>
            <p:spPr bwMode="auto">
              <a:xfrm>
                <a:off x="1338" y="1789"/>
                <a:ext cx="44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UV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70" name="Line 922"/>
              <p:cNvSpPr>
                <a:spLocks noChangeShapeType="1"/>
              </p:cNvSpPr>
              <p:nvPr/>
            </p:nvSpPr>
            <p:spPr bwMode="auto">
              <a:xfrm>
                <a:off x="1296" y="1992"/>
                <a:ext cx="1" cy="6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1" name="Freeform 923"/>
              <p:cNvSpPr>
                <a:spLocks/>
              </p:cNvSpPr>
              <p:nvPr/>
            </p:nvSpPr>
            <p:spPr bwMode="auto">
              <a:xfrm>
                <a:off x="1288" y="2054"/>
                <a:ext cx="16" cy="15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1" y="2"/>
                  </a:cxn>
                  <a:cxn ang="0">
                    <a:pos x="5" y="0"/>
                  </a:cxn>
                  <a:cxn ang="0">
                    <a:pos x="10" y="0"/>
                  </a:cxn>
                  <a:cxn ang="0">
                    <a:pos x="15" y="2"/>
                  </a:cxn>
                  <a:cxn ang="0">
                    <a:pos x="16" y="8"/>
                  </a:cxn>
                  <a:cxn ang="0">
                    <a:pos x="15" y="12"/>
                  </a:cxn>
                  <a:cxn ang="0">
                    <a:pos x="10" y="15"/>
                  </a:cxn>
                  <a:cxn ang="0">
                    <a:pos x="5" y="15"/>
                  </a:cxn>
                  <a:cxn ang="0">
                    <a:pos x="1" y="12"/>
                  </a:cxn>
                  <a:cxn ang="0">
                    <a:pos x="0" y="8"/>
                  </a:cxn>
                </a:cxnLst>
                <a:rect l="0" t="0" r="r" b="b"/>
                <a:pathLst>
                  <a:path w="16" h="15">
                    <a:moveTo>
                      <a:pt x="0" y="8"/>
                    </a:moveTo>
                    <a:lnTo>
                      <a:pt x="1" y="2"/>
                    </a:lnTo>
                    <a:lnTo>
                      <a:pt x="5" y="0"/>
                    </a:lnTo>
                    <a:lnTo>
                      <a:pt x="10" y="0"/>
                    </a:lnTo>
                    <a:lnTo>
                      <a:pt x="15" y="2"/>
                    </a:lnTo>
                    <a:lnTo>
                      <a:pt x="16" y="8"/>
                    </a:lnTo>
                    <a:lnTo>
                      <a:pt x="15" y="12"/>
                    </a:lnTo>
                    <a:lnTo>
                      <a:pt x="10" y="15"/>
                    </a:lnTo>
                    <a:lnTo>
                      <a:pt x="5" y="15"/>
                    </a:lnTo>
                    <a:lnTo>
                      <a:pt x="1" y="12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2" name="Rectangle 924"/>
              <p:cNvSpPr>
                <a:spLocks noChangeArrowheads="1"/>
              </p:cNvSpPr>
              <p:nvPr/>
            </p:nvSpPr>
            <p:spPr bwMode="auto">
              <a:xfrm>
                <a:off x="1261" y="2089"/>
                <a:ext cx="62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-9V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73" name="Line 925"/>
              <p:cNvSpPr>
                <a:spLocks noChangeShapeType="1"/>
              </p:cNvSpPr>
              <p:nvPr/>
            </p:nvSpPr>
            <p:spPr bwMode="auto">
              <a:xfrm>
                <a:off x="1296" y="1873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4" name="Line 926"/>
              <p:cNvSpPr>
                <a:spLocks noChangeShapeType="1"/>
              </p:cNvSpPr>
              <p:nvPr/>
            </p:nvSpPr>
            <p:spPr bwMode="auto">
              <a:xfrm>
                <a:off x="1296" y="1968"/>
                <a:ext cx="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5" name="Rectangle 927"/>
              <p:cNvSpPr>
                <a:spLocks noChangeArrowheads="1"/>
              </p:cNvSpPr>
              <p:nvPr/>
            </p:nvSpPr>
            <p:spPr bwMode="auto">
              <a:xfrm>
                <a:off x="1283" y="1896"/>
                <a:ext cx="25" cy="72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6" name="Rectangle 928"/>
              <p:cNvSpPr>
                <a:spLocks noChangeArrowheads="1"/>
              </p:cNvSpPr>
              <p:nvPr/>
            </p:nvSpPr>
            <p:spPr bwMode="auto">
              <a:xfrm>
                <a:off x="1331" y="1907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77" name="Line 929"/>
              <p:cNvSpPr>
                <a:spLocks noChangeShapeType="1"/>
              </p:cNvSpPr>
              <p:nvPr/>
            </p:nvSpPr>
            <p:spPr bwMode="auto">
              <a:xfrm>
                <a:off x="1603" y="2034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8" name="Freeform 930"/>
              <p:cNvSpPr>
                <a:spLocks/>
              </p:cNvSpPr>
              <p:nvPr/>
            </p:nvSpPr>
            <p:spPr bwMode="auto">
              <a:xfrm>
                <a:off x="1596" y="2020"/>
                <a:ext cx="17" cy="1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7" y="7"/>
                  </a:cxn>
                  <a:cxn ang="0">
                    <a:pos x="14" y="12"/>
                  </a:cxn>
                  <a:cxn ang="0">
                    <a:pos x="11" y="15"/>
                  </a:cxn>
                  <a:cxn ang="0">
                    <a:pos x="6" y="15"/>
                  </a:cxn>
                  <a:cxn ang="0">
                    <a:pos x="2" y="12"/>
                  </a:cxn>
                  <a:cxn ang="0">
                    <a:pos x="0" y="7"/>
                  </a:cxn>
                </a:cxnLst>
                <a:rect l="0" t="0" r="r" b="b"/>
                <a:pathLst>
                  <a:path w="17" h="15">
                    <a:moveTo>
                      <a:pt x="0" y="7"/>
                    </a:moveTo>
                    <a:lnTo>
                      <a:pt x="2" y="2"/>
                    </a:lnTo>
                    <a:lnTo>
                      <a:pt x="6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7" y="7"/>
                    </a:lnTo>
                    <a:lnTo>
                      <a:pt x="14" y="12"/>
                    </a:lnTo>
                    <a:lnTo>
                      <a:pt x="11" y="15"/>
                    </a:lnTo>
                    <a:lnTo>
                      <a:pt x="6" y="15"/>
                    </a:lnTo>
                    <a:lnTo>
                      <a:pt x="2" y="12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79" name="Rectangle 931"/>
              <p:cNvSpPr>
                <a:spLocks noChangeArrowheads="1"/>
              </p:cNvSpPr>
              <p:nvPr/>
            </p:nvSpPr>
            <p:spPr bwMode="auto">
              <a:xfrm>
                <a:off x="1564" y="1953"/>
                <a:ext cx="57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15V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80" name="Freeform 932"/>
              <p:cNvSpPr>
                <a:spLocks/>
              </p:cNvSpPr>
              <p:nvPr/>
            </p:nvSpPr>
            <p:spPr bwMode="auto">
              <a:xfrm>
                <a:off x="1128" y="1810"/>
                <a:ext cx="127" cy="418"/>
              </a:xfrm>
              <a:custGeom>
                <a:avLst/>
                <a:gdLst/>
                <a:ahLst/>
                <a:cxnLst>
                  <a:cxn ang="0">
                    <a:pos x="88" y="418"/>
                  </a:cxn>
                  <a:cxn ang="0">
                    <a:pos x="0" y="418"/>
                  </a:cxn>
                  <a:cxn ang="0">
                    <a:pos x="0" y="0"/>
                  </a:cxn>
                  <a:cxn ang="0">
                    <a:pos x="127" y="0"/>
                  </a:cxn>
                </a:cxnLst>
                <a:rect l="0" t="0" r="r" b="b"/>
                <a:pathLst>
                  <a:path w="127" h="418">
                    <a:moveTo>
                      <a:pt x="88" y="418"/>
                    </a:moveTo>
                    <a:lnTo>
                      <a:pt x="0" y="418"/>
                    </a:lnTo>
                    <a:lnTo>
                      <a:pt x="0" y="0"/>
                    </a:lnTo>
                    <a:lnTo>
                      <a:pt x="12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1" name="Freeform 933"/>
              <p:cNvSpPr>
                <a:spLocks/>
              </p:cNvSpPr>
              <p:nvPr/>
            </p:nvSpPr>
            <p:spPr bwMode="auto">
              <a:xfrm>
                <a:off x="1252" y="1797"/>
                <a:ext cx="26" cy="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6" y="13"/>
                  </a:cxn>
                  <a:cxn ang="0">
                    <a:pos x="0" y="26"/>
                  </a:cxn>
                  <a:cxn ang="0">
                    <a:pos x="0" y="0"/>
                  </a:cxn>
                </a:cxnLst>
                <a:rect l="0" t="0" r="r" b="b"/>
                <a:pathLst>
                  <a:path w="26" h="26">
                    <a:moveTo>
                      <a:pt x="0" y="0"/>
                    </a:moveTo>
                    <a:lnTo>
                      <a:pt x="26" y="13"/>
                    </a:lnTo>
                    <a:lnTo>
                      <a:pt x="0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2" name="Line 934"/>
              <p:cNvSpPr>
                <a:spLocks noChangeShapeType="1"/>
              </p:cNvSpPr>
              <p:nvPr/>
            </p:nvSpPr>
            <p:spPr bwMode="auto">
              <a:xfrm>
                <a:off x="1388" y="2272"/>
                <a:ext cx="7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3" name="Line 935"/>
              <p:cNvSpPr>
                <a:spLocks noChangeShapeType="1"/>
              </p:cNvSpPr>
              <p:nvPr/>
            </p:nvSpPr>
            <p:spPr bwMode="auto">
              <a:xfrm>
                <a:off x="1533" y="2272"/>
                <a:ext cx="7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4" name="Rectangle 936"/>
              <p:cNvSpPr>
                <a:spLocks noChangeArrowheads="1"/>
              </p:cNvSpPr>
              <p:nvPr/>
            </p:nvSpPr>
            <p:spPr bwMode="auto">
              <a:xfrm>
                <a:off x="1459" y="2261"/>
                <a:ext cx="74" cy="2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5" name="Rectangle 937"/>
              <p:cNvSpPr>
                <a:spLocks noChangeArrowheads="1"/>
              </p:cNvSpPr>
              <p:nvPr/>
            </p:nvSpPr>
            <p:spPr bwMode="auto">
              <a:xfrm>
                <a:off x="1462" y="2208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86" name="Line 938"/>
              <p:cNvSpPr>
                <a:spLocks noChangeShapeType="1"/>
              </p:cNvSpPr>
              <p:nvPr/>
            </p:nvSpPr>
            <p:spPr bwMode="auto">
              <a:xfrm flipV="1">
                <a:off x="1605" y="2202"/>
                <a:ext cx="1" cy="7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7" name="Line 939"/>
              <p:cNvSpPr>
                <a:spLocks noChangeShapeType="1"/>
              </p:cNvSpPr>
              <p:nvPr/>
            </p:nvSpPr>
            <p:spPr bwMode="auto">
              <a:xfrm flipV="1">
                <a:off x="1605" y="2058"/>
                <a:ext cx="1" cy="7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8" name="Rectangle 940"/>
              <p:cNvSpPr>
                <a:spLocks noChangeArrowheads="1"/>
              </p:cNvSpPr>
              <p:nvPr/>
            </p:nvSpPr>
            <p:spPr bwMode="auto">
              <a:xfrm>
                <a:off x="1592" y="2128"/>
                <a:ext cx="24" cy="7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89" name="Rectangle 941"/>
              <p:cNvSpPr>
                <a:spLocks noChangeArrowheads="1"/>
              </p:cNvSpPr>
              <p:nvPr/>
            </p:nvSpPr>
            <p:spPr bwMode="auto">
              <a:xfrm>
                <a:off x="1500" y="2141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2990" name="Line 942"/>
              <p:cNvSpPr>
                <a:spLocks noChangeShapeType="1"/>
              </p:cNvSpPr>
              <p:nvPr/>
            </p:nvSpPr>
            <p:spPr bwMode="auto">
              <a:xfrm>
                <a:off x="1683" y="2056"/>
                <a:ext cx="1" cy="10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1" name="Line 943"/>
              <p:cNvSpPr>
                <a:spLocks noChangeShapeType="1"/>
              </p:cNvSpPr>
              <p:nvPr/>
            </p:nvSpPr>
            <p:spPr bwMode="auto">
              <a:xfrm>
                <a:off x="1683" y="2171"/>
                <a:ext cx="1" cy="10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2" name="Freeform 944"/>
              <p:cNvSpPr>
                <a:spLocks/>
              </p:cNvSpPr>
              <p:nvPr/>
            </p:nvSpPr>
            <p:spPr bwMode="auto">
              <a:xfrm>
                <a:off x="1660" y="2171"/>
                <a:ext cx="45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5" y="0"/>
                  </a:cxn>
                  <a:cxn ang="0">
                    <a:pos x="0" y="0"/>
                  </a:cxn>
                </a:cxnLst>
                <a:rect l="0" t="0" r="r" b="b"/>
                <a:pathLst>
                  <a:path w="45">
                    <a:moveTo>
                      <a:pt x="0" y="0"/>
                    </a:moveTo>
                    <a:lnTo>
                      <a:pt x="4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3" name="Line 945"/>
              <p:cNvSpPr>
                <a:spLocks noChangeShapeType="1"/>
              </p:cNvSpPr>
              <p:nvPr/>
            </p:nvSpPr>
            <p:spPr bwMode="auto">
              <a:xfrm>
                <a:off x="1660" y="2171"/>
                <a:ext cx="4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4" name="Line 946"/>
              <p:cNvSpPr>
                <a:spLocks noChangeShapeType="1"/>
              </p:cNvSpPr>
              <p:nvPr/>
            </p:nvSpPr>
            <p:spPr bwMode="auto">
              <a:xfrm>
                <a:off x="1660" y="2160"/>
                <a:ext cx="4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5" name="Line 947"/>
              <p:cNvSpPr>
                <a:spLocks noChangeShapeType="1"/>
              </p:cNvSpPr>
              <p:nvPr/>
            </p:nvSpPr>
            <p:spPr bwMode="auto">
              <a:xfrm>
                <a:off x="1605" y="2272"/>
                <a:ext cx="29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6" name="Freeform 948"/>
              <p:cNvSpPr>
                <a:spLocks/>
              </p:cNvSpPr>
              <p:nvPr/>
            </p:nvSpPr>
            <p:spPr bwMode="auto">
              <a:xfrm>
                <a:off x="1743" y="2149"/>
                <a:ext cx="37" cy="32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37" y="32"/>
                  </a:cxn>
                  <a:cxn ang="0">
                    <a:pos x="18" y="0"/>
                  </a:cxn>
                  <a:cxn ang="0">
                    <a:pos x="0" y="32"/>
                  </a:cxn>
                </a:cxnLst>
                <a:rect l="0" t="0" r="r" b="b"/>
                <a:pathLst>
                  <a:path w="37" h="32">
                    <a:moveTo>
                      <a:pt x="0" y="32"/>
                    </a:moveTo>
                    <a:lnTo>
                      <a:pt x="37" y="32"/>
                    </a:lnTo>
                    <a:lnTo>
                      <a:pt x="18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7" name="Line 949"/>
              <p:cNvSpPr>
                <a:spLocks noChangeShapeType="1"/>
              </p:cNvSpPr>
              <p:nvPr/>
            </p:nvSpPr>
            <p:spPr bwMode="auto">
              <a:xfrm flipV="1">
                <a:off x="1761" y="2181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8" name="Line 950"/>
              <p:cNvSpPr>
                <a:spLocks noChangeShapeType="1"/>
              </p:cNvSpPr>
              <p:nvPr/>
            </p:nvSpPr>
            <p:spPr bwMode="auto">
              <a:xfrm flipV="1">
                <a:off x="1761" y="2058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999" name="Line 951"/>
              <p:cNvSpPr>
                <a:spLocks noChangeShapeType="1"/>
              </p:cNvSpPr>
              <p:nvPr/>
            </p:nvSpPr>
            <p:spPr bwMode="auto">
              <a:xfrm flipH="1">
                <a:off x="1742" y="2147"/>
                <a:ext cx="39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0" name="Line 952"/>
              <p:cNvSpPr>
                <a:spLocks noChangeShapeType="1"/>
              </p:cNvSpPr>
              <p:nvPr/>
            </p:nvSpPr>
            <p:spPr bwMode="auto">
              <a:xfrm>
                <a:off x="1605" y="2058"/>
                <a:ext cx="292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1" name="Freeform 953"/>
              <p:cNvSpPr>
                <a:spLocks/>
              </p:cNvSpPr>
              <p:nvPr/>
            </p:nvSpPr>
            <p:spPr bwMode="auto">
              <a:xfrm>
                <a:off x="1879" y="2149"/>
                <a:ext cx="37" cy="32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0" y="0"/>
                  </a:cxn>
                  <a:cxn ang="0">
                    <a:pos x="18" y="32"/>
                  </a:cxn>
                  <a:cxn ang="0">
                    <a:pos x="37" y="0"/>
                  </a:cxn>
                </a:cxnLst>
                <a:rect l="0" t="0" r="r" b="b"/>
                <a:pathLst>
                  <a:path w="37" h="32">
                    <a:moveTo>
                      <a:pt x="37" y="0"/>
                    </a:moveTo>
                    <a:lnTo>
                      <a:pt x="0" y="0"/>
                    </a:lnTo>
                    <a:lnTo>
                      <a:pt x="18" y="3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2" name="Line 954"/>
              <p:cNvSpPr>
                <a:spLocks noChangeShapeType="1"/>
              </p:cNvSpPr>
              <p:nvPr/>
            </p:nvSpPr>
            <p:spPr bwMode="auto">
              <a:xfrm>
                <a:off x="1897" y="2058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3" name="Line 955"/>
              <p:cNvSpPr>
                <a:spLocks noChangeShapeType="1"/>
              </p:cNvSpPr>
              <p:nvPr/>
            </p:nvSpPr>
            <p:spPr bwMode="auto">
              <a:xfrm>
                <a:off x="1897" y="2181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4" name="Line 956"/>
              <p:cNvSpPr>
                <a:spLocks noChangeShapeType="1"/>
              </p:cNvSpPr>
              <p:nvPr/>
            </p:nvSpPr>
            <p:spPr bwMode="auto">
              <a:xfrm>
                <a:off x="1878" y="2181"/>
                <a:ext cx="39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5" name="Line 957"/>
              <p:cNvSpPr>
                <a:spLocks noChangeShapeType="1"/>
              </p:cNvSpPr>
              <p:nvPr/>
            </p:nvSpPr>
            <p:spPr bwMode="auto">
              <a:xfrm flipV="1">
                <a:off x="1974" y="2057"/>
                <a:ext cx="1" cy="5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6" name="Line 958"/>
              <p:cNvSpPr>
                <a:spLocks noChangeShapeType="1"/>
              </p:cNvSpPr>
              <p:nvPr/>
            </p:nvSpPr>
            <p:spPr bwMode="auto">
              <a:xfrm flipV="1">
                <a:off x="1974" y="2209"/>
                <a:ext cx="1" cy="6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7" name="Line 959"/>
              <p:cNvSpPr>
                <a:spLocks noChangeShapeType="1"/>
              </p:cNvSpPr>
              <p:nvPr/>
            </p:nvSpPr>
            <p:spPr bwMode="auto">
              <a:xfrm flipV="1">
                <a:off x="1934" y="2105"/>
                <a:ext cx="1" cy="11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8" name="Line 960"/>
              <p:cNvSpPr>
                <a:spLocks noChangeShapeType="1"/>
              </p:cNvSpPr>
              <p:nvPr/>
            </p:nvSpPr>
            <p:spPr bwMode="auto">
              <a:xfrm flipH="1" flipV="1">
                <a:off x="1934" y="2181"/>
                <a:ext cx="21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09" name="Freeform 961"/>
              <p:cNvSpPr>
                <a:spLocks/>
              </p:cNvSpPr>
              <p:nvPr/>
            </p:nvSpPr>
            <p:spPr bwMode="auto">
              <a:xfrm>
                <a:off x="1946" y="2184"/>
                <a:ext cx="28" cy="25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28" y="25"/>
                  </a:cxn>
                  <a:cxn ang="0">
                    <a:pos x="0" y="22"/>
                  </a:cxn>
                  <a:cxn ang="0">
                    <a:pos x="15" y="0"/>
                  </a:cxn>
                </a:cxnLst>
                <a:rect l="0" t="0" r="r" b="b"/>
                <a:pathLst>
                  <a:path w="28" h="25">
                    <a:moveTo>
                      <a:pt x="15" y="0"/>
                    </a:moveTo>
                    <a:lnTo>
                      <a:pt x="28" y="25"/>
                    </a:lnTo>
                    <a:lnTo>
                      <a:pt x="0" y="2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0" name="Line 962"/>
              <p:cNvSpPr>
                <a:spLocks noChangeShapeType="1"/>
              </p:cNvSpPr>
              <p:nvPr/>
            </p:nvSpPr>
            <p:spPr bwMode="auto">
              <a:xfrm flipV="1">
                <a:off x="1934" y="2116"/>
                <a:ext cx="40" cy="2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1" name="Line 963"/>
              <p:cNvSpPr>
                <a:spLocks noChangeShapeType="1"/>
              </p:cNvSpPr>
              <p:nvPr/>
            </p:nvSpPr>
            <p:spPr bwMode="auto">
              <a:xfrm>
                <a:off x="1974" y="2271"/>
                <a:ext cx="537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2" name="Line 964"/>
              <p:cNvSpPr>
                <a:spLocks noChangeShapeType="1"/>
              </p:cNvSpPr>
              <p:nvPr/>
            </p:nvSpPr>
            <p:spPr bwMode="auto">
              <a:xfrm>
                <a:off x="1973" y="2058"/>
                <a:ext cx="538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3" name="Line 965"/>
              <p:cNvSpPr>
                <a:spLocks noChangeShapeType="1"/>
              </p:cNvSpPr>
              <p:nvPr/>
            </p:nvSpPr>
            <p:spPr bwMode="auto">
              <a:xfrm>
                <a:off x="1296" y="1731"/>
                <a:ext cx="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4" name="Freeform 966"/>
              <p:cNvSpPr>
                <a:spLocks/>
              </p:cNvSpPr>
              <p:nvPr/>
            </p:nvSpPr>
            <p:spPr bwMode="auto">
              <a:xfrm>
                <a:off x="1288" y="1716"/>
                <a:ext cx="16" cy="16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1" y="3"/>
                  </a:cxn>
                  <a:cxn ang="0">
                    <a:pos x="5" y="0"/>
                  </a:cxn>
                  <a:cxn ang="0">
                    <a:pos x="10" y="0"/>
                  </a:cxn>
                  <a:cxn ang="0">
                    <a:pos x="15" y="3"/>
                  </a:cxn>
                  <a:cxn ang="0">
                    <a:pos x="16" y="8"/>
                  </a:cxn>
                  <a:cxn ang="0">
                    <a:pos x="15" y="13"/>
                  </a:cxn>
                  <a:cxn ang="0">
                    <a:pos x="10" y="16"/>
                  </a:cxn>
                  <a:cxn ang="0">
                    <a:pos x="5" y="16"/>
                  </a:cxn>
                  <a:cxn ang="0">
                    <a:pos x="1" y="13"/>
                  </a:cxn>
                  <a:cxn ang="0">
                    <a:pos x="0" y="8"/>
                  </a:cxn>
                </a:cxnLst>
                <a:rect l="0" t="0" r="r" b="b"/>
                <a:pathLst>
                  <a:path w="16" h="16">
                    <a:moveTo>
                      <a:pt x="0" y="8"/>
                    </a:moveTo>
                    <a:lnTo>
                      <a:pt x="1" y="3"/>
                    </a:lnTo>
                    <a:lnTo>
                      <a:pt x="5" y="0"/>
                    </a:lnTo>
                    <a:lnTo>
                      <a:pt x="10" y="0"/>
                    </a:lnTo>
                    <a:lnTo>
                      <a:pt x="15" y="3"/>
                    </a:lnTo>
                    <a:lnTo>
                      <a:pt x="16" y="8"/>
                    </a:lnTo>
                    <a:lnTo>
                      <a:pt x="15" y="13"/>
                    </a:lnTo>
                    <a:lnTo>
                      <a:pt x="10" y="16"/>
                    </a:lnTo>
                    <a:lnTo>
                      <a:pt x="5" y="16"/>
                    </a:lnTo>
                    <a:lnTo>
                      <a:pt x="1" y="13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5" name="Rectangle 967"/>
              <p:cNvSpPr>
                <a:spLocks noChangeArrowheads="1"/>
              </p:cNvSpPr>
              <p:nvPr/>
            </p:nvSpPr>
            <p:spPr bwMode="auto">
              <a:xfrm>
                <a:off x="1257" y="1650"/>
                <a:ext cx="57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15V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16" name="Freeform 968"/>
              <p:cNvSpPr>
                <a:spLocks/>
              </p:cNvSpPr>
              <p:nvPr/>
            </p:nvSpPr>
            <p:spPr bwMode="auto">
              <a:xfrm>
                <a:off x="2042" y="2149"/>
                <a:ext cx="37" cy="32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37" y="32"/>
                  </a:cxn>
                  <a:cxn ang="0">
                    <a:pos x="19" y="0"/>
                  </a:cxn>
                  <a:cxn ang="0">
                    <a:pos x="0" y="32"/>
                  </a:cxn>
                </a:cxnLst>
                <a:rect l="0" t="0" r="r" b="b"/>
                <a:pathLst>
                  <a:path w="37" h="32">
                    <a:moveTo>
                      <a:pt x="0" y="32"/>
                    </a:moveTo>
                    <a:lnTo>
                      <a:pt x="37" y="32"/>
                    </a:lnTo>
                    <a:lnTo>
                      <a:pt x="19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7" name="Line 969"/>
              <p:cNvSpPr>
                <a:spLocks noChangeShapeType="1"/>
              </p:cNvSpPr>
              <p:nvPr/>
            </p:nvSpPr>
            <p:spPr bwMode="auto">
              <a:xfrm flipV="1">
                <a:off x="2061" y="2181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8" name="Line 970"/>
              <p:cNvSpPr>
                <a:spLocks noChangeShapeType="1"/>
              </p:cNvSpPr>
              <p:nvPr/>
            </p:nvSpPr>
            <p:spPr bwMode="auto">
              <a:xfrm flipV="1">
                <a:off x="2061" y="2058"/>
                <a:ext cx="1" cy="9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19" name="Line 971"/>
              <p:cNvSpPr>
                <a:spLocks noChangeShapeType="1"/>
              </p:cNvSpPr>
              <p:nvPr/>
            </p:nvSpPr>
            <p:spPr bwMode="auto">
              <a:xfrm flipH="1">
                <a:off x="2041" y="2147"/>
                <a:ext cx="39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0" name="Line 972"/>
              <p:cNvSpPr>
                <a:spLocks noChangeShapeType="1"/>
              </p:cNvSpPr>
              <p:nvPr/>
            </p:nvSpPr>
            <p:spPr bwMode="auto">
              <a:xfrm flipV="1">
                <a:off x="2151" y="2161"/>
                <a:ext cx="1" cy="3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1" name="Line 973"/>
              <p:cNvSpPr>
                <a:spLocks noChangeShapeType="1"/>
              </p:cNvSpPr>
              <p:nvPr/>
            </p:nvSpPr>
            <p:spPr bwMode="auto">
              <a:xfrm flipV="1">
                <a:off x="2151" y="2058"/>
                <a:ext cx="1" cy="3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2" name="Rectangle 974"/>
              <p:cNvSpPr>
                <a:spLocks noChangeArrowheads="1"/>
              </p:cNvSpPr>
              <p:nvPr/>
            </p:nvSpPr>
            <p:spPr bwMode="auto">
              <a:xfrm>
                <a:off x="2139" y="2088"/>
                <a:ext cx="24" cy="7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3" name="Line 975"/>
              <p:cNvSpPr>
                <a:spLocks noChangeShapeType="1"/>
              </p:cNvSpPr>
              <p:nvPr/>
            </p:nvSpPr>
            <p:spPr bwMode="auto">
              <a:xfrm>
                <a:off x="2151" y="2191"/>
                <a:ext cx="1" cy="3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4" name="Line 976"/>
              <p:cNvSpPr>
                <a:spLocks noChangeShapeType="1"/>
              </p:cNvSpPr>
              <p:nvPr/>
            </p:nvSpPr>
            <p:spPr bwMode="auto">
              <a:xfrm>
                <a:off x="2151" y="2238"/>
                <a:ext cx="1" cy="3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5" name="Freeform 977"/>
              <p:cNvSpPr>
                <a:spLocks/>
              </p:cNvSpPr>
              <p:nvPr/>
            </p:nvSpPr>
            <p:spPr bwMode="auto">
              <a:xfrm>
                <a:off x="2129" y="2238"/>
                <a:ext cx="45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5" y="0"/>
                  </a:cxn>
                  <a:cxn ang="0">
                    <a:pos x="0" y="0"/>
                  </a:cxn>
                </a:cxnLst>
                <a:rect l="0" t="0" r="r" b="b"/>
                <a:pathLst>
                  <a:path w="45">
                    <a:moveTo>
                      <a:pt x="0" y="0"/>
                    </a:moveTo>
                    <a:lnTo>
                      <a:pt x="4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6" name="Line 978"/>
              <p:cNvSpPr>
                <a:spLocks noChangeShapeType="1"/>
              </p:cNvSpPr>
              <p:nvPr/>
            </p:nvSpPr>
            <p:spPr bwMode="auto">
              <a:xfrm>
                <a:off x="2129" y="2238"/>
                <a:ext cx="4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7" name="Line 979"/>
              <p:cNvSpPr>
                <a:spLocks noChangeShapeType="1"/>
              </p:cNvSpPr>
              <p:nvPr/>
            </p:nvSpPr>
            <p:spPr bwMode="auto">
              <a:xfrm>
                <a:off x="2129" y="2226"/>
                <a:ext cx="45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28" name="Rectangle 980"/>
              <p:cNvSpPr>
                <a:spLocks noChangeArrowheads="1"/>
              </p:cNvSpPr>
              <p:nvPr/>
            </p:nvSpPr>
            <p:spPr bwMode="auto">
              <a:xfrm>
                <a:off x="1901" y="1988"/>
                <a:ext cx="44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PC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29" name="Rectangle 981"/>
              <p:cNvSpPr>
                <a:spLocks noChangeArrowheads="1"/>
              </p:cNvSpPr>
              <p:nvPr/>
            </p:nvSpPr>
            <p:spPr bwMode="auto">
              <a:xfrm>
                <a:off x="1655" y="1991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0" name="Rectangle 982"/>
              <p:cNvSpPr>
                <a:spLocks noChangeArrowheads="1"/>
              </p:cNvSpPr>
              <p:nvPr/>
            </p:nvSpPr>
            <p:spPr bwMode="auto">
              <a:xfrm>
                <a:off x="1728" y="1991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1" name="Rectangle 983"/>
              <p:cNvSpPr>
                <a:spLocks noChangeArrowheads="1"/>
              </p:cNvSpPr>
              <p:nvPr/>
            </p:nvSpPr>
            <p:spPr bwMode="auto">
              <a:xfrm>
                <a:off x="2007" y="1998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2" name="Rectangle 984"/>
              <p:cNvSpPr>
                <a:spLocks noChangeArrowheads="1"/>
              </p:cNvSpPr>
              <p:nvPr/>
            </p:nvSpPr>
            <p:spPr bwMode="auto">
              <a:xfrm>
                <a:off x="2189" y="2099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3" name="Rectangle 985"/>
              <p:cNvSpPr>
                <a:spLocks noChangeArrowheads="1"/>
              </p:cNvSpPr>
              <p:nvPr/>
            </p:nvSpPr>
            <p:spPr bwMode="auto">
              <a:xfrm>
                <a:off x="2199" y="2205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4" name="Rectangle 986"/>
              <p:cNvSpPr>
                <a:spLocks noChangeArrowheads="1"/>
              </p:cNvSpPr>
              <p:nvPr/>
            </p:nvSpPr>
            <p:spPr bwMode="auto">
              <a:xfrm>
                <a:off x="2510" y="1926"/>
                <a:ext cx="545" cy="543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35" name="Rectangle 987"/>
              <p:cNvSpPr>
                <a:spLocks noChangeArrowheads="1"/>
              </p:cNvSpPr>
              <p:nvPr/>
            </p:nvSpPr>
            <p:spPr bwMode="auto">
              <a:xfrm>
                <a:off x="2646" y="2116"/>
                <a:ext cx="278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8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DPC-1XX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6" name="Rectangle 988"/>
              <p:cNvSpPr>
                <a:spLocks noChangeArrowheads="1"/>
              </p:cNvSpPr>
              <p:nvPr/>
            </p:nvSpPr>
            <p:spPr bwMode="auto">
              <a:xfrm>
                <a:off x="2706" y="2196"/>
                <a:ext cx="149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8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(INV)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7" name="Rectangle 989"/>
              <p:cNvSpPr>
                <a:spLocks noChangeArrowheads="1"/>
              </p:cNvSpPr>
              <p:nvPr/>
            </p:nvSpPr>
            <p:spPr bwMode="auto">
              <a:xfrm>
                <a:off x="116" y="1544"/>
                <a:ext cx="294" cy="65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38" name="Rectangle 990"/>
              <p:cNvSpPr>
                <a:spLocks noChangeArrowheads="1"/>
              </p:cNvSpPr>
              <p:nvPr/>
            </p:nvSpPr>
            <p:spPr bwMode="auto">
              <a:xfrm>
                <a:off x="179" y="1550"/>
                <a:ext cx="134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VDC(+)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39" name="Rectangle 991"/>
              <p:cNvSpPr>
                <a:spLocks noChangeArrowheads="1"/>
              </p:cNvSpPr>
              <p:nvPr/>
            </p:nvSpPr>
            <p:spPr bwMode="auto">
              <a:xfrm>
                <a:off x="116" y="1752"/>
                <a:ext cx="294" cy="64"/>
              </a:xfrm>
              <a:prstGeom prst="rect">
                <a:avLst/>
              </a:prstGeom>
              <a:solidFill>
                <a:srgbClr val="FFFFFF"/>
              </a:solidFill>
              <a:ln w="15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40" name="Rectangle 992"/>
              <p:cNvSpPr>
                <a:spLocks noChangeArrowheads="1"/>
              </p:cNvSpPr>
              <p:nvPr/>
            </p:nvSpPr>
            <p:spPr bwMode="auto">
              <a:xfrm>
                <a:off x="186" y="1758"/>
                <a:ext cx="124" cy="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5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VDC(-)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1" name="Freeform 993"/>
              <p:cNvSpPr>
                <a:spLocks/>
              </p:cNvSpPr>
              <p:nvPr/>
            </p:nvSpPr>
            <p:spPr bwMode="auto">
              <a:xfrm>
                <a:off x="410" y="1577"/>
                <a:ext cx="356" cy="2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56" y="0"/>
                  </a:cxn>
                  <a:cxn ang="0">
                    <a:pos x="356" y="259"/>
                  </a:cxn>
                </a:cxnLst>
                <a:rect l="0" t="0" r="r" b="b"/>
                <a:pathLst>
                  <a:path w="356" h="259">
                    <a:moveTo>
                      <a:pt x="0" y="0"/>
                    </a:moveTo>
                    <a:lnTo>
                      <a:pt x="356" y="0"/>
                    </a:lnTo>
                    <a:lnTo>
                      <a:pt x="356" y="25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42" name="Freeform 994"/>
              <p:cNvSpPr>
                <a:spLocks/>
              </p:cNvSpPr>
              <p:nvPr/>
            </p:nvSpPr>
            <p:spPr bwMode="auto">
              <a:xfrm>
                <a:off x="410" y="1784"/>
                <a:ext cx="356" cy="6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0" y="0"/>
                  </a:cxn>
                  <a:cxn ang="0">
                    <a:pos x="90" y="647"/>
                  </a:cxn>
                  <a:cxn ang="0">
                    <a:pos x="356" y="647"/>
                  </a:cxn>
                </a:cxnLst>
                <a:rect l="0" t="0" r="r" b="b"/>
                <a:pathLst>
                  <a:path w="356" h="647">
                    <a:moveTo>
                      <a:pt x="0" y="0"/>
                    </a:moveTo>
                    <a:lnTo>
                      <a:pt x="90" y="0"/>
                    </a:lnTo>
                    <a:lnTo>
                      <a:pt x="90" y="647"/>
                    </a:lnTo>
                    <a:lnTo>
                      <a:pt x="356" y="64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43" name="Rectangle 995"/>
              <p:cNvSpPr>
                <a:spLocks noChangeArrowheads="1"/>
              </p:cNvSpPr>
              <p:nvPr/>
            </p:nvSpPr>
            <p:spPr bwMode="auto">
              <a:xfrm>
                <a:off x="467" y="1510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4" name="Rectangle 996"/>
              <p:cNvSpPr>
                <a:spLocks noChangeArrowheads="1"/>
              </p:cNvSpPr>
              <p:nvPr/>
            </p:nvSpPr>
            <p:spPr bwMode="auto">
              <a:xfrm>
                <a:off x="457" y="1721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5" name="Rectangle 997"/>
              <p:cNvSpPr>
                <a:spLocks noChangeArrowheads="1"/>
              </p:cNvSpPr>
              <p:nvPr/>
            </p:nvSpPr>
            <p:spPr bwMode="auto">
              <a:xfrm>
                <a:off x="1727" y="1524"/>
                <a:ext cx="446" cy="200"/>
              </a:xfrm>
              <a:prstGeom prst="rect">
                <a:avLst/>
              </a:prstGeom>
              <a:solidFill>
                <a:srgbClr val="E6E6E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46" name="Rectangle 998"/>
              <p:cNvSpPr>
                <a:spLocks noChangeArrowheads="1"/>
              </p:cNvSpPr>
              <p:nvPr/>
            </p:nvSpPr>
            <p:spPr bwMode="auto">
              <a:xfrm>
                <a:off x="1811" y="1543"/>
                <a:ext cx="275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8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DPP-1XX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7" name="Rectangle 999"/>
              <p:cNvSpPr>
                <a:spLocks noChangeArrowheads="1"/>
              </p:cNvSpPr>
              <p:nvPr/>
            </p:nvSpPr>
            <p:spPr bwMode="auto">
              <a:xfrm>
                <a:off x="1853" y="1624"/>
                <a:ext cx="18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8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(GDC)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8" name="Rectangle 1000"/>
              <p:cNvSpPr>
                <a:spLocks noChangeArrowheads="1"/>
              </p:cNvSpPr>
              <p:nvPr/>
            </p:nvSpPr>
            <p:spPr bwMode="auto">
              <a:xfrm>
                <a:off x="1342" y="2345"/>
                <a:ext cx="0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endParaRPr lang="ko-KR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49" name="Rectangle 1001"/>
              <p:cNvSpPr>
                <a:spLocks noChangeArrowheads="1"/>
              </p:cNvSpPr>
              <p:nvPr/>
            </p:nvSpPr>
            <p:spPr bwMode="auto">
              <a:xfrm>
                <a:off x="806" y="1756"/>
                <a:ext cx="23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D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0" name="Rectangle 1002"/>
              <p:cNvSpPr>
                <a:spLocks noChangeArrowheads="1"/>
              </p:cNvSpPr>
              <p:nvPr/>
            </p:nvSpPr>
            <p:spPr bwMode="auto">
              <a:xfrm>
                <a:off x="856" y="1300"/>
                <a:ext cx="664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ko-KR" altLang="en-US" sz="11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저 전압 검출회로</a:t>
                </a:r>
                <a:endParaRPr lang="ko-KR" altLang="en-US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1" name="Rectangle 1003"/>
              <p:cNvSpPr>
                <a:spLocks noChangeArrowheads="1"/>
              </p:cNvSpPr>
              <p:nvPr/>
            </p:nvSpPr>
            <p:spPr bwMode="auto">
              <a:xfrm>
                <a:off x="2532" y="2035"/>
                <a:ext cx="111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VG - 13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2" name="Rectangle 1004"/>
              <p:cNvSpPr>
                <a:spLocks noChangeArrowheads="1"/>
              </p:cNvSpPr>
              <p:nvPr/>
            </p:nvSpPr>
            <p:spPr bwMode="auto">
              <a:xfrm>
                <a:off x="2531" y="2256"/>
                <a:ext cx="111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VG - 14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3" name="Rectangle 1005"/>
              <p:cNvSpPr>
                <a:spLocks noChangeArrowheads="1"/>
              </p:cNvSpPr>
              <p:nvPr/>
            </p:nvSpPr>
            <p:spPr bwMode="auto">
              <a:xfrm>
                <a:off x="1177" y="2174"/>
                <a:ext cx="18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9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4" name="Rectangle 1006"/>
              <p:cNvSpPr>
                <a:spLocks noChangeArrowheads="1"/>
              </p:cNvSpPr>
              <p:nvPr/>
            </p:nvSpPr>
            <p:spPr bwMode="auto">
              <a:xfrm>
                <a:off x="1177" y="2259"/>
                <a:ext cx="18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8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5" name="Rectangle 1007"/>
              <p:cNvSpPr>
                <a:spLocks noChangeArrowheads="1"/>
              </p:cNvSpPr>
              <p:nvPr/>
            </p:nvSpPr>
            <p:spPr bwMode="auto">
              <a:xfrm>
                <a:off x="1388" y="2219"/>
                <a:ext cx="36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14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  <p:sp>
            <p:nvSpPr>
              <p:cNvPr id="3056" name="Freeform 1008"/>
              <p:cNvSpPr>
                <a:spLocks/>
              </p:cNvSpPr>
              <p:nvPr/>
            </p:nvSpPr>
            <p:spPr bwMode="auto">
              <a:xfrm>
                <a:off x="880" y="2308"/>
                <a:ext cx="10" cy="11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1"/>
                  </a:cxn>
                  <a:cxn ang="0">
                    <a:pos x="4" y="0"/>
                  </a:cxn>
                  <a:cxn ang="0">
                    <a:pos x="9" y="1"/>
                  </a:cxn>
                  <a:cxn ang="0">
                    <a:pos x="10" y="6"/>
                  </a:cxn>
                  <a:cxn ang="0">
                    <a:pos x="9" y="9"/>
                  </a:cxn>
                  <a:cxn ang="0">
                    <a:pos x="4" y="11"/>
                  </a:cxn>
                  <a:cxn ang="0">
                    <a:pos x="1" y="9"/>
                  </a:cxn>
                  <a:cxn ang="0">
                    <a:pos x="0" y="6"/>
                  </a:cxn>
                </a:cxnLst>
                <a:rect l="0" t="0" r="r" b="b"/>
                <a:pathLst>
                  <a:path w="10" h="11">
                    <a:moveTo>
                      <a:pt x="0" y="6"/>
                    </a:moveTo>
                    <a:lnTo>
                      <a:pt x="1" y="1"/>
                    </a:lnTo>
                    <a:lnTo>
                      <a:pt x="4" y="0"/>
                    </a:lnTo>
                    <a:lnTo>
                      <a:pt x="9" y="1"/>
                    </a:lnTo>
                    <a:lnTo>
                      <a:pt x="10" y="6"/>
                    </a:lnTo>
                    <a:lnTo>
                      <a:pt x="9" y="9"/>
                    </a:lnTo>
                    <a:lnTo>
                      <a:pt x="4" y="11"/>
                    </a:lnTo>
                    <a:lnTo>
                      <a:pt x="1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57" name="Freeform 1009"/>
              <p:cNvSpPr>
                <a:spLocks/>
              </p:cNvSpPr>
              <p:nvPr/>
            </p:nvSpPr>
            <p:spPr bwMode="auto">
              <a:xfrm>
                <a:off x="760" y="1830"/>
                <a:ext cx="10" cy="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1"/>
                  </a:cxn>
                  <a:cxn ang="0">
                    <a:pos x="6" y="0"/>
                  </a:cxn>
                  <a:cxn ang="0">
                    <a:pos x="9" y="1"/>
                  </a:cxn>
                  <a:cxn ang="0">
                    <a:pos x="10" y="6"/>
                  </a:cxn>
                  <a:cxn ang="0">
                    <a:pos x="9" y="9"/>
                  </a:cxn>
                  <a:cxn ang="0">
                    <a:pos x="6" y="10"/>
                  </a:cxn>
                  <a:cxn ang="0">
                    <a:pos x="1" y="9"/>
                  </a:cxn>
                  <a:cxn ang="0">
                    <a:pos x="0" y="6"/>
                  </a:cxn>
                </a:cxnLst>
                <a:rect l="0" t="0" r="r" b="b"/>
                <a:pathLst>
                  <a:path w="10" h="10">
                    <a:moveTo>
                      <a:pt x="0" y="6"/>
                    </a:moveTo>
                    <a:lnTo>
                      <a:pt x="1" y="1"/>
                    </a:lnTo>
                    <a:lnTo>
                      <a:pt x="6" y="0"/>
                    </a:lnTo>
                    <a:lnTo>
                      <a:pt x="9" y="1"/>
                    </a:lnTo>
                    <a:lnTo>
                      <a:pt x="10" y="6"/>
                    </a:lnTo>
                    <a:lnTo>
                      <a:pt x="9" y="9"/>
                    </a:lnTo>
                    <a:lnTo>
                      <a:pt x="6" y="10"/>
                    </a:lnTo>
                    <a:lnTo>
                      <a:pt x="1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58" name="Freeform 1010"/>
              <p:cNvSpPr>
                <a:spLocks/>
              </p:cNvSpPr>
              <p:nvPr/>
            </p:nvSpPr>
            <p:spPr bwMode="auto">
              <a:xfrm>
                <a:off x="759" y="2426"/>
                <a:ext cx="11" cy="11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" y="1"/>
                  </a:cxn>
                  <a:cxn ang="0">
                    <a:pos x="6" y="0"/>
                  </a:cxn>
                  <a:cxn ang="0">
                    <a:pos x="9" y="1"/>
                  </a:cxn>
                  <a:cxn ang="0">
                    <a:pos x="11" y="5"/>
                  </a:cxn>
                  <a:cxn ang="0">
                    <a:pos x="9" y="9"/>
                  </a:cxn>
                  <a:cxn ang="0">
                    <a:pos x="6" y="11"/>
                  </a:cxn>
                  <a:cxn ang="0">
                    <a:pos x="1" y="9"/>
                  </a:cxn>
                  <a:cxn ang="0">
                    <a:pos x="0" y="5"/>
                  </a:cxn>
                </a:cxnLst>
                <a:rect l="0" t="0" r="r" b="b"/>
                <a:pathLst>
                  <a:path w="11" h="11">
                    <a:moveTo>
                      <a:pt x="0" y="5"/>
                    </a:moveTo>
                    <a:lnTo>
                      <a:pt x="1" y="1"/>
                    </a:lnTo>
                    <a:lnTo>
                      <a:pt x="6" y="0"/>
                    </a:lnTo>
                    <a:lnTo>
                      <a:pt x="9" y="1"/>
                    </a:lnTo>
                    <a:lnTo>
                      <a:pt x="11" y="5"/>
                    </a:lnTo>
                    <a:lnTo>
                      <a:pt x="9" y="9"/>
                    </a:lnTo>
                    <a:lnTo>
                      <a:pt x="6" y="11"/>
                    </a:lnTo>
                    <a:lnTo>
                      <a:pt x="1" y="9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59" name="Freeform 1011"/>
              <p:cNvSpPr>
                <a:spLocks/>
              </p:cNvSpPr>
              <p:nvPr/>
            </p:nvSpPr>
            <p:spPr bwMode="auto">
              <a:xfrm>
                <a:off x="880" y="2425"/>
                <a:ext cx="10" cy="11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" y="2"/>
                  </a:cxn>
                  <a:cxn ang="0">
                    <a:pos x="4" y="0"/>
                  </a:cxn>
                  <a:cxn ang="0">
                    <a:pos x="9" y="2"/>
                  </a:cxn>
                  <a:cxn ang="0">
                    <a:pos x="10" y="5"/>
                  </a:cxn>
                  <a:cxn ang="0">
                    <a:pos x="9" y="10"/>
                  </a:cxn>
                  <a:cxn ang="0">
                    <a:pos x="4" y="11"/>
                  </a:cxn>
                  <a:cxn ang="0">
                    <a:pos x="1" y="10"/>
                  </a:cxn>
                  <a:cxn ang="0">
                    <a:pos x="0" y="5"/>
                  </a:cxn>
                </a:cxnLst>
                <a:rect l="0" t="0" r="r" b="b"/>
                <a:pathLst>
                  <a:path w="10" h="11">
                    <a:moveTo>
                      <a:pt x="0" y="5"/>
                    </a:moveTo>
                    <a:lnTo>
                      <a:pt x="1" y="2"/>
                    </a:lnTo>
                    <a:lnTo>
                      <a:pt x="4" y="0"/>
                    </a:lnTo>
                    <a:lnTo>
                      <a:pt x="9" y="2"/>
                    </a:lnTo>
                    <a:lnTo>
                      <a:pt x="10" y="5"/>
                    </a:lnTo>
                    <a:lnTo>
                      <a:pt x="9" y="10"/>
                    </a:lnTo>
                    <a:lnTo>
                      <a:pt x="4" y="11"/>
                    </a:lnTo>
                    <a:lnTo>
                      <a:pt x="1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0" name="Freeform 1012"/>
              <p:cNvSpPr>
                <a:spLocks/>
              </p:cNvSpPr>
              <p:nvPr/>
            </p:nvSpPr>
            <p:spPr bwMode="auto">
              <a:xfrm>
                <a:off x="1016" y="2308"/>
                <a:ext cx="11" cy="11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1"/>
                  </a:cxn>
                  <a:cxn ang="0">
                    <a:pos x="6" y="0"/>
                  </a:cxn>
                  <a:cxn ang="0">
                    <a:pos x="9" y="1"/>
                  </a:cxn>
                  <a:cxn ang="0">
                    <a:pos x="11" y="6"/>
                  </a:cxn>
                  <a:cxn ang="0">
                    <a:pos x="9" y="9"/>
                  </a:cxn>
                  <a:cxn ang="0">
                    <a:pos x="6" y="11"/>
                  </a:cxn>
                  <a:cxn ang="0">
                    <a:pos x="1" y="9"/>
                  </a:cxn>
                  <a:cxn ang="0">
                    <a:pos x="0" y="6"/>
                  </a:cxn>
                </a:cxnLst>
                <a:rect l="0" t="0" r="r" b="b"/>
                <a:pathLst>
                  <a:path w="11" h="11">
                    <a:moveTo>
                      <a:pt x="0" y="6"/>
                    </a:moveTo>
                    <a:lnTo>
                      <a:pt x="1" y="1"/>
                    </a:lnTo>
                    <a:lnTo>
                      <a:pt x="6" y="0"/>
                    </a:lnTo>
                    <a:lnTo>
                      <a:pt x="9" y="1"/>
                    </a:lnTo>
                    <a:lnTo>
                      <a:pt x="11" y="6"/>
                    </a:lnTo>
                    <a:lnTo>
                      <a:pt x="9" y="9"/>
                    </a:lnTo>
                    <a:lnTo>
                      <a:pt x="6" y="11"/>
                    </a:lnTo>
                    <a:lnTo>
                      <a:pt x="1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1" name="Freeform 1013"/>
              <p:cNvSpPr>
                <a:spLocks/>
              </p:cNvSpPr>
              <p:nvPr/>
            </p:nvSpPr>
            <p:spPr bwMode="auto">
              <a:xfrm>
                <a:off x="1599" y="2052"/>
                <a:ext cx="11" cy="1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3"/>
                  </a:cxn>
                  <a:cxn ang="0">
                    <a:pos x="6" y="0"/>
                  </a:cxn>
                  <a:cxn ang="0">
                    <a:pos x="9" y="3"/>
                  </a:cxn>
                  <a:cxn ang="0">
                    <a:pos x="11" y="6"/>
                  </a:cxn>
                  <a:cxn ang="0">
                    <a:pos x="9" y="11"/>
                  </a:cxn>
                  <a:cxn ang="0">
                    <a:pos x="6" y="12"/>
                  </a:cxn>
                  <a:cxn ang="0">
                    <a:pos x="1" y="11"/>
                  </a:cxn>
                  <a:cxn ang="0">
                    <a:pos x="0" y="6"/>
                  </a:cxn>
                </a:cxnLst>
                <a:rect l="0" t="0" r="r" b="b"/>
                <a:pathLst>
                  <a:path w="11" h="12">
                    <a:moveTo>
                      <a:pt x="0" y="6"/>
                    </a:moveTo>
                    <a:lnTo>
                      <a:pt x="1" y="3"/>
                    </a:lnTo>
                    <a:lnTo>
                      <a:pt x="6" y="0"/>
                    </a:lnTo>
                    <a:lnTo>
                      <a:pt x="9" y="3"/>
                    </a:lnTo>
                    <a:lnTo>
                      <a:pt x="11" y="6"/>
                    </a:lnTo>
                    <a:lnTo>
                      <a:pt x="9" y="11"/>
                    </a:lnTo>
                    <a:lnTo>
                      <a:pt x="6" y="12"/>
                    </a:lnTo>
                    <a:lnTo>
                      <a:pt x="1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2" name="Freeform 1014"/>
              <p:cNvSpPr>
                <a:spLocks/>
              </p:cNvSpPr>
              <p:nvPr/>
            </p:nvSpPr>
            <p:spPr bwMode="auto">
              <a:xfrm>
                <a:off x="1677" y="2052"/>
                <a:ext cx="12" cy="1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2" y="3"/>
                  </a:cxn>
                  <a:cxn ang="0">
                    <a:pos x="6" y="0"/>
                  </a:cxn>
                  <a:cxn ang="0">
                    <a:pos x="10" y="3"/>
                  </a:cxn>
                  <a:cxn ang="0">
                    <a:pos x="12" y="6"/>
                  </a:cxn>
                  <a:cxn ang="0">
                    <a:pos x="10" y="11"/>
                  </a:cxn>
                  <a:cxn ang="0">
                    <a:pos x="6" y="12"/>
                  </a:cxn>
                  <a:cxn ang="0">
                    <a:pos x="2" y="11"/>
                  </a:cxn>
                  <a:cxn ang="0">
                    <a:pos x="0" y="6"/>
                  </a:cxn>
                </a:cxnLst>
                <a:rect l="0" t="0" r="r" b="b"/>
                <a:pathLst>
                  <a:path w="12" h="12">
                    <a:moveTo>
                      <a:pt x="0" y="6"/>
                    </a:moveTo>
                    <a:lnTo>
                      <a:pt x="2" y="3"/>
                    </a:lnTo>
                    <a:lnTo>
                      <a:pt x="6" y="0"/>
                    </a:lnTo>
                    <a:lnTo>
                      <a:pt x="10" y="3"/>
                    </a:lnTo>
                    <a:lnTo>
                      <a:pt x="12" y="6"/>
                    </a:lnTo>
                    <a:lnTo>
                      <a:pt x="10" y="11"/>
                    </a:lnTo>
                    <a:lnTo>
                      <a:pt x="6" y="12"/>
                    </a:lnTo>
                    <a:lnTo>
                      <a:pt x="2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3" name="Freeform 1015"/>
              <p:cNvSpPr>
                <a:spLocks/>
              </p:cNvSpPr>
              <p:nvPr/>
            </p:nvSpPr>
            <p:spPr bwMode="auto">
              <a:xfrm>
                <a:off x="1754" y="2052"/>
                <a:ext cx="11" cy="1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3"/>
                  </a:cxn>
                  <a:cxn ang="0">
                    <a:pos x="6" y="0"/>
                  </a:cxn>
                  <a:cxn ang="0">
                    <a:pos x="10" y="3"/>
                  </a:cxn>
                  <a:cxn ang="0">
                    <a:pos x="11" y="6"/>
                  </a:cxn>
                  <a:cxn ang="0">
                    <a:pos x="10" y="11"/>
                  </a:cxn>
                  <a:cxn ang="0">
                    <a:pos x="6" y="12"/>
                  </a:cxn>
                  <a:cxn ang="0">
                    <a:pos x="1" y="11"/>
                  </a:cxn>
                  <a:cxn ang="0">
                    <a:pos x="0" y="6"/>
                  </a:cxn>
                </a:cxnLst>
                <a:rect l="0" t="0" r="r" b="b"/>
                <a:pathLst>
                  <a:path w="11" h="12">
                    <a:moveTo>
                      <a:pt x="0" y="6"/>
                    </a:moveTo>
                    <a:lnTo>
                      <a:pt x="1" y="3"/>
                    </a:lnTo>
                    <a:lnTo>
                      <a:pt x="6" y="0"/>
                    </a:lnTo>
                    <a:lnTo>
                      <a:pt x="10" y="3"/>
                    </a:lnTo>
                    <a:lnTo>
                      <a:pt x="11" y="6"/>
                    </a:lnTo>
                    <a:lnTo>
                      <a:pt x="10" y="11"/>
                    </a:lnTo>
                    <a:lnTo>
                      <a:pt x="6" y="12"/>
                    </a:lnTo>
                    <a:lnTo>
                      <a:pt x="1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4" name="Freeform 1016"/>
              <p:cNvSpPr>
                <a:spLocks/>
              </p:cNvSpPr>
              <p:nvPr/>
            </p:nvSpPr>
            <p:spPr bwMode="auto">
              <a:xfrm>
                <a:off x="1599" y="2267"/>
                <a:ext cx="11" cy="11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" y="2"/>
                  </a:cxn>
                  <a:cxn ang="0">
                    <a:pos x="6" y="0"/>
                  </a:cxn>
                  <a:cxn ang="0">
                    <a:pos x="9" y="2"/>
                  </a:cxn>
                  <a:cxn ang="0">
                    <a:pos x="11" y="5"/>
                  </a:cxn>
                  <a:cxn ang="0">
                    <a:pos x="9" y="10"/>
                  </a:cxn>
                  <a:cxn ang="0">
                    <a:pos x="6" y="11"/>
                  </a:cxn>
                  <a:cxn ang="0">
                    <a:pos x="1" y="10"/>
                  </a:cxn>
                  <a:cxn ang="0">
                    <a:pos x="0" y="5"/>
                  </a:cxn>
                </a:cxnLst>
                <a:rect l="0" t="0" r="r" b="b"/>
                <a:pathLst>
                  <a:path w="11" h="11">
                    <a:moveTo>
                      <a:pt x="0" y="5"/>
                    </a:moveTo>
                    <a:lnTo>
                      <a:pt x="1" y="2"/>
                    </a:lnTo>
                    <a:lnTo>
                      <a:pt x="6" y="0"/>
                    </a:lnTo>
                    <a:lnTo>
                      <a:pt x="9" y="2"/>
                    </a:lnTo>
                    <a:lnTo>
                      <a:pt x="11" y="5"/>
                    </a:lnTo>
                    <a:lnTo>
                      <a:pt x="9" y="10"/>
                    </a:lnTo>
                    <a:lnTo>
                      <a:pt x="6" y="11"/>
                    </a:lnTo>
                    <a:lnTo>
                      <a:pt x="1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5" name="Freeform 1017"/>
              <p:cNvSpPr>
                <a:spLocks/>
              </p:cNvSpPr>
              <p:nvPr/>
            </p:nvSpPr>
            <p:spPr bwMode="auto">
              <a:xfrm>
                <a:off x="1677" y="2267"/>
                <a:ext cx="12" cy="11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10" y="2"/>
                  </a:cxn>
                  <a:cxn ang="0">
                    <a:pos x="12" y="5"/>
                  </a:cxn>
                  <a:cxn ang="0">
                    <a:pos x="10" y="10"/>
                  </a:cxn>
                  <a:cxn ang="0">
                    <a:pos x="6" y="11"/>
                  </a:cxn>
                  <a:cxn ang="0">
                    <a:pos x="2" y="10"/>
                  </a:cxn>
                  <a:cxn ang="0">
                    <a:pos x="0" y="5"/>
                  </a:cxn>
                </a:cxnLst>
                <a:rect l="0" t="0" r="r" b="b"/>
                <a:pathLst>
                  <a:path w="12" h="11">
                    <a:moveTo>
                      <a:pt x="0" y="5"/>
                    </a:moveTo>
                    <a:lnTo>
                      <a:pt x="2" y="2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2" y="5"/>
                    </a:lnTo>
                    <a:lnTo>
                      <a:pt x="10" y="10"/>
                    </a:lnTo>
                    <a:lnTo>
                      <a:pt x="6" y="11"/>
                    </a:lnTo>
                    <a:lnTo>
                      <a:pt x="2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6" name="Freeform 1018"/>
              <p:cNvSpPr>
                <a:spLocks/>
              </p:cNvSpPr>
              <p:nvPr/>
            </p:nvSpPr>
            <p:spPr bwMode="auto">
              <a:xfrm>
                <a:off x="1754" y="2267"/>
                <a:ext cx="11" cy="11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" y="2"/>
                  </a:cxn>
                  <a:cxn ang="0">
                    <a:pos x="6" y="0"/>
                  </a:cxn>
                  <a:cxn ang="0">
                    <a:pos x="10" y="2"/>
                  </a:cxn>
                  <a:cxn ang="0">
                    <a:pos x="11" y="5"/>
                  </a:cxn>
                  <a:cxn ang="0">
                    <a:pos x="10" y="10"/>
                  </a:cxn>
                  <a:cxn ang="0">
                    <a:pos x="6" y="11"/>
                  </a:cxn>
                  <a:cxn ang="0">
                    <a:pos x="1" y="10"/>
                  </a:cxn>
                  <a:cxn ang="0">
                    <a:pos x="0" y="5"/>
                  </a:cxn>
                </a:cxnLst>
                <a:rect l="0" t="0" r="r" b="b"/>
                <a:pathLst>
                  <a:path w="11" h="11">
                    <a:moveTo>
                      <a:pt x="0" y="5"/>
                    </a:moveTo>
                    <a:lnTo>
                      <a:pt x="1" y="2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1" y="5"/>
                    </a:lnTo>
                    <a:lnTo>
                      <a:pt x="10" y="10"/>
                    </a:lnTo>
                    <a:lnTo>
                      <a:pt x="6" y="11"/>
                    </a:lnTo>
                    <a:lnTo>
                      <a:pt x="1" y="1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7" name="Freeform 1019"/>
              <p:cNvSpPr>
                <a:spLocks/>
              </p:cNvSpPr>
              <p:nvPr/>
            </p:nvSpPr>
            <p:spPr bwMode="auto">
              <a:xfrm>
                <a:off x="2056" y="2052"/>
                <a:ext cx="12" cy="1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3"/>
                  </a:cxn>
                  <a:cxn ang="0">
                    <a:pos x="6" y="0"/>
                  </a:cxn>
                  <a:cxn ang="0">
                    <a:pos x="9" y="3"/>
                  </a:cxn>
                  <a:cxn ang="0">
                    <a:pos x="12" y="6"/>
                  </a:cxn>
                  <a:cxn ang="0">
                    <a:pos x="9" y="11"/>
                  </a:cxn>
                  <a:cxn ang="0">
                    <a:pos x="6" y="12"/>
                  </a:cxn>
                  <a:cxn ang="0">
                    <a:pos x="1" y="11"/>
                  </a:cxn>
                  <a:cxn ang="0">
                    <a:pos x="0" y="6"/>
                  </a:cxn>
                </a:cxnLst>
                <a:rect l="0" t="0" r="r" b="b"/>
                <a:pathLst>
                  <a:path w="12" h="12">
                    <a:moveTo>
                      <a:pt x="0" y="6"/>
                    </a:moveTo>
                    <a:lnTo>
                      <a:pt x="1" y="3"/>
                    </a:lnTo>
                    <a:lnTo>
                      <a:pt x="6" y="0"/>
                    </a:lnTo>
                    <a:lnTo>
                      <a:pt x="9" y="3"/>
                    </a:lnTo>
                    <a:lnTo>
                      <a:pt x="12" y="6"/>
                    </a:lnTo>
                    <a:lnTo>
                      <a:pt x="9" y="11"/>
                    </a:lnTo>
                    <a:lnTo>
                      <a:pt x="6" y="12"/>
                    </a:lnTo>
                    <a:lnTo>
                      <a:pt x="1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8" name="Freeform 1020"/>
              <p:cNvSpPr>
                <a:spLocks/>
              </p:cNvSpPr>
              <p:nvPr/>
            </p:nvSpPr>
            <p:spPr bwMode="auto">
              <a:xfrm>
                <a:off x="2145" y="2052"/>
                <a:ext cx="11" cy="1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3"/>
                  </a:cxn>
                  <a:cxn ang="0">
                    <a:pos x="6" y="0"/>
                  </a:cxn>
                  <a:cxn ang="0">
                    <a:pos x="9" y="3"/>
                  </a:cxn>
                  <a:cxn ang="0">
                    <a:pos x="11" y="6"/>
                  </a:cxn>
                  <a:cxn ang="0">
                    <a:pos x="9" y="11"/>
                  </a:cxn>
                  <a:cxn ang="0">
                    <a:pos x="6" y="12"/>
                  </a:cxn>
                  <a:cxn ang="0">
                    <a:pos x="1" y="11"/>
                  </a:cxn>
                  <a:cxn ang="0">
                    <a:pos x="0" y="6"/>
                  </a:cxn>
                </a:cxnLst>
                <a:rect l="0" t="0" r="r" b="b"/>
                <a:pathLst>
                  <a:path w="11" h="12">
                    <a:moveTo>
                      <a:pt x="0" y="6"/>
                    </a:moveTo>
                    <a:lnTo>
                      <a:pt x="1" y="3"/>
                    </a:lnTo>
                    <a:lnTo>
                      <a:pt x="6" y="0"/>
                    </a:lnTo>
                    <a:lnTo>
                      <a:pt x="9" y="3"/>
                    </a:lnTo>
                    <a:lnTo>
                      <a:pt x="11" y="6"/>
                    </a:lnTo>
                    <a:lnTo>
                      <a:pt x="9" y="11"/>
                    </a:lnTo>
                    <a:lnTo>
                      <a:pt x="6" y="12"/>
                    </a:lnTo>
                    <a:lnTo>
                      <a:pt x="1" y="1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69" name="Freeform 1021"/>
              <p:cNvSpPr>
                <a:spLocks/>
              </p:cNvSpPr>
              <p:nvPr/>
            </p:nvSpPr>
            <p:spPr bwMode="auto">
              <a:xfrm>
                <a:off x="2056" y="2268"/>
                <a:ext cx="12" cy="11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1"/>
                  </a:cxn>
                  <a:cxn ang="0">
                    <a:pos x="6" y="0"/>
                  </a:cxn>
                  <a:cxn ang="0">
                    <a:pos x="9" y="1"/>
                  </a:cxn>
                  <a:cxn ang="0">
                    <a:pos x="12" y="6"/>
                  </a:cxn>
                  <a:cxn ang="0">
                    <a:pos x="9" y="9"/>
                  </a:cxn>
                  <a:cxn ang="0">
                    <a:pos x="6" y="11"/>
                  </a:cxn>
                  <a:cxn ang="0">
                    <a:pos x="1" y="9"/>
                  </a:cxn>
                  <a:cxn ang="0">
                    <a:pos x="0" y="6"/>
                  </a:cxn>
                </a:cxnLst>
                <a:rect l="0" t="0" r="r" b="b"/>
                <a:pathLst>
                  <a:path w="12" h="11">
                    <a:moveTo>
                      <a:pt x="0" y="6"/>
                    </a:moveTo>
                    <a:lnTo>
                      <a:pt x="1" y="1"/>
                    </a:lnTo>
                    <a:lnTo>
                      <a:pt x="6" y="0"/>
                    </a:lnTo>
                    <a:lnTo>
                      <a:pt x="9" y="1"/>
                    </a:lnTo>
                    <a:lnTo>
                      <a:pt x="12" y="6"/>
                    </a:lnTo>
                    <a:lnTo>
                      <a:pt x="9" y="9"/>
                    </a:lnTo>
                    <a:lnTo>
                      <a:pt x="6" y="11"/>
                    </a:lnTo>
                    <a:lnTo>
                      <a:pt x="1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70" name="Freeform 1022"/>
              <p:cNvSpPr>
                <a:spLocks/>
              </p:cNvSpPr>
              <p:nvPr/>
            </p:nvSpPr>
            <p:spPr bwMode="auto">
              <a:xfrm>
                <a:off x="2145" y="2268"/>
                <a:ext cx="11" cy="11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" y="1"/>
                  </a:cxn>
                  <a:cxn ang="0">
                    <a:pos x="6" y="0"/>
                  </a:cxn>
                  <a:cxn ang="0">
                    <a:pos x="9" y="1"/>
                  </a:cxn>
                  <a:cxn ang="0">
                    <a:pos x="11" y="6"/>
                  </a:cxn>
                  <a:cxn ang="0">
                    <a:pos x="9" y="9"/>
                  </a:cxn>
                  <a:cxn ang="0">
                    <a:pos x="6" y="11"/>
                  </a:cxn>
                  <a:cxn ang="0">
                    <a:pos x="1" y="9"/>
                  </a:cxn>
                  <a:cxn ang="0">
                    <a:pos x="0" y="6"/>
                  </a:cxn>
                </a:cxnLst>
                <a:rect l="0" t="0" r="r" b="b"/>
                <a:pathLst>
                  <a:path w="11" h="11">
                    <a:moveTo>
                      <a:pt x="0" y="6"/>
                    </a:moveTo>
                    <a:lnTo>
                      <a:pt x="1" y="1"/>
                    </a:lnTo>
                    <a:lnTo>
                      <a:pt x="6" y="0"/>
                    </a:lnTo>
                    <a:lnTo>
                      <a:pt x="9" y="1"/>
                    </a:lnTo>
                    <a:lnTo>
                      <a:pt x="11" y="6"/>
                    </a:lnTo>
                    <a:lnTo>
                      <a:pt x="9" y="9"/>
                    </a:lnTo>
                    <a:lnTo>
                      <a:pt x="6" y="11"/>
                    </a:lnTo>
                    <a:lnTo>
                      <a:pt x="1" y="9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1A1A1A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71" name="Line 1023"/>
              <p:cNvSpPr>
                <a:spLocks noChangeShapeType="1"/>
              </p:cNvSpPr>
              <p:nvPr/>
            </p:nvSpPr>
            <p:spPr bwMode="auto">
              <a:xfrm flipH="1">
                <a:off x="2094" y="1695"/>
                <a:ext cx="340" cy="33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72" name="Freeform 1024"/>
              <p:cNvSpPr>
                <a:spLocks/>
              </p:cNvSpPr>
              <p:nvPr/>
            </p:nvSpPr>
            <p:spPr bwMode="auto">
              <a:xfrm>
                <a:off x="2078" y="2017"/>
                <a:ext cx="28" cy="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0" y="27"/>
                  </a:cxn>
                  <a:cxn ang="0">
                    <a:pos x="28" y="18"/>
                  </a:cxn>
                  <a:cxn ang="0">
                    <a:pos x="9" y="0"/>
                  </a:cxn>
                </a:cxnLst>
                <a:rect l="0" t="0" r="r" b="b"/>
                <a:pathLst>
                  <a:path w="28" h="27">
                    <a:moveTo>
                      <a:pt x="9" y="0"/>
                    </a:moveTo>
                    <a:lnTo>
                      <a:pt x="0" y="27"/>
                    </a:lnTo>
                    <a:lnTo>
                      <a:pt x="28" y="1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073" name="Rectangle 1025"/>
              <p:cNvSpPr>
                <a:spLocks noChangeArrowheads="1"/>
              </p:cNvSpPr>
              <p:nvPr/>
            </p:nvSpPr>
            <p:spPr bwMode="auto">
              <a:xfrm>
                <a:off x="2496" y="1647"/>
                <a:ext cx="239" cy="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873125"/>
                <a:r>
                  <a:rPr lang="ko-KR" altLang="en-US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정상시 </a:t>
                </a:r>
                <a:r>
                  <a:rPr lang="en-US" altLang="ko-KR" sz="400">
                    <a:solidFill>
                      <a:srgbClr val="000000"/>
                    </a:solidFill>
                    <a:latin typeface="Arial" charset="0"/>
                    <a:ea typeface="굴림체" pitchFamily="49" charset="-127"/>
                  </a:rPr>
                  <a:t>LOW(0V)</a:t>
                </a:r>
                <a:endParaRPr lang="en-US" altLang="ko-KR" sz="2300">
                  <a:latin typeface="Arial" charset="0"/>
                  <a:ea typeface="굴림체" pitchFamily="49" charset="-127"/>
                </a:endParaRPr>
              </a:p>
            </p:txBody>
          </p:sp>
        </p:grpSp>
        <p:sp>
          <p:nvSpPr>
            <p:cNvPr id="3074" name="Rectangle 1026"/>
            <p:cNvSpPr>
              <a:spLocks noChangeArrowheads="1"/>
            </p:cNvSpPr>
            <p:nvPr/>
          </p:nvSpPr>
          <p:spPr bwMode="auto">
            <a:xfrm>
              <a:off x="2529" y="1549"/>
              <a:ext cx="264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이상시 </a:t>
              </a:r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HIGH(15V)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3075" name="Rectangle 1027"/>
            <p:cNvSpPr>
              <a:spLocks noChangeArrowheads="1"/>
            </p:cNvSpPr>
            <p:nvPr/>
          </p:nvSpPr>
          <p:spPr bwMode="auto">
            <a:xfrm>
              <a:off x="1212" y="2641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76" name="Rectangle 1028"/>
            <p:cNvSpPr>
              <a:spLocks noChangeArrowheads="1"/>
            </p:cNvSpPr>
            <p:nvPr/>
          </p:nvSpPr>
          <p:spPr bwMode="auto">
            <a:xfrm>
              <a:off x="1233" y="2640"/>
              <a:ext cx="384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VDC(+) </a:t>
              </a:r>
            </a:p>
            <a:p>
              <a:pPr algn="ctr"/>
              <a:r>
                <a:rPr lang="ko-KR" altLang="en-US" sz="600">
                  <a:solidFill>
                    <a:srgbClr val="000000"/>
                  </a:solidFill>
                  <a:latin typeface="굴림" charset="-127"/>
                </a:rPr>
                <a:t>콘넥터명</a:t>
              </a:r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, </a:t>
              </a:r>
              <a:r>
                <a:rPr lang="ko-KR" altLang="en-US" sz="600">
                  <a:solidFill>
                    <a:srgbClr val="000000"/>
                  </a:solidFill>
                  <a:latin typeface="굴림" charset="-127"/>
                </a:rPr>
                <a:t>위치</a:t>
              </a:r>
              <a:endParaRPr lang="ko-KR" altLang="en-US"/>
            </a:p>
          </p:txBody>
        </p:sp>
        <p:sp>
          <p:nvSpPr>
            <p:cNvPr id="3077" name="Rectangle 1029"/>
            <p:cNvSpPr>
              <a:spLocks noChangeArrowheads="1"/>
            </p:cNvSpPr>
            <p:nvPr/>
          </p:nvSpPr>
          <p:spPr bwMode="auto">
            <a:xfrm>
              <a:off x="1617" y="2641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78" name="Rectangle 1030"/>
            <p:cNvSpPr>
              <a:spLocks noChangeArrowheads="1"/>
            </p:cNvSpPr>
            <p:nvPr/>
          </p:nvSpPr>
          <p:spPr bwMode="auto">
            <a:xfrm>
              <a:off x="1638" y="2640"/>
              <a:ext cx="384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VDC(-) </a:t>
              </a:r>
            </a:p>
            <a:p>
              <a:pPr algn="ctr"/>
              <a:r>
                <a:rPr lang="ko-KR" altLang="en-US" sz="600">
                  <a:solidFill>
                    <a:srgbClr val="000000"/>
                  </a:solidFill>
                  <a:latin typeface="굴림" charset="-127"/>
                </a:rPr>
                <a:t>콘넥터명</a:t>
              </a:r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, </a:t>
              </a:r>
              <a:r>
                <a:rPr lang="ko-KR" altLang="en-US" sz="600">
                  <a:solidFill>
                    <a:srgbClr val="000000"/>
                  </a:solidFill>
                  <a:latin typeface="굴림" charset="-127"/>
                </a:rPr>
                <a:t>위치</a:t>
              </a:r>
              <a:endParaRPr lang="ko-KR" altLang="en-US"/>
            </a:p>
          </p:txBody>
        </p:sp>
        <p:sp>
          <p:nvSpPr>
            <p:cNvPr id="3079" name="Rectangle 1031"/>
            <p:cNvSpPr>
              <a:spLocks noChangeArrowheads="1"/>
            </p:cNvSpPr>
            <p:nvPr/>
          </p:nvSpPr>
          <p:spPr bwMode="auto">
            <a:xfrm>
              <a:off x="801" y="2641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0" name="Rectangle 1032"/>
            <p:cNvSpPr>
              <a:spLocks noChangeArrowheads="1"/>
            </p:cNvSpPr>
            <p:nvPr/>
          </p:nvSpPr>
          <p:spPr bwMode="auto">
            <a:xfrm>
              <a:off x="801" y="2664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B/D</a:t>
              </a:r>
              <a:r>
                <a:rPr lang="ko-KR" altLang="en-US" sz="600">
                  <a:solidFill>
                    <a:srgbClr val="000000"/>
                  </a:solidFill>
                  <a:latin typeface="굴림" charset="-127"/>
                </a:rPr>
                <a:t>명</a:t>
              </a:r>
              <a:endParaRPr lang="ko-KR" altLang="en-US"/>
            </a:p>
          </p:txBody>
        </p:sp>
        <p:sp>
          <p:nvSpPr>
            <p:cNvPr id="3081" name="Rectangle 1033"/>
            <p:cNvSpPr>
              <a:spLocks noChangeArrowheads="1"/>
            </p:cNvSpPr>
            <p:nvPr/>
          </p:nvSpPr>
          <p:spPr bwMode="auto">
            <a:xfrm>
              <a:off x="1212" y="2761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2" name="Rectangle 1034"/>
            <p:cNvSpPr>
              <a:spLocks noChangeArrowheads="1"/>
            </p:cNvSpPr>
            <p:nvPr/>
          </p:nvSpPr>
          <p:spPr bwMode="auto">
            <a:xfrm>
              <a:off x="1617" y="2761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3" name="Rectangle 1035"/>
            <p:cNvSpPr>
              <a:spLocks noChangeArrowheads="1"/>
            </p:cNvSpPr>
            <p:nvPr/>
          </p:nvSpPr>
          <p:spPr bwMode="auto">
            <a:xfrm>
              <a:off x="801" y="2761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4" name="Rectangle 1036"/>
            <p:cNvSpPr>
              <a:spLocks noChangeArrowheads="1"/>
            </p:cNvSpPr>
            <p:nvPr/>
          </p:nvSpPr>
          <p:spPr bwMode="auto">
            <a:xfrm>
              <a:off x="801" y="2784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DPP-12X</a:t>
              </a:r>
              <a:endParaRPr lang="en-US" altLang="ko-KR"/>
            </a:p>
          </p:txBody>
        </p:sp>
        <p:sp>
          <p:nvSpPr>
            <p:cNvPr id="3085" name="Rectangle 1037"/>
            <p:cNvSpPr>
              <a:spLocks noChangeArrowheads="1"/>
            </p:cNvSpPr>
            <p:nvPr/>
          </p:nvSpPr>
          <p:spPr bwMode="auto">
            <a:xfrm>
              <a:off x="1212" y="2881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6" name="Rectangle 1038"/>
            <p:cNvSpPr>
              <a:spLocks noChangeArrowheads="1"/>
            </p:cNvSpPr>
            <p:nvPr/>
          </p:nvSpPr>
          <p:spPr bwMode="auto">
            <a:xfrm>
              <a:off x="1617" y="2881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7" name="Rectangle 1039"/>
            <p:cNvSpPr>
              <a:spLocks noChangeArrowheads="1"/>
            </p:cNvSpPr>
            <p:nvPr/>
          </p:nvSpPr>
          <p:spPr bwMode="auto">
            <a:xfrm>
              <a:off x="801" y="2881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8" name="Rectangle 1040"/>
            <p:cNvSpPr>
              <a:spLocks noChangeArrowheads="1"/>
            </p:cNvSpPr>
            <p:nvPr/>
          </p:nvSpPr>
          <p:spPr bwMode="auto">
            <a:xfrm>
              <a:off x="801" y="2904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DPP-13X</a:t>
              </a:r>
              <a:endParaRPr lang="en-US" altLang="ko-KR"/>
            </a:p>
          </p:txBody>
        </p:sp>
        <p:sp>
          <p:nvSpPr>
            <p:cNvPr id="3089" name="Rectangle 1041"/>
            <p:cNvSpPr>
              <a:spLocks noChangeArrowheads="1"/>
            </p:cNvSpPr>
            <p:nvPr/>
          </p:nvSpPr>
          <p:spPr bwMode="auto">
            <a:xfrm>
              <a:off x="1212" y="300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0" name="Rectangle 1042"/>
            <p:cNvSpPr>
              <a:spLocks noChangeArrowheads="1"/>
            </p:cNvSpPr>
            <p:nvPr/>
          </p:nvSpPr>
          <p:spPr bwMode="auto">
            <a:xfrm>
              <a:off x="1233" y="3052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GW-03</a:t>
              </a:r>
              <a:endParaRPr lang="en-US" altLang="ko-KR"/>
            </a:p>
          </p:txBody>
        </p:sp>
        <p:sp>
          <p:nvSpPr>
            <p:cNvPr id="3091" name="Rectangle 1043"/>
            <p:cNvSpPr>
              <a:spLocks noChangeArrowheads="1"/>
            </p:cNvSpPr>
            <p:nvPr/>
          </p:nvSpPr>
          <p:spPr bwMode="auto">
            <a:xfrm>
              <a:off x="1617" y="300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2" name="Rectangle 1044"/>
            <p:cNvSpPr>
              <a:spLocks noChangeArrowheads="1"/>
            </p:cNvSpPr>
            <p:nvPr/>
          </p:nvSpPr>
          <p:spPr bwMode="auto">
            <a:xfrm>
              <a:off x="801" y="3005"/>
              <a:ext cx="411" cy="12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3" name="Rectangle 1045"/>
            <p:cNvSpPr>
              <a:spLocks noChangeArrowheads="1"/>
            </p:cNvSpPr>
            <p:nvPr/>
          </p:nvSpPr>
          <p:spPr bwMode="auto">
            <a:xfrm>
              <a:off x="801" y="3028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>
                  <a:solidFill>
                    <a:srgbClr val="000000"/>
                  </a:solidFill>
                  <a:latin typeface="굴림" charset="-127"/>
                </a:rPr>
                <a:t>DPP-101</a:t>
              </a:r>
              <a:endParaRPr lang="en-US" altLang="ko-KR"/>
            </a:p>
          </p:txBody>
        </p:sp>
        <p:sp>
          <p:nvSpPr>
            <p:cNvPr id="3094" name="Rectangle 1046"/>
            <p:cNvSpPr>
              <a:spLocks noChangeArrowheads="1"/>
            </p:cNvSpPr>
            <p:nvPr/>
          </p:nvSpPr>
          <p:spPr bwMode="auto">
            <a:xfrm>
              <a:off x="1617" y="3052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GP-09</a:t>
              </a:r>
              <a:endParaRPr lang="en-US" altLang="ko-KR"/>
            </a:p>
          </p:txBody>
        </p:sp>
        <p:sp>
          <p:nvSpPr>
            <p:cNvPr id="3095" name="Rectangle 1047"/>
            <p:cNvSpPr>
              <a:spLocks noChangeArrowheads="1"/>
            </p:cNvSpPr>
            <p:nvPr/>
          </p:nvSpPr>
          <p:spPr bwMode="auto">
            <a:xfrm>
              <a:off x="1233" y="2812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GP-01</a:t>
              </a:r>
              <a:endParaRPr lang="en-US" altLang="ko-KR"/>
            </a:p>
          </p:txBody>
        </p:sp>
        <p:sp>
          <p:nvSpPr>
            <p:cNvPr id="3096" name="Rectangle 1048"/>
            <p:cNvSpPr>
              <a:spLocks noChangeArrowheads="1"/>
            </p:cNvSpPr>
            <p:nvPr/>
          </p:nvSpPr>
          <p:spPr bwMode="auto">
            <a:xfrm>
              <a:off x="1617" y="2812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GP-03</a:t>
              </a:r>
              <a:endParaRPr lang="en-US" altLang="ko-KR"/>
            </a:p>
          </p:txBody>
        </p:sp>
        <p:sp>
          <p:nvSpPr>
            <p:cNvPr id="3097" name="Rectangle 1049"/>
            <p:cNvSpPr>
              <a:spLocks noChangeArrowheads="1"/>
            </p:cNvSpPr>
            <p:nvPr/>
          </p:nvSpPr>
          <p:spPr bwMode="auto">
            <a:xfrm>
              <a:off x="1233" y="2924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GP-01</a:t>
              </a:r>
              <a:endParaRPr lang="en-US" altLang="ko-KR"/>
            </a:p>
          </p:txBody>
        </p:sp>
        <p:sp>
          <p:nvSpPr>
            <p:cNvPr id="3098" name="Rectangle 1050"/>
            <p:cNvSpPr>
              <a:spLocks noChangeArrowheads="1"/>
            </p:cNvSpPr>
            <p:nvPr/>
          </p:nvSpPr>
          <p:spPr bwMode="auto">
            <a:xfrm>
              <a:off x="1621" y="2932"/>
              <a:ext cx="384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ko-KR" sz="600"/>
                <a:t>GP-02</a:t>
              </a:r>
              <a:endParaRPr lang="en-US" altLang="ko-KR"/>
            </a:p>
          </p:txBody>
        </p:sp>
      </p:grpSp>
      <p:sp>
        <p:nvSpPr>
          <p:cNvPr id="3099" name="Rectangle 1051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52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역주행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[ER_INV_REVERSE_RUN]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40386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실제 모터의 운전방향과 지령치가 반대일 경우 검출함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00013" y="1841500"/>
            <a:ext cx="4548187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모터가 기동한 후 모터 실제속도가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16 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이상일 경우 모터 운전방향과 지령치가 실제모터의 회전방향을 비교하여 반대인 경우에 에러를 검출함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모터가 움직이는 경우만 검출하고 검출주기는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 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임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143000"/>
            <a:ext cx="3902075" cy="447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 샤프트에 취부된 엔코더와 제어반의 결선 확인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인버터 스택쪽의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HALL-CT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상에 순서대로</a:t>
            </a:r>
          </a:p>
          <a:p>
            <a:pPr defTabSz="873125" latinLnBrk="0">
              <a:lnSpc>
                <a:spcPct val="125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관통했는지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HALL-CT TURN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수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(INV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과전류의 도표참조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인버터 스택에서 모터단자까지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결선순서 확인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VA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결선 확인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DPP-101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GXU,GXV,GXW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와의 결선 확인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DPP-12X. 13X 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GU,GV,GW, GX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과의</a:t>
            </a:r>
          </a:p>
          <a:p>
            <a:pPr defTabSz="873125" latinLnBrk="0">
              <a:lnSpc>
                <a:spcPct val="125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결선확인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인버터 스택의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IPM, IGBT(U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+,U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</a:p>
          <a:p>
            <a:pPr defTabSz="873125" latinLnBrk="0">
              <a:lnSpc>
                <a:spcPct val="125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정상적으로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TURN ON,TURN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전류가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12X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도의  위상차를 가진 정현 파인지를 확인 할 것</a:t>
            </a:r>
          </a:p>
          <a:p>
            <a:pPr defTabSz="873125" latinLnBrk="0">
              <a:lnSpc>
                <a:spcPct val="125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체크핀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(CHK) 3,4,5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핀을 스코프등을 사용하여 </a:t>
            </a:r>
          </a:p>
          <a:p>
            <a:pPr defTabSz="873125" latinLnBrk="0">
              <a:lnSpc>
                <a:spcPct val="125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측정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 V, 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전류가 일그러짐 없는 정현파인지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스택교체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 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DPP-1XX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엔코더의 정역 배치를 확인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엔코더의 단선 여부를 확인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(TCD 92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조치사항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엔코더의 배선 상태가 양호한지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>
              <a:lnSpc>
                <a:spcPct val="12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14. HALL-CT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25000"/>
              </a:lnSpc>
            </a:pP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2576513" y="1882775"/>
            <a:ext cx="228600" cy="80645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53</a:t>
            </a: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충전회로 이상 검출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[ER_INV_CHARGE]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4038600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충전회로 이상 검출은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S/W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적으로 검출한다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eaLnBrk="0" latinLnBrk="0" hangingPunct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DC LINK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 초기 충전 시 돌입전류를 제한하여 콘덴서 및 파워소자를 보호하는 충전회로에 이상이 발생</a:t>
            </a:r>
            <a:endParaRPr lang="ko-KR" altLang="en-US" sz="900" b="1">
              <a:latin typeface="Arial" charset="0"/>
              <a:ea typeface="굴림체" pitchFamily="49" charset="-127"/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3902075" cy="252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DC LINK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저 전압 고장 참고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DPC-1XX(INV)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VC, DPP-1XX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GW, GP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연결상태 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결선 체크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[C1VD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있는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]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제어반 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RCRR, RCRS, RCRT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저항 결선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DC-LINK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SHORT CHECK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(DC LINK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전압이 완전히 방전하여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소등함을 확인한 후 실시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). 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SHORT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STACK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불량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(POWER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소자 검사 및 교체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52400" y="3810000"/>
            <a:ext cx="4648200" cy="146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 b="1">
                <a:latin typeface="Arial" charset="0"/>
                <a:ea typeface="굴림체" pitchFamily="49" charset="-127"/>
              </a:rPr>
              <a:t>C1VD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가 있는 경우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: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C1VD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PICK UP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되면 충전저항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RCRR, RCRS,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통해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LINK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전압이 충전된다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C1VD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콘택터가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PICK UP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초뒤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LINK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전압을 검사하여 저전압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(DC 330V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검출되면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C1VD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콘택터를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DROP OUT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시킨 후 다시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PICK UP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초를 다시 기다린다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그래도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LINK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전압이 충전되지 않으면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DROP OUT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하고 운전불능상태가 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LINK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저전압 고장을 참조한다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  <a:endParaRPr lang="en-US" altLang="ko-KR" sz="900">
              <a:latin typeface="Arial" charset="0"/>
              <a:ea typeface="굴림체" pitchFamily="49" charset="-127"/>
            </a:endParaRPr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 flipH="1">
            <a:off x="3513138" y="2039938"/>
            <a:ext cx="557212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3757613" y="2212975"/>
            <a:ext cx="150812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72" name="Freeform 24"/>
          <p:cNvSpPr>
            <a:spLocks/>
          </p:cNvSpPr>
          <p:nvPr/>
        </p:nvSpPr>
        <p:spPr bwMode="auto">
          <a:xfrm>
            <a:off x="3756025" y="2257425"/>
            <a:ext cx="152400" cy="17463"/>
          </a:xfrm>
          <a:custGeom>
            <a:avLst/>
            <a:gdLst/>
            <a:ahLst/>
            <a:cxnLst>
              <a:cxn ang="0">
                <a:pos x="0" y="11"/>
              </a:cxn>
              <a:cxn ang="0">
                <a:pos x="19" y="3"/>
              </a:cxn>
              <a:cxn ang="0">
                <a:pos x="38" y="0"/>
              </a:cxn>
              <a:cxn ang="0">
                <a:pos x="58" y="0"/>
              </a:cxn>
              <a:cxn ang="0">
                <a:pos x="77" y="3"/>
              </a:cxn>
              <a:cxn ang="0">
                <a:pos x="96" y="11"/>
              </a:cxn>
            </a:cxnLst>
            <a:rect l="0" t="0" r="r" b="b"/>
            <a:pathLst>
              <a:path w="96" h="11">
                <a:moveTo>
                  <a:pt x="0" y="11"/>
                </a:moveTo>
                <a:lnTo>
                  <a:pt x="19" y="3"/>
                </a:lnTo>
                <a:lnTo>
                  <a:pt x="38" y="0"/>
                </a:lnTo>
                <a:lnTo>
                  <a:pt x="58" y="0"/>
                </a:lnTo>
                <a:lnTo>
                  <a:pt x="77" y="3"/>
                </a:lnTo>
                <a:lnTo>
                  <a:pt x="96" y="1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3757613" y="2439988"/>
            <a:ext cx="150812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74" name="Freeform 26"/>
          <p:cNvSpPr>
            <a:spLocks/>
          </p:cNvSpPr>
          <p:nvPr/>
        </p:nvSpPr>
        <p:spPr bwMode="auto">
          <a:xfrm>
            <a:off x="3756025" y="2484438"/>
            <a:ext cx="152400" cy="17462"/>
          </a:xfrm>
          <a:custGeom>
            <a:avLst/>
            <a:gdLst/>
            <a:ahLst/>
            <a:cxnLst>
              <a:cxn ang="0">
                <a:pos x="0" y="11"/>
              </a:cxn>
              <a:cxn ang="0">
                <a:pos x="19" y="3"/>
              </a:cxn>
              <a:cxn ang="0">
                <a:pos x="38" y="0"/>
              </a:cxn>
              <a:cxn ang="0">
                <a:pos x="58" y="0"/>
              </a:cxn>
              <a:cxn ang="0">
                <a:pos x="77" y="3"/>
              </a:cxn>
              <a:cxn ang="0">
                <a:pos x="96" y="11"/>
              </a:cxn>
            </a:cxnLst>
            <a:rect l="0" t="0" r="r" b="b"/>
            <a:pathLst>
              <a:path w="96" h="11">
                <a:moveTo>
                  <a:pt x="0" y="11"/>
                </a:moveTo>
                <a:lnTo>
                  <a:pt x="19" y="3"/>
                </a:lnTo>
                <a:lnTo>
                  <a:pt x="38" y="0"/>
                </a:lnTo>
                <a:lnTo>
                  <a:pt x="58" y="0"/>
                </a:lnTo>
                <a:lnTo>
                  <a:pt x="77" y="3"/>
                </a:lnTo>
                <a:lnTo>
                  <a:pt x="96" y="1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 flipV="1">
            <a:off x="3833813" y="2038350"/>
            <a:ext cx="1587" cy="17462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 flipV="1">
            <a:off x="3833813" y="2482850"/>
            <a:ext cx="1587" cy="1397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77" name="Line 29"/>
          <p:cNvSpPr>
            <a:spLocks noChangeShapeType="1"/>
          </p:cNvSpPr>
          <p:nvPr/>
        </p:nvSpPr>
        <p:spPr bwMode="auto">
          <a:xfrm>
            <a:off x="3833813" y="2257425"/>
            <a:ext cx="1587" cy="18256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1666875" y="1958975"/>
            <a:ext cx="444500" cy="755650"/>
          </a:xfrm>
          <a:prstGeom prst="rect">
            <a:avLst/>
          </a:prstGeom>
          <a:solidFill>
            <a:srgbClr val="FF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1744663" y="2225675"/>
            <a:ext cx="27622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7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NOISE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1728788" y="2335213"/>
            <a:ext cx="304800" cy="10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7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FILTER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081" name="Freeform 33"/>
          <p:cNvSpPr>
            <a:spLocks/>
          </p:cNvSpPr>
          <p:nvPr/>
        </p:nvSpPr>
        <p:spPr bwMode="auto">
          <a:xfrm>
            <a:off x="674688" y="2174875"/>
            <a:ext cx="323850" cy="323850"/>
          </a:xfrm>
          <a:custGeom>
            <a:avLst/>
            <a:gdLst/>
            <a:ahLst/>
            <a:cxnLst>
              <a:cxn ang="0">
                <a:pos x="0" y="103"/>
              </a:cxn>
              <a:cxn ang="0">
                <a:pos x="3" y="81"/>
              </a:cxn>
              <a:cxn ang="0">
                <a:pos x="8" y="61"/>
              </a:cxn>
              <a:cxn ang="0">
                <a:pos x="20" y="43"/>
              </a:cxn>
              <a:cxn ang="0">
                <a:pos x="34" y="27"/>
              </a:cxn>
              <a:cxn ang="0">
                <a:pos x="51" y="14"/>
              </a:cxn>
              <a:cxn ang="0">
                <a:pos x="71" y="5"/>
              </a:cxn>
              <a:cxn ang="0">
                <a:pos x="91" y="0"/>
              </a:cxn>
              <a:cxn ang="0">
                <a:pos x="113" y="0"/>
              </a:cxn>
              <a:cxn ang="0">
                <a:pos x="134" y="5"/>
              </a:cxn>
              <a:cxn ang="0">
                <a:pos x="154" y="14"/>
              </a:cxn>
              <a:cxn ang="0">
                <a:pos x="171" y="27"/>
              </a:cxn>
              <a:cxn ang="0">
                <a:pos x="185" y="43"/>
              </a:cxn>
              <a:cxn ang="0">
                <a:pos x="195" y="61"/>
              </a:cxn>
              <a:cxn ang="0">
                <a:pos x="202" y="81"/>
              </a:cxn>
              <a:cxn ang="0">
                <a:pos x="204" y="103"/>
              </a:cxn>
              <a:cxn ang="0">
                <a:pos x="202" y="123"/>
              </a:cxn>
              <a:cxn ang="0">
                <a:pos x="195" y="144"/>
              </a:cxn>
              <a:cxn ang="0">
                <a:pos x="185" y="162"/>
              </a:cxn>
              <a:cxn ang="0">
                <a:pos x="171" y="177"/>
              </a:cxn>
              <a:cxn ang="0">
                <a:pos x="154" y="190"/>
              </a:cxn>
              <a:cxn ang="0">
                <a:pos x="134" y="199"/>
              </a:cxn>
              <a:cxn ang="0">
                <a:pos x="113" y="204"/>
              </a:cxn>
              <a:cxn ang="0">
                <a:pos x="91" y="204"/>
              </a:cxn>
              <a:cxn ang="0">
                <a:pos x="71" y="199"/>
              </a:cxn>
              <a:cxn ang="0">
                <a:pos x="51" y="190"/>
              </a:cxn>
              <a:cxn ang="0">
                <a:pos x="34" y="177"/>
              </a:cxn>
              <a:cxn ang="0">
                <a:pos x="20" y="162"/>
              </a:cxn>
              <a:cxn ang="0">
                <a:pos x="8" y="144"/>
              </a:cxn>
              <a:cxn ang="0">
                <a:pos x="3" y="123"/>
              </a:cxn>
              <a:cxn ang="0">
                <a:pos x="0" y="103"/>
              </a:cxn>
            </a:cxnLst>
            <a:rect l="0" t="0" r="r" b="b"/>
            <a:pathLst>
              <a:path w="204" h="204">
                <a:moveTo>
                  <a:pt x="0" y="103"/>
                </a:moveTo>
                <a:lnTo>
                  <a:pt x="3" y="81"/>
                </a:lnTo>
                <a:lnTo>
                  <a:pt x="8" y="61"/>
                </a:lnTo>
                <a:lnTo>
                  <a:pt x="20" y="43"/>
                </a:lnTo>
                <a:lnTo>
                  <a:pt x="34" y="27"/>
                </a:lnTo>
                <a:lnTo>
                  <a:pt x="51" y="14"/>
                </a:lnTo>
                <a:lnTo>
                  <a:pt x="71" y="5"/>
                </a:lnTo>
                <a:lnTo>
                  <a:pt x="91" y="0"/>
                </a:lnTo>
                <a:lnTo>
                  <a:pt x="113" y="0"/>
                </a:lnTo>
                <a:lnTo>
                  <a:pt x="134" y="5"/>
                </a:lnTo>
                <a:lnTo>
                  <a:pt x="154" y="14"/>
                </a:lnTo>
                <a:lnTo>
                  <a:pt x="171" y="27"/>
                </a:lnTo>
                <a:lnTo>
                  <a:pt x="185" y="43"/>
                </a:lnTo>
                <a:lnTo>
                  <a:pt x="195" y="61"/>
                </a:lnTo>
                <a:lnTo>
                  <a:pt x="202" y="81"/>
                </a:lnTo>
                <a:lnTo>
                  <a:pt x="204" y="103"/>
                </a:lnTo>
                <a:lnTo>
                  <a:pt x="202" y="123"/>
                </a:lnTo>
                <a:lnTo>
                  <a:pt x="195" y="144"/>
                </a:lnTo>
                <a:lnTo>
                  <a:pt x="185" y="162"/>
                </a:lnTo>
                <a:lnTo>
                  <a:pt x="171" y="177"/>
                </a:lnTo>
                <a:lnTo>
                  <a:pt x="154" y="190"/>
                </a:lnTo>
                <a:lnTo>
                  <a:pt x="134" y="199"/>
                </a:lnTo>
                <a:lnTo>
                  <a:pt x="113" y="204"/>
                </a:lnTo>
                <a:lnTo>
                  <a:pt x="91" y="204"/>
                </a:lnTo>
                <a:lnTo>
                  <a:pt x="71" y="199"/>
                </a:lnTo>
                <a:lnTo>
                  <a:pt x="51" y="190"/>
                </a:lnTo>
                <a:lnTo>
                  <a:pt x="34" y="177"/>
                </a:lnTo>
                <a:lnTo>
                  <a:pt x="20" y="162"/>
                </a:lnTo>
                <a:lnTo>
                  <a:pt x="8" y="144"/>
                </a:lnTo>
                <a:lnTo>
                  <a:pt x="3" y="123"/>
                </a:lnTo>
                <a:lnTo>
                  <a:pt x="0" y="103"/>
                </a:lnTo>
                <a:close/>
              </a:path>
            </a:pathLst>
          </a:custGeom>
          <a:solidFill>
            <a:srgbClr val="FFFFFF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82" name="Line 34"/>
          <p:cNvSpPr>
            <a:spLocks noChangeShapeType="1"/>
          </p:cNvSpPr>
          <p:nvPr/>
        </p:nvSpPr>
        <p:spPr bwMode="auto">
          <a:xfrm flipH="1">
            <a:off x="998538" y="2338388"/>
            <a:ext cx="338137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83" name="Freeform 35"/>
          <p:cNvSpPr>
            <a:spLocks/>
          </p:cNvSpPr>
          <p:nvPr/>
        </p:nvSpPr>
        <p:spPr bwMode="auto">
          <a:xfrm>
            <a:off x="771525" y="2273300"/>
            <a:ext cx="65088" cy="17463"/>
          </a:xfrm>
          <a:custGeom>
            <a:avLst/>
            <a:gdLst/>
            <a:ahLst/>
            <a:cxnLst>
              <a:cxn ang="0">
                <a:pos x="41" y="11"/>
              </a:cxn>
              <a:cxn ang="0">
                <a:pos x="35" y="4"/>
              </a:cxn>
              <a:cxn ang="0">
                <a:pos x="26" y="0"/>
              </a:cxn>
              <a:cxn ang="0">
                <a:pos x="17" y="0"/>
              </a:cxn>
              <a:cxn ang="0">
                <a:pos x="7" y="4"/>
              </a:cxn>
              <a:cxn ang="0">
                <a:pos x="0" y="11"/>
              </a:cxn>
            </a:cxnLst>
            <a:rect l="0" t="0" r="r" b="b"/>
            <a:pathLst>
              <a:path w="41" h="11">
                <a:moveTo>
                  <a:pt x="41" y="11"/>
                </a:moveTo>
                <a:lnTo>
                  <a:pt x="35" y="4"/>
                </a:lnTo>
                <a:lnTo>
                  <a:pt x="26" y="0"/>
                </a:lnTo>
                <a:lnTo>
                  <a:pt x="17" y="0"/>
                </a:lnTo>
                <a:lnTo>
                  <a:pt x="7" y="4"/>
                </a:lnTo>
                <a:lnTo>
                  <a:pt x="0" y="1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84" name="Freeform 36"/>
          <p:cNvSpPr>
            <a:spLocks/>
          </p:cNvSpPr>
          <p:nvPr/>
        </p:nvSpPr>
        <p:spPr bwMode="auto">
          <a:xfrm>
            <a:off x="836613" y="2290763"/>
            <a:ext cx="65087" cy="12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" y="5"/>
              </a:cxn>
              <a:cxn ang="0">
                <a:pos x="20" y="8"/>
              </a:cxn>
              <a:cxn ang="0">
                <a:pos x="32" y="5"/>
              </a:cxn>
              <a:cxn ang="0">
                <a:pos x="41" y="0"/>
              </a:cxn>
            </a:cxnLst>
            <a:rect l="0" t="0" r="r" b="b"/>
            <a:pathLst>
              <a:path w="41" h="8">
                <a:moveTo>
                  <a:pt x="0" y="0"/>
                </a:moveTo>
                <a:lnTo>
                  <a:pt x="10" y="5"/>
                </a:lnTo>
                <a:lnTo>
                  <a:pt x="20" y="8"/>
                </a:lnTo>
                <a:lnTo>
                  <a:pt x="32" y="5"/>
                </a:lnTo>
                <a:lnTo>
                  <a:pt x="41" y="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85" name="Freeform 37"/>
          <p:cNvSpPr>
            <a:spLocks/>
          </p:cNvSpPr>
          <p:nvPr/>
        </p:nvSpPr>
        <p:spPr bwMode="auto">
          <a:xfrm>
            <a:off x="771525" y="2317750"/>
            <a:ext cx="65088" cy="15875"/>
          </a:xfrm>
          <a:custGeom>
            <a:avLst/>
            <a:gdLst/>
            <a:ahLst/>
            <a:cxnLst>
              <a:cxn ang="0">
                <a:pos x="41" y="10"/>
              </a:cxn>
              <a:cxn ang="0">
                <a:pos x="35" y="3"/>
              </a:cxn>
              <a:cxn ang="0">
                <a:pos x="26" y="0"/>
              </a:cxn>
              <a:cxn ang="0">
                <a:pos x="17" y="0"/>
              </a:cxn>
              <a:cxn ang="0">
                <a:pos x="7" y="3"/>
              </a:cxn>
              <a:cxn ang="0">
                <a:pos x="0" y="10"/>
              </a:cxn>
            </a:cxnLst>
            <a:rect l="0" t="0" r="r" b="b"/>
            <a:pathLst>
              <a:path w="41" h="10">
                <a:moveTo>
                  <a:pt x="41" y="10"/>
                </a:moveTo>
                <a:lnTo>
                  <a:pt x="35" y="3"/>
                </a:lnTo>
                <a:lnTo>
                  <a:pt x="26" y="0"/>
                </a:lnTo>
                <a:lnTo>
                  <a:pt x="17" y="0"/>
                </a:lnTo>
                <a:lnTo>
                  <a:pt x="7" y="3"/>
                </a:lnTo>
                <a:lnTo>
                  <a:pt x="0" y="1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86" name="Freeform 38"/>
          <p:cNvSpPr>
            <a:spLocks/>
          </p:cNvSpPr>
          <p:nvPr/>
        </p:nvSpPr>
        <p:spPr bwMode="auto">
          <a:xfrm>
            <a:off x="836613" y="2333625"/>
            <a:ext cx="65087" cy="12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" y="6"/>
              </a:cxn>
              <a:cxn ang="0">
                <a:pos x="20" y="8"/>
              </a:cxn>
              <a:cxn ang="0">
                <a:pos x="32" y="6"/>
              </a:cxn>
              <a:cxn ang="0">
                <a:pos x="41" y="0"/>
              </a:cxn>
            </a:cxnLst>
            <a:rect l="0" t="0" r="r" b="b"/>
            <a:pathLst>
              <a:path w="41" h="8">
                <a:moveTo>
                  <a:pt x="0" y="0"/>
                </a:moveTo>
                <a:lnTo>
                  <a:pt x="10" y="6"/>
                </a:lnTo>
                <a:lnTo>
                  <a:pt x="20" y="8"/>
                </a:lnTo>
                <a:lnTo>
                  <a:pt x="32" y="6"/>
                </a:lnTo>
                <a:lnTo>
                  <a:pt x="41" y="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87" name="Freeform 39"/>
          <p:cNvSpPr>
            <a:spLocks/>
          </p:cNvSpPr>
          <p:nvPr/>
        </p:nvSpPr>
        <p:spPr bwMode="auto">
          <a:xfrm>
            <a:off x="771525" y="2359025"/>
            <a:ext cx="65088" cy="17463"/>
          </a:xfrm>
          <a:custGeom>
            <a:avLst/>
            <a:gdLst/>
            <a:ahLst/>
            <a:cxnLst>
              <a:cxn ang="0">
                <a:pos x="41" y="11"/>
              </a:cxn>
              <a:cxn ang="0">
                <a:pos x="35" y="4"/>
              </a:cxn>
              <a:cxn ang="0">
                <a:pos x="26" y="0"/>
              </a:cxn>
              <a:cxn ang="0">
                <a:pos x="17" y="0"/>
              </a:cxn>
              <a:cxn ang="0">
                <a:pos x="7" y="4"/>
              </a:cxn>
              <a:cxn ang="0">
                <a:pos x="0" y="11"/>
              </a:cxn>
            </a:cxnLst>
            <a:rect l="0" t="0" r="r" b="b"/>
            <a:pathLst>
              <a:path w="41" h="11">
                <a:moveTo>
                  <a:pt x="41" y="11"/>
                </a:moveTo>
                <a:lnTo>
                  <a:pt x="35" y="4"/>
                </a:lnTo>
                <a:lnTo>
                  <a:pt x="26" y="0"/>
                </a:lnTo>
                <a:lnTo>
                  <a:pt x="17" y="0"/>
                </a:lnTo>
                <a:lnTo>
                  <a:pt x="7" y="4"/>
                </a:lnTo>
                <a:lnTo>
                  <a:pt x="0" y="11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88" name="Freeform 40"/>
          <p:cNvSpPr>
            <a:spLocks/>
          </p:cNvSpPr>
          <p:nvPr/>
        </p:nvSpPr>
        <p:spPr bwMode="auto">
          <a:xfrm>
            <a:off x="836613" y="2376488"/>
            <a:ext cx="65087" cy="12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" y="7"/>
              </a:cxn>
              <a:cxn ang="0">
                <a:pos x="20" y="8"/>
              </a:cxn>
              <a:cxn ang="0">
                <a:pos x="32" y="7"/>
              </a:cxn>
              <a:cxn ang="0">
                <a:pos x="41" y="0"/>
              </a:cxn>
            </a:cxnLst>
            <a:rect l="0" t="0" r="r" b="b"/>
            <a:pathLst>
              <a:path w="41" h="8">
                <a:moveTo>
                  <a:pt x="0" y="0"/>
                </a:moveTo>
                <a:lnTo>
                  <a:pt x="10" y="7"/>
                </a:lnTo>
                <a:lnTo>
                  <a:pt x="20" y="8"/>
                </a:lnTo>
                <a:lnTo>
                  <a:pt x="32" y="7"/>
                </a:lnTo>
                <a:lnTo>
                  <a:pt x="41" y="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89" name="Freeform 41"/>
          <p:cNvSpPr>
            <a:spLocks/>
          </p:cNvSpPr>
          <p:nvPr/>
        </p:nvSpPr>
        <p:spPr bwMode="auto">
          <a:xfrm>
            <a:off x="3816350" y="2608263"/>
            <a:ext cx="33338" cy="31750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3" y="3"/>
              </a:cxn>
              <a:cxn ang="0">
                <a:pos x="7" y="0"/>
              </a:cxn>
              <a:cxn ang="0">
                <a:pos x="14" y="0"/>
              </a:cxn>
              <a:cxn ang="0">
                <a:pos x="19" y="3"/>
              </a:cxn>
              <a:cxn ang="0">
                <a:pos x="21" y="9"/>
              </a:cxn>
              <a:cxn ang="0">
                <a:pos x="19" y="15"/>
              </a:cxn>
              <a:cxn ang="0">
                <a:pos x="14" y="20"/>
              </a:cxn>
              <a:cxn ang="0">
                <a:pos x="7" y="20"/>
              </a:cxn>
              <a:cxn ang="0">
                <a:pos x="3" y="15"/>
              </a:cxn>
              <a:cxn ang="0">
                <a:pos x="0" y="9"/>
              </a:cxn>
            </a:cxnLst>
            <a:rect l="0" t="0" r="r" b="b"/>
            <a:pathLst>
              <a:path w="21" h="20">
                <a:moveTo>
                  <a:pt x="0" y="9"/>
                </a:moveTo>
                <a:lnTo>
                  <a:pt x="3" y="3"/>
                </a:lnTo>
                <a:lnTo>
                  <a:pt x="7" y="0"/>
                </a:lnTo>
                <a:lnTo>
                  <a:pt x="14" y="0"/>
                </a:lnTo>
                <a:lnTo>
                  <a:pt x="19" y="3"/>
                </a:lnTo>
                <a:lnTo>
                  <a:pt x="21" y="9"/>
                </a:lnTo>
                <a:lnTo>
                  <a:pt x="19" y="15"/>
                </a:lnTo>
                <a:lnTo>
                  <a:pt x="14" y="20"/>
                </a:lnTo>
                <a:lnTo>
                  <a:pt x="7" y="20"/>
                </a:lnTo>
                <a:lnTo>
                  <a:pt x="3" y="15"/>
                </a:lnTo>
                <a:lnTo>
                  <a:pt x="0" y="9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90" name="Freeform 42"/>
          <p:cNvSpPr>
            <a:spLocks/>
          </p:cNvSpPr>
          <p:nvPr/>
        </p:nvSpPr>
        <p:spPr bwMode="auto">
          <a:xfrm>
            <a:off x="3817938" y="2025650"/>
            <a:ext cx="33337" cy="30163"/>
          </a:xfrm>
          <a:custGeom>
            <a:avLst/>
            <a:gdLst/>
            <a:ahLst/>
            <a:cxnLst>
              <a:cxn ang="0">
                <a:pos x="0" y="10"/>
              </a:cxn>
              <a:cxn ang="0">
                <a:pos x="3" y="4"/>
              </a:cxn>
              <a:cxn ang="0">
                <a:pos x="7" y="0"/>
              </a:cxn>
              <a:cxn ang="0">
                <a:pos x="13" y="0"/>
              </a:cxn>
              <a:cxn ang="0">
                <a:pos x="19" y="4"/>
              </a:cxn>
              <a:cxn ang="0">
                <a:pos x="21" y="10"/>
              </a:cxn>
              <a:cxn ang="0">
                <a:pos x="19" y="16"/>
              </a:cxn>
              <a:cxn ang="0">
                <a:pos x="13" y="19"/>
              </a:cxn>
              <a:cxn ang="0">
                <a:pos x="7" y="19"/>
              </a:cxn>
              <a:cxn ang="0">
                <a:pos x="3" y="16"/>
              </a:cxn>
              <a:cxn ang="0">
                <a:pos x="0" y="10"/>
              </a:cxn>
            </a:cxnLst>
            <a:rect l="0" t="0" r="r" b="b"/>
            <a:pathLst>
              <a:path w="21" h="19">
                <a:moveTo>
                  <a:pt x="0" y="10"/>
                </a:moveTo>
                <a:lnTo>
                  <a:pt x="3" y="4"/>
                </a:lnTo>
                <a:lnTo>
                  <a:pt x="7" y="0"/>
                </a:lnTo>
                <a:lnTo>
                  <a:pt x="13" y="0"/>
                </a:lnTo>
                <a:lnTo>
                  <a:pt x="19" y="4"/>
                </a:lnTo>
                <a:lnTo>
                  <a:pt x="21" y="10"/>
                </a:lnTo>
                <a:lnTo>
                  <a:pt x="19" y="16"/>
                </a:lnTo>
                <a:lnTo>
                  <a:pt x="13" y="19"/>
                </a:lnTo>
                <a:lnTo>
                  <a:pt x="7" y="19"/>
                </a:lnTo>
                <a:lnTo>
                  <a:pt x="3" y="16"/>
                </a:lnTo>
                <a:lnTo>
                  <a:pt x="0" y="10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91" name="Rectangle 43"/>
          <p:cNvSpPr>
            <a:spLocks noChangeArrowheads="1"/>
          </p:cNvSpPr>
          <p:nvPr/>
        </p:nvSpPr>
        <p:spPr bwMode="auto">
          <a:xfrm>
            <a:off x="603250" y="2019300"/>
            <a:ext cx="369888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7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3</a:t>
            </a:r>
            <a:r>
              <a:rPr lang="ko-KR" altLang="en-US" sz="7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상 </a:t>
            </a:r>
            <a:r>
              <a:rPr lang="en-US" altLang="ko-KR" sz="7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380V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092" name="Rectangle 44"/>
          <p:cNvSpPr>
            <a:spLocks noChangeArrowheads="1"/>
          </p:cNvSpPr>
          <p:nvPr/>
        </p:nvSpPr>
        <p:spPr bwMode="auto">
          <a:xfrm>
            <a:off x="3143250" y="1685925"/>
            <a:ext cx="280988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7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DIODE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3000375" y="1795463"/>
            <a:ext cx="554038" cy="10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7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CONVERTER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094" name="Rectangle 46"/>
          <p:cNvSpPr>
            <a:spLocks noChangeArrowheads="1"/>
          </p:cNvSpPr>
          <p:nvPr/>
        </p:nvSpPr>
        <p:spPr bwMode="auto">
          <a:xfrm>
            <a:off x="2392363" y="3213100"/>
            <a:ext cx="92075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5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VG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095" name="Line 47"/>
          <p:cNvSpPr>
            <a:spLocks noChangeShapeType="1"/>
          </p:cNvSpPr>
          <p:nvPr/>
        </p:nvSpPr>
        <p:spPr bwMode="auto">
          <a:xfrm flipH="1">
            <a:off x="955675" y="2051050"/>
            <a:ext cx="122238" cy="17303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96" name="Line 48"/>
          <p:cNvSpPr>
            <a:spLocks noChangeShapeType="1"/>
          </p:cNvSpPr>
          <p:nvPr/>
        </p:nvSpPr>
        <p:spPr bwMode="auto">
          <a:xfrm flipH="1">
            <a:off x="1077913" y="2051050"/>
            <a:ext cx="258762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97" name="Line 49"/>
          <p:cNvSpPr>
            <a:spLocks noChangeShapeType="1"/>
          </p:cNvSpPr>
          <p:nvPr/>
        </p:nvSpPr>
        <p:spPr bwMode="auto">
          <a:xfrm flipH="1" flipV="1">
            <a:off x="958850" y="2449513"/>
            <a:ext cx="122238" cy="17303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98" name="Line 50"/>
          <p:cNvSpPr>
            <a:spLocks noChangeShapeType="1"/>
          </p:cNvSpPr>
          <p:nvPr/>
        </p:nvSpPr>
        <p:spPr bwMode="auto">
          <a:xfrm flipH="1">
            <a:off x="1081088" y="2622550"/>
            <a:ext cx="261937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099" name="Line 51"/>
          <p:cNvSpPr>
            <a:spLocks noChangeShapeType="1"/>
          </p:cNvSpPr>
          <p:nvPr/>
        </p:nvSpPr>
        <p:spPr bwMode="auto">
          <a:xfrm>
            <a:off x="1336675" y="2278063"/>
            <a:ext cx="1588" cy="11747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00" name="Line 52"/>
          <p:cNvSpPr>
            <a:spLocks noChangeShapeType="1"/>
          </p:cNvSpPr>
          <p:nvPr/>
        </p:nvSpPr>
        <p:spPr bwMode="auto">
          <a:xfrm>
            <a:off x="1392238" y="2278063"/>
            <a:ext cx="1587" cy="11747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1336675" y="1992313"/>
            <a:ext cx="1588" cy="11906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02" name="Line 54"/>
          <p:cNvSpPr>
            <a:spLocks noChangeShapeType="1"/>
          </p:cNvSpPr>
          <p:nvPr/>
        </p:nvSpPr>
        <p:spPr bwMode="auto">
          <a:xfrm>
            <a:off x="1392238" y="1992313"/>
            <a:ext cx="1587" cy="11906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03" name="Line 55"/>
          <p:cNvSpPr>
            <a:spLocks noChangeShapeType="1"/>
          </p:cNvSpPr>
          <p:nvPr/>
        </p:nvSpPr>
        <p:spPr bwMode="auto">
          <a:xfrm>
            <a:off x="1343025" y="2563813"/>
            <a:ext cx="1588" cy="11906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04" name="Line 56"/>
          <p:cNvSpPr>
            <a:spLocks noChangeShapeType="1"/>
          </p:cNvSpPr>
          <p:nvPr/>
        </p:nvSpPr>
        <p:spPr bwMode="auto">
          <a:xfrm>
            <a:off x="1395413" y="2563813"/>
            <a:ext cx="1587" cy="11906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05" name="Line 57"/>
          <p:cNvSpPr>
            <a:spLocks noChangeShapeType="1"/>
          </p:cNvSpPr>
          <p:nvPr/>
        </p:nvSpPr>
        <p:spPr bwMode="auto">
          <a:xfrm flipH="1">
            <a:off x="1392238" y="2051050"/>
            <a:ext cx="268287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06" name="Line 58"/>
          <p:cNvSpPr>
            <a:spLocks noChangeShapeType="1"/>
          </p:cNvSpPr>
          <p:nvPr/>
        </p:nvSpPr>
        <p:spPr bwMode="auto">
          <a:xfrm flipH="1">
            <a:off x="1392238" y="2338388"/>
            <a:ext cx="274637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07" name="Line 59"/>
          <p:cNvSpPr>
            <a:spLocks noChangeShapeType="1"/>
          </p:cNvSpPr>
          <p:nvPr/>
        </p:nvSpPr>
        <p:spPr bwMode="auto">
          <a:xfrm flipH="1">
            <a:off x="1395413" y="2622550"/>
            <a:ext cx="265112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08" name="Line 60"/>
          <p:cNvSpPr>
            <a:spLocks noChangeShapeType="1"/>
          </p:cNvSpPr>
          <p:nvPr/>
        </p:nvSpPr>
        <p:spPr bwMode="auto">
          <a:xfrm flipH="1">
            <a:off x="2114550" y="2051050"/>
            <a:ext cx="260350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09" name="Line 61"/>
          <p:cNvSpPr>
            <a:spLocks noChangeShapeType="1"/>
          </p:cNvSpPr>
          <p:nvPr/>
        </p:nvSpPr>
        <p:spPr bwMode="auto">
          <a:xfrm>
            <a:off x="2374900" y="1992313"/>
            <a:ext cx="1588" cy="11906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10" name="Line 62"/>
          <p:cNvSpPr>
            <a:spLocks noChangeShapeType="1"/>
          </p:cNvSpPr>
          <p:nvPr/>
        </p:nvSpPr>
        <p:spPr bwMode="auto">
          <a:xfrm>
            <a:off x="2428875" y="1992313"/>
            <a:ext cx="1588" cy="11906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11" name="Line 63"/>
          <p:cNvSpPr>
            <a:spLocks noChangeShapeType="1"/>
          </p:cNvSpPr>
          <p:nvPr/>
        </p:nvSpPr>
        <p:spPr bwMode="auto">
          <a:xfrm flipH="1">
            <a:off x="2428875" y="2051050"/>
            <a:ext cx="638175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12" name="Line 64"/>
          <p:cNvSpPr>
            <a:spLocks noChangeShapeType="1"/>
          </p:cNvSpPr>
          <p:nvPr/>
        </p:nvSpPr>
        <p:spPr bwMode="auto">
          <a:xfrm flipH="1">
            <a:off x="2114550" y="2332038"/>
            <a:ext cx="260350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13" name="Line 65"/>
          <p:cNvSpPr>
            <a:spLocks noChangeShapeType="1"/>
          </p:cNvSpPr>
          <p:nvPr/>
        </p:nvSpPr>
        <p:spPr bwMode="auto">
          <a:xfrm>
            <a:off x="2374900" y="2271713"/>
            <a:ext cx="1588" cy="11906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14" name="Line 66"/>
          <p:cNvSpPr>
            <a:spLocks noChangeShapeType="1"/>
          </p:cNvSpPr>
          <p:nvPr/>
        </p:nvSpPr>
        <p:spPr bwMode="auto">
          <a:xfrm>
            <a:off x="2428875" y="2271713"/>
            <a:ext cx="1588" cy="11906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15" name="Line 67"/>
          <p:cNvSpPr>
            <a:spLocks noChangeShapeType="1"/>
          </p:cNvSpPr>
          <p:nvPr/>
        </p:nvSpPr>
        <p:spPr bwMode="auto">
          <a:xfrm flipH="1">
            <a:off x="2428875" y="2332038"/>
            <a:ext cx="636588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16" name="Rectangle 68"/>
          <p:cNvSpPr>
            <a:spLocks noChangeArrowheads="1"/>
          </p:cNvSpPr>
          <p:nvPr/>
        </p:nvSpPr>
        <p:spPr bwMode="auto">
          <a:xfrm>
            <a:off x="2308225" y="1897063"/>
            <a:ext cx="198438" cy="57150"/>
          </a:xfrm>
          <a:prstGeom prst="rect">
            <a:avLst/>
          </a:prstGeom>
          <a:solidFill>
            <a:srgbClr val="FF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17" name="Rectangle 69"/>
          <p:cNvSpPr>
            <a:spLocks noChangeArrowheads="1"/>
          </p:cNvSpPr>
          <p:nvPr/>
        </p:nvSpPr>
        <p:spPr bwMode="auto">
          <a:xfrm>
            <a:off x="2308225" y="2176463"/>
            <a:ext cx="198438" cy="57150"/>
          </a:xfrm>
          <a:prstGeom prst="rect">
            <a:avLst/>
          </a:prstGeom>
          <a:solidFill>
            <a:srgbClr val="FF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18" name="Freeform 70"/>
          <p:cNvSpPr>
            <a:spLocks/>
          </p:cNvSpPr>
          <p:nvPr/>
        </p:nvSpPr>
        <p:spPr bwMode="auto">
          <a:xfrm>
            <a:off x="2244725" y="1924050"/>
            <a:ext cx="63500" cy="127000"/>
          </a:xfrm>
          <a:custGeom>
            <a:avLst/>
            <a:gdLst/>
            <a:ahLst/>
            <a:cxnLst>
              <a:cxn ang="0">
                <a:pos x="40" y="0"/>
              </a:cxn>
              <a:cxn ang="0">
                <a:pos x="0" y="0"/>
              </a:cxn>
              <a:cxn ang="0">
                <a:pos x="0" y="80"/>
              </a:cxn>
            </a:cxnLst>
            <a:rect l="0" t="0" r="r" b="b"/>
            <a:pathLst>
              <a:path w="40" h="80">
                <a:moveTo>
                  <a:pt x="40" y="0"/>
                </a:moveTo>
                <a:lnTo>
                  <a:pt x="0" y="0"/>
                </a:lnTo>
                <a:lnTo>
                  <a:pt x="0" y="8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19" name="Freeform 71"/>
          <p:cNvSpPr>
            <a:spLocks/>
          </p:cNvSpPr>
          <p:nvPr/>
        </p:nvSpPr>
        <p:spPr bwMode="auto">
          <a:xfrm>
            <a:off x="2244725" y="2206625"/>
            <a:ext cx="63500" cy="125413"/>
          </a:xfrm>
          <a:custGeom>
            <a:avLst/>
            <a:gdLst/>
            <a:ahLst/>
            <a:cxnLst>
              <a:cxn ang="0">
                <a:pos x="40" y="0"/>
              </a:cxn>
              <a:cxn ang="0">
                <a:pos x="0" y="0"/>
              </a:cxn>
              <a:cxn ang="0">
                <a:pos x="0" y="79"/>
              </a:cxn>
            </a:cxnLst>
            <a:rect l="0" t="0" r="r" b="b"/>
            <a:pathLst>
              <a:path w="40" h="79">
                <a:moveTo>
                  <a:pt x="40" y="0"/>
                </a:moveTo>
                <a:lnTo>
                  <a:pt x="0" y="0"/>
                </a:lnTo>
                <a:lnTo>
                  <a:pt x="0" y="79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20" name="Line 72"/>
          <p:cNvSpPr>
            <a:spLocks noChangeShapeType="1"/>
          </p:cNvSpPr>
          <p:nvPr/>
        </p:nvSpPr>
        <p:spPr bwMode="auto">
          <a:xfrm flipH="1">
            <a:off x="2114550" y="2617788"/>
            <a:ext cx="260350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21" name="Line 73"/>
          <p:cNvSpPr>
            <a:spLocks noChangeShapeType="1"/>
          </p:cNvSpPr>
          <p:nvPr/>
        </p:nvSpPr>
        <p:spPr bwMode="auto">
          <a:xfrm>
            <a:off x="2374900" y="2559050"/>
            <a:ext cx="1588" cy="11906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22" name="Line 74"/>
          <p:cNvSpPr>
            <a:spLocks noChangeShapeType="1"/>
          </p:cNvSpPr>
          <p:nvPr/>
        </p:nvSpPr>
        <p:spPr bwMode="auto">
          <a:xfrm>
            <a:off x="2428875" y="2559050"/>
            <a:ext cx="1588" cy="11906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23" name="Line 75"/>
          <p:cNvSpPr>
            <a:spLocks noChangeShapeType="1"/>
          </p:cNvSpPr>
          <p:nvPr/>
        </p:nvSpPr>
        <p:spPr bwMode="auto">
          <a:xfrm flipH="1">
            <a:off x="2428875" y="2617788"/>
            <a:ext cx="638175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24" name="Line 76"/>
          <p:cNvSpPr>
            <a:spLocks noChangeShapeType="1"/>
          </p:cNvSpPr>
          <p:nvPr/>
        </p:nvSpPr>
        <p:spPr bwMode="auto">
          <a:xfrm flipH="1">
            <a:off x="2506663" y="1924050"/>
            <a:ext cx="160337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25" name="Line 77"/>
          <p:cNvSpPr>
            <a:spLocks noChangeShapeType="1"/>
          </p:cNvSpPr>
          <p:nvPr/>
        </p:nvSpPr>
        <p:spPr bwMode="auto">
          <a:xfrm>
            <a:off x="2667000" y="1866900"/>
            <a:ext cx="1588" cy="11747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26" name="Line 78"/>
          <p:cNvSpPr>
            <a:spLocks noChangeShapeType="1"/>
          </p:cNvSpPr>
          <p:nvPr/>
        </p:nvSpPr>
        <p:spPr bwMode="auto">
          <a:xfrm>
            <a:off x="2720975" y="1866900"/>
            <a:ext cx="1588" cy="11747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27" name="Freeform 79"/>
          <p:cNvSpPr>
            <a:spLocks/>
          </p:cNvSpPr>
          <p:nvPr/>
        </p:nvSpPr>
        <p:spPr bwMode="auto">
          <a:xfrm>
            <a:off x="2720975" y="1924050"/>
            <a:ext cx="130175" cy="127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2" y="0"/>
              </a:cxn>
              <a:cxn ang="0">
                <a:pos x="82" y="80"/>
              </a:cxn>
            </a:cxnLst>
            <a:rect l="0" t="0" r="r" b="b"/>
            <a:pathLst>
              <a:path w="82" h="80">
                <a:moveTo>
                  <a:pt x="0" y="0"/>
                </a:moveTo>
                <a:lnTo>
                  <a:pt x="82" y="0"/>
                </a:lnTo>
                <a:lnTo>
                  <a:pt x="82" y="8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28" name="Freeform 80"/>
          <p:cNvSpPr>
            <a:spLocks/>
          </p:cNvSpPr>
          <p:nvPr/>
        </p:nvSpPr>
        <p:spPr bwMode="auto">
          <a:xfrm>
            <a:off x="2227263" y="2036763"/>
            <a:ext cx="33337" cy="30162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3" y="3"/>
              </a:cxn>
              <a:cxn ang="0">
                <a:pos x="7" y="0"/>
              </a:cxn>
              <a:cxn ang="0">
                <a:pos x="14" y="0"/>
              </a:cxn>
              <a:cxn ang="0">
                <a:pos x="19" y="3"/>
              </a:cxn>
              <a:cxn ang="0">
                <a:pos x="21" y="9"/>
              </a:cxn>
              <a:cxn ang="0">
                <a:pos x="19" y="15"/>
              </a:cxn>
              <a:cxn ang="0">
                <a:pos x="14" y="19"/>
              </a:cxn>
              <a:cxn ang="0">
                <a:pos x="7" y="19"/>
              </a:cxn>
              <a:cxn ang="0">
                <a:pos x="3" y="15"/>
              </a:cxn>
              <a:cxn ang="0">
                <a:pos x="0" y="9"/>
              </a:cxn>
            </a:cxnLst>
            <a:rect l="0" t="0" r="r" b="b"/>
            <a:pathLst>
              <a:path w="21" h="19">
                <a:moveTo>
                  <a:pt x="0" y="9"/>
                </a:moveTo>
                <a:lnTo>
                  <a:pt x="3" y="3"/>
                </a:lnTo>
                <a:lnTo>
                  <a:pt x="7" y="0"/>
                </a:lnTo>
                <a:lnTo>
                  <a:pt x="14" y="0"/>
                </a:lnTo>
                <a:lnTo>
                  <a:pt x="19" y="3"/>
                </a:lnTo>
                <a:lnTo>
                  <a:pt x="21" y="9"/>
                </a:lnTo>
                <a:lnTo>
                  <a:pt x="19" y="15"/>
                </a:lnTo>
                <a:lnTo>
                  <a:pt x="14" y="19"/>
                </a:lnTo>
                <a:lnTo>
                  <a:pt x="7" y="19"/>
                </a:lnTo>
                <a:lnTo>
                  <a:pt x="3" y="15"/>
                </a:lnTo>
                <a:lnTo>
                  <a:pt x="0" y="9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29" name="Freeform 81"/>
          <p:cNvSpPr>
            <a:spLocks/>
          </p:cNvSpPr>
          <p:nvPr/>
        </p:nvSpPr>
        <p:spPr bwMode="auto">
          <a:xfrm>
            <a:off x="2228850" y="2317750"/>
            <a:ext cx="31750" cy="30163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2" y="3"/>
              </a:cxn>
              <a:cxn ang="0">
                <a:pos x="7" y="0"/>
              </a:cxn>
              <a:cxn ang="0">
                <a:pos x="13" y="0"/>
              </a:cxn>
              <a:cxn ang="0">
                <a:pos x="19" y="3"/>
              </a:cxn>
              <a:cxn ang="0">
                <a:pos x="20" y="9"/>
              </a:cxn>
              <a:cxn ang="0">
                <a:pos x="19" y="15"/>
              </a:cxn>
              <a:cxn ang="0">
                <a:pos x="13" y="19"/>
              </a:cxn>
              <a:cxn ang="0">
                <a:pos x="7" y="19"/>
              </a:cxn>
              <a:cxn ang="0">
                <a:pos x="2" y="15"/>
              </a:cxn>
              <a:cxn ang="0">
                <a:pos x="0" y="9"/>
              </a:cxn>
            </a:cxnLst>
            <a:rect l="0" t="0" r="r" b="b"/>
            <a:pathLst>
              <a:path w="20" h="19">
                <a:moveTo>
                  <a:pt x="0" y="9"/>
                </a:moveTo>
                <a:lnTo>
                  <a:pt x="2" y="3"/>
                </a:lnTo>
                <a:lnTo>
                  <a:pt x="7" y="0"/>
                </a:lnTo>
                <a:lnTo>
                  <a:pt x="13" y="0"/>
                </a:lnTo>
                <a:lnTo>
                  <a:pt x="19" y="3"/>
                </a:lnTo>
                <a:lnTo>
                  <a:pt x="20" y="9"/>
                </a:lnTo>
                <a:lnTo>
                  <a:pt x="19" y="15"/>
                </a:lnTo>
                <a:lnTo>
                  <a:pt x="13" y="19"/>
                </a:lnTo>
                <a:lnTo>
                  <a:pt x="7" y="19"/>
                </a:lnTo>
                <a:lnTo>
                  <a:pt x="2" y="15"/>
                </a:lnTo>
                <a:lnTo>
                  <a:pt x="0" y="9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30" name="Freeform 82"/>
          <p:cNvSpPr>
            <a:spLocks/>
          </p:cNvSpPr>
          <p:nvPr/>
        </p:nvSpPr>
        <p:spPr bwMode="auto">
          <a:xfrm>
            <a:off x="2832100" y="2036763"/>
            <a:ext cx="33338" cy="30162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3" y="3"/>
              </a:cxn>
              <a:cxn ang="0">
                <a:pos x="7" y="0"/>
              </a:cxn>
              <a:cxn ang="0">
                <a:pos x="14" y="0"/>
              </a:cxn>
              <a:cxn ang="0">
                <a:pos x="19" y="3"/>
              </a:cxn>
              <a:cxn ang="0">
                <a:pos x="21" y="9"/>
              </a:cxn>
              <a:cxn ang="0">
                <a:pos x="19" y="15"/>
              </a:cxn>
              <a:cxn ang="0">
                <a:pos x="14" y="19"/>
              </a:cxn>
              <a:cxn ang="0">
                <a:pos x="7" y="19"/>
              </a:cxn>
              <a:cxn ang="0">
                <a:pos x="3" y="15"/>
              </a:cxn>
              <a:cxn ang="0">
                <a:pos x="0" y="9"/>
              </a:cxn>
            </a:cxnLst>
            <a:rect l="0" t="0" r="r" b="b"/>
            <a:pathLst>
              <a:path w="21" h="19">
                <a:moveTo>
                  <a:pt x="0" y="9"/>
                </a:moveTo>
                <a:lnTo>
                  <a:pt x="3" y="3"/>
                </a:lnTo>
                <a:lnTo>
                  <a:pt x="7" y="0"/>
                </a:lnTo>
                <a:lnTo>
                  <a:pt x="14" y="0"/>
                </a:lnTo>
                <a:lnTo>
                  <a:pt x="19" y="3"/>
                </a:lnTo>
                <a:lnTo>
                  <a:pt x="21" y="9"/>
                </a:lnTo>
                <a:lnTo>
                  <a:pt x="19" y="15"/>
                </a:lnTo>
                <a:lnTo>
                  <a:pt x="14" y="19"/>
                </a:lnTo>
                <a:lnTo>
                  <a:pt x="7" y="19"/>
                </a:lnTo>
                <a:lnTo>
                  <a:pt x="3" y="15"/>
                </a:lnTo>
                <a:lnTo>
                  <a:pt x="0" y="9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31" name="Line 83"/>
          <p:cNvSpPr>
            <a:spLocks noChangeShapeType="1"/>
          </p:cNvSpPr>
          <p:nvPr/>
        </p:nvSpPr>
        <p:spPr bwMode="auto">
          <a:xfrm flipH="1" flipV="1">
            <a:off x="2506663" y="2206625"/>
            <a:ext cx="160337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32" name="Line 84"/>
          <p:cNvSpPr>
            <a:spLocks noChangeShapeType="1"/>
          </p:cNvSpPr>
          <p:nvPr/>
        </p:nvSpPr>
        <p:spPr bwMode="auto">
          <a:xfrm>
            <a:off x="2667000" y="2147888"/>
            <a:ext cx="1588" cy="11906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33" name="Line 85"/>
          <p:cNvSpPr>
            <a:spLocks noChangeShapeType="1"/>
          </p:cNvSpPr>
          <p:nvPr/>
        </p:nvSpPr>
        <p:spPr bwMode="auto">
          <a:xfrm>
            <a:off x="2720975" y="2147888"/>
            <a:ext cx="1588" cy="11906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34" name="Freeform 86"/>
          <p:cNvSpPr>
            <a:spLocks/>
          </p:cNvSpPr>
          <p:nvPr/>
        </p:nvSpPr>
        <p:spPr bwMode="auto">
          <a:xfrm>
            <a:off x="2720975" y="2208213"/>
            <a:ext cx="130175" cy="1238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2" y="0"/>
              </a:cxn>
              <a:cxn ang="0">
                <a:pos x="82" y="78"/>
              </a:cxn>
            </a:cxnLst>
            <a:rect l="0" t="0" r="r" b="b"/>
            <a:pathLst>
              <a:path w="82" h="78">
                <a:moveTo>
                  <a:pt x="0" y="0"/>
                </a:moveTo>
                <a:lnTo>
                  <a:pt x="82" y="0"/>
                </a:lnTo>
                <a:lnTo>
                  <a:pt x="82" y="78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35" name="Freeform 87"/>
          <p:cNvSpPr>
            <a:spLocks/>
          </p:cNvSpPr>
          <p:nvPr/>
        </p:nvSpPr>
        <p:spPr bwMode="auto">
          <a:xfrm>
            <a:off x="2832100" y="2317750"/>
            <a:ext cx="33338" cy="30163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3" y="3"/>
              </a:cxn>
              <a:cxn ang="0">
                <a:pos x="7" y="0"/>
              </a:cxn>
              <a:cxn ang="0">
                <a:pos x="14" y="0"/>
              </a:cxn>
              <a:cxn ang="0">
                <a:pos x="19" y="3"/>
              </a:cxn>
              <a:cxn ang="0">
                <a:pos x="21" y="9"/>
              </a:cxn>
              <a:cxn ang="0">
                <a:pos x="19" y="16"/>
              </a:cxn>
              <a:cxn ang="0">
                <a:pos x="14" y="19"/>
              </a:cxn>
              <a:cxn ang="0">
                <a:pos x="7" y="19"/>
              </a:cxn>
              <a:cxn ang="0">
                <a:pos x="3" y="16"/>
              </a:cxn>
              <a:cxn ang="0">
                <a:pos x="0" y="9"/>
              </a:cxn>
            </a:cxnLst>
            <a:rect l="0" t="0" r="r" b="b"/>
            <a:pathLst>
              <a:path w="21" h="19">
                <a:moveTo>
                  <a:pt x="0" y="9"/>
                </a:moveTo>
                <a:lnTo>
                  <a:pt x="3" y="3"/>
                </a:lnTo>
                <a:lnTo>
                  <a:pt x="7" y="0"/>
                </a:lnTo>
                <a:lnTo>
                  <a:pt x="14" y="0"/>
                </a:lnTo>
                <a:lnTo>
                  <a:pt x="19" y="3"/>
                </a:lnTo>
                <a:lnTo>
                  <a:pt x="21" y="9"/>
                </a:lnTo>
                <a:lnTo>
                  <a:pt x="19" y="16"/>
                </a:lnTo>
                <a:lnTo>
                  <a:pt x="14" y="19"/>
                </a:lnTo>
                <a:lnTo>
                  <a:pt x="7" y="19"/>
                </a:lnTo>
                <a:lnTo>
                  <a:pt x="3" y="16"/>
                </a:lnTo>
                <a:lnTo>
                  <a:pt x="0" y="9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36" name="Rectangle 88"/>
          <p:cNvSpPr>
            <a:spLocks noChangeArrowheads="1"/>
          </p:cNvSpPr>
          <p:nvPr/>
        </p:nvSpPr>
        <p:spPr bwMode="auto">
          <a:xfrm>
            <a:off x="3065463" y="1954213"/>
            <a:ext cx="446087" cy="754062"/>
          </a:xfrm>
          <a:prstGeom prst="rect">
            <a:avLst/>
          </a:prstGeom>
          <a:solidFill>
            <a:srgbClr val="FF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37" name="Freeform 89"/>
          <p:cNvSpPr>
            <a:spLocks/>
          </p:cNvSpPr>
          <p:nvPr/>
        </p:nvSpPr>
        <p:spPr bwMode="auto">
          <a:xfrm>
            <a:off x="3205163" y="2241550"/>
            <a:ext cx="168275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06" y="96"/>
              </a:cxn>
              <a:cxn ang="0">
                <a:pos x="53" y="0"/>
              </a:cxn>
              <a:cxn ang="0">
                <a:pos x="0" y="96"/>
              </a:cxn>
            </a:cxnLst>
            <a:rect l="0" t="0" r="r" b="b"/>
            <a:pathLst>
              <a:path w="106" h="96">
                <a:moveTo>
                  <a:pt x="0" y="96"/>
                </a:moveTo>
                <a:lnTo>
                  <a:pt x="106" y="96"/>
                </a:lnTo>
                <a:lnTo>
                  <a:pt x="53" y="0"/>
                </a:lnTo>
                <a:lnTo>
                  <a:pt x="0" y="96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38" name="Line 90"/>
          <p:cNvSpPr>
            <a:spLocks noChangeShapeType="1"/>
          </p:cNvSpPr>
          <p:nvPr/>
        </p:nvSpPr>
        <p:spPr bwMode="auto">
          <a:xfrm flipH="1">
            <a:off x="3192463" y="2241550"/>
            <a:ext cx="192087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39" name="Line 91"/>
          <p:cNvSpPr>
            <a:spLocks noChangeShapeType="1"/>
          </p:cNvSpPr>
          <p:nvPr/>
        </p:nvSpPr>
        <p:spPr bwMode="auto">
          <a:xfrm>
            <a:off x="3289300" y="2136775"/>
            <a:ext cx="1588" cy="37465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40" name="Line 92"/>
          <p:cNvSpPr>
            <a:spLocks noChangeShapeType="1"/>
          </p:cNvSpPr>
          <p:nvPr/>
        </p:nvSpPr>
        <p:spPr bwMode="auto">
          <a:xfrm flipH="1">
            <a:off x="3513138" y="2622550"/>
            <a:ext cx="557212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41" name="Rectangle 93"/>
          <p:cNvSpPr>
            <a:spLocks noChangeArrowheads="1"/>
          </p:cNvSpPr>
          <p:nvPr/>
        </p:nvSpPr>
        <p:spPr bwMode="auto">
          <a:xfrm>
            <a:off x="2330450" y="2695575"/>
            <a:ext cx="161925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5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C1ST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42" name="Rectangle 94"/>
          <p:cNvSpPr>
            <a:spLocks noChangeArrowheads="1"/>
          </p:cNvSpPr>
          <p:nvPr/>
        </p:nvSpPr>
        <p:spPr bwMode="auto">
          <a:xfrm>
            <a:off x="2538413" y="1660525"/>
            <a:ext cx="3571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73125"/>
            <a:r>
              <a:rPr lang="en-US" altLang="ko-KR" sz="5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C1VD</a:t>
            </a:r>
          </a:p>
          <a:p>
            <a:pPr algn="ctr" defTabSz="873125"/>
            <a:r>
              <a:rPr lang="en-US" altLang="ko-KR" sz="500">
                <a:latin typeface="Arial" charset="0"/>
                <a:ea typeface="굴림체" pitchFamily="49" charset="-127"/>
              </a:rPr>
              <a:t>(OPTION)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43" name="Rectangle 95"/>
          <p:cNvSpPr>
            <a:spLocks noChangeArrowheads="1"/>
          </p:cNvSpPr>
          <p:nvPr/>
        </p:nvSpPr>
        <p:spPr bwMode="auto">
          <a:xfrm>
            <a:off x="2125663" y="1773238"/>
            <a:ext cx="184150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5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RCRR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44" name="Rectangle 96"/>
          <p:cNvSpPr>
            <a:spLocks noChangeArrowheads="1"/>
          </p:cNvSpPr>
          <p:nvPr/>
        </p:nvSpPr>
        <p:spPr bwMode="auto">
          <a:xfrm>
            <a:off x="2136775" y="2101850"/>
            <a:ext cx="180975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5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RCRS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45" name="Rectangle 97"/>
          <p:cNvSpPr>
            <a:spLocks noChangeArrowheads="1"/>
          </p:cNvSpPr>
          <p:nvPr/>
        </p:nvSpPr>
        <p:spPr bwMode="auto">
          <a:xfrm>
            <a:off x="1268413" y="1893888"/>
            <a:ext cx="187325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5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MCCB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46" name="Rectangle 98"/>
          <p:cNvSpPr>
            <a:spLocks noChangeArrowheads="1"/>
          </p:cNvSpPr>
          <p:nvPr/>
        </p:nvSpPr>
        <p:spPr bwMode="auto">
          <a:xfrm>
            <a:off x="2903538" y="2979738"/>
            <a:ext cx="1123950" cy="538162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47" name="Rectangle 99"/>
          <p:cNvSpPr>
            <a:spLocks noChangeArrowheads="1"/>
          </p:cNvSpPr>
          <p:nvPr/>
        </p:nvSpPr>
        <p:spPr bwMode="auto">
          <a:xfrm>
            <a:off x="2932113" y="3213100"/>
            <a:ext cx="85725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5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VA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48" name="Line 100"/>
          <p:cNvSpPr>
            <a:spLocks noChangeShapeType="1"/>
          </p:cNvSpPr>
          <p:nvPr/>
        </p:nvSpPr>
        <p:spPr bwMode="auto">
          <a:xfrm flipH="1">
            <a:off x="3660775" y="2041525"/>
            <a:ext cx="174625" cy="128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49" name="Line 101"/>
          <p:cNvSpPr>
            <a:spLocks noChangeShapeType="1"/>
          </p:cNvSpPr>
          <p:nvPr/>
        </p:nvSpPr>
        <p:spPr bwMode="auto">
          <a:xfrm>
            <a:off x="3660775" y="2170113"/>
            <a:ext cx="1588" cy="811212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0" name="Line 102"/>
          <p:cNvSpPr>
            <a:spLocks noChangeShapeType="1"/>
          </p:cNvSpPr>
          <p:nvPr/>
        </p:nvSpPr>
        <p:spPr bwMode="auto">
          <a:xfrm>
            <a:off x="3833813" y="2622550"/>
            <a:ext cx="1587" cy="358775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1" name="Rectangle 103"/>
          <p:cNvSpPr>
            <a:spLocks noChangeArrowheads="1"/>
          </p:cNvSpPr>
          <p:nvPr/>
        </p:nvSpPr>
        <p:spPr bwMode="auto">
          <a:xfrm rot="16200000">
            <a:off x="3560763" y="3130550"/>
            <a:ext cx="190500" cy="6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400" b="1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GW - 03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52" name="Rectangle 104"/>
          <p:cNvSpPr>
            <a:spLocks noChangeArrowheads="1"/>
          </p:cNvSpPr>
          <p:nvPr/>
        </p:nvSpPr>
        <p:spPr bwMode="auto">
          <a:xfrm rot="16200000">
            <a:off x="3733006" y="3137694"/>
            <a:ext cx="176213" cy="6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400" b="1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GP - 09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53" name="Rectangle 105"/>
          <p:cNvSpPr>
            <a:spLocks noChangeArrowheads="1"/>
          </p:cNvSpPr>
          <p:nvPr/>
        </p:nvSpPr>
        <p:spPr bwMode="auto">
          <a:xfrm>
            <a:off x="1412875" y="2979738"/>
            <a:ext cx="1123950" cy="538162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4" name="Freeform 106"/>
          <p:cNvSpPr>
            <a:spLocks/>
          </p:cNvSpPr>
          <p:nvPr/>
        </p:nvSpPr>
        <p:spPr bwMode="auto">
          <a:xfrm>
            <a:off x="2536825" y="3162300"/>
            <a:ext cx="366713" cy="173038"/>
          </a:xfrm>
          <a:custGeom>
            <a:avLst/>
            <a:gdLst/>
            <a:ahLst/>
            <a:cxnLst>
              <a:cxn ang="0">
                <a:pos x="231" y="55"/>
              </a:cxn>
              <a:cxn ang="0">
                <a:pos x="144" y="109"/>
              </a:cxn>
              <a:cxn ang="0">
                <a:pos x="161" y="83"/>
              </a:cxn>
              <a:cxn ang="0">
                <a:pos x="71" y="83"/>
              </a:cxn>
              <a:cxn ang="0">
                <a:pos x="89" y="109"/>
              </a:cxn>
              <a:cxn ang="0">
                <a:pos x="0" y="55"/>
              </a:cxn>
              <a:cxn ang="0">
                <a:pos x="89" y="0"/>
              </a:cxn>
              <a:cxn ang="0">
                <a:pos x="71" y="26"/>
              </a:cxn>
              <a:cxn ang="0">
                <a:pos x="161" y="26"/>
              </a:cxn>
              <a:cxn ang="0">
                <a:pos x="144" y="0"/>
              </a:cxn>
              <a:cxn ang="0">
                <a:pos x="231" y="55"/>
              </a:cxn>
            </a:cxnLst>
            <a:rect l="0" t="0" r="r" b="b"/>
            <a:pathLst>
              <a:path w="231" h="109">
                <a:moveTo>
                  <a:pt x="231" y="55"/>
                </a:moveTo>
                <a:lnTo>
                  <a:pt x="144" y="109"/>
                </a:lnTo>
                <a:lnTo>
                  <a:pt x="161" y="83"/>
                </a:lnTo>
                <a:lnTo>
                  <a:pt x="71" y="83"/>
                </a:lnTo>
                <a:lnTo>
                  <a:pt x="89" y="109"/>
                </a:lnTo>
                <a:lnTo>
                  <a:pt x="0" y="55"/>
                </a:lnTo>
                <a:lnTo>
                  <a:pt x="89" y="0"/>
                </a:lnTo>
                <a:lnTo>
                  <a:pt x="71" y="26"/>
                </a:lnTo>
                <a:lnTo>
                  <a:pt x="161" y="26"/>
                </a:lnTo>
                <a:lnTo>
                  <a:pt x="144" y="0"/>
                </a:lnTo>
                <a:lnTo>
                  <a:pt x="231" y="55"/>
                </a:lnTo>
                <a:close/>
              </a:path>
            </a:pathLst>
          </a:custGeom>
          <a:solidFill>
            <a:srgbClr val="FFFFFF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5" name="Rectangle 107"/>
          <p:cNvSpPr>
            <a:spLocks noChangeArrowheads="1"/>
          </p:cNvSpPr>
          <p:nvPr/>
        </p:nvSpPr>
        <p:spPr bwMode="auto">
          <a:xfrm>
            <a:off x="3171825" y="3113088"/>
            <a:ext cx="436563" cy="136525"/>
          </a:xfrm>
          <a:prstGeom prst="rect">
            <a:avLst/>
          </a:prstGeom>
          <a:solidFill>
            <a:srgbClr val="E6E6E6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6" name="Rectangle 108"/>
          <p:cNvSpPr>
            <a:spLocks noChangeArrowheads="1"/>
          </p:cNvSpPr>
          <p:nvPr/>
        </p:nvSpPr>
        <p:spPr bwMode="auto">
          <a:xfrm>
            <a:off x="3200400" y="3124200"/>
            <a:ext cx="37782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7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DPP-1XX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57" name="Rectangle 109"/>
          <p:cNvSpPr>
            <a:spLocks noChangeArrowheads="1"/>
          </p:cNvSpPr>
          <p:nvPr/>
        </p:nvSpPr>
        <p:spPr bwMode="auto">
          <a:xfrm>
            <a:off x="3173413" y="3248025"/>
            <a:ext cx="436562" cy="138113"/>
          </a:xfrm>
          <a:prstGeom prst="rect">
            <a:avLst/>
          </a:prstGeom>
          <a:solidFill>
            <a:srgbClr val="E6E6E6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8" name="Rectangle 110"/>
          <p:cNvSpPr>
            <a:spLocks noChangeArrowheads="1"/>
          </p:cNvSpPr>
          <p:nvPr/>
        </p:nvSpPr>
        <p:spPr bwMode="auto">
          <a:xfrm>
            <a:off x="3259138" y="3260725"/>
            <a:ext cx="2571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7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(GDC)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59" name="Rectangle 111"/>
          <p:cNvSpPr>
            <a:spLocks noChangeArrowheads="1"/>
          </p:cNvSpPr>
          <p:nvPr/>
        </p:nvSpPr>
        <p:spPr bwMode="auto">
          <a:xfrm>
            <a:off x="1735138" y="3148013"/>
            <a:ext cx="439737" cy="136525"/>
          </a:xfrm>
          <a:prstGeom prst="rect">
            <a:avLst/>
          </a:prstGeom>
          <a:solidFill>
            <a:srgbClr val="E6E6E6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60" name="Rectangle 112"/>
          <p:cNvSpPr>
            <a:spLocks noChangeArrowheads="1"/>
          </p:cNvSpPr>
          <p:nvPr/>
        </p:nvSpPr>
        <p:spPr bwMode="auto">
          <a:xfrm>
            <a:off x="1766888" y="3160713"/>
            <a:ext cx="382587" cy="10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7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DPC-1XX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61" name="Rectangle 113"/>
          <p:cNvSpPr>
            <a:spLocks noChangeArrowheads="1"/>
          </p:cNvSpPr>
          <p:nvPr/>
        </p:nvSpPr>
        <p:spPr bwMode="auto">
          <a:xfrm>
            <a:off x="1738313" y="3273425"/>
            <a:ext cx="438150" cy="136525"/>
          </a:xfrm>
          <a:prstGeom prst="rect">
            <a:avLst/>
          </a:prstGeom>
          <a:solidFill>
            <a:srgbClr val="E6E6E6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62" name="Rectangle 114"/>
          <p:cNvSpPr>
            <a:spLocks noChangeArrowheads="1"/>
          </p:cNvSpPr>
          <p:nvPr/>
        </p:nvSpPr>
        <p:spPr bwMode="auto">
          <a:xfrm>
            <a:off x="1851025" y="3286125"/>
            <a:ext cx="207963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7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(INV)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63" name="Freeform 115"/>
          <p:cNvSpPr>
            <a:spLocks/>
          </p:cNvSpPr>
          <p:nvPr/>
        </p:nvSpPr>
        <p:spPr bwMode="auto">
          <a:xfrm>
            <a:off x="981075" y="3087688"/>
            <a:ext cx="150813" cy="149225"/>
          </a:xfrm>
          <a:custGeom>
            <a:avLst/>
            <a:gdLst/>
            <a:ahLst/>
            <a:cxnLst>
              <a:cxn ang="0">
                <a:pos x="0" y="47"/>
              </a:cxn>
              <a:cxn ang="0">
                <a:pos x="2" y="34"/>
              </a:cxn>
              <a:cxn ang="0">
                <a:pos x="8" y="22"/>
              </a:cxn>
              <a:cxn ang="0">
                <a:pos x="16" y="11"/>
              </a:cxn>
              <a:cxn ang="0">
                <a:pos x="27" y="4"/>
              </a:cxn>
              <a:cxn ang="0">
                <a:pos x="41" y="0"/>
              </a:cxn>
              <a:cxn ang="0">
                <a:pos x="54" y="0"/>
              </a:cxn>
              <a:cxn ang="0">
                <a:pos x="68" y="4"/>
              </a:cxn>
              <a:cxn ang="0">
                <a:pos x="79" y="11"/>
              </a:cxn>
              <a:cxn ang="0">
                <a:pos x="87" y="22"/>
              </a:cxn>
              <a:cxn ang="0">
                <a:pos x="93" y="34"/>
              </a:cxn>
              <a:cxn ang="0">
                <a:pos x="95" y="47"/>
              </a:cxn>
              <a:cxn ang="0">
                <a:pos x="93" y="61"/>
              </a:cxn>
              <a:cxn ang="0">
                <a:pos x="87" y="73"/>
              </a:cxn>
              <a:cxn ang="0">
                <a:pos x="79" y="84"/>
              </a:cxn>
              <a:cxn ang="0">
                <a:pos x="68" y="91"/>
              </a:cxn>
              <a:cxn ang="0">
                <a:pos x="54" y="94"/>
              </a:cxn>
              <a:cxn ang="0">
                <a:pos x="41" y="94"/>
              </a:cxn>
              <a:cxn ang="0">
                <a:pos x="27" y="91"/>
              </a:cxn>
              <a:cxn ang="0">
                <a:pos x="16" y="84"/>
              </a:cxn>
              <a:cxn ang="0">
                <a:pos x="8" y="73"/>
              </a:cxn>
              <a:cxn ang="0">
                <a:pos x="2" y="61"/>
              </a:cxn>
              <a:cxn ang="0">
                <a:pos x="0" y="47"/>
              </a:cxn>
            </a:cxnLst>
            <a:rect l="0" t="0" r="r" b="b"/>
            <a:pathLst>
              <a:path w="95" h="94">
                <a:moveTo>
                  <a:pt x="0" y="47"/>
                </a:moveTo>
                <a:lnTo>
                  <a:pt x="2" y="34"/>
                </a:lnTo>
                <a:lnTo>
                  <a:pt x="8" y="22"/>
                </a:lnTo>
                <a:lnTo>
                  <a:pt x="16" y="11"/>
                </a:lnTo>
                <a:lnTo>
                  <a:pt x="27" y="4"/>
                </a:lnTo>
                <a:lnTo>
                  <a:pt x="41" y="0"/>
                </a:lnTo>
                <a:lnTo>
                  <a:pt x="54" y="0"/>
                </a:lnTo>
                <a:lnTo>
                  <a:pt x="68" y="4"/>
                </a:lnTo>
                <a:lnTo>
                  <a:pt x="79" y="11"/>
                </a:lnTo>
                <a:lnTo>
                  <a:pt x="87" y="22"/>
                </a:lnTo>
                <a:lnTo>
                  <a:pt x="93" y="34"/>
                </a:lnTo>
                <a:lnTo>
                  <a:pt x="95" y="47"/>
                </a:lnTo>
                <a:lnTo>
                  <a:pt x="93" y="61"/>
                </a:lnTo>
                <a:lnTo>
                  <a:pt x="87" y="73"/>
                </a:lnTo>
                <a:lnTo>
                  <a:pt x="79" y="84"/>
                </a:lnTo>
                <a:lnTo>
                  <a:pt x="68" y="91"/>
                </a:lnTo>
                <a:lnTo>
                  <a:pt x="54" y="94"/>
                </a:lnTo>
                <a:lnTo>
                  <a:pt x="41" y="94"/>
                </a:lnTo>
                <a:lnTo>
                  <a:pt x="27" y="91"/>
                </a:lnTo>
                <a:lnTo>
                  <a:pt x="16" y="84"/>
                </a:lnTo>
                <a:lnTo>
                  <a:pt x="8" y="73"/>
                </a:lnTo>
                <a:lnTo>
                  <a:pt x="2" y="61"/>
                </a:lnTo>
                <a:lnTo>
                  <a:pt x="0" y="47"/>
                </a:lnTo>
                <a:close/>
              </a:path>
            </a:pathLst>
          </a:custGeom>
          <a:solidFill>
            <a:srgbClr val="FFFFFF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64" name="Line 116"/>
          <p:cNvSpPr>
            <a:spLocks noChangeShapeType="1"/>
          </p:cNvSpPr>
          <p:nvPr/>
        </p:nvSpPr>
        <p:spPr bwMode="auto">
          <a:xfrm flipH="1">
            <a:off x="1131888" y="3162300"/>
            <a:ext cx="280987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65" name="Freeform 117"/>
          <p:cNvSpPr>
            <a:spLocks/>
          </p:cNvSpPr>
          <p:nvPr/>
        </p:nvSpPr>
        <p:spPr bwMode="auto">
          <a:xfrm>
            <a:off x="884238" y="3162300"/>
            <a:ext cx="528637" cy="206375"/>
          </a:xfrm>
          <a:custGeom>
            <a:avLst/>
            <a:gdLst/>
            <a:ahLst/>
            <a:cxnLst>
              <a:cxn ang="0">
                <a:pos x="333" y="130"/>
              </a:cxn>
              <a:cxn ang="0">
                <a:pos x="0" y="130"/>
              </a:cxn>
              <a:cxn ang="0">
                <a:pos x="0" y="0"/>
              </a:cxn>
              <a:cxn ang="0">
                <a:pos x="61" y="0"/>
              </a:cxn>
            </a:cxnLst>
            <a:rect l="0" t="0" r="r" b="b"/>
            <a:pathLst>
              <a:path w="333" h="130">
                <a:moveTo>
                  <a:pt x="333" y="130"/>
                </a:moveTo>
                <a:lnTo>
                  <a:pt x="0" y="130"/>
                </a:lnTo>
                <a:lnTo>
                  <a:pt x="0" y="0"/>
                </a:lnTo>
                <a:lnTo>
                  <a:pt x="61" y="0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66" name="Rectangle 118"/>
          <p:cNvSpPr>
            <a:spLocks noChangeArrowheads="1"/>
          </p:cNvSpPr>
          <p:nvPr/>
        </p:nvSpPr>
        <p:spPr bwMode="auto">
          <a:xfrm>
            <a:off x="1433513" y="3130550"/>
            <a:ext cx="173037" cy="6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400" b="1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VC - 01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67" name="Rectangle 119"/>
          <p:cNvSpPr>
            <a:spLocks noChangeArrowheads="1"/>
          </p:cNvSpPr>
          <p:nvPr/>
        </p:nvSpPr>
        <p:spPr bwMode="auto">
          <a:xfrm>
            <a:off x="1433513" y="3332163"/>
            <a:ext cx="173037" cy="6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400" b="1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VC - 02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68" name="Rectangle 120"/>
          <p:cNvSpPr>
            <a:spLocks noChangeArrowheads="1"/>
          </p:cNvSpPr>
          <p:nvPr/>
        </p:nvSpPr>
        <p:spPr bwMode="auto">
          <a:xfrm>
            <a:off x="858838" y="2974975"/>
            <a:ext cx="334962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5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C1VD COIL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69" name="Rectangle 121"/>
          <p:cNvSpPr>
            <a:spLocks noChangeArrowheads="1"/>
          </p:cNvSpPr>
          <p:nvPr/>
        </p:nvSpPr>
        <p:spPr bwMode="auto">
          <a:xfrm>
            <a:off x="152400" y="5410200"/>
            <a:ext cx="4648200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eaLnBrk="0" latinLnBrk="0" hangingPunct="0">
              <a:lnSpc>
                <a:spcPct val="150000"/>
              </a:lnSpc>
            </a:pPr>
            <a:r>
              <a:rPr lang="en-US" altLang="ko-KR" sz="1000" b="1">
                <a:latin typeface="Arial" charset="0"/>
                <a:ea typeface="굴림체" pitchFamily="49" charset="-127"/>
              </a:rPr>
              <a:t>C1VD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가 없는 경우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: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후 충전저항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RCRR, RCRS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통해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LINK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전압이 충전된다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초뒤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LINK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전압을 검사하여 저 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(DC 330V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검출하고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후 다시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LINK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전압이 충전되지 않으면 충전회로 이상을 검출하여 운전 불능상태가 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endParaRPr lang="en-US" altLang="ko-KR" sz="900">
              <a:latin typeface="Arial" charset="0"/>
              <a:ea typeface="굴림체" pitchFamily="49" charset="-127"/>
            </a:endParaRPr>
          </a:p>
        </p:txBody>
      </p:sp>
      <p:sp>
        <p:nvSpPr>
          <p:cNvPr id="2170" name="Rectangle 122"/>
          <p:cNvSpPr>
            <a:spLocks noChangeArrowheads="1"/>
          </p:cNvSpPr>
          <p:nvPr/>
        </p:nvSpPr>
        <p:spPr bwMode="auto">
          <a:xfrm>
            <a:off x="2305050" y="2463800"/>
            <a:ext cx="198438" cy="57150"/>
          </a:xfrm>
          <a:prstGeom prst="rect">
            <a:avLst/>
          </a:prstGeom>
          <a:solidFill>
            <a:srgbClr val="FF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71" name="Freeform 123"/>
          <p:cNvSpPr>
            <a:spLocks/>
          </p:cNvSpPr>
          <p:nvPr/>
        </p:nvSpPr>
        <p:spPr bwMode="auto">
          <a:xfrm>
            <a:off x="2241550" y="2493963"/>
            <a:ext cx="63500" cy="125412"/>
          </a:xfrm>
          <a:custGeom>
            <a:avLst/>
            <a:gdLst/>
            <a:ahLst/>
            <a:cxnLst>
              <a:cxn ang="0">
                <a:pos x="40" y="0"/>
              </a:cxn>
              <a:cxn ang="0">
                <a:pos x="0" y="0"/>
              </a:cxn>
              <a:cxn ang="0">
                <a:pos x="0" y="79"/>
              </a:cxn>
            </a:cxnLst>
            <a:rect l="0" t="0" r="r" b="b"/>
            <a:pathLst>
              <a:path w="40" h="79">
                <a:moveTo>
                  <a:pt x="40" y="0"/>
                </a:moveTo>
                <a:lnTo>
                  <a:pt x="0" y="0"/>
                </a:lnTo>
                <a:lnTo>
                  <a:pt x="0" y="79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72" name="Freeform 124"/>
          <p:cNvSpPr>
            <a:spLocks/>
          </p:cNvSpPr>
          <p:nvPr/>
        </p:nvSpPr>
        <p:spPr bwMode="auto">
          <a:xfrm>
            <a:off x="2222500" y="2600325"/>
            <a:ext cx="31750" cy="30163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2" y="3"/>
              </a:cxn>
              <a:cxn ang="0">
                <a:pos x="7" y="0"/>
              </a:cxn>
              <a:cxn ang="0">
                <a:pos x="13" y="0"/>
              </a:cxn>
              <a:cxn ang="0">
                <a:pos x="19" y="3"/>
              </a:cxn>
              <a:cxn ang="0">
                <a:pos x="20" y="9"/>
              </a:cxn>
              <a:cxn ang="0">
                <a:pos x="19" y="15"/>
              </a:cxn>
              <a:cxn ang="0">
                <a:pos x="13" y="19"/>
              </a:cxn>
              <a:cxn ang="0">
                <a:pos x="7" y="19"/>
              </a:cxn>
              <a:cxn ang="0">
                <a:pos x="2" y="15"/>
              </a:cxn>
              <a:cxn ang="0">
                <a:pos x="0" y="9"/>
              </a:cxn>
            </a:cxnLst>
            <a:rect l="0" t="0" r="r" b="b"/>
            <a:pathLst>
              <a:path w="20" h="19">
                <a:moveTo>
                  <a:pt x="0" y="9"/>
                </a:moveTo>
                <a:lnTo>
                  <a:pt x="2" y="3"/>
                </a:lnTo>
                <a:lnTo>
                  <a:pt x="7" y="0"/>
                </a:lnTo>
                <a:lnTo>
                  <a:pt x="13" y="0"/>
                </a:lnTo>
                <a:lnTo>
                  <a:pt x="19" y="3"/>
                </a:lnTo>
                <a:lnTo>
                  <a:pt x="20" y="9"/>
                </a:lnTo>
                <a:lnTo>
                  <a:pt x="19" y="15"/>
                </a:lnTo>
                <a:lnTo>
                  <a:pt x="13" y="19"/>
                </a:lnTo>
                <a:lnTo>
                  <a:pt x="7" y="19"/>
                </a:lnTo>
                <a:lnTo>
                  <a:pt x="2" y="15"/>
                </a:lnTo>
                <a:lnTo>
                  <a:pt x="0" y="9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73" name="Line 125"/>
          <p:cNvSpPr>
            <a:spLocks noChangeShapeType="1"/>
          </p:cNvSpPr>
          <p:nvPr/>
        </p:nvSpPr>
        <p:spPr bwMode="auto">
          <a:xfrm flipH="1" flipV="1">
            <a:off x="2503488" y="2493963"/>
            <a:ext cx="160337" cy="1587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74" name="Line 126"/>
          <p:cNvSpPr>
            <a:spLocks noChangeShapeType="1"/>
          </p:cNvSpPr>
          <p:nvPr/>
        </p:nvSpPr>
        <p:spPr bwMode="auto">
          <a:xfrm>
            <a:off x="2663825" y="2435225"/>
            <a:ext cx="1588" cy="11906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75" name="Line 127"/>
          <p:cNvSpPr>
            <a:spLocks noChangeShapeType="1"/>
          </p:cNvSpPr>
          <p:nvPr/>
        </p:nvSpPr>
        <p:spPr bwMode="auto">
          <a:xfrm>
            <a:off x="2717800" y="2435225"/>
            <a:ext cx="1588" cy="11906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76" name="Freeform 128"/>
          <p:cNvSpPr>
            <a:spLocks/>
          </p:cNvSpPr>
          <p:nvPr/>
        </p:nvSpPr>
        <p:spPr bwMode="auto">
          <a:xfrm>
            <a:off x="2717800" y="2495550"/>
            <a:ext cx="130175" cy="1238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2" y="0"/>
              </a:cxn>
              <a:cxn ang="0">
                <a:pos x="82" y="78"/>
              </a:cxn>
            </a:cxnLst>
            <a:rect l="0" t="0" r="r" b="b"/>
            <a:pathLst>
              <a:path w="82" h="78">
                <a:moveTo>
                  <a:pt x="0" y="0"/>
                </a:moveTo>
                <a:lnTo>
                  <a:pt x="82" y="0"/>
                </a:lnTo>
                <a:lnTo>
                  <a:pt x="82" y="78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77" name="Freeform 129"/>
          <p:cNvSpPr>
            <a:spLocks/>
          </p:cNvSpPr>
          <p:nvPr/>
        </p:nvSpPr>
        <p:spPr bwMode="auto">
          <a:xfrm>
            <a:off x="2830513" y="2601913"/>
            <a:ext cx="33337" cy="30162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3" y="3"/>
              </a:cxn>
              <a:cxn ang="0">
                <a:pos x="7" y="0"/>
              </a:cxn>
              <a:cxn ang="0">
                <a:pos x="14" y="0"/>
              </a:cxn>
              <a:cxn ang="0">
                <a:pos x="19" y="3"/>
              </a:cxn>
              <a:cxn ang="0">
                <a:pos x="21" y="9"/>
              </a:cxn>
              <a:cxn ang="0">
                <a:pos x="19" y="16"/>
              </a:cxn>
              <a:cxn ang="0">
                <a:pos x="14" y="19"/>
              </a:cxn>
              <a:cxn ang="0">
                <a:pos x="7" y="19"/>
              </a:cxn>
              <a:cxn ang="0">
                <a:pos x="3" y="16"/>
              </a:cxn>
              <a:cxn ang="0">
                <a:pos x="0" y="9"/>
              </a:cxn>
            </a:cxnLst>
            <a:rect l="0" t="0" r="r" b="b"/>
            <a:pathLst>
              <a:path w="21" h="19">
                <a:moveTo>
                  <a:pt x="0" y="9"/>
                </a:moveTo>
                <a:lnTo>
                  <a:pt x="3" y="3"/>
                </a:lnTo>
                <a:lnTo>
                  <a:pt x="7" y="0"/>
                </a:lnTo>
                <a:lnTo>
                  <a:pt x="14" y="0"/>
                </a:lnTo>
                <a:lnTo>
                  <a:pt x="19" y="3"/>
                </a:lnTo>
                <a:lnTo>
                  <a:pt x="21" y="9"/>
                </a:lnTo>
                <a:lnTo>
                  <a:pt x="19" y="16"/>
                </a:lnTo>
                <a:lnTo>
                  <a:pt x="14" y="19"/>
                </a:lnTo>
                <a:lnTo>
                  <a:pt x="7" y="19"/>
                </a:lnTo>
                <a:lnTo>
                  <a:pt x="3" y="16"/>
                </a:lnTo>
                <a:lnTo>
                  <a:pt x="0" y="9"/>
                </a:lnTo>
                <a:close/>
              </a:path>
            </a:pathLst>
          </a:custGeom>
          <a:solidFill>
            <a:srgbClr val="1A1A1A"/>
          </a:solidFill>
          <a:ln w="158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78" name="Rectangle 130"/>
          <p:cNvSpPr>
            <a:spLocks noChangeArrowheads="1"/>
          </p:cNvSpPr>
          <p:nvPr/>
        </p:nvSpPr>
        <p:spPr bwMode="auto">
          <a:xfrm>
            <a:off x="2133600" y="2389188"/>
            <a:ext cx="176213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73125"/>
            <a:r>
              <a:rPr lang="en-US" altLang="ko-KR" sz="50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RCRT</a:t>
            </a:r>
            <a:endParaRPr lang="en-US" altLang="ko-KR" sz="2300">
              <a:latin typeface="Arial" charset="0"/>
              <a:ea typeface="굴림체" pitchFamily="49" charset="-127"/>
            </a:endParaRPr>
          </a:p>
        </p:txBody>
      </p:sp>
      <p:sp>
        <p:nvSpPr>
          <p:cNvPr id="2179" name="Rectangle 131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54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과부하 검출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[ER_INV_OVER_LOAD]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43434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15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모터에 흐르는 전류치를 검출하여 통상 모터용량에 비해 큰 전류가 연속적으로 흐를 경우 검출</a:t>
            </a:r>
            <a:endParaRPr lang="ko-KR" altLang="en-US" sz="900" b="1">
              <a:latin typeface="Arial" charset="0"/>
              <a:ea typeface="굴림체" pitchFamily="49" charset="-127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066800"/>
            <a:ext cx="4038600" cy="229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HCT TURN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수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(INV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과전류의 도표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 용량 및 제어반 용량 등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정확한지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체크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권상기의 기어 및 브레이크 상태 체크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CAR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CWT  RAIL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끼임이 없는 지 확인 할 것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</a:t>
            </a:r>
            <a:r>
              <a:rPr lang="en-US" altLang="ko-KR" sz="1000" baseline="50000">
                <a:latin typeface="Arial" charset="0"/>
                <a:ea typeface="굴림체" pitchFamily="49" charset="-127"/>
              </a:rPr>
              <a:t>2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HCT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  <a:endParaRPr lang="ko-KR" altLang="en-US" sz="900">
              <a:latin typeface="Arial" charset="0"/>
              <a:ea typeface="굴림체" pitchFamily="49" charset="-127"/>
            </a:endParaRP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엔코더의 정역 배치를 확인</a:t>
            </a:r>
          </a:p>
          <a:p>
            <a:pPr algn="just" defTabSz="873125" eaLnBrk="0" latinLnBrk="0" hangingPunct="0">
              <a:lnSpc>
                <a:spcPct val="15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엔코더의 단선 여부를 확인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(TCD 92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조치사항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4572000"/>
            <a:ext cx="4621213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eaLnBrk="0" latinLnBrk="0" hangingPunct="0">
              <a:lnSpc>
                <a:spcPct val="15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모터의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전류들을 전파 정류한 값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피크치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변환하여 읽고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LOW PASS FILTER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거친 값이 전동기 정격전류의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이상인 경우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소정치 이상인 시간이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이상 지속될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검출</a:t>
            </a:r>
            <a:endParaRPr lang="ko-KR" altLang="en-US" sz="900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49275" y="2149475"/>
            <a:ext cx="3513138" cy="1576388"/>
            <a:chOff x="346" y="1354"/>
            <a:chExt cx="2213" cy="993"/>
          </a:xfrm>
        </p:grpSpPr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346" y="1354"/>
              <a:ext cx="2213" cy="993"/>
              <a:chOff x="346" y="1354"/>
              <a:chExt cx="2213" cy="993"/>
            </a:xfrm>
          </p:grpSpPr>
          <p:sp>
            <p:nvSpPr>
              <p:cNvPr id="2071" name="Line 23"/>
              <p:cNvSpPr>
                <a:spLocks noChangeShapeType="1"/>
              </p:cNvSpPr>
              <p:nvPr/>
            </p:nvSpPr>
            <p:spPr bwMode="auto">
              <a:xfrm flipH="1">
                <a:off x="1138" y="1870"/>
                <a:ext cx="139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2" name="Line 24"/>
              <p:cNvSpPr>
                <a:spLocks noChangeShapeType="1"/>
              </p:cNvSpPr>
              <p:nvPr/>
            </p:nvSpPr>
            <p:spPr bwMode="auto">
              <a:xfrm flipH="1">
                <a:off x="695" y="1723"/>
                <a:ext cx="210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3" name="Line 25"/>
              <p:cNvSpPr>
                <a:spLocks noChangeShapeType="1"/>
              </p:cNvSpPr>
              <p:nvPr/>
            </p:nvSpPr>
            <p:spPr bwMode="auto">
              <a:xfrm flipH="1">
                <a:off x="695" y="1870"/>
                <a:ext cx="209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4" name="Line 26"/>
              <p:cNvSpPr>
                <a:spLocks noChangeShapeType="1"/>
              </p:cNvSpPr>
              <p:nvPr/>
            </p:nvSpPr>
            <p:spPr bwMode="auto">
              <a:xfrm flipH="1">
                <a:off x="695" y="2020"/>
                <a:ext cx="210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5" name="Rectangle 27"/>
              <p:cNvSpPr>
                <a:spLocks noChangeArrowheads="1"/>
              </p:cNvSpPr>
              <p:nvPr/>
            </p:nvSpPr>
            <p:spPr bwMode="auto">
              <a:xfrm>
                <a:off x="904" y="1672"/>
                <a:ext cx="234" cy="39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6" name="Freeform 28"/>
              <p:cNvSpPr>
                <a:spLocks/>
              </p:cNvSpPr>
              <p:nvPr/>
            </p:nvSpPr>
            <p:spPr bwMode="auto">
              <a:xfrm>
                <a:off x="984" y="1833"/>
                <a:ext cx="75" cy="68"/>
              </a:xfrm>
              <a:custGeom>
                <a:avLst/>
                <a:gdLst/>
                <a:ahLst/>
                <a:cxnLst>
                  <a:cxn ang="0">
                    <a:pos x="0" y="204"/>
                  </a:cxn>
                  <a:cxn ang="0">
                    <a:pos x="226" y="204"/>
                  </a:cxn>
                  <a:cxn ang="0">
                    <a:pos x="112" y="0"/>
                  </a:cxn>
                  <a:cxn ang="0">
                    <a:pos x="0" y="204"/>
                  </a:cxn>
                </a:cxnLst>
                <a:rect l="0" t="0" r="r" b="b"/>
                <a:pathLst>
                  <a:path w="226" h="204">
                    <a:moveTo>
                      <a:pt x="0" y="204"/>
                    </a:moveTo>
                    <a:lnTo>
                      <a:pt x="226" y="204"/>
                    </a:lnTo>
                    <a:lnTo>
                      <a:pt x="112" y="0"/>
                    </a:lnTo>
                    <a:lnTo>
                      <a:pt x="0" y="204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 flipH="1">
                <a:off x="978" y="1833"/>
                <a:ext cx="86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1021" y="1787"/>
                <a:ext cx="1" cy="167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346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369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1" name="Line 33"/>
              <p:cNvSpPr>
                <a:spLocks noChangeShapeType="1"/>
              </p:cNvSpPr>
              <p:nvPr/>
            </p:nvSpPr>
            <p:spPr bwMode="auto">
              <a:xfrm>
                <a:off x="392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>
                <a:off x="415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3" name="Line 35"/>
              <p:cNvSpPr>
                <a:spLocks noChangeShapeType="1"/>
              </p:cNvSpPr>
              <p:nvPr/>
            </p:nvSpPr>
            <p:spPr bwMode="auto">
              <a:xfrm>
                <a:off x="438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4" name="Line 36"/>
              <p:cNvSpPr>
                <a:spLocks noChangeShapeType="1"/>
              </p:cNvSpPr>
              <p:nvPr/>
            </p:nvSpPr>
            <p:spPr bwMode="auto">
              <a:xfrm>
                <a:off x="461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5" name="Line 37"/>
              <p:cNvSpPr>
                <a:spLocks noChangeShapeType="1"/>
              </p:cNvSpPr>
              <p:nvPr/>
            </p:nvSpPr>
            <p:spPr bwMode="auto">
              <a:xfrm>
                <a:off x="484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6" name="Line 38"/>
              <p:cNvSpPr>
                <a:spLocks noChangeShapeType="1"/>
              </p:cNvSpPr>
              <p:nvPr/>
            </p:nvSpPr>
            <p:spPr bwMode="auto">
              <a:xfrm>
                <a:off x="507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7" name="Line 39"/>
              <p:cNvSpPr>
                <a:spLocks noChangeShapeType="1"/>
              </p:cNvSpPr>
              <p:nvPr/>
            </p:nvSpPr>
            <p:spPr bwMode="auto">
              <a:xfrm>
                <a:off x="530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8" name="Line 40"/>
              <p:cNvSpPr>
                <a:spLocks noChangeShapeType="1"/>
              </p:cNvSpPr>
              <p:nvPr/>
            </p:nvSpPr>
            <p:spPr bwMode="auto">
              <a:xfrm>
                <a:off x="553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9" name="Line 41"/>
              <p:cNvSpPr>
                <a:spLocks noChangeShapeType="1"/>
              </p:cNvSpPr>
              <p:nvPr/>
            </p:nvSpPr>
            <p:spPr bwMode="auto">
              <a:xfrm>
                <a:off x="577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>
                <a:off x="600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>
                <a:off x="623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646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669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4" name="Line 46"/>
              <p:cNvSpPr>
                <a:spLocks noChangeShapeType="1"/>
              </p:cNvSpPr>
              <p:nvPr/>
            </p:nvSpPr>
            <p:spPr bwMode="auto">
              <a:xfrm>
                <a:off x="692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>
                <a:off x="715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6" name="Line 48"/>
              <p:cNvSpPr>
                <a:spLocks noChangeShapeType="1"/>
              </p:cNvSpPr>
              <p:nvPr/>
            </p:nvSpPr>
            <p:spPr bwMode="auto">
              <a:xfrm>
                <a:off x="738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7" name="Line 49"/>
              <p:cNvSpPr>
                <a:spLocks noChangeShapeType="1"/>
              </p:cNvSpPr>
              <p:nvPr/>
            </p:nvSpPr>
            <p:spPr bwMode="auto">
              <a:xfrm>
                <a:off x="761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8" name="Line 50"/>
              <p:cNvSpPr>
                <a:spLocks noChangeShapeType="1"/>
              </p:cNvSpPr>
              <p:nvPr/>
            </p:nvSpPr>
            <p:spPr bwMode="auto">
              <a:xfrm>
                <a:off x="784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9" name="Line 51"/>
              <p:cNvSpPr>
                <a:spLocks noChangeShapeType="1"/>
              </p:cNvSpPr>
              <p:nvPr/>
            </p:nvSpPr>
            <p:spPr bwMode="auto">
              <a:xfrm>
                <a:off x="807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0" name="Line 52"/>
              <p:cNvSpPr>
                <a:spLocks noChangeShapeType="1"/>
              </p:cNvSpPr>
              <p:nvPr/>
            </p:nvSpPr>
            <p:spPr bwMode="auto">
              <a:xfrm>
                <a:off x="830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1" name="Line 53"/>
              <p:cNvSpPr>
                <a:spLocks noChangeShapeType="1"/>
              </p:cNvSpPr>
              <p:nvPr/>
            </p:nvSpPr>
            <p:spPr bwMode="auto">
              <a:xfrm>
                <a:off x="853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>
                <a:off x="876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3" name="Line 55"/>
              <p:cNvSpPr>
                <a:spLocks noChangeShapeType="1"/>
              </p:cNvSpPr>
              <p:nvPr/>
            </p:nvSpPr>
            <p:spPr bwMode="auto">
              <a:xfrm>
                <a:off x="899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4" name="Line 56"/>
              <p:cNvSpPr>
                <a:spLocks noChangeShapeType="1"/>
              </p:cNvSpPr>
              <p:nvPr/>
            </p:nvSpPr>
            <p:spPr bwMode="auto">
              <a:xfrm>
                <a:off x="922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5" name="Line 57"/>
              <p:cNvSpPr>
                <a:spLocks noChangeShapeType="1"/>
              </p:cNvSpPr>
              <p:nvPr/>
            </p:nvSpPr>
            <p:spPr bwMode="auto">
              <a:xfrm>
                <a:off x="945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>
                <a:off x="968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>
                <a:off x="991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>
                <a:off x="1014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>
                <a:off x="1037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>
                <a:off x="1060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>
                <a:off x="1084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1107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>
                <a:off x="1130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1153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>
                <a:off x="1176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>
                <a:off x="1199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>
                <a:off x="1222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>
                <a:off x="1245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>
                <a:off x="1268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>
                <a:off x="1291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>
                <a:off x="1314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2" name="Line 74"/>
              <p:cNvSpPr>
                <a:spLocks noChangeShapeType="1"/>
              </p:cNvSpPr>
              <p:nvPr/>
            </p:nvSpPr>
            <p:spPr bwMode="auto">
              <a:xfrm>
                <a:off x="1337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>
                <a:off x="1360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4" name="Line 76"/>
              <p:cNvSpPr>
                <a:spLocks noChangeShapeType="1"/>
              </p:cNvSpPr>
              <p:nvPr/>
            </p:nvSpPr>
            <p:spPr bwMode="auto">
              <a:xfrm>
                <a:off x="1383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5" name="Line 77"/>
              <p:cNvSpPr>
                <a:spLocks noChangeShapeType="1"/>
              </p:cNvSpPr>
              <p:nvPr/>
            </p:nvSpPr>
            <p:spPr bwMode="auto">
              <a:xfrm>
                <a:off x="1406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6" name="Line 78"/>
              <p:cNvSpPr>
                <a:spLocks noChangeShapeType="1"/>
              </p:cNvSpPr>
              <p:nvPr/>
            </p:nvSpPr>
            <p:spPr bwMode="auto">
              <a:xfrm>
                <a:off x="1429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7" name="Line 79"/>
              <p:cNvSpPr>
                <a:spLocks noChangeShapeType="1"/>
              </p:cNvSpPr>
              <p:nvPr/>
            </p:nvSpPr>
            <p:spPr bwMode="auto">
              <a:xfrm>
                <a:off x="1452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>
                <a:off x="1475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9" name="Line 81"/>
              <p:cNvSpPr>
                <a:spLocks noChangeShapeType="1"/>
              </p:cNvSpPr>
              <p:nvPr/>
            </p:nvSpPr>
            <p:spPr bwMode="auto">
              <a:xfrm>
                <a:off x="1498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>
                <a:off x="1521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>
                <a:off x="1544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>
                <a:off x="1567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>
                <a:off x="1591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4" name="Line 86"/>
              <p:cNvSpPr>
                <a:spLocks noChangeShapeType="1"/>
              </p:cNvSpPr>
              <p:nvPr/>
            </p:nvSpPr>
            <p:spPr bwMode="auto">
              <a:xfrm>
                <a:off x="1614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5" name="Line 87"/>
              <p:cNvSpPr>
                <a:spLocks noChangeShapeType="1"/>
              </p:cNvSpPr>
              <p:nvPr/>
            </p:nvSpPr>
            <p:spPr bwMode="auto">
              <a:xfrm>
                <a:off x="1637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6" name="Line 88"/>
              <p:cNvSpPr>
                <a:spLocks noChangeShapeType="1"/>
              </p:cNvSpPr>
              <p:nvPr/>
            </p:nvSpPr>
            <p:spPr bwMode="auto">
              <a:xfrm>
                <a:off x="1660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7" name="Line 89"/>
              <p:cNvSpPr>
                <a:spLocks noChangeShapeType="1"/>
              </p:cNvSpPr>
              <p:nvPr/>
            </p:nvSpPr>
            <p:spPr bwMode="auto">
              <a:xfrm>
                <a:off x="1683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8" name="Line 90"/>
              <p:cNvSpPr>
                <a:spLocks noChangeShapeType="1"/>
              </p:cNvSpPr>
              <p:nvPr/>
            </p:nvSpPr>
            <p:spPr bwMode="auto">
              <a:xfrm>
                <a:off x="1706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>
                <a:off x="1729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>
                <a:off x="1752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1" name="Line 93"/>
              <p:cNvSpPr>
                <a:spLocks noChangeShapeType="1"/>
              </p:cNvSpPr>
              <p:nvPr/>
            </p:nvSpPr>
            <p:spPr bwMode="auto">
              <a:xfrm>
                <a:off x="1775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>
                <a:off x="1798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>
                <a:off x="1821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>
                <a:off x="1844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>
                <a:off x="1867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>
                <a:off x="1890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>
                <a:off x="1913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>
                <a:off x="1936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1959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0" name="Line 102"/>
              <p:cNvSpPr>
                <a:spLocks noChangeShapeType="1"/>
              </p:cNvSpPr>
              <p:nvPr/>
            </p:nvSpPr>
            <p:spPr bwMode="auto">
              <a:xfrm>
                <a:off x="1982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1" name="Line 103"/>
              <p:cNvSpPr>
                <a:spLocks noChangeShapeType="1"/>
              </p:cNvSpPr>
              <p:nvPr/>
            </p:nvSpPr>
            <p:spPr bwMode="auto">
              <a:xfrm>
                <a:off x="2005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2" name="Line 104"/>
              <p:cNvSpPr>
                <a:spLocks noChangeShapeType="1"/>
              </p:cNvSpPr>
              <p:nvPr/>
            </p:nvSpPr>
            <p:spPr bwMode="auto">
              <a:xfrm>
                <a:off x="2028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3" name="Line 105"/>
              <p:cNvSpPr>
                <a:spLocks noChangeShapeType="1"/>
              </p:cNvSpPr>
              <p:nvPr/>
            </p:nvSpPr>
            <p:spPr bwMode="auto">
              <a:xfrm>
                <a:off x="2051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4" name="Line 106"/>
              <p:cNvSpPr>
                <a:spLocks noChangeShapeType="1"/>
              </p:cNvSpPr>
              <p:nvPr/>
            </p:nvSpPr>
            <p:spPr bwMode="auto">
              <a:xfrm>
                <a:off x="2074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5" name="Line 107"/>
              <p:cNvSpPr>
                <a:spLocks noChangeShapeType="1"/>
              </p:cNvSpPr>
              <p:nvPr/>
            </p:nvSpPr>
            <p:spPr bwMode="auto">
              <a:xfrm>
                <a:off x="2097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6" name="Line 108"/>
              <p:cNvSpPr>
                <a:spLocks noChangeShapeType="1"/>
              </p:cNvSpPr>
              <p:nvPr/>
            </p:nvSpPr>
            <p:spPr bwMode="auto">
              <a:xfrm>
                <a:off x="2121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7" name="Line 109"/>
              <p:cNvSpPr>
                <a:spLocks noChangeShapeType="1"/>
              </p:cNvSpPr>
              <p:nvPr/>
            </p:nvSpPr>
            <p:spPr bwMode="auto">
              <a:xfrm>
                <a:off x="2144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auto">
              <a:xfrm>
                <a:off x="2167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9" name="Line 111"/>
              <p:cNvSpPr>
                <a:spLocks noChangeShapeType="1"/>
              </p:cNvSpPr>
              <p:nvPr/>
            </p:nvSpPr>
            <p:spPr bwMode="auto">
              <a:xfrm>
                <a:off x="2190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0" name="Line 112"/>
              <p:cNvSpPr>
                <a:spLocks noChangeShapeType="1"/>
              </p:cNvSpPr>
              <p:nvPr/>
            </p:nvSpPr>
            <p:spPr bwMode="auto">
              <a:xfrm>
                <a:off x="2213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1" name="Line 113"/>
              <p:cNvSpPr>
                <a:spLocks noChangeShapeType="1"/>
              </p:cNvSpPr>
              <p:nvPr/>
            </p:nvSpPr>
            <p:spPr bwMode="auto">
              <a:xfrm>
                <a:off x="2236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2" name="Line 114"/>
              <p:cNvSpPr>
                <a:spLocks noChangeShapeType="1"/>
              </p:cNvSpPr>
              <p:nvPr/>
            </p:nvSpPr>
            <p:spPr bwMode="auto">
              <a:xfrm>
                <a:off x="2259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3" name="Line 115"/>
              <p:cNvSpPr>
                <a:spLocks noChangeShapeType="1"/>
              </p:cNvSpPr>
              <p:nvPr/>
            </p:nvSpPr>
            <p:spPr bwMode="auto">
              <a:xfrm>
                <a:off x="2282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4" name="Line 116"/>
              <p:cNvSpPr>
                <a:spLocks noChangeShapeType="1"/>
              </p:cNvSpPr>
              <p:nvPr/>
            </p:nvSpPr>
            <p:spPr bwMode="auto">
              <a:xfrm>
                <a:off x="2305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5" name="Line 117"/>
              <p:cNvSpPr>
                <a:spLocks noChangeShapeType="1"/>
              </p:cNvSpPr>
              <p:nvPr/>
            </p:nvSpPr>
            <p:spPr bwMode="auto">
              <a:xfrm>
                <a:off x="2328" y="2346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>
                <a:off x="2351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2374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2397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2420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>
                <a:off x="2443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>
                <a:off x="2466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>
                <a:off x="2489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>
                <a:off x="2512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>
                <a:off x="2535" y="2346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 flipV="1">
                <a:off x="2558" y="2334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 flipV="1">
                <a:off x="2558" y="2311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 flipV="1">
                <a:off x="2558" y="2288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 flipV="1">
                <a:off x="2558" y="2265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79" name="Line 131"/>
              <p:cNvSpPr>
                <a:spLocks noChangeShapeType="1"/>
              </p:cNvSpPr>
              <p:nvPr/>
            </p:nvSpPr>
            <p:spPr bwMode="auto">
              <a:xfrm flipV="1">
                <a:off x="2558" y="2242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0" name="Line 132"/>
              <p:cNvSpPr>
                <a:spLocks noChangeShapeType="1"/>
              </p:cNvSpPr>
              <p:nvPr/>
            </p:nvSpPr>
            <p:spPr bwMode="auto">
              <a:xfrm flipV="1">
                <a:off x="2558" y="2219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1" name="Line 133"/>
              <p:cNvSpPr>
                <a:spLocks noChangeShapeType="1"/>
              </p:cNvSpPr>
              <p:nvPr/>
            </p:nvSpPr>
            <p:spPr bwMode="auto">
              <a:xfrm flipV="1">
                <a:off x="2558" y="2196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2" name="Line 134"/>
              <p:cNvSpPr>
                <a:spLocks noChangeShapeType="1"/>
              </p:cNvSpPr>
              <p:nvPr/>
            </p:nvSpPr>
            <p:spPr bwMode="auto">
              <a:xfrm flipV="1">
                <a:off x="2558" y="2173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3" name="Line 135"/>
              <p:cNvSpPr>
                <a:spLocks noChangeShapeType="1"/>
              </p:cNvSpPr>
              <p:nvPr/>
            </p:nvSpPr>
            <p:spPr bwMode="auto">
              <a:xfrm flipV="1">
                <a:off x="2558" y="2150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4" name="Line 136"/>
              <p:cNvSpPr>
                <a:spLocks noChangeShapeType="1"/>
              </p:cNvSpPr>
              <p:nvPr/>
            </p:nvSpPr>
            <p:spPr bwMode="auto">
              <a:xfrm flipV="1">
                <a:off x="2558" y="2127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auto">
              <a:xfrm flipV="1">
                <a:off x="2558" y="2104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6" name="Line 138"/>
              <p:cNvSpPr>
                <a:spLocks noChangeShapeType="1"/>
              </p:cNvSpPr>
              <p:nvPr/>
            </p:nvSpPr>
            <p:spPr bwMode="auto">
              <a:xfrm flipV="1">
                <a:off x="2558" y="2081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 flipV="1">
                <a:off x="2558" y="2058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8" name="Line 140"/>
              <p:cNvSpPr>
                <a:spLocks noChangeShapeType="1"/>
              </p:cNvSpPr>
              <p:nvPr/>
            </p:nvSpPr>
            <p:spPr bwMode="auto">
              <a:xfrm flipV="1">
                <a:off x="2558" y="2035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89" name="Line 141"/>
              <p:cNvSpPr>
                <a:spLocks noChangeShapeType="1"/>
              </p:cNvSpPr>
              <p:nvPr/>
            </p:nvSpPr>
            <p:spPr bwMode="auto">
              <a:xfrm flipV="1">
                <a:off x="2558" y="2012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0" name="Line 142"/>
              <p:cNvSpPr>
                <a:spLocks noChangeShapeType="1"/>
              </p:cNvSpPr>
              <p:nvPr/>
            </p:nvSpPr>
            <p:spPr bwMode="auto">
              <a:xfrm flipV="1">
                <a:off x="2558" y="1989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1" name="Line 143"/>
              <p:cNvSpPr>
                <a:spLocks noChangeShapeType="1"/>
              </p:cNvSpPr>
              <p:nvPr/>
            </p:nvSpPr>
            <p:spPr bwMode="auto">
              <a:xfrm flipV="1">
                <a:off x="2558" y="1966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2" name="Line 144"/>
              <p:cNvSpPr>
                <a:spLocks noChangeShapeType="1"/>
              </p:cNvSpPr>
              <p:nvPr/>
            </p:nvSpPr>
            <p:spPr bwMode="auto">
              <a:xfrm flipV="1">
                <a:off x="2558" y="1943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3" name="Line 145"/>
              <p:cNvSpPr>
                <a:spLocks noChangeShapeType="1"/>
              </p:cNvSpPr>
              <p:nvPr/>
            </p:nvSpPr>
            <p:spPr bwMode="auto">
              <a:xfrm flipV="1">
                <a:off x="2558" y="1920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4" name="Line 146"/>
              <p:cNvSpPr>
                <a:spLocks noChangeShapeType="1"/>
              </p:cNvSpPr>
              <p:nvPr/>
            </p:nvSpPr>
            <p:spPr bwMode="auto">
              <a:xfrm flipV="1">
                <a:off x="2558" y="1897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5" name="Line 147"/>
              <p:cNvSpPr>
                <a:spLocks noChangeShapeType="1"/>
              </p:cNvSpPr>
              <p:nvPr/>
            </p:nvSpPr>
            <p:spPr bwMode="auto">
              <a:xfrm flipV="1">
                <a:off x="2558" y="1874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6" name="Line 148"/>
              <p:cNvSpPr>
                <a:spLocks noChangeShapeType="1"/>
              </p:cNvSpPr>
              <p:nvPr/>
            </p:nvSpPr>
            <p:spPr bwMode="auto">
              <a:xfrm flipV="1">
                <a:off x="2558" y="1851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7" name="Line 149"/>
              <p:cNvSpPr>
                <a:spLocks noChangeShapeType="1"/>
              </p:cNvSpPr>
              <p:nvPr/>
            </p:nvSpPr>
            <p:spPr bwMode="auto">
              <a:xfrm flipV="1">
                <a:off x="2558" y="1827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8" name="Line 150"/>
              <p:cNvSpPr>
                <a:spLocks noChangeShapeType="1"/>
              </p:cNvSpPr>
              <p:nvPr/>
            </p:nvSpPr>
            <p:spPr bwMode="auto">
              <a:xfrm flipV="1">
                <a:off x="2558" y="1804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99" name="Line 151"/>
              <p:cNvSpPr>
                <a:spLocks noChangeShapeType="1"/>
              </p:cNvSpPr>
              <p:nvPr/>
            </p:nvSpPr>
            <p:spPr bwMode="auto">
              <a:xfrm flipV="1">
                <a:off x="2558" y="1781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0" name="Line 152"/>
              <p:cNvSpPr>
                <a:spLocks noChangeShapeType="1"/>
              </p:cNvSpPr>
              <p:nvPr/>
            </p:nvSpPr>
            <p:spPr bwMode="auto">
              <a:xfrm flipV="1">
                <a:off x="2558" y="1758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1" name="Line 153"/>
              <p:cNvSpPr>
                <a:spLocks noChangeShapeType="1"/>
              </p:cNvSpPr>
              <p:nvPr/>
            </p:nvSpPr>
            <p:spPr bwMode="auto">
              <a:xfrm flipV="1">
                <a:off x="2558" y="1735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2" name="Line 154"/>
              <p:cNvSpPr>
                <a:spLocks noChangeShapeType="1"/>
              </p:cNvSpPr>
              <p:nvPr/>
            </p:nvSpPr>
            <p:spPr bwMode="auto">
              <a:xfrm flipV="1">
                <a:off x="2558" y="1712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3" name="Line 155"/>
              <p:cNvSpPr>
                <a:spLocks noChangeShapeType="1"/>
              </p:cNvSpPr>
              <p:nvPr/>
            </p:nvSpPr>
            <p:spPr bwMode="auto">
              <a:xfrm flipV="1">
                <a:off x="2558" y="1689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4" name="Line 156"/>
              <p:cNvSpPr>
                <a:spLocks noChangeShapeType="1"/>
              </p:cNvSpPr>
              <p:nvPr/>
            </p:nvSpPr>
            <p:spPr bwMode="auto">
              <a:xfrm flipV="1">
                <a:off x="2558" y="1666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5" name="Line 157"/>
              <p:cNvSpPr>
                <a:spLocks noChangeShapeType="1"/>
              </p:cNvSpPr>
              <p:nvPr/>
            </p:nvSpPr>
            <p:spPr bwMode="auto">
              <a:xfrm flipV="1">
                <a:off x="2558" y="1643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6" name="Line 158"/>
              <p:cNvSpPr>
                <a:spLocks noChangeShapeType="1"/>
              </p:cNvSpPr>
              <p:nvPr/>
            </p:nvSpPr>
            <p:spPr bwMode="auto">
              <a:xfrm flipV="1">
                <a:off x="2558" y="1620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7" name="Line 159"/>
              <p:cNvSpPr>
                <a:spLocks noChangeShapeType="1"/>
              </p:cNvSpPr>
              <p:nvPr/>
            </p:nvSpPr>
            <p:spPr bwMode="auto">
              <a:xfrm flipV="1">
                <a:off x="2558" y="1597"/>
                <a:ext cx="1" cy="1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8" name="Line 160"/>
              <p:cNvSpPr>
                <a:spLocks noChangeShapeType="1"/>
              </p:cNvSpPr>
              <p:nvPr/>
            </p:nvSpPr>
            <p:spPr bwMode="auto">
              <a:xfrm flipV="1">
                <a:off x="2558" y="1574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 flipV="1">
                <a:off x="2558" y="1551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0" name="Line 162"/>
              <p:cNvSpPr>
                <a:spLocks noChangeShapeType="1"/>
              </p:cNvSpPr>
              <p:nvPr/>
            </p:nvSpPr>
            <p:spPr bwMode="auto">
              <a:xfrm flipV="1">
                <a:off x="2558" y="1528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1" name="Line 163"/>
              <p:cNvSpPr>
                <a:spLocks noChangeShapeType="1"/>
              </p:cNvSpPr>
              <p:nvPr/>
            </p:nvSpPr>
            <p:spPr bwMode="auto">
              <a:xfrm flipV="1">
                <a:off x="2558" y="1505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2" name="Line 164"/>
              <p:cNvSpPr>
                <a:spLocks noChangeShapeType="1"/>
              </p:cNvSpPr>
              <p:nvPr/>
            </p:nvSpPr>
            <p:spPr bwMode="auto">
              <a:xfrm flipV="1">
                <a:off x="2558" y="1482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3" name="Line 165"/>
              <p:cNvSpPr>
                <a:spLocks noChangeShapeType="1"/>
              </p:cNvSpPr>
              <p:nvPr/>
            </p:nvSpPr>
            <p:spPr bwMode="auto">
              <a:xfrm flipV="1">
                <a:off x="2558" y="1459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4" name="Line 166"/>
              <p:cNvSpPr>
                <a:spLocks noChangeShapeType="1"/>
              </p:cNvSpPr>
              <p:nvPr/>
            </p:nvSpPr>
            <p:spPr bwMode="auto">
              <a:xfrm flipV="1">
                <a:off x="2558" y="1436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 flipV="1">
                <a:off x="2558" y="1413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 flipV="1">
                <a:off x="2558" y="1390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 flipV="1">
                <a:off x="2558" y="1367"/>
                <a:ext cx="1" cy="1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8" name="Freeform 170"/>
              <p:cNvSpPr>
                <a:spLocks/>
              </p:cNvSpPr>
              <p:nvPr/>
            </p:nvSpPr>
            <p:spPr bwMode="auto">
              <a:xfrm>
                <a:off x="2547" y="1354"/>
                <a:ext cx="11" cy="1"/>
              </a:xfrm>
              <a:custGeom>
                <a:avLst/>
                <a:gdLst/>
                <a:ahLst/>
                <a:cxnLst>
                  <a:cxn ang="0">
                    <a:pos x="22" y="2"/>
                  </a:cxn>
                  <a:cxn ang="0">
                    <a:pos x="22" y="0"/>
                  </a:cxn>
                  <a:cxn ang="0">
                    <a:pos x="0" y="0"/>
                  </a:cxn>
                </a:cxnLst>
                <a:rect l="0" t="0" r="r" b="b"/>
                <a:pathLst>
                  <a:path w="22" h="2">
                    <a:moveTo>
                      <a:pt x="22" y="2"/>
                    </a:moveTo>
                    <a:lnTo>
                      <a:pt x="22" y="0"/>
                    </a:lnTo>
                    <a:lnTo>
                      <a:pt x="0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 flipH="1">
                <a:off x="2524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0" name="Line 172"/>
              <p:cNvSpPr>
                <a:spLocks noChangeShapeType="1"/>
              </p:cNvSpPr>
              <p:nvPr/>
            </p:nvSpPr>
            <p:spPr bwMode="auto">
              <a:xfrm flipH="1">
                <a:off x="2501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1" name="Line 173"/>
              <p:cNvSpPr>
                <a:spLocks noChangeShapeType="1"/>
              </p:cNvSpPr>
              <p:nvPr/>
            </p:nvSpPr>
            <p:spPr bwMode="auto">
              <a:xfrm flipH="1">
                <a:off x="2478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2" name="Line 174"/>
              <p:cNvSpPr>
                <a:spLocks noChangeShapeType="1"/>
              </p:cNvSpPr>
              <p:nvPr/>
            </p:nvSpPr>
            <p:spPr bwMode="auto">
              <a:xfrm flipH="1">
                <a:off x="2455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3" name="Line 175"/>
              <p:cNvSpPr>
                <a:spLocks noChangeShapeType="1"/>
              </p:cNvSpPr>
              <p:nvPr/>
            </p:nvSpPr>
            <p:spPr bwMode="auto">
              <a:xfrm flipH="1">
                <a:off x="2432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4" name="Line 176"/>
              <p:cNvSpPr>
                <a:spLocks noChangeShapeType="1"/>
              </p:cNvSpPr>
              <p:nvPr/>
            </p:nvSpPr>
            <p:spPr bwMode="auto">
              <a:xfrm flipH="1">
                <a:off x="2409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5" name="Line 177"/>
              <p:cNvSpPr>
                <a:spLocks noChangeShapeType="1"/>
              </p:cNvSpPr>
              <p:nvPr/>
            </p:nvSpPr>
            <p:spPr bwMode="auto">
              <a:xfrm flipH="1">
                <a:off x="2386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6" name="Line 178"/>
              <p:cNvSpPr>
                <a:spLocks noChangeShapeType="1"/>
              </p:cNvSpPr>
              <p:nvPr/>
            </p:nvSpPr>
            <p:spPr bwMode="auto">
              <a:xfrm flipH="1">
                <a:off x="2363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7" name="Line 179"/>
              <p:cNvSpPr>
                <a:spLocks noChangeShapeType="1"/>
              </p:cNvSpPr>
              <p:nvPr/>
            </p:nvSpPr>
            <p:spPr bwMode="auto">
              <a:xfrm flipH="1">
                <a:off x="2340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8" name="Line 180"/>
              <p:cNvSpPr>
                <a:spLocks noChangeShapeType="1"/>
              </p:cNvSpPr>
              <p:nvPr/>
            </p:nvSpPr>
            <p:spPr bwMode="auto">
              <a:xfrm flipH="1">
                <a:off x="2317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29" name="Line 181"/>
              <p:cNvSpPr>
                <a:spLocks noChangeShapeType="1"/>
              </p:cNvSpPr>
              <p:nvPr/>
            </p:nvSpPr>
            <p:spPr bwMode="auto">
              <a:xfrm flipH="1">
                <a:off x="2294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0" name="Line 182"/>
              <p:cNvSpPr>
                <a:spLocks noChangeShapeType="1"/>
              </p:cNvSpPr>
              <p:nvPr/>
            </p:nvSpPr>
            <p:spPr bwMode="auto">
              <a:xfrm flipH="1">
                <a:off x="2271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1" name="Line 183"/>
              <p:cNvSpPr>
                <a:spLocks noChangeShapeType="1"/>
              </p:cNvSpPr>
              <p:nvPr/>
            </p:nvSpPr>
            <p:spPr bwMode="auto">
              <a:xfrm flipH="1">
                <a:off x="2248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2" name="Line 184"/>
              <p:cNvSpPr>
                <a:spLocks noChangeShapeType="1"/>
              </p:cNvSpPr>
              <p:nvPr/>
            </p:nvSpPr>
            <p:spPr bwMode="auto">
              <a:xfrm flipH="1">
                <a:off x="2225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3" name="Line 185"/>
              <p:cNvSpPr>
                <a:spLocks noChangeShapeType="1"/>
              </p:cNvSpPr>
              <p:nvPr/>
            </p:nvSpPr>
            <p:spPr bwMode="auto">
              <a:xfrm flipH="1">
                <a:off x="2202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 flipH="1">
                <a:off x="2179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5" name="Line 187"/>
              <p:cNvSpPr>
                <a:spLocks noChangeShapeType="1"/>
              </p:cNvSpPr>
              <p:nvPr/>
            </p:nvSpPr>
            <p:spPr bwMode="auto">
              <a:xfrm flipH="1">
                <a:off x="2156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6" name="Line 188"/>
              <p:cNvSpPr>
                <a:spLocks noChangeShapeType="1"/>
              </p:cNvSpPr>
              <p:nvPr/>
            </p:nvSpPr>
            <p:spPr bwMode="auto">
              <a:xfrm flipH="1">
                <a:off x="2133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7" name="Line 189"/>
              <p:cNvSpPr>
                <a:spLocks noChangeShapeType="1"/>
              </p:cNvSpPr>
              <p:nvPr/>
            </p:nvSpPr>
            <p:spPr bwMode="auto">
              <a:xfrm flipH="1">
                <a:off x="2110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8" name="Line 190"/>
              <p:cNvSpPr>
                <a:spLocks noChangeShapeType="1"/>
              </p:cNvSpPr>
              <p:nvPr/>
            </p:nvSpPr>
            <p:spPr bwMode="auto">
              <a:xfrm flipH="1">
                <a:off x="2086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 flipH="1">
                <a:off x="2063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0" name="Line 192"/>
              <p:cNvSpPr>
                <a:spLocks noChangeShapeType="1"/>
              </p:cNvSpPr>
              <p:nvPr/>
            </p:nvSpPr>
            <p:spPr bwMode="auto">
              <a:xfrm flipH="1">
                <a:off x="2040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1" name="Line 193"/>
              <p:cNvSpPr>
                <a:spLocks noChangeShapeType="1"/>
              </p:cNvSpPr>
              <p:nvPr/>
            </p:nvSpPr>
            <p:spPr bwMode="auto">
              <a:xfrm flipH="1">
                <a:off x="2017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2" name="Line 194"/>
              <p:cNvSpPr>
                <a:spLocks noChangeShapeType="1"/>
              </p:cNvSpPr>
              <p:nvPr/>
            </p:nvSpPr>
            <p:spPr bwMode="auto">
              <a:xfrm flipH="1">
                <a:off x="1994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3" name="Line 195"/>
              <p:cNvSpPr>
                <a:spLocks noChangeShapeType="1"/>
              </p:cNvSpPr>
              <p:nvPr/>
            </p:nvSpPr>
            <p:spPr bwMode="auto">
              <a:xfrm flipH="1">
                <a:off x="1971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4" name="Line 196"/>
              <p:cNvSpPr>
                <a:spLocks noChangeShapeType="1"/>
              </p:cNvSpPr>
              <p:nvPr/>
            </p:nvSpPr>
            <p:spPr bwMode="auto">
              <a:xfrm flipH="1">
                <a:off x="1948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5" name="Line 197"/>
              <p:cNvSpPr>
                <a:spLocks noChangeShapeType="1"/>
              </p:cNvSpPr>
              <p:nvPr/>
            </p:nvSpPr>
            <p:spPr bwMode="auto">
              <a:xfrm flipH="1">
                <a:off x="1925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6" name="Line 198"/>
              <p:cNvSpPr>
                <a:spLocks noChangeShapeType="1"/>
              </p:cNvSpPr>
              <p:nvPr/>
            </p:nvSpPr>
            <p:spPr bwMode="auto">
              <a:xfrm flipH="1">
                <a:off x="1902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7" name="Line 199"/>
              <p:cNvSpPr>
                <a:spLocks noChangeShapeType="1"/>
              </p:cNvSpPr>
              <p:nvPr/>
            </p:nvSpPr>
            <p:spPr bwMode="auto">
              <a:xfrm flipH="1">
                <a:off x="1879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8" name="Line 200"/>
              <p:cNvSpPr>
                <a:spLocks noChangeShapeType="1"/>
              </p:cNvSpPr>
              <p:nvPr/>
            </p:nvSpPr>
            <p:spPr bwMode="auto">
              <a:xfrm flipH="1">
                <a:off x="1856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49" name="Line 201"/>
              <p:cNvSpPr>
                <a:spLocks noChangeShapeType="1"/>
              </p:cNvSpPr>
              <p:nvPr/>
            </p:nvSpPr>
            <p:spPr bwMode="auto">
              <a:xfrm flipH="1">
                <a:off x="1833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0" name="Line 202"/>
              <p:cNvSpPr>
                <a:spLocks noChangeShapeType="1"/>
              </p:cNvSpPr>
              <p:nvPr/>
            </p:nvSpPr>
            <p:spPr bwMode="auto">
              <a:xfrm flipH="1">
                <a:off x="1810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1" name="Line 203"/>
              <p:cNvSpPr>
                <a:spLocks noChangeShapeType="1"/>
              </p:cNvSpPr>
              <p:nvPr/>
            </p:nvSpPr>
            <p:spPr bwMode="auto">
              <a:xfrm flipH="1">
                <a:off x="1787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2" name="Line 204"/>
              <p:cNvSpPr>
                <a:spLocks noChangeShapeType="1"/>
              </p:cNvSpPr>
              <p:nvPr/>
            </p:nvSpPr>
            <p:spPr bwMode="auto">
              <a:xfrm flipH="1">
                <a:off x="1764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3" name="Line 205"/>
              <p:cNvSpPr>
                <a:spLocks noChangeShapeType="1"/>
              </p:cNvSpPr>
              <p:nvPr/>
            </p:nvSpPr>
            <p:spPr bwMode="auto">
              <a:xfrm flipH="1">
                <a:off x="1741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4" name="Line 206"/>
              <p:cNvSpPr>
                <a:spLocks noChangeShapeType="1"/>
              </p:cNvSpPr>
              <p:nvPr/>
            </p:nvSpPr>
            <p:spPr bwMode="auto">
              <a:xfrm flipH="1">
                <a:off x="1718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5" name="Line 207"/>
              <p:cNvSpPr>
                <a:spLocks noChangeShapeType="1"/>
              </p:cNvSpPr>
              <p:nvPr/>
            </p:nvSpPr>
            <p:spPr bwMode="auto">
              <a:xfrm flipH="1">
                <a:off x="1695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6" name="Line 208"/>
              <p:cNvSpPr>
                <a:spLocks noChangeShapeType="1"/>
              </p:cNvSpPr>
              <p:nvPr/>
            </p:nvSpPr>
            <p:spPr bwMode="auto">
              <a:xfrm flipH="1">
                <a:off x="1672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7" name="Line 209"/>
              <p:cNvSpPr>
                <a:spLocks noChangeShapeType="1"/>
              </p:cNvSpPr>
              <p:nvPr/>
            </p:nvSpPr>
            <p:spPr bwMode="auto">
              <a:xfrm flipH="1">
                <a:off x="1649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8" name="Line 210"/>
              <p:cNvSpPr>
                <a:spLocks noChangeShapeType="1"/>
              </p:cNvSpPr>
              <p:nvPr/>
            </p:nvSpPr>
            <p:spPr bwMode="auto">
              <a:xfrm flipH="1">
                <a:off x="1626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59" name="Line 211"/>
              <p:cNvSpPr>
                <a:spLocks noChangeShapeType="1"/>
              </p:cNvSpPr>
              <p:nvPr/>
            </p:nvSpPr>
            <p:spPr bwMode="auto">
              <a:xfrm flipH="1">
                <a:off x="1603" y="1354"/>
                <a:ext cx="1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0" name="Line 212"/>
              <p:cNvSpPr>
                <a:spLocks noChangeShapeType="1"/>
              </p:cNvSpPr>
              <p:nvPr/>
            </p:nvSpPr>
            <p:spPr bwMode="auto">
              <a:xfrm flipH="1">
                <a:off x="1579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1" name="Line 213"/>
              <p:cNvSpPr>
                <a:spLocks noChangeShapeType="1"/>
              </p:cNvSpPr>
              <p:nvPr/>
            </p:nvSpPr>
            <p:spPr bwMode="auto">
              <a:xfrm flipH="1">
                <a:off x="1556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2" name="Line 214"/>
              <p:cNvSpPr>
                <a:spLocks noChangeShapeType="1"/>
              </p:cNvSpPr>
              <p:nvPr/>
            </p:nvSpPr>
            <p:spPr bwMode="auto">
              <a:xfrm flipH="1">
                <a:off x="1533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3" name="Line 215"/>
              <p:cNvSpPr>
                <a:spLocks noChangeShapeType="1"/>
              </p:cNvSpPr>
              <p:nvPr/>
            </p:nvSpPr>
            <p:spPr bwMode="auto">
              <a:xfrm flipH="1">
                <a:off x="1510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4" name="Line 216"/>
              <p:cNvSpPr>
                <a:spLocks noChangeShapeType="1"/>
              </p:cNvSpPr>
              <p:nvPr/>
            </p:nvSpPr>
            <p:spPr bwMode="auto">
              <a:xfrm flipH="1">
                <a:off x="1487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5" name="Line 217"/>
              <p:cNvSpPr>
                <a:spLocks noChangeShapeType="1"/>
              </p:cNvSpPr>
              <p:nvPr/>
            </p:nvSpPr>
            <p:spPr bwMode="auto">
              <a:xfrm flipH="1">
                <a:off x="1464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6" name="Line 218"/>
              <p:cNvSpPr>
                <a:spLocks noChangeShapeType="1"/>
              </p:cNvSpPr>
              <p:nvPr/>
            </p:nvSpPr>
            <p:spPr bwMode="auto">
              <a:xfrm flipH="1">
                <a:off x="1441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7" name="Line 219"/>
              <p:cNvSpPr>
                <a:spLocks noChangeShapeType="1"/>
              </p:cNvSpPr>
              <p:nvPr/>
            </p:nvSpPr>
            <p:spPr bwMode="auto">
              <a:xfrm flipH="1">
                <a:off x="1418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8" name="Line 220"/>
              <p:cNvSpPr>
                <a:spLocks noChangeShapeType="1"/>
              </p:cNvSpPr>
              <p:nvPr/>
            </p:nvSpPr>
            <p:spPr bwMode="auto">
              <a:xfrm flipH="1">
                <a:off x="1395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69" name="Line 221"/>
              <p:cNvSpPr>
                <a:spLocks noChangeShapeType="1"/>
              </p:cNvSpPr>
              <p:nvPr/>
            </p:nvSpPr>
            <p:spPr bwMode="auto">
              <a:xfrm flipH="1">
                <a:off x="1372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270" name="Line 222"/>
              <p:cNvSpPr>
                <a:spLocks noChangeShapeType="1"/>
              </p:cNvSpPr>
              <p:nvPr/>
            </p:nvSpPr>
            <p:spPr bwMode="auto">
              <a:xfrm flipH="1">
                <a:off x="1349" y="1354"/>
                <a:ext cx="12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271" name="Line 223"/>
            <p:cNvSpPr>
              <a:spLocks noChangeShapeType="1"/>
            </p:cNvSpPr>
            <p:nvPr/>
          </p:nvSpPr>
          <p:spPr bwMode="auto">
            <a:xfrm flipH="1">
              <a:off x="1326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2" name="Line 224"/>
            <p:cNvSpPr>
              <a:spLocks noChangeShapeType="1"/>
            </p:cNvSpPr>
            <p:nvPr/>
          </p:nvSpPr>
          <p:spPr bwMode="auto">
            <a:xfrm flipH="1">
              <a:off x="1303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3" name="Line 225"/>
            <p:cNvSpPr>
              <a:spLocks noChangeShapeType="1"/>
            </p:cNvSpPr>
            <p:nvPr/>
          </p:nvSpPr>
          <p:spPr bwMode="auto">
            <a:xfrm flipH="1">
              <a:off x="1280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4" name="Line 226"/>
            <p:cNvSpPr>
              <a:spLocks noChangeShapeType="1"/>
            </p:cNvSpPr>
            <p:nvPr/>
          </p:nvSpPr>
          <p:spPr bwMode="auto">
            <a:xfrm flipH="1">
              <a:off x="1257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5" name="Line 227"/>
            <p:cNvSpPr>
              <a:spLocks noChangeShapeType="1"/>
            </p:cNvSpPr>
            <p:nvPr/>
          </p:nvSpPr>
          <p:spPr bwMode="auto">
            <a:xfrm flipH="1">
              <a:off x="1234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6" name="Line 228"/>
            <p:cNvSpPr>
              <a:spLocks noChangeShapeType="1"/>
            </p:cNvSpPr>
            <p:nvPr/>
          </p:nvSpPr>
          <p:spPr bwMode="auto">
            <a:xfrm flipH="1">
              <a:off x="1211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7" name="Line 229"/>
            <p:cNvSpPr>
              <a:spLocks noChangeShapeType="1"/>
            </p:cNvSpPr>
            <p:nvPr/>
          </p:nvSpPr>
          <p:spPr bwMode="auto">
            <a:xfrm flipH="1">
              <a:off x="1188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8" name="Line 230"/>
            <p:cNvSpPr>
              <a:spLocks noChangeShapeType="1"/>
            </p:cNvSpPr>
            <p:nvPr/>
          </p:nvSpPr>
          <p:spPr bwMode="auto">
            <a:xfrm flipH="1">
              <a:off x="1165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79" name="Line 231"/>
            <p:cNvSpPr>
              <a:spLocks noChangeShapeType="1"/>
            </p:cNvSpPr>
            <p:nvPr/>
          </p:nvSpPr>
          <p:spPr bwMode="auto">
            <a:xfrm flipH="1">
              <a:off x="1142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0" name="Line 232"/>
            <p:cNvSpPr>
              <a:spLocks noChangeShapeType="1"/>
            </p:cNvSpPr>
            <p:nvPr/>
          </p:nvSpPr>
          <p:spPr bwMode="auto">
            <a:xfrm flipH="1">
              <a:off x="1119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1" name="Line 233"/>
            <p:cNvSpPr>
              <a:spLocks noChangeShapeType="1"/>
            </p:cNvSpPr>
            <p:nvPr/>
          </p:nvSpPr>
          <p:spPr bwMode="auto">
            <a:xfrm flipH="1">
              <a:off x="1096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2" name="Line 234"/>
            <p:cNvSpPr>
              <a:spLocks noChangeShapeType="1"/>
            </p:cNvSpPr>
            <p:nvPr/>
          </p:nvSpPr>
          <p:spPr bwMode="auto">
            <a:xfrm flipH="1">
              <a:off x="1072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3" name="Line 235"/>
            <p:cNvSpPr>
              <a:spLocks noChangeShapeType="1"/>
            </p:cNvSpPr>
            <p:nvPr/>
          </p:nvSpPr>
          <p:spPr bwMode="auto">
            <a:xfrm flipH="1">
              <a:off x="1049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4" name="Line 236"/>
            <p:cNvSpPr>
              <a:spLocks noChangeShapeType="1"/>
            </p:cNvSpPr>
            <p:nvPr/>
          </p:nvSpPr>
          <p:spPr bwMode="auto">
            <a:xfrm flipH="1">
              <a:off x="1026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5" name="Line 237"/>
            <p:cNvSpPr>
              <a:spLocks noChangeShapeType="1"/>
            </p:cNvSpPr>
            <p:nvPr/>
          </p:nvSpPr>
          <p:spPr bwMode="auto">
            <a:xfrm flipH="1">
              <a:off x="1003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6" name="Line 238"/>
            <p:cNvSpPr>
              <a:spLocks noChangeShapeType="1"/>
            </p:cNvSpPr>
            <p:nvPr/>
          </p:nvSpPr>
          <p:spPr bwMode="auto">
            <a:xfrm flipH="1">
              <a:off x="980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7" name="Line 239"/>
            <p:cNvSpPr>
              <a:spLocks noChangeShapeType="1"/>
            </p:cNvSpPr>
            <p:nvPr/>
          </p:nvSpPr>
          <p:spPr bwMode="auto">
            <a:xfrm flipH="1">
              <a:off x="957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8" name="Line 240"/>
            <p:cNvSpPr>
              <a:spLocks noChangeShapeType="1"/>
            </p:cNvSpPr>
            <p:nvPr/>
          </p:nvSpPr>
          <p:spPr bwMode="auto">
            <a:xfrm flipH="1">
              <a:off x="934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89" name="Line 241"/>
            <p:cNvSpPr>
              <a:spLocks noChangeShapeType="1"/>
            </p:cNvSpPr>
            <p:nvPr/>
          </p:nvSpPr>
          <p:spPr bwMode="auto">
            <a:xfrm flipH="1">
              <a:off x="911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0" name="Line 242"/>
            <p:cNvSpPr>
              <a:spLocks noChangeShapeType="1"/>
            </p:cNvSpPr>
            <p:nvPr/>
          </p:nvSpPr>
          <p:spPr bwMode="auto">
            <a:xfrm flipH="1">
              <a:off x="888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1" name="Line 243"/>
            <p:cNvSpPr>
              <a:spLocks noChangeShapeType="1"/>
            </p:cNvSpPr>
            <p:nvPr/>
          </p:nvSpPr>
          <p:spPr bwMode="auto">
            <a:xfrm flipH="1">
              <a:off x="865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2" name="Line 244"/>
            <p:cNvSpPr>
              <a:spLocks noChangeShapeType="1"/>
            </p:cNvSpPr>
            <p:nvPr/>
          </p:nvSpPr>
          <p:spPr bwMode="auto">
            <a:xfrm flipH="1">
              <a:off x="842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3" name="Line 245"/>
            <p:cNvSpPr>
              <a:spLocks noChangeShapeType="1"/>
            </p:cNvSpPr>
            <p:nvPr/>
          </p:nvSpPr>
          <p:spPr bwMode="auto">
            <a:xfrm flipH="1">
              <a:off x="819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4" name="Line 246"/>
            <p:cNvSpPr>
              <a:spLocks noChangeShapeType="1"/>
            </p:cNvSpPr>
            <p:nvPr/>
          </p:nvSpPr>
          <p:spPr bwMode="auto">
            <a:xfrm flipH="1">
              <a:off x="796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5" name="Line 247"/>
            <p:cNvSpPr>
              <a:spLocks noChangeShapeType="1"/>
            </p:cNvSpPr>
            <p:nvPr/>
          </p:nvSpPr>
          <p:spPr bwMode="auto">
            <a:xfrm flipH="1">
              <a:off x="773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6" name="Line 248"/>
            <p:cNvSpPr>
              <a:spLocks noChangeShapeType="1"/>
            </p:cNvSpPr>
            <p:nvPr/>
          </p:nvSpPr>
          <p:spPr bwMode="auto">
            <a:xfrm flipH="1">
              <a:off x="750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7" name="Line 249"/>
            <p:cNvSpPr>
              <a:spLocks noChangeShapeType="1"/>
            </p:cNvSpPr>
            <p:nvPr/>
          </p:nvSpPr>
          <p:spPr bwMode="auto">
            <a:xfrm flipH="1">
              <a:off x="727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8" name="Line 250"/>
            <p:cNvSpPr>
              <a:spLocks noChangeShapeType="1"/>
            </p:cNvSpPr>
            <p:nvPr/>
          </p:nvSpPr>
          <p:spPr bwMode="auto">
            <a:xfrm flipH="1">
              <a:off x="704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299" name="Line 251"/>
            <p:cNvSpPr>
              <a:spLocks noChangeShapeType="1"/>
            </p:cNvSpPr>
            <p:nvPr/>
          </p:nvSpPr>
          <p:spPr bwMode="auto">
            <a:xfrm flipH="1">
              <a:off x="681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0" name="Line 252"/>
            <p:cNvSpPr>
              <a:spLocks noChangeShapeType="1"/>
            </p:cNvSpPr>
            <p:nvPr/>
          </p:nvSpPr>
          <p:spPr bwMode="auto">
            <a:xfrm flipH="1">
              <a:off x="658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1" name="Line 253"/>
            <p:cNvSpPr>
              <a:spLocks noChangeShapeType="1"/>
            </p:cNvSpPr>
            <p:nvPr/>
          </p:nvSpPr>
          <p:spPr bwMode="auto">
            <a:xfrm flipH="1">
              <a:off x="635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2" name="Line 254"/>
            <p:cNvSpPr>
              <a:spLocks noChangeShapeType="1"/>
            </p:cNvSpPr>
            <p:nvPr/>
          </p:nvSpPr>
          <p:spPr bwMode="auto">
            <a:xfrm flipH="1">
              <a:off x="612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3" name="Line 255"/>
            <p:cNvSpPr>
              <a:spLocks noChangeShapeType="1"/>
            </p:cNvSpPr>
            <p:nvPr/>
          </p:nvSpPr>
          <p:spPr bwMode="auto">
            <a:xfrm flipH="1">
              <a:off x="589" y="1354"/>
              <a:ext cx="1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4" name="Line 256"/>
            <p:cNvSpPr>
              <a:spLocks noChangeShapeType="1"/>
            </p:cNvSpPr>
            <p:nvPr/>
          </p:nvSpPr>
          <p:spPr bwMode="auto">
            <a:xfrm flipH="1">
              <a:off x="565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5" name="Line 257"/>
            <p:cNvSpPr>
              <a:spLocks noChangeShapeType="1"/>
            </p:cNvSpPr>
            <p:nvPr/>
          </p:nvSpPr>
          <p:spPr bwMode="auto">
            <a:xfrm flipH="1">
              <a:off x="542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6" name="Line 258"/>
            <p:cNvSpPr>
              <a:spLocks noChangeShapeType="1"/>
            </p:cNvSpPr>
            <p:nvPr/>
          </p:nvSpPr>
          <p:spPr bwMode="auto">
            <a:xfrm flipH="1">
              <a:off x="519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7" name="Line 259"/>
            <p:cNvSpPr>
              <a:spLocks noChangeShapeType="1"/>
            </p:cNvSpPr>
            <p:nvPr/>
          </p:nvSpPr>
          <p:spPr bwMode="auto">
            <a:xfrm flipH="1">
              <a:off x="496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8" name="Line 260"/>
            <p:cNvSpPr>
              <a:spLocks noChangeShapeType="1"/>
            </p:cNvSpPr>
            <p:nvPr/>
          </p:nvSpPr>
          <p:spPr bwMode="auto">
            <a:xfrm flipH="1">
              <a:off x="473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09" name="Line 261"/>
            <p:cNvSpPr>
              <a:spLocks noChangeShapeType="1"/>
            </p:cNvSpPr>
            <p:nvPr/>
          </p:nvSpPr>
          <p:spPr bwMode="auto">
            <a:xfrm flipH="1">
              <a:off x="450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0" name="Line 262"/>
            <p:cNvSpPr>
              <a:spLocks noChangeShapeType="1"/>
            </p:cNvSpPr>
            <p:nvPr/>
          </p:nvSpPr>
          <p:spPr bwMode="auto">
            <a:xfrm flipH="1">
              <a:off x="427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1" name="Line 263"/>
            <p:cNvSpPr>
              <a:spLocks noChangeShapeType="1"/>
            </p:cNvSpPr>
            <p:nvPr/>
          </p:nvSpPr>
          <p:spPr bwMode="auto">
            <a:xfrm flipH="1">
              <a:off x="404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2" name="Line 264"/>
            <p:cNvSpPr>
              <a:spLocks noChangeShapeType="1"/>
            </p:cNvSpPr>
            <p:nvPr/>
          </p:nvSpPr>
          <p:spPr bwMode="auto">
            <a:xfrm flipH="1">
              <a:off x="381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3" name="Line 265"/>
            <p:cNvSpPr>
              <a:spLocks noChangeShapeType="1"/>
            </p:cNvSpPr>
            <p:nvPr/>
          </p:nvSpPr>
          <p:spPr bwMode="auto">
            <a:xfrm flipH="1">
              <a:off x="358" y="1354"/>
              <a:ext cx="1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4" name="Freeform 266"/>
            <p:cNvSpPr>
              <a:spLocks/>
            </p:cNvSpPr>
            <p:nvPr/>
          </p:nvSpPr>
          <p:spPr bwMode="auto">
            <a:xfrm>
              <a:off x="346" y="1354"/>
              <a:ext cx="1" cy="1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23"/>
                </a:cxn>
              </a:cxnLst>
              <a:rect l="0" t="0" r="r" b="b"/>
              <a:pathLst>
                <a:path w="1" h="23">
                  <a:moveTo>
                    <a:pt x="1" y="0"/>
                  </a:moveTo>
                  <a:lnTo>
                    <a:pt x="0" y="0"/>
                  </a:lnTo>
                  <a:lnTo>
                    <a:pt x="0" y="23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5" name="Line 267"/>
            <p:cNvSpPr>
              <a:spLocks noChangeShapeType="1"/>
            </p:cNvSpPr>
            <p:nvPr/>
          </p:nvSpPr>
          <p:spPr bwMode="auto">
            <a:xfrm>
              <a:off x="346" y="1377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6" name="Line 268"/>
            <p:cNvSpPr>
              <a:spLocks noChangeShapeType="1"/>
            </p:cNvSpPr>
            <p:nvPr/>
          </p:nvSpPr>
          <p:spPr bwMode="auto">
            <a:xfrm>
              <a:off x="346" y="1400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7" name="Line 269"/>
            <p:cNvSpPr>
              <a:spLocks noChangeShapeType="1"/>
            </p:cNvSpPr>
            <p:nvPr/>
          </p:nvSpPr>
          <p:spPr bwMode="auto">
            <a:xfrm>
              <a:off x="346" y="1423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8" name="Line 270"/>
            <p:cNvSpPr>
              <a:spLocks noChangeShapeType="1"/>
            </p:cNvSpPr>
            <p:nvPr/>
          </p:nvSpPr>
          <p:spPr bwMode="auto">
            <a:xfrm>
              <a:off x="346" y="1446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19" name="Line 271"/>
            <p:cNvSpPr>
              <a:spLocks noChangeShapeType="1"/>
            </p:cNvSpPr>
            <p:nvPr/>
          </p:nvSpPr>
          <p:spPr bwMode="auto">
            <a:xfrm>
              <a:off x="346" y="1469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0" name="Line 272"/>
            <p:cNvSpPr>
              <a:spLocks noChangeShapeType="1"/>
            </p:cNvSpPr>
            <p:nvPr/>
          </p:nvSpPr>
          <p:spPr bwMode="auto">
            <a:xfrm>
              <a:off x="346" y="1492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1" name="Line 273"/>
            <p:cNvSpPr>
              <a:spLocks noChangeShapeType="1"/>
            </p:cNvSpPr>
            <p:nvPr/>
          </p:nvSpPr>
          <p:spPr bwMode="auto">
            <a:xfrm>
              <a:off x="346" y="1515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2" name="Line 274"/>
            <p:cNvSpPr>
              <a:spLocks noChangeShapeType="1"/>
            </p:cNvSpPr>
            <p:nvPr/>
          </p:nvSpPr>
          <p:spPr bwMode="auto">
            <a:xfrm>
              <a:off x="346" y="1538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3" name="Line 275"/>
            <p:cNvSpPr>
              <a:spLocks noChangeShapeType="1"/>
            </p:cNvSpPr>
            <p:nvPr/>
          </p:nvSpPr>
          <p:spPr bwMode="auto">
            <a:xfrm>
              <a:off x="346" y="1561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4" name="Line 276"/>
            <p:cNvSpPr>
              <a:spLocks noChangeShapeType="1"/>
            </p:cNvSpPr>
            <p:nvPr/>
          </p:nvSpPr>
          <p:spPr bwMode="auto">
            <a:xfrm>
              <a:off x="346" y="1584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5" name="Line 277"/>
            <p:cNvSpPr>
              <a:spLocks noChangeShapeType="1"/>
            </p:cNvSpPr>
            <p:nvPr/>
          </p:nvSpPr>
          <p:spPr bwMode="auto">
            <a:xfrm>
              <a:off x="346" y="1607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6" name="Line 278"/>
            <p:cNvSpPr>
              <a:spLocks noChangeShapeType="1"/>
            </p:cNvSpPr>
            <p:nvPr/>
          </p:nvSpPr>
          <p:spPr bwMode="auto">
            <a:xfrm>
              <a:off x="346" y="1630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7" name="Line 279"/>
            <p:cNvSpPr>
              <a:spLocks noChangeShapeType="1"/>
            </p:cNvSpPr>
            <p:nvPr/>
          </p:nvSpPr>
          <p:spPr bwMode="auto">
            <a:xfrm>
              <a:off x="346" y="1653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8" name="Line 280"/>
            <p:cNvSpPr>
              <a:spLocks noChangeShapeType="1"/>
            </p:cNvSpPr>
            <p:nvPr/>
          </p:nvSpPr>
          <p:spPr bwMode="auto">
            <a:xfrm>
              <a:off x="346" y="1676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29" name="Line 281"/>
            <p:cNvSpPr>
              <a:spLocks noChangeShapeType="1"/>
            </p:cNvSpPr>
            <p:nvPr/>
          </p:nvSpPr>
          <p:spPr bwMode="auto">
            <a:xfrm>
              <a:off x="346" y="1699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0" name="Line 282"/>
            <p:cNvSpPr>
              <a:spLocks noChangeShapeType="1"/>
            </p:cNvSpPr>
            <p:nvPr/>
          </p:nvSpPr>
          <p:spPr bwMode="auto">
            <a:xfrm>
              <a:off x="346" y="1722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1" name="Line 283"/>
            <p:cNvSpPr>
              <a:spLocks noChangeShapeType="1"/>
            </p:cNvSpPr>
            <p:nvPr/>
          </p:nvSpPr>
          <p:spPr bwMode="auto">
            <a:xfrm>
              <a:off x="346" y="1745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2" name="Line 284"/>
            <p:cNvSpPr>
              <a:spLocks noChangeShapeType="1"/>
            </p:cNvSpPr>
            <p:nvPr/>
          </p:nvSpPr>
          <p:spPr bwMode="auto">
            <a:xfrm>
              <a:off x="346" y="1768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3" name="Line 285"/>
            <p:cNvSpPr>
              <a:spLocks noChangeShapeType="1"/>
            </p:cNvSpPr>
            <p:nvPr/>
          </p:nvSpPr>
          <p:spPr bwMode="auto">
            <a:xfrm>
              <a:off x="346" y="1791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4" name="Line 286"/>
            <p:cNvSpPr>
              <a:spLocks noChangeShapeType="1"/>
            </p:cNvSpPr>
            <p:nvPr/>
          </p:nvSpPr>
          <p:spPr bwMode="auto">
            <a:xfrm>
              <a:off x="346" y="1814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5" name="Line 287"/>
            <p:cNvSpPr>
              <a:spLocks noChangeShapeType="1"/>
            </p:cNvSpPr>
            <p:nvPr/>
          </p:nvSpPr>
          <p:spPr bwMode="auto">
            <a:xfrm>
              <a:off x="346" y="1838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6" name="Line 288"/>
            <p:cNvSpPr>
              <a:spLocks noChangeShapeType="1"/>
            </p:cNvSpPr>
            <p:nvPr/>
          </p:nvSpPr>
          <p:spPr bwMode="auto">
            <a:xfrm>
              <a:off x="346" y="1861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7" name="Line 289"/>
            <p:cNvSpPr>
              <a:spLocks noChangeShapeType="1"/>
            </p:cNvSpPr>
            <p:nvPr/>
          </p:nvSpPr>
          <p:spPr bwMode="auto">
            <a:xfrm>
              <a:off x="346" y="1884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8" name="Line 290"/>
            <p:cNvSpPr>
              <a:spLocks noChangeShapeType="1"/>
            </p:cNvSpPr>
            <p:nvPr/>
          </p:nvSpPr>
          <p:spPr bwMode="auto">
            <a:xfrm>
              <a:off x="346" y="1907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39" name="Line 291"/>
            <p:cNvSpPr>
              <a:spLocks noChangeShapeType="1"/>
            </p:cNvSpPr>
            <p:nvPr/>
          </p:nvSpPr>
          <p:spPr bwMode="auto">
            <a:xfrm>
              <a:off x="346" y="1930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0" name="Line 292"/>
            <p:cNvSpPr>
              <a:spLocks noChangeShapeType="1"/>
            </p:cNvSpPr>
            <p:nvPr/>
          </p:nvSpPr>
          <p:spPr bwMode="auto">
            <a:xfrm>
              <a:off x="346" y="1953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1" name="Line 293"/>
            <p:cNvSpPr>
              <a:spLocks noChangeShapeType="1"/>
            </p:cNvSpPr>
            <p:nvPr/>
          </p:nvSpPr>
          <p:spPr bwMode="auto">
            <a:xfrm>
              <a:off x="346" y="1976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2" name="Line 294"/>
            <p:cNvSpPr>
              <a:spLocks noChangeShapeType="1"/>
            </p:cNvSpPr>
            <p:nvPr/>
          </p:nvSpPr>
          <p:spPr bwMode="auto">
            <a:xfrm>
              <a:off x="346" y="1999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3" name="Line 295"/>
            <p:cNvSpPr>
              <a:spLocks noChangeShapeType="1"/>
            </p:cNvSpPr>
            <p:nvPr/>
          </p:nvSpPr>
          <p:spPr bwMode="auto">
            <a:xfrm>
              <a:off x="346" y="2022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4" name="Line 296"/>
            <p:cNvSpPr>
              <a:spLocks noChangeShapeType="1"/>
            </p:cNvSpPr>
            <p:nvPr/>
          </p:nvSpPr>
          <p:spPr bwMode="auto">
            <a:xfrm>
              <a:off x="346" y="2045"/>
              <a:ext cx="1" cy="1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5" name="Line 297"/>
            <p:cNvSpPr>
              <a:spLocks noChangeShapeType="1"/>
            </p:cNvSpPr>
            <p:nvPr/>
          </p:nvSpPr>
          <p:spPr bwMode="auto">
            <a:xfrm>
              <a:off x="346" y="2068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6" name="Line 298"/>
            <p:cNvSpPr>
              <a:spLocks noChangeShapeType="1"/>
            </p:cNvSpPr>
            <p:nvPr/>
          </p:nvSpPr>
          <p:spPr bwMode="auto">
            <a:xfrm>
              <a:off x="346" y="2091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7" name="Line 299"/>
            <p:cNvSpPr>
              <a:spLocks noChangeShapeType="1"/>
            </p:cNvSpPr>
            <p:nvPr/>
          </p:nvSpPr>
          <p:spPr bwMode="auto">
            <a:xfrm>
              <a:off x="346" y="2114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8" name="Line 300"/>
            <p:cNvSpPr>
              <a:spLocks noChangeShapeType="1"/>
            </p:cNvSpPr>
            <p:nvPr/>
          </p:nvSpPr>
          <p:spPr bwMode="auto">
            <a:xfrm>
              <a:off x="346" y="2137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49" name="Line 301"/>
            <p:cNvSpPr>
              <a:spLocks noChangeShapeType="1"/>
            </p:cNvSpPr>
            <p:nvPr/>
          </p:nvSpPr>
          <p:spPr bwMode="auto">
            <a:xfrm>
              <a:off x="346" y="2160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0" name="Line 302"/>
            <p:cNvSpPr>
              <a:spLocks noChangeShapeType="1"/>
            </p:cNvSpPr>
            <p:nvPr/>
          </p:nvSpPr>
          <p:spPr bwMode="auto">
            <a:xfrm>
              <a:off x="346" y="2183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1" name="Line 303"/>
            <p:cNvSpPr>
              <a:spLocks noChangeShapeType="1"/>
            </p:cNvSpPr>
            <p:nvPr/>
          </p:nvSpPr>
          <p:spPr bwMode="auto">
            <a:xfrm>
              <a:off x="346" y="2206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2" name="Line 304"/>
            <p:cNvSpPr>
              <a:spLocks noChangeShapeType="1"/>
            </p:cNvSpPr>
            <p:nvPr/>
          </p:nvSpPr>
          <p:spPr bwMode="auto">
            <a:xfrm>
              <a:off x="346" y="2229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3" name="Line 305"/>
            <p:cNvSpPr>
              <a:spLocks noChangeShapeType="1"/>
            </p:cNvSpPr>
            <p:nvPr/>
          </p:nvSpPr>
          <p:spPr bwMode="auto">
            <a:xfrm>
              <a:off x="346" y="2252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4" name="Line 306"/>
            <p:cNvSpPr>
              <a:spLocks noChangeShapeType="1"/>
            </p:cNvSpPr>
            <p:nvPr/>
          </p:nvSpPr>
          <p:spPr bwMode="auto">
            <a:xfrm>
              <a:off x="346" y="2275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5" name="Line 307"/>
            <p:cNvSpPr>
              <a:spLocks noChangeShapeType="1"/>
            </p:cNvSpPr>
            <p:nvPr/>
          </p:nvSpPr>
          <p:spPr bwMode="auto">
            <a:xfrm>
              <a:off x="346" y="2298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6" name="Line 308"/>
            <p:cNvSpPr>
              <a:spLocks noChangeShapeType="1"/>
            </p:cNvSpPr>
            <p:nvPr/>
          </p:nvSpPr>
          <p:spPr bwMode="auto">
            <a:xfrm>
              <a:off x="346" y="2321"/>
              <a:ext cx="1" cy="12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7" name="Line 309"/>
            <p:cNvSpPr>
              <a:spLocks noChangeShapeType="1"/>
            </p:cNvSpPr>
            <p:nvPr/>
          </p:nvSpPr>
          <p:spPr bwMode="auto">
            <a:xfrm>
              <a:off x="346" y="2345"/>
              <a:ext cx="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8" name="Rectangle 310"/>
            <p:cNvSpPr>
              <a:spLocks noChangeArrowheads="1"/>
            </p:cNvSpPr>
            <p:nvPr/>
          </p:nvSpPr>
          <p:spPr bwMode="auto">
            <a:xfrm>
              <a:off x="1998" y="1420"/>
              <a:ext cx="324" cy="102"/>
            </a:xfrm>
            <a:prstGeom prst="rect">
              <a:avLst/>
            </a:prstGeom>
            <a:solidFill>
              <a:srgbClr val="E6E6E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59" name="Rectangle 311"/>
            <p:cNvSpPr>
              <a:spLocks noChangeArrowheads="1"/>
            </p:cNvSpPr>
            <p:nvPr/>
          </p:nvSpPr>
          <p:spPr bwMode="auto">
            <a:xfrm>
              <a:off x="2045" y="1437"/>
              <a:ext cx="24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DPC-1XX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60" name="Rectangle 312"/>
            <p:cNvSpPr>
              <a:spLocks noChangeArrowheads="1"/>
            </p:cNvSpPr>
            <p:nvPr/>
          </p:nvSpPr>
          <p:spPr bwMode="auto">
            <a:xfrm>
              <a:off x="2000" y="1513"/>
              <a:ext cx="324" cy="102"/>
            </a:xfrm>
            <a:prstGeom prst="rect">
              <a:avLst/>
            </a:prstGeom>
            <a:solidFill>
              <a:srgbClr val="E6E6E6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1" name="Rectangle 313"/>
            <p:cNvSpPr>
              <a:spLocks noChangeArrowheads="1"/>
            </p:cNvSpPr>
            <p:nvPr/>
          </p:nvSpPr>
          <p:spPr bwMode="auto">
            <a:xfrm>
              <a:off x="2096" y="1530"/>
              <a:ext cx="131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(INV)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62" name="Rectangle 314"/>
            <p:cNvSpPr>
              <a:spLocks noChangeArrowheads="1"/>
            </p:cNvSpPr>
            <p:nvPr/>
          </p:nvSpPr>
          <p:spPr bwMode="auto">
            <a:xfrm>
              <a:off x="488" y="1701"/>
              <a:ext cx="149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U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상전류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63" name="Rectangle 315"/>
            <p:cNvSpPr>
              <a:spLocks noChangeArrowheads="1"/>
            </p:cNvSpPr>
            <p:nvPr/>
          </p:nvSpPr>
          <p:spPr bwMode="auto">
            <a:xfrm>
              <a:off x="491" y="1992"/>
              <a:ext cx="158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W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상전류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64" name="Rectangle 316"/>
            <p:cNvSpPr>
              <a:spLocks noChangeArrowheads="1"/>
            </p:cNvSpPr>
            <p:nvPr/>
          </p:nvSpPr>
          <p:spPr bwMode="auto">
            <a:xfrm>
              <a:off x="492" y="1844"/>
              <a:ext cx="147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V</a:t>
              </a:r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상전류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65" name="Rectangle 317"/>
            <p:cNvSpPr>
              <a:spLocks noChangeArrowheads="1"/>
            </p:cNvSpPr>
            <p:nvPr/>
          </p:nvSpPr>
          <p:spPr bwMode="auto">
            <a:xfrm>
              <a:off x="1277" y="1672"/>
              <a:ext cx="234" cy="39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6" name="Rectangle 318"/>
            <p:cNvSpPr>
              <a:spLocks noChangeArrowheads="1"/>
            </p:cNvSpPr>
            <p:nvPr/>
          </p:nvSpPr>
          <p:spPr bwMode="auto">
            <a:xfrm>
              <a:off x="1299" y="1836"/>
              <a:ext cx="205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A/D</a:t>
              </a:r>
              <a:r>
                <a:rPr lang="ko-KR" altLang="en-US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변환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67" name="Line 319"/>
            <p:cNvSpPr>
              <a:spLocks noChangeShapeType="1"/>
            </p:cNvSpPr>
            <p:nvPr/>
          </p:nvSpPr>
          <p:spPr bwMode="auto">
            <a:xfrm flipH="1">
              <a:off x="1512" y="1873"/>
              <a:ext cx="14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8" name="Rectangle 320"/>
            <p:cNvSpPr>
              <a:spLocks noChangeArrowheads="1"/>
            </p:cNvSpPr>
            <p:nvPr/>
          </p:nvSpPr>
          <p:spPr bwMode="auto">
            <a:xfrm>
              <a:off x="1652" y="1675"/>
              <a:ext cx="233" cy="39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69" name="Rectangle 321"/>
            <p:cNvSpPr>
              <a:spLocks noChangeArrowheads="1"/>
            </p:cNvSpPr>
            <p:nvPr/>
          </p:nvSpPr>
          <p:spPr bwMode="auto">
            <a:xfrm>
              <a:off x="1705" y="1772"/>
              <a:ext cx="1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LOW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70" name="Rectangle 322"/>
            <p:cNvSpPr>
              <a:spLocks noChangeArrowheads="1"/>
            </p:cNvSpPr>
            <p:nvPr/>
          </p:nvSpPr>
          <p:spPr bwMode="auto">
            <a:xfrm>
              <a:off x="1694" y="1839"/>
              <a:ext cx="14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PASS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71" name="Rectangle 323"/>
            <p:cNvSpPr>
              <a:spLocks noChangeArrowheads="1"/>
            </p:cNvSpPr>
            <p:nvPr/>
          </p:nvSpPr>
          <p:spPr bwMode="auto">
            <a:xfrm>
              <a:off x="1672" y="1906"/>
              <a:ext cx="192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7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FILTER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72" name="Line 324"/>
            <p:cNvSpPr>
              <a:spLocks noChangeShapeType="1"/>
            </p:cNvSpPr>
            <p:nvPr/>
          </p:nvSpPr>
          <p:spPr bwMode="auto">
            <a:xfrm flipH="1">
              <a:off x="1885" y="1873"/>
              <a:ext cx="14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3" name="Line 325"/>
            <p:cNvSpPr>
              <a:spLocks noChangeShapeType="1"/>
            </p:cNvSpPr>
            <p:nvPr/>
          </p:nvSpPr>
          <p:spPr bwMode="auto">
            <a:xfrm>
              <a:off x="2025" y="1831"/>
              <a:ext cx="1" cy="17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4" name="Line 326"/>
            <p:cNvSpPr>
              <a:spLocks noChangeShapeType="1"/>
            </p:cNvSpPr>
            <p:nvPr/>
          </p:nvSpPr>
          <p:spPr bwMode="auto">
            <a:xfrm flipH="1" flipV="1">
              <a:off x="2025" y="1831"/>
              <a:ext cx="142" cy="8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5" name="Line 327"/>
            <p:cNvSpPr>
              <a:spLocks noChangeShapeType="1"/>
            </p:cNvSpPr>
            <p:nvPr/>
          </p:nvSpPr>
          <p:spPr bwMode="auto">
            <a:xfrm flipH="1">
              <a:off x="2025" y="1916"/>
              <a:ext cx="142" cy="85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6" name="Freeform 328"/>
            <p:cNvSpPr>
              <a:spLocks/>
            </p:cNvSpPr>
            <p:nvPr/>
          </p:nvSpPr>
          <p:spPr bwMode="auto">
            <a:xfrm>
              <a:off x="1963" y="1955"/>
              <a:ext cx="62" cy="193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0" y="0"/>
                </a:cxn>
                <a:cxn ang="0">
                  <a:pos x="0" y="579"/>
                </a:cxn>
              </a:cxnLst>
              <a:rect l="0" t="0" r="r" b="b"/>
              <a:pathLst>
                <a:path w="186" h="579">
                  <a:moveTo>
                    <a:pt x="186" y="0"/>
                  </a:moveTo>
                  <a:lnTo>
                    <a:pt x="0" y="0"/>
                  </a:lnTo>
                  <a:lnTo>
                    <a:pt x="0" y="579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77" name="Rectangle 329"/>
            <p:cNvSpPr>
              <a:spLocks noChangeArrowheads="1"/>
            </p:cNvSpPr>
            <p:nvPr/>
          </p:nvSpPr>
          <p:spPr bwMode="auto">
            <a:xfrm>
              <a:off x="1813" y="2197"/>
              <a:ext cx="291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전동기 정격전류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78" name="Rectangle 330"/>
            <p:cNvSpPr>
              <a:spLocks noChangeArrowheads="1"/>
            </p:cNvSpPr>
            <p:nvPr/>
          </p:nvSpPr>
          <p:spPr bwMode="auto">
            <a:xfrm>
              <a:off x="1872" y="2254"/>
              <a:ext cx="164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의  </a:t>
              </a:r>
              <a:r>
                <a:rPr lang="en-US" altLang="ko-KR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150%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79" name="Rectangle 331"/>
            <p:cNvSpPr>
              <a:spLocks noChangeArrowheads="1"/>
            </p:cNvSpPr>
            <p:nvPr/>
          </p:nvSpPr>
          <p:spPr bwMode="auto">
            <a:xfrm>
              <a:off x="2039" y="1852"/>
              <a:ext cx="19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+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80" name="Rectangle 332"/>
            <p:cNvSpPr>
              <a:spLocks noChangeArrowheads="1"/>
            </p:cNvSpPr>
            <p:nvPr/>
          </p:nvSpPr>
          <p:spPr bwMode="auto">
            <a:xfrm>
              <a:off x="2046" y="1931"/>
              <a:ext cx="11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en-US" altLang="ko-KR" sz="4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-</a:t>
              </a:r>
              <a:endParaRPr lang="en-US" altLang="ko-KR" sz="23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381" name="Line 333"/>
            <p:cNvSpPr>
              <a:spLocks noChangeShapeType="1"/>
            </p:cNvSpPr>
            <p:nvPr/>
          </p:nvSpPr>
          <p:spPr bwMode="auto">
            <a:xfrm flipH="1">
              <a:off x="2167" y="1916"/>
              <a:ext cx="139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ko-KR" altLang="en-US"/>
            </a:p>
          </p:txBody>
        </p:sp>
        <p:sp>
          <p:nvSpPr>
            <p:cNvPr id="2382" name="Rectangle 334"/>
            <p:cNvSpPr>
              <a:spLocks noChangeArrowheads="1"/>
            </p:cNvSpPr>
            <p:nvPr/>
          </p:nvSpPr>
          <p:spPr bwMode="auto">
            <a:xfrm>
              <a:off x="2207" y="1846"/>
              <a:ext cx="211" cy="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873125"/>
              <a:r>
                <a:rPr lang="ko-KR" altLang="en-US" sz="50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과부하 검출</a:t>
              </a:r>
              <a:endParaRPr lang="ko-KR" altLang="en-US" sz="2300">
                <a:latin typeface="Arial" charset="0"/>
                <a:ea typeface="굴림체" pitchFamily="49" charset="-127"/>
              </a:endParaRPr>
            </a:p>
          </p:txBody>
        </p:sp>
      </p:grpSp>
      <p:sp>
        <p:nvSpPr>
          <p:cNvPr id="2383" name="Rectangle 335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55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이상 저속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[ER_INV_LOW_SPEED]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3505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실제 모터의 속도가 지령치 보다 작은 경우에 검출함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2400" y="1905000"/>
            <a:ext cx="4724400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모터가 기동한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100 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이후에서 부터 검출을 시작하며 속도 지령치가 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 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이상인데도 모터가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 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미만의 속도로 검출되고 이 상태가 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100 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동안 지속될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검출함 </a:t>
            </a:r>
          </a:p>
          <a:p>
            <a:pPr defTabSz="873125" latinLnBrk="0"/>
            <a:endParaRPr lang="ko-KR" altLang="en-US" sz="900">
              <a:latin typeface="Arial" charset="0"/>
              <a:ea typeface="굴림체" pitchFamily="49" charset="-127"/>
            </a:endParaRPr>
          </a:p>
          <a:p>
            <a:pPr defTabSz="873125" latinLnBrk="0"/>
            <a:endParaRPr lang="en-US" altLang="ko-KR" sz="900">
              <a:latin typeface="Arial" charset="0"/>
              <a:ea typeface="굴림체" pitchFamily="49" charset="-127"/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403860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 샤프트에 취부된 엔코더와 제어반의 결선 확인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인버터 스택쪽의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HALL-CT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상에 순서대로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관통했는지 확인할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HALL-CT TURN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수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(INV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과전류의 도표참조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인버터 스택에서 모터단자까지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결선순서 확인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GA, VA  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결선 확인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GU,GV,GW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와의 결선확인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인버터 스택의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IPM, IGBT(U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+,U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정상적으로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TURN ON,  TURN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전류가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도의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위상차를 가진 정현파 인지를 확인할 것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체크핀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(CHK) 3,4,5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핀을 스코프등을 사용하여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측정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 V, 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전류가 일그러짐 없는 정현파 인지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스택교체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DPP-1XX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엔코더의 정역 배치를 확인 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엔코더의 단선 여부를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(TCD 92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조치사항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13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실제 모터측에 전원 투입이 되었는지를 전압을 측정하여 확인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14. HALL-CT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  <a:endParaRPr lang="ko-KR" altLang="en-US" sz="900">
              <a:latin typeface="Arial" charset="0"/>
              <a:ea typeface="굴림체" pitchFamily="49" charset="-127"/>
            </a:endParaRPr>
          </a:p>
          <a:p>
            <a:pPr defTabSz="873125" latinLnBrk="0">
              <a:lnSpc>
                <a:spcPct val="120000"/>
              </a:lnSpc>
            </a:pPr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>
              <a:lnSpc>
                <a:spcPct val="150000"/>
              </a:lnSpc>
            </a:pP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56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이상 고속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[ER_INV_HIGH_SPEED]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3717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모터 실제회전수가 비정상적으로 높을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  <a:endParaRPr lang="ko-KR" altLang="en-US" sz="900" b="1">
              <a:latin typeface="Arial" charset="0"/>
              <a:ea typeface="굴림체" pitchFamily="49" charset="-127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2400" y="1905000"/>
            <a:ext cx="45720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모터 검출회전수가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16 m/min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초과하고 자동 운전 시는 정격속도의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110 %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넘어설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저속 운전 시는 속도지령치의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120 %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넘어설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4038600" cy="412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 샤프트에 취부된 엔코더와 제어반의 결선 확인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인버터 스택쪽의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HALL-CT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상에 순서대로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관통했는지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HALL-CT TURN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수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(INV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과전류의 도표참조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인버터 스택에서 모터단자까지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결선순서 확인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DPC-11X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GA, VA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결선확인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DPP-1XX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GU, GV, GW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와의 결선 확인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인버터 스택의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IPM, IGBT(U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+,U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+,V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+,W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정상적으로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TURN ON, TURN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U,V,W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전류가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도의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위상차를 가진 정현파 인지를 확인 할 것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체크핀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(CHK) 3,4,5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핀을 스코프등을 사용하여 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측정 시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U, V, 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전류가 일그러짐 없는 정현파 인지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  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스택교체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DPP-1XX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엔코터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LINE CHECK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엔코더 교체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13. HALL-CT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20000"/>
              </a:lnSpc>
            </a:pPr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>
              <a:lnSpc>
                <a:spcPct val="150000"/>
              </a:lnSpc>
            </a:pP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58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34290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브레이크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Coil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전류 제어 이상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[ER_BRK_CONTROL]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4419600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브레이크 입력전원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DC110V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불안정하거나 전압이 낮을 경우 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FUSE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단선 브레이크 결선이 단선되어 브레이크의 전류가 이상적으로 제어될 때 검출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2400" y="1905000"/>
            <a:ext cx="45720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브레이크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Coil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전류가 흐르지 않거나 이상적으로 흐르는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4038600" cy="249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  DPC-1XX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DPB-1XX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VJ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콘넥터의 결선 상태 확인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2.   DPB-1XX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RED 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점등 되어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 되지 않을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DC110V LINE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체크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3.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브레이크 제어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B/D(DPB-100)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콘넥터의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양단의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     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110V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인지 체크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  DOP B/D UB-03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UB-05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양단의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DC110V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인지 체크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  DOP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FUSE FS1,FS2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상태를 체크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기동시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C1ST,C1BR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정상적으로 구동하는지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  C1ST,C1BR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될때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DPB-1XX B/D VK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사이의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DC110V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 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브레이크 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LINE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단선 유무를 확인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  DPB 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10. DPC-11X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59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ER_INV_ANTI_STALL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4098925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모터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ANTISTALL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(S/W)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모터가 정상적으로 회전되지 않을 경우 검출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76200" y="1828800"/>
            <a:ext cx="455612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자동운전 시 모터가 기동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16 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이하의 속도로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동안 유지 하게 되면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검출함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3902075" cy="196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 GAIN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값이 정상치보다 낮게 되어 있는지 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HALL-CT TURN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수가 정확한지 확인 할 것</a:t>
            </a:r>
          </a:p>
          <a:p>
            <a:pPr defTabSz="873125"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(INV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과전류의 도표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승강 용량 및 모터 용량 조합이 정확한지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스택부 파워소자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(IGBT)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고장체크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승강로 레일에 이 물질이 끼워져 있는지 확인 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엔코더 결선 확인 및 엔코더 체크</a:t>
            </a:r>
          </a:p>
          <a:p>
            <a:pPr defTabSz="873125" latinLnBrk="0">
              <a:lnSpc>
                <a:spcPct val="120000"/>
              </a:lnSpc>
            </a:pPr>
            <a:endParaRPr lang="ko-KR" altLang="en-US" sz="1000">
              <a:latin typeface="Arial" charset="0"/>
              <a:ea typeface="굴림체" pitchFamily="49" charset="-127"/>
            </a:endParaRPr>
          </a:p>
          <a:p>
            <a:pPr defTabSz="873125" latinLnBrk="0">
              <a:lnSpc>
                <a:spcPct val="150000"/>
              </a:lnSpc>
            </a:pP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60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0" y="35814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ER_INV_SPEC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0" y="25146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228600" y="1828800"/>
            <a:ext cx="3935413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속도측에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 SPEC DATA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Write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않았을 경우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2.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운전측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속도측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상이한 경우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3. IGBT, MOTOR,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권상기 설정이 적용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맞지 않을 경우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2400" y="2743200"/>
            <a:ext cx="2371725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기동 불가</a:t>
            </a:r>
          </a:p>
          <a:p>
            <a:pPr defTabSz="873125" latinLnBrk="0">
              <a:buFontTx/>
              <a:buChar char="•"/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ALARM 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</a:t>
            </a:r>
          </a:p>
          <a:p>
            <a:pPr defTabSz="873125" latinLnBrk="0">
              <a:buFontTx/>
              <a:buChar char="•"/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R5SC RELAY 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콘텍터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414963" y="6022975"/>
            <a:ext cx="3170237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* MOTOR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정격을 정할 때 최대 정격으로 설정 할 것</a:t>
            </a:r>
          </a:p>
          <a:p>
            <a:pPr marL="436563" lvl="1"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 예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 15/13  -&gt;  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설정</a:t>
            </a:r>
          </a:p>
          <a:p>
            <a:pPr marL="436563" lvl="1"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11/9.5  -&gt; 11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설정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562600" y="1143000"/>
            <a:ext cx="2752725" cy="1066800"/>
            <a:chOff x="3504" y="720"/>
            <a:chExt cx="1734" cy="672"/>
          </a:xfrm>
        </p:grpSpPr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3552" y="720"/>
              <a:ext cx="1582" cy="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87885" tIns="43943" rIns="87885" bIns="43943">
              <a:spAutoFit/>
            </a:bodyPr>
            <a:lstStyle/>
            <a:p>
              <a:pPr defTabSz="873125" latinLnBrk="0"/>
              <a:r>
                <a:rPr lang="en-US" altLang="ko-KR" sz="900">
                  <a:latin typeface="Arial" charset="0"/>
                  <a:ea typeface="굴림체" pitchFamily="49" charset="-127"/>
                </a:rPr>
                <a:t>MOTOR(kW)        IPM, IGBT(A)       CT-TURN</a:t>
              </a:r>
            </a:p>
            <a:p>
              <a:pPr defTabSz="873125" latinLnBrk="0"/>
              <a:r>
                <a:rPr lang="en-US" altLang="ko-KR" sz="900">
                  <a:latin typeface="Arial" charset="0"/>
                  <a:ea typeface="굴림체" pitchFamily="49" charset="-127"/>
                </a:rPr>
                <a:t> </a:t>
              </a:r>
              <a:endParaRPr lang="en-US" altLang="ko-KR" sz="600">
                <a:latin typeface="Arial" charset="0"/>
                <a:ea typeface="굴림체" pitchFamily="49" charset="-127"/>
              </a:endParaRPr>
            </a:p>
            <a:p>
              <a:pPr defTabSz="873125" latinLnBrk="0"/>
              <a:r>
                <a:rPr lang="en-US" altLang="ko-KR" sz="900">
                  <a:latin typeface="Arial" charset="0"/>
                  <a:ea typeface="굴림체" pitchFamily="49" charset="-127"/>
                </a:rPr>
                <a:t>      5.5                       50                             2</a:t>
              </a:r>
            </a:p>
            <a:p>
              <a:pPr defTabSz="873125" latinLnBrk="0"/>
              <a:r>
                <a:rPr lang="en-US" altLang="ko-KR" sz="900">
                  <a:latin typeface="Arial" charset="0"/>
                  <a:ea typeface="굴림체" pitchFamily="49" charset="-127"/>
                </a:rPr>
                <a:t>      7.5                       75                             2</a:t>
              </a:r>
            </a:p>
            <a:p>
              <a:pPr defTabSz="873125" latinLnBrk="0"/>
              <a:r>
                <a:rPr lang="en-US" altLang="ko-KR" sz="900">
                  <a:latin typeface="Arial" charset="0"/>
                  <a:ea typeface="굴림체" pitchFamily="49" charset="-127"/>
                </a:rPr>
                <a:t>   9.5  ,   11               100                            2</a:t>
              </a:r>
            </a:p>
            <a:p>
              <a:pPr defTabSz="873125" latinLnBrk="0"/>
              <a:r>
                <a:rPr lang="en-US" altLang="ko-KR" sz="900">
                  <a:latin typeface="Arial" charset="0"/>
                  <a:ea typeface="굴림체" pitchFamily="49" charset="-127"/>
                </a:rPr>
                <a:t>   13   ,   15               150                            1</a:t>
              </a:r>
            </a:p>
            <a:p>
              <a:pPr defTabSz="873125" latinLnBrk="0"/>
              <a:r>
                <a:rPr lang="en-US" altLang="ko-KR" sz="900">
                  <a:latin typeface="Arial" charset="0"/>
                  <a:ea typeface="굴림체" pitchFamily="49" charset="-127"/>
                </a:rPr>
                <a:t>   18   ,   22               200                            1</a:t>
              </a:r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>
              <a:off x="3505" y="726"/>
              <a:ext cx="17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 flipH="1">
              <a:off x="3504" y="720"/>
              <a:ext cx="3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4128" y="726"/>
              <a:ext cx="0" cy="6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5232" y="720"/>
              <a:ext cx="4" cy="6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4697" y="726"/>
              <a:ext cx="2" cy="6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504" y="867"/>
              <a:ext cx="17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87885" tIns="43943" rIns="87885" bIns="43943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077" name="Line 29"/>
          <p:cNvSpPr>
            <a:spLocks noChangeShapeType="1"/>
          </p:cNvSpPr>
          <p:nvPr/>
        </p:nvSpPr>
        <p:spPr bwMode="auto">
          <a:xfrm>
            <a:off x="5562600" y="2155825"/>
            <a:ext cx="274955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87885" tIns="43943" rIns="87885" bIns="43943">
            <a:spAutoFit/>
          </a:bodyPr>
          <a:lstStyle/>
          <a:p>
            <a:endParaRPr lang="ko-KR" altLang="en-US"/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5867400" y="2362200"/>
            <a:ext cx="2565400" cy="3417888"/>
            <a:chOff x="3616" y="1489"/>
            <a:chExt cx="1616" cy="2153"/>
          </a:xfrm>
        </p:grpSpPr>
        <p:sp>
          <p:nvSpPr>
            <p:cNvPr id="2079" name="Rectangle 31"/>
            <p:cNvSpPr>
              <a:spLocks noChangeArrowheads="1"/>
            </p:cNvSpPr>
            <p:nvPr/>
          </p:nvSpPr>
          <p:spPr bwMode="auto">
            <a:xfrm>
              <a:off x="3616" y="1521"/>
              <a:ext cx="1616" cy="2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pPr defTabSz="873125" latinLnBrk="0"/>
              <a:r>
                <a:rPr lang="ko-KR" altLang="en-US" sz="800">
                  <a:latin typeface="Arial" charset="0"/>
                  <a:ea typeface="굴림체" pitchFamily="49" charset="-127"/>
                </a:rPr>
                <a:t>속도                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WORM                 HELICAL</a:t>
              </a:r>
            </a:p>
            <a:p>
              <a:pPr defTabSz="873125" latinLnBrk="0">
                <a:lnSpc>
                  <a:spcPct val="40000"/>
                </a:lnSpc>
              </a:pPr>
              <a:endParaRPr lang="en-US" altLang="ko-KR" sz="800">
                <a:latin typeface="Arial" charset="0"/>
                <a:ea typeface="굴림체" pitchFamily="49" charset="-127"/>
              </a:endParaRP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(m/min)     TYPE     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감속비    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TYPE     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감속비</a:t>
              </a:r>
            </a:p>
            <a:p>
              <a:pPr defTabSz="873125" latinLnBrk="0">
                <a:lnSpc>
                  <a:spcPct val="10000"/>
                </a:lnSpc>
              </a:pPr>
              <a:endParaRPr lang="ko-KR" altLang="en-US" sz="800">
                <a:latin typeface="Arial" charset="0"/>
                <a:ea typeface="굴림체" pitchFamily="49" charset="-127"/>
              </a:endParaRPr>
            </a:p>
            <a:p>
              <a:pPr defTabSz="873125" latinLnBrk="0">
                <a:lnSpc>
                  <a:spcPct val="50000"/>
                </a:lnSpc>
              </a:pPr>
              <a:r>
                <a:rPr lang="ko-KR" altLang="en-US" sz="800">
                  <a:latin typeface="Arial" charset="0"/>
                  <a:ea typeface="굴림체" pitchFamily="49" charset="-127"/>
                </a:rPr>
                <a:t>                              </a:t>
              </a:r>
            </a:p>
            <a:p>
              <a:pPr defTabSz="873125" latinLnBrk="0">
                <a:lnSpc>
                  <a:spcPct val="80000"/>
                </a:lnSpc>
              </a:pPr>
              <a:r>
                <a:rPr lang="ko-KR" altLang="en-US" sz="800">
                  <a:latin typeface="Arial" charset="0"/>
                  <a:ea typeface="굴림체" pitchFamily="49" charset="-127"/>
                </a:rPr>
                <a:t>   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45         TKXS       38 1/2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TKM         38.1/2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TKL          47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               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60         TKXS       38 1/2    H438B     38.35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TKM         38 1/2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TKL          47 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TKXL        47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WMC        38 1/2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WLC         32 2/3    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90         TKXS       22 2/3    H422B     21.92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TKM         22 2/3    H317       17.371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TKL          26 2/3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TKXL        26 2/3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 WMC       25 2/3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 WLC        28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            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105       TKXS       22 2/3    H422B     21.92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TKM         22 2/3    H317       17.371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TKL          26 2/3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TKXL        26 2/3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 WMC       22</a:t>
              </a:r>
            </a:p>
            <a:p>
              <a:pPr defTabSz="873125"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               WLC        24</a:t>
              </a: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>
              <a:off x="3628" y="1492"/>
              <a:ext cx="14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3625" y="3638"/>
              <a:ext cx="14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3626" y="1489"/>
              <a:ext cx="0" cy="21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3" name="Line 35"/>
            <p:cNvSpPr>
              <a:spLocks noChangeShapeType="1"/>
            </p:cNvSpPr>
            <p:nvPr/>
          </p:nvSpPr>
          <p:spPr bwMode="auto">
            <a:xfrm>
              <a:off x="3921" y="1495"/>
              <a:ext cx="2" cy="21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4" name="Line 36"/>
            <p:cNvSpPr>
              <a:spLocks noChangeShapeType="1"/>
            </p:cNvSpPr>
            <p:nvPr/>
          </p:nvSpPr>
          <p:spPr bwMode="auto">
            <a:xfrm>
              <a:off x="5047" y="1489"/>
              <a:ext cx="0" cy="21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5" name="Line 37"/>
            <p:cNvSpPr>
              <a:spLocks noChangeShapeType="1"/>
            </p:cNvSpPr>
            <p:nvPr/>
          </p:nvSpPr>
          <p:spPr bwMode="auto">
            <a:xfrm>
              <a:off x="3625" y="1750"/>
              <a:ext cx="1421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6" name="Line 38"/>
            <p:cNvSpPr>
              <a:spLocks noChangeShapeType="1"/>
            </p:cNvSpPr>
            <p:nvPr/>
          </p:nvSpPr>
          <p:spPr bwMode="auto">
            <a:xfrm>
              <a:off x="3624" y="2032"/>
              <a:ext cx="14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7" name="Line 39"/>
            <p:cNvSpPr>
              <a:spLocks noChangeShapeType="1"/>
            </p:cNvSpPr>
            <p:nvPr/>
          </p:nvSpPr>
          <p:spPr bwMode="auto">
            <a:xfrm>
              <a:off x="3628" y="2576"/>
              <a:ext cx="14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8" name="Line 40"/>
            <p:cNvSpPr>
              <a:spLocks noChangeShapeType="1"/>
            </p:cNvSpPr>
            <p:nvPr/>
          </p:nvSpPr>
          <p:spPr bwMode="auto">
            <a:xfrm>
              <a:off x="3626" y="3102"/>
              <a:ext cx="14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9" name="Line 41"/>
            <p:cNvSpPr>
              <a:spLocks noChangeShapeType="1"/>
            </p:cNvSpPr>
            <p:nvPr/>
          </p:nvSpPr>
          <p:spPr bwMode="auto">
            <a:xfrm>
              <a:off x="3919" y="1629"/>
              <a:ext cx="11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>
              <a:off x="4217" y="1632"/>
              <a:ext cx="2" cy="20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4490" y="1489"/>
              <a:ext cx="0" cy="21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>
              <a:off x="4774" y="1632"/>
              <a:ext cx="0" cy="20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87885" tIns="43943" rIns="87885" bIns="43943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76200" y="3886200"/>
            <a:ext cx="4800600" cy="207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&lt;1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&gt;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NORMAL/STOP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STOP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위치에 놓고 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DPC-1XX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J1J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점퍼의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3-4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SHORT PIN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삽입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DOA-1XX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A52E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입력한다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잠시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WAIT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라는 메세지가 나오고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SUCCESS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표시되면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J1J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점퍼를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J1G 1-2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번에 원위치 시키고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NORMAL/STOP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NORMAL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위치에 놓고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RESET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눌러 재부팅을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defTabSz="873125"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&lt;2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&gt;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단계의 조작 후에도 계속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나타나면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IPM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IGBT, MOTOR,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권상기가 우측의 적용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맞는지 확인하고 이상 발견 시 해당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주소에 올바른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입력한다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SPEC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수정이 되지 않으면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JP1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위치했는지 확인 한 후 다시 시작한다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94" name="Rectangle 46"/>
          <p:cNvSpPr>
            <a:spLocks noChangeArrowheads="1"/>
          </p:cNvSpPr>
          <p:nvPr/>
        </p:nvSpPr>
        <p:spPr bwMode="auto">
          <a:xfrm>
            <a:off x="6096000" y="914400"/>
            <a:ext cx="16525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 &lt; INV  SPEC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적용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MAP &gt;</a:t>
            </a:r>
          </a:p>
        </p:txBody>
      </p:sp>
      <p:sp>
        <p:nvSpPr>
          <p:cNvPr id="2095" name="Rectangle 47"/>
          <p:cNvSpPr>
            <a:spLocks noChangeArrowheads="1"/>
          </p:cNvSpPr>
          <p:nvPr/>
        </p:nvSpPr>
        <p:spPr bwMode="auto">
          <a:xfrm>
            <a:off x="533400" y="838200"/>
            <a:ext cx="17160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INV SPEC DATA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검출</a:t>
            </a:r>
            <a:endParaRPr lang="ko-KR" altLang="en-US" sz="1300" b="1">
              <a:latin typeface="Arial" charset="0"/>
              <a:ea typeface="굴림체" pitchFamily="49" charset="-127"/>
            </a:endParaRPr>
          </a:p>
        </p:txBody>
      </p: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97" name="Rectangle 49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61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5029200" y="9144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INV SPEC Write ERR[ER_INV_SPEC_COM]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22275" y="838200"/>
            <a:ext cx="22526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INV SPEC Write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되지 않을 때 검출</a:t>
            </a:r>
            <a:endParaRPr lang="ko-KR" altLang="en-US" sz="1300" b="1">
              <a:latin typeface="Arial" charset="0"/>
              <a:ea typeface="굴림체" pitchFamily="49" charset="-127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2400" y="1905000"/>
            <a:ext cx="46482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INV SPEC Write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(A52E)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수행하였으나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DSP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측에서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Write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할 수 없는 경우에 발생한다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endParaRPr lang="en-US" altLang="ko-KR" sz="1300" b="1">
              <a:latin typeface="Arial" charset="0"/>
              <a:ea typeface="굴림체" pitchFamily="49" charset="-127"/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4995863" y="1176338"/>
            <a:ext cx="40386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4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DPC-1XX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J1J 3~4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SHORT 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유무 확인</a:t>
            </a:r>
          </a:p>
          <a:p>
            <a:pPr defTabSz="873125" latinLnBrk="0">
              <a:lnSpc>
                <a:spcPct val="14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SHORT 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접촉 상태 확인 </a:t>
            </a:r>
          </a:p>
          <a:p>
            <a:pPr defTabSz="873125" latinLnBrk="0">
              <a:lnSpc>
                <a:spcPct val="14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ROM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>
              <a:lnSpc>
                <a:spcPct val="14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  <a:endParaRPr lang="ko-KR" altLang="en-US" sz="1300" b="1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333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661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1118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62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68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143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0000" y="457200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1755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1143000" y="457200"/>
            <a:ext cx="27432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INV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순간 정전 검출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[ER_INV_V48]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422275" y="838200"/>
            <a:ext cx="3411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DSP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순간 정전 검출</a:t>
            </a:r>
            <a:endParaRPr lang="ko-KR" altLang="en-US" sz="900" b="1">
              <a:latin typeface="Arial" charset="0"/>
              <a:ea typeface="굴림체" pitchFamily="49" charset="-127"/>
            </a:endParaRP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52400" y="1905000"/>
            <a:ext cx="4745038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DSP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커넥터를 통해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H/W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순간 정전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신호를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READ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READ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된 값이 이상일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 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05388" y="1108075"/>
            <a:ext cx="3902075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1. DPC-1XX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VE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DSP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</a:t>
            </a:r>
          </a:p>
          <a:p>
            <a:pPr defTabSz="873125" latinLnBrk="0"/>
            <a:r>
              <a:rPr lang="ko-KR" altLang="en-US" sz="1000">
                <a:latin typeface="Arial" charset="0"/>
                <a:ea typeface="굴림체" pitchFamily="49" charset="-127"/>
              </a:rPr>
              <a:t>    간  결선 확인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2. TCD 70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조치사항 참조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3. DOC-1XX PCB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4. DPC-1XX PCB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  <a:endParaRPr lang="ko-KR" altLang="en-US" sz="900">
              <a:latin typeface="Arial" charset="0"/>
              <a:ea typeface="굴림체" pitchFamily="49" charset="-127"/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6202363" y="381000"/>
            <a:ext cx="91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885" tIns="43943" rIns="87885" bIns="43943">
            <a:spAutoFit/>
          </a:bodyPr>
          <a:lstStyle/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defTabSz="873125"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69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ER_V100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38052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DC 110V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 이상 검출 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Brake PCB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Under Voltage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143000"/>
            <a:ext cx="4114800" cy="268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LED1, 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점등 되어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LED1,2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소등되어 있으면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FS1, FS2 FUSE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상태를 확인하고 단선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시 정격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FUSE(250V/6A)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교환한다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DOP-1xx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점등 되어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DPB-1xx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RED LED(LD1)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점등 되어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LED3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소등되어 있으면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FS3 FUSE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상태를 확인하고 단선 시 정격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FUSE(250V/6A)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교환한다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6.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상기 항에 이상이 없을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12-16,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14-16PIN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AC85V±10%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이내임을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시 제어트랜스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7. 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AC-07 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GND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DC110V±10%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임을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8. DOP-1xx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UB-03-05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전압을 체크하여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110V±10%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나오는지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9. DPB-100 PCB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DPC PCB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결선 상태를 확인한다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“VJ” “VK” CABLE 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10.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9. 10.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 정상시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DPB-100 PCB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교환한다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1905000"/>
            <a:ext cx="457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Contactor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Brake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구동용 전원인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110V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전원이 결상 상태나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Brake PCB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Under Voltage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180msec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지속 시에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52400" y="25146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4876800" y="25146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4038600" y="2590800"/>
            <a:ext cx="727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4130675" y="2605088"/>
            <a:ext cx="53498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69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457200" y="2743200"/>
            <a:ext cx="533400" cy="152400"/>
            <a:chOff x="1128" y="1440"/>
            <a:chExt cx="336" cy="96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075" name="Line 27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76" name="Line 28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1447800" y="2743200"/>
            <a:ext cx="533400" cy="152400"/>
            <a:chOff x="1752" y="1440"/>
            <a:chExt cx="336" cy="96"/>
          </a:xfrm>
        </p:grpSpPr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3" name="Line 35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4" name="Line 36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5" name="Line 37"/>
          <p:cNvSpPr>
            <a:spLocks noChangeShapeType="1"/>
          </p:cNvSpPr>
          <p:nvPr/>
        </p:nvSpPr>
        <p:spPr bwMode="auto">
          <a:xfrm>
            <a:off x="152400" y="28194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6" name="Line 38"/>
          <p:cNvSpPr>
            <a:spLocks noChangeShapeType="1"/>
          </p:cNvSpPr>
          <p:nvPr/>
        </p:nvSpPr>
        <p:spPr bwMode="auto">
          <a:xfrm>
            <a:off x="914400" y="28194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7" name="Line 39"/>
          <p:cNvSpPr>
            <a:spLocks noChangeShapeType="1"/>
          </p:cNvSpPr>
          <p:nvPr/>
        </p:nvSpPr>
        <p:spPr bwMode="auto">
          <a:xfrm>
            <a:off x="3124200" y="281940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349250" y="2413000"/>
            <a:ext cx="830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100V_DOWN]</a:t>
            </a:r>
          </a:p>
        </p:txBody>
      </p: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1295400" y="2406650"/>
            <a:ext cx="1041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Coil[SW_SS_48V_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DOWN_HOLD]</a:t>
            </a:r>
          </a:p>
        </p:txBody>
      </p:sp>
      <p:sp>
        <p:nvSpPr>
          <p:cNvPr id="2090" name="Rectangle 42"/>
          <p:cNvSpPr>
            <a:spLocks noChangeArrowheads="1"/>
          </p:cNvSpPr>
          <p:nvPr/>
        </p:nvSpPr>
        <p:spPr bwMode="auto">
          <a:xfrm>
            <a:off x="1676400" y="28194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0x9240</a:t>
            </a:r>
          </a:p>
        </p:txBody>
      </p:sp>
      <p:sp>
        <p:nvSpPr>
          <p:cNvPr id="2091" name="Rectangle 43"/>
          <p:cNvSpPr>
            <a:spLocks noChangeArrowheads="1"/>
          </p:cNvSpPr>
          <p:nvPr/>
        </p:nvSpPr>
        <p:spPr bwMode="auto">
          <a:xfrm>
            <a:off x="609600" y="28194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0x923C</a:t>
            </a:r>
          </a:p>
        </p:txBody>
      </p:sp>
      <p:sp>
        <p:nvSpPr>
          <p:cNvPr id="2092" name="Line 44"/>
          <p:cNvSpPr>
            <a:spLocks noChangeShapeType="1"/>
          </p:cNvSpPr>
          <p:nvPr/>
        </p:nvSpPr>
        <p:spPr bwMode="auto">
          <a:xfrm>
            <a:off x="2819400" y="28956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2590800" y="2743200"/>
            <a:ext cx="533400" cy="152400"/>
            <a:chOff x="1752" y="1440"/>
            <a:chExt cx="336" cy="96"/>
          </a:xfrm>
        </p:grpSpPr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5" name="Line 47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7" name="Line 49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8" name="Line 50"/>
          <p:cNvSpPr>
            <a:spLocks noChangeShapeType="1"/>
          </p:cNvSpPr>
          <p:nvPr/>
        </p:nvSpPr>
        <p:spPr bwMode="auto">
          <a:xfrm>
            <a:off x="1981200" y="28194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9" name="Line 51"/>
          <p:cNvSpPr>
            <a:spLocks noChangeShapeType="1"/>
          </p:cNvSpPr>
          <p:nvPr/>
        </p:nvSpPr>
        <p:spPr bwMode="auto">
          <a:xfrm>
            <a:off x="2819400" y="33528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0" name="Line 52"/>
          <p:cNvSpPr>
            <a:spLocks noChangeShapeType="1"/>
          </p:cNvSpPr>
          <p:nvPr/>
        </p:nvSpPr>
        <p:spPr bwMode="auto">
          <a:xfrm>
            <a:off x="2895600" y="33528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2895600" y="3429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2" name="Line 54"/>
          <p:cNvSpPr>
            <a:spLocks noChangeShapeType="1"/>
          </p:cNvSpPr>
          <p:nvPr/>
        </p:nvSpPr>
        <p:spPr bwMode="auto">
          <a:xfrm flipV="1">
            <a:off x="2743200" y="3352800"/>
            <a:ext cx="228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3" name="Rectangle 55"/>
          <p:cNvSpPr>
            <a:spLocks noChangeArrowheads="1"/>
          </p:cNvSpPr>
          <p:nvPr/>
        </p:nvSpPr>
        <p:spPr bwMode="auto">
          <a:xfrm>
            <a:off x="3810000" y="3200400"/>
            <a:ext cx="9556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4" name="Rectangle 56"/>
          <p:cNvSpPr>
            <a:spLocks noChangeArrowheads="1"/>
          </p:cNvSpPr>
          <p:nvPr/>
        </p:nvSpPr>
        <p:spPr bwMode="auto">
          <a:xfrm>
            <a:off x="3873500" y="3221038"/>
            <a:ext cx="9017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v100_err_cout</a:t>
            </a:r>
          </a:p>
        </p:txBody>
      </p:sp>
      <p:sp>
        <p:nvSpPr>
          <p:cNvPr id="2105" name="Line 57"/>
          <p:cNvSpPr>
            <a:spLocks noChangeShapeType="1"/>
          </p:cNvSpPr>
          <p:nvPr/>
        </p:nvSpPr>
        <p:spPr bwMode="auto">
          <a:xfrm>
            <a:off x="3124200" y="342900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6" name="Rectangle 58"/>
          <p:cNvSpPr>
            <a:spLocks noChangeArrowheads="1"/>
          </p:cNvSpPr>
          <p:nvPr/>
        </p:nvSpPr>
        <p:spPr bwMode="auto">
          <a:xfrm>
            <a:off x="3517900" y="3200400"/>
            <a:ext cx="3000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+1</a:t>
            </a:r>
          </a:p>
        </p:txBody>
      </p:sp>
      <p:sp>
        <p:nvSpPr>
          <p:cNvPr id="2107" name="Rectangle 59"/>
          <p:cNvSpPr>
            <a:spLocks noChangeArrowheads="1"/>
          </p:cNvSpPr>
          <p:nvPr/>
        </p:nvSpPr>
        <p:spPr bwMode="auto">
          <a:xfrm>
            <a:off x="2444750" y="2533650"/>
            <a:ext cx="10985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v100_err_count &gt;=1</a:t>
            </a:r>
          </a:p>
        </p:txBody>
      </p:sp>
      <p:sp>
        <p:nvSpPr>
          <p:cNvPr id="2108" name="Line 60"/>
          <p:cNvSpPr>
            <a:spLocks noChangeShapeType="1"/>
          </p:cNvSpPr>
          <p:nvPr/>
        </p:nvSpPr>
        <p:spPr bwMode="auto">
          <a:xfrm>
            <a:off x="1295400" y="2819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6" name="Group 61"/>
          <p:cNvGrpSpPr>
            <a:grpSpLocks/>
          </p:cNvGrpSpPr>
          <p:nvPr/>
        </p:nvGrpSpPr>
        <p:grpSpPr bwMode="auto">
          <a:xfrm>
            <a:off x="1447800" y="3200400"/>
            <a:ext cx="533400" cy="152400"/>
            <a:chOff x="1752" y="1440"/>
            <a:chExt cx="336" cy="96"/>
          </a:xfrm>
        </p:grpSpPr>
        <p:sp>
          <p:nvSpPr>
            <p:cNvPr id="2110" name="Line 62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1" name="Line 63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2" name="Line 64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3" name="Line 65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4" name="Line 66"/>
          <p:cNvSpPr>
            <a:spLocks noChangeShapeType="1"/>
          </p:cNvSpPr>
          <p:nvPr/>
        </p:nvSpPr>
        <p:spPr bwMode="auto">
          <a:xfrm>
            <a:off x="2133600" y="2819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5" name="Line 67"/>
          <p:cNvSpPr>
            <a:spLocks noChangeShapeType="1"/>
          </p:cNvSpPr>
          <p:nvPr/>
        </p:nvSpPr>
        <p:spPr bwMode="auto">
          <a:xfrm>
            <a:off x="1295400" y="3276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6" name="Line 68"/>
          <p:cNvSpPr>
            <a:spLocks noChangeShapeType="1"/>
          </p:cNvSpPr>
          <p:nvPr/>
        </p:nvSpPr>
        <p:spPr bwMode="auto">
          <a:xfrm>
            <a:off x="1828800" y="3276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7" name="Rectangle 69"/>
          <p:cNvSpPr>
            <a:spLocks noChangeArrowheads="1"/>
          </p:cNvSpPr>
          <p:nvPr/>
        </p:nvSpPr>
        <p:spPr bwMode="auto">
          <a:xfrm>
            <a:off x="1238250" y="3333750"/>
            <a:ext cx="11144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ERD_Inv_Brake_UV</a:t>
            </a:r>
          </a:p>
        </p:txBody>
      </p:sp>
      <p:sp>
        <p:nvSpPr>
          <p:cNvPr id="2118" name="Rectangle 70"/>
          <p:cNvSpPr>
            <a:spLocks noChangeArrowheads="1"/>
          </p:cNvSpPr>
          <p:nvPr/>
        </p:nvSpPr>
        <p:spPr bwMode="auto">
          <a:xfrm>
            <a:off x="8229600" y="457200"/>
            <a:ext cx="833438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885" tIns="43943" rIns="87885" bIns="43943">
            <a:spAutoFit/>
          </a:bodyPr>
          <a:lstStyle/>
          <a:p>
            <a:pPr defTabSz="873125"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70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ER_POWER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066800"/>
            <a:ext cx="404971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DOP-1xx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D48 FUSE LED(LED4.LED5)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점등 상태임을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소등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FUSE(FS4,FS5)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상태를 확인하고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FUSE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단선 시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정격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FUSE(250V/3A)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교환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상기 항에 이상이 없을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DOP-113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7-11,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9-11PIN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AC37V±10%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이내임을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AB-01 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GND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DC48V±10%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임을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52400" y="2438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65" tIns="46032" rIns="92065" bIns="46032">
            <a:spAutoFit/>
          </a:bodyPr>
          <a:lstStyle/>
          <a:p>
            <a:endParaRPr lang="ko-KR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4800600" y="2438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65" tIns="46032" rIns="92065" bIns="46032">
            <a:spAutoFit/>
          </a:bodyPr>
          <a:lstStyle/>
          <a:p>
            <a:endParaRPr lang="ko-KR" altLang="en-US"/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1092200" y="2527300"/>
            <a:ext cx="11541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65" tIns="46032" rIns="92065" bIns="4603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v48_down_Count &gt; 5</a:t>
            </a:r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 flipV="1">
            <a:off x="2057400" y="2819400"/>
            <a:ext cx="274320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65" tIns="46032" rIns="92065" bIns="46032">
            <a:spAutoFit/>
          </a:bodyPr>
          <a:lstStyle/>
          <a:p>
            <a:endParaRPr lang="ko-KR" altLang="en-US"/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3886200" y="2590800"/>
            <a:ext cx="808038" cy="419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65" tIns="46032" rIns="92065" bIns="46032">
            <a:spAutoFit/>
          </a:bodyPr>
          <a:lstStyle/>
          <a:p>
            <a:endParaRPr lang="ko-KR" altLang="en-US"/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3983038" y="2605088"/>
            <a:ext cx="53498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65" tIns="46032" rIns="92065" bIns="4603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70</a:t>
            </a:r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>
            <a:off x="152400" y="281940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65" tIns="46032" rIns="92065" bIns="46032">
            <a:spAutoFit/>
          </a:bodyPr>
          <a:lstStyle/>
          <a:p>
            <a:endParaRPr lang="ko-KR" altLang="en-US"/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152400" y="1828800"/>
            <a:ext cx="480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DOC-111 BOARD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ALM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적색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P.F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적색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;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기동  불가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운행 중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 시  급정지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재기동 불가</a:t>
            </a:r>
          </a:p>
        </p:txBody>
      </p:sp>
      <p:pic>
        <p:nvPicPr>
          <p:cNvPr id="2076" name="Picture 28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4267200"/>
            <a:ext cx="2386013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77" name="Picture 29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4600" y="4267200"/>
            <a:ext cx="2362200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381000" y="6172200"/>
            <a:ext cx="1409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 i="1">
                <a:latin typeface="Arial" charset="0"/>
                <a:ea typeface="굴림체" pitchFamily="49" charset="-127"/>
              </a:rPr>
              <a:t>정상 시 파형 및 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381000" y="6019800"/>
            <a:ext cx="1820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전압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DC48V± 10% </a:t>
            </a:r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2819400" y="6019800"/>
            <a:ext cx="1820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전압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DC32V± 10% </a:t>
            </a:r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2819400" y="6172200"/>
            <a:ext cx="1409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 i="1">
                <a:latin typeface="Arial" charset="0"/>
                <a:ea typeface="굴림체" pitchFamily="49" charset="-127"/>
              </a:rPr>
              <a:t>결상 시 파형 및 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152400" y="6477000"/>
            <a:ext cx="31194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800">
                <a:latin typeface="Arial" charset="0"/>
                <a:ea typeface="굴림체" pitchFamily="49" charset="-127"/>
              </a:rPr>
              <a:t>주</a:t>
            </a:r>
            <a:r>
              <a:rPr lang="en-US" altLang="ko-KR" sz="800">
                <a:latin typeface="Arial" charset="0"/>
                <a:ea typeface="굴림체" pitchFamily="49" charset="-127"/>
              </a:rPr>
              <a:t>)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상기 전압은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DIGITAL VOLT METER</a:t>
            </a:r>
            <a:r>
              <a:rPr lang="ko-KR" altLang="en-US" sz="800">
                <a:latin typeface="Arial" charset="0"/>
                <a:ea typeface="굴림체" pitchFamily="49" charset="-127"/>
              </a:rPr>
              <a:t>로 측정 시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DC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측정값 임</a:t>
            </a:r>
            <a:r>
              <a:rPr lang="en-US" altLang="ko-KR" sz="8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152400" y="3505200"/>
            <a:ext cx="4267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아래의 좌측은 정상 전원일 때의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48V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나타내고 우측은 입력전원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중 한 상이 결상일 때의 파형을 보여 준다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결상 검출회로는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35V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이하로 떨어지는 파형을 검출할 때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ALARM  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점등하며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300msec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검출 시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70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발생시킴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457200" y="838200"/>
            <a:ext cx="44196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E/L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입력 전원의 결상을 검출하는 방법으로 제어 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AC37V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정류 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(DC48V)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CHECK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 판정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DC48V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Down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주기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(150 msec)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검출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1524000" y="2743200"/>
            <a:ext cx="533400" cy="152400"/>
            <a:chOff x="1752" y="1440"/>
            <a:chExt cx="336" cy="96"/>
          </a:xfrm>
        </p:grpSpPr>
        <p:sp>
          <p:nvSpPr>
            <p:cNvPr id="2086" name="Line 38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7" name="Line 39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8" name="Line 40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9" name="Line 41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71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ER_V48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76200" y="1828800"/>
            <a:ext cx="472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E/L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입력 전원의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85%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 강하 상태가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90msec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제어 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AC37V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정류 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(DC48V)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CHECK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 판정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457200" y="838200"/>
            <a:ext cx="434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E/L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입력 전원의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85%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 강하를 검출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52400" y="2514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4876800" y="2514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4038600" y="2590800"/>
            <a:ext cx="727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4130675" y="2605088"/>
            <a:ext cx="53498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71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685800" y="2743200"/>
            <a:ext cx="533400" cy="152400"/>
            <a:chOff x="1752" y="1440"/>
            <a:chExt cx="336" cy="96"/>
          </a:xfrm>
        </p:grpSpPr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77" name="Line 29"/>
          <p:cNvSpPr>
            <a:spLocks noChangeShapeType="1"/>
          </p:cNvSpPr>
          <p:nvPr/>
        </p:nvSpPr>
        <p:spPr bwMode="auto">
          <a:xfrm>
            <a:off x="152400" y="2819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8" name="Line 30"/>
          <p:cNvSpPr>
            <a:spLocks noChangeShapeType="1"/>
          </p:cNvSpPr>
          <p:nvPr/>
        </p:nvSpPr>
        <p:spPr bwMode="auto">
          <a:xfrm>
            <a:off x="1143000" y="28194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9" name="Line 31"/>
          <p:cNvSpPr>
            <a:spLocks noChangeShapeType="1"/>
          </p:cNvSpPr>
          <p:nvPr/>
        </p:nvSpPr>
        <p:spPr bwMode="auto">
          <a:xfrm>
            <a:off x="3048000" y="28194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152400" y="2514600"/>
            <a:ext cx="16700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Coil[SW_SS_48V_UNDER_85P]</a:t>
            </a:r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990600" y="2819400"/>
            <a:ext cx="479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0x923F</a:t>
            </a:r>
          </a:p>
        </p:txBody>
      </p: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5029200" y="1143000"/>
            <a:ext cx="41021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특별한 조치사항 없음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건물 주변의 과부하로 인한 입력 전원의 전압 강하로 인하여 발생됨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TCD 70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조치사항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83" name="Line 35"/>
          <p:cNvSpPr>
            <a:spLocks noChangeShapeType="1"/>
          </p:cNvSpPr>
          <p:nvPr/>
        </p:nvSpPr>
        <p:spPr bwMode="auto">
          <a:xfrm>
            <a:off x="4876800" y="25146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4038600" y="2590800"/>
            <a:ext cx="727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5" name="Line 37"/>
          <p:cNvSpPr>
            <a:spLocks noChangeShapeType="1"/>
          </p:cNvSpPr>
          <p:nvPr/>
        </p:nvSpPr>
        <p:spPr bwMode="auto">
          <a:xfrm>
            <a:off x="1371600" y="28194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6" name="Line 38"/>
          <p:cNvSpPr>
            <a:spLocks noChangeShapeType="1"/>
          </p:cNvSpPr>
          <p:nvPr/>
        </p:nvSpPr>
        <p:spPr bwMode="auto">
          <a:xfrm>
            <a:off x="2819400" y="28956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2590800" y="2743200"/>
            <a:ext cx="533400" cy="152400"/>
            <a:chOff x="1752" y="1440"/>
            <a:chExt cx="336" cy="96"/>
          </a:xfrm>
        </p:grpSpPr>
        <p:sp>
          <p:nvSpPr>
            <p:cNvPr id="2088" name="Line 40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9" name="Line 41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2" name="Line 44"/>
          <p:cNvSpPr>
            <a:spLocks noChangeShapeType="1"/>
          </p:cNvSpPr>
          <p:nvPr/>
        </p:nvSpPr>
        <p:spPr bwMode="auto">
          <a:xfrm>
            <a:off x="2819400" y="33528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3" name="Line 45"/>
          <p:cNvSpPr>
            <a:spLocks noChangeShapeType="1"/>
          </p:cNvSpPr>
          <p:nvPr/>
        </p:nvSpPr>
        <p:spPr bwMode="auto">
          <a:xfrm>
            <a:off x="2895600" y="33528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4" name="Line 46"/>
          <p:cNvSpPr>
            <a:spLocks noChangeShapeType="1"/>
          </p:cNvSpPr>
          <p:nvPr/>
        </p:nvSpPr>
        <p:spPr bwMode="auto">
          <a:xfrm>
            <a:off x="2895600" y="3429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5" name="Line 47"/>
          <p:cNvSpPr>
            <a:spLocks noChangeShapeType="1"/>
          </p:cNvSpPr>
          <p:nvPr/>
        </p:nvSpPr>
        <p:spPr bwMode="auto">
          <a:xfrm flipV="1">
            <a:off x="2743200" y="3352800"/>
            <a:ext cx="228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3810000" y="3200400"/>
            <a:ext cx="9556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7" name="Rectangle 49"/>
          <p:cNvSpPr>
            <a:spLocks noChangeArrowheads="1"/>
          </p:cNvSpPr>
          <p:nvPr/>
        </p:nvSpPr>
        <p:spPr bwMode="auto">
          <a:xfrm>
            <a:off x="3810000" y="3221038"/>
            <a:ext cx="10668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under_85p_count</a:t>
            </a:r>
          </a:p>
        </p:txBody>
      </p:sp>
      <p:sp>
        <p:nvSpPr>
          <p:cNvPr id="2098" name="Line 50"/>
          <p:cNvSpPr>
            <a:spLocks noChangeShapeType="1"/>
          </p:cNvSpPr>
          <p:nvPr/>
        </p:nvSpPr>
        <p:spPr bwMode="auto">
          <a:xfrm>
            <a:off x="3124200" y="342900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3517900" y="3200400"/>
            <a:ext cx="3000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+1</a:t>
            </a:r>
          </a:p>
        </p:txBody>
      </p:sp>
      <p:sp>
        <p:nvSpPr>
          <p:cNvPr id="2100" name="Rectangle 52"/>
          <p:cNvSpPr>
            <a:spLocks noChangeArrowheads="1"/>
          </p:cNvSpPr>
          <p:nvPr/>
        </p:nvSpPr>
        <p:spPr bwMode="auto">
          <a:xfrm>
            <a:off x="2444750" y="2533650"/>
            <a:ext cx="11557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under_85p_count &gt; 2</a:t>
            </a:r>
          </a:p>
        </p:txBody>
      </p:sp>
      <p:sp>
        <p:nvSpPr>
          <p:cNvPr id="2101" name="Rectangle 53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74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914400"/>
            <a:ext cx="1447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ER_SPEC_OVER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321786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EEPROM Spec Data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제어범위 내에 있지 않을 경우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DATA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검출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46050" y="1866900"/>
            <a:ext cx="465455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EEPROM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값이 설정 범위에 위배될 때 발생하는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1. Gear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타입이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Worm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Helical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아닌 값으로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Setting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있을 경우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Gear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타입에 대하여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T/M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타입의 종류 허용범위를 벗어난 경우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3. Encoder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펄스 수가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72, 512, 1024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이외의 값으로 설정된 경우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정격 속도가 허용범위를 벗어난 경우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5. IGBT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용량이 허용범위를 벗어나거나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다른 경우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6. CT-Turn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횟수가 허용범위를 벗어나거나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다른 경우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7. Motor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용량이 허용범위를 벗어나거나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다른 경우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정지층의 개수가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다른 경우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9.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차폐판의 개수가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다른 경우 검출 방법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143000"/>
            <a:ext cx="3962400" cy="268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* Spec ROM (EEPROM-28C64)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내용을 검사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수정한다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Spec List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상에서 해당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Address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찾은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Annunciator(ANN)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상에서 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A31E”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눌러서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Address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입력한다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해당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Address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값을 수정한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reset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( SPEC TABLE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참조한다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.)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Gear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타입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Address : 0106 H 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T/M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타입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Address : 0108H 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Encoder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펄스 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Address : 010EH 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정격 속도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Address : 0104H 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IGBT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용량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Address : 010AH 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6. CT-Turn     ( Address : 010CH 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7. Motor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용량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Address : 0102H 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8.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정지층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Address : 038CH ~ 03CAH 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9.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차폐판 개수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Address : 0300H )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3717925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참조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152400" y="3962400"/>
            <a:ext cx="4654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ANN - A42E  Trace Data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참조하여 문제 데이터가 무었인지 확인할 수 있음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23825" y="4419600"/>
            <a:ext cx="4797425" cy="1616075"/>
            <a:chOff x="78" y="2784"/>
            <a:chExt cx="3022" cy="1018"/>
          </a:xfrm>
        </p:grpSpPr>
        <p:sp>
          <p:nvSpPr>
            <p:cNvPr id="2072" name="Text Box 24"/>
            <p:cNvSpPr txBox="1">
              <a:spLocks noChangeArrowheads="1"/>
            </p:cNvSpPr>
            <p:nvPr/>
          </p:nvSpPr>
          <p:spPr bwMode="auto">
            <a:xfrm>
              <a:off x="78" y="2784"/>
              <a:ext cx="3022" cy="10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1000">
                  <a:latin typeface="굴림" charset="-127"/>
                </a:rPr>
                <a:t>TCD74 (</a:t>
              </a:r>
              <a:r>
                <a:rPr lang="ko-KR" altLang="en-US" sz="1000">
                  <a:latin typeface="굴림" charset="-127"/>
                </a:rPr>
                <a:t>운전 </a:t>
              </a:r>
              <a:r>
                <a:rPr lang="en-US" altLang="ko-KR" sz="1000">
                  <a:latin typeface="굴림" charset="-127"/>
                </a:rPr>
                <a:t>Spec Data </a:t>
              </a:r>
              <a:r>
                <a:rPr lang="ko-KR" altLang="en-US" sz="1000">
                  <a:latin typeface="굴림" charset="-127"/>
                </a:rPr>
                <a:t>이상</a:t>
              </a:r>
              <a:r>
                <a:rPr lang="en-US" altLang="ko-KR" sz="1000">
                  <a:latin typeface="굴림" charset="-127"/>
                </a:rPr>
                <a:t>) : Set</a:t>
              </a:r>
              <a:r>
                <a:rPr lang="ko-KR" altLang="en-US" sz="1000">
                  <a:latin typeface="굴림" charset="-127"/>
                </a:rPr>
                <a:t>된 </a:t>
              </a:r>
              <a:r>
                <a:rPr lang="en-US" altLang="ko-KR" sz="1000">
                  <a:latin typeface="굴림" charset="-127"/>
                </a:rPr>
                <a:t>Bit</a:t>
              </a:r>
              <a:r>
                <a:rPr lang="ko-KR" altLang="en-US" sz="1000">
                  <a:latin typeface="굴림" charset="-127"/>
                </a:rPr>
                <a:t>가 </a:t>
              </a:r>
              <a:r>
                <a:rPr lang="en-US" altLang="ko-KR" sz="1000">
                  <a:latin typeface="굴림" charset="-127"/>
                </a:rPr>
                <a:t>Spec Data </a:t>
              </a:r>
              <a:r>
                <a:rPr lang="ko-KR" altLang="en-US" sz="1000">
                  <a:latin typeface="굴림" charset="-127"/>
                </a:rPr>
                <a:t>이상임</a:t>
              </a:r>
            </a:p>
            <a:p>
              <a:endParaRPr lang="ko-KR" altLang="en-US" sz="1000">
                <a:latin typeface="굴림" charset="-127"/>
              </a:endParaRPr>
            </a:p>
            <a:p>
              <a:r>
                <a:rPr lang="ko-KR" altLang="en-US" sz="1000">
                  <a:latin typeface="굴림" charset="-127"/>
                </a:rPr>
                <a:t>    </a:t>
              </a:r>
              <a:r>
                <a:rPr lang="en-US" altLang="ko-KR" sz="1000">
                  <a:latin typeface="굴림" charset="-127"/>
                </a:rPr>
                <a:t>15          14          13          12          11         10            9            8</a:t>
              </a:r>
            </a:p>
            <a:p>
              <a:endParaRPr lang="en-US" altLang="ko-KR" sz="1000">
                <a:latin typeface="굴림" charset="-127"/>
              </a:endParaRPr>
            </a:p>
            <a:p>
              <a:r>
                <a:rPr lang="en-US" altLang="ko-KR" sz="1000">
                  <a:latin typeface="굴림" charset="-127"/>
                </a:rPr>
                <a:t>    -            -           -           -            -         -        </a:t>
              </a:r>
              <a:r>
                <a:rPr lang="ko-KR" altLang="en-US" sz="1000">
                  <a:latin typeface="굴림" charset="-127"/>
                </a:rPr>
                <a:t>층 번호    차폐판수</a:t>
              </a:r>
            </a:p>
            <a:p>
              <a:endParaRPr lang="ko-KR" altLang="en-US" sz="1000">
                <a:latin typeface="굴림" charset="-127"/>
              </a:endParaRPr>
            </a:p>
            <a:p>
              <a:r>
                <a:rPr lang="ko-KR" altLang="en-US" sz="1000">
                  <a:latin typeface="굴림" charset="-127"/>
                </a:rPr>
                <a:t>     </a:t>
              </a:r>
              <a:r>
                <a:rPr lang="en-US" altLang="ko-KR" sz="1000">
                  <a:latin typeface="굴림" charset="-127"/>
                </a:rPr>
                <a:t>7            6            5            4           3           2             1            0	</a:t>
              </a:r>
            </a:p>
            <a:p>
              <a:endParaRPr lang="en-US" altLang="ko-KR" sz="1000">
                <a:latin typeface="굴림" charset="-127"/>
              </a:endParaRPr>
            </a:p>
            <a:p>
              <a:r>
                <a:rPr lang="en-US" altLang="ko-KR" sz="1000">
                  <a:latin typeface="굴림" charset="-127"/>
                </a:rPr>
                <a:t>CT Turn    IGBT      Motor    Encoder    -          Speed      TM         Gear</a:t>
              </a:r>
            </a:p>
            <a:p>
              <a:endParaRPr lang="en-US" altLang="ko-KR" sz="1000"/>
            </a:p>
          </p:txBody>
        </p:sp>
        <p:sp>
          <p:nvSpPr>
            <p:cNvPr id="2073" name="Rectangle 25"/>
            <p:cNvSpPr>
              <a:spLocks noChangeArrowheads="1"/>
            </p:cNvSpPr>
            <p:nvPr/>
          </p:nvSpPr>
          <p:spPr bwMode="auto">
            <a:xfrm>
              <a:off x="96" y="2976"/>
              <a:ext cx="2976" cy="7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>
              <a:off x="96" y="3168"/>
              <a:ext cx="29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96" y="3360"/>
              <a:ext cx="29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96" y="3552"/>
              <a:ext cx="29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7" name="Line 29"/>
            <p:cNvSpPr>
              <a:spLocks noChangeShapeType="1"/>
            </p:cNvSpPr>
            <p:nvPr/>
          </p:nvSpPr>
          <p:spPr bwMode="auto">
            <a:xfrm>
              <a:off x="480" y="297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>
              <a:off x="840" y="297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>
              <a:off x="1200" y="297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>
              <a:off x="1584" y="297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1920" y="297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2304" y="297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3" name="Line 35"/>
            <p:cNvSpPr>
              <a:spLocks noChangeShapeType="1"/>
            </p:cNvSpPr>
            <p:nvPr/>
          </p:nvSpPr>
          <p:spPr bwMode="auto">
            <a:xfrm>
              <a:off x="2688" y="297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76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ER_EEPROM_WRITE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52400" y="1905000"/>
            <a:ext cx="4410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값을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Write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하도록 하였을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값이 제대로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Write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안 되었음을 의미함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434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Write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하고 동일 번지의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Read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값이 다른  경우가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검출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3833813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JP1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쪽으로 절환 되었는지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제대로 꽂혀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( 28C64-xxPC : 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 일 것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SPEC 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77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ER_EEPROM_READ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2917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동일한 번지에서 연속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읽었을 때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서로 다른 경우가  연속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검출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2400" y="1905000"/>
            <a:ext cx="41052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값을 읽을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동일한 번지의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값을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읽어서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서로 다른 경우에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3962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확인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( 28C64-xxPC: 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이하일 것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DOC-1xx BOARD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제대로 꽂혀 있는지 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SPEC 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78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ER_EEPROM_FHT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1755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EEPROM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층고 테이블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2400" y="1905000"/>
            <a:ext cx="45720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1A00H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번지부터  층고 측정에 의해 각 층의 층고값이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저장되고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1B10H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번지에는 이들 각 층의 층고값의 합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Sum)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저장된다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아래의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가지 경우 중에 하나라도 발생하면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발생한다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저장되어 있는 층고 테이블의 각 값을 더한 값과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(1A00H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번지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), 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저장되어 있는 층고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Sum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같지 않은 경우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EEPROM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층고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Sum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0(Zero)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층고 테이블의 최하층의 층고가 최저 층고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(150000)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아닌      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경우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143000"/>
            <a:ext cx="3841750" cy="420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 EEPROM Address (ANN ‘A31E’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누른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층고 테이블 시작 번지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1A00 H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층고 테이블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Sum : 1B10 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번지의 값을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항에서 층고 테이블에 이상이 있으면 층고 측정 재 실시한다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3 .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층고 측정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층 표시 값이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맞는 값인지 확인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값이 다를 경우 차폐판 조정 및 설치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층고 측정 계속 실패의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A31E’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누른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	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아래의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Address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입력 후 그 값 확인	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Address -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    |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총층수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0300H     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차폐판 설치 개수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    |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최고층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041CH    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    |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최하층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0420H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    |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정지층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038CH  ~ 03CAH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중 해당층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                     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차폐판이 있는 비정지층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10xxxxxxB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                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차폐판이 있는 정지층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11xxxxxxB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                      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Bit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데이터로 설정되어 있을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여기서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	    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xxxxxx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부는 층 데이터임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.)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SPEC 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                    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*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층고 측정 실시 방법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1) 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A12E’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누른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누른다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층고 측정이 성공적으로 끝나면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FFFF’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누른 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층고 측정이 실패하면 다시 한번 층고 측정을 실시한다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계속해서 실패할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EEPROM(28C64)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총 층 수와 최고층 등이 현장과 동일한지 아닌지 살펴본다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52400" y="4648200"/>
            <a:ext cx="47021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Non-Stop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층이 있는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ACD = 09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표시되고 부저가 울리면서 최하층으로 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저속 복귀 운전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Non-Stop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층이 없는 경우 최기층 주행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정지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ACD = 09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대기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0" y="43434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79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ER_NVRAM_FHT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0" y="43434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2400" y="1905000"/>
            <a:ext cx="47244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층고 측정 이후 각층의 층고값과 각층 층고값의 합은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EEPROM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RAM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저장되도록 되어 있다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아래와 같은 상황 중에 하나에 해당하면 이와 같은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발생한다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RAM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내에 저장되어 있는 층고 테이블의 각 값을 더한 값과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 RAM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층고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Sum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서로 다른 경우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RAM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층고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SUM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Zero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RAM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층고 테이블의 최하층의 층고가 최저 층고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(150000)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아닌 경우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33400" y="838200"/>
            <a:ext cx="30781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NVRAM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층고 테이블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52400" y="4648200"/>
            <a:ext cx="4702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ACD = 0B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표시되고 부저가 울리면서 최하층으로 저속 복귀 운전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ACD = 27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대기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5029200" y="1143000"/>
            <a:ext cx="39624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TCD 79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만 검출된 경우 최하층으로 저속 복귀 운전 후 자동으로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정상운전으로 복귀한다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TCD 78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함께 검출된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78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조치 사항을 따른다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84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ER_R5SC_ON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3465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R5SC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후에도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R5SC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 유지됨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273050" y="3638550"/>
            <a:ext cx="15351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TMC_Check(R5SC_ERROR_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DETECT_T, FINISH_STATE)</a:t>
            </a: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52400" y="1981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4876800" y="1905000"/>
            <a:ext cx="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152400" y="2743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8382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2895600" y="2209800"/>
            <a:ext cx="198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469900" y="1941513"/>
            <a:ext cx="98901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SWD_I[VI_R5SC]</a:t>
            </a:r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117475" y="2465388"/>
            <a:ext cx="98901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SWD_I[VI_R5SC]</a:t>
            </a:r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1905000" y="1981200"/>
            <a:ext cx="10906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SWD_O[VO_R5SC]</a:t>
            </a:r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>
            <a:off x="152400" y="3429000"/>
            <a:ext cx="1135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Line 29"/>
          <p:cNvSpPr>
            <a:spLocks noChangeShapeType="1"/>
          </p:cNvSpPr>
          <p:nvPr/>
        </p:nvSpPr>
        <p:spPr bwMode="auto">
          <a:xfrm>
            <a:off x="1219200" y="4038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4038600" y="1981200"/>
            <a:ext cx="727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4060825" y="20081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4152900" y="3803650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84</a:t>
            </a:r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781050" y="22320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0x8001</a:t>
            </a:r>
          </a:p>
        </p:txBody>
      </p: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304800" y="2795588"/>
            <a:ext cx="47466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0x8001</a:t>
            </a:r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1162050" y="28035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0x8082</a:t>
            </a:r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2324100" y="22320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0x8082</a:t>
            </a:r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2039938" y="2794000"/>
            <a:ext cx="4746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0x9210</a:t>
            </a:r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5029200" y="1143000"/>
            <a:ext cx="38862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AB-01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48V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NORMAL/STOP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NORMAL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놓았을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AA-01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48V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R5SC RELAY(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콘텍터형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제대로 꽂혀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R5SC RELAY(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콘텍터형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구동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적색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점등한다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 시 접점이 붙고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소등 시 접점이 떨어지는 지를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확인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RELAY(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콘텍터형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접점을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6. R5SC RELAY(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콘텍터형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</a:p>
        </p:txBody>
      </p:sp>
      <p:sp>
        <p:nvSpPr>
          <p:cNvPr id="2087" name="Line 39"/>
          <p:cNvSpPr>
            <a:spLocks noChangeShapeType="1"/>
          </p:cNvSpPr>
          <p:nvPr/>
        </p:nvSpPr>
        <p:spPr bwMode="auto">
          <a:xfrm>
            <a:off x="1600200" y="34290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2438400" y="2133600"/>
            <a:ext cx="533400" cy="152400"/>
            <a:chOff x="1128" y="1440"/>
            <a:chExt cx="336" cy="96"/>
          </a:xfrm>
        </p:grpSpPr>
        <p:grpSp>
          <p:nvGrpSpPr>
            <p:cNvPr id="3" name="Group 41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990600" y="2133600"/>
            <a:ext cx="533400" cy="152400"/>
            <a:chOff x="1752" y="1440"/>
            <a:chExt cx="336" cy="96"/>
          </a:xfrm>
        </p:grpSpPr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7" name="Line 49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8" name="Line 50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0" name="Line 52"/>
          <p:cNvSpPr>
            <a:spLocks noChangeShapeType="1"/>
          </p:cNvSpPr>
          <p:nvPr/>
        </p:nvSpPr>
        <p:spPr bwMode="auto">
          <a:xfrm>
            <a:off x="152400" y="22098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1447800" y="22098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5" name="Group 54"/>
          <p:cNvGrpSpPr>
            <a:grpSpLocks/>
          </p:cNvGrpSpPr>
          <p:nvPr/>
        </p:nvGrpSpPr>
        <p:grpSpPr bwMode="auto">
          <a:xfrm>
            <a:off x="1295400" y="2667000"/>
            <a:ext cx="533400" cy="152400"/>
            <a:chOff x="1752" y="1440"/>
            <a:chExt cx="336" cy="96"/>
          </a:xfrm>
        </p:grpSpPr>
        <p:sp>
          <p:nvSpPr>
            <p:cNvPr id="2103" name="Line 55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4" name="Line 56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5" name="Line 57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6" name="Line 58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59"/>
          <p:cNvGrpSpPr>
            <a:grpSpLocks/>
          </p:cNvGrpSpPr>
          <p:nvPr/>
        </p:nvGrpSpPr>
        <p:grpSpPr bwMode="auto">
          <a:xfrm>
            <a:off x="2286000" y="2667000"/>
            <a:ext cx="533400" cy="152400"/>
            <a:chOff x="1128" y="1440"/>
            <a:chExt cx="336" cy="96"/>
          </a:xfrm>
        </p:grpSpPr>
        <p:grpSp>
          <p:nvGrpSpPr>
            <p:cNvPr id="7" name="Group 60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13" name="Line 65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8" name="Group 66"/>
          <p:cNvGrpSpPr>
            <a:grpSpLocks/>
          </p:cNvGrpSpPr>
          <p:nvPr/>
        </p:nvGrpSpPr>
        <p:grpSpPr bwMode="auto">
          <a:xfrm>
            <a:off x="381000" y="2667000"/>
            <a:ext cx="533400" cy="152400"/>
            <a:chOff x="1128" y="1440"/>
            <a:chExt cx="336" cy="96"/>
          </a:xfrm>
        </p:grpSpPr>
        <p:grpSp>
          <p:nvGrpSpPr>
            <p:cNvPr id="9" name="Group 67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20" name="Line 72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0" name="Group 73"/>
          <p:cNvGrpSpPr>
            <a:grpSpLocks/>
          </p:cNvGrpSpPr>
          <p:nvPr/>
        </p:nvGrpSpPr>
        <p:grpSpPr bwMode="auto">
          <a:xfrm>
            <a:off x="3048000" y="2667000"/>
            <a:ext cx="533400" cy="152400"/>
            <a:chOff x="1752" y="1440"/>
            <a:chExt cx="336" cy="96"/>
          </a:xfrm>
        </p:grpSpPr>
        <p:sp>
          <p:nvSpPr>
            <p:cNvPr id="2122" name="Line 74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3" name="Line 75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6" name="Line 78"/>
          <p:cNvSpPr>
            <a:spLocks noChangeShapeType="1"/>
          </p:cNvSpPr>
          <p:nvPr/>
        </p:nvSpPr>
        <p:spPr bwMode="auto">
          <a:xfrm>
            <a:off x="3733800" y="2209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7" name="Line 79"/>
          <p:cNvSpPr>
            <a:spLocks noChangeShapeType="1"/>
          </p:cNvSpPr>
          <p:nvPr/>
        </p:nvSpPr>
        <p:spPr bwMode="auto">
          <a:xfrm>
            <a:off x="17526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26670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3581400" y="27432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Rectangle 82"/>
          <p:cNvSpPr>
            <a:spLocks noChangeArrowheads="1"/>
          </p:cNvSpPr>
          <p:nvPr/>
        </p:nvSpPr>
        <p:spPr bwMode="auto">
          <a:xfrm>
            <a:off x="1047750" y="2463800"/>
            <a:ext cx="10906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SWD_O[VO_R5SC]</a:t>
            </a:r>
          </a:p>
        </p:txBody>
      </p:sp>
      <p:sp>
        <p:nvSpPr>
          <p:cNvPr id="2131" name="Rectangle 83"/>
          <p:cNvSpPr>
            <a:spLocks noChangeArrowheads="1"/>
          </p:cNvSpPr>
          <p:nvPr/>
        </p:nvSpPr>
        <p:spPr bwMode="auto">
          <a:xfrm>
            <a:off x="2057400" y="2470150"/>
            <a:ext cx="1273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Coil[SV_INV_SW_FAIL]</a:t>
            </a:r>
          </a:p>
        </p:txBody>
      </p:sp>
      <p:sp>
        <p:nvSpPr>
          <p:cNvPr id="2132" name="Rectangle 84"/>
          <p:cNvSpPr>
            <a:spLocks noChangeArrowheads="1"/>
          </p:cNvSpPr>
          <p:nvPr/>
        </p:nvSpPr>
        <p:spPr bwMode="auto">
          <a:xfrm>
            <a:off x="2667000" y="2819400"/>
            <a:ext cx="12652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Coil[SW_SS_DSP_WD]</a:t>
            </a:r>
          </a:p>
        </p:txBody>
      </p:sp>
      <p:grpSp>
        <p:nvGrpSpPr>
          <p:cNvPr id="11" name="Group 85"/>
          <p:cNvGrpSpPr>
            <a:grpSpLocks/>
          </p:cNvGrpSpPr>
          <p:nvPr/>
        </p:nvGrpSpPr>
        <p:grpSpPr bwMode="auto">
          <a:xfrm>
            <a:off x="1066800" y="3352800"/>
            <a:ext cx="533400" cy="152400"/>
            <a:chOff x="1752" y="1440"/>
            <a:chExt cx="336" cy="96"/>
          </a:xfrm>
        </p:grpSpPr>
        <p:sp>
          <p:nvSpPr>
            <p:cNvPr id="2134" name="Line 86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5" name="Line 87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6" name="Line 88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7" name="Line 89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38" name="Rectangle 90"/>
          <p:cNvSpPr>
            <a:spLocks noChangeArrowheads="1"/>
          </p:cNvSpPr>
          <p:nvPr/>
        </p:nvSpPr>
        <p:spPr bwMode="auto">
          <a:xfrm>
            <a:off x="3657600" y="3200400"/>
            <a:ext cx="1108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3619500" y="3276600"/>
            <a:ext cx="11668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TMC_Start(R5SC_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140" name="Line 92"/>
          <p:cNvSpPr>
            <a:spLocks noChangeShapeType="1"/>
          </p:cNvSpPr>
          <p:nvPr/>
        </p:nvSpPr>
        <p:spPr bwMode="auto">
          <a:xfrm>
            <a:off x="4762500" y="3429000"/>
            <a:ext cx="114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1" name="Rectangle 93"/>
          <p:cNvSpPr>
            <a:spLocks noChangeArrowheads="1"/>
          </p:cNvSpPr>
          <p:nvPr/>
        </p:nvSpPr>
        <p:spPr bwMode="auto">
          <a:xfrm>
            <a:off x="885825" y="31384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12" name="Group 94"/>
          <p:cNvGrpSpPr>
            <a:grpSpLocks/>
          </p:cNvGrpSpPr>
          <p:nvPr/>
        </p:nvGrpSpPr>
        <p:grpSpPr bwMode="auto">
          <a:xfrm>
            <a:off x="685800" y="3962400"/>
            <a:ext cx="533400" cy="152400"/>
            <a:chOff x="1752" y="1440"/>
            <a:chExt cx="336" cy="96"/>
          </a:xfrm>
        </p:grpSpPr>
        <p:sp>
          <p:nvSpPr>
            <p:cNvPr id="2143" name="Line 95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4" name="Line 96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6" name="Line 98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47" name="Line 99"/>
          <p:cNvSpPr>
            <a:spLocks noChangeShapeType="1"/>
          </p:cNvSpPr>
          <p:nvPr/>
        </p:nvSpPr>
        <p:spPr bwMode="auto">
          <a:xfrm>
            <a:off x="152400" y="4038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3" name="Group 100"/>
          <p:cNvGrpSpPr>
            <a:grpSpLocks/>
          </p:cNvGrpSpPr>
          <p:nvPr/>
        </p:nvGrpSpPr>
        <p:grpSpPr bwMode="auto">
          <a:xfrm>
            <a:off x="1981200" y="3962400"/>
            <a:ext cx="533400" cy="152400"/>
            <a:chOff x="1752" y="1440"/>
            <a:chExt cx="336" cy="96"/>
          </a:xfrm>
        </p:grpSpPr>
        <p:sp>
          <p:nvSpPr>
            <p:cNvPr id="2149" name="Line 101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0" name="Line 102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" name="Line 103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2" name="Line 104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53" name="Line 105"/>
          <p:cNvSpPr>
            <a:spLocks noChangeShapeType="1"/>
          </p:cNvSpPr>
          <p:nvPr/>
        </p:nvSpPr>
        <p:spPr bwMode="auto">
          <a:xfrm>
            <a:off x="2438400" y="40386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4" name="Rectangle 106"/>
          <p:cNvSpPr>
            <a:spLocks noChangeArrowheads="1"/>
          </p:cNvSpPr>
          <p:nvPr/>
        </p:nvSpPr>
        <p:spPr bwMode="auto">
          <a:xfrm>
            <a:off x="1828800" y="3733800"/>
            <a:ext cx="9890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SWD_I[VI_R5SC]</a:t>
            </a:r>
          </a:p>
        </p:txBody>
      </p:sp>
      <p:sp>
        <p:nvSpPr>
          <p:cNvPr id="2155" name="Rectangle 107"/>
          <p:cNvSpPr>
            <a:spLocks noChangeArrowheads="1"/>
          </p:cNvSpPr>
          <p:nvPr/>
        </p:nvSpPr>
        <p:spPr bwMode="auto">
          <a:xfrm>
            <a:off x="4083050" y="3810000"/>
            <a:ext cx="68262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6" name="Rectangle 108"/>
          <p:cNvSpPr>
            <a:spLocks noChangeArrowheads="1"/>
          </p:cNvSpPr>
          <p:nvPr/>
        </p:nvSpPr>
        <p:spPr bwMode="auto">
          <a:xfrm>
            <a:off x="1847850" y="40957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0x8001</a:t>
            </a:r>
          </a:p>
        </p:txBody>
      </p:sp>
      <p:sp>
        <p:nvSpPr>
          <p:cNvPr id="2157" name="Rectangle 109"/>
          <p:cNvSpPr>
            <a:spLocks noChangeArrowheads="1"/>
          </p:cNvSpPr>
          <p:nvPr/>
        </p:nvSpPr>
        <p:spPr bwMode="auto">
          <a:xfrm>
            <a:off x="3244850" y="25082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0x923D</a:t>
            </a:r>
          </a:p>
        </p:txBody>
      </p:sp>
      <p:sp>
        <p:nvSpPr>
          <p:cNvPr id="2158" name="Rectangle 110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85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ER_R5SC_OFF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029200" y="1066800"/>
            <a:ext cx="37401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AB-01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48V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NORMAL/STOP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NORMAL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놓았을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AA-01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48V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인지 확인한다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R5SC RELAY(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콘텍터형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제대로 꽂혀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R5SC RELAY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콘텍터형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구동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적색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점등한다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 시 접점이 붙고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소등 시 접점이 떨어지는 지를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확인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  <a:endParaRPr lang="en-US" altLang="ko-KR" sz="1000">
              <a:solidFill>
                <a:srgbClr val="FF0033"/>
              </a:solidFill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R5SC RELAY(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콘텍터형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3465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R5SC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후에도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R5SC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 유지됨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273050" y="3638550"/>
            <a:ext cx="15351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TMC_Check(R5SC_ERROR_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DETECT_T, FINISH_STATE)</a:t>
            </a: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52400" y="1981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4876800" y="1905000"/>
            <a:ext cx="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152400" y="2743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8382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2895600" y="2209800"/>
            <a:ext cx="198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469900" y="1941513"/>
            <a:ext cx="98901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SWD_I[VI_R5SC]</a:t>
            </a:r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117475" y="2465388"/>
            <a:ext cx="98901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SWD_I[VI_R5SC]</a:t>
            </a:r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1905000" y="1981200"/>
            <a:ext cx="10906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SWD_O[VO_R5SC]</a:t>
            </a:r>
          </a:p>
        </p:txBody>
      </p:sp>
      <p:sp>
        <p:nvSpPr>
          <p:cNvPr id="2077" name="Line 29"/>
          <p:cNvSpPr>
            <a:spLocks noChangeShapeType="1"/>
          </p:cNvSpPr>
          <p:nvPr/>
        </p:nvSpPr>
        <p:spPr bwMode="auto">
          <a:xfrm>
            <a:off x="152400" y="3429000"/>
            <a:ext cx="1135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8" name="Line 30"/>
          <p:cNvSpPr>
            <a:spLocks noChangeShapeType="1"/>
          </p:cNvSpPr>
          <p:nvPr/>
        </p:nvSpPr>
        <p:spPr bwMode="auto">
          <a:xfrm>
            <a:off x="1219200" y="4038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4038600" y="1981200"/>
            <a:ext cx="727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4060825" y="20081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4152900" y="3803650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85</a:t>
            </a:r>
          </a:p>
        </p:txBody>
      </p: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781050" y="22320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0x8001</a:t>
            </a:r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304800" y="28194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0x8001</a:t>
            </a:r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1071563" y="2803525"/>
            <a:ext cx="4746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0x8082</a:t>
            </a:r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2324100" y="22320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0x8082</a:t>
            </a:r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2006600" y="27940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0x9210</a:t>
            </a:r>
          </a:p>
        </p:txBody>
      </p:sp>
      <p:sp>
        <p:nvSpPr>
          <p:cNvPr id="2087" name="Line 39"/>
          <p:cNvSpPr>
            <a:spLocks noChangeShapeType="1"/>
          </p:cNvSpPr>
          <p:nvPr/>
        </p:nvSpPr>
        <p:spPr bwMode="auto">
          <a:xfrm>
            <a:off x="1600200" y="34290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2438400" y="2133600"/>
            <a:ext cx="533400" cy="152400"/>
            <a:chOff x="1128" y="1440"/>
            <a:chExt cx="336" cy="96"/>
          </a:xfrm>
        </p:grpSpPr>
        <p:grpSp>
          <p:nvGrpSpPr>
            <p:cNvPr id="3" name="Group 41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990600" y="2133600"/>
            <a:ext cx="533400" cy="152400"/>
            <a:chOff x="1752" y="1440"/>
            <a:chExt cx="336" cy="96"/>
          </a:xfrm>
        </p:grpSpPr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7" name="Line 49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8" name="Line 50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0" name="Line 52"/>
          <p:cNvSpPr>
            <a:spLocks noChangeShapeType="1"/>
          </p:cNvSpPr>
          <p:nvPr/>
        </p:nvSpPr>
        <p:spPr bwMode="auto">
          <a:xfrm>
            <a:off x="152400" y="22098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1447800" y="22098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5" name="Group 54"/>
          <p:cNvGrpSpPr>
            <a:grpSpLocks/>
          </p:cNvGrpSpPr>
          <p:nvPr/>
        </p:nvGrpSpPr>
        <p:grpSpPr bwMode="auto">
          <a:xfrm>
            <a:off x="1295400" y="2667000"/>
            <a:ext cx="533400" cy="152400"/>
            <a:chOff x="1752" y="1440"/>
            <a:chExt cx="336" cy="96"/>
          </a:xfrm>
        </p:grpSpPr>
        <p:sp>
          <p:nvSpPr>
            <p:cNvPr id="2103" name="Line 55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4" name="Line 56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5" name="Line 57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6" name="Line 58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59"/>
          <p:cNvGrpSpPr>
            <a:grpSpLocks/>
          </p:cNvGrpSpPr>
          <p:nvPr/>
        </p:nvGrpSpPr>
        <p:grpSpPr bwMode="auto">
          <a:xfrm>
            <a:off x="2286000" y="2667000"/>
            <a:ext cx="533400" cy="152400"/>
            <a:chOff x="1128" y="1440"/>
            <a:chExt cx="336" cy="96"/>
          </a:xfrm>
        </p:grpSpPr>
        <p:grpSp>
          <p:nvGrpSpPr>
            <p:cNvPr id="7" name="Group 60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13" name="Line 65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8" name="Group 66"/>
          <p:cNvGrpSpPr>
            <a:grpSpLocks/>
          </p:cNvGrpSpPr>
          <p:nvPr/>
        </p:nvGrpSpPr>
        <p:grpSpPr bwMode="auto">
          <a:xfrm>
            <a:off x="457200" y="2667000"/>
            <a:ext cx="533400" cy="152400"/>
            <a:chOff x="1128" y="1440"/>
            <a:chExt cx="336" cy="96"/>
          </a:xfrm>
        </p:grpSpPr>
        <p:grpSp>
          <p:nvGrpSpPr>
            <p:cNvPr id="9" name="Group 67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20" name="Line 72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0" name="Group 73"/>
          <p:cNvGrpSpPr>
            <a:grpSpLocks/>
          </p:cNvGrpSpPr>
          <p:nvPr/>
        </p:nvGrpSpPr>
        <p:grpSpPr bwMode="auto">
          <a:xfrm>
            <a:off x="3048000" y="2667000"/>
            <a:ext cx="533400" cy="152400"/>
            <a:chOff x="1752" y="1440"/>
            <a:chExt cx="336" cy="96"/>
          </a:xfrm>
        </p:grpSpPr>
        <p:sp>
          <p:nvSpPr>
            <p:cNvPr id="2122" name="Line 74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3" name="Line 75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6" name="Line 78"/>
          <p:cNvSpPr>
            <a:spLocks noChangeShapeType="1"/>
          </p:cNvSpPr>
          <p:nvPr/>
        </p:nvSpPr>
        <p:spPr bwMode="auto">
          <a:xfrm>
            <a:off x="3733800" y="2209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7" name="Line 79"/>
          <p:cNvSpPr>
            <a:spLocks noChangeShapeType="1"/>
          </p:cNvSpPr>
          <p:nvPr/>
        </p:nvSpPr>
        <p:spPr bwMode="auto">
          <a:xfrm>
            <a:off x="17526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26670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3581400" y="27432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Rectangle 82"/>
          <p:cNvSpPr>
            <a:spLocks noChangeArrowheads="1"/>
          </p:cNvSpPr>
          <p:nvPr/>
        </p:nvSpPr>
        <p:spPr bwMode="auto">
          <a:xfrm>
            <a:off x="1047750" y="2463800"/>
            <a:ext cx="10906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SWD_O[VO_R5SC]</a:t>
            </a:r>
          </a:p>
        </p:txBody>
      </p:sp>
      <p:sp>
        <p:nvSpPr>
          <p:cNvPr id="2131" name="Rectangle 83"/>
          <p:cNvSpPr>
            <a:spLocks noChangeArrowheads="1"/>
          </p:cNvSpPr>
          <p:nvPr/>
        </p:nvSpPr>
        <p:spPr bwMode="auto">
          <a:xfrm>
            <a:off x="2057400" y="2470150"/>
            <a:ext cx="1273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Coil[SV_INV_SW_FAIL]</a:t>
            </a:r>
          </a:p>
        </p:txBody>
      </p:sp>
      <p:sp>
        <p:nvSpPr>
          <p:cNvPr id="2132" name="Rectangle 84"/>
          <p:cNvSpPr>
            <a:spLocks noChangeArrowheads="1"/>
          </p:cNvSpPr>
          <p:nvPr/>
        </p:nvSpPr>
        <p:spPr bwMode="auto">
          <a:xfrm>
            <a:off x="2667000" y="2819400"/>
            <a:ext cx="12652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Coil[SW_SS_DSP_WD]</a:t>
            </a:r>
          </a:p>
        </p:txBody>
      </p:sp>
      <p:grpSp>
        <p:nvGrpSpPr>
          <p:cNvPr id="11" name="Group 85"/>
          <p:cNvGrpSpPr>
            <a:grpSpLocks/>
          </p:cNvGrpSpPr>
          <p:nvPr/>
        </p:nvGrpSpPr>
        <p:grpSpPr bwMode="auto">
          <a:xfrm>
            <a:off x="1066800" y="3352800"/>
            <a:ext cx="533400" cy="152400"/>
            <a:chOff x="1752" y="1440"/>
            <a:chExt cx="336" cy="96"/>
          </a:xfrm>
        </p:grpSpPr>
        <p:sp>
          <p:nvSpPr>
            <p:cNvPr id="2134" name="Line 86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5" name="Line 87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6" name="Line 88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7" name="Line 89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38" name="Rectangle 90"/>
          <p:cNvSpPr>
            <a:spLocks noChangeArrowheads="1"/>
          </p:cNvSpPr>
          <p:nvPr/>
        </p:nvSpPr>
        <p:spPr bwMode="auto">
          <a:xfrm>
            <a:off x="3657600" y="3200400"/>
            <a:ext cx="1108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3619500" y="3276600"/>
            <a:ext cx="11668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TMC_Start(R5SC_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140" name="Line 92"/>
          <p:cNvSpPr>
            <a:spLocks noChangeShapeType="1"/>
          </p:cNvSpPr>
          <p:nvPr/>
        </p:nvSpPr>
        <p:spPr bwMode="auto">
          <a:xfrm>
            <a:off x="4762500" y="3429000"/>
            <a:ext cx="114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1" name="Rectangle 93"/>
          <p:cNvSpPr>
            <a:spLocks noChangeArrowheads="1"/>
          </p:cNvSpPr>
          <p:nvPr/>
        </p:nvSpPr>
        <p:spPr bwMode="auto">
          <a:xfrm>
            <a:off x="885825" y="31384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12" name="Group 94"/>
          <p:cNvGrpSpPr>
            <a:grpSpLocks/>
          </p:cNvGrpSpPr>
          <p:nvPr/>
        </p:nvGrpSpPr>
        <p:grpSpPr bwMode="auto">
          <a:xfrm>
            <a:off x="685800" y="3962400"/>
            <a:ext cx="533400" cy="152400"/>
            <a:chOff x="1752" y="1440"/>
            <a:chExt cx="336" cy="96"/>
          </a:xfrm>
        </p:grpSpPr>
        <p:sp>
          <p:nvSpPr>
            <p:cNvPr id="2143" name="Line 95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4" name="Line 96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6" name="Line 98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47" name="Line 99"/>
          <p:cNvSpPr>
            <a:spLocks noChangeShapeType="1"/>
          </p:cNvSpPr>
          <p:nvPr/>
        </p:nvSpPr>
        <p:spPr bwMode="auto">
          <a:xfrm>
            <a:off x="152400" y="4038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8" name="Line 100"/>
          <p:cNvSpPr>
            <a:spLocks noChangeShapeType="1"/>
          </p:cNvSpPr>
          <p:nvPr/>
        </p:nvSpPr>
        <p:spPr bwMode="auto">
          <a:xfrm>
            <a:off x="2438400" y="40386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9" name="Rectangle 101"/>
          <p:cNvSpPr>
            <a:spLocks noChangeArrowheads="1"/>
          </p:cNvSpPr>
          <p:nvPr/>
        </p:nvSpPr>
        <p:spPr bwMode="auto">
          <a:xfrm>
            <a:off x="1828800" y="3733800"/>
            <a:ext cx="9890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SWD_I[VI_R5SC]</a:t>
            </a:r>
          </a:p>
        </p:txBody>
      </p:sp>
      <p:sp>
        <p:nvSpPr>
          <p:cNvPr id="2150" name="Rectangle 102"/>
          <p:cNvSpPr>
            <a:spLocks noChangeArrowheads="1"/>
          </p:cNvSpPr>
          <p:nvPr/>
        </p:nvSpPr>
        <p:spPr bwMode="auto">
          <a:xfrm>
            <a:off x="4083050" y="3810000"/>
            <a:ext cx="68262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1" name="Rectangle 103"/>
          <p:cNvSpPr>
            <a:spLocks noChangeArrowheads="1"/>
          </p:cNvSpPr>
          <p:nvPr/>
        </p:nvSpPr>
        <p:spPr bwMode="auto">
          <a:xfrm>
            <a:off x="1847850" y="40957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0x8001</a:t>
            </a:r>
          </a:p>
        </p:txBody>
      </p:sp>
      <p:sp>
        <p:nvSpPr>
          <p:cNvPr id="2152" name="Rectangle 104"/>
          <p:cNvSpPr>
            <a:spLocks noChangeArrowheads="1"/>
          </p:cNvSpPr>
          <p:nvPr/>
        </p:nvSpPr>
        <p:spPr bwMode="auto">
          <a:xfrm>
            <a:off x="3244850" y="25082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0x923D</a:t>
            </a:r>
          </a:p>
        </p:txBody>
      </p:sp>
      <p:grpSp>
        <p:nvGrpSpPr>
          <p:cNvPr id="13" name="Group 105"/>
          <p:cNvGrpSpPr>
            <a:grpSpLocks/>
          </p:cNvGrpSpPr>
          <p:nvPr/>
        </p:nvGrpSpPr>
        <p:grpSpPr bwMode="auto">
          <a:xfrm>
            <a:off x="1981200" y="3962400"/>
            <a:ext cx="533400" cy="152400"/>
            <a:chOff x="1128" y="1440"/>
            <a:chExt cx="336" cy="96"/>
          </a:xfrm>
        </p:grpSpPr>
        <p:grpSp>
          <p:nvGrpSpPr>
            <p:cNvPr id="14" name="Group 106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55" name="Line 107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6" name="Line 108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7" name="Line 109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60" name="Rectangle 112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86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ER_C1BR_ON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029200" y="2667000"/>
            <a:ext cx="37973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 회로에서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AA-08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C1BR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DC 48 V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C1BR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0 V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DOA-100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LCD(ANN)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입력상태 표시행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        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C1BR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  1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C1BR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  0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C1BR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257800" y="1295400"/>
            <a:ext cx="3438525" cy="1128713"/>
            <a:chOff x="3350" y="825"/>
            <a:chExt cx="2166" cy="711"/>
          </a:xfrm>
        </p:grpSpPr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>
              <a:off x="4128" y="1152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3" name="Group 21"/>
            <p:cNvGrpSpPr>
              <a:grpSpLocks/>
            </p:cNvGrpSpPr>
            <p:nvPr/>
          </p:nvGrpSpPr>
          <p:grpSpPr bwMode="auto">
            <a:xfrm>
              <a:off x="3792" y="1296"/>
              <a:ext cx="336" cy="96"/>
              <a:chOff x="3792" y="1296"/>
              <a:chExt cx="336" cy="96"/>
            </a:xfrm>
          </p:grpSpPr>
          <p:sp>
            <p:nvSpPr>
              <p:cNvPr id="2070" name="Line 22"/>
              <p:cNvSpPr>
                <a:spLocks noChangeShapeType="1"/>
              </p:cNvSpPr>
              <p:nvPr/>
            </p:nvSpPr>
            <p:spPr bwMode="auto">
              <a:xfrm>
                <a:off x="3936" y="129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1" name="Line 23"/>
              <p:cNvSpPr>
                <a:spLocks noChangeShapeType="1"/>
              </p:cNvSpPr>
              <p:nvPr/>
            </p:nvSpPr>
            <p:spPr bwMode="auto">
              <a:xfrm>
                <a:off x="3984" y="129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2" name="Line 24"/>
              <p:cNvSpPr>
                <a:spLocks noChangeShapeType="1"/>
              </p:cNvSpPr>
              <p:nvPr/>
            </p:nvSpPr>
            <p:spPr bwMode="auto">
              <a:xfrm>
                <a:off x="3792" y="134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3" name="Line 25"/>
              <p:cNvSpPr>
                <a:spLocks noChangeShapeType="1"/>
              </p:cNvSpPr>
              <p:nvPr/>
            </p:nvSpPr>
            <p:spPr bwMode="auto">
              <a:xfrm>
                <a:off x="3984" y="134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074" name="Rectangle 26"/>
            <p:cNvSpPr>
              <a:spLocks noChangeArrowheads="1"/>
            </p:cNvSpPr>
            <p:nvPr/>
          </p:nvSpPr>
          <p:spPr bwMode="auto">
            <a:xfrm>
              <a:off x="5044" y="964"/>
              <a:ext cx="472" cy="3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4" name="Group 27"/>
            <p:cNvGrpSpPr>
              <a:grpSpLocks/>
            </p:cNvGrpSpPr>
            <p:nvPr/>
          </p:nvGrpSpPr>
          <p:grpSpPr bwMode="auto">
            <a:xfrm>
              <a:off x="3792" y="1104"/>
              <a:ext cx="336" cy="96"/>
              <a:chOff x="3792" y="1104"/>
              <a:chExt cx="336" cy="96"/>
            </a:xfrm>
          </p:grpSpPr>
          <p:sp>
            <p:nvSpPr>
              <p:cNvPr id="2076" name="Line 28"/>
              <p:cNvSpPr>
                <a:spLocks noChangeShapeType="1"/>
              </p:cNvSpPr>
              <p:nvPr/>
            </p:nvSpPr>
            <p:spPr bwMode="auto">
              <a:xfrm>
                <a:off x="3936" y="110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3984" y="110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3792" y="115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3984" y="115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080" name="Rectangle 32"/>
            <p:cNvSpPr>
              <a:spLocks noChangeArrowheads="1"/>
            </p:cNvSpPr>
            <p:nvPr/>
          </p:nvSpPr>
          <p:spPr bwMode="auto">
            <a:xfrm>
              <a:off x="3840" y="960"/>
              <a:ext cx="287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eaLnBrk="0" latinLnBrk="0" hangingPunct="0"/>
              <a:r>
                <a:rPr lang="en-US" altLang="ko-KR" sz="800">
                  <a:latin typeface="Arial" charset="0"/>
                  <a:ea typeface="굴림체" pitchFamily="49" charset="-127"/>
                </a:rPr>
                <a:t>C1BR</a:t>
              </a:r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3360" y="115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5" name="Group 34"/>
            <p:cNvGrpSpPr>
              <a:grpSpLocks/>
            </p:cNvGrpSpPr>
            <p:nvPr/>
          </p:nvGrpSpPr>
          <p:grpSpPr bwMode="auto">
            <a:xfrm>
              <a:off x="5136" y="1104"/>
              <a:ext cx="96" cy="96"/>
              <a:chOff x="5136" y="1104"/>
              <a:chExt cx="96" cy="96"/>
            </a:xfrm>
          </p:grpSpPr>
          <p:grpSp>
            <p:nvGrpSpPr>
              <p:cNvPr id="6" name="Group 35"/>
              <p:cNvGrpSpPr>
                <a:grpSpLocks/>
              </p:cNvGrpSpPr>
              <p:nvPr/>
            </p:nvGrpSpPr>
            <p:grpSpPr bwMode="auto">
              <a:xfrm>
                <a:off x="5136" y="1152"/>
                <a:ext cx="96" cy="48"/>
                <a:chOff x="5136" y="1152"/>
                <a:chExt cx="96" cy="48"/>
              </a:xfrm>
            </p:grpSpPr>
            <p:sp>
              <p:nvSpPr>
                <p:cNvPr id="2084" name="Line 36"/>
                <p:cNvSpPr>
                  <a:spLocks noChangeShapeType="1"/>
                </p:cNvSpPr>
                <p:nvPr/>
              </p:nvSpPr>
              <p:spPr bwMode="auto">
                <a:xfrm flipV="1">
                  <a:off x="5160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5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5136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7" name="Group 38"/>
              <p:cNvGrpSpPr>
                <a:grpSpLocks/>
              </p:cNvGrpSpPr>
              <p:nvPr/>
            </p:nvGrpSpPr>
            <p:grpSpPr bwMode="auto">
              <a:xfrm>
                <a:off x="5136" y="1104"/>
                <a:ext cx="96" cy="48"/>
                <a:chOff x="5136" y="1104"/>
                <a:chExt cx="96" cy="48"/>
              </a:xfrm>
            </p:grpSpPr>
            <p:sp>
              <p:nvSpPr>
                <p:cNvPr id="2087" name="Line 39"/>
                <p:cNvSpPr>
                  <a:spLocks noChangeShapeType="1"/>
                </p:cNvSpPr>
                <p:nvPr/>
              </p:nvSpPr>
              <p:spPr bwMode="auto">
                <a:xfrm>
                  <a:off x="5160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8" name="Line 40"/>
                <p:cNvSpPr>
                  <a:spLocks noChangeShapeType="1"/>
                </p:cNvSpPr>
                <p:nvPr/>
              </p:nvSpPr>
              <p:spPr bwMode="auto">
                <a:xfrm>
                  <a:off x="5136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089" name="Line 41"/>
            <p:cNvSpPr>
              <a:spLocks noChangeShapeType="1"/>
            </p:cNvSpPr>
            <p:nvPr/>
          </p:nvSpPr>
          <p:spPr bwMode="auto">
            <a:xfrm>
              <a:off x="3360" y="864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>
              <a:off x="3792" y="115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4128" y="115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8" name="Group 44"/>
            <p:cNvGrpSpPr>
              <a:grpSpLocks/>
            </p:cNvGrpSpPr>
            <p:nvPr/>
          </p:nvGrpSpPr>
          <p:grpSpPr bwMode="auto">
            <a:xfrm>
              <a:off x="3504" y="1104"/>
              <a:ext cx="96" cy="96"/>
              <a:chOff x="3504" y="1104"/>
              <a:chExt cx="96" cy="96"/>
            </a:xfrm>
          </p:grpSpPr>
          <p:grpSp>
            <p:nvGrpSpPr>
              <p:cNvPr id="9" name="Group 45"/>
              <p:cNvGrpSpPr>
                <a:grpSpLocks/>
              </p:cNvGrpSpPr>
              <p:nvPr/>
            </p:nvGrpSpPr>
            <p:grpSpPr bwMode="auto">
              <a:xfrm>
                <a:off x="3504" y="1152"/>
                <a:ext cx="96" cy="48"/>
                <a:chOff x="3504" y="1152"/>
                <a:chExt cx="96" cy="48"/>
              </a:xfrm>
            </p:grpSpPr>
            <p:sp>
              <p:nvSpPr>
                <p:cNvPr id="2094" name="Line 46"/>
                <p:cNvSpPr>
                  <a:spLocks noChangeShapeType="1"/>
                </p:cNvSpPr>
                <p:nvPr/>
              </p:nvSpPr>
              <p:spPr bwMode="auto">
                <a:xfrm flipH="1" flipV="1">
                  <a:off x="350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5" name="Line 47"/>
                <p:cNvSpPr>
                  <a:spLocks noChangeShapeType="1"/>
                </p:cNvSpPr>
                <p:nvPr/>
              </p:nvSpPr>
              <p:spPr bwMode="auto">
                <a:xfrm flipH="1" flipV="1">
                  <a:off x="3528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0" name="Group 48"/>
              <p:cNvGrpSpPr>
                <a:grpSpLocks/>
              </p:cNvGrpSpPr>
              <p:nvPr/>
            </p:nvGrpSpPr>
            <p:grpSpPr bwMode="auto">
              <a:xfrm>
                <a:off x="3504" y="1104"/>
                <a:ext cx="96" cy="48"/>
                <a:chOff x="3504" y="1104"/>
                <a:chExt cx="96" cy="48"/>
              </a:xfrm>
            </p:grpSpPr>
            <p:sp>
              <p:nvSpPr>
                <p:cNvPr id="2097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350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8" name="Line 50"/>
                <p:cNvSpPr>
                  <a:spLocks noChangeShapeType="1"/>
                </p:cNvSpPr>
                <p:nvPr/>
              </p:nvSpPr>
              <p:spPr bwMode="auto">
                <a:xfrm flipH="1">
                  <a:off x="3528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099" name="Rectangle 51"/>
            <p:cNvSpPr>
              <a:spLocks noChangeArrowheads="1"/>
            </p:cNvSpPr>
            <p:nvPr/>
          </p:nvSpPr>
          <p:spPr bwMode="auto">
            <a:xfrm>
              <a:off x="3350" y="969"/>
              <a:ext cx="426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MC1ST-01</a:t>
              </a:r>
            </a:p>
          </p:txBody>
        </p:sp>
        <p:sp>
          <p:nvSpPr>
            <p:cNvPr id="2100" name="Rectangle 52"/>
            <p:cNvSpPr>
              <a:spLocks noChangeArrowheads="1"/>
            </p:cNvSpPr>
            <p:nvPr/>
          </p:nvSpPr>
          <p:spPr bwMode="auto">
            <a:xfrm>
              <a:off x="3782" y="1161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13</a:t>
              </a:r>
            </a:p>
          </p:txBody>
        </p:sp>
        <p:sp>
          <p:nvSpPr>
            <p:cNvPr id="2101" name="Rectangle 53"/>
            <p:cNvSpPr>
              <a:spLocks noChangeArrowheads="1"/>
            </p:cNvSpPr>
            <p:nvPr/>
          </p:nvSpPr>
          <p:spPr bwMode="auto">
            <a:xfrm>
              <a:off x="3974" y="1161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14</a:t>
              </a:r>
            </a:p>
          </p:txBody>
        </p: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3782" y="1353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3</a:t>
              </a:r>
            </a:p>
          </p:txBody>
        </p: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4022" y="1353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4</a:t>
              </a:r>
            </a:p>
          </p:txBody>
        </p:sp>
        <p:grpSp>
          <p:nvGrpSpPr>
            <p:cNvPr id="11" name="Group 56"/>
            <p:cNvGrpSpPr>
              <a:grpSpLocks/>
            </p:cNvGrpSpPr>
            <p:nvPr/>
          </p:nvGrpSpPr>
          <p:grpSpPr bwMode="auto">
            <a:xfrm>
              <a:off x="4320" y="1104"/>
              <a:ext cx="96" cy="96"/>
              <a:chOff x="4320" y="1104"/>
              <a:chExt cx="96" cy="96"/>
            </a:xfrm>
          </p:grpSpPr>
          <p:grpSp>
            <p:nvGrpSpPr>
              <p:cNvPr id="12" name="Group 57"/>
              <p:cNvGrpSpPr>
                <a:grpSpLocks/>
              </p:cNvGrpSpPr>
              <p:nvPr/>
            </p:nvGrpSpPr>
            <p:grpSpPr bwMode="auto">
              <a:xfrm>
                <a:off x="4320" y="1152"/>
                <a:ext cx="96" cy="48"/>
                <a:chOff x="4320" y="1152"/>
                <a:chExt cx="96" cy="48"/>
              </a:xfrm>
            </p:grpSpPr>
            <p:sp>
              <p:nvSpPr>
                <p:cNvPr id="2106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434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07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4320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3" name="Group 60"/>
              <p:cNvGrpSpPr>
                <a:grpSpLocks/>
              </p:cNvGrpSpPr>
              <p:nvPr/>
            </p:nvGrpSpPr>
            <p:grpSpPr bwMode="auto">
              <a:xfrm>
                <a:off x="4320" y="1104"/>
                <a:ext cx="96" cy="48"/>
                <a:chOff x="4320" y="1104"/>
                <a:chExt cx="96" cy="48"/>
              </a:xfrm>
            </p:grpSpPr>
            <p:sp>
              <p:nvSpPr>
                <p:cNvPr id="2109" name="Line 61"/>
                <p:cNvSpPr>
                  <a:spLocks noChangeShapeType="1"/>
                </p:cNvSpPr>
                <p:nvPr/>
              </p:nvSpPr>
              <p:spPr bwMode="auto">
                <a:xfrm>
                  <a:off x="434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0" name="Line 62"/>
                <p:cNvSpPr>
                  <a:spLocks noChangeShapeType="1"/>
                </p:cNvSpPr>
                <p:nvPr/>
              </p:nvSpPr>
              <p:spPr bwMode="auto">
                <a:xfrm>
                  <a:off x="4320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111" name="Rectangle 63"/>
            <p:cNvSpPr>
              <a:spLocks noChangeArrowheads="1"/>
            </p:cNvSpPr>
            <p:nvPr/>
          </p:nvSpPr>
          <p:spPr bwMode="auto">
            <a:xfrm>
              <a:off x="4166" y="969"/>
              <a:ext cx="433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MC1BR-04</a:t>
              </a:r>
            </a:p>
          </p:txBody>
        </p:sp>
        <p:grpSp>
          <p:nvGrpSpPr>
            <p:cNvPr id="14" name="Group 64"/>
            <p:cNvGrpSpPr>
              <a:grpSpLocks/>
            </p:cNvGrpSpPr>
            <p:nvPr/>
          </p:nvGrpSpPr>
          <p:grpSpPr bwMode="auto">
            <a:xfrm>
              <a:off x="4704" y="1104"/>
              <a:ext cx="96" cy="96"/>
              <a:chOff x="4704" y="1104"/>
              <a:chExt cx="96" cy="96"/>
            </a:xfrm>
          </p:grpSpPr>
          <p:grpSp>
            <p:nvGrpSpPr>
              <p:cNvPr id="15" name="Group 65"/>
              <p:cNvGrpSpPr>
                <a:grpSpLocks/>
              </p:cNvGrpSpPr>
              <p:nvPr/>
            </p:nvGrpSpPr>
            <p:grpSpPr bwMode="auto">
              <a:xfrm>
                <a:off x="4704" y="1152"/>
                <a:ext cx="96" cy="48"/>
                <a:chOff x="4704" y="1152"/>
                <a:chExt cx="96" cy="48"/>
              </a:xfrm>
            </p:grpSpPr>
            <p:sp>
              <p:nvSpPr>
                <p:cNvPr id="2114" name="Line 66"/>
                <p:cNvSpPr>
                  <a:spLocks noChangeShapeType="1"/>
                </p:cNvSpPr>
                <p:nvPr/>
              </p:nvSpPr>
              <p:spPr bwMode="auto">
                <a:xfrm flipH="1" flipV="1">
                  <a:off x="470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5" name="Line 67"/>
                <p:cNvSpPr>
                  <a:spLocks noChangeShapeType="1"/>
                </p:cNvSpPr>
                <p:nvPr/>
              </p:nvSpPr>
              <p:spPr bwMode="auto">
                <a:xfrm flipH="1" flipV="1">
                  <a:off x="4728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6" name="Group 68"/>
              <p:cNvGrpSpPr>
                <a:grpSpLocks/>
              </p:cNvGrpSpPr>
              <p:nvPr/>
            </p:nvGrpSpPr>
            <p:grpSpPr bwMode="auto">
              <a:xfrm>
                <a:off x="4704" y="1104"/>
                <a:ext cx="96" cy="48"/>
                <a:chOff x="4704" y="1104"/>
                <a:chExt cx="96" cy="48"/>
              </a:xfrm>
            </p:grpSpPr>
            <p:sp>
              <p:nvSpPr>
                <p:cNvPr id="2117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470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8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4728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119" name="Rectangle 71"/>
            <p:cNvSpPr>
              <a:spLocks noChangeArrowheads="1"/>
            </p:cNvSpPr>
            <p:nvPr/>
          </p:nvSpPr>
          <p:spPr bwMode="auto">
            <a:xfrm>
              <a:off x="4608" y="960"/>
              <a:ext cx="295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eaLnBrk="0" latinLnBrk="0" hangingPunct="0"/>
              <a:r>
                <a:rPr lang="en-US" altLang="ko-KR" sz="800">
                  <a:latin typeface="Arial" charset="0"/>
                  <a:ea typeface="굴림체" pitchFamily="49" charset="-127"/>
                </a:rPr>
                <a:t>AA-08</a:t>
              </a:r>
            </a:p>
          </p:txBody>
        </p:sp>
        <p:sp>
          <p:nvSpPr>
            <p:cNvPr id="2120" name="Rectangle 72"/>
            <p:cNvSpPr>
              <a:spLocks noChangeArrowheads="1"/>
            </p:cNvSpPr>
            <p:nvPr/>
          </p:nvSpPr>
          <p:spPr bwMode="auto">
            <a:xfrm>
              <a:off x="5030" y="969"/>
              <a:ext cx="295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AA-08</a:t>
              </a:r>
            </a:p>
          </p:txBody>
        </p:sp>
        <p:sp>
          <p:nvSpPr>
            <p:cNvPr id="2121" name="Rectangle 73"/>
            <p:cNvSpPr>
              <a:spLocks noChangeArrowheads="1"/>
            </p:cNvSpPr>
            <p:nvPr/>
          </p:nvSpPr>
          <p:spPr bwMode="auto">
            <a:xfrm>
              <a:off x="5078" y="1353"/>
              <a:ext cx="379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DOC-1xx</a:t>
              </a:r>
            </a:p>
          </p:txBody>
        </p:sp>
        <p:sp>
          <p:nvSpPr>
            <p:cNvPr id="2122" name="Rectangle 74"/>
            <p:cNvSpPr>
              <a:spLocks noChangeArrowheads="1"/>
            </p:cNvSpPr>
            <p:nvPr/>
          </p:nvSpPr>
          <p:spPr bwMode="auto">
            <a:xfrm>
              <a:off x="3350" y="825"/>
              <a:ext cx="231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P48</a:t>
              </a:r>
            </a:p>
          </p:txBody>
        </p:sp>
      </p:grpSp>
      <p:sp>
        <p:nvSpPr>
          <p:cNvPr id="2123" name="Rectangle 75"/>
          <p:cNvSpPr>
            <a:spLocks noChangeArrowheads="1"/>
          </p:cNvSpPr>
          <p:nvPr/>
        </p:nvSpPr>
        <p:spPr bwMode="auto">
          <a:xfrm>
            <a:off x="533400" y="838200"/>
            <a:ext cx="3465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C1BR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후에도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C1BR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 유지됨</a:t>
            </a:r>
          </a:p>
        </p:txBody>
      </p:sp>
      <p:sp>
        <p:nvSpPr>
          <p:cNvPr id="2124" name="Rectangle 76"/>
          <p:cNvSpPr>
            <a:spLocks noChangeArrowheads="1"/>
          </p:cNvSpPr>
          <p:nvPr/>
        </p:nvSpPr>
        <p:spPr bwMode="auto">
          <a:xfrm>
            <a:off x="273050" y="3638550"/>
            <a:ext cx="15351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TMC_Check(C1BR_ERROR_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DETECT_T, FINISH_STATE)</a:t>
            </a:r>
          </a:p>
        </p:txBody>
      </p:sp>
      <p:sp>
        <p:nvSpPr>
          <p:cNvPr id="2125" name="Line 77"/>
          <p:cNvSpPr>
            <a:spLocks noChangeShapeType="1"/>
          </p:cNvSpPr>
          <p:nvPr/>
        </p:nvSpPr>
        <p:spPr bwMode="auto">
          <a:xfrm>
            <a:off x="152400" y="1981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6" name="Line 78"/>
          <p:cNvSpPr>
            <a:spLocks noChangeShapeType="1"/>
          </p:cNvSpPr>
          <p:nvPr/>
        </p:nvSpPr>
        <p:spPr bwMode="auto">
          <a:xfrm>
            <a:off x="4876800" y="1905000"/>
            <a:ext cx="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7" name="Line 79"/>
          <p:cNvSpPr>
            <a:spLocks noChangeShapeType="1"/>
          </p:cNvSpPr>
          <p:nvPr/>
        </p:nvSpPr>
        <p:spPr bwMode="auto">
          <a:xfrm>
            <a:off x="152400" y="2743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8382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2895600" y="2209800"/>
            <a:ext cx="198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Rectangle 82"/>
          <p:cNvSpPr>
            <a:spLocks noChangeArrowheads="1"/>
          </p:cNvSpPr>
          <p:nvPr/>
        </p:nvSpPr>
        <p:spPr bwMode="auto">
          <a:xfrm>
            <a:off x="469900" y="1941513"/>
            <a:ext cx="98901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SWD_I[VI_C1BR]</a:t>
            </a:r>
          </a:p>
        </p:txBody>
      </p:sp>
      <p:sp>
        <p:nvSpPr>
          <p:cNvPr id="2131" name="Rectangle 83"/>
          <p:cNvSpPr>
            <a:spLocks noChangeArrowheads="1"/>
          </p:cNvSpPr>
          <p:nvPr/>
        </p:nvSpPr>
        <p:spPr bwMode="auto">
          <a:xfrm>
            <a:off x="117475" y="2465388"/>
            <a:ext cx="98901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SWD_I[VI_C1BR]</a:t>
            </a:r>
          </a:p>
        </p:txBody>
      </p:sp>
      <p:sp>
        <p:nvSpPr>
          <p:cNvPr id="2132" name="Rectangle 84"/>
          <p:cNvSpPr>
            <a:spLocks noChangeArrowheads="1"/>
          </p:cNvSpPr>
          <p:nvPr/>
        </p:nvSpPr>
        <p:spPr bwMode="auto">
          <a:xfrm>
            <a:off x="1905000" y="1981200"/>
            <a:ext cx="10906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SWD_O[VO_C1BR]</a:t>
            </a:r>
          </a:p>
        </p:txBody>
      </p:sp>
      <p:sp>
        <p:nvSpPr>
          <p:cNvPr id="2133" name="Line 85"/>
          <p:cNvSpPr>
            <a:spLocks noChangeShapeType="1"/>
          </p:cNvSpPr>
          <p:nvPr/>
        </p:nvSpPr>
        <p:spPr bwMode="auto">
          <a:xfrm>
            <a:off x="152400" y="3429000"/>
            <a:ext cx="1135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4" name="Line 86"/>
          <p:cNvSpPr>
            <a:spLocks noChangeShapeType="1"/>
          </p:cNvSpPr>
          <p:nvPr/>
        </p:nvSpPr>
        <p:spPr bwMode="auto">
          <a:xfrm>
            <a:off x="1219200" y="4038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5" name="Rectangle 87"/>
          <p:cNvSpPr>
            <a:spLocks noChangeArrowheads="1"/>
          </p:cNvSpPr>
          <p:nvPr/>
        </p:nvSpPr>
        <p:spPr bwMode="auto">
          <a:xfrm>
            <a:off x="4038600" y="1981200"/>
            <a:ext cx="727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6" name="Rectangle 88"/>
          <p:cNvSpPr>
            <a:spLocks noChangeArrowheads="1"/>
          </p:cNvSpPr>
          <p:nvPr/>
        </p:nvSpPr>
        <p:spPr bwMode="auto">
          <a:xfrm>
            <a:off x="4060825" y="20081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137" name="Rectangle 89"/>
          <p:cNvSpPr>
            <a:spLocks noChangeArrowheads="1"/>
          </p:cNvSpPr>
          <p:nvPr/>
        </p:nvSpPr>
        <p:spPr bwMode="auto">
          <a:xfrm>
            <a:off x="4152900" y="3803650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86</a:t>
            </a:r>
          </a:p>
        </p:txBody>
      </p:sp>
      <p:sp>
        <p:nvSpPr>
          <p:cNvPr id="2138" name="Rectangle 90"/>
          <p:cNvSpPr>
            <a:spLocks noChangeArrowheads="1"/>
          </p:cNvSpPr>
          <p:nvPr/>
        </p:nvSpPr>
        <p:spPr bwMode="auto">
          <a:xfrm>
            <a:off x="781050" y="22320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0x8029</a:t>
            </a:r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304800" y="28194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0x8029</a:t>
            </a:r>
          </a:p>
        </p:txBody>
      </p:sp>
      <p:sp>
        <p:nvSpPr>
          <p:cNvPr id="2140" name="Rectangle 92"/>
          <p:cNvSpPr>
            <a:spLocks noChangeArrowheads="1"/>
          </p:cNvSpPr>
          <p:nvPr/>
        </p:nvSpPr>
        <p:spPr bwMode="auto">
          <a:xfrm>
            <a:off x="1071563" y="2803525"/>
            <a:ext cx="4746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0x8080</a:t>
            </a:r>
          </a:p>
        </p:txBody>
      </p:sp>
      <p:sp>
        <p:nvSpPr>
          <p:cNvPr id="2141" name="Rectangle 93"/>
          <p:cNvSpPr>
            <a:spLocks noChangeArrowheads="1"/>
          </p:cNvSpPr>
          <p:nvPr/>
        </p:nvSpPr>
        <p:spPr bwMode="auto">
          <a:xfrm>
            <a:off x="2324100" y="22320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0x8080</a:t>
            </a:r>
          </a:p>
        </p:txBody>
      </p:sp>
      <p:sp>
        <p:nvSpPr>
          <p:cNvPr id="2142" name="Rectangle 94"/>
          <p:cNvSpPr>
            <a:spLocks noChangeArrowheads="1"/>
          </p:cNvSpPr>
          <p:nvPr/>
        </p:nvSpPr>
        <p:spPr bwMode="auto">
          <a:xfrm>
            <a:off x="2006600" y="27940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0x9210</a:t>
            </a:r>
          </a:p>
        </p:txBody>
      </p:sp>
      <p:sp>
        <p:nvSpPr>
          <p:cNvPr id="2143" name="Line 95"/>
          <p:cNvSpPr>
            <a:spLocks noChangeShapeType="1"/>
          </p:cNvSpPr>
          <p:nvPr/>
        </p:nvSpPr>
        <p:spPr bwMode="auto">
          <a:xfrm>
            <a:off x="1600200" y="34290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7" name="Group 96"/>
          <p:cNvGrpSpPr>
            <a:grpSpLocks/>
          </p:cNvGrpSpPr>
          <p:nvPr/>
        </p:nvGrpSpPr>
        <p:grpSpPr bwMode="auto">
          <a:xfrm>
            <a:off x="2438400" y="2133600"/>
            <a:ext cx="533400" cy="152400"/>
            <a:chOff x="1128" y="1440"/>
            <a:chExt cx="336" cy="96"/>
          </a:xfrm>
        </p:grpSpPr>
        <p:grpSp>
          <p:nvGrpSpPr>
            <p:cNvPr id="18" name="Group 97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50" name="Line 102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9" name="Group 103"/>
          <p:cNvGrpSpPr>
            <a:grpSpLocks/>
          </p:cNvGrpSpPr>
          <p:nvPr/>
        </p:nvGrpSpPr>
        <p:grpSpPr bwMode="auto">
          <a:xfrm>
            <a:off x="990600" y="2133600"/>
            <a:ext cx="533400" cy="152400"/>
            <a:chOff x="1752" y="1440"/>
            <a:chExt cx="336" cy="96"/>
          </a:xfrm>
        </p:grpSpPr>
        <p:sp>
          <p:nvSpPr>
            <p:cNvPr id="2152" name="Line 104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3" name="Line 105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4" name="Line 106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56" name="Line 108"/>
          <p:cNvSpPr>
            <a:spLocks noChangeShapeType="1"/>
          </p:cNvSpPr>
          <p:nvPr/>
        </p:nvSpPr>
        <p:spPr bwMode="auto">
          <a:xfrm>
            <a:off x="152400" y="22098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7" name="Line 109"/>
          <p:cNvSpPr>
            <a:spLocks noChangeShapeType="1"/>
          </p:cNvSpPr>
          <p:nvPr/>
        </p:nvSpPr>
        <p:spPr bwMode="auto">
          <a:xfrm>
            <a:off x="1447800" y="22098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0" name="Group 110"/>
          <p:cNvGrpSpPr>
            <a:grpSpLocks/>
          </p:cNvGrpSpPr>
          <p:nvPr/>
        </p:nvGrpSpPr>
        <p:grpSpPr bwMode="auto">
          <a:xfrm>
            <a:off x="1295400" y="2667000"/>
            <a:ext cx="533400" cy="152400"/>
            <a:chOff x="1752" y="1440"/>
            <a:chExt cx="336" cy="96"/>
          </a:xfrm>
        </p:grpSpPr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1" name="Line 113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2" name="Line 114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1" name="Group 115"/>
          <p:cNvGrpSpPr>
            <a:grpSpLocks/>
          </p:cNvGrpSpPr>
          <p:nvPr/>
        </p:nvGrpSpPr>
        <p:grpSpPr bwMode="auto">
          <a:xfrm>
            <a:off x="2286000" y="2667000"/>
            <a:ext cx="533400" cy="152400"/>
            <a:chOff x="1128" y="1440"/>
            <a:chExt cx="336" cy="96"/>
          </a:xfrm>
        </p:grpSpPr>
        <p:grpSp>
          <p:nvGrpSpPr>
            <p:cNvPr id="22" name="Group 116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65" name="Line 117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69" name="Line 121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3" name="Group 122"/>
          <p:cNvGrpSpPr>
            <a:grpSpLocks/>
          </p:cNvGrpSpPr>
          <p:nvPr/>
        </p:nvGrpSpPr>
        <p:grpSpPr bwMode="auto">
          <a:xfrm>
            <a:off x="381000" y="2667000"/>
            <a:ext cx="533400" cy="152400"/>
            <a:chOff x="1128" y="1440"/>
            <a:chExt cx="336" cy="96"/>
          </a:xfrm>
        </p:grpSpPr>
        <p:grpSp>
          <p:nvGrpSpPr>
            <p:cNvPr id="24" name="Group 123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6" name="Line 128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5" name="Group 129"/>
          <p:cNvGrpSpPr>
            <a:grpSpLocks/>
          </p:cNvGrpSpPr>
          <p:nvPr/>
        </p:nvGrpSpPr>
        <p:grpSpPr bwMode="auto">
          <a:xfrm>
            <a:off x="3048000" y="2667000"/>
            <a:ext cx="533400" cy="152400"/>
            <a:chOff x="1752" y="1440"/>
            <a:chExt cx="336" cy="96"/>
          </a:xfrm>
        </p:grpSpPr>
        <p:sp>
          <p:nvSpPr>
            <p:cNvPr id="2178" name="Line 130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9" name="Line 131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0" name="Line 132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1" name="Line 133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82" name="Line 134"/>
          <p:cNvSpPr>
            <a:spLocks noChangeShapeType="1"/>
          </p:cNvSpPr>
          <p:nvPr/>
        </p:nvSpPr>
        <p:spPr bwMode="auto">
          <a:xfrm>
            <a:off x="3733800" y="2209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3" name="Line 135"/>
          <p:cNvSpPr>
            <a:spLocks noChangeShapeType="1"/>
          </p:cNvSpPr>
          <p:nvPr/>
        </p:nvSpPr>
        <p:spPr bwMode="auto">
          <a:xfrm>
            <a:off x="17526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4" name="Line 136"/>
          <p:cNvSpPr>
            <a:spLocks noChangeShapeType="1"/>
          </p:cNvSpPr>
          <p:nvPr/>
        </p:nvSpPr>
        <p:spPr bwMode="auto">
          <a:xfrm>
            <a:off x="26670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5" name="Line 137"/>
          <p:cNvSpPr>
            <a:spLocks noChangeShapeType="1"/>
          </p:cNvSpPr>
          <p:nvPr/>
        </p:nvSpPr>
        <p:spPr bwMode="auto">
          <a:xfrm>
            <a:off x="3581400" y="27432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6" name="Rectangle 138"/>
          <p:cNvSpPr>
            <a:spLocks noChangeArrowheads="1"/>
          </p:cNvSpPr>
          <p:nvPr/>
        </p:nvSpPr>
        <p:spPr bwMode="auto">
          <a:xfrm>
            <a:off x="1047750" y="2463800"/>
            <a:ext cx="10906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SWD_O[VO_C1BR]</a:t>
            </a:r>
          </a:p>
        </p:txBody>
      </p:sp>
      <p:sp>
        <p:nvSpPr>
          <p:cNvPr id="2187" name="Rectangle 139"/>
          <p:cNvSpPr>
            <a:spLocks noChangeArrowheads="1"/>
          </p:cNvSpPr>
          <p:nvPr/>
        </p:nvSpPr>
        <p:spPr bwMode="auto">
          <a:xfrm>
            <a:off x="2057400" y="2470150"/>
            <a:ext cx="1273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Coil[SV_INV_SW_FAIL]</a:t>
            </a:r>
          </a:p>
        </p:txBody>
      </p:sp>
      <p:sp>
        <p:nvSpPr>
          <p:cNvPr id="2188" name="Rectangle 140"/>
          <p:cNvSpPr>
            <a:spLocks noChangeArrowheads="1"/>
          </p:cNvSpPr>
          <p:nvPr/>
        </p:nvSpPr>
        <p:spPr bwMode="auto">
          <a:xfrm>
            <a:off x="2667000" y="2819400"/>
            <a:ext cx="12652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Coil[SW_SS_DSP_WD]</a:t>
            </a:r>
          </a:p>
        </p:txBody>
      </p:sp>
      <p:grpSp>
        <p:nvGrpSpPr>
          <p:cNvPr id="26" name="Group 141"/>
          <p:cNvGrpSpPr>
            <a:grpSpLocks/>
          </p:cNvGrpSpPr>
          <p:nvPr/>
        </p:nvGrpSpPr>
        <p:grpSpPr bwMode="auto">
          <a:xfrm>
            <a:off x="1066800" y="3352800"/>
            <a:ext cx="533400" cy="152400"/>
            <a:chOff x="1752" y="1440"/>
            <a:chExt cx="336" cy="96"/>
          </a:xfrm>
        </p:grpSpPr>
        <p:sp>
          <p:nvSpPr>
            <p:cNvPr id="2190" name="Line 142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1" name="Line 143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2" name="Line 144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3" name="Line 145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94" name="Rectangle 146"/>
          <p:cNvSpPr>
            <a:spLocks noChangeArrowheads="1"/>
          </p:cNvSpPr>
          <p:nvPr/>
        </p:nvSpPr>
        <p:spPr bwMode="auto">
          <a:xfrm>
            <a:off x="3657600" y="3200400"/>
            <a:ext cx="1108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5" name="Rectangle 147"/>
          <p:cNvSpPr>
            <a:spLocks noChangeArrowheads="1"/>
          </p:cNvSpPr>
          <p:nvPr/>
        </p:nvSpPr>
        <p:spPr bwMode="auto">
          <a:xfrm>
            <a:off x="3619500" y="3276600"/>
            <a:ext cx="11668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TMC_Start(C1BR_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196" name="Line 148"/>
          <p:cNvSpPr>
            <a:spLocks noChangeShapeType="1"/>
          </p:cNvSpPr>
          <p:nvPr/>
        </p:nvSpPr>
        <p:spPr bwMode="auto">
          <a:xfrm>
            <a:off x="4762500" y="3429000"/>
            <a:ext cx="114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7" name="Rectangle 149"/>
          <p:cNvSpPr>
            <a:spLocks noChangeArrowheads="1"/>
          </p:cNvSpPr>
          <p:nvPr/>
        </p:nvSpPr>
        <p:spPr bwMode="auto">
          <a:xfrm>
            <a:off x="885825" y="31384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27" name="Group 150"/>
          <p:cNvGrpSpPr>
            <a:grpSpLocks/>
          </p:cNvGrpSpPr>
          <p:nvPr/>
        </p:nvGrpSpPr>
        <p:grpSpPr bwMode="auto">
          <a:xfrm>
            <a:off x="685800" y="3962400"/>
            <a:ext cx="533400" cy="152400"/>
            <a:chOff x="1752" y="1440"/>
            <a:chExt cx="336" cy="96"/>
          </a:xfrm>
        </p:grpSpPr>
        <p:sp>
          <p:nvSpPr>
            <p:cNvPr id="2199" name="Line 151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0" name="Line 152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1" name="Line 153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2" name="Line 154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03" name="Line 155"/>
          <p:cNvSpPr>
            <a:spLocks noChangeShapeType="1"/>
          </p:cNvSpPr>
          <p:nvPr/>
        </p:nvSpPr>
        <p:spPr bwMode="auto">
          <a:xfrm>
            <a:off x="152400" y="4038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4" name="Line 156"/>
          <p:cNvSpPr>
            <a:spLocks noChangeShapeType="1"/>
          </p:cNvSpPr>
          <p:nvPr/>
        </p:nvSpPr>
        <p:spPr bwMode="auto">
          <a:xfrm>
            <a:off x="2438400" y="40386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5" name="Rectangle 157"/>
          <p:cNvSpPr>
            <a:spLocks noChangeArrowheads="1"/>
          </p:cNvSpPr>
          <p:nvPr/>
        </p:nvSpPr>
        <p:spPr bwMode="auto">
          <a:xfrm>
            <a:off x="1828800" y="3733800"/>
            <a:ext cx="9890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SWD_I[VI_C1BR]</a:t>
            </a:r>
          </a:p>
        </p:txBody>
      </p:sp>
      <p:sp>
        <p:nvSpPr>
          <p:cNvPr id="2206" name="Rectangle 158"/>
          <p:cNvSpPr>
            <a:spLocks noChangeArrowheads="1"/>
          </p:cNvSpPr>
          <p:nvPr/>
        </p:nvSpPr>
        <p:spPr bwMode="auto">
          <a:xfrm>
            <a:off x="4083050" y="3810000"/>
            <a:ext cx="68262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7" name="Rectangle 159"/>
          <p:cNvSpPr>
            <a:spLocks noChangeArrowheads="1"/>
          </p:cNvSpPr>
          <p:nvPr/>
        </p:nvSpPr>
        <p:spPr bwMode="auto">
          <a:xfrm>
            <a:off x="1847850" y="40957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0x8029</a:t>
            </a:r>
          </a:p>
        </p:txBody>
      </p:sp>
      <p:sp>
        <p:nvSpPr>
          <p:cNvPr id="2208" name="Rectangle 160"/>
          <p:cNvSpPr>
            <a:spLocks noChangeArrowheads="1"/>
          </p:cNvSpPr>
          <p:nvPr/>
        </p:nvSpPr>
        <p:spPr bwMode="auto">
          <a:xfrm>
            <a:off x="3244850" y="25082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0x923D</a:t>
            </a:r>
          </a:p>
        </p:txBody>
      </p:sp>
      <p:grpSp>
        <p:nvGrpSpPr>
          <p:cNvPr id="28" name="Group 161"/>
          <p:cNvGrpSpPr>
            <a:grpSpLocks/>
          </p:cNvGrpSpPr>
          <p:nvPr/>
        </p:nvGrpSpPr>
        <p:grpSpPr bwMode="auto">
          <a:xfrm>
            <a:off x="1981200" y="3962400"/>
            <a:ext cx="533400" cy="152400"/>
            <a:chOff x="1752" y="1440"/>
            <a:chExt cx="336" cy="96"/>
          </a:xfrm>
        </p:grpSpPr>
        <p:sp>
          <p:nvSpPr>
            <p:cNvPr id="2210" name="Line 162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1" name="Line 163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2" name="Line 164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3" name="Line 165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14" name="Rectangle 166"/>
          <p:cNvSpPr>
            <a:spLocks noChangeArrowheads="1"/>
          </p:cNvSpPr>
          <p:nvPr/>
        </p:nvSpPr>
        <p:spPr bwMode="auto">
          <a:xfrm>
            <a:off x="152400" y="4724400"/>
            <a:ext cx="47244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C1BR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출력 되고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후에도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C1BR Contactor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C1BR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 입력이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일 때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endParaRPr lang="en-US" altLang="ko-KR" sz="1000">
              <a:latin typeface="Arial" charset="0"/>
              <a:ea typeface="굴림체" pitchFamily="49" charset="-127"/>
            </a:endParaRP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C1BR Contactor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되었으나 접점이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C1BR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 입력이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되었을 때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 융착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215" name="Rectangle 167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87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ER_C1BR_OFF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52400" y="4724400"/>
            <a:ext cx="47085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C1BR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출력 되고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후에도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C1BR Contactor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C1BR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 입력이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일 때 검출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C1BR Contactor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되었으나 접점이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C1BR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 입력이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되었을 때 검출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2667000"/>
            <a:ext cx="37973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 회로에서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AA-08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C1BR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DC 48 V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C1BR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   0 V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DOA-100(ANN)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입력상태 표시행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C1BR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  1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C1BR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  0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C1BR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5257800" y="1295400"/>
            <a:ext cx="3438525" cy="1128713"/>
            <a:chOff x="3350" y="825"/>
            <a:chExt cx="2166" cy="711"/>
          </a:xfrm>
        </p:grpSpPr>
        <p:sp>
          <p:nvSpPr>
            <p:cNvPr id="2069" name="Line 21"/>
            <p:cNvSpPr>
              <a:spLocks noChangeShapeType="1"/>
            </p:cNvSpPr>
            <p:nvPr/>
          </p:nvSpPr>
          <p:spPr bwMode="auto">
            <a:xfrm>
              <a:off x="4128" y="1152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3792" y="1296"/>
              <a:ext cx="336" cy="96"/>
              <a:chOff x="3792" y="1296"/>
              <a:chExt cx="336" cy="96"/>
            </a:xfrm>
          </p:grpSpPr>
          <p:sp>
            <p:nvSpPr>
              <p:cNvPr id="2071" name="Line 23"/>
              <p:cNvSpPr>
                <a:spLocks noChangeShapeType="1"/>
              </p:cNvSpPr>
              <p:nvPr/>
            </p:nvSpPr>
            <p:spPr bwMode="auto">
              <a:xfrm>
                <a:off x="3936" y="129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2" name="Line 24"/>
              <p:cNvSpPr>
                <a:spLocks noChangeShapeType="1"/>
              </p:cNvSpPr>
              <p:nvPr/>
            </p:nvSpPr>
            <p:spPr bwMode="auto">
              <a:xfrm>
                <a:off x="3984" y="129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3" name="Line 25"/>
              <p:cNvSpPr>
                <a:spLocks noChangeShapeType="1"/>
              </p:cNvSpPr>
              <p:nvPr/>
            </p:nvSpPr>
            <p:spPr bwMode="auto">
              <a:xfrm>
                <a:off x="3792" y="134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4" name="Line 26"/>
              <p:cNvSpPr>
                <a:spLocks noChangeShapeType="1"/>
              </p:cNvSpPr>
              <p:nvPr/>
            </p:nvSpPr>
            <p:spPr bwMode="auto">
              <a:xfrm>
                <a:off x="3984" y="134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075" name="Rectangle 27"/>
            <p:cNvSpPr>
              <a:spLocks noChangeArrowheads="1"/>
            </p:cNvSpPr>
            <p:nvPr/>
          </p:nvSpPr>
          <p:spPr bwMode="auto">
            <a:xfrm>
              <a:off x="5044" y="964"/>
              <a:ext cx="472" cy="3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3792" y="1104"/>
              <a:ext cx="336" cy="96"/>
              <a:chOff x="3792" y="1104"/>
              <a:chExt cx="336" cy="96"/>
            </a:xfrm>
          </p:grpSpPr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3936" y="110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3984" y="110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3792" y="115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3984" y="115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081" name="Rectangle 33"/>
            <p:cNvSpPr>
              <a:spLocks noChangeArrowheads="1"/>
            </p:cNvSpPr>
            <p:nvPr/>
          </p:nvSpPr>
          <p:spPr bwMode="auto">
            <a:xfrm>
              <a:off x="3840" y="960"/>
              <a:ext cx="287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eaLnBrk="0" latinLnBrk="0" hangingPunct="0"/>
              <a:r>
                <a:rPr lang="en-US" altLang="ko-KR" sz="800">
                  <a:latin typeface="Arial" charset="0"/>
                  <a:ea typeface="굴림체" pitchFamily="49" charset="-127"/>
                </a:rPr>
                <a:t>C1BR</a:t>
              </a:r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3360" y="115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5" name="Group 35"/>
            <p:cNvGrpSpPr>
              <a:grpSpLocks/>
            </p:cNvGrpSpPr>
            <p:nvPr/>
          </p:nvGrpSpPr>
          <p:grpSpPr bwMode="auto">
            <a:xfrm>
              <a:off x="5136" y="1104"/>
              <a:ext cx="96" cy="96"/>
              <a:chOff x="5136" y="1104"/>
              <a:chExt cx="96" cy="96"/>
            </a:xfrm>
          </p:grpSpPr>
          <p:grpSp>
            <p:nvGrpSpPr>
              <p:cNvPr id="6" name="Group 36"/>
              <p:cNvGrpSpPr>
                <a:grpSpLocks/>
              </p:cNvGrpSpPr>
              <p:nvPr/>
            </p:nvGrpSpPr>
            <p:grpSpPr bwMode="auto">
              <a:xfrm>
                <a:off x="5136" y="1152"/>
                <a:ext cx="96" cy="48"/>
                <a:chOff x="5136" y="1152"/>
                <a:chExt cx="96" cy="48"/>
              </a:xfrm>
            </p:grpSpPr>
            <p:sp>
              <p:nvSpPr>
                <p:cNvPr id="2085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5160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6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5136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7" name="Group 39"/>
              <p:cNvGrpSpPr>
                <a:grpSpLocks/>
              </p:cNvGrpSpPr>
              <p:nvPr/>
            </p:nvGrpSpPr>
            <p:grpSpPr bwMode="auto">
              <a:xfrm>
                <a:off x="5136" y="1104"/>
                <a:ext cx="96" cy="48"/>
                <a:chOff x="5136" y="1104"/>
                <a:chExt cx="96" cy="48"/>
              </a:xfrm>
            </p:grpSpPr>
            <p:sp>
              <p:nvSpPr>
                <p:cNvPr id="2088" name="Line 40"/>
                <p:cNvSpPr>
                  <a:spLocks noChangeShapeType="1"/>
                </p:cNvSpPr>
                <p:nvPr/>
              </p:nvSpPr>
              <p:spPr bwMode="auto">
                <a:xfrm>
                  <a:off x="5160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9" name="Line 41"/>
                <p:cNvSpPr>
                  <a:spLocks noChangeShapeType="1"/>
                </p:cNvSpPr>
                <p:nvPr/>
              </p:nvSpPr>
              <p:spPr bwMode="auto">
                <a:xfrm>
                  <a:off x="5136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>
              <a:off x="3360" y="864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3792" y="115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>
              <a:off x="4128" y="115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8" name="Group 45"/>
            <p:cNvGrpSpPr>
              <a:grpSpLocks/>
            </p:cNvGrpSpPr>
            <p:nvPr/>
          </p:nvGrpSpPr>
          <p:grpSpPr bwMode="auto">
            <a:xfrm>
              <a:off x="3504" y="1104"/>
              <a:ext cx="96" cy="96"/>
              <a:chOff x="3504" y="1104"/>
              <a:chExt cx="96" cy="96"/>
            </a:xfrm>
          </p:grpSpPr>
          <p:grpSp>
            <p:nvGrpSpPr>
              <p:cNvPr id="9" name="Group 46"/>
              <p:cNvGrpSpPr>
                <a:grpSpLocks/>
              </p:cNvGrpSpPr>
              <p:nvPr/>
            </p:nvGrpSpPr>
            <p:grpSpPr bwMode="auto">
              <a:xfrm>
                <a:off x="3504" y="1152"/>
                <a:ext cx="96" cy="48"/>
                <a:chOff x="3504" y="1152"/>
                <a:chExt cx="96" cy="48"/>
              </a:xfrm>
            </p:grpSpPr>
            <p:sp>
              <p:nvSpPr>
                <p:cNvPr id="2095" name="Line 47"/>
                <p:cNvSpPr>
                  <a:spLocks noChangeShapeType="1"/>
                </p:cNvSpPr>
                <p:nvPr/>
              </p:nvSpPr>
              <p:spPr bwMode="auto">
                <a:xfrm flipH="1" flipV="1">
                  <a:off x="350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6" name="Line 48"/>
                <p:cNvSpPr>
                  <a:spLocks noChangeShapeType="1"/>
                </p:cNvSpPr>
                <p:nvPr/>
              </p:nvSpPr>
              <p:spPr bwMode="auto">
                <a:xfrm flipH="1" flipV="1">
                  <a:off x="3528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0" name="Group 49"/>
              <p:cNvGrpSpPr>
                <a:grpSpLocks/>
              </p:cNvGrpSpPr>
              <p:nvPr/>
            </p:nvGrpSpPr>
            <p:grpSpPr bwMode="auto">
              <a:xfrm>
                <a:off x="3504" y="1104"/>
                <a:ext cx="96" cy="48"/>
                <a:chOff x="3504" y="1104"/>
                <a:chExt cx="96" cy="48"/>
              </a:xfrm>
            </p:grpSpPr>
            <p:sp>
              <p:nvSpPr>
                <p:cNvPr id="2098" name="Line 50"/>
                <p:cNvSpPr>
                  <a:spLocks noChangeShapeType="1"/>
                </p:cNvSpPr>
                <p:nvPr/>
              </p:nvSpPr>
              <p:spPr bwMode="auto">
                <a:xfrm flipH="1">
                  <a:off x="350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9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3528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100" name="Rectangle 52"/>
            <p:cNvSpPr>
              <a:spLocks noChangeArrowheads="1"/>
            </p:cNvSpPr>
            <p:nvPr/>
          </p:nvSpPr>
          <p:spPr bwMode="auto">
            <a:xfrm>
              <a:off x="3350" y="969"/>
              <a:ext cx="426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MC1ST-01</a:t>
              </a:r>
            </a:p>
          </p:txBody>
        </p:sp>
        <p:sp>
          <p:nvSpPr>
            <p:cNvPr id="2101" name="Rectangle 53"/>
            <p:cNvSpPr>
              <a:spLocks noChangeArrowheads="1"/>
            </p:cNvSpPr>
            <p:nvPr/>
          </p:nvSpPr>
          <p:spPr bwMode="auto">
            <a:xfrm>
              <a:off x="3782" y="1161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13</a:t>
              </a:r>
            </a:p>
          </p:txBody>
        </p: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3974" y="1161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14</a:t>
              </a:r>
            </a:p>
          </p:txBody>
        </p: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3734" y="1353"/>
              <a:ext cx="206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   3</a:t>
              </a:r>
            </a:p>
          </p:txBody>
        </p:sp>
        <p:sp>
          <p:nvSpPr>
            <p:cNvPr id="2104" name="Rectangle 56"/>
            <p:cNvSpPr>
              <a:spLocks noChangeArrowheads="1"/>
            </p:cNvSpPr>
            <p:nvPr/>
          </p:nvSpPr>
          <p:spPr bwMode="auto">
            <a:xfrm>
              <a:off x="4022" y="1353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4</a:t>
              </a:r>
            </a:p>
          </p:txBody>
        </p:sp>
        <p:grpSp>
          <p:nvGrpSpPr>
            <p:cNvPr id="11" name="Group 57"/>
            <p:cNvGrpSpPr>
              <a:grpSpLocks/>
            </p:cNvGrpSpPr>
            <p:nvPr/>
          </p:nvGrpSpPr>
          <p:grpSpPr bwMode="auto">
            <a:xfrm>
              <a:off x="4320" y="1104"/>
              <a:ext cx="96" cy="96"/>
              <a:chOff x="4320" y="1104"/>
              <a:chExt cx="96" cy="96"/>
            </a:xfrm>
          </p:grpSpPr>
          <p:grpSp>
            <p:nvGrpSpPr>
              <p:cNvPr id="12" name="Group 58"/>
              <p:cNvGrpSpPr>
                <a:grpSpLocks/>
              </p:cNvGrpSpPr>
              <p:nvPr/>
            </p:nvGrpSpPr>
            <p:grpSpPr bwMode="auto">
              <a:xfrm>
                <a:off x="4320" y="1152"/>
                <a:ext cx="96" cy="48"/>
                <a:chOff x="4320" y="1152"/>
                <a:chExt cx="96" cy="48"/>
              </a:xfrm>
            </p:grpSpPr>
            <p:sp>
              <p:nvSpPr>
                <p:cNvPr id="2107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434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08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4320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3" name="Group 61"/>
              <p:cNvGrpSpPr>
                <a:grpSpLocks/>
              </p:cNvGrpSpPr>
              <p:nvPr/>
            </p:nvGrpSpPr>
            <p:grpSpPr bwMode="auto">
              <a:xfrm>
                <a:off x="4320" y="1104"/>
                <a:ext cx="96" cy="48"/>
                <a:chOff x="4320" y="1104"/>
                <a:chExt cx="96" cy="48"/>
              </a:xfrm>
            </p:grpSpPr>
            <p:sp>
              <p:nvSpPr>
                <p:cNvPr id="2110" name="Line 62"/>
                <p:cNvSpPr>
                  <a:spLocks noChangeShapeType="1"/>
                </p:cNvSpPr>
                <p:nvPr/>
              </p:nvSpPr>
              <p:spPr bwMode="auto">
                <a:xfrm>
                  <a:off x="434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1" name="Line 63"/>
                <p:cNvSpPr>
                  <a:spLocks noChangeShapeType="1"/>
                </p:cNvSpPr>
                <p:nvPr/>
              </p:nvSpPr>
              <p:spPr bwMode="auto">
                <a:xfrm>
                  <a:off x="4320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112" name="Rectangle 64"/>
            <p:cNvSpPr>
              <a:spLocks noChangeArrowheads="1"/>
            </p:cNvSpPr>
            <p:nvPr/>
          </p:nvSpPr>
          <p:spPr bwMode="auto">
            <a:xfrm>
              <a:off x="4166" y="969"/>
              <a:ext cx="433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MC1BR-04</a:t>
              </a:r>
            </a:p>
          </p:txBody>
        </p:sp>
        <p:grpSp>
          <p:nvGrpSpPr>
            <p:cNvPr id="14" name="Group 65"/>
            <p:cNvGrpSpPr>
              <a:grpSpLocks/>
            </p:cNvGrpSpPr>
            <p:nvPr/>
          </p:nvGrpSpPr>
          <p:grpSpPr bwMode="auto">
            <a:xfrm>
              <a:off x="4704" y="1104"/>
              <a:ext cx="96" cy="96"/>
              <a:chOff x="4704" y="1104"/>
              <a:chExt cx="96" cy="96"/>
            </a:xfrm>
          </p:grpSpPr>
          <p:grpSp>
            <p:nvGrpSpPr>
              <p:cNvPr id="15" name="Group 66"/>
              <p:cNvGrpSpPr>
                <a:grpSpLocks/>
              </p:cNvGrpSpPr>
              <p:nvPr/>
            </p:nvGrpSpPr>
            <p:grpSpPr bwMode="auto">
              <a:xfrm>
                <a:off x="4704" y="1152"/>
                <a:ext cx="96" cy="48"/>
                <a:chOff x="4704" y="1152"/>
                <a:chExt cx="96" cy="48"/>
              </a:xfrm>
            </p:grpSpPr>
            <p:sp>
              <p:nvSpPr>
                <p:cNvPr id="2115" name="Line 67"/>
                <p:cNvSpPr>
                  <a:spLocks noChangeShapeType="1"/>
                </p:cNvSpPr>
                <p:nvPr/>
              </p:nvSpPr>
              <p:spPr bwMode="auto">
                <a:xfrm flipH="1" flipV="1">
                  <a:off x="470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6" name="Line 68"/>
                <p:cNvSpPr>
                  <a:spLocks noChangeShapeType="1"/>
                </p:cNvSpPr>
                <p:nvPr/>
              </p:nvSpPr>
              <p:spPr bwMode="auto">
                <a:xfrm flipH="1" flipV="1">
                  <a:off x="4728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6" name="Group 69"/>
              <p:cNvGrpSpPr>
                <a:grpSpLocks/>
              </p:cNvGrpSpPr>
              <p:nvPr/>
            </p:nvGrpSpPr>
            <p:grpSpPr bwMode="auto">
              <a:xfrm>
                <a:off x="4704" y="1104"/>
                <a:ext cx="96" cy="48"/>
                <a:chOff x="4704" y="1104"/>
                <a:chExt cx="96" cy="48"/>
              </a:xfrm>
            </p:grpSpPr>
            <p:sp>
              <p:nvSpPr>
                <p:cNvPr id="2118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470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9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4728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120" name="Rectangle 72"/>
            <p:cNvSpPr>
              <a:spLocks noChangeArrowheads="1"/>
            </p:cNvSpPr>
            <p:nvPr/>
          </p:nvSpPr>
          <p:spPr bwMode="auto">
            <a:xfrm>
              <a:off x="4608" y="960"/>
              <a:ext cx="295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eaLnBrk="0" latinLnBrk="0" hangingPunct="0"/>
              <a:r>
                <a:rPr lang="en-US" altLang="ko-KR" sz="800">
                  <a:latin typeface="Arial" charset="0"/>
                  <a:ea typeface="굴림체" pitchFamily="49" charset="-127"/>
                </a:rPr>
                <a:t>AA-08</a:t>
              </a:r>
            </a:p>
          </p:txBody>
        </p:sp>
        <p:sp>
          <p:nvSpPr>
            <p:cNvPr id="2121" name="Rectangle 73"/>
            <p:cNvSpPr>
              <a:spLocks noChangeArrowheads="1"/>
            </p:cNvSpPr>
            <p:nvPr/>
          </p:nvSpPr>
          <p:spPr bwMode="auto">
            <a:xfrm>
              <a:off x="5030" y="969"/>
              <a:ext cx="295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AA-08</a:t>
              </a:r>
            </a:p>
          </p:txBody>
        </p:sp>
        <p:sp>
          <p:nvSpPr>
            <p:cNvPr id="2122" name="Rectangle 74"/>
            <p:cNvSpPr>
              <a:spLocks noChangeArrowheads="1"/>
            </p:cNvSpPr>
            <p:nvPr/>
          </p:nvSpPr>
          <p:spPr bwMode="auto">
            <a:xfrm>
              <a:off x="5078" y="1353"/>
              <a:ext cx="379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DOC-1xx</a:t>
              </a:r>
            </a:p>
          </p:txBody>
        </p:sp>
        <p:sp>
          <p:nvSpPr>
            <p:cNvPr id="2123" name="Rectangle 75"/>
            <p:cNvSpPr>
              <a:spLocks noChangeArrowheads="1"/>
            </p:cNvSpPr>
            <p:nvPr/>
          </p:nvSpPr>
          <p:spPr bwMode="auto">
            <a:xfrm>
              <a:off x="3350" y="825"/>
              <a:ext cx="231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P48</a:t>
              </a:r>
            </a:p>
          </p:txBody>
        </p:sp>
      </p:grpSp>
      <p:sp>
        <p:nvSpPr>
          <p:cNvPr id="2124" name="Rectangle 76"/>
          <p:cNvSpPr>
            <a:spLocks noChangeArrowheads="1"/>
          </p:cNvSpPr>
          <p:nvPr/>
        </p:nvSpPr>
        <p:spPr bwMode="auto">
          <a:xfrm>
            <a:off x="533400" y="838200"/>
            <a:ext cx="3465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C1BR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후에도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C1BR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 유지됨</a:t>
            </a:r>
          </a:p>
        </p:txBody>
      </p:sp>
      <p:sp>
        <p:nvSpPr>
          <p:cNvPr id="2125" name="Rectangle 77"/>
          <p:cNvSpPr>
            <a:spLocks noChangeArrowheads="1"/>
          </p:cNvSpPr>
          <p:nvPr/>
        </p:nvSpPr>
        <p:spPr bwMode="auto">
          <a:xfrm>
            <a:off x="273050" y="3638550"/>
            <a:ext cx="15351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TMC_Check(C1BR_ERROR_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DETECT_T, FINISH_STATE)</a:t>
            </a:r>
          </a:p>
        </p:txBody>
      </p:sp>
      <p:sp>
        <p:nvSpPr>
          <p:cNvPr id="2126" name="Line 78"/>
          <p:cNvSpPr>
            <a:spLocks noChangeShapeType="1"/>
          </p:cNvSpPr>
          <p:nvPr/>
        </p:nvSpPr>
        <p:spPr bwMode="auto">
          <a:xfrm>
            <a:off x="152400" y="1981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7" name="Line 79"/>
          <p:cNvSpPr>
            <a:spLocks noChangeShapeType="1"/>
          </p:cNvSpPr>
          <p:nvPr/>
        </p:nvSpPr>
        <p:spPr bwMode="auto">
          <a:xfrm>
            <a:off x="4876800" y="1905000"/>
            <a:ext cx="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152400" y="2743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8382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Line 82"/>
          <p:cNvSpPr>
            <a:spLocks noChangeShapeType="1"/>
          </p:cNvSpPr>
          <p:nvPr/>
        </p:nvSpPr>
        <p:spPr bwMode="auto">
          <a:xfrm>
            <a:off x="2895600" y="2209800"/>
            <a:ext cx="198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1" name="Rectangle 83"/>
          <p:cNvSpPr>
            <a:spLocks noChangeArrowheads="1"/>
          </p:cNvSpPr>
          <p:nvPr/>
        </p:nvSpPr>
        <p:spPr bwMode="auto">
          <a:xfrm>
            <a:off x="469900" y="1941513"/>
            <a:ext cx="98901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SWD_I[VI_C1BR]</a:t>
            </a:r>
          </a:p>
        </p:txBody>
      </p:sp>
      <p:sp>
        <p:nvSpPr>
          <p:cNvPr id="2132" name="Rectangle 84"/>
          <p:cNvSpPr>
            <a:spLocks noChangeArrowheads="1"/>
          </p:cNvSpPr>
          <p:nvPr/>
        </p:nvSpPr>
        <p:spPr bwMode="auto">
          <a:xfrm>
            <a:off x="117475" y="2465388"/>
            <a:ext cx="98901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SWD_I[VI_C1BR]</a:t>
            </a:r>
          </a:p>
        </p:txBody>
      </p:sp>
      <p:sp>
        <p:nvSpPr>
          <p:cNvPr id="2133" name="Rectangle 85"/>
          <p:cNvSpPr>
            <a:spLocks noChangeArrowheads="1"/>
          </p:cNvSpPr>
          <p:nvPr/>
        </p:nvSpPr>
        <p:spPr bwMode="auto">
          <a:xfrm>
            <a:off x="1905000" y="1981200"/>
            <a:ext cx="10906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SWD_O[VO_C1BR]</a:t>
            </a:r>
          </a:p>
        </p:txBody>
      </p:sp>
      <p:sp>
        <p:nvSpPr>
          <p:cNvPr id="2134" name="Line 86"/>
          <p:cNvSpPr>
            <a:spLocks noChangeShapeType="1"/>
          </p:cNvSpPr>
          <p:nvPr/>
        </p:nvSpPr>
        <p:spPr bwMode="auto">
          <a:xfrm>
            <a:off x="152400" y="3429000"/>
            <a:ext cx="1135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5" name="Line 87"/>
          <p:cNvSpPr>
            <a:spLocks noChangeShapeType="1"/>
          </p:cNvSpPr>
          <p:nvPr/>
        </p:nvSpPr>
        <p:spPr bwMode="auto">
          <a:xfrm>
            <a:off x="1219200" y="4038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6" name="Rectangle 88"/>
          <p:cNvSpPr>
            <a:spLocks noChangeArrowheads="1"/>
          </p:cNvSpPr>
          <p:nvPr/>
        </p:nvSpPr>
        <p:spPr bwMode="auto">
          <a:xfrm>
            <a:off x="4038600" y="1981200"/>
            <a:ext cx="727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7" name="Rectangle 89"/>
          <p:cNvSpPr>
            <a:spLocks noChangeArrowheads="1"/>
          </p:cNvSpPr>
          <p:nvPr/>
        </p:nvSpPr>
        <p:spPr bwMode="auto">
          <a:xfrm>
            <a:off x="4060825" y="20081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138" name="Rectangle 90"/>
          <p:cNvSpPr>
            <a:spLocks noChangeArrowheads="1"/>
          </p:cNvSpPr>
          <p:nvPr/>
        </p:nvSpPr>
        <p:spPr bwMode="auto">
          <a:xfrm>
            <a:off x="4152900" y="3803650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87</a:t>
            </a:r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781050" y="22320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0x8029</a:t>
            </a:r>
          </a:p>
        </p:txBody>
      </p:sp>
      <p:sp>
        <p:nvSpPr>
          <p:cNvPr id="2140" name="Rectangle 92"/>
          <p:cNvSpPr>
            <a:spLocks noChangeArrowheads="1"/>
          </p:cNvSpPr>
          <p:nvPr/>
        </p:nvSpPr>
        <p:spPr bwMode="auto">
          <a:xfrm>
            <a:off x="304800" y="28194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0x8029</a:t>
            </a:r>
          </a:p>
        </p:txBody>
      </p:sp>
      <p:sp>
        <p:nvSpPr>
          <p:cNvPr id="2141" name="Rectangle 93"/>
          <p:cNvSpPr>
            <a:spLocks noChangeArrowheads="1"/>
          </p:cNvSpPr>
          <p:nvPr/>
        </p:nvSpPr>
        <p:spPr bwMode="auto">
          <a:xfrm>
            <a:off x="1071563" y="2803525"/>
            <a:ext cx="4746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0x8080</a:t>
            </a:r>
          </a:p>
        </p:txBody>
      </p:sp>
      <p:sp>
        <p:nvSpPr>
          <p:cNvPr id="2142" name="Rectangle 94"/>
          <p:cNvSpPr>
            <a:spLocks noChangeArrowheads="1"/>
          </p:cNvSpPr>
          <p:nvPr/>
        </p:nvSpPr>
        <p:spPr bwMode="auto">
          <a:xfrm>
            <a:off x="2324100" y="22320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0x8080</a:t>
            </a:r>
          </a:p>
        </p:txBody>
      </p:sp>
      <p:sp>
        <p:nvSpPr>
          <p:cNvPr id="2143" name="Rectangle 95"/>
          <p:cNvSpPr>
            <a:spLocks noChangeArrowheads="1"/>
          </p:cNvSpPr>
          <p:nvPr/>
        </p:nvSpPr>
        <p:spPr bwMode="auto">
          <a:xfrm>
            <a:off x="2006600" y="27940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0x9210</a:t>
            </a:r>
          </a:p>
        </p:txBody>
      </p:sp>
      <p:sp>
        <p:nvSpPr>
          <p:cNvPr id="2144" name="Line 96"/>
          <p:cNvSpPr>
            <a:spLocks noChangeShapeType="1"/>
          </p:cNvSpPr>
          <p:nvPr/>
        </p:nvSpPr>
        <p:spPr bwMode="auto">
          <a:xfrm>
            <a:off x="1600200" y="34290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7" name="Group 97"/>
          <p:cNvGrpSpPr>
            <a:grpSpLocks/>
          </p:cNvGrpSpPr>
          <p:nvPr/>
        </p:nvGrpSpPr>
        <p:grpSpPr bwMode="auto">
          <a:xfrm>
            <a:off x="2438400" y="2133600"/>
            <a:ext cx="533400" cy="152400"/>
            <a:chOff x="1128" y="1440"/>
            <a:chExt cx="336" cy="96"/>
          </a:xfrm>
        </p:grpSpPr>
        <p:grpSp>
          <p:nvGrpSpPr>
            <p:cNvPr id="18" name="Group 98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0" name="Line 102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51" name="Line 103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9" name="Group 104"/>
          <p:cNvGrpSpPr>
            <a:grpSpLocks/>
          </p:cNvGrpSpPr>
          <p:nvPr/>
        </p:nvGrpSpPr>
        <p:grpSpPr bwMode="auto">
          <a:xfrm>
            <a:off x="990600" y="2133600"/>
            <a:ext cx="533400" cy="152400"/>
            <a:chOff x="1752" y="1440"/>
            <a:chExt cx="336" cy="96"/>
          </a:xfrm>
        </p:grpSpPr>
        <p:sp>
          <p:nvSpPr>
            <p:cNvPr id="2153" name="Line 105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4" name="Line 106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57" name="Line 109"/>
          <p:cNvSpPr>
            <a:spLocks noChangeShapeType="1"/>
          </p:cNvSpPr>
          <p:nvPr/>
        </p:nvSpPr>
        <p:spPr bwMode="auto">
          <a:xfrm>
            <a:off x="152400" y="22098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8" name="Line 110"/>
          <p:cNvSpPr>
            <a:spLocks noChangeShapeType="1"/>
          </p:cNvSpPr>
          <p:nvPr/>
        </p:nvSpPr>
        <p:spPr bwMode="auto">
          <a:xfrm>
            <a:off x="1447800" y="22098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0" name="Group 111"/>
          <p:cNvGrpSpPr>
            <a:grpSpLocks/>
          </p:cNvGrpSpPr>
          <p:nvPr/>
        </p:nvGrpSpPr>
        <p:grpSpPr bwMode="auto">
          <a:xfrm>
            <a:off x="1295400" y="2667000"/>
            <a:ext cx="533400" cy="152400"/>
            <a:chOff x="1752" y="1440"/>
            <a:chExt cx="336" cy="96"/>
          </a:xfrm>
        </p:grpSpPr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1" name="Line 113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2" name="Line 114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3" name="Line 115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1" name="Group 116"/>
          <p:cNvGrpSpPr>
            <a:grpSpLocks/>
          </p:cNvGrpSpPr>
          <p:nvPr/>
        </p:nvGrpSpPr>
        <p:grpSpPr bwMode="auto">
          <a:xfrm>
            <a:off x="2286000" y="2667000"/>
            <a:ext cx="533400" cy="152400"/>
            <a:chOff x="1128" y="1440"/>
            <a:chExt cx="336" cy="96"/>
          </a:xfrm>
        </p:grpSpPr>
        <p:grpSp>
          <p:nvGrpSpPr>
            <p:cNvPr id="22" name="Group 117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0" name="Line 122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3" name="Group 123"/>
          <p:cNvGrpSpPr>
            <a:grpSpLocks/>
          </p:cNvGrpSpPr>
          <p:nvPr/>
        </p:nvGrpSpPr>
        <p:grpSpPr bwMode="auto">
          <a:xfrm>
            <a:off x="381000" y="2667000"/>
            <a:ext cx="533400" cy="152400"/>
            <a:chOff x="1128" y="1440"/>
            <a:chExt cx="336" cy="96"/>
          </a:xfrm>
        </p:grpSpPr>
        <p:grpSp>
          <p:nvGrpSpPr>
            <p:cNvPr id="24" name="Group 124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7" name="Line 129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5" name="Group 130"/>
          <p:cNvGrpSpPr>
            <a:grpSpLocks/>
          </p:cNvGrpSpPr>
          <p:nvPr/>
        </p:nvGrpSpPr>
        <p:grpSpPr bwMode="auto">
          <a:xfrm>
            <a:off x="3048000" y="2667000"/>
            <a:ext cx="533400" cy="152400"/>
            <a:chOff x="1752" y="1440"/>
            <a:chExt cx="336" cy="96"/>
          </a:xfrm>
        </p:grpSpPr>
        <p:sp>
          <p:nvSpPr>
            <p:cNvPr id="2179" name="Line 131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0" name="Line 132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1" name="Line 133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2" name="Line 134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83" name="Line 135"/>
          <p:cNvSpPr>
            <a:spLocks noChangeShapeType="1"/>
          </p:cNvSpPr>
          <p:nvPr/>
        </p:nvSpPr>
        <p:spPr bwMode="auto">
          <a:xfrm>
            <a:off x="3733800" y="2209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4" name="Line 136"/>
          <p:cNvSpPr>
            <a:spLocks noChangeShapeType="1"/>
          </p:cNvSpPr>
          <p:nvPr/>
        </p:nvSpPr>
        <p:spPr bwMode="auto">
          <a:xfrm>
            <a:off x="17526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5" name="Line 137"/>
          <p:cNvSpPr>
            <a:spLocks noChangeShapeType="1"/>
          </p:cNvSpPr>
          <p:nvPr/>
        </p:nvSpPr>
        <p:spPr bwMode="auto">
          <a:xfrm>
            <a:off x="26670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6" name="Line 138"/>
          <p:cNvSpPr>
            <a:spLocks noChangeShapeType="1"/>
          </p:cNvSpPr>
          <p:nvPr/>
        </p:nvSpPr>
        <p:spPr bwMode="auto">
          <a:xfrm>
            <a:off x="3581400" y="27432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7" name="Rectangle 139"/>
          <p:cNvSpPr>
            <a:spLocks noChangeArrowheads="1"/>
          </p:cNvSpPr>
          <p:nvPr/>
        </p:nvSpPr>
        <p:spPr bwMode="auto">
          <a:xfrm>
            <a:off x="1047750" y="2463800"/>
            <a:ext cx="10906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SWD_O[VO_C1BR]</a:t>
            </a:r>
          </a:p>
        </p:txBody>
      </p:sp>
      <p:sp>
        <p:nvSpPr>
          <p:cNvPr id="2188" name="Rectangle 140"/>
          <p:cNvSpPr>
            <a:spLocks noChangeArrowheads="1"/>
          </p:cNvSpPr>
          <p:nvPr/>
        </p:nvSpPr>
        <p:spPr bwMode="auto">
          <a:xfrm>
            <a:off x="2057400" y="2470150"/>
            <a:ext cx="1273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Coil[SV_INV_SW_FAIL]</a:t>
            </a:r>
          </a:p>
        </p:txBody>
      </p:sp>
      <p:sp>
        <p:nvSpPr>
          <p:cNvPr id="2189" name="Rectangle 141"/>
          <p:cNvSpPr>
            <a:spLocks noChangeArrowheads="1"/>
          </p:cNvSpPr>
          <p:nvPr/>
        </p:nvSpPr>
        <p:spPr bwMode="auto">
          <a:xfrm>
            <a:off x="2667000" y="2819400"/>
            <a:ext cx="12652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Coil[SW_SS_DSP_WD]</a:t>
            </a:r>
          </a:p>
        </p:txBody>
      </p:sp>
      <p:grpSp>
        <p:nvGrpSpPr>
          <p:cNvPr id="26" name="Group 142"/>
          <p:cNvGrpSpPr>
            <a:grpSpLocks/>
          </p:cNvGrpSpPr>
          <p:nvPr/>
        </p:nvGrpSpPr>
        <p:grpSpPr bwMode="auto">
          <a:xfrm>
            <a:off x="1066800" y="3352800"/>
            <a:ext cx="533400" cy="152400"/>
            <a:chOff x="1752" y="1440"/>
            <a:chExt cx="336" cy="96"/>
          </a:xfrm>
        </p:grpSpPr>
        <p:sp>
          <p:nvSpPr>
            <p:cNvPr id="2191" name="Line 143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2" name="Line 144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3" name="Line 145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4" name="Line 146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95" name="Rectangle 147"/>
          <p:cNvSpPr>
            <a:spLocks noChangeArrowheads="1"/>
          </p:cNvSpPr>
          <p:nvPr/>
        </p:nvSpPr>
        <p:spPr bwMode="auto">
          <a:xfrm>
            <a:off x="3657600" y="3200400"/>
            <a:ext cx="1108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6" name="Rectangle 148"/>
          <p:cNvSpPr>
            <a:spLocks noChangeArrowheads="1"/>
          </p:cNvSpPr>
          <p:nvPr/>
        </p:nvSpPr>
        <p:spPr bwMode="auto">
          <a:xfrm>
            <a:off x="3619500" y="3276600"/>
            <a:ext cx="11668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TMC_Start(C1BR_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197" name="Line 149"/>
          <p:cNvSpPr>
            <a:spLocks noChangeShapeType="1"/>
          </p:cNvSpPr>
          <p:nvPr/>
        </p:nvSpPr>
        <p:spPr bwMode="auto">
          <a:xfrm>
            <a:off x="4762500" y="3429000"/>
            <a:ext cx="114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8" name="Rectangle 150"/>
          <p:cNvSpPr>
            <a:spLocks noChangeArrowheads="1"/>
          </p:cNvSpPr>
          <p:nvPr/>
        </p:nvSpPr>
        <p:spPr bwMode="auto">
          <a:xfrm>
            <a:off x="885825" y="31384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27" name="Group 151"/>
          <p:cNvGrpSpPr>
            <a:grpSpLocks/>
          </p:cNvGrpSpPr>
          <p:nvPr/>
        </p:nvGrpSpPr>
        <p:grpSpPr bwMode="auto">
          <a:xfrm>
            <a:off x="685800" y="3962400"/>
            <a:ext cx="533400" cy="152400"/>
            <a:chOff x="1752" y="1440"/>
            <a:chExt cx="336" cy="96"/>
          </a:xfrm>
        </p:grpSpPr>
        <p:sp>
          <p:nvSpPr>
            <p:cNvPr id="2200" name="Line 152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1" name="Line 153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2" name="Line 154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3" name="Line 155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04" name="Line 156"/>
          <p:cNvSpPr>
            <a:spLocks noChangeShapeType="1"/>
          </p:cNvSpPr>
          <p:nvPr/>
        </p:nvSpPr>
        <p:spPr bwMode="auto">
          <a:xfrm>
            <a:off x="152400" y="4038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5" name="Line 157"/>
          <p:cNvSpPr>
            <a:spLocks noChangeShapeType="1"/>
          </p:cNvSpPr>
          <p:nvPr/>
        </p:nvSpPr>
        <p:spPr bwMode="auto">
          <a:xfrm>
            <a:off x="2438400" y="40386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6" name="Rectangle 158"/>
          <p:cNvSpPr>
            <a:spLocks noChangeArrowheads="1"/>
          </p:cNvSpPr>
          <p:nvPr/>
        </p:nvSpPr>
        <p:spPr bwMode="auto">
          <a:xfrm>
            <a:off x="1828800" y="3733800"/>
            <a:ext cx="9890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SWD_I[VI_C1BR]</a:t>
            </a:r>
          </a:p>
        </p:txBody>
      </p:sp>
      <p:sp>
        <p:nvSpPr>
          <p:cNvPr id="2207" name="Rectangle 159"/>
          <p:cNvSpPr>
            <a:spLocks noChangeArrowheads="1"/>
          </p:cNvSpPr>
          <p:nvPr/>
        </p:nvSpPr>
        <p:spPr bwMode="auto">
          <a:xfrm>
            <a:off x="4083050" y="3810000"/>
            <a:ext cx="68262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8" name="Rectangle 160"/>
          <p:cNvSpPr>
            <a:spLocks noChangeArrowheads="1"/>
          </p:cNvSpPr>
          <p:nvPr/>
        </p:nvSpPr>
        <p:spPr bwMode="auto">
          <a:xfrm>
            <a:off x="1847850" y="40957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0x8029</a:t>
            </a:r>
          </a:p>
        </p:txBody>
      </p:sp>
      <p:sp>
        <p:nvSpPr>
          <p:cNvPr id="2209" name="Rectangle 161"/>
          <p:cNvSpPr>
            <a:spLocks noChangeArrowheads="1"/>
          </p:cNvSpPr>
          <p:nvPr/>
        </p:nvSpPr>
        <p:spPr bwMode="auto">
          <a:xfrm>
            <a:off x="3244850" y="25082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0x923D</a:t>
            </a:r>
          </a:p>
        </p:txBody>
      </p:sp>
      <p:grpSp>
        <p:nvGrpSpPr>
          <p:cNvPr id="28" name="Group 162"/>
          <p:cNvGrpSpPr>
            <a:grpSpLocks/>
          </p:cNvGrpSpPr>
          <p:nvPr/>
        </p:nvGrpSpPr>
        <p:grpSpPr bwMode="auto">
          <a:xfrm>
            <a:off x="1981200" y="3962400"/>
            <a:ext cx="533400" cy="152400"/>
            <a:chOff x="1128" y="1440"/>
            <a:chExt cx="336" cy="96"/>
          </a:xfrm>
        </p:grpSpPr>
        <p:grpSp>
          <p:nvGrpSpPr>
            <p:cNvPr id="29" name="Group 163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12" name="Line 164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3" name="Line 165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4" name="Line 166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16" name="Line 168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17" name="Rectangle 169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88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ER_C1ST_ON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61925" y="4892675"/>
            <a:ext cx="47085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C1ST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출력 되고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C1ST Contactor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C1ST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 입력이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일 때 검출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C1ST Contactor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되었으나 접점이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C1ST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 입력이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되었을 때 검출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2743200"/>
            <a:ext cx="37973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 회로에서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AA-07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C1ST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   0 V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C1ST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DC 48 V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DOA-100(ANN)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입력상태 표시행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9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C1ST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   1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C1ST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   0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C1ST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5257800" y="1371600"/>
            <a:ext cx="3438525" cy="1128713"/>
            <a:chOff x="3350" y="825"/>
            <a:chExt cx="2166" cy="711"/>
          </a:xfrm>
        </p:grpSpPr>
        <p:sp>
          <p:nvSpPr>
            <p:cNvPr id="2069" name="Line 21"/>
            <p:cNvSpPr>
              <a:spLocks noChangeShapeType="1"/>
            </p:cNvSpPr>
            <p:nvPr/>
          </p:nvSpPr>
          <p:spPr bwMode="auto">
            <a:xfrm>
              <a:off x="4128" y="1152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3792" y="1296"/>
              <a:ext cx="336" cy="96"/>
              <a:chOff x="3792" y="1296"/>
              <a:chExt cx="336" cy="96"/>
            </a:xfrm>
          </p:grpSpPr>
          <p:sp>
            <p:nvSpPr>
              <p:cNvPr id="2071" name="Line 23"/>
              <p:cNvSpPr>
                <a:spLocks noChangeShapeType="1"/>
              </p:cNvSpPr>
              <p:nvPr/>
            </p:nvSpPr>
            <p:spPr bwMode="auto">
              <a:xfrm>
                <a:off x="3936" y="129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2" name="Line 24"/>
              <p:cNvSpPr>
                <a:spLocks noChangeShapeType="1"/>
              </p:cNvSpPr>
              <p:nvPr/>
            </p:nvSpPr>
            <p:spPr bwMode="auto">
              <a:xfrm>
                <a:off x="3984" y="129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3" name="Line 25"/>
              <p:cNvSpPr>
                <a:spLocks noChangeShapeType="1"/>
              </p:cNvSpPr>
              <p:nvPr/>
            </p:nvSpPr>
            <p:spPr bwMode="auto">
              <a:xfrm>
                <a:off x="3792" y="134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4" name="Line 26"/>
              <p:cNvSpPr>
                <a:spLocks noChangeShapeType="1"/>
              </p:cNvSpPr>
              <p:nvPr/>
            </p:nvSpPr>
            <p:spPr bwMode="auto">
              <a:xfrm>
                <a:off x="3984" y="134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075" name="Rectangle 27"/>
            <p:cNvSpPr>
              <a:spLocks noChangeArrowheads="1"/>
            </p:cNvSpPr>
            <p:nvPr/>
          </p:nvSpPr>
          <p:spPr bwMode="auto">
            <a:xfrm>
              <a:off x="5044" y="964"/>
              <a:ext cx="472" cy="3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3792" y="1104"/>
              <a:ext cx="336" cy="96"/>
              <a:chOff x="3792" y="1104"/>
              <a:chExt cx="336" cy="96"/>
            </a:xfrm>
          </p:grpSpPr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3936" y="110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3984" y="110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3792" y="115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3984" y="115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081" name="Rectangle 33"/>
            <p:cNvSpPr>
              <a:spLocks noChangeArrowheads="1"/>
            </p:cNvSpPr>
            <p:nvPr/>
          </p:nvSpPr>
          <p:spPr bwMode="auto">
            <a:xfrm>
              <a:off x="3840" y="960"/>
              <a:ext cx="280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eaLnBrk="0" latinLnBrk="0" hangingPunct="0"/>
              <a:r>
                <a:rPr lang="en-US" altLang="ko-KR" sz="800">
                  <a:latin typeface="Arial" charset="0"/>
                  <a:ea typeface="굴림체" pitchFamily="49" charset="-127"/>
                </a:rPr>
                <a:t>C1ST</a:t>
              </a:r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3360" y="115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5" name="Group 35"/>
            <p:cNvGrpSpPr>
              <a:grpSpLocks/>
            </p:cNvGrpSpPr>
            <p:nvPr/>
          </p:nvGrpSpPr>
          <p:grpSpPr bwMode="auto">
            <a:xfrm>
              <a:off x="5136" y="1104"/>
              <a:ext cx="96" cy="96"/>
              <a:chOff x="5136" y="1104"/>
              <a:chExt cx="96" cy="96"/>
            </a:xfrm>
          </p:grpSpPr>
          <p:grpSp>
            <p:nvGrpSpPr>
              <p:cNvPr id="6" name="Group 36"/>
              <p:cNvGrpSpPr>
                <a:grpSpLocks/>
              </p:cNvGrpSpPr>
              <p:nvPr/>
            </p:nvGrpSpPr>
            <p:grpSpPr bwMode="auto">
              <a:xfrm>
                <a:off x="5136" y="1152"/>
                <a:ext cx="96" cy="48"/>
                <a:chOff x="5136" y="1152"/>
                <a:chExt cx="96" cy="48"/>
              </a:xfrm>
            </p:grpSpPr>
            <p:sp>
              <p:nvSpPr>
                <p:cNvPr id="2085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5160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6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5136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7" name="Group 39"/>
              <p:cNvGrpSpPr>
                <a:grpSpLocks/>
              </p:cNvGrpSpPr>
              <p:nvPr/>
            </p:nvGrpSpPr>
            <p:grpSpPr bwMode="auto">
              <a:xfrm>
                <a:off x="5136" y="1104"/>
                <a:ext cx="96" cy="48"/>
                <a:chOff x="5136" y="1104"/>
                <a:chExt cx="96" cy="48"/>
              </a:xfrm>
            </p:grpSpPr>
            <p:sp>
              <p:nvSpPr>
                <p:cNvPr id="2088" name="Line 40"/>
                <p:cNvSpPr>
                  <a:spLocks noChangeShapeType="1"/>
                </p:cNvSpPr>
                <p:nvPr/>
              </p:nvSpPr>
              <p:spPr bwMode="auto">
                <a:xfrm>
                  <a:off x="5160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9" name="Line 41"/>
                <p:cNvSpPr>
                  <a:spLocks noChangeShapeType="1"/>
                </p:cNvSpPr>
                <p:nvPr/>
              </p:nvSpPr>
              <p:spPr bwMode="auto">
                <a:xfrm>
                  <a:off x="5136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>
              <a:off x="3360" y="864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3792" y="115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>
              <a:off x="4128" y="115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8" name="Group 45"/>
            <p:cNvGrpSpPr>
              <a:grpSpLocks/>
            </p:cNvGrpSpPr>
            <p:nvPr/>
          </p:nvGrpSpPr>
          <p:grpSpPr bwMode="auto">
            <a:xfrm>
              <a:off x="3504" y="1104"/>
              <a:ext cx="96" cy="96"/>
              <a:chOff x="3504" y="1104"/>
              <a:chExt cx="96" cy="96"/>
            </a:xfrm>
          </p:grpSpPr>
          <p:grpSp>
            <p:nvGrpSpPr>
              <p:cNvPr id="9" name="Group 46"/>
              <p:cNvGrpSpPr>
                <a:grpSpLocks/>
              </p:cNvGrpSpPr>
              <p:nvPr/>
            </p:nvGrpSpPr>
            <p:grpSpPr bwMode="auto">
              <a:xfrm>
                <a:off x="3504" y="1152"/>
                <a:ext cx="96" cy="48"/>
                <a:chOff x="3504" y="1152"/>
                <a:chExt cx="96" cy="48"/>
              </a:xfrm>
            </p:grpSpPr>
            <p:sp>
              <p:nvSpPr>
                <p:cNvPr id="2095" name="Line 47"/>
                <p:cNvSpPr>
                  <a:spLocks noChangeShapeType="1"/>
                </p:cNvSpPr>
                <p:nvPr/>
              </p:nvSpPr>
              <p:spPr bwMode="auto">
                <a:xfrm flipH="1" flipV="1">
                  <a:off x="350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6" name="Line 48"/>
                <p:cNvSpPr>
                  <a:spLocks noChangeShapeType="1"/>
                </p:cNvSpPr>
                <p:nvPr/>
              </p:nvSpPr>
              <p:spPr bwMode="auto">
                <a:xfrm flipH="1" flipV="1">
                  <a:off x="3528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0" name="Group 49"/>
              <p:cNvGrpSpPr>
                <a:grpSpLocks/>
              </p:cNvGrpSpPr>
              <p:nvPr/>
            </p:nvGrpSpPr>
            <p:grpSpPr bwMode="auto">
              <a:xfrm>
                <a:off x="3504" y="1104"/>
                <a:ext cx="96" cy="48"/>
                <a:chOff x="3504" y="1104"/>
                <a:chExt cx="96" cy="48"/>
              </a:xfrm>
            </p:grpSpPr>
            <p:sp>
              <p:nvSpPr>
                <p:cNvPr id="2098" name="Line 50"/>
                <p:cNvSpPr>
                  <a:spLocks noChangeShapeType="1"/>
                </p:cNvSpPr>
                <p:nvPr/>
              </p:nvSpPr>
              <p:spPr bwMode="auto">
                <a:xfrm flipH="1">
                  <a:off x="350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9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3528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100" name="Rectangle 52"/>
            <p:cNvSpPr>
              <a:spLocks noChangeArrowheads="1"/>
            </p:cNvSpPr>
            <p:nvPr/>
          </p:nvSpPr>
          <p:spPr bwMode="auto">
            <a:xfrm>
              <a:off x="3350" y="969"/>
              <a:ext cx="426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MC1ST-01</a:t>
              </a:r>
            </a:p>
          </p:txBody>
        </p:sp>
        <p:sp>
          <p:nvSpPr>
            <p:cNvPr id="2101" name="Rectangle 53"/>
            <p:cNvSpPr>
              <a:spLocks noChangeArrowheads="1"/>
            </p:cNvSpPr>
            <p:nvPr/>
          </p:nvSpPr>
          <p:spPr bwMode="auto">
            <a:xfrm>
              <a:off x="3782" y="1161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21</a:t>
              </a:r>
            </a:p>
          </p:txBody>
        </p: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3974" y="1161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22</a:t>
              </a:r>
            </a:p>
          </p:txBody>
        </p: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3782" y="1353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31</a:t>
              </a:r>
            </a:p>
          </p:txBody>
        </p:sp>
        <p:sp>
          <p:nvSpPr>
            <p:cNvPr id="2104" name="Rectangle 56"/>
            <p:cNvSpPr>
              <a:spLocks noChangeArrowheads="1"/>
            </p:cNvSpPr>
            <p:nvPr/>
          </p:nvSpPr>
          <p:spPr bwMode="auto">
            <a:xfrm>
              <a:off x="3974" y="1353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32</a:t>
              </a:r>
            </a:p>
          </p:txBody>
        </p:sp>
        <p:grpSp>
          <p:nvGrpSpPr>
            <p:cNvPr id="11" name="Group 57"/>
            <p:cNvGrpSpPr>
              <a:grpSpLocks/>
            </p:cNvGrpSpPr>
            <p:nvPr/>
          </p:nvGrpSpPr>
          <p:grpSpPr bwMode="auto">
            <a:xfrm>
              <a:off x="4320" y="1104"/>
              <a:ext cx="96" cy="96"/>
              <a:chOff x="4320" y="1104"/>
              <a:chExt cx="96" cy="96"/>
            </a:xfrm>
          </p:grpSpPr>
          <p:grpSp>
            <p:nvGrpSpPr>
              <p:cNvPr id="12" name="Group 58"/>
              <p:cNvGrpSpPr>
                <a:grpSpLocks/>
              </p:cNvGrpSpPr>
              <p:nvPr/>
            </p:nvGrpSpPr>
            <p:grpSpPr bwMode="auto">
              <a:xfrm>
                <a:off x="4320" y="1152"/>
                <a:ext cx="96" cy="48"/>
                <a:chOff x="4320" y="1152"/>
                <a:chExt cx="96" cy="48"/>
              </a:xfrm>
            </p:grpSpPr>
            <p:sp>
              <p:nvSpPr>
                <p:cNvPr id="2107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434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08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4320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3" name="Group 61"/>
              <p:cNvGrpSpPr>
                <a:grpSpLocks/>
              </p:cNvGrpSpPr>
              <p:nvPr/>
            </p:nvGrpSpPr>
            <p:grpSpPr bwMode="auto">
              <a:xfrm>
                <a:off x="4320" y="1104"/>
                <a:ext cx="96" cy="48"/>
                <a:chOff x="4320" y="1104"/>
                <a:chExt cx="96" cy="48"/>
              </a:xfrm>
            </p:grpSpPr>
            <p:sp>
              <p:nvSpPr>
                <p:cNvPr id="2110" name="Line 62"/>
                <p:cNvSpPr>
                  <a:spLocks noChangeShapeType="1"/>
                </p:cNvSpPr>
                <p:nvPr/>
              </p:nvSpPr>
              <p:spPr bwMode="auto">
                <a:xfrm>
                  <a:off x="434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1" name="Line 63"/>
                <p:cNvSpPr>
                  <a:spLocks noChangeShapeType="1"/>
                </p:cNvSpPr>
                <p:nvPr/>
              </p:nvSpPr>
              <p:spPr bwMode="auto">
                <a:xfrm>
                  <a:off x="4320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112" name="Rectangle 64"/>
            <p:cNvSpPr>
              <a:spLocks noChangeArrowheads="1"/>
            </p:cNvSpPr>
            <p:nvPr/>
          </p:nvSpPr>
          <p:spPr bwMode="auto">
            <a:xfrm>
              <a:off x="4166" y="969"/>
              <a:ext cx="426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MC1ST-02</a:t>
              </a:r>
            </a:p>
          </p:txBody>
        </p:sp>
        <p:grpSp>
          <p:nvGrpSpPr>
            <p:cNvPr id="14" name="Group 65"/>
            <p:cNvGrpSpPr>
              <a:grpSpLocks/>
            </p:cNvGrpSpPr>
            <p:nvPr/>
          </p:nvGrpSpPr>
          <p:grpSpPr bwMode="auto">
            <a:xfrm>
              <a:off x="4704" y="1104"/>
              <a:ext cx="96" cy="96"/>
              <a:chOff x="4704" y="1104"/>
              <a:chExt cx="96" cy="96"/>
            </a:xfrm>
          </p:grpSpPr>
          <p:grpSp>
            <p:nvGrpSpPr>
              <p:cNvPr id="15" name="Group 66"/>
              <p:cNvGrpSpPr>
                <a:grpSpLocks/>
              </p:cNvGrpSpPr>
              <p:nvPr/>
            </p:nvGrpSpPr>
            <p:grpSpPr bwMode="auto">
              <a:xfrm>
                <a:off x="4704" y="1152"/>
                <a:ext cx="96" cy="48"/>
                <a:chOff x="4704" y="1152"/>
                <a:chExt cx="96" cy="48"/>
              </a:xfrm>
            </p:grpSpPr>
            <p:sp>
              <p:nvSpPr>
                <p:cNvPr id="2115" name="Line 67"/>
                <p:cNvSpPr>
                  <a:spLocks noChangeShapeType="1"/>
                </p:cNvSpPr>
                <p:nvPr/>
              </p:nvSpPr>
              <p:spPr bwMode="auto">
                <a:xfrm flipH="1" flipV="1">
                  <a:off x="470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6" name="Line 68"/>
                <p:cNvSpPr>
                  <a:spLocks noChangeShapeType="1"/>
                </p:cNvSpPr>
                <p:nvPr/>
              </p:nvSpPr>
              <p:spPr bwMode="auto">
                <a:xfrm flipH="1" flipV="1">
                  <a:off x="4728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6" name="Group 69"/>
              <p:cNvGrpSpPr>
                <a:grpSpLocks/>
              </p:cNvGrpSpPr>
              <p:nvPr/>
            </p:nvGrpSpPr>
            <p:grpSpPr bwMode="auto">
              <a:xfrm>
                <a:off x="4704" y="1104"/>
                <a:ext cx="96" cy="48"/>
                <a:chOff x="4704" y="1104"/>
                <a:chExt cx="96" cy="48"/>
              </a:xfrm>
            </p:grpSpPr>
            <p:sp>
              <p:nvSpPr>
                <p:cNvPr id="2118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470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9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4728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120" name="Rectangle 72"/>
            <p:cNvSpPr>
              <a:spLocks noChangeArrowheads="1"/>
            </p:cNvSpPr>
            <p:nvPr/>
          </p:nvSpPr>
          <p:spPr bwMode="auto">
            <a:xfrm>
              <a:off x="4608" y="960"/>
              <a:ext cx="295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eaLnBrk="0" latinLnBrk="0" hangingPunct="0"/>
              <a:r>
                <a:rPr lang="en-US" altLang="ko-KR" sz="800">
                  <a:latin typeface="Arial" charset="0"/>
                  <a:ea typeface="굴림체" pitchFamily="49" charset="-127"/>
                </a:rPr>
                <a:t>AA-07</a:t>
              </a:r>
            </a:p>
          </p:txBody>
        </p:sp>
        <p:sp>
          <p:nvSpPr>
            <p:cNvPr id="2121" name="Rectangle 73"/>
            <p:cNvSpPr>
              <a:spLocks noChangeArrowheads="1"/>
            </p:cNvSpPr>
            <p:nvPr/>
          </p:nvSpPr>
          <p:spPr bwMode="auto">
            <a:xfrm>
              <a:off x="5030" y="969"/>
              <a:ext cx="295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AA-07</a:t>
              </a:r>
            </a:p>
          </p:txBody>
        </p:sp>
        <p:sp>
          <p:nvSpPr>
            <p:cNvPr id="2122" name="Rectangle 74"/>
            <p:cNvSpPr>
              <a:spLocks noChangeArrowheads="1"/>
            </p:cNvSpPr>
            <p:nvPr/>
          </p:nvSpPr>
          <p:spPr bwMode="auto">
            <a:xfrm>
              <a:off x="5078" y="1353"/>
              <a:ext cx="379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DOC-1xx</a:t>
              </a:r>
            </a:p>
          </p:txBody>
        </p:sp>
        <p:sp>
          <p:nvSpPr>
            <p:cNvPr id="2123" name="Rectangle 75"/>
            <p:cNvSpPr>
              <a:spLocks noChangeArrowheads="1"/>
            </p:cNvSpPr>
            <p:nvPr/>
          </p:nvSpPr>
          <p:spPr bwMode="auto">
            <a:xfrm>
              <a:off x="3350" y="825"/>
              <a:ext cx="231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P48</a:t>
              </a:r>
            </a:p>
          </p:txBody>
        </p:sp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 flipH="1">
              <a:off x="3888" y="1104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 flipH="1">
              <a:off x="3888" y="129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126" name="Rectangle 78"/>
          <p:cNvSpPr>
            <a:spLocks noChangeArrowheads="1"/>
          </p:cNvSpPr>
          <p:nvPr/>
        </p:nvSpPr>
        <p:spPr bwMode="auto">
          <a:xfrm>
            <a:off x="533400" y="838200"/>
            <a:ext cx="34369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C1ST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후에도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C1ST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 유지됨</a:t>
            </a:r>
          </a:p>
        </p:txBody>
      </p:sp>
      <p:sp>
        <p:nvSpPr>
          <p:cNvPr id="2127" name="Rectangle 79"/>
          <p:cNvSpPr>
            <a:spLocks noChangeArrowheads="1"/>
          </p:cNvSpPr>
          <p:nvPr/>
        </p:nvSpPr>
        <p:spPr bwMode="auto">
          <a:xfrm>
            <a:off x="273050" y="3638550"/>
            <a:ext cx="152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TMC_Check(C1ST_ERROR_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DETECT_T, FINISH_STATE)</a:t>
            </a:r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152400" y="1981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4876800" y="1905000"/>
            <a:ext cx="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Line 82"/>
          <p:cNvSpPr>
            <a:spLocks noChangeShapeType="1"/>
          </p:cNvSpPr>
          <p:nvPr/>
        </p:nvSpPr>
        <p:spPr bwMode="auto">
          <a:xfrm>
            <a:off x="152400" y="2743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1" name="Line 83"/>
          <p:cNvSpPr>
            <a:spLocks noChangeShapeType="1"/>
          </p:cNvSpPr>
          <p:nvPr/>
        </p:nvSpPr>
        <p:spPr bwMode="auto">
          <a:xfrm>
            <a:off x="8382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2" name="Line 84"/>
          <p:cNvSpPr>
            <a:spLocks noChangeShapeType="1"/>
          </p:cNvSpPr>
          <p:nvPr/>
        </p:nvSpPr>
        <p:spPr bwMode="auto">
          <a:xfrm>
            <a:off x="3276600" y="2209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3" name="Rectangle 85"/>
          <p:cNvSpPr>
            <a:spLocks noChangeArrowheads="1"/>
          </p:cNvSpPr>
          <p:nvPr/>
        </p:nvSpPr>
        <p:spPr bwMode="auto">
          <a:xfrm>
            <a:off x="469900" y="1941513"/>
            <a:ext cx="9779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2134" name="Rectangle 86"/>
          <p:cNvSpPr>
            <a:spLocks noChangeArrowheads="1"/>
          </p:cNvSpPr>
          <p:nvPr/>
        </p:nvSpPr>
        <p:spPr bwMode="auto">
          <a:xfrm>
            <a:off x="117475" y="2465388"/>
            <a:ext cx="9779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2135" name="Rectangle 87"/>
          <p:cNvSpPr>
            <a:spLocks noChangeArrowheads="1"/>
          </p:cNvSpPr>
          <p:nvPr/>
        </p:nvSpPr>
        <p:spPr bwMode="auto">
          <a:xfrm>
            <a:off x="1435100" y="1939925"/>
            <a:ext cx="10795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SWD_O[VO_C1ST]</a:t>
            </a:r>
          </a:p>
        </p:txBody>
      </p:sp>
      <p:sp>
        <p:nvSpPr>
          <p:cNvPr id="2136" name="Line 88"/>
          <p:cNvSpPr>
            <a:spLocks noChangeShapeType="1"/>
          </p:cNvSpPr>
          <p:nvPr/>
        </p:nvSpPr>
        <p:spPr bwMode="auto">
          <a:xfrm>
            <a:off x="152400" y="3429000"/>
            <a:ext cx="1135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7" name="Line 89"/>
          <p:cNvSpPr>
            <a:spLocks noChangeShapeType="1"/>
          </p:cNvSpPr>
          <p:nvPr/>
        </p:nvSpPr>
        <p:spPr bwMode="auto">
          <a:xfrm>
            <a:off x="1219200" y="4038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8" name="Rectangle 90"/>
          <p:cNvSpPr>
            <a:spLocks noChangeArrowheads="1"/>
          </p:cNvSpPr>
          <p:nvPr/>
        </p:nvSpPr>
        <p:spPr bwMode="auto">
          <a:xfrm>
            <a:off x="4038600" y="1981200"/>
            <a:ext cx="727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4060825" y="20081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140" name="Rectangle 92"/>
          <p:cNvSpPr>
            <a:spLocks noChangeArrowheads="1"/>
          </p:cNvSpPr>
          <p:nvPr/>
        </p:nvSpPr>
        <p:spPr bwMode="auto">
          <a:xfrm>
            <a:off x="4152900" y="3803650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88</a:t>
            </a:r>
          </a:p>
        </p:txBody>
      </p:sp>
      <p:sp>
        <p:nvSpPr>
          <p:cNvPr id="2141" name="Rectangle 93"/>
          <p:cNvSpPr>
            <a:spLocks noChangeArrowheads="1"/>
          </p:cNvSpPr>
          <p:nvPr/>
        </p:nvSpPr>
        <p:spPr bwMode="auto">
          <a:xfrm>
            <a:off x="711200" y="2257425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0x802A</a:t>
            </a:r>
          </a:p>
        </p:txBody>
      </p:sp>
      <p:sp>
        <p:nvSpPr>
          <p:cNvPr id="2142" name="Rectangle 94"/>
          <p:cNvSpPr>
            <a:spLocks noChangeArrowheads="1"/>
          </p:cNvSpPr>
          <p:nvPr/>
        </p:nvSpPr>
        <p:spPr bwMode="auto">
          <a:xfrm>
            <a:off x="304800" y="281940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0x802A</a:t>
            </a:r>
          </a:p>
        </p:txBody>
      </p:sp>
      <p:sp>
        <p:nvSpPr>
          <p:cNvPr id="2143" name="Rectangle 95"/>
          <p:cNvSpPr>
            <a:spLocks noChangeArrowheads="1"/>
          </p:cNvSpPr>
          <p:nvPr/>
        </p:nvSpPr>
        <p:spPr bwMode="auto">
          <a:xfrm>
            <a:off x="1071563" y="2803525"/>
            <a:ext cx="4746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0x8081</a:t>
            </a:r>
          </a:p>
        </p:txBody>
      </p:sp>
      <p:sp>
        <p:nvSpPr>
          <p:cNvPr id="2144" name="Rectangle 96"/>
          <p:cNvSpPr>
            <a:spLocks noChangeArrowheads="1"/>
          </p:cNvSpPr>
          <p:nvPr/>
        </p:nvSpPr>
        <p:spPr bwMode="auto">
          <a:xfrm>
            <a:off x="1581150" y="22574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0x8081</a:t>
            </a:r>
          </a:p>
        </p:txBody>
      </p:sp>
      <p:sp>
        <p:nvSpPr>
          <p:cNvPr id="2145" name="Rectangle 97"/>
          <p:cNvSpPr>
            <a:spLocks noChangeArrowheads="1"/>
          </p:cNvSpPr>
          <p:nvPr/>
        </p:nvSpPr>
        <p:spPr bwMode="auto">
          <a:xfrm>
            <a:off x="2006600" y="27940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0x9210</a:t>
            </a:r>
          </a:p>
        </p:txBody>
      </p:sp>
      <p:sp>
        <p:nvSpPr>
          <p:cNvPr id="2146" name="Line 98"/>
          <p:cNvSpPr>
            <a:spLocks noChangeShapeType="1"/>
          </p:cNvSpPr>
          <p:nvPr/>
        </p:nvSpPr>
        <p:spPr bwMode="auto">
          <a:xfrm>
            <a:off x="1600200" y="34290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7" name="Group 99"/>
          <p:cNvGrpSpPr>
            <a:grpSpLocks/>
          </p:cNvGrpSpPr>
          <p:nvPr/>
        </p:nvGrpSpPr>
        <p:grpSpPr bwMode="auto">
          <a:xfrm>
            <a:off x="1676400" y="2133600"/>
            <a:ext cx="533400" cy="152400"/>
            <a:chOff x="1128" y="1440"/>
            <a:chExt cx="336" cy="96"/>
          </a:xfrm>
        </p:grpSpPr>
        <p:grpSp>
          <p:nvGrpSpPr>
            <p:cNvPr id="18" name="Group 100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0" name="Line 102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1" name="Line 103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2" name="Line 104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53" name="Line 105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9" name="Group 106"/>
          <p:cNvGrpSpPr>
            <a:grpSpLocks/>
          </p:cNvGrpSpPr>
          <p:nvPr/>
        </p:nvGrpSpPr>
        <p:grpSpPr bwMode="auto">
          <a:xfrm>
            <a:off x="685800" y="2133600"/>
            <a:ext cx="533400" cy="152400"/>
            <a:chOff x="1752" y="1440"/>
            <a:chExt cx="336" cy="96"/>
          </a:xfrm>
        </p:grpSpPr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7" name="Line 109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8" name="Line 110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59" name="Line 111"/>
          <p:cNvSpPr>
            <a:spLocks noChangeShapeType="1"/>
          </p:cNvSpPr>
          <p:nvPr/>
        </p:nvSpPr>
        <p:spPr bwMode="auto">
          <a:xfrm>
            <a:off x="152400" y="22098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0" name="Line 112"/>
          <p:cNvSpPr>
            <a:spLocks noChangeShapeType="1"/>
          </p:cNvSpPr>
          <p:nvPr/>
        </p:nvSpPr>
        <p:spPr bwMode="auto">
          <a:xfrm>
            <a:off x="990600" y="22098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0" name="Group 113"/>
          <p:cNvGrpSpPr>
            <a:grpSpLocks/>
          </p:cNvGrpSpPr>
          <p:nvPr/>
        </p:nvGrpSpPr>
        <p:grpSpPr bwMode="auto">
          <a:xfrm>
            <a:off x="1295400" y="2667000"/>
            <a:ext cx="533400" cy="152400"/>
            <a:chOff x="1752" y="1440"/>
            <a:chExt cx="336" cy="96"/>
          </a:xfrm>
        </p:grpSpPr>
        <p:sp>
          <p:nvSpPr>
            <p:cNvPr id="2162" name="Line 114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3" name="Line 115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4" name="Line 116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5" name="Line 117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1" name="Group 118"/>
          <p:cNvGrpSpPr>
            <a:grpSpLocks/>
          </p:cNvGrpSpPr>
          <p:nvPr/>
        </p:nvGrpSpPr>
        <p:grpSpPr bwMode="auto">
          <a:xfrm>
            <a:off x="2286000" y="2667000"/>
            <a:ext cx="533400" cy="152400"/>
            <a:chOff x="1128" y="1440"/>
            <a:chExt cx="336" cy="96"/>
          </a:xfrm>
        </p:grpSpPr>
        <p:grpSp>
          <p:nvGrpSpPr>
            <p:cNvPr id="22" name="Group 119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2" name="Line 124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3" name="Group 125"/>
          <p:cNvGrpSpPr>
            <a:grpSpLocks/>
          </p:cNvGrpSpPr>
          <p:nvPr/>
        </p:nvGrpSpPr>
        <p:grpSpPr bwMode="auto">
          <a:xfrm>
            <a:off x="457200" y="2667000"/>
            <a:ext cx="533400" cy="152400"/>
            <a:chOff x="1128" y="1440"/>
            <a:chExt cx="336" cy="96"/>
          </a:xfrm>
        </p:grpSpPr>
        <p:grpSp>
          <p:nvGrpSpPr>
            <p:cNvPr id="24" name="Group 126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9" name="Line 131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5" name="Group 132"/>
          <p:cNvGrpSpPr>
            <a:grpSpLocks/>
          </p:cNvGrpSpPr>
          <p:nvPr/>
        </p:nvGrpSpPr>
        <p:grpSpPr bwMode="auto">
          <a:xfrm>
            <a:off x="3048000" y="2667000"/>
            <a:ext cx="533400" cy="152400"/>
            <a:chOff x="1752" y="1440"/>
            <a:chExt cx="336" cy="96"/>
          </a:xfrm>
        </p:grpSpPr>
        <p:sp>
          <p:nvSpPr>
            <p:cNvPr id="2181" name="Line 133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2" name="Line 134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3" name="Line 135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4" name="Line 136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85" name="Line 137"/>
          <p:cNvSpPr>
            <a:spLocks noChangeShapeType="1"/>
          </p:cNvSpPr>
          <p:nvPr/>
        </p:nvSpPr>
        <p:spPr bwMode="auto">
          <a:xfrm>
            <a:off x="3733800" y="2209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6" name="Line 138"/>
          <p:cNvSpPr>
            <a:spLocks noChangeShapeType="1"/>
          </p:cNvSpPr>
          <p:nvPr/>
        </p:nvSpPr>
        <p:spPr bwMode="auto">
          <a:xfrm>
            <a:off x="17526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7" name="Line 139"/>
          <p:cNvSpPr>
            <a:spLocks noChangeShapeType="1"/>
          </p:cNvSpPr>
          <p:nvPr/>
        </p:nvSpPr>
        <p:spPr bwMode="auto">
          <a:xfrm>
            <a:off x="26670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8" name="Line 140"/>
          <p:cNvSpPr>
            <a:spLocks noChangeShapeType="1"/>
          </p:cNvSpPr>
          <p:nvPr/>
        </p:nvSpPr>
        <p:spPr bwMode="auto">
          <a:xfrm>
            <a:off x="3581400" y="27432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9" name="Rectangle 141"/>
          <p:cNvSpPr>
            <a:spLocks noChangeArrowheads="1"/>
          </p:cNvSpPr>
          <p:nvPr/>
        </p:nvSpPr>
        <p:spPr bwMode="auto">
          <a:xfrm>
            <a:off x="1047750" y="2463800"/>
            <a:ext cx="10795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SWD_O[VO_C1ST]</a:t>
            </a:r>
          </a:p>
        </p:txBody>
      </p:sp>
      <p:sp>
        <p:nvSpPr>
          <p:cNvPr id="2190" name="Rectangle 142"/>
          <p:cNvSpPr>
            <a:spLocks noChangeArrowheads="1"/>
          </p:cNvSpPr>
          <p:nvPr/>
        </p:nvSpPr>
        <p:spPr bwMode="auto">
          <a:xfrm>
            <a:off x="2057400" y="2470150"/>
            <a:ext cx="1273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Coil[SV_INV_SW_FAIL]</a:t>
            </a:r>
          </a:p>
        </p:txBody>
      </p:sp>
      <p:sp>
        <p:nvSpPr>
          <p:cNvPr id="2191" name="Rectangle 143"/>
          <p:cNvSpPr>
            <a:spLocks noChangeArrowheads="1"/>
          </p:cNvSpPr>
          <p:nvPr/>
        </p:nvSpPr>
        <p:spPr bwMode="auto">
          <a:xfrm>
            <a:off x="2667000" y="2819400"/>
            <a:ext cx="12652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Coil[SW_SS_DSP_WD]</a:t>
            </a:r>
          </a:p>
        </p:txBody>
      </p:sp>
      <p:grpSp>
        <p:nvGrpSpPr>
          <p:cNvPr id="26" name="Group 144"/>
          <p:cNvGrpSpPr>
            <a:grpSpLocks/>
          </p:cNvGrpSpPr>
          <p:nvPr/>
        </p:nvGrpSpPr>
        <p:grpSpPr bwMode="auto">
          <a:xfrm>
            <a:off x="1066800" y="3352800"/>
            <a:ext cx="533400" cy="152400"/>
            <a:chOff x="1752" y="1440"/>
            <a:chExt cx="336" cy="96"/>
          </a:xfrm>
        </p:grpSpPr>
        <p:sp>
          <p:nvSpPr>
            <p:cNvPr id="2193" name="Line 145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4" name="Line 146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5" name="Line 147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6" name="Line 148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97" name="Rectangle 149"/>
          <p:cNvSpPr>
            <a:spLocks noChangeArrowheads="1"/>
          </p:cNvSpPr>
          <p:nvPr/>
        </p:nvSpPr>
        <p:spPr bwMode="auto">
          <a:xfrm>
            <a:off x="3657600" y="3200400"/>
            <a:ext cx="1108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8" name="Rectangle 150"/>
          <p:cNvSpPr>
            <a:spLocks noChangeArrowheads="1"/>
          </p:cNvSpPr>
          <p:nvPr/>
        </p:nvSpPr>
        <p:spPr bwMode="auto">
          <a:xfrm>
            <a:off x="3619500" y="3276600"/>
            <a:ext cx="11668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TMC_Start(C1ST_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199" name="Line 151"/>
          <p:cNvSpPr>
            <a:spLocks noChangeShapeType="1"/>
          </p:cNvSpPr>
          <p:nvPr/>
        </p:nvSpPr>
        <p:spPr bwMode="auto">
          <a:xfrm>
            <a:off x="4762500" y="3429000"/>
            <a:ext cx="114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0" name="Rectangle 152"/>
          <p:cNvSpPr>
            <a:spLocks noChangeArrowheads="1"/>
          </p:cNvSpPr>
          <p:nvPr/>
        </p:nvSpPr>
        <p:spPr bwMode="auto">
          <a:xfrm>
            <a:off x="885825" y="31384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27" name="Group 153"/>
          <p:cNvGrpSpPr>
            <a:grpSpLocks/>
          </p:cNvGrpSpPr>
          <p:nvPr/>
        </p:nvGrpSpPr>
        <p:grpSpPr bwMode="auto">
          <a:xfrm>
            <a:off x="685800" y="3962400"/>
            <a:ext cx="533400" cy="152400"/>
            <a:chOff x="1752" y="1440"/>
            <a:chExt cx="336" cy="96"/>
          </a:xfrm>
        </p:grpSpPr>
        <p:sp>
          <p:nvSpPr>
            <p:cNvPr id="2202" name="Line 154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3" name="Line 155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4" name="Line 156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5" name="Line 157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06" name="Line 158"/>
          <p:cNvSpPr>
            <a:spLocks noChangeShapeType="1"/>
          </p:cNvSpPr>
          <p:nvPr/>
        </p:nvSpPr>
        <p:spPr bwMode="auto">
          <a:xfrm>
            <a:off x="152400" y="4038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7" name="Line 159"/>
          <p:cNvSpPr>
            <a:spLocks noChangeShapeType="1"/>
          </p:cNvSpPr>
          <p:nvPr/>
        </p:nvSpPr>
        <p:spPr bwMode="auto">
          <a:xfrm>
            <a:off x="2438400" y="40386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8" name="Rectangle 160"/>
          <p:cNvSpPr>
            <a:spLocks noChangeArrowheads="1"/>
          </p:cNvSpPr>
          <p:nvPr/>
        </p:nvSpPr>
        <p:spPr bwMode="auto">
          <a:xfrm>
            <a:off x="1828800" y="3733800"/>
            <a:ext cx="9779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2209" name="Rectangle 161"/>
          <p:cNvSpPr>
            <a:spLocks noChangeArrowheads="1"/>
          </p:cNvSpPr>
          <p:nvPr/>
        </p:nvSpPr>
        <p:spPr bwMode="auto">
          <a:xfrm>
            <a:off x="4083050" y="3810000"/>
            <a:ext cx="68262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10" name="Rectangle 162"/>
          <p:cNvSpPr>
            <a:spLocks noChangeArrowheads="1"/>
          </p:cNvSpPr>
          <p:nvPr/>
        </p:nvSpPr>
        <p:spPr bwMode="auto">
          <a:xfrm>
            <a:off x="1847850" y="409575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0x802A</a:t>
            </a:r>
          </a:p>
        </p:txBody>
      </p:sp>
      <p:sp>
        <p:nvSpPr>
          <p:cNvPr id="2211" name="Rectangle 163"/>
          <p:cNvSpPr>
            <a:spLocks noChangeArrowheads="1"/>
          </p:cNvSpPr>
          <p:nvPr/>
        </p:nvSpPr>
        <p:spPr bwMode="auto">
          <a:xfrm>
            <a:off x="3244850" y="25082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0x923D</a:t>
            </a:r>
          </a:p>
        </p:txBody>
      </p:sp>
      <p:grpSp>
        <p:nvGrpSpPr>
          <p:cNvPr id="28" name="Group 164"/>
          <p:cNvGrpSpPr>
            <a:grpSpLocks/>
          </p:cNvGrpSpPr>
          <p:nvPr/>
        </p:nvGrpSpPr>
        <p:grpSpPr bwMode="auto">
          <a:xfrm>
            <a:off x="1981200" y="3962400"/>
            <a:ext cx="533400" cy="152400"/>
            <a:chOff x="1752" y="1440"/>
            <a:chExt cx="336" cy="96"/>
          </a:xfrm>
        </p:grpSpPr>
        <p:sp>
          <p:nvSpPr>
            <p:cNvPr id="2213" name="Line 165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4" name="Line 166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5" name="Line 167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6" name="Line 168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9" name="Group 169"/>
          <p:cNvGrpSpPr>
            <a:grpSpLocks/>
          </p:cNvGrpSpPr>
          <p:nvPr/>
        </p:nvGrpSpPr>
        <p:grpSpPr bwMode="auto">
          <a:xfrm>
            <a:off x="2743200" y="2133600"/>
            <a:ext cx="533400" cy="152400"/>
            <a:chOff x="1128" y="1440"/>
            <a:chExt cx="336" cy="96"/>
          </a:xfrm>
        </p:grpSpPr>
        <p:grpSp>
          <p:nvGrpSpPr>
            <p:cNvPr id="30" name="Group 170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0" name="Line 172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1" name="Line 173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2" name="Line 174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23" name="Line 175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24" name="Line 176"/>
          <p:cNvSpPr>
            <a:spLocks noChangeShapeType="1"/>
          </p:cNvSpPr>
          <p:nvPr/>
        </p:nvSpPr>
        <p:spPr bwMode="auto">
          <a:xfrm>
            <a:off x="2209800" y="22098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5" name="Rectangle 177"/>
          <p:cNvSpPr>
            <a:spLocks noChangeArrowheads="1"/>
          </p:cNvSpPr>
          <p:nvPr/>
        </p:nvSpPr>
        <p:spPr bwMode="auto">
          <a:xfrm>
            <a:off x="2667000" y="1828800"/>
            <a:ext cx="1041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Coil[SW_SS_48V_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DOWN_HOLD]</a:t>
            </a:r>
          </a:p>
        </p:txBody>
      </p:sp>
      <p:sp>
        <p:nvSpPr>
          <p:cNvPr id="2226" name="Rectangle 178"/>
          <p:cNvSpPr>
            <a:spLocks noChangeArrowheads="1"/>
          </p:cNvSpPr>
          <p:nvPr/>
        </p:nvSpPr>
        <p:spPr bwMode="auto">
          <a:xfrm>
            <a:off x="2667000" y="225742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0x923C</a:t>
            </a:r>
          </a:p>
        </p:txBody>
      </p:sp>
      <p:sp>
        <p:nvSpPr>
          <p:cNvPr id="2227" name="Rectangle 179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89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ER_C1ST_OFF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52400" y="4724400"/>
            <a:ext cx="47085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C1ST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출력 되고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C1ST Contactor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C1ST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 입력이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일 때 검출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C1ST Contactor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되었으나 접점이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C1ST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 입력이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되었을 때 검출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2590800"/>
            <a:ext cx="3797300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 회로에서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AA-07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C1ST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   0 V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C1ST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DC 48 V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DOA-100(ANN)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입력상태 표시행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9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C1ST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   1</a:t>
            </a:r>
          </a:p>
          <a:p>
            <a:pPr marL="190500" lvl="1" latinLnBrk="0">
              <a:buFontTx/>
              <a:buChar char="•"/>
            </a:pPr>
            <a:r>
              <a:rPr lang="en-US" altLang="ko-KR" sz="1000">
                <a:latin typeface="Arial" charset="0"/>
                <a:ea typeface="굴림체" pitchFamily="49" charset="-127"/>
              </a:rPr>
              <a:t> C1ST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구동부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   0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C1ST Contactor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접점을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로프 늘어남 보상 운전 적용 현장인지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로프 늘어남 보상 운전 적용 현장이 아닌 곳에서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SPEC(ADDR:0x0016)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SET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있다면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RESET(0x00)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시킨다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로프 늘어만 보상 운전 적용 현장이라면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R1ML Relay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정상적으로 장착 및 동작되는지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solidFill>
                <a:srgbClr val="FF3300"/>
              </a:solidFill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5257800" y="1219200"/>
            <a:ext cx="3438525" cy="1128713"/>
            <a:chOff x="3350" y="825"/>
            <a:chExt cx="2166" cy="711"/>
          </a:xfrm>
        </p:grpSpPr>
        <p:sp>
          <p:nvSpPr>
            <p:cNvPr id="2069" name="Line 21"/>
            <p:cNvSpPr>
              <a:spLocks noChangeShapeType="1"/>
            </p:cNvSpPr>
            <p:nvPr/>
          </p:nvSpPr>
          <p:spPr bwMode="auto">
            <a:xfrm>
              <a:off x="4128" y="1152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3792" y="1296"/>
              <a:ext cx="336" cy="96"/>
              <a:chOff x="3792" y="1296"/>
              <a:chExt cx="336" cy="96"/>
            </a:xfrm>
          </p:grpSpPr>
          <p:sp>
            <p:nvSpPr>
              <p:cNvPr id="2071" name="Line 23"/>
              <p:cNvSpPr>
                <a:spLocks noChangeShapeType="1"/>
              </p:cNvSpPr>
              <p:nvPr/>
            </p:nvSpPr>
            <p:spPr bwMode="auto">
              <a:xfrm>
                <a:off x="3936" y="129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2" name="Line 24"/>
              <p:cNvSpPr>
                <a:spLocks noChangeShapeType="1"/>
              </p:cNvSpPr>
              <p:nvPr/>
            </p:nvSpPr>
            <p:spPr bwMode="auto">
              <a:xfrm>
                <a:off x="3984" y="129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3" name="Line 25"/>
              <p:cNvSpPr>
                <a:spLocks noChangeShapeType="1"/>
              </p:cNvSpPr>
              <p:nvPr/>
            </p:nvSpPr>
            <p:spPr bwMode="auto">
              <a:xfrm>
                <a:off x="3792" y="134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4" name="Line 26"/>
              <p:cNvSpPr>
                <a:spLocks noChangeShapeType="1"/>
              </p:cNvSpPr>
              <p:nvPr/>
            </p:nvSpPr>
            <p:spPr bwMode="auto">
              <a:xfrm>
                <a:off x="3984" y="134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075" name="Rectangle 27"/>
            <p:cNvSpPr>
              <a:spLocks noChangeArrowheads="1"/>
            </p:cNvSpPr>
            <p:nvPr/>
          </p:nvSpPr>
          <p:spPr bwMode="auto">
            <a:xfrm>
              <a:off x="5044" y="964"/>
              <a:ext cx="472" cy="3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3792" y="1104"/>
              <a:ext cx="336" cy="96"/>
              <a:chOff x="3792" y="1104"/>
              <a:chExt cx="336" cy="96"/>
            </a:xfrm>
          </p:grpSpPr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3936" y="110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3984" y="110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3792" y="115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3984" y="115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17" tIns="46008" rIns="92017" bIns="46008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081" name="Rectangle 33"/>
            <p:cNvSpPr>
              <a:spLocks noChangeArrowheads="1"/>
            </p:cNvSpPr>
            <p:nvPr/>
          </p:nvSpPr>
          <p:spPr bwMode="auto">
            <a:xfrm>
              <a:off x="3840" y="960"/>
              <a:ext cx="280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eaLnBrk="0" latinLnBrk="0" hangingPunct="0"/>
              <a:r>
                <a:rPr lang="en-US" altLang="ko-KR" sz="800">
                  <a:latin typeface="Arial" charset="0"/>
                  <a:ea typeface="굴림체" pitchFamily="49" charset="-127"/>
                </a:rPr>
                <a:t>C1ST</a:t>
              </a:r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3360" y="115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5" name="Group 35"/>
            <p:cNvGrpSpPr>
              <a:grpSpLocks/>
            </p:cNvGrpSpPr>
            <p:nvPr/>
          </p:nvGrpSpPr>
          <p:grpSpPr bwMode="auto">
            <a:xfrm>
              <a:off x="5136" y="1104"/>
              <a:ext cx="96" cy="96"/>
              <a:chOff x="5136" y="1104"/>
              <a:chExt cx="96" cy="96"/>
            </a:xfrm>
          </p:grpSpPr>
          <p:grpSp>
            <p:nvGrpSpPr>
              <p:cNvPr id="6" name="Group 36"/>
              <p:cNvGrpSpPr>
                <a:grpSpLocks/>
              </p:cNvGrpSpPr>
              <p:nvPr/>
            </p:nvGrpSpPr>
            <p:grpSpPr bwMode="auto">
              <a:xfrm>
                <a:off x="5136" y="1152"/>
                <a:ext cx="96" cy="48"/>
                <a:chOff x="5136" y="1152"/>
                <a:chExt cx="96" cy="48"/>
              </a:xfrm>
            </p:grpSpPr>
            <p:sp>
              <p:nvSpPr>
                <p:cNvPr id="2085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5160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6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5136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7" name="Group 39"/>
              <p:cNvGrpSpPr>
                <a:grpSpLocks/>
              </p:cNvGrpSpPr>
              <p:nvPr/>
            </p:nvGrpSpPr>
            <p:grpSpPr bwMode="auto">
              <a:xfrm>
                <a:off x="5136" y="1104"/>
                <a:ext cx="96" cy="48"/>
                <a:chOff x="5136" y="1104"/>
                <a:chExt cx="96" cy="48"/>
              </a:xfrm>
            </p:grpSpPr>
            <p:sp>
              <p:nvSpPr>
                <p:cNvPr id="2088" name="Line 40"/>
                <p:cNvSpPr>
                  <a:spLocks noChangeShapeType="1"/>
                </p:cNvSpPr>
                <p:nvPr/>
              </p:nvSpPr>
              <p:spPr bwMode="auto">
                <a:xfrm>
                  <a:off x="5160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9" name="Line 41"/>
                <p:cNvSpPr>
                  <a:spLocks noChangeShapeType="1"/>
                </p:cNvSpPr>
                <p:nvPr/>
              </p:nvSpPr>
              <p:spPr bwMode="auto">
                <a:xfrm>
                  <a:off x="5136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>
              <a:off x="3360" y="864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3792" y="115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>
              <a:off x="4128" y="115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8" name="Group 45"/>
            <p:cNvGrpSpPr>
              <a:grpSpLocks/>
            </p:cNvGrpSpPr>
            <p:nvPr/>
          </p:nvGrpSpPr>
          <p:grpSpPr bwMode="auto">
            <a:xfrm>
              <a:off x="3504" y="1104"/>
              <a:ext cx="96" cy="96"/>
              <a:chOff x="3504" y="1104"/>
              <a:chExt cx="96" cy="96"/>
            </a:xfrm>
          </p:grpSpPr>
          <p:grpSp>
            <p:nvGrpSpPr>
              <p:cNvPr id="9" name="Group 46"/>
              <p:cNvGrpSpPr>
                <a:grpSpLocks/>
              </p:cNvGrpSpPr>
              <p:nvPr/>
            </p:nvGrpSpPr>
            <p:grpSpPr bwMode="auto">
              <a:xfrm>
                <a:off x="3504" y="1152"/>
                <a:ext cx="96" cy="48"/>
                <a:chOff x="3504" y="1152"/>
                <a:chExt cx="96" cy="48"/>
              </a:xfrm>
            </p:grpSpPr>
            <p:sp>
              <p:nvSpPr>
                <p:cNvPr id="2095" name="Line 47"/>
                <p:cNvSpPr>
                  <a:spLocks noChangeShapeType="1"/>
                </p:cNvSpPr>
                <p:nvPr/>
              </p:nvSpPr>
              <p:spPr bwMode="auto">
                <a:xfrm flipH="1" flipV="1">
                  <a:off x="350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6" name="Line 48"/>
                <p:cNvSpPr>
                  <a:spLocks noChangeShapeType="1"/>
                </p:cNvSpPr>
                <p:nvPr/>
              </p:nvSpPr>
              <p:spPr bwMode="auto">
                <a:xfrm flipH="1" flipV="1">
                  <a:off x="3528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0" name="Group 49"/>
              <p:cNvGrpSpPr>
                <a:grpSpLocks/>
              </p:cNvGrpSpPr>
              <p:nvPr/>
            </p:nvGrpSpPr>
            <p:grpSpPr bwMode="auto">
              <a:xfrm>
                <a:off x="3504" y="1104"/>
                <a:ext cx="96" cy="48"/>
                <a:chOff x="3504" y="1104"/>
                <a:chExt cx="96" cy="48"/>
              </a:xfrm>
            </p:grpSpPr>
            <p:sp>
              <p:nvSpPr>
                <p:cNvPr id="2098" name="Line 50"/>
                <p:cNvSpPr>
                  <a:spLocks noChangeShapeType="1"/>
                </p:cNvSpPr>
                <p:nvPr/>
              </p:nvSpPr>
              <p:spPr bwMode="auto">
                <a:xfrm flipH="1">
                  <a:off x="350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9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3528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100" name="Rectangle 52"/>
            <p:cNvSpPr>
              <a:spLocks noChangeArrowheads="1"/>
            </p:cNvSpPr>
            <p:nvPr/>
          </p:nvSpPr>
          <p:spPr bwMode="auto">
            <a:xfrm>
              <a:off x="3350" y="969"/>
              <a:ext cx="426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MC1ST-01</a:t>
              </a:r>
            </a:p>
          </p:txBody>
        </p:sp>
        <p:sp>
          <p:nvSpPr>
            <p:cNvPr id="2101" name="Rectangle 53"/>
            <p:cNvSpPr>
              <a:spLocks noChangeArrowheads="1"/>
            </p:cNvSpPr>
            <p:nvPr/>
          </p:nvSpPr>
          <p:spPr bwMode="auto">
            <a:xfrm>
              <a:off x="3782" y="1161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21</a:t>
              </a:r>
            </a:p>
          </p:txBody>
        </p: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3974" y="1161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22</a:t>
              </a:r>
            </a:p>
          </p:txBody>
        </p: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3782" y="1353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31</a:t>
              </a:r>
            </a:p>
          </p:txBody>
        </p:sp>
        <p:sp>
          <p:nvSpPr>
            <p:cNvPr id="2104" name="Rectangle 56"/>
            <p:cNvSpPr>
              <a:spLocks noChangeArrowheads="1"/>
            </p:cNvSpPr>
            <p:nvPr/>
          </p:nvSpPr>
          <p:spPr bwMode="auto">
            <a:xfrm>
              <a:off x="3974" y="1353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32</a:t>
              </a:r>
            </a:p>
          </p:txBody>
        </p:sp>
        <p:grpSp>
          <p:nvGrpSpPr>
            <p:cNvPr id="11" name="Group 57"/>
            <p:cNvGrpSpPr>
              <a:grpSpLocks/>
            </p:cNvGrpSpPr>
            <p:nvPr/>
          </p:nvGrpSpPr>
          <p:grpSpPr bwMode="auto">
            <a:xfrm>
              <a:off x="4320" y="1104"/>
              <a:ext cx="96" cy="96"/>
              <a:chOff x="4320" y="1104"/>
              <a:chExt cx="96" cy="96"/>
            </a:xfrm>
          </p:grpSpPr>
          <p:grpSp>
            <p:nvGrpSpPr>
              <p:cNvPr id="12" name="Group 58"/>
              <p:cNvGrpSpPr>
                <a:grpSpLocks/>
              </p:cNvGrpSpPr>
              <p:nvPr/>
            </p:nvGrpSpPr>
            <p:grpSpPr bwMode="auto">
              <a:xfrm>
                <a:off x="4320" y="1152"/>
                <a:ext cx="96" cy="48"/>
                <a:chOff x="4320" y="1152"/>
                <a:chExt cx="96" cy="48"/>
              </a:xfrm>
            </p:grpSpPr>
            <p:sp>
              <p:nvSpPr>
                <p:cNvPr id="2107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434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08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4320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3" name="Group 61"/>
              <p:cNvGrpSpPr>
                <a:grpSpLocks/>
              </p:cNvGrpSpPr>
              <p:nvPr/>
            </p:nvGrpSpPr>
            <p:grpSpPr bwMode="auto">
              <a:xfrm>
                <a:off x="4320" y="1104"/>
                <a:ext cx="96" cy="48"/>
                <a:chOff x="4320" y="1104"/>
                <a:chExt cx="96" cy="48"/>
              </a:xfrm>
            </p:grpSpPr>
            <p:sp>
              <p:nvSpPr>
                <p:cNvPr id="2110" name="Line 62"/>
                <p:cNvSpPr>
                  <a:spLocks noChangeShapeType="1"/>
                </p:cNvSpPr>
                <p:nvPr/>
              </p:nvSpPr>
              <p:spPr bwMode="auto">
                <a:xfrm>
                  <a:off x="434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1" name="Line 63"/>
                <p:cNvSpPr>
                  <a:spLocks noChangeShapeType="1"/>
                </p:cNvSpPr>
                <p:nvPr/>
              </p:nvSpPr>
              <p:spPr bwMode="auto">
                <a:xfrm>
                  <a:off x="4320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112" name="Rectangle 64"/>
            <p:cNvSpPr>
              <a:spLocks noChangeArrowheads="1"/>
            </p:cNvSpPr>
            <p:nvPr/>
          </p:nvSpPr>
          <p:spPr bwMode="auto">
            <a:xfrm>
              <a:off x="4166" y="969"/>
              <a:ext cx="426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MC1ST-02</a:t>
              </a:r>
            </a:p>
          </p:txBody>
        </p:sp>
        <p:grpSp>
          <p:nvGrpSpPr>
            <p:cNvPr id="14" name="Group 65"/>
            <p:cNvGrpSpPr>
              <a:grpSpLocks/>
            </p:cNvGrpSpPr>
            <p:nvPr/>
          </p:nvGrpSpPr>
          <p:grpSpPr bwMode="auto">
            <a:xfrm>
              <a:off x="4704" y="1104"/>
              <a:ext cx="96" cy="96"/>
              <a:chOff x="4704" y="1104"/>
              <a:chExt cx="96" cy="96"/>
            </a:xfrm>
          </p:grpSpPr>
          <p:grpSp>
            <p:nvGrpSpPr>
              <p:cNvPr id="15" name="Group 66"/>
              <p:cNvGrpSpPr>
                <a:grpSpLocks/>
              </p:cNvGrpSpPr>
              <p:nvPr/>
            </p:nvGrpSpPr>
            <p:grpSpPr bwMode="auto">
              <a:xfrm>
                <a:off x="4704" y="1152"/>
                <a:ext cx="96" cy="48"/>
                <a:chOff x="4704" y="1152"/>
                <a:chExt cx="96" cy="48"/>
              </a:xfrm>
            </p:grpSpPr>
            <p:sp>
              <p:nvSpPr>
                <p:cNvPr id="2115" name="Line 67"/>
                <p:cNvSpPr>
                  <a:spLocks noChangeShapeType="1"/>
                </p:cNvSpPr>
                <p:nvPr/>
              </p:nvSpPr>
              <p:spPr bwMode="auto">
                <a:xfrm flipH="1" flipV="1">
                  <a:off x="4704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6" name="Line 68"/>
                <p:cNvSpPr>
                  <a:spLocks noChangeShapeType="1"/>
                </p:cNvSpPr>
                <p:nvPr/>
              </p:nvSpPr>
              <p:spPr bwMode="auto">
                <a:xfrm flipH="1" flipV="1">
                  <a:off x="4728" y="1152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6" name="Group 69"/>
              <p:cNvGrpSpPr>
                <a:grpSpLocks/>
              </p:cNvGrpSpPr>
              <p:nvPr/>
            </p:nvGrpSpPr>
            <p:grpSpPr bwMode="auto">
              <a:xfrm>
                <a:off x="4704" y="1104"/>
                <a:ext cx="96" cy="48"/>
                <a:chOff x="4704" y="1104"/>
                <a:chExt cx="96" cy="48"/>
              </a:xfrm>
            </p:grpSpPr>
            <p:sp>
              <p:nvSpPr>
                <p:cNvPr id="2118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4704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19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4728" y="1104"/>
                  <a:ext cx="72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2017" tIns="46008" rIns="92017" bIns="46008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2120" name="Rectangle 72"/>
            <p:cNvSpPr>
              <a:spLocks noChangeArrowheads="1"/>
            </p:cNvSpPr>
            <p:nvPr/>
          </p:nvSpPr>
          <p:spPr bwMode="auto">
            <a:xfrm>
              <a:off x="4608" y="960"/>
              <a:ext cx="295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eaLnBrk="0" latinLnBrk="0" hangingPunct="0"/>
              <a:r>
                <a:rPr lang="en-US" altLang="ko-KR" sz="800">
                  <a:latin typeface="Arial" charset="0"/>
                  <a:ea typeface="굴림체" pitchFamily="49" charset="-127"/>
                </a:rPr>
                <a:t>AA-07</a:t>
              </a:r>
            </a:p>
          </p:txBody>
        </p:sp>
        <p:sp>
          <p:nvSpPr>
            <p:cNvPr id="2121" name="Rectangle 73"/>
            <p:cNvSpPr>
              <a:spLocks noChangeArrowheads="1"/>
            </p:cNvSpPr>
            <p:nvPr/>
          </p:nvSpPr>
          <p:spPr bwMode="auto">
            <a:xfrm>
              <a:off x="5030" y="969"/>
              <a:ext cx="295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AA-07</a:t>
              </a:r>
            </a:p>
          </p:txBody>
        </p:sp>
        <p:sp>
          <p:nvSpPr>
            <p:cNvPr id="2122" name="Rectangle 74"/>
            <p:cNvSpPr>
              <a:spLocks noChangeArrowheads="1"/>
            </p:cNvSpPr>
            <p:nvPr/>
          </p:nvSpPr>
          <p:spPr bwMode="auto">
            <a:xfrm>
              <a:off x="5078" y="1353"/>
              <a:ext cx="379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DOC-1xx</a:t>
              </a:r>
            </a:p>
          </p:txBody>
        </p:sp>
        <p:sp>
          <p:nvSpPr>
            <p:cNvPr id="2123" name="Rectangle 75"/>
            <p:cNvSpPr>
              <a:spLocks noChangeArrowheads="1"/>
            </p:cNvSpPr>
            <p:nvPr/>
          </p:nvSpPr>
          <p:spPr bwMode="auto">
            <a:xfrm>
              <a:off x="3350" y="825"/>
              <a:ext cx="231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P48</a:t>
              </a:r>
            </a:p>
          </p:txBody>
        </p:sp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 flipH="1">
              <a:off x="3888" y="1104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 flipH="1">
              <a:off x="3888" y="129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17" tIns="46008" rIns="92017" bIns="46008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126" name="Rectangle 78"/>
          <p:cNvSpPr>
            <a:spLocks noChangeArrowheads="1"/>
          </p:cNvSpPr>
          <p:nvPr/>
        </p:nvSpPr>
        <p:spPr bwMode="auto">
          <a:xfrm>
            <a:off x="533400" y="838200"/>
            <a:ext cx="34369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C1ST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후에도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C1ST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 유지됨</a:t>
            </a:r>
          </a:p>
        </p:txBody>
      </p:sp>
      <p:sp>
        <p:nvSpPr>
          <p:cNvPr id="2127" name="Rectangle 79"/>
          <p:cNvSpPr>
            <a:spLocks noChangeArrowheads="1"/>
          </p:cNvSpPr>
          <p:nvPr/>
        </p:nvSpPr>
        <p:spPr bwMode="auto">
          <a:xfrm>
            <a:off x="273050" y="3638550"/>
            <a:ext cx="152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TMC_Check(C1ST_ERROR_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DETECT_T, FINISH_STATE)</a:t>
            </a:r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152400" y="1981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4876800" y="1905000"/>
            <a:ext cx="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Line 82"/>
          <p:cNvSpPr>
            <a:spLocks noChangeShapeType="1"/>
          </p:cNvSpPr>
          <p:nvPr/>
        </p:nvSpPr>
        <p:spPr bwMode="auto">
          <a:xfrm>
            <a:off x="152400" y="2743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1" name="Line 83"/>
          <p:cNvSpPr>
            <a:spLocks noChangeShapeType="1"/>
          </p:cNvSpPr>
          <p:nvPr/>
        </p:nvSpPr>
        <p:spPr bwMode="auto">
          <a:xfrm>
            <a:off x="8382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2" name="Line 84"/>
          <p:cNvSpPr>
            <a:spLocks noChangeShapeType="1"/>
          </p:cNvSpPr>
          <p:nvPr/>
        </p:nvSpPr>
        <p:spPr bwMode="auto">
          <a:xfrm>
            <a:off x="3276600" y="2209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3" name="Rectangle 85"/>
          <p:cNvSpPr>
            <a:spLocks noChangeArrowheads="1"/>
          </p:cNvSpPr>
          <p:nvPr/>
        </p:nvSpPr>
        <p:spPr bwMode="auto">
          <a:xfrm>
            <a:off x="469900" y="1941513"/>
            <a:ext cx="9779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2134" name="Rectangle 86"/>
          <p:cNvSpPr>
            <a:spLocks noChangeArrowheads="1"/>
          </p:cNvSpPr>
          <p:nvPr/>
        </p:nvSpPr>
        <p:spPr bwMode="auto">
          <a:xfrm>
            <a:off x="117475" y="2465388"/>
            <a:ext cx="9779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2135" name="Rectangle 87"/>
          <p:cNvSpPr>
            <a:spLocks noChangeArrowheads="1"/>
          </p:cNvSpPr>
          <p:nvPr/>
        </p:nvSpPr>
        <p:spPr bwMode="auto">
          <a:xfrm>
            <a:off x="1435100" y="1939925"/>
            <a:ext cx="10795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SWD_O[VO_C1ST]</a:t>
            </a:r>
          </a:p>
        </p:txBody>
      </p:sp>
      <p:sp>
        <p:nvSpPr>
          <p:cNvPr id="2136" name="Line 88"/>
          <p:cNvSpPr>
            <a:spLocks noChangeShapeType="1"/>
          </p:cNvSpPr>
          <p:nvPr/>
        </p:nvSpPr>
        <p:spPr bwMode="auto">
          <a:xfrm>
            <a:off x="152400" y="3429000"/>
            <a:ext cx="1135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7" name="Line 89"/>
          <p:cNvSpPr>
            <a:spLocks noChangeShapeType="1"/>
          </p:cNvSpPr>
          <p:nvPr/>
        </p:nvSpPr>
        <p:spPr bwMode="auto">
          <a:xfrm>
            <a:off x="1219200" y="4038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8" name="Rectangle 90"/>
          <p:cNvSpPr>
            <a:spLocks noChangeArrowheads="1"/>
          </p:cNvSpPr>
          <p:nvPr/>
        </p:nvSpPr>
        <p:spPr bwMode="auto">
          <a:xfrm>
            <a:off x="4038600" y="1981200"/>
            <a:ext cx="727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4060825" y="20081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140" name="Rectangle 92"/>
          <p:cNvSpPr>
            <a:spLocks noChangeArrowheads="1"/>
          </p:cNvSpPr>
          <p:nvPr/>
        </p:nvSpPr>
        <p:spPr bwMode="auto">
          <a:xfrm>
            <a:off x="4152900" y="3803650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89</a:t>
            </a:r>
          </a:p>
        </p:txBody>
      </p:sp>
      <p:sp>
        <p:nvSpPr>
          <p:cNvPr id="2141" name="Rectangle 93"/>
          <p:cNvSpPr>
            <a:spLocks noChangeArrowheads="1"/>
          </p:cNvSpPr>
          <p:nvPr/>
        </p:nvSpPr>
        <p:spPr bwMode="auto">
          <a:xfrm>
            <a:off x="711200" y="2257425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0x802A</a:t>
            </a:r>
          </a:p>
        </p:txBody>
      </p:sp>
      <p:sp>
        <p:nvSpPr>
          <p:cNvPr id="2142" name="Rectangle 94"/>
          <p:cNvSpPr>
            <a:spLocks noChangeArrowheads="1"/>
          </p:cNvSpPr>
          <p:nvPr/>
        </p:nvSpPr>
        <p:spPr bwMode="auto">
          <a:xfrm>
            <a:off x="304800" y="281940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0x802A</a:t>
            </a:r>
          </a:p>
        </p:txBody>
      </p:sp>
      <p:sp>
        <p:nvSpPr>
          <p:cNvPr id="2143" name="Rectangle 95"/>
          <p:cNvSpPr>
            <a:spLocks noChangeArrowheads="1"/>
          </p:cNvSpPr>
          <p:nvPr/>
        </p:nvSpPr>
        <p:spPr bwMode="auto">
          <a:xfrm>
            <a:off x="1071563" y="2803525"/>
            <a:ext cx="4746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0x8081</a:t>
            </a:r>
          </a:p>
        </p:txBody>
      </p:sp>
      <p:sp>
        <p:nvSpPr>
          <p:cNvPr id="2144" name="Rectangle 96"/>
          <p:cNvSpPr>
            <a:spLocks noChangeArrowheads="1"/>
          </p:cNvSpPr>
          <p:nvPr/>
        </p:nvSpPr>
        <p:spPr bwMode="auto">
          <a:xfrm>
            <a:off x="1581150" y="22574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0x8081</a:t>
            </a:r>
          </a:p>
        </p:txBody>
      </p:sp>
      <p:sp>
        <p:nvSpPr>
          <p:cNvPr id="2145" name="Rectangle 97"/>
          <p:cNvSpPr>
            <a:spLocks noChangeArrowheads="1"/>
          </p:cNvSpPr>
          <p:nvPr/>
        </p:nvSpPr>
        <p:spPr bwMode="auto">
          <a:xfrm>
            <a:off x="2006600" y="27940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0x9210</a:t>
            </a:r>
          </a:p>
        </p:txBody>
      </p:sp>
      <p:sp>
        <p:nvSpPr>
          <p:cNvPr id="2146" name="Line 98"/>
          <p:cNvSpPr>
            <a:spLocks noChangeShapeType="1"/>
          </p:cNvSpPr>
          <p:nvPr/>
        </p:nvSpPr>
        <p:spPr bwMode="auto">
          <a:xfrm>
            <a:off x="1600200" y="34290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7" name="Group 99"/>
          <p:cNvGrpSpPr>
            <a:grpSpLocks/>
          </p:cNvGrpSpPr>
          <p:nvPr/>
        </p:nvGrpSpPr>
        <p:grpSpPr bwMode="auto">
          <a:xfrm>
            <a:off x="1676400" y="2133600"/>
            <a:ext cx="533400" cy="152400"/>
            <a:chOff x="1128" y="1440"/>
            <a:chExt cx="336" cy="96"/>
          </a:xfrm>
        </p:grpSpPr>
        <p:grpSp>
          <p:nvGrpSpPr>
            <p:cNvPr id="18" name="Group 100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0" name="Line 102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1" name="Line 103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2" name="Line 104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53" name="Line 105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9" name="Group 106"/>
          <p:cNvGrpSpPr>
            <a:grpSpLocks/>
          </p:cNvGrpSpPr>
          <p:nvPr/>
        </p:nvGrpSpPr>
        <p:grpSpPr bwMode="auto">
          <a:xfrm>
            <a:off x="685800" y="2133600"/>
            <a:ext cx="533400" cy="152400"/>
            <a:chOff x="1752" y="1440"/>
            <a:chExt cx="336" cy="96"/>
          </a:xfrm>
        </p:grpSpPr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7" name="Line 109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8" name="Line 110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59" name="Line 111"/>
          <p:cNvSpPr>
            <a:spLocks noChangeShapeType="1"/>
          </p:cNvSpPr>
          <p:nvPr/>
        </p:nvSpPr>
        <p:spPr bwMode="auto">
          <a:xfrm>
            <a:off x="152400" y="22098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0" name="Line 112"/>
          <p:cNvSpPr>
            <a:spLocks noChangeShapeType="1"/>
          </p:cNvSpPr>
          <p:nvPr/>
        </p:nvSpPr>
        <p:spPr bwMode="auto">
          <a:xfrm>
            <a:off x="990600" y="22098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0" name="Group 113"/>
          <p:cNvGrpSpPr>
            <a:grpSpLocks/>
          </p:cNvGrpSpPr>
          <p:nvPr/>
        </p:nvGrpSpPr>
        <p:grpSpPr bwMode="auto">
          <a:xfrm>
            <a:off x="1371600" y="2667000"/>
            <a:ext cx="533400" cy="152400"/>
            <a:chOff x="1752" y="1440"/>
            <a:chExt cx="336" cy="96"/>
          </a:xfrm>
        </p:grpSpPr>
        <p:sp>
          <p:nvSpPr>
            <p:cNvPr id="2162" name="Line 114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3" name="Line 115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4" name="Line 116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5" name="Line 117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1" name="Group 118"/>
          <p:cNvGrpSpPr>
            <a:grpSpLocks/>
          </p:cNvGrpSpPr>
          <p:nvPr/>
        </p:nvGrpSpPr>
        <p:grpSpPr bwMode="auto">
          <a:xfrm>
            <a:off x="2286000" y="2667000"/>
            <a:ext cx="533400" cy="152400"/>
            <a:chOff x="1128" y="1440"/>
            <a:chExt cx="336" cy="96"/>
          </a:xfrm>
        </p:grpSpPr>
        <p:grpSp>
          <p:nvGrpSpPr>
            <p:cNvPr id="22" name="Group 119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2" name="Line 124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3" name="Group 125"/>
          <p:cNvGrpSpPr>
            <a:grpSpLocks/>
          </p:cNvGrpSpPr>
          <p:nvPr/>
        </p:nvGrpSpPr>
        <p:grpSpPr bwMode="auto">
          <a:xfrm>
            <a:off x="457200" y="2667000"/>
            <a:ext cx="533400" cy="152400"/>
            <a:chOff x="1128" y="1440"/>
            <a:chExt cx="336" cy="96"/>
          </a:xfrm>
        </p:grpSpPr>
        <p:grpSp>
          <p:nvGrpSpPr>
            <p:cNvPr id="24" name="Group 126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75" name="Line 127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9" name="Line 131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5" name="Group 132"/>
          <p:cNvGrpSpPr>
            <a:grpSpLocks/>
          </p:cNvGrpSpPr>
          <p:nvPr/>
        </p:nvGrpSpPr>
        <p:grpSpPr bwMode="auto">
          <a:xfrm>
            <a:off x="3048000" y="2667000"/>
            <a:ext cx="533400" cy="152400"/>
            <a:chOff x="1752" y="1440"/>
            <a:chExt cx="336" cy="96"/>
          </a:xfrm>
        </p:grpSpPr>
        <p:sp>
          <p:nvSpPr>
            <p:cNvPr id="2181" name="Line 133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2" name="Line 134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3" name="Line 135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4" name="Line 136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85" name="Line 137"/>
          <p:cNvSpPr>
            <a:spLocks noChangeShapeType="1"/>
          </p:cNvSpPr>
          <p:nvPr/>
        </p:nvSpPr>
        <p:spPr bwMode="auto">
          <a:xfrm>
            <a:off x="3733800" y="2209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6" name="Line 138"/>
          <p:cNvSpPr>
            <a:spLocks noChangeShapeType="1"/>
          </p:cNvSpPr>
          <p:nvPr/>
        </p:nvSpPr>
        <p:spPr bwMode="auto">
          <a:xfrm>
            <a:off x="17526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7" name="Line 139"/>
          <p:cNvSpPr>
            <a:spLocks noChangeShapeType="1"/>
          </p:cNvSpPr>
          <p:nvPr/>
        </p:nvSpPr>
        <p:spPr bwMode="auto">
          <a:xfrm>
            <a:off x="2667000" y="27432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8" name="Line 140"/>
          <p:cNvSpPr>
            <a:spLocks noChangeShapeType="1"/>
          </p:cNvSpPr>
          <p:nvPr/>
        </p:nvSpPr>
        <p:spPr bwMode="auto">
          <a:xfrm>
            <a:off x="3581400" y="27432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9" name="Rectangle 141"/>
          <p:cNvSpPr>
            <a:spLocks noChangeArrowheads="1"/>
          </p:cNvSpPr>
          <p:nvPr/>
        </p:nvSpPr>
        <p:spPr bwMode="auto">
          <a:xfrm>
            <a:off x="1047750" y="2463800"/>
            <a:ext cx="10795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SWD_O[VO_C1ST]</a:t>
            </a:r>
          </a:p>
        </p:txBody>
      </p:sp>
      <p:sp>
        <p:nvSpPr>
          <p:cNvPr id="2190" name="Rectangle 142"/>
          <p:cNvSpPr>
            <a:spLocks noChangeArrowheads="1"/>
          </p:cNvSpPr>
          <p:nvPr/>
        </p:nvSpPr>
        <p:spPr bwMode="auto">
          <a:xfrm>
            <a:off x="2057400" y="2470150"/>
            <a:ext cx="1273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Coil[SV_INV_SW_FAIL]</a:t>
            </a:r>
          </a:p>
        </p:txBody>
      </p:sp>
      <p:sp>
        <p:nvSpPr>
          <p:cNvPr id="2191" name="Rectangle 143"/>
          <p:cNvSpPr>
            <a:spLocks noChangeArrowheads="1"/>
          </p:cNvSpPr>
          <p:nvPr/>
        </p:nvSpPr>
        <p:spPr bwMode="auto">
          <a:xfrm>
            <a:off x="2667000" y="2819400"/>
            <a:ext cx="12652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Coil[SW_SS_DSP_WD]</a:t>
            </a:r>
          </a:p>
        </p:txBody>
      </p:sp>
      <p:grpSp>
        <p:nvGrpSpPr>
          <p:cNvPr id="26" name="Group 144"/>
          <p:cNvGrpSpPr>
            <a:grpSpLocks/>
          </p:cNvGrpSpPr>
          <p:nvPr/>
        </p:nvGrpSpPr>
        <p:grpSpPr bwMode="auto">
          <a:xfrm>
            <a:off x="1066800" y="3352800"/>
            <a:ext cx="533400" cy="152400"/>
            <a:chOff x="1752" y="1440"/>
            <a:chExt cx="336" cy="96"/>
          </a:xfrm>
        </p:grpSpPr>
        <p:sp>
          <p:nvSpPr>
            <p:cNvPr id="2193" name="Line 145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4" name="Line 146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5" name="Line 147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6" name="Line 148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97" name="Rectangle 149"/>
          <p:cNvSpPr>
            <a:spLocks noChangeArrowheads="1"/>
          </p:cNvSpPr>
          <p:nvPr/>
        </p:nvSpPr>
        <p:spPr bwMode="auto">
          <a:xfrm>
            <a:off x="3657600" y="3200400"/>
            <a:ext cx="1108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8" name="Rectangle 150"/>
          <p:cNvSpPr>
            <a:spLocks noChangeArrowheads="1"/>
          </p:cNvSpPr>
          <p:nvPr/>
        </p:nvSpPr>
        <p:spPr bwMode="auto">
          <a:xfrm>
            <a:off x="3619500" y="3276600"/>
            <a:ext cx="11668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TMC_Start(C1ST_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199" name="Line 151"/>
          <p:cNvSpPr>
            <a:spLocks noChangeShapeType="1"/>
          </p:cNvSpPr>
          <p:nvPr/>
        </p:nvSpPr>
        <p:spPr bwMode="auto">
          <a:xfrm>
            <a:off x="4762500" y="3429000"/>
            <a:ext cx="114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0" name="Rectangle 152"/>
          <p:cNvSpPr>
            <a:spLocks noChangeArrowheads="1"/>
          </p:cNvSpPr>
          <p:nvPr/>
        </p:nvSpPr>
        <p:spPr bwMode="auto">
          <a:xfrm>
            <a:off x="885825" y="31384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27" name="Group 153"/>
          <p:cNvGrpSpPr>
            <a:grpSpLocks/>
          </p:cNvGrpSpPr>
          <p:nvPr/>
        </p:nvGrpSpPr>
        <p:grpSpPr bwMode="auto">
          <a:xfrm>
            <a:off x="685800" y="3962400"/>
            <a:ext cx="533400" cy="152400"/>
            <a:chOff x="1752" y="1440"/>
            <a:chExt cx="336" cy="96"/>
          </a:xfrm>
        </p:grpSpPr>
        <p:sp>
          <p:nvSpPr>
            <p:cNvPr id="2202" name="Line 154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3" name="Line 155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4" name="Line 156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5" name="Line 157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06" name="Line 158"/>
          <p:cNvSpPr>
            <a:spLocks noChangeShapeType="1"/>
          </p:cNvSpPr>
          <p:nvPr/>
        </p:nvSpPr>
        <p:spPr bwMode="auto">
          <a:xfrm>
            <a:off x="152400" y="4038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7" name="Line 159"/>
          <p:cNvSpPr>
            <a:spLocks noChangeShapeType="1"/>
          </p:cNvSpPr>
          <p:nvPr/>
        </p:nvSpPr>
        <p:spPr bwMode="auto">
          <a:xfrm>
            <a:off x="2438400" y="40386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8" name="Rectangle 160"/>
          <p:cNvSpPr>
            <a:spLocks noChangeArrowheads="1"/>
          </p:cNvSpPr>
          <p:nvPr/>
        </p:nvSpPr>
        <p:spPr bwMode="auto">
          <a:xfrm>
            <a:off x="1828800" y="3733800"/>
            <a:ext cx="9779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2209" name="Rectangle 161"/>
          <p:cNvSpPr>
            <a:spLocks noChangeArrowheads="1"/>
          </p:cNvSpPr>
          <p:nvPr/>
        </p:nvSpPr>
        <p:spPr bwMode="auto">
          <a:xfrm>
            <a:off x="4083050" y="3810000"/>
            <a:ext cx="68262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10" name="Rectangle 162"/>
          <p:cNvSpPr>
            <a:spLocks noChangeArrowheads="1"/>
          </p:cNvSpPr>
          <p:nvPr/>
        </p:nvSpPr>
        <p:spPr bwMode="auto">
          <a:xfrm>
            <a:off x="1847850" y="409575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0x802A</a:t>
            </a:r>
          </a:p>
        </p:txBody>
      </p:sp>
      <p:sp>
        <p:nvSpPr>
          <p:cNvPr id="2211" name="Rectangle 163"/>
          <p:cNvSpPr>
            <a:spLocks noChangeArrowheads="1"/>
          </p:cNvSpPr>
          <p:nvPr/>
        </p:nvSpPr>
        <p:spPr bwMode="auto">
          <a:xfrm>
            <a:off x="3244850" y="25082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0x923D</a:t>
            </a:r>
          </a:p>
        </p:txBody>
      </p:sp>
      <p:grpSp>
        <p:nvGrpSpPr>
          <p:cNvPr id="28" name="Group 164"/>
          <p:cNvGrpSpPr>
            <a:grpSpLocks/>
          </p:cNvGrpSpPr>
          <p:nvPr/>
        </p:nvGrpSpPr>
        <p:grpSpPr bwMode="auto">
          <a:xfrm>
            <a:off x="2743200" y="2133600"/>
            <a:ext cx="533400" cy="152400"/>
            <a:chOff x="1128" y="1440"/>
            <a:chExt cx="336" cy="96"/>
          </a:xfrm>
        </p:grpSpPr>
        <p:grpSp>
          <p:nvGrpSpPr>
            <p:cNvPr id="29" name="Group 165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14" name="Line 166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18" name="Line 170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19" name="Line 171"/>
          <p:cNvSpPr>
            <a:spLocks noChangeShapeType="1"/>
          </p:cNvSpPr>
          <p:nvPr/>
        </p:nvSpPr>
        <p:spPr bwMode="auto">
          <a:xfrm>
            <a:off x="2209800" y="2209800"/>
            <a:ext cx="565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0" name="Rectangle 172"/>
          <p:cNvSpPr>
            <a:spLocks noChangeArrowheads="1"/>
          </p:cNvSpPr>
          <p:nvPr/>
        </p:nvSpPr>
        <p:spPr bwMode="auto">
          <a:xfrm>
            <a:off x="2667000" y="1828800"/>
            <a:ext cx="1041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Coil[SW_SS_48V_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DOWN_HOLD]</a:t>
            </a:r>
          </a:p>
        </p:txBody>
      </p:sp>
      <p:sp>
        <p:nvSpPr>
          <p:cNvPr id="2221" name="Rectangle 173"/>
          <p:cNvSpPr>
            <a:spLocks noChangeArrowheads="1"/>
          </p:cNvSpPr>
          <p:nvPr/>
        </p:nvSpPr>
        <p:spPr bwMode="auto">
          <a:xfrm>
            <a:off x="2667000" y="225742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0x923C</a:t>
            </a:r>
          </a:p>
        </p:txBody>
      </p:sp>
      <p:grpSp>
        <p:nvGrpSpPr>
          <p:cNvPr id="30" name="Group 174"/>
          <p:cNvGrpSpPr>
            <a:grpSpLocks/>
          </p:cNvGrpSpPr>
          <p:nvPr/>
        </p:nvGrpSpPr>
        <p:grpSpPr bwMode="auto">
          <a:xfrm>
            <a:off x="1981200" y="3962400"/>
            <a:ext cx="533400" cy="152400"/>
            <a:chOff x="1128" y="1440"/>
            <a:chExt cx="336" cy="96"/>
          </a:xfrm>
        </p:grpSpPr>
        <p:grpSp>
          <p:nvGrpSpPr>
            <p:cNvPr id="31" name="Group 175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24" name="Line 176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5" name="Line 177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6" name="Line 178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7" name="Line 179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28" name="Line 180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29" name="Rectangle 181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90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1981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ER_SUPPRESS_ON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95300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34750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운전측에서 속도측으로 주행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360ms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이후에도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Feedback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계속 유지됨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5791200"/>
            <a:ext cx="4764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운전 제어측의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Suppress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360ms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동안 지속되더라도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제어 측에서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Feedback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Suppress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않고 계속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있을 시 검출 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5029200" y="1066800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운행 중 급정지함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5029200" y="2286000"/>
            <a:ext cx="3810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DPC-11x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WDT LED(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녹색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점멸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속도간 통신 케이블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(64P)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연결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SYS2 LED(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녹색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점멸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292100" y="4587875"/>
            <a:ext cx="1660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TMC_Check(SUPRS_ON_OFF_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DETECT_T, FINISH_STATE)</a:t>
            </a:r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152400" y="2079625"/>
            <a:ext cx="0" cy="3276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4876800" y="2003425"/>
            <a:ext cx="0" cy="342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>
            <a:off x="152400" y="2841625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990600" y="2841625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>
            <a:off x="3657600" y="23082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1676400" y="1901825"/>
            <a:ext cx="9540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RUN_STOP_FB]</a:t>
            </a:r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152400" y="2003425"/>
            <a:ext cx="13795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Coil[RS_SUPPRESS_ON]</a:t>
            </a:r>
          </a:p>
        </p:txBody>
      </p:sp>
      <p:sp>
        <p:nvSpPr>
          <p:cNvPr id="2079" name="Line 31"/>
          <p:cNvSpPr>
            <a:spLocks noChangeShapeType="1"/>
          </p:cNvSpPr>
          <p:nvPr/>
        </p:nvSpPr>
        <p:spPr bwMode="auto">
          <a:xfrm>
            <a:off x="381000" y="3756025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0" name="Line 32"/>
          <p:cNvSpPr>
            <a:spLocks noChangeShapeType="1"/>
          </p:cNvSpPr>
          <p:nvPr/>
        </p:nvSpPr>
        <p:spPr bwMode="auto">
          <a:xfrm>
            <a:off x="1219200" y="4975225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4038600" y="3470275"/>
            <a:ext cx="727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4060825" y="3497263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4152900" y="4740275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90</a:t>
            </a:r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336550" y="22923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0x91C3</a:t>
            </a:r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1973263" y="2851150"/>
            <a:ext cx="4746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0x9207</a:t>
            </a:r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384175" y="289877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0x91C3</a:t>
            </a:r>
          </a:p>
        </p:txBody>
      </p:sp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1974850" y="22987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0x9207</a:t>
            </a:r>
          </a:p>
        </p:txBody>
      </p: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406400" y="37560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0x8081</a:t>
            </a:r>
          </a:p>
        </p:txBody>
      </p:sp>
      <p:sp>
        <p:nvSpPr>
          <p:cNvPr id="2089" name="Line 41"/>
          <p:cNvSpPr>
            <a:spLocks noChangeShapeType="1"/>
          </p:cNvSpPr>
          <p:nvPr/>
        </p:nvSpPr>
        <p:spPr bwMode="auto">
          <a:xfrm>
            <a:off x="3276600" y="3756025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1676400" y="2232025"/>
            <a:ext cx="533400" cy="152400"/>
            <a:chOff x="1128" y="1440"/>
            <a:chExt cx="336" cy="96"/>
          </a:xfrm>
        </p:grpSpPr>
        <p:grpSp>
          <p:nvGrpSpPr>
            <p:cNvPr id="3" name="Group 43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4" name="Line 46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609600" y="2232025"/>
            <a:ext cx="533400" cy="152400"/>
            <a:chOff x="1752" y="1440"/>
            <a:chExt cx="336" cy="96"/>
          </a:xfrm>
        </p:grpSpPr>
        <p:sp>
          <p:nvSpPr>
            <p:cNvPr id="2098" name="Line 50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0" name="Line 52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1" name="Line 53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2" name="Line 54"/>
          <p:cNvSpPr>
            <a:spLocks noChangeShapeType="1"/>
          </p:cNvSpPr>
          <p:nvPr/>
        </p:nvSpPr>
        <p:spPr bwMode="auto">
          <a:xfrm>
            <a:off x="152400" y="23082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3" name="Line 55"/>
          <p:cNvSpPr>
            <a:spLocks noChangeShapeType="1"/>
          </p:cNvSpPr>
          <p:nvPr/>
        </p:nvSpPr>
        <p:spPr bwMode="auto">
          <a:xfrm>
            <a:off x="990600" y="2308225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1676400" y="2765425"/>
            <a:ext cx="533400" cy="152400"/>
            <a:chOff x="1752" y="1440"/>
            <a:chExt cx="336" cy="96"/>
          </a:xfrm>
        </p:grpSpPr>
        <p:sp>
          <p:nvSpPr>
            <p:cNvPr id="2105" name="Line 57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6" name="Line 58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7" name="Line 59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8" name="Line 60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61"/>
          <p:cNvGrpSpPr>
            <a:grpSpLocks/>
          </p:cNvGrpSpPr>
          <p:nvPr/>
        </p:nvGrpSpPr>
        <p:grpSpPr bwMode="auto">
          <a:xfrm>
            <a:off x="3200400" y="2232025"/>
            <a:ext cx="533400" cy="152400"/>
            <a:chOff x="1752" y="1440"/>
            <a:chExt cx="336" cy="96"/>
          </a:xfrm>
        </p:grpSpPr>
        <p:sp>
          <p:nvSpPr>
            <p:cNvPr id="2110" name="Line 62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1" name="Line 63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2" name="Line 64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3" name="Line 65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4" name="Line 66"/>
          <p:cNvSpPr>
            <a:spLocks noChangeShapeType="1"/>
          </p:cNvSpPr>
          <p:nvPr/>
        </p:nvSpPr>
        <p:spPr bwMode="auto">
          <a:xfrm>
            <a:off x="2743200" y="230822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5" name="Line 67"/>
          <p:cNvSpPr>
            <a:spLocks noChangeShapeType="1"/>
          </p:cNvSpPr>
          <p:nvPr/>
        </p:nvSpPr>
        <p:spPr bwMode="auto">
          <a:xfrm>
            <a:off x="2209800" y="28416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6" name="Line 68"/>
          <p:cNvSpPr>
            <a:spLocks noChangeShapeType="1"/>
          </p:cNvSpPr>
          <p:nvPr/>
        </p:nvSpPr>
        <p:spPr bwMode="auto">
          <a:xfrm>
            <a:off x="381000" y="3222625"/>
            <a:ext cx="381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7" name="Rectangle 69"/>
          <p:cNvSpPr>
            <a:spLocks noChangeArrowheads="1"/>
          </p:cNvSpPr>
          <p:nvPr/>
        </p:nvSpPr>
        <p:spPr bwMode="auto">
          <a:xfrm>
            <a:off x="412750" y="3463925"/>
            <a:ext cx="10795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SWD_O[VO_C1ST]</a:t>
            </a:r>
          </a:p>
        </p:txBody>
      </p:sp>
      <p:sp>
        <p:nvSpPr>
          <p:cNvPr id="2118" name="Rectangle 70"/>
          <p:cNvSpPr>
            <a:spLocks noChangeArrowheads="1"/>
          </p:cNvSpPr>
          <p:nvPr/>
        </p:nvSpPr>
        <p:spPr bwMode="auto">
          <a:xfrm>
            <a:off x="2514600" y="3451225"/>
            <a:ext cx="1273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Coil[SV_INV_SW_FAIL]</a:t>
            </a:r>
          </a:p>
        </p:txBody>
      </p:sp>
      <p:grpSp>
        <p:nvGrpSpPr>
          <p:cNvPr id="7" name="Group 71"/>
          <p:cNvGrpSpPr>
            <a:grpSpLocks/>
          </p:cNvGrpSpPr>
          <p:nvPr/>
        </p:nvGrpSpPr>
        <p:grpSpPr bwMode="auto">
          <a:xfrm>
            <a:off x="685800" y="3679825"/>
            <a:ext cx="533400" cy="152400"/>
            <a:chOff x="1752" y="1440"/>
            <a:chExt cx="336" cy="96"/>
          </a:xfrm>
        </p:grpSpPr>
        <p:sp>
          <p:nvSpPr>
            <p:cNvPr id="2120" name="Line 72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1" name="Line 73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2" name="Line 74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3" name="Line 75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4" name="Rectangle 76"/>
          <p:cNvSpPr>
            <a:spLocks noChangeArrowheads="1"/>
          </p:cNvSpPr>
          <p:nvPr/>
        </p:nvSpPr>
        <p:spPr bwMode="auto">
          <a:xfrm>
            <a:off x="3663950" y="4111625"/>
            <a:ext cx="1108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5" name="Rectangle 77"/>
          <p:cNvSpPr>
            <a:spLocks noChangeArrowheads="1"/>
          </p:cNvSpPr>
          <p:nvPr/>
        </p:nvSpPr>
        <p:spPr bwMode="auto">
          <a:xfrm>
            <a:off x="3625850" y="4187825"/>
            <a:ext cx="1212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TMC_Start(SUPRS_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ON_OFF_DETECT_T)</a:t>
            </a:r>
          </a:p>
        </p:txBody>
      </p:sp>
      <p:sp>
        <p:nvSpPr>
          <p:cNvPr id="2126" name="Line 78"/>
          <p:cNvSpPr>
            <a:spLocks noChangeShapeType="1"/>
          </p:cNvSpPr>
          <p:nvPr/>
        </p:nvSpPr>
        <p:spPr bwMode="auto">
          <a:xfrm>
            <a:off x="4768850" y="4333875"/>
            <a:ext cx="114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8" name="Group 79"/>
          <p:cNvGrpSpPr>
            <a:grpSpLocks/>
          </p:cNvGrpSpPr>
          <p:nvPr/>
        </p:nvGrpSpPr>
        <p:grpSpPr bwMode="auto">
          <a:xfrm>
            <a:off x="685800" y="4899025"/>
            <a:ext cx="533400" cy="152400"/>
            <a:chOff x="1752" y="1440"/>
            <a:chExt cx="336" cy="96"/>
          </a:xfrm>
        </p:grpSpPr>
        <p:sp>
          <p:nvSpPr>
            <p:cNvPr id="2128" name="Line 80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9" name="Line 81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0" name="Line 82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1" name="Line 83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32" name="Line 84"/>
          <p:cNvSpPr>
            <a:spLocks noChangeShapeType="1"/>
          </p:cNvSpPr>
          <p:nvPr/>
        </p:nvSpPr>
        <p:spPr bwMode="auto">
          <a:xfrm>
            <a:off x="152400" y="4975225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3" name="Line 85"/>
          <p:cNvSpPr>
            <a:spLocks noChangeShapeType="1"/>
          </p:cNvSpPr>
          <p:nvPr/>
        </p:nvSpPr>
        <p:spPr bwMode="auto">
          <a:xfrm>
            <a:off x="2819400" y="497522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4" name="Rectangle 86"/>
          <p:cNvSpPr>
            <a:spLocks noChangeArrowheads="1"/>
          </p:cNvSpPr>
          <p:nvPr/>
        </p:nvSpPr>
        <p:spPr bwMode="auto">
          <a:xfrm>
            <a:off x="2933700" y="2016125"/>
            <a:ext cx="9779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2135" name="Rectangle 87"/>
          <p:cNvSpPr>
            <a:spLocks noChangeArrowheads="1"/>
          </p:cNvSpPr>
          <p:nvPr/>
        </p:nvSpPr>
        <p:spPr bwMode="auto">
          <a:xfrm>
            <a:off x="4083050" y="4746625"/>
            <a:ext cx="68262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6" name="Rectangle 88"/>
          <p:cNvSpPr>
            <a:spLocks noChangeArrowheads="1"/>
          </p:cNvSpPr>
          <p:nvPr/>
        </p:nvSpPr>
        <p:spPr bwMode="auto">
          <a:xfrm>
            <a:off x="2514600" y="374967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0x9210</a:t>
            </a:r>
          </a:p>
        </p:txBody>
      </p:sp>
      <p:sp>
        <p:nvSpPr>
          <p:cNvPr id="2137" name="Rectangle 89"/>
          <p:cNvSpPr>
            <a:spLocks noChangeArrowheads="1"/>
          </p:cNvSpPr>
          <p:nvPr/>
        </p:nvSpPr>
        <p:spPr bwMode="auto">
          <a:xfrm>
            <a:off x="1384300" y="37433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0x8001</a:t>
            </a:r>
          </a:p>
        </p:txBody>
      </p:sp>
      <p:sp>
        <p:nvSpPr>
          <p:cNvPr id="2138" name="Line 90"/>
          <p:cNvSpPr>
            <a:spLocks noChangeShapeType="1"/>
          </p:cNvSpPr>
          <p:nvPr/>
        </p:nvSpPr>
        <p:spPr bwMode="auto">
          <a:xfrm>
            <a:off x="2209800" y="2308225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3321050" y="236220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0x802A</a:t>
            </a:r>
          </a:p>
        </p:txBody>
      </p:sp>
      <p:grpSp>
        <p:nvGrpSpPr>
          <p:cNvPr id="9" name="Group 92"/>
          <p:cNvGrpSpPr>
            <a:grpSpLocks/>
          </p:cNvGrpSpPr>
          <p:nvPr/>
        </p:nvGrpSpPr>
        <p:grpSpPr bwMode="auto">
          <a:xfrm>
            <a:off x="609600" y="2765425"/>
            <a:ext cx="533400" cy="152400"/>
            <a:chOff x="1128" y="1440"/>
            <a:chExt cx="336" cy="96"/>
          </a:xfrm>
        </p:grpSpPr>
        <p:grpSp>
          <p:nvGrpSpPr>
            <p:cNvPr id="10" name="Group 93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46" name="Line 98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47" name="Line 99"/>
          <p:cNvSpPr>
            <a:spLocks noChangeShapeType="1"/>
          </p:cNvSpPr>
          <p:nvPr/>
        </p:nvSpPr>
        <p:spPr bwMode="auto">
          <a:xfrm>
            <a:off x="4191000" y="2308225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8" name="Line 100"/>
          <p:cNvSpPr>
            <a:spLocks noChangeShapeType="1"/>
          </p:cNvSpPr>
          <p:nvPr/>
        </p:nvSpPr>
        <p:spPr bwMode="auto">
          <a:xfrm>
            <a:off x="381000" y="322262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9" name="Line 101"/>
          <p:cNvSpPr>
            <a:spLocks noChangeShapeType="1"/>
          </p:cNvSpPr>
          <p:nvPr/>
        </p:nvSpPr>
        <p:spPr bwMode="auto">
          <a:xfrm>
            <a:off x="1143000" y="37560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1" name="Group 102"/>
          <p:cNvGrpSpPr>
            <a:grpSpLocks/>
          </p:cNvGrpSpPr>
          <p:nvPr/>
        </p:nvGrpSpPr>
        <p:grpSpPr bwMode="auto">
          <a:xfrm>
            <a:off x="1676400" y="3679825"/>
            <a:ext cx="533400" cy="152400"/>
            <a:chOff x="1752" y="1440"/>
            <a:chExt cx="336" cy="96"/>
          </a:xfrm>
        </p:grpSpPr>
        <p:sp>
          <p:nvSpPr>
            <p:cNvPr id="2151" name="Line 103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2" name="Line 104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3" name="Line 105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4" name="Line 106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2" name="Group 107"/>
          <p:cNvGrpSpPr>
            <a:grpSpLocks/>
          </p:cNvGrpSpPr>
          <p:nvPr/>
        </p:nvGrpSpPr>
        <p:grpSpPr bwMode="auto">
          <a:xfrm>
            <a:off x="2743200" y="3679825"/>
            <a:ext cx="533400" cy="152400"/>
            <a:chOff x="1752" y="1440"/>
            <a:chExt cx="336" cy="96"/>
          </a:xfrm>
        </p:grpSpPr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7" name="Line 109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8" name="Line 110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60" name="Line 112"/>
          <p:cNvSpPr>
            <a:spLocks noChangeShapeType="1"/>
          </p:cNvSpPr>
          <p:nvPr/>
        </p:nvSpPr>
        <p:spPr bwMode="auto">
          <a:xfrm>
            <a:off x="2133600" y="3756025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1" name="Rectangle 113"/>
          <p:cNvSpPr>
            <a:spLocks noChangeArrowheads="1"/>
          </p:cNvSpPr>
          <p:nvPr/>
        </p:nvSpPr>
        <p:spPr bwMode="auto">
          <a:xfrm>
            <a:off x="180975" y="2570163"/>
            <a:ext cx="13795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Coil[RS_SUPPRESS_ON]</a:t>
            </a:r>
          </a:p>
        </p:txBody>
      </p:sp>
      <p:sp>
        <p:nvSpPr>
          <p:cNvPr id="2162" name="Rectangle 114"/>
          <p:cNvSpPr>
            <a:spLocks noChangeArrowheads="1"/>
          </p:cNvSpPr>
          <p:nvPr/>
        </p:nvSpPr>
        <p:spPr bwMode="auto">
          <a:xfrm>
            <a:off x="1492250" y="3457575"/>
            <a:ext cx="9890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SWD_I[VI_R5SC]</a:t>
            </a:r>
          </a:p>
        </p:txBody>
      </p:sp>
      <p:sp>
        <p:nvSpPr>
          <p:cNvPr id="2163" name="Line 115"/>
          <p:cNvSpPr>
            <a:spLocks noChangeShapeType="1"/>
          </p:cNvSpPr>
          <p:nvPr/>
        </p:nvSpPr>
        <p:spPr bwMode="auto">
          <a:xfrm>
            <a:off x="1447800" y="4365625"/>
            <a:ext cx="2203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4" name="Rectangle 116"/>
          <p:cNvSpPr>
            <a:spLocks noChangeArrowheads="1"/>
          </p:cNvSpPr>
          <p:nvPr/>
        </p:nvSpPr>
        <p:spPr bwMode="auto">
          <a:xfrm>
            <a:off x="914400" y="4094163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13" name="Group 117"/>
          <p:cNvGrpSpPr>
            <a:grpSpLocks/>
          </p:cNvGrpSpPr>
          <p:nvPr/>
        </p:nvGrpSpPr>
        <p:grpSpPr bwMode="auto">
          <a:xfrm>
            <a:off x="990600" y="4289425"/>
            <a:ext cx="533400" cy="152400"/>
            <a:chOff x="1752" y="1440"/>
            <a:chExt cx="336" cy="96"/>
          </a:xfrm>
        </p:grpSpPr>
        <p:sp>
          <p:nvSpPr>
            <p:cNvPr id="2166" name="Line 118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7" name="Line 119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8" name="Line 120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9" name="Line 121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70" name="Line 122"/>
          <p:cNvSpPr>
            <a:spLocks noChangeShapeType="1"/>
          </p:cNvSpPr>
          <p:nvPr/>
        </p:nvSpPr>
        <p:spPr bwMode="auto">
          <a:xfrm>
            <a:off x="152400" y="4365625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1" name="Rectangle 123"/>
          <p:cNvSpPr>
            <a:spLocks noChangeArrowheads="1"/>
          </p:cNvSpPr>
          <p:nvPr/>
        </p:nvSpPr>
        <p:spPr bwMode="auto">
          <a:xfrm>
            <a:off x="1905000" y="4670425"/>
            <a:ext cx="13795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Coil[RS_SUPPRESS_ON]</a:t>
            </a:r>
          </a:p>
        </p:txBody>
      </p:sp>
      <p:grpSp>
        <p:nvGrpSpPr>
          <p:cNvPr id="14" name="Group 124"/>
          <p:cNvGrpSpPr>
            <a:grpSpLocks/>
          </p:cNvGrpSpPr>
          <p:nvPr/>
        </p:nvGrpSpPr>
        <p:grpSpPr bwMode="auto">
          <a:xfrm>
            <a:off x="2362200" y="4899025"/>
            <a:ext cx="533400" cy="152400"/>
            <a:chOff x="1752" y="1440"/>
            <a:chExt cx="336" cy="96"/>
          </a:xfrm>
        </p:grpSpPr>
        <p:sp>
          <p:nvSpPr>
            <p:cNvPr id="2173" name="Line 125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4" name="Line 126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5" name="Line 127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6" name="Line 128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77" name="Rectangle 129"/>
          <p:cNvSpPr>
            <a:spLocks noChangeArrowheads="1"/>
          </p:cNvSpPr>
          <p:nvPr/>
        </p:nvSpPr>
        <p:spPr bwMode="auto">
          <a:xfrm>
            <a:off x="2281238" y="50355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0x91C3</a:t>
            </a:r>
          </a:p>
        </p:txBody>
      </p:sp>
      <p:sp>
        <p:nvSpPr>
          <p:cNvPr id="2178" name="Rectangle 130"/>
          <p:cNvSpPr>
            <a:spLocks noChangeArrowheads="1"/>
          </p:cNvSpPr>
          <p:nvPr/>
        </p:nvSpPr>
        <p:spPr bwMode="auto">
          <a:xfrm>
            <a:off x="1647825" y="2441575"/>
            <a:ext cx="9540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RUN_STOP_FB]</a:t>
            </a:r>
          </a:p>
        </p:txBody>
      </p:sp>
      <p:sp>
        <p:nvSpPr>
          <p:cNvPr id="2179" name="Rectangle 131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91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21336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ER_SUPPRESS_OFF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52400" y="5486400"/>
            <a:ext cx="480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운전 제어측의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Suppress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360ms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동안 지속되더라도 속도 제어측에서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Feedback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Suppress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않고 계속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있을 시 검출 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3411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운전측에서 속도측으로 주행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360ms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이후에도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Feedback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계속 유지됨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292100" y="4489450"/>
            <a:ext cx="1660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TMC_Check(SUPRS_ON_OFF_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DETECT_T, FINISH_STATE)</a:t>
            </a: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52400" y="1981200"/>
            <a:ext cx="0" cy="3276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4876800" y="1905000"/>
            <a:ext cx="0" cy="342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152400" y="27432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990600" y="274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3657600" y="2209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152400" y="1905000"/>
            <a:ext cx="13795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Coil[RS_SUPPRESS_ON]</a:t>
            </a:r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381000" y="36576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>
            <a:off x="1219200" y="48768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4038600" y="3371850"/>
            <a:ext cx="727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4060825" y="339883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4152900" y="4641850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91</a:t>
            </a:r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336550" y="219392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0x91C3</a:t>
            </a:r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304800" y="27559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0x91C3</a:t>
            </a:r>
          </a:p>
        </p:txBody>
      </p: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1954213" y="2733675"/>
            <a:ext cx="4746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0x9207</a:t>
            </a:r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1943100" y="2192338"/>
            <a:ext cx="47466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0x9207</a:t>
            </a:r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406400" y="36576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0x8081</a:t>
            </a:r>
          </a:p>
        </p:txBody>
      </p:sp>
      <p:sp>
        <p:nvSpPr>
          <p:cNvPr id="2085" name="Line 37"/>
          <p:cNvSpPr>
            <a:spLocks noChangeShapeType="1"/>
          </p:cNvSpPr>
          <p:nvPr/>
        </p:nvSpPr>
        <p:spPr bwMode="auto">
          <a:xfrm>
            <a:off x="3276600" y="3657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1676400" y="2133600"/>
            <a:ext cx="533400" cy="152400"/>
            <a:chOff x="1128" y="1440"/>
            <a:chExt cx="336" cy="96"/>
          </a:xfrm>
        </p:grpSpPr>
        <p:grpSp>
          <p:nvGrpSpPr>
            <p:cNvPr id="3" name="Group 39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088" name="Line 40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89" name="Line 41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609600" y="2133600"/>
            <a:ext cx="533400" cy="152400"/>
            <a:chOff x="1752" y="1440"/>
            <a:chExt cx="336" cy="96"/>
          </a:xfrm>
        </p:grpSpPr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5" name="Line 47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7" name="Line 49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8" name="Line 50"/>
          <p:cNvSpPr>
            <a:spLocks noChangeShapeType="1"/>
          </p:cNvSpPr>
          <p:nvPr/>
        </p:nvSpPr>
        <p:spPr bwMode="auto">
          <a:xfrm>
            <a:off x="152400" y="2209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9" name="Line 51"/>
          <p:cNvSpPr>
            <a:spLocks noChangeShapeType="1"/>
          </p:cNvSpPr>
          <p:nvPr/>
        </p:nvSpPr>
        <p:spPr bwMode="auto">
          <a:xfrm>
            <a:off x="990600" y="22098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1676400" y="2667000"/>
            <a:ext cx="533400" cy="152400"/>
            <a:chOff x="1752" y="1440"/>
            <a:chExt cx="336" cy="96"/>
          </a:xfrm>
        </p:grpSpPr>
        <p:sp>
          <p:nvSpPr>
            <p:cNvPr id="2101" name="Line 53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2" name="Line 54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3" name="Line 55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4" name="Line 56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57"/>
          <p:cNvGrpSpPr>
            <a:grpSpLocks/>
          </p:cNvGrpSpPr>
          <p:nvPr/>
        </p:nvGrpSpPr>
        <p:grpSpPr bwMode="auto">
          <a:xfrm>
            <a:off x="3200400" y="2133600"/>
            <a:ext cx="533400" cy="152400"/>
            <a:chOff x="1752" y="1440"/>
            <a:chExt cx="336" cy="96"/>
          </a:xfrm>
        </p:grpSpPr>
        <p:sp>
          <p:nvSpPr>
            <p:cNvPr id="2106" name="Line 58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7" name="Line 59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8" name="Line 60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9" name="Line 61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0" name="Line 62"/>
          <p:cNvSpPr>
            <a:spLocks noChangeShapeType="1"/>
          </p:cNvSpPr>
          <p:nvPr/>
        </p:nvSpPr>
        <p:spPr bwMode="auto">
          <a:xfrm>
            <a:off x="2743200" y="2209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1" name="Line 63"/>
          <p:cNvSpPr>
            <a:spLocks noChangeShapeType="1"/>
          </p:cNvSpPr>
          <p:nvPr/>
        </p:nvSpPr>
        <p:spPr bwMode="auto">
          <a:xfrm>
            <a:off x="2209800" y="27432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2" name="Line 64"/>
          <p:cNvSpPr>
            <a:spLocks noChangeShapeType="1"/>
          </p:cNvSpPr>
          <p:nvPr/>
        </p:nvSpPr>
        <p:spPr bwMode="auto">
          <a:xfrm>
            <a:off x="381000" y="3124200"/>
            <a:ext cx="381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3" name="Rectangle 65"/>
          <p:cNvSpPr>
            <a:spLocks noChangeArrowheads="1"/>
          </p:cNvSpPr>
          <p:nvPr/>
        </p:nvSpPr>
        <p:spPr bwMode="auto">
          <a:xfrm>
            <a:off x="412750" y="3365500"/>
            <a:ext cx="10795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SWD_O[VO_C1ST]</a:t>
            </a:r>
          </a:p>
        </p:txBody>
      </p:sp>
      <p:sp>
        <p:nvSpPr>
          <p:cNvPr id="2114" name="Rectangle 66"/>
          <p:cNvSpPr>
            <a:spLocks noChangeArrowheads="1"/>
          </p:cNvSpPr>
          <p:nvPr/>
        </p:nvSpPr>
        <p:spPr bwMode="auto">
          <a:xfrm>
            <a:off x="2514600" y="3352800"/>
            <a:ext cx="1273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Coil[SV_INV_SW_FAIL]</a:t>
            </a:r>
          </a:p>
        </p:txBody>
      </p:sp>
      <p:grpSp>
        <p:nvGrpSpPr>
          <p:cNvPr id="7" name="Group 67"/>
          <p:cNvGrpSpPr>
            <a:grpSpLocks/>
          </p:cNvGrpSpPr>
          <p:nvPr/>
        </p:nvGrpSpPr>
        <p:grpSpPr bwMode="auto">
          <a:xfrm>
            <a:off x="685800" y="3581400"/>
            <a:ext cx="533400" cy="152400"/>
            <a:chOff x="1752" y="1440"/>
            <a:chExt cx="336" cy="96"/>
          </a:xfrm>
        </p:grpSpPr>
        <p:sp>
          <p:nvSpPr>
            <p:cNvPr id="2116" name="Line 68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7" name="Line 69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8" name="Line 70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9" name="Line 71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0" name="Rectangle 72"/>
          <p:cNvSpPr>
            <a:spLocks noChangeArrowheads="1"/>
          </p:cNvSpPr>
          <p:nvPr/>
        </p:nvSpPr>
        <p:spPr bwMode="auto">
          <a:xfrm>
            <a:off x="3663950" y="4013200"/>
            <a:ext cx="110807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1" name="Rectangle 73"/>
          <p:cNvSpPr>
            <a:spLocks noChangeArrowheads="1"/>
          </p:cNvSpPr>
          <p:nvPr/>
        </p:nvSpPr>
        <p:spPr bwMode="auto">
          <a:xfrm>
            <a:off x="3625850" y="4089400"/>
            <a:ext cx="1212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TMC_Start(SUPRS_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ON_OFF_DETECT_T)</a:t>
            </a:r>
          </a:p>
        </p:txBody>
      </p:sp>
      <p:sp>
        <p:nvSpPr>
          <p:cNvPr id="2122" name="Line 74"/>
          <p:cNvSpPr>
            <a:spLocks noChangeShapeType="1"/>
          </p:cNvSpPr>
          <p:nvPr/>
        </p:nvSpPr>
        <p:spPr bwMode="auto">
          <a:xfrm>
            <a:off x="4768850" y="4235450"/>
            <a:ext cx="114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8" name="Group 75"/>
          <p:cNvGrpSpPr>
            <a:grpSpLocks/>
          </p:cNvGrpSpPr>
          <p:nvPr/>
        </p:nvGrpSpPr>
        <p:grpSpPr bwMode="auto">
          <a:xfrm>
            <a:off x="685800" y="4800600"/>
            <a:ext cx="533400" cy="152400"/>
            <a:chOff x="1752" y="1440"/>
            <a:chExt cx="336" cy="96"/>
          </a:xfrm>
        </p:grpSpPr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6" name="Line 78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7" name="Line 79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152400" y="48768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2819400" y="48768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Rectangle 82"/>
          <p:cNvSpPr>
            <a:spLocks noChangeArrowheads="1"/>
          </p:cNvSpPr>
          <p:nvPr/>
        </p:nvSpPr>
        <p:spPr bwMode="auto">
          <a:xfrm>
            <a:off x="2933700" y="1917700"/>
            <a:ext cx="9779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2131" name="Rectangle 83"/>
          <p:cNvSpPr>
            <a:spLocks noChangeArrowheads="1"/>
          </p:cNvSpPr>
          <p:nvPr/>
        </p:nvSpPr>
        <p:spPr bwMode="auto">
          <a:xfrm>
            <a:off x="4083050" y="4648200"/>
            <a:ext cx="682625" cy="48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2" name="Rectangle 84"/>
          <p:cNvSpPr>
            <a:spLocks noChangeArrowheads="1"/>
          </p:cNvSpPr>
          <p:nvPr/>
        </p:nvSpPr>
        <p:spPr bwMode="auto">
          <a:xfrm>
            <a:off x="2457450" y="36512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0x9210</a:t>
            </a:r>
          </a:p>
        </p:txBody>
      </p:sp>
      <p:sp>
        <p:nvSpPr>
          <p:cNvPr id="2133" name="Rectangle 85"/>
          <p:cNvSpPr>
            <a:spLocks noChangeArrowheads="1"/>
          </p:cNvSpPr>
          <p:nvPr/>
        </p:nvSpPr>
        <p:spPr bwMode="auto">
          <a:xfrm>
            <a:off x="1384300" y="36449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0x8001</a:t>
            </a:r>
          </a:p>
        </p:txBody>
      </p:sp>
      <p:sp>
        <p:nvSpPr>
          <p:cNvPr id="2134" name="Line 86"/>
          <p:cNvSpPr>
            <a:spLocks noChangeShapeType="1"/>
          </p:cNvSpPr>
          <p:nvPr/>
        </p:nvSpPr>
        <p:spPr bwMode="auto">
          <a:xfrm>
            <a:off x="2209800" y="22098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5" name="Rectangle 87"/>
          <p:cNvSpPr>
            <a:spLocks noChangeArrowheads="1"/>
          </p:cNvSpPr>
          <p:nvPr/>
        </p:nvSpPr>
        <p:spPr bwMode="auto">
          <a:xfrm>
            <a:off x="3321050" y="2263775"/>
            <a:ext cx="5238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0x48082</a:t>
            </a:r>
          </a:p>
        </p:txBody>
      </p:sp>
      <p:grpSp>
        <p:nvGrpSpPr>
          <p:cNvPr id="9" name="Group 88"/>
          <p:cNvGrpSpPr>
            <a:grpSpLocks/>
          </p:cNvGrpSpPr>
          <p:nvPr/>
        </p:nvGrpSpPr>
        <p:grpSpPr bwMode="auto">
          <a:xfrm>
            <a:off x="2286000" y="4800600"/>
            <a:ext cx="533400" cy="152400"/>
            <a:chOff x="1128" y="1440"/>
            <a:chExt cx="336" cy="96"/>
          </a:xfrm>
        </p:grpSpPr>
        <p:grpSp>
          <p:nvGrpSpPr>
            <p:cNvPr id="10" name="Group 89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38" name="Line 90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1" name="Line 93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42" name="Line 94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1" name="Group 95"/>
          <p:cNvGrpSpPr>
            <a:grpSpLocks/>
          </p:cNvGrpSpPr>
          <p:nvPr/>
        </p:nvGrpSpPr>
        <p:grpSpPr bwMode="auto">
          <a:xfrm>
            <a:off x="609600" y="2667000"/>
            <a:ext cx="533400" cy="152400"/>
            <a:chOff x="1128" y="1440"/>
            <a:chExt cx="336" cy="96"/>
          </a:xfrm>
        </p:grpSpPr>
        <p:grpSp>
          <p:nvGrpSpPr>
            <p:cNvPr id="12" name="Group 96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49" name="Line 101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50" name="Line 102"/>
          <p:cNvSpPr>
            <a:spLocks noChangeShapeType="1"/>
          </p:cNvSpPr>
          <p:nvPr/>
        </p:nvSpPr>
        <p:spPr bwMode="auto">
          <a:xfrm>
            <a:off x="4191000" y="22098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1" name="Line 103"/>
          <p:cNvSpPr>
            <a:spLocks noChangeShapeType="1"/>
          </p:cNvSpPr>
          <p:nvPr/>
        </p:nvSpPr>
        <p:spPr bwMode="auto">
          <a:xfrm>
            <a:off x="381000" y="3124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2" name="Line 104"/>
          <p:cNvSpPr>
            <a:spLocks noChangeShapeType="1"/>
          </p:cNvSpPr>
          <p:nvPr/>
        </p:nvSpPr>
        <p:spPr bwMode="auto">
          <a:xfrm>
            <a:off x="1143000" y="36576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3" name="Group 105"/>
          <p:cNvGrpSpPr>
            <a:grpSpLocks/>
          </p:cNvGrpSpPr>
          <p:nvPr/>
        </p:nvGrpSpPr>
        <p:grpSpPr bwMode="auto">
          <a:xfrm>
            <a:off x="1676400" y="3581400"/>
            <a:ext cx="533400" cy="152400"/>
            <a:chOff x="1752" y="1440"/>
            <a:chExt cx="336" cy="96"/>
          </a:xfrm>
        </p:grpSpPr>
        <p:sp>
          <p:nvSpPr>
            <p:cNvPr id="2154" name="Line 106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7" name="Line 109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4" name="Group 110"/>
          <p:cNvGrpSpPr>
            <a:grpSpLocks/>
          </p:cNvGrpSpPr>
          <p:nvPr/>
        </p:nvGrpSpPr>
        <p:grpSpPr bwMode="auto">
          <a:xfrm>
            <a:off x="2743200" y="3581400"/>
            <a:ext cx="533400" cy="152400"/>
            <a:chOff x="1752" y="1440"/>
            <a:chExt cx="336" cy="96"/>
          </a:xfrm>
        </p:grpSpPr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1" name="Line 113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2" name="Line 114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63" name="Line 115"/>
          <p:cNvSpPr>
            <a:spLocks noChangeShapeType="1"/>
          </p:cNvSpPr>
          <p:nvPr/>
        </p:nvSpPr>
        <p:spPr bwMode="auto">
          <a:xfrm>
            <a:off x="2133600" y="3657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4" name="Rectangle 116"/>
          <p:cNvSpPr>
            <a:spLocks noChangeArrowheads="1"/>
          </p:cNvSpPr>
          <p:nvPr/>
        </p:nvSpPr>
        <p:spPr bwMode="auto">
          <a:xfrm>
            <a:off x="152400" y="2438400"/>
            <a:ext cx="13795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Coil[RS_SUPPRESS_ON]</a:t>
            </a:r>
          </a:p>
        </p:txBody>
      </p:sp>
      <p:sp>
        <p:nvSpPr>
          <p:cNvPr id="2165" name="Rectangle 117"/>
          <p:cNvSpPr>
            <a:spLocks noChangeArrowheads="1"/>
          </p:cNvSpPr>
          <p:nvPr/>
        </p:nvSpPr>
        <p:spPr bwMode="auto">
          <a:xfrm>
            <a:off x="1608138" y="2362200"/>
            <a:ext cx="9540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RUN_STOP_FB]</a:t>
            </a:r>
          </a:p>
        </p:txBody>
      </p:sp>
      <p:sp>
        <p:nvSpPr>
          <p:cNvPr id="2166" name="Rectangle 118"/>
          <p:cNvSpPr>
            <a:spLocks noChangeArrowheads="1"/>
          </p:cNvSpPr>
          <p:nvPr/>
        </p:nvSpPr>
        <p:spPr bwMode="auto">
          <a:xfrm>
            <a:off x="1492250" y="3359150"/>
            <a:ext cx="9890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SWD_I[VI_R5SC]</a:t>
            </a:r>
          </a:p>
        </p:txBody>
      </p:sp>
      <p:sp>
        <p:nvSpPr>
          <p:cNvPr id="2167" name="Line 119"/>
          <p:cNvSpPr>
            <a:spLocks noChangeShapeType="1"/>
          </p:cNvSpPr>
          <p:nvPr/>
        </p:nvSpPr>
        <p:spPr bwMode="auto">
          <a:xfrm>
            <a:off x="1447800" y="4267200"/>
            <a:ext cx="2203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8" name="Rectangle 120"/>
          <p:cNvSpPr>
            <a:spLocks noChangeArrowheads="1"/>
          </p:cNvSpPr>
          <p:nvPr/>
        </p:nvSpPr>
        <p:spPr bwMode="auto">
          <a:xfrm>
            <a:off x="914400" y="399573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15" name="Group 121"/>
          <p:cNvGrpSpPr>
            <a:grpSpLocks/>
          </p:cNvGrpSpPr>
          <p:nvPr/>
        </p:nvGrpSpPr>
        <p:grpSpPr bwMode="auto">
          <a:xfrm>
            <a:off x="990600" y="4191000"/>
            <a:ext cx="533400" cy="152400"/>
            <a:chOff x="1752" y="1440"/>
            <a:chExt cx="336" cy="96"/>
          </a:xfrm>
        </p:grpSpPr>
        <p:sp>
          <p:nvSpPr>
            <p:cNvPr id="2170" name="Line 122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1" name="Line 123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2" name="Line 124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3" name="Line 125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74" name="Line 126"/>
          <p:cNvSpPr>
            <a:spLocks noChangeShapeType="1"/>
          </p:cNvSpPr>
          <p:nvPr/>
        </p:nvSpPr>
        <p:spPr bwMode="auto">
          <a:xfrm>
            <a:off x="152400" y="4267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5" name="Rectangle 127"/>
          <p:cNvSpPr>
            <a:spLocks noChangeArrowheads="1"/>
          </p:cNvSpPr>
          <p:nvPr/>
        </p:nvSpPr>
        <p:spPr bwMode="auto">
          <a:xfrm>
            <a:off x="1905000" y="4572000"/>
            <a:ext cx="13795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Coil[RS_SUPPRESS_ON]</a:t>
            </a:r>
          </a:p>
        </p:txBody>
      </p:sp>
      <p:sp>
        <p:nvSpPr>
          <p:cNvPr id="2176" name="Rectangle 128"/>
          <p:cNvSpPr>
            <a:spLocks noChangeArrowheads="1"/>
          </p:cNvSpPr>
          <p:nvPr/>
        </p:nvSpPr>
        <p:spPr bwMode="auto">
          <a:xfrm>
            <a:off x="4953000" y="2438400"/>
            <a:ext cx="38862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DPC-11x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WDT LED(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녹색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점멸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속도간 통신 케이블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(64P)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연결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SYS2 LED(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녹색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점멸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177" name="Rectangle 129"/>
          <p:cNvSpPr>
            <a:spLocks noChangeArrowheads="1"/>
          </p:cNvSpPr>
          <p:nvPr/>
        </p:nvSpPr>
        <p:spPr bwMode="auto">
          <a:xfrm>
            <a:off x="495300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178" name="Rectangle 130"/>
          <p:cNvSpPr>
            <a:spLocks noChangeArrowheads="1"/>
          </p:cNvSpPr>
          <p:nvPr/>
        </p:nvSpPr>
        <p:spPr bwMode="auto">
          <a:xfrm>
            <a:off x="5029200" y="1066800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운행 중 급정지함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179" name="Rectangle 131"/>
          <p:cNvSpPr>
            <a:spLocks noChangeArrowheads="1"/>
          </p:cNvSpPr>
          <p:nvPr/>
        </p:nvSpPr>
        <p:spPr bwMode="auto">
          <a:xfrm>
            <a:off x="1614488" y="1811338"/>
            <a:ext cx="9540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4" tIns="45718" rIns="91434" bIns="45718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RUN_STOP_FB]</a:t>
            </a:r>
          </a:p>
        </p:txBody>
      </p:sp>
      <p:sp>
        <p:nvSpPr>
          <p:cNvPr id="2180" name="Rectangle 132"/>
          <p:cNvSpPr>
            <a:spLocks noChangeArrowheads="1"/>
          </p:cNvSpPr>
          <p:nvPr/>
        </p:nvSpPr>
        <p:spPr bwMode="auto">
          <a:xfrm>
            <a:off x="2533650" y="491172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0x91C3</a:t>
            </a:r>
          </a:p>
        </p:txBody>
      </p:sp>
      <p:sp>
        <p:nvSpPr>
          <p:cNvPr id="2181" name="Rectangle 133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92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18288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ER_ENCO_CONNECT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95300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3030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주행 중일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R/E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각 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(A, B)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단선 여부를 검출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2133600"/>
            <a:ext cx="3952875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정지 중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전압을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: 15 V ± 5%     (R/E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전원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:  0 V ± 0.5 V  (GND)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:  0 V ± 0.5 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혹은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 V ± 5%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:  0 V ± 0.5 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혹은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 V ± 5%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중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전압을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:  15 V ± 5%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:   0 V ± 0.5 V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:  7.5 V ± 5% (DMM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측정 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:  7.5 V ± 5% (DMM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측정 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52400" y="1828800"/>
            <a:ext cx="4724400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DOC-1xx BOARD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ALM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적색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;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기동  불가 상태가 됨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속도지령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1m/min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이상이고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C1ST, C1BR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상태에서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로프 늘어남 운전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R/E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Pulse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값의 변화 없는 상태가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4.86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지속되면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로프 늘어남 운전이 아닌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R/E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Pulse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값의 변화 없는 상태가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1.62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지속되면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endParaRPr lang="en-US" altLang="ko-KR" sz="1000" b="1">
              <a:latin typeface="Arial" charset="0"/>
              <a:ea typeface="굴림체" pitchFamily="49" charset="-127"/>
            </a:endParaRP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5029200" y="1066800"/>
            <a:ext cx="1466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ko-KR" altLang="en-US" sz="1000">
                <a:latin typeface="Arial" charset="0"/>
                <a:ea typeface="굴림체" pitchFamily="49" charset="-127"/>
              </a:rPr>
              <a:t>주행 중일 때 급정지함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152400" y="3200400"/>
            <a:ext cx="0" cy="3276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4876800" y="3200400"/>
            <a:ext cx="0" cy="3276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4038600" y="3429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152400" y="3124200"/>
            <a:ext cx="10874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Coil[RS_RUNNING]</a:t>
            </a:r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152400" y="4572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4038600" y="3810000"/>
            <a:ext cx="7620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4060825" y="38369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4108450" y="5937250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92</a:t>
            </a:r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762000" y="34290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0x91C3</a:t>
            </a:r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1752600" y="34290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0x9207</a:t>
            </a:r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1905000" y="51054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0x8081</a:t>
            </a:r>
          </a:p>
        </p:txBody>
      </p:sp>
      <p:sp>
        <p:nvSpPr>
          <p:cNvPr id="2082" name="Line 34"/>
          <p:cNvSpPr>
            <a:spLocks noChangeShapeType="1"/>
          </p:cNvSpPr>
          <p:nvPr/>
        </p:nvSpPr>
        <p:spPr bwMode="auto">
          <a:xfrm>
            <a:off x="2667000" y="4038600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533400" y="3352800"/>
            <a:ext cx="533400" cy="152400"/>
            <a:chOff x="1752" y="1440"/>
            <a:chExt cx="336" cy="96"/>
          </a:xfrm>
        </p:grpSpPr>
        <p:sp>
          <p:nvSpPr>
            <p:cNvPr id="2084" name="Line 36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5" name="Line 37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6" name="Line 38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7" name="Line 39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8" name="Line 40"/>
          <p:cNvSpPr>
            <a:spLocks noChangeShapeType="1"/>
          </p:cNvSpPr>
          <p:nvPr/>
        </p:nvSpPr>
        <p:spPr bwMode="auto">
          <a:xfrm>
            <a:off x="152400" y="3429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9" name="Line 41"/>
          <p:cNvSpPr>
            <a:spLocks noChangeShapeType="1"/>
          </p:cNvSpPr>
          <p:nvPr/>
        </p:nvSpPr>
        <p:spPr bwMode="auto">
          <a:xfrm>
            <a:off x="1066800" y="34290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1524000" y="3352800"/>
            <a:ext cx="533400" cy="152400"/>
            <a:chOff x="1752" y="1440"/>
            <a:chExt cx="336" cy="96"/>
          </a:xfrm>
        </p:grpSpPr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3" name="Line 45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5" name="Line 47"/>
          <p:cNvSpPr>
            <a:spLocks noChangeShapeType="1"/>
          </p:cNvSpPr>
          <p:nvPr/>
        </p:nvSpPr>
        <p:spPr bwMode="auto">
          <a:xfrm>
            <a:off x="4419600" y="34290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6" name="Line 48"/>
          <p:cNvSpPr>
            <a:spLocks noChangeShapeType="1"/>
          </p:cNvSpPr>
          <p:nvPr/>
        </p:nvSpPr>
        <p:spPr bwMode="auto">
          <a:xfrm>
            <a:off x="762000" y="36576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7" name="Rectangle 49"/>
          <p:cNvSpPr>
            <a:spLocks noChangeArrowheads="1"/>
          </p:cNvSpPr>
          <p:nvPr/>
        </p:nvSpPr>
        <p:spPr bwMode="auto">
          <a:xfrm>
            <a:off x="762000" y="3733800"/>
            <a:ext cx="10795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SWD_O[VO_C1ST]</a:t>
            </a:r>
          </a:p>
        </p:txBody>
      </p:sp>
      <p:sp>
        <p:nvSpPr>
          <p:cNvPr id="2098" name="Rectangle 50"/>
          <p:cNvSpPr>
            <a:spLocks noChangeArrowheads="1"/>
          </p:cNvSpPr>
          <p:nvPr/>
        </p:nvSpPr>
        <p:spPr bwMode="auto">
          <a:xfrm>
            <a:off x="1981200" y="3733800"/>
            <a:ext cx="10398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Coil[IS_CMD_V_1]</a:t>
            </a:r>
          </a:p>
        </p:txBody>
      </p: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457200" y="4495800"/>
            <a:ext cx="533400" cy="152400"/>
            <a:chOff x="1752" y="1440"/>
            <a:chExt cx="336" cy="96"/>
          </a:xfrm>
        </p:grpSpPr>
        <p:sp>
          <p:nvSpPr>
            <p:cNvPr id="2100" name="Line 52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1" name="Line 53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2" name="Line 54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3" name="Line 55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4" name="Rectangle 56"/>
          <p:cNvSpPr>
            <a:spLocks noChangeArrowheads="1"/>
          </p:cNvSpPr>
          <p:nvPr/>
        </p:nvSpPr>
        <p:spPr bwMode="auto">
          <a:xfrm>
            <a:off x="4038600" y="5410200"/>
            <a:ext cx="7620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5" name="Rectangle 57"/>
          <p:cNvSpPr>
            <a:spLocks noChangeArrowheads="1"/>
          </p:cNvSpPr>
          <p:nvPr/>
        </p:nvSpPr>
        <p:spPr bwMode="auto">
          <a:xfrm>
            <a:off x="4114800" y="5410200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TCD 92</a:t>
            </a:r>
          </a:p>
        </p:txBody>
      </p:sp>
      <p:sp>
        <p:nvSpPr>
          <p:cNvPr id="2106" name="Line 58"/>
          <p:cNvSpPr>
            <a:spLocks noChangeShapeType="1"/>
          </p:cNvSpPr>
          <p:nvPr/>
        </p:nvSpPr>
        <p:spPr bwMode="auto">
          <a:xfrm>
            <a:off x="4800600" y="4572000"/>
            <a:ext cx="7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5" name="Group 59"/>
          <p:cNvGrpSpPr>
            <a:grpSpLocks/>
          </p:cNvGrpSpPr>
          <p:nvPr/>
        </p:nvGrpSpPr>
        <p:grpSpPr bwMode="auto">
          <a:xfrm>
            <a:off x="2438400" y="5562600"/>
            <a:ext cx="304800" cy="152400"/>
            <a:chOff x="1584" y="3120"/>
            <a:chExt cx="192" cy="96"/>
          </a:xfrm>
        </p:grpSpPr>
        <p:sp>
          <p:nvSpPr>
            <p:cNvPr id="2108" name="Line 60"/>
            <p:cNvSpPr>
              <a:spLocks noChangeShapeType="1"/>
            </p:cNvSpPr>
            <p:nvPr/>
          </p:nvSpPr>
          <p:spPr bwMode="auto">
            <a:xfrm>
              <a:off x="1584" y="312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9" name="Line 61"/>
            <p:cNvSpPr>
              <a:spLocks noChangeShapeType="1"/>
            </p:cNvSpPr>
            <p:nvPr/>
          </p:nvSpPr>
          <p:spPr bwMode="auto">
            <a:xfrm>
              <a:off x="1632" y="312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0" name="Line 62"/>
            <p:cNvSpPr>
              <a:spLocks noChangeShapeType="1"/>
            </p:cNvSpPr>
            <p:nvPr/>
          </p:nvSpPr>
          <p:spPr bwMode="auto">
            <a:xfrm>
              <a:off x="1632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1" name="Line 63"/>
          <p:cNvSpPr>
            <a:spLocks noChangeShapeType="1"/>
          </p:cNvSpPr>
          <p:nvPr/>
        </p:nvSpPr>
        <p:spPr bwMode="auto">
          <a:xfrm>
            <a:off x="2133600" y="61722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2" name="Rectangle 64"/>
          <p:cNvSpPr>
            <a:spLocks noChangeArrowheads="1"/>
          </p:cNvSpPr>
          <p:nvPr/>
        </p:nvSpPr>
        <p:spPr bwMode="auto">
          <a:xfrm>
            <a:off x="3429000" y="3124200"/>
            <a:ext cx="9779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2113" name="Rectangle 65"/>
          <p:cNvSpPr>
            <a:spLocks noChangeArrowheads="1"/>
          </p:cNvSpPr>
          <p:nvPr/>
        </p:nvSpPr>
        <p:spPr bwMode="auto">
          <a:xfrm>
            <a:off x="4038600" y="5943600"/>
            <a:ext cx="7620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4" name="Line 66"/>
          <p:cNvSpPr>
            <a:spLocks noChangeShapeType="1"/>
          </p:cNvSpPr>
          <p:nvPr/>
        </p:nvSpPr>
        <p:spPr bwMode="auto">
          <a:xfrm>
            <a:off x="2057400" y="3429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5" name="Rectangle 67"/>
          <p:cNvSpPr>
            <a:spLocks noChangeArrowheads="1"/>
          </p:cNvSpPr>
          <p:nvPr/>
        </p:nvSpPr>
        <p:spPr bwMode="auto">
          <a:xfrm>
            <a:off x="3810000" y="3429000"/>
            <a:ext cx="5238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0x48082</a:t>
            </a:r>
          </a:p>
        </p:txBody>
      </p:sp>
      <p:grpSp>
        <p:nvGrpSpPr>
          <p:cNvPr id="6" name="Group 68"/>
          <p:cNvGrpSpPr>
            <a:grpSpLocks/>
          </p:cNvGrpSpPr>
          <p:nvPr/>
        </p:nvGrpSpPr>
        <p:grpSpPr bwMode="auto">
          <a:xfrm>
            <a:off x="1752600" y="6096000"/>
            <a:ext cx="381000" cy="152400"/>
            <a:chOff x="1104" y="3408"/>
            <a:chExt cx="240" cy="96"/>
          </a:xfrm>
        </p:grpSpPr>
        <p:sp>
          <p:nvSpPr>
            <p:cNvPr id="2117" name="Line 69"/>
            <p:cNvSpPr>
              <a:spLocks noChangeShapeType="1"/>
            </p:cNvSpPr>
            <p:nvPr/>
          </p:nvSpPr>
          <p:spPr bwMode="auto">
            <a:xfrm>
              <a:off x="1152" y="340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8" name="Line 70"/>
            <p:cNvSpPr>
              <a:spLocks noChangeShapeType="1"/>
            </p:cNvSpPr>
            <p:nvPr/>
          </p:nvSpPr>
          <p:spPr bwMode="auto">
            <a:xfrm>
              <a:off x="1200" y="340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9" name="Line 71"/>
            <p:cNvSpPr>
              <a:spLocks noChangeShapeType="1"/>
            </p:cNvSpPr>
            <p:nvPr/>
          </p:nvSpPr>
          <p:spPr bwMode="auto">
            <a:xfrm>
              <a:off x="1200" y="34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0" name="Line 72"/>
            <p:cNvSpPr>
              <a:spLocks noChangeShapeType="1"/>
            </p:cNvSpPr>
            <p:nvPr/>
          </p:nvSpPr>
          <p:spPr bwMode="auto">
            <a:xfrm flipV="1">
              <a:off x="1104" y="340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1" name="Line 73"/>
          <p:cNvSpPr>
            <a:spLocks noChangeShapeType="1"/>
          </p:cNvSpPr>
          <p:nvPr/>
        </p:nvSpPr>
        <p:spPr bwMode="auto">
          <a:xfrm>
            <a:off x="762000" y="36576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2" name="Line 74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7" name="Group 75"/>
          <p:cNvGrpSpPr>
            <a:grpSpLocks/>
          </p:cNvGrpSpPr>
          <p:nvPr/>
        </p:nvGrpSpPr>
        <p:grpSpPr bwMode="auto">
          <a:xfrm>
            <a:off x="685800" y="5029200"/>
            <a:ext cx="533400" cy="152400"/>
            <a:chOff x="1752" y="1440"/>
            <a:chExt cx="336" cy="96"/>
          </a:xfrm>
        </p:grpSpPr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6" name="Line 78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7" name="Line 79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8" name="Group 80"/>
          <p:cNvGrpSpPr>
            <a:grpSpLocks/>
          </p:cNvGrpSpPr>
          <p:nvPr/>
        </p:nvGrpSpPr>
        <p:grpSpPr bwMode="auto">
          <a:xfrm>
            <a:off x="1600200" y="5029200"/>
            <a:ext cx="533400" cy="152400"/>
            <a:chOff x="1752" y="1440"/>
            <a:chExt cx="336" cy="96"/>
          </a:xfrm>
        </p:grpSpPr>
        <p:sp>
          <p:nvSpPr>
            <p:cNvPr id="2129" name="Line 81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0" name="Line 82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1" name="Line 83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2" name="Line 84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33" name="Line 85"/>
          <p:cNvSpPr>
            <a:spLocks noChangeShapeType="1"/>
          </p:cNvSpPr>
          <p:nvPr/>
        </p:nvSpPr>
        <p:spPr bwMode="auto">
          <a:xfrm>
            <a:off x="2133600" y="51054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4" name="Rectangle 86"/>
          <p:cNvSpPr>
            <a:spLocks noChangeArrowheads="1"/>
          </p:cNvSpPr>
          <p:nvPr/>
        </p:nvSpPr>
        <p:spPr bwMode="auto">
          <a:xfrm>
            <a:off x="1371600" y="4267200"/>
            <a:ext cx="8318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enco_diff == 0</a:t>
            </a:r>
          </a:p>
        </p:txBody>
      </p:sp>
      <p:sp>
        <p:nvSpPr>
          <p:cNvPr id="2135" name="Rectangle 87"/>
          <p:cNvSpPr>
            <a:spLocks noChangeArrowheads="1"/>
          </p:cNvSpPr>
          <p:nvPr/>
        </p:nvSpPr>
        <p:spPr bwMode="auto">
          <a:xfrm>
            <a:off x="1600200" y="4724400"/>
            <a:ext cx="1074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700">
                <a:latin typeface="Arial" charset="0"/>
                <a:ea typeface="굴림체" pitchFamily="49" charset="-127"/>
              </a:rPr>
              <a:t>Coil[RS_ROPE_</a:t>
            </a:r>
          </a:p>
          <a:p>
            <a:pPr algn="ctr" latinLnBrk="0"/>
            <a:r>
              <a:rPr lang="en-US" altLang="ko-KR" sz="700">
                <a:latin typeface="Arial" charset="0"/>
                <a:ea typeface="굴림체" pitchFamily="49" charset="-127"/>
              </a:rPr>
              <a:t>COMPEN_REQUEST]</a:t>
            </a:r>
            <a:endParaRPr lang="en-US" altLang="ko-KR" sz="800">
              <a:latin typeface="Arial" charset="0"/>
              <a:ea typeface="굴림체" pitchFamily="49" charset="-127"/>
            </a:endParaRPr>
          </a:p>
        </p:txBody>
      </p:sp>
      <p:sp>
        <p:nvSpPr>
          <p:cNvPr id="2136" name="Line 88"/>
          <p:cNvSpPr>
            <a:spLocks noChangeShapeType="1"/>
          </p:cNvSpPr>
          <p:nvPr/>
        </p:nvSpPr>
        <p:spPr bwMode="auto">
          <a:xfrm>
            <a:off x="2743200" y="5638800"/>
            <a:ext cx="213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7" name="Rectangle 89"/>
          <p:cNvSpPr>
            <a:spLocks noChangeArrowheads="1"/>
          </p:cNvSpPr>
          <p:nvPr/>
        </p:nvSpPr>
        <p:spPr bwMode="auto">
          <a:xfrm>
            <a:off x="381000" y="4267200"/>
            <a:ext cx="6508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9" name="Group 90"/>
          <p:cNvGrpSpPr>
            <a:grpSpLocks/>
          </p:cNvGrpSpPr>
          <p:nvPr/>
        </p:nvGrpSpPr>
        <p:grpSpPr bwMode="auto">
          <a:xfrm>
            <a:off x="1524000" y="4495800"/>
            <a:ext cx="533400" cy="152400"/>
            <a:chOff x="1752" y="1440"/>
            <a:chExt cx="336" cy="96"/>
          </a:xfrm>
        </p:grpSpPr>
        <p:sp>
          <p:nvSpPr>
            <p:cNvPr id="2139" name="Line 91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0" name="Line 92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1" name="Line 93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2" name="Line 94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43" name="Rectangle 95"/>
          <p:cNvSpPr>
            <a:spLocks noChangeArrowheads="1"/>
          </p:cNvSpPr>
          <p:nvPr/>
        </p:nvSpPr>
        <p:spPr bwMode="auto">
          <a:xfrm>
            <a:off x="1219200" y="3124200"/>
            <a:ext cx="10906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4" tIns="45718" rIns="91434" bIns="45718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SWD_O[VO_C1BR]</a:t>
            </a:r>
          </a:p>
        </p:txBody>
      </p:sp>
      <p:grpSp>
        <p:nvGrpSpPr>
          <p:cNvPr id="10" name="Group 96"/>
          <p:cNvGrpSpPr>
            <a:grpSpLocks/>
          </p:cNvGrpSpPr>
          <p:nvPr/>
        </p:nvGrpSpPr>
        <p:grpSpPr bwMode="auto">
          <a:xfrm>
            <a:off x="2590800" y="3352800"/>
            <a:ext cx="533400" cy="152400"/>
            <a:chOff x="1752" y="1440"/>
            <a:chExt cx="336" cy="96"/>
          </a:xfrm>
        </p:grpSpPr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6" name="Line 98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7" name="Line 99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8" name="Line 100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1" name="Group 101"/>
          <p:cNvGrpSpPr>
            <a:grpSpLocks/>
          </p:cNvGrpSpPr>
          <p:nvPr/>
        </p:nvGrpSpPr>
        <p:grpSpPr bwMode="auto">
          <a:xfrm>
            <a:off x="3581400" y="3352800"/>
            <a:ext cx="533400" cy="152400"/>
            <a:chOff x="1752" y="1440"/>
            <a:chExt cx="336" cy="96"/>
          </a:xfrm>
        </p:grpSpPr>
        <p:sp>
          <p:nvSpPr>
            <p:cNvPr id="2150" name="Line 102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" name="Line 103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2" name="Line 104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3" name="Line 105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54" name="Line 106"/>
          <p:cNvSpPr>
            <a:spLocks noChangeShapeType="1"/>
          </p:cNvSpPr>
          <p:nvPr/>
        </p:nvSpPr>
        <p:spPr bwMode="auto">
          <a:xfrm>
            <a:off x="3124200" y="3429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5" name="Rectangle 107"/>
          <p:cNvSpPr>
            <a:spLocks noChangeArrowheads="1"/>
          </p:cNvSpPr>
          <p:nvPr/>
        </p:nvSpPr>
        <p:spPr bwMode="auto">
          <a:xfrm>
            <a:off x="2362200" y="3124200"/>
            <a:ext cx="9890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4" tIns="45718" rIns="91434" bIns="45718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SWD_I[VI_C1BR]</a:t>
            </a:r>
          </a:p>
        </p:txBody>
      </p:sp>
      <p:sp>
        <p:nvSpPr>
          <p:cNvPr id="2156" name="Rectangle 108"/>
          <p:cNvSpPr>
            <a:spLocks noChangeArrowheads="1"/>
          </p:cNvSpPr>
          <p:nvPr/>
        </p:nvSpPr>
        <p:spPr bwMode="auto">
          <a:xfrm>
            <a:off x="1447800" y="40386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0x91C3</a:t>
            </a:r>
          </a:p>
        </p:txBody>
      </p:sp>
      <p:grpSp>
        <p:nvGrpSpPr>
          <p:cNvPr id="12" name="Group 109"/>
          <p:cNvGrpSpPr>
            <a:grpSpLocks/>
          </p:cNvGrpSpPr>
          <p:nvPr/>
        </p:nvGrpSpPr>
        <p:grpSpPr bwMode="auto">
          <a:xfrm>
            <a:off x="1143000" y="3962400"/>
            <a:ext cx="533400" cy="152400"/>
            <a:chOff x="1752" y="1440"/>
            <a:chExt cx="336" cy="96"/>
          </a:xfrm>
        </p:grpSpPr>
        <p:sp>
          <p:nvSpPr>
            <p:cNvPr id="2158" name="Line 110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1" name="Line 113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62" name="Line 114"/>
          <p:cNvSpPr>
            <a:spLocks noChangeShapeType="1"/>
          </p:cNvSpPr>
          <p:nvPr/>
        </p:nvSpPr>
        <p:spPr bwMode="auto">
          <a:xfrm>
            <a:off x="762000" y="40386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3" name="Line 115"/>
          <p:cNvSpPr>
            <a:spLocks noChangeShapeType="1"/>
          </p:cNvSpPr>
          <p:nvPr/>
        </p:nvSpPr>
        <p:spPr bwMode="auto">
          <a:xfrm>
            <a:off x="1676400" y="40386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3" name="Group 116"/>
          <p:cNvGrpSpPr>
            <a:grpSpLocks/>
          </p:cNvGrpSpPr>
          <p:nvPr/>
        </p:nvGrpSpPr>
        <p:grpSpPr bwMode="auto">
          <a:xfrm>
            <a:off x="2133600" y="3962400"/>
            <a:ext cx="533400" cy="152400"/>
            <a:chOff x="1752" y="1440"/>
            <a:chExt cx="336" cy="96"/>
          </a:xfrm>
        </p:grpSpPr>
        <p:sp>
          <p:nvSpPr>
            <p:cNvPr id="2165" name="Line 117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6" name="Line 118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7" name="Line 119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8" name="Line 120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69" name="Rectangle 121"/>
          <p:cNvSpPr>
            <a:spLocks noChangeArrowheads="1"/>
          </p:cNvSpPr>
          <p:nvPr/>
        </p:nvSpPr>
        <p:spPr bwMode="auto">
          <a:xfrm>
            <a:off x="2819400" y="34290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0x9207</a:t>
            </a:r>
          </a:p>
        </p:txBody>
      </p:sp>
      <p:sp>
        <p:nvSpPr>
          <p:cNvPr id="2170" name="Rectangle 122"/>
          <p:cNvSpPr>
            <a:spLocks noChangeArrowheads="1"/>
          </p:cNvSpPr>
          <p:nvPr/>
        </p:nvSpPr>
        <p:spPr bwMode="auto">
          <a:xfrm>
            <a:off x="2438400" y="40386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0x91C3</a:t>
            </a:r>
          </a:p>
        </p:txBody>
      </p:sp>
      <p:sp>
        <p:nvSpPr>
          <p:cNvPr id="2171" name="Rectangle 123"/>
          <p:cNvSpPr>
            <a:spLocks noChangeArrowheads="1"/>
          </p:cNvSpPr>
          <p:nvPr/>
        </p:nvSpPr>
        <p:spPr bwMode="auto">
          <a:xfrm>
            <a:off x="3352800" y="4343400"/>
            <a:ext cx="14478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2" name="Rectangle 124"/>
          <p:cNvSpPr>
            <a:spLocks noChangeArrowheads="1"/>
          </p:cNvSpPr>
          <p:nvPr/>
        </p:nvSpPr>
        <p:spPr bwMode="auto">
          <a:xfrm>
            <a:off x="3429000" y="4419600"/>
            <a:ext cx="12827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TMC_Start(ENCODER_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DISCON_DETECT_T</a:t>
            </a:r>
          </a:p>
        </p:txBody>
      </p:sp>
      <p:sp>
        <p:nvSpPr>
          <p:cNvPr id="2173" name="Line 125"/>
          <p:cNvSpPr>
            <a:spLocks noChangeShapeType="1"/>
          </p:cNvSpPr>
          <p:nvPr/>
        </p:nvSpPr>
        <p:spPr bwMode="auto">
          <a:xfrm>
            <a:off x="2057400" y="457200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4" name="Line 126"/>
          <p:cNvSpPr>
            <a:spLocks noChangeShapeType="1"/>
          </p:cNvSpPr>
          <p:nvPr/>
        </p:nvSpPr>
        <p:spPr bwMode="auto">
          <a:xfrm>
            <a:off x="152400" y="5105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5" name="Rectangle 127"/>
          <p:cNvSpPr>
            <a:spLocks noChangeArrowheads="1"/>
          </p:cNvSpPr>
          <p:nvPr/>
        </p:nvSpPr>
        <p:spPr bwMode="auto">
          <a:xfrm>
            <a:off x="76200" y="4724400"/>
            <a:ext cx="1657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 latinLnBrk="0"/>
            <a:r>
              <a:rPr lang="en-US" altLang="ko-KR" sz="700">
                <a:latin typeface="Arial" charset="0"/>
                <a:ea typeface="굴림체" pitchFamily="49" charset="-127"/>
              </a:rPr>
              <a:t>TMC_Check(ENCODER_DISCON_</a:t>
            </a:r>
          </a:p>
          <a:p>
            <a:pPr algn="ctr" latinLnBrk="0"/>
            <a:r>
              <a:rPr lang="en-US" altLang="ko-KR" sz="700">
                <a:latin typeface="Arial" charset="0"/>
                <a:ea typeface="굴림체" pitchFamily="49" charset="-127"/>
              </a:rPr>
              <a:t>DETECT_T,FINISH_STATE)</a:t>
            </a:r>
            <a:endParaRPr lang="en-US" altLang="ko-KR" sz="800">
              <a:latin typeface="Arial" charset="0"/>
              <a:ea typeface="굴림체" pitchFamily="49" charset="-127"/>
            </a:endParaRPr>
          </a:p>
        </p:txBody>
      </p:sp>
      <p:sp>
        <p:nvSpPr>
          <p:cNvPr id="2176" name="Line 128"/>
          <p:cNvSpPr>
            <a:spLocks noChangeShapeType="1"/>
          </p:cNvSpPr>
          <p:nvPr/>
        </p:nvSpPr>
        <p:spPr bwMode="auto">
          <a:xfrm>
            <a:off x="1219200" y="5105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7" name="Rectangle 129"/>
          <p:cNvSpPr>
            <a:spLocks noChangeArrowheads="1"/>
          </p:cNvSpPr>
          <p:nvPr/>
        </p:nvSpPr>
        <p:spPr bwMode="auto">
          <a:xfrm>
            <a:off x="3505200" y="4876800"/>
            <a:ext cx="12954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8" name="Rectangle 130"/>
          <p:cNvSpPr>
            <a:spLocks noChangeArrowheads="1"/>
          </p:cNvSpPr>
          <p:nvPr/>
        </p:nvSpPr>
        <p:spPr bwMode="auto">
          <a:xfrm>
            <a:off x="3505200" y="4903788"/>
            <a:ext cx="12065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enco_input_er_cnt++</a:t>
            </a:r>
          </a:p>
        </p:txBody>
      </p:sp>
      <p:sp>
        <p:nvSpPr>
          <p:cNvPr id="2179" name="Line 131"/>
          <p:cNvSpPr>
            <a:spLocks noChangeShapeType="1"/>
          </p:cNvSpPr>
          <p:nvPr/>
        </p:nvSpPr>
        <p:spPr bwMode="auto">
          <a:xfrm>
            <a:off x="2438400" y="5105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0" name="Rectangle 132"/>
          <p:cNvSpPr>
            <a:spLocks noChangeArrowheads="1"/>
          </p:cNvSpPr>
          <p:nvPr/>
        </p:nvSpPr>
        <p:spPr bwMode="auto">
          <a:xfrm>
            <a:off x="2438400" y="5391150"/>
            <a:ext cx="12065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enco_input_er_cnt &gt; 2</a:t>
            </a:r>
          </a:p>
        </p:txBody>
      </p:sp>
      <p:sp>
        <p:nvSpPr>
          <p:cNvPr id="2181" name="Line 133"/>
          <p:cNvSpPr>
            <a:spLocks noChangeShapeType="1"/>
          </p:cNvSpPr>
          <p:nvPr/>
        </p:nvSpPr>
        <p:spPr bwMode="auto">
          <a:xfrm>
            <a:off x="1828800" y="51816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2" name="Rectangle 134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94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ER_ENCO_COUNTER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533400" y="838200"/>
            <a:ext cx="3552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현 주기에 읽은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R/E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카운터의 값과 이전 주기의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R/E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카운터의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값의 변화량이 정격 속도에서의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R/E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입력 펄스수의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배를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초과한 경우가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검출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52400" y="1905000"/>
            <a:ext cx="46482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입력 이상 시 발생 가능하다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T/M, Gear,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등의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맞지 않아 과대 속이 나타날 경우 많은 양의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Encoder Counter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값이 들어와서 검출 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39624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제어시방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Address 0x0100H ~ 0x0112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(TCD 60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조치사항의 적용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R/E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이상 여부를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TCD 92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조치사항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95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ER_MECHANICAL_SAFETY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2009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승강로 및 안전 회로의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143000"/>
            <a:ext cx="40386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DOA-100(ANN)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KEYPAD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A21E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8011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입력하여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0x01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0x01)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각 커넥터의 전압을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CA-15(DC 48V), GRS-01~02(GRS), GRS-04~05(GSS),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GRS-07,08(OBS), LSU-01~02(FLU), LSD-01~02(FLD), Y1-02 ~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Y1-01 (SCS), AB-16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순서로 전압을 체크하여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48V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± 5%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인지 확인하고 전압 검출되지 않으면 각각의 스위치 상태를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점검한다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번의 조치에서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AB-16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48V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검출되지만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ADDRESS 8011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0x00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입력 단 회로 이상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52400" y="2586038"/>
            <a:ext cx="0" cy="2214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4876800" y="2590800"/>
            <a:ext cx="0" cy="2209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152400" y="30480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4038600" y="2819400"/>
            <a:ext cx="739775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3048000" y="2743200"/>
            <a:ext cx="9906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SWD_I[VI_R5SX]</a:t>
            </a:r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123825" y="2774950"/>
            <a:ext cx="9429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SWD_I[VI_V48]</a:t>
            </a:r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609600" y="3092450"/>
            <a:ext cx="1463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TMC_Check(POWER_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READY_T, FINISH_STATE)</a:t>
            </a:r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 flipV="1">
            <a:off x="762000" y="3043238"/>
            <a:ext cx="45720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>
            <a:off x="3048000" y="30480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4076700" y="2819400"/>
            <a:ext cx="6842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36538" y="2971800"/>
            <a:ext cx="533400" cy="152400"/>
            <a:chOff x="480" y="1392"/>
            <a:chExt cx="336" cy="96"/>
          </a:xfrm>
        </p:grpSpPr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>
              <a:off x="624" y="139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>
              <a:off x="672" y="139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480" y="14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672" y="14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990600" y="2971800"/>
            <a:ext cx="533400" cy="152400"/>
            <a:chOff x="1824" y="1392"/>
            <a:chExt cx="336" cy="96"/>
          </a:xfrm>
        </p:grpSpPr>
        <p:sp>
          <p:nvSpPr>
            <p:cNvPr id="2084" name="Line 36"/>
            <p:cNvSpPr>
              <a:spLocks noChangeShapeType="1"/>
            </p:cNvSpPr>
            <p:nvPr/>
          </p:nvSpPr>
          <p:spPr bwMode="auto">
            <a:xfrm>
              <a:off x="1968" y="139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5" name="Line 37"/>
            <p:cNvSpPr>
              <a:spLocks noChangeShapeType="1"/>
            </p:cNvSpPr>
            <p:nvPr/>
          </p:nvSpPr>
          <p:spPr bwMode="auto">
            <a:xfrm>
              <a:off x="2016" y="139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6" name="Line 38"/>
            <p:cNvSpPr>
              <a:spLocks noChangeShapeType="1"/>
            </p:cNvSpPr>
            <p:nvPr/>
          </p:nvSpPr>
          <p:spPr bwMode="auto">
            <a:xfrm>
              <a:off x="1824" y="14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7" name="Line 39"/>
            <p:cNvSpPr>
              <a:spLocks noChangeShapeType="1"/>
            </p:cNvSpPr>
            <p:nvPr/>
          </p:nvSpPr>
          <p:spPr bwMode="auto">
            <a:xfrm>
              <a:off x="2016" y="14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1828800" y="2971800"/>
            <a:ext cx="533400" cy="152400"/>
            <a:chOff x="912" y="1776"/>
            <a:chExt cx="336" cy="96"/>
          </a:xfrm>
        </p:grpSpPr>
        <p:grpSp>
          <p:nvGrpSpPr>
            <p:cNvPr id="5" name="Group 41"/>
            <p:cNvGrpSpPr>
              <a:grpSpLocks/>
            </p:cNvGrpSpPr>
            <p:nvPr/>
          </p:nvGrpSpPr>
          <p:grpSpPr bwMode="auto">
            <a:xfrm>
              <a:off x="912" y="1776"/>
              <a:ext cx="336" cy="96"/>
              <a:chOff x="912" y="1776"/>
              <a:chExt cx="336" cy="96"/>
            </a:xfrm>
          </p:grpSpPr>
          <p:sp>
            <p:nvSpPr>
              <p:cNvPr id="2090" name="Line 42"/>
              <p:cNvSpPr>
                <a:spLocks noChangeShapeType="1"/>
              </p:cNvSpPr>
              <p:nvPr/>
            </p:nvSpPr>
            <p:spPr bwMode="auto">
              <a:xfrm>
                <a:off x="1056" y="177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1" name="Line 43"/>
              <p:cNvSpPr>
                <a:spLocks noChangeShapeType="1"/>
              </p:cNvSpPr>
              <p:nvPr/>
            </p:nvSpPr>
            <p:spPr bwMode="auto">
              <a:xfrm>
                <a:off x="1104" y="177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912" y="182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1104" y="182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 flipV="1">
              <a:off x="1008" y="177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5" name="Line 47"/>
          <p:cNvSpPr>
            <a:spLocks noChangeShapeType="1"/>
          </p:cNvSpPr>
          <p:nvPr/>
        </p:nvSpPr>
        <p:spPr bwMode="auto">
          <a:xfrm>
            <a:off x="152400" y="38100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>
            <a:off x="1219200" y="3733800"/>
            <a:ext cx="533400" cy="152400"/>
            <a:chOff x="384" y="2112"/>
            <a:chExt cx="336" cy="96"/>
          </a:xfrm>
        </p:grpSpPr>
        <p:sp>
          <p:nvSpPr>
            <p:cNvPr id="2097" name="Line 49"/>
            <p:cNvSpPr>
              <a:spLocks noChangeShapeType="1"/>
            </p:cNvSpPr>
            <p:nvPr/>
          </p:nvSpPr>
          <p:spPr bwMode="auto">
            <a:xfrm>
              <a:off x="528" y="211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8" name="Line 50"/>
            <p:cNvSpPr>
              <a:spLocks noChangeShapeType="1"/>
            </p:cNvSpPr>
            <p:nvPr/>
          </p:nvSpPr>
          <p:spPr bwMode="auto">
            <a:xfrm>
              <a:off x="576" y="211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384" y="216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0" name="Line 52"/>
            <p:cNvSpPr>
              <a:spLocks noChangeShapeType="1"/>
            </p:cNvSpPr>
            <p:nvPr/>
          </p:nvSpPr>
          <p:spPr bwMode="auto">
            <a:xfrm>
              <a:off x="576" y="216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1676400" y="3810000"/>
            <a:ext cx="320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2" name="Line 54"/>
          <p:cNvSpPr>
            <a:spLocks noChangeShapeType="1"/>
          </p:cNvSpPr>
          <p:nvPr/>
        </p:nvSpPr>
        <p:spPr bwMode="auto">
          <a:xfrm flipV="1">
            <a:off x="1524000" y="30480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3" name="Rectangle 55"/>
          <p:cNvSpPr>
            <a:spLocks noChangeArrowheads="1"/>
          </p:cNvSpPr>
          <p:nvPr/>
        </p:nvSpPr>
        <p:spPr bwMode="auto">
          <a:xfrm>
            <a:off x="4038600" y="4114800"/>
            <a:ext cx="739775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4" name="Rectangle 56"/>
          <p:cNvSpPr>
            <a:spLocks noChangeArrowheads="1"/>
          </p:cNvSpPr>
          <p:nvPr/>
        </p:nvSpPr>
        <p:spPr bwMode="auto">
          <a:xfrm>
            <a:off x="4111625" y="3581400"/>
            <a:ext cx="5810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95</a:t>
            </a:r>
          </a:p>
        </p:txBody>
      </p:sp>
      <p:sp>
        <p:nvSpPr>
          <p:cNvPr id="2105" name="Rectangle 57"/>
          <p:cNvSpPr>
            <a:spLocks noChangeArrowheads="1"/>
          </p:cNvSpPr>
          <p:nvPr/>
        </p:nvSpPr>
        <p:spPr bwMode="auto">
          <a:xfrm>
            <a:off x="1219200" y="3505200"/>
            <a:ext cx="6508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106" name="Rectangle 58"/>
          <p:cNvSpPr>
            <a:spLocks noChangeArrowheads="1"/>
          </p:cNvSpPr>
          <p:nvPr/>
        </p:nvSpPr>
        <p:spPr bwMode="auto">
          <a:xfrm>
            <a:off x="228600" y="311467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0x8010</a:t>
            </a:r>
          </a:p>
        </p:txBody>
      </p:sp>
      <p:sp>
        <p:nvSpPr>
          <p:cNvPr id="2107" name="Rectangle 59"/>
          <p:cNvSpPr>
            <a:spLocks noChangeArrowheads="1"/>
          </p:cNvSpPr>
          <p:nvPr/>
        </p:nvSpPr>
        <p:spPr bwMode="auto">
          <a:xfrm>
            <a:off x="3581400" y="30480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0x8011</a:t>
            </a:r>
          </a:p>
        </p:txBody>
      </p:sp>
      <p:sp>
        <p:nvSpPr>
          <p:cNvPr id="2108" name="Rectangle 60"/>
          <p:cNvSpPr>
            <a:spLocks noChangeArrowheads="1"/>
          </p:cNvSpPr>
          <p:nvPr/>
        </p:nvSpPr>
        <p:spPr bwMode="auto">
          <a:xfrm>
            <a:off x="152400" y="1905000"/>
            <a:ext cx="43132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승강로 및 안전 회로 신호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(R5SX)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검출함</a:t>
            </a:r>
          </a:p>
        </p:txBody>
      </p:sp>
      <p:grpSp>
        <p:nvGrpSpPr>
          <p:cNvPr id="7" name="Group 61"/>
          <p:cNvGrpSpPr>
            <a:grpSpLocks/>
          </p:cNvGrpSpPr>
          <p:nvPr/>
        </p:nvGrpSpPr>
        <p:grpSpPr bwMode="auto">
          <a:xfrm>
            <a:off x="2590800" y="2971800"/>
            <a:ext cx="533400" cy="152400"/>
            <a:chOff x="912" y="1776"/>
            <a:chExt cx="336" cy="96"/>
          </a:xfrm>
        </p:grpSpPr>
        <p:grpSp>
          <p:nvGrpSpPr>
            <p:cNvPr id="8" name="Group 62"/>
            <p:cNvGrpSpPr>
              <a:grpSpLocks/>
            </p:cNvGrpSpPr>
            <p:nvPr/>
          </p:nvGrpSpPr>
          <p:grpSpPr bwMode="auto">
            <a:xfrm>
              <a:off x="912" y="1776"/>
              <a:ext cx="336" cy="96"/>
              <a:chOff x="912" y="1776"/>
              <a:chExt cx="336" cy="96"/>
            </a:xfrm>
          </p:grpSpPr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>
                <a:off x="1056" y="177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1104" y="177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>
                <a:off x="912" y="182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1104" y="182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15" name="Line 67"/>
            <p:cNvSpPr>
              <a:spLocks noChangeShapeType="1"/>
            </p:cNvSpPr>
            <p:nvPr/>
          </p:nvSpPr>
          <p:spPr bwMode="auto">
            <a:xfrm flipV="1">
              <a:off x="1008" y="177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9" name="Group 68"/>
          <p:cNvGrpSpPr>
            <a:grpSpLocks/>
          </p:cNvGrpSpPr>
          <p:nvPr/>
        </p:nvGrpSpPr>
        <p:grpSpPr bwMode="auto">
          <a:xfrm>
            <a:off x="3352800" y="2971800"/>
            <a:ext cx="533400" cy="152400"/>
            <a:chOff x="912" y="1776"/>
            <a:chExt cx="336" cy="96"/>
          </a:xfrm>
        </p:grpSpPr>
        <p:grpSp>
          <p:nvGrpSpPr>
            <p:cNvPr id="10" name="Group 69"/>
            <p:cNvGrpSpPr>
              <a:grpSpLocks/>
            </p:cNvGrpSpPr>
            <p:nvPr/>
          </p:nvGrpSpPr>
          <p:grpSpPr bwMode="auto">
            <a:xfrm>
              <a:off x="912" y="1776"/>
              <a:ext cx="336" cy="96"/>
              <a:chOff x="912" y="1776"/>
              <a:chExt cx="336" cy="96"/>
            </a:xfrm>
          </p:grpSpPr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>
                <a:off x="1056" y="177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>
                <a:off x="1104" y="177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>
                <a:off x="912" y="182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>
                <a:off x="1104" y="182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22" name="Line 74"/>
            <p:cNvSpPr>
              <a:spLocks noChangeShapeType="1"/>
            </p:cNvSpPr>
            <p:nvPr/>
          </p:nvSpPr>
          <p:spPr bwMode="auto">
            <a:xfrm flipV="1">
              <a:off x="1008" y="177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3" name="Rectangle 75"/>
          <p:cNvSpPr>
            <a:spLocks noChangeArrowheads="1"/>
          </p:cNvSpPr>
          <p:nvPr/>
        </p:nvSpPr>
        <p:spPr bwMode="auto">
          <a:xfrm>
            <a:off x="1524000" y="2667000"/>
            <a:ext cx="1085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ROPE_GRIPPER]</a:t>
            </a:r>
          </a:p>
        </p:txBody>
      </p:sp>
      <p:sp>
        <p:nvSpPr>
          <p:cNvPr id="2124" name="Line 76"/>
          <p:cNvSpPr>
            <a:spLocks noChangeShapeType="1"/>
          </p:cNvSpPr>
          <p:nvPr/>
        </p:nvSpPr>
        <p:spPr bwMode="auto">
          <a:xfrm flipV="1">
            <a:off x="2362200" y="30480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5" name="Rectangle 77"/>
          <p:cNvSpPr>
            <a:spLocks noChangeArrowheads="1"/>
          </p:cNvSpPr>
          <p:nvPr/>
        </p:nvSpPr>
        <p:spPr bwMode="auto">
          <a:xfrm>
            <a:off x="2051050" y="308927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0x8094</a:t>
            </a:r>
          </a:p>
        </p:txBody>
      </p:sp>
      <p:sp>
        <p:nvSpPr>
          <p:cNvPr id="2126" name="Rectangle 78"/>
          <p:cNvSpPr>
            <a:spLocks noChangeArrowheads="1"/>
          </p:cNvSpPr>
          <p:nvPr/>
        </p:nvSpPr>
        <p:spPr bwMode="auto">
          <a:xfrm>
            <a:off x="2451100" y="3124200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Coil[SW_SS_48V_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DOWN_HOLD]</a:t>
            </a:r>
          </a:p>
        </p:txBody>
      </p:sp>
      <p:sp>
        <p:nvSpPr>
          <p:cNvPr id="2127" name="Rectangle 79"/>
          <p:cNvSpPr>
            <a:spLocks noChangeArrowheads="1"/>
          </p:cNvSpPr>
          <p:nvPr/>
        </p:nvSpPr>
        <p:spPr bwMode="auto">
          <a:xfrm>
            <a:off x="4038600" y="3581400"/>
            <a:ext cx="739775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2438400" y="42672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2514600" y="42672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Line 82"/>
          <p:cNvSpPr>
            <a:spLocks noChangeShapeType="1"/>
          </p:cNvSpPr>
          <p:nvPr/>
        </p:nvSpPr>
        <p:spPr bwMode="auto">
          <a:xfrm>
            <a:off x="2514600" y="43434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1" name="Line 83"/>
          <p:cNvSpPr>
            <a:spLocks noChangeShapeType="1"/>
          </p:cNvSpPr>
          <p:nvPr/>
        </p:nvSpPr>
        <p:spPr bwMode="auto">
          <a:xfrm flipV="1">
            <a:off x="2362200" y="4267200"/>
            <a:ext cx="228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2" name="Line 84"/>
          <p:cNvSpPr>
            <a:spLocks noChangeShapeType="1"/>
          </p:cNvSpPr>
          <p:nvPr/>
        </p:nvSpPr>
        <p:spPr bwMode="auto">
          <a:xfrm>
            <a:off x="2438400" y="3810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3" name="Line 85"/>
          <p:cNvSpPr>
            <a:spLocks noChangeShapeType="1"/>
          </p:cNvSpPr>
          <p:nvPr/>
        </p:nvSpPr>
        <p:spPr bwMode="auto">
          <a:xfrm>
            <a:off x="2438400" y="43434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1" name="Group 86"/>
          <p:cNvGrpSpPr>
            <a:grpSpLocks/>
          </p:cNvGrpSpPr>
          <p:nvPr/>
        </p:nvGrpSpPr>
        <p:grpSpPr bwMode="auto">
          <a:xfrm>
            <a:off x="2209800" y="3733800"/>
            <a:ext cx="533400" cy="152400"/>
            <a:chOff x="384" y="2112"/>
            <a:chExt cx="336" cy="96"/>
          </a:xfrm>
        </p:grpSpPr>
        <p:sp>
          <p:nvSpPr>
            <p:cNvPr id="2135" name="Line 87"/>
            <p:cNvSpPr>
              <a:spLocks noChangeShapeType="1"/>
            </p:cNvSpPr>
            <p:nvPr/>
          </p:nvSpPr>
          <p:spPr bwMode="auto">
            <a:xfrm>
              <a:off x="528" y="211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6" name="Line 88"/>
            <p:cNvSpPr>
              <a:spLocks noChangeShapeType="1"/>
            </p:cNvSpPr>
            <p:nvPr/>
          </p:nvSpPr>
          <p:spPr bwMode="auto">
            <a:xfrm>
              <a:off x="576" y="211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7" name="Line 89"/>
            <p:cNvSpPr>
              <a:spLocks noChangeShapeType="1"/>
            </p:cNvSpPr>
            <p:nvPr/>
          </p:nvSpPr>
          <p:spPr bwMode="auto">
            <a:xfrm>
              <a:off x="384" y="216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8" name="Line 90"/>
            <p:cNvSpPr>
              <a:spLocks noChangeShapeType="1"/>
            </p:cNvSpPr>
            <p:nvPr/>
          </p:nvSpPr>
          <p:spPr bwMode="auto">
            <a:xfrm>
              <a:off x="576" y="216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2095500" y="3530600"/>
            <a:ext cx="11430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r5sx_err_count &gt; 3</a:t>
            </a:r>
          </a:p>
        </p:txBody>
      </p:sp>
      <p:sp>
        <p:nvSpPr>
          <p:cNvPr id="2140" name="Rectangle 92"/>
          <p:cNvSpPr>
            <a:spLocks noChangeArrowheads="1"/>
          </p:cNvSpPr>
          <p:nvPr/>
        </p:nvSpPr>
        <p:spPr bwMode="auto">
          <a:xfrm>
            <a:off x="3975100" y="4152900"/>
            <a:ext cx="8651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r5sx_err_count</a:t>
            </a:r>
          </a:p>
        </p:txBody>
      </p:sp>
      <p:sp>
        <p:nvSpPr>
          <p:cNvPr id="2141" name="Rectangle 93"/>
          <p:cNvSpPr>
            <a:spLocks noChangeArrowheads="1"/>
          </p:cNvSpPr>
          <p:nvPr/>
        </p:nvSpPr>
        <p:spPr bwMode="auto">
          <a:xfrm>
            <a:off x="3733800" y="4114800"/>
            <a:ext cx="3000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+1</a:t>
            </a:r>
          </a:p>
        </p:txBody>
      </p:sp>
      <p:sp>
        <p:nvSpPr>
          <p:cNvPr id="2142" name="Rectangle 94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1" grpId="0" animBg="1"/>
      <p:bldP spid="2103" grpId="0" animBg="1"/>
      <p:bldP spid="21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96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50292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ER_ABNORMAL_MODE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762000"/>
            <a:ext cx="36703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HIGH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ON_CAR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신호가 동시에 입력된 경우 또는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신호 입력이 전혀 없는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900">
                <a:latin typeface="Arial" charset="0"/>
                <a:ea typeface="굴림체" pitchFamily="49" charset="-127"/>
              </a:rPr>
              <a:t>(IN_CAR Switch </a:t>
            </a:r>
            <a:r>
              <a:rPr lang="ko-KR" altLang="en-US" sz="900">
                <a:latin typeface="Arial" charset="0"/>
                <a:ea typeface="굴림체" pitchFamily="49" charset="-127"/>
              </a:rPr>
              <a:t>적용 납선에서</a:t>
            </a:r>
            <a:r>
              <a:rPr lang="en-US" altLang="ko-KR" sz="9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900">
                <a:latin typeface="Arial" charset="0"/>
                <a:ea typeface="굴림체" pitchFamily="49" charset="-127"/>
              </a:rPr>
              <a:t>                      HIGH </a:t>
            </a:r>
            <a:r>
              <a:rPr lang="ko-KR" altLang="en-US" sz="900">
                <a:latin typeface="Arial" charset="0"/>
                <a:ea typeface="굴림체" pitchFamily="49" charset="-127"/>
              </a:rPr>
              <a:t>신호와 </a:t>
            </a:r>
            <a:r>
              <a:rPr lang="en-US" altLang="ko-KR" sz="900">
                <a:latin typeface="Arial" charset="0"/>
                <a:ea typeface="굴림체" pitchFamily="49" charset="-127"/>
              </a:rPr>
              <a:t>IN_CAR </a:t>
            </a:r>
            <a:r>
              <a:rPr lang="ko-KR" altLang="en-US" sz="900">
                <a:latin typeface="Arial" charset="0"/>
                <a:ea typeface="굴림체" pitchFamily="49" charset="-127"/>
              </a:rPr>
              <a:t>신호가 동시에 입력된 경우 또는 </a:t>
            </a:r>
          </a:p>
          <a:p>
            <a:pPr latinLnBrk="0"/>
            <a:r>
              <a:rPr lang="ko-KR" altLang="en-US" sz="900">
                <a:latin typeface="Arial" charset="0"/>
                <a:ea typeface="굴림체" pitchFamily="49" charset="-127"/>
              </a:rPr>
              <a:t>                      </a:t>
            </a:r>
            <a:r>
              <a:rPr lang="en-US" altLang="ko-KR" sz="900">
                <a:latin typeface="Arial" charset="0"/>
                <a:ea typeface="굴림체" pitchFamily="49" charset="-127"/>
              </a:rPr>
              <a:t>IN_CAR </a:t>
            </a:r>
            <a:r>
              <a:rPr lang="ko-KR" altLang="en-US" sz="900">
                <a:latin typeface="Arial" charset="0"/>
                <a:ea typeface="굴림체" pitchFamily="49" charset="-127"/>
              </a:rPr>
              <a:t>신호와 </a:t>
            </a:r>
            <a:r>
              <a:rPr lang="en-US" altLang="ko-KR" sz="900">
                <a:latin typeface="Arial" charset="0"/>
                <a:ea typeface="굴림체" pitchFamily="49" charset="-127"/>
              </a:rPr>
              <a:t>ON_CAR </a:t>
            </a:r>
            <a:r>
              <a:rPr lang="ko-KR" altLang="en-US" sz="900">
                <a:latin typeface="Arial" charset="0"/>
                <a:ea typeface="굴림체" pitchFamily="49" charset="-127"/>
              </a:rPr>
              <a:t>신호가 동시에 입력된 경우</a:t>
            </a:r>
            <a:endParaRPr lang="ko-KR" altLang="en-US" sz="1000">
              <a:latin typeface="Arial" charset="0"/>
              <a:ea typeface="굴림체" pitchFamily="49" charset="-127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4953000" y="5334000"/>
            <a:ext cx="3962400" cy="137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DOA-100(ANN) KEYPAD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A21E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입력 후 위 결선도  각각의   </a:t>
            </a:r>
          </a:p>
          <a:p>
            <a:pPr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ADDRRESS  0x82AD,0x82AE, 0x82AF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개의 입력 포트 중 하나만이 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H”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인식 되어야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하나도 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H”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아닌 경우에는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INCAR MAINT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MAINT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 </a:t>
            </a:r>
          </a:p>
          <a:p>
            <a:pPr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위치시키지 않은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CAR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CAR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위치에 </a:t>
            </a:r>
          </a:p>
          <a:p>
            <a:pPr latinLnBrk="0">
              <a:lnSpc>
                <a:spcPct val="12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두었는지 확인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.(IN CAR Switch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적용 납선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</a:p>
          <a:p>
            <a:pPr latinLnBrk="0">
              <a:lnSpc>
                <a:spcPct val="12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두개이상이 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H”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결선을 확인하여 각상에 전압을 체크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  <a:r>
              <a:rPr lang="en-US" altLang="ko-KR" sz="1000">
                <a:solidFill>
                  <a:srgbClr val="FF3300"/>
                </a:solidFill>
                <a:latin typeface="Arial" charset="0"/>
                <a:ea typeface="굴림체" pitchFamily="49" charset="-127"/>
              </a:rPr>
              <a:t> 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5013325" y="3048000"/>
            <a:ext cx="3900488" cy="2181225"/>
            <a:chOff x="3158" y="1708"/>
            <a:chExt cx="2457" cy="1589"/>
          </a:xfrm>
        </p:grpSpPr>
        <p:sp>
          <p:nvSpPr>
            <p:cNvPr id="2069" name="Rectangle 21"/>
            <p:cNvSpPr>
              <a:spLocks noChangeArrowheads="1"/>
            </p:cNvSpPr>
            <p:nvPr/>
          </p:nvSpPr>
          <p:spPr bwMode="auto">
            <a:xfrm>
              <a:off x="3158" y="1737"/>
              <a:ext cx="1098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0" tIns="46035" rIns="92070" bIns="46035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P48V [  IN CAR Switch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적용 납선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]</a:t>
              </a:r>
            </a:p>
          </p:txBody>
        </p:sp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3264" y="1708"/>
              <a:ext cx="2351" cy="1589"/>
              <a:chOff x="3264" y="1161"/>
              <a:chExt cx="2351" cy="1589"/>
            </a:xfrm>
          </p:grpSpPr>
          <p:sp>
            <p:nvSpPr>
              <p:cNvPr id="2071" name="Rectangle 23"/>
              <p:cNvSpPr>
                <a:spLocks noChangeArrowheads="1"/>
              </p:cNvSpPr>
              <p:nvPr/>
            </p:nvSpPr>
            <p:spPr bwMode="auto">
              <a:xfrm>
                <a:off x="4934" y="1161"/>
                <a:ext cx="373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0" tIns="46035" rIns="92070" bIns="46035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DCL-241</a:t>
                </a:r>
              </a:p>
            </p:txBody>
          </p:sp>
          <p:grpSp>
            <p:nvGrpSpPr>
              <p:cNvPr id="4" name="Group 24"/>
              <p:cNvGrpSpPr>
                <a:grpSpLocks/>
              </p:cNvGrpSpPr>
              <p:nvPr/>
            </p:nvGrpSpPr>
            <p:grpSpPr bwMode="auto">
              <a:xfrm>
                <a:off x="3504" y="1558"/>
                <a:ext cx="384" cy="184"/>
                <a:chOff x="3600" y="1078"/>
                <a:chExt cx="384" cy="184"/>
              </a:xfrm>
            </p:grpSpPr>
            <p:sp>
              <p:nvSpPr>
                <p:cNvPr id="2073" name="Oval 25"/>
                <p:cNvSpPr>
                  <a:spLocks noChangeArrowheads="1"/>
                </p:cNvSpPr>
                <p:nvPr/>
              </p:nvSpPr>
              <p:spPr bwMode="auto">
                <a:xfrm>
                  <a:off x="3658" y="1078"/>
                  <a:ext cx="48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74" name="Oval 26"/>
                <p:cNvSpPr>
                  <a:spLocks noChangeArrowheads="1"/>
                </p:cNvSpPr>
                <p:nvPr/>
              </p:nvSpPr>
              <p:spPr bwMode="auto">
                <a:xfrm>
                  <a:off x="3823" y="1078"/>
                  <a:ext cx="47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75" name="Oval 27"/>
                <p:cNvSpPr>
                  <a:spLocks noChangeArrowheads="1"/>
                </p:cNvSpPr>
                <p:nvPr/>
              </p:nvSpPr>
              <p:spPr bwMode="auto">
                <a:xfrm>
                  <a:off x="3823" y="1206"/>
                  <a:ext cx="47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76" name="Line 28"/>
                <p:cNvSpPr>
                  <a:spLocks noChangeShapeType="1"/>
                </p:cNvSpPr>
                <p:nvPr/>
              </p:nvSpPr>
              <p:spPr bwMode="auto">
                <a:xfrm>
                  <a:off x="3710" y="1106"/>
                  <a:ext cx="192" cy="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77" name="Line 29"/>
                <p:cNvSpPr>
                  <a:spLocks noChangeShapeType="1"/>
                </p:cNvSpPr>
                <p:nvPr/>
              </p:nvSpPr>
              <p:spPr bwMode="auto">
                <a:xfrm>
                  <a:off x="3710" y="1106"/>
                  <a:ext cx="192" cy="1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78" name="Line 30"/>
                <p:cNvSpPr>
                  <a:spLocks noChangeShapeType="1"/>
                </p:cNvSpPr>
                <p:nvPr/>
              </p:nvSpPr>
              <p:spPr bwMode="auto">
                <a:xfrm>
                  <a:off x="3874" y="1106"/>
                  <a:ext cx="11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79" name="Line 31"/>
                <p:cNvSpPr>
                  <a:spLocks noChangeShapeType="1"/>
                </p:cNvSpPr>
                <p:nvPr/>
              </p:nvSpPr>
              <p:spPr bwMode="auto">
                <a:xfrm>
                  <a:off x="3600" y="1106"/>
                  <a:ext cx="5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" name="Group 32"/>
              <p:cNvGrpSpPr>
                <a:grpSpLocks/>
              </p:cNvGrpSpPr>
              <p:nvPr/>
            </p:nvGrpSpPr>
            <p:grpSpPr bwMode="auto">
              <a:xfrm>
                <a:off x="3504" y="2134"/>
                <a:ext cx="384" cy="184"/>
                <a:chOff x="3600" y="1654"/>
                <a:chExt cx="384" cy="184"/>
              </a:xfrm>
            </p:grpSpPr>
            <p:sp>
              <p:nvSpPr>
                <p:cNvPr id="2081" name="Oval 33"/>
                <p:cNvSpPr>
                  <a:spLocks noChangeArrowheads="1"/>
                </p:cNvSpPr>
                <p:nvPr/>
              </p:nvSpPr>
              <p:spPr bwMode="auto">
                <a:xfrm>
                  <a:off x="3658" y="1654"/>
                  <a:ext cx="48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2" name="Oval 34"/>
                <p:cNvSpPr>
                  <a:spLocks noChangeArrowheads="1"/>
                </p:cNvSpPr>
                <p:nvPr/>
              </p:nvSpPr>
              <p:spPr bwMode="auto">
                <a:xfrm>
                  <a:off x="3823" y="1654"/>
                  <a:ext cx="47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3" name="Oval 35"/>
                <p:cNvSpPr>
                  <a:spLocks noChangeArrowheads="1"/>
                </p:cNvSpPr>
                <p:nvPr/>
              </p:nvSpPr>
              <p:spPr bwMode="auto">
                <a:xfrm>
                  <a:off x="3823" y="1782"/>
                  <a:ext cx="47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4" name="Line 36"/>
                <p:cNvSpPr>
                  <a:spLocks noChangeShapeType="1"/>
                </p:cNvSpPr>
                <p:nvPr/>
              </p:nvSpPr>
              <p:spPr bwMode="auto">
                <a:xfrm>
                  <a:off x="3710" y="1682"/>
                  <a:ext cx="192" cy="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5" name="Line 37"/>
                <p:cNvSpPr>
                  <a:spLocks noChangeShapeType="1"/>
                </p:cNvSpPr>
                <p:nvPr/>
              </p:nvSpPr>
              <p:spPr bwMode="auto">
                <a:xfrm>
                  <a:off x="3710" y="1682"/>
                  <a:ext cx="192" cy="1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6" name="Line 38"/>
                <p:cNvSpPr>
                  <a:spLocks noChangeShapeType="1"/>
                </p:cNvSpPr>
                <p:nvPr/>
              </p:nvSpPr>
              <p:spPr bwMode="auto">
                <a:xfrm>
                  <a:off x="3874" y="1682"/>
                  <a:ext cx="11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87" name="Line 39"/>
                <p:cNvSpPr>
                  <a:spLocks noChangeShapeType="1"/>
                </p:cNvSpPr>
                <p:nvPr/>
              </p:nvSpPr>
              <p:spPr bwMode="auto">
                <a:xfrm>
                  <a:off x="3600" y="1682"/>
                  <a:ext cx="5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6" name="Group 40"/>
              <p:cNvGrpSpPr>
                <a:grpSpLocks/>
              </p:cNvGrpSpPr>
              <p:nvPr/>
            </p:nvGrpSpPr>
            <p:grpSpPr bwMode="auto">
              <a:xfrm>
                <a:off x="4080" y="1558"/>
                <a:ext cx="384" cy="184"/>
                <a:chOff x="4176" y="1078"/>
                <a:chExt cx="384" cy="184"/>
              </a:xfrm>
            </p:grpSpPr>
            <p:sp>
              <p:nvSpPr>
                <p:cNvPr id="2089" name="Oval 41"/>
                <p:cNvSpPr>
                  <a:spLocks noChangeArrowheads="1"/>
                </p:cNvSpPr>
                <p:nvPr/>
              </p:nvSpPr>
              <p:spPr bwMode="auto">
                <a:xfrm>
                  <a:off x="4234" y="1078"/>
                  <a:ext cx="48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0" name="Oval 42"/>
                <p:cNvSpPr>
                  <a:spLocks noChangeArrowheads="1"/>
                </p:cNvSpPr>
                <p:nvPr/>
              </p:nvSpPr>
              <p:spPr bwMode="auto">
                <a:xfrm>
                  <a:off x="4399" y="1078"/>
                  <a:ext cx="47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1" name="Oval 43"/>
                <p:cNvSpPr>
                  <a:spLocks noChangeArrowheads="1"/>
                </p:cNvSpPr>
                <p:nvPr/>
              </p:nvSpPr>
              <p:spPr bwMode="auto">
                <a:xfrm>
                  <a:off x="4399" y="1206"/>
                  <a:ext cx="47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2" name="Line 44"/>
                <p:cNvSpPr>
                  <a:spLocks noChangeShapeType="1"/>
                </p:cNvSpPr>
                <p:nvPr/>
              </p:nvSpPr>
              <p:spPr bwMode="auto">
                <a:xfrm>
                  <a:off x="4286" y="1106"/>
                  <a:ext cx="192" cy="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3" name="Line 45"/>
                <p:cNvSpPr>
                  <a:spLocks noChangeShapeType="1"/>
                </p:cNvSpPr>
                <p:nvPr/>
              </p:nvSpPr>
              <p:spPr bwMode="auto">
                <a:xfrm>
                  <a:off x="4286" y="1106"/>
                  <a:ext cx="192" cy="1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4" name="Line 46"/>
                <p:cNvSpPr>
                  <a:spLocks noChangeShapeType="1"/>
                </p:cNvSpPr>
                <p:nvPr/>
              </p:nvSpPr>
              <p:spPr bwMode="auto">
                <a:xfrm>
                  <a:off x="4450" y="1106"/>
                  <a:ext cx="11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5" name="Line 47"/>
                <p:cNvSpPr>
                  <a:spLocks noChangeShapeType="1"/>
                </p:cNvSpPr>
                <p:nvPr/>
              </p:nvSpPr>
              <p:spPr bwMode="auto">
                <a:xfrm>
                  <a:off x="4176" y="1106"/>
                  <a:ext cx="5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7" name="Group 48"/>
              <p:cNvGrpSpPr>
                <a:grpSpLocks/>
              </p:cNvGrpSpPr>
              <p:nvPr/>
            </p:nvGrpSpPr>
            <p:grpSpPr bwMode="auto">
              <a:xfrm>
                <a:off x="4080" y="2134"/>
                <a:ext cx="384" cy="184"/>
                <a:chOff x="4176" y="1654"/>
                <a:chExt cx="384" cy="184"/>
              </a:xfrm>
            </p:grpSpPr>
            <p:sp>
              <p:nvSpPr>
                <p:cNvPr id="2097" name="Oval 49"/>
                <p:cNvSpPr>
                  <a:spLocks noChangeArrowheads="1"/>
                </p:cNvSpPr>
                <p:nvPr/>
              </p:nvSpPr>
              <p:spPr bwMode="auto">
                <a:xfrm>
                  <a:off x="4234" y="1654"/>
                  <a:ext cx="48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8" name="Oval 50"/>
                <p:cNvSpPr>
                  <a:spLocks noChangeArrowheads="1"/>
                </p:cNvSpPr>
                <p:nvPr/>
              </p:nvSpPr>
              <p:spPr bwMode="auto">
                <a:xfrm>
                  <a:off x="4399" y="1654"/>
                  <a:ext cx="47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099" name="Oval 51"/>
                <p:cNvSpPr>
                  <a:spLocks noChangeArrowheads="1"/>
                </p:cNvSpPr>
                <p:nvPr/>
              </p:nvSpPr>
              <p:spPr bwMode="auto">
                <a:xfrm>
                  <a:off x="4399" y="1782"/>
                  <a:ext cx="47" cy="5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00" name="Line 52"/>
                <p:cNvSpPr>
                  <a:spLocks noChangeShapeType="1"/>
                </p:cNvSpPr>
                <p:nvPr/>
              </p:nvSpPr>
              <p:spPr bwMode="auto">
                <a:xfrm>
                  <a:off x="4286" y="1682"/>
                  <a:ext cx="192" cy="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01" name="Line 53"/>
                <p:cNvSpPr>
                  <a:spLocks noChangeShapeType="1"/>
                </p:cNvSpPr>
                <p:nvPr/>
              </p:nvSpPr>
              <p:spPr bwMode="auto">
                <a:xfrm>
                  <a:off x="4286" y="1682"/>
                  <a:ext cx="192" cy="1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02" name="Line 54"/>
                <p:cNvSpPr>
                  <a:spLocks noChangeShapeType="1"/>
                </p:cNvSpPr>
                <p:nvPr/>
              </p:nvSpPr>
              <p:spPr bwMode="auto">
                <a:xfrm>
                  <a:off x="4450" y="1682"/>
                  <a:ext cx="11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03" name="Line 55"/>
                <p:cNvSpPr>
                  <a:spLocks noChangeShapeType="1"/>
                </p:cNvSpPr>
                <p:nvPr/>
              </p:nvSpPr>
              <p:spPr bwMode="auto">
                <a:xfrm>
                  <a:off x="4176" y="1682"/>
                  <a:ext cx="5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91924" tIns="45962" rIns="91924" bIns="45962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104" name="Line 56"/>
              <p:cNvSpPr>
                <a:spLocks noChangeShapeType="1"/>
              </p:cNvSpPr>
              <p:nvPr/>
            </p:nvSpPr>
            <p:spPr bwMode="auto">
              <a:xfrm>
                <a:off x="3264" y="1344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5" name="Line 57"/>
              <p:cNvSpPr>
                <a:spLocks noChangeShapeType="1"/>
              </p:cNvSpPr>
              <p:nvPr/>
            </p:nvSpPr>
            <p:spPr bwMode="auto">
              <a:xfrm flipH="1">
                <a:off x="3264" y="158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>
                <a:off x="3888" y="1584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>
                <a:off x="4416" y="1584"/>
                <a:ext cx="10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>
                <a:off x="4326" y="1740"/>
                <a:ext cx="0" cy="1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>
                <a:off x="4320" y="1872"/>
                <a:ext cx="11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>
                <a:off x="4464" y="2160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 flipH="1">
                <a:off x="3888" y="2160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3264" y="2160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grpSp>
            <p:nvGrpSpPr>
              <p:cNvPr id="8" name="Group 65"/>
              <p:cNvGrpSpPr>
                <a:grpSpLocks/>
              </p:cNvGrpSpPr>
              <p:nvPr/>
            </p:nvGrpSpPr>
            <p:grpSpPr bwMode="auto">
              <a:xfrm>
                <a:off x="4992" y="1536"/>
                <a:ext cx="96" cy="96"/>
                <a:chOff x="5088" y="1056"/>
                <a:chExt cx="96" cy="96"/>
              </a:xfrm>
            </p:grpSpPr>
            <p:grpSp>
              <p:nvGrpSpPr>
                <p:cNvPr id="9" name="Group 66"/>
                <p:cNvGrpSpPr>
                  <a:grpSpLocks/>
                </p:cNvGrpSpPr>
                <p:nvPr/>
              </p:nvGrpSpPr>
              <p:grpSpPr bwMode="auto">
                <a:xfrm>
                  <a:off x="5088" y="1104"/>
                  <a:ext cx="96" cy="48"/>
                  <a:chOff x="5088" y="1104"/>
                  <a:chExt cx="96" cy="48"/>
                </a:xfrm>
              </p:grpSpPr>
              <p:sp>
                <p:nvSpPr>
                  <p:cNvPr id="2115" name="Line 6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112" y="1104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116" name="Line 6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88" y="1104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0" name="Group 69"/>
                <p:cNvGrpSpPr>
                  <a:grpSpLocks/>
                </p:cNvGrpSpPr>
                <p:nvPr/>
              </p:nvGrpSpPr>
              <p:grpSpPr bwMode="auto">
                <a:xfrm>
                  <a:off x="5088" y="1056"/>
                  <a:ext cx="96" cy="48"/>
                  <a:chOff x="5088" y="1056"/>
                  <a:chExt cx="96" cy="48"/>
                </a:xfrm>
              </p:grpSpPr>
              <p:sp>
                <p:nvSpPr>
                  <p:cNvPr id="2118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5112" y="1056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119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5088" y="1056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11" name="Group 72"/>
              <p:cNvGrpSpPr>
                <a:grpSpLocks/>
              </p:cNvGrpSpPr>
              <p:nvPr/>
            </p:nvGrpSpPr>
            <p:grpSpPr bwMode="auto">
              <a:xfrm>
                <a:off x="4992" y="1824"/>
                <a:ext cx="96" cy="96"/>
                <a:chOff x="5088" y="1344"/>
                <a:chExt cx="96" cy="96"/>
              </a:xfrm>
            </p:grpSpPr>
            <p:grpSp>
              <p:nvGrpSpPr>
                <p:cNvPr id="12" name="Group 73"/>
                <p:cNvGrpSpPr>
                  <a:grpSpLocks/>
                </p:cNvGrpSpPr>
                <p:nvPr/>
              </p:nvGrpSpPr>
              <p:grpSpPr bwMode="auto">
                <a:xfrm>
                  <a:off x="5088" y="1392"/>
                  <a:ext cx="96" cy="48"/>
                  <a:chOff x="5088" y="1392"/>
                  <a:chExt cx="96" cy="48"/>
                </a:xfrm>
              </p:grpSpPr>
              <p:sp>
                <p:nvSpPr>
                  <p:cNvPr id="2122" name="Line 7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112" y="1392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123" name="Line 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88" y="1392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3" name="Group 76"/>
                <p:cNvGrpSpPr>
                  <a:grpSpLocks/>
                </p:cNvGrpSpPr>
                <p:nvPr/>
              </p:nvGrpSpPr>
              <p:grpSpPr bwMode="auto">
                <a:xfrm>
                  <a:off x="5088" y="1344"/>
                  <a:ext cx="96" cy="48"/>
                  <a:chOff x="5088" y="1344"/>
                  <a:chExt cx="96" cy="48"/>
                </a:xfrm>
              </p:grpSpPr>
              <p:sp>
                <p:nvSpPr>
                  <p:cNvPr id="2125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5112" y="1344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126" name="Line 78"/>
                  <p:cNvSpPr>
                    <a:spLocks noChangeShapeType="1"/>
                  </p:cNvSpPr>
                  <p:nvPr/>
                </p:nvSpPr>
                <p:spPr bwMode="auto">
                  <a:xfrm>
                    <a:off x="5088" y="1344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14" name="Group 79"/>
              <p:cNvGrpSpPr>
                <a:grpSpLocks/>
              </p:cNvGrpSpPr>
              <p:nvPr/>
            </p:nvGrpSpPr>
            <p:grpSpPr bwMode="auto">
              <a:xfrm>
                <a:off x="4992" y="2112"/>
                <a:ext cx="96" cy="96"/>
                <a:chOff x="5088" y="1632"/>
                <a:chExt cx="96" cy="96"/>
              </a:xfrm>
            </p:grpSpPr>
            <p:grpSp>
              <p:nvGrpSpPr>
                <p:cNvPr id="15" name="Group 80"/>
                <p:cNvGrpSpPr>
                  <a:grpSpLocks/>
                </p:cNvGrpSpPr>
                <p:nvPr/>
              </p:nvGrpSpPr>
              <p:grpSpPr bwMode="auto">
                <a:xfrm>
                  <a:off x="5088" y="1680"/>
                  <a:ext cx="96" cy="48"/>
                  <a:chOff x="5088" y="1680"/>
                  <a:chExt cx="96" cy="48"/>
                </a:xfrm>
              </p:grpSpPr>
              <p:sp>
                <p:nvSpPr>
                  <p:cNvPr id="2129" name="Line 8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112" y="1680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130" name="Line 8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88" y="1680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6" name="Group 83"/>
                <p:cNvGrpSpPr>
                  <a:grpSpLocks/>
                </p:cNvGrpSpPr>
                <p:nvPr/>
              </p:nvGrpSpPr>
              <p:grpSpPr bwMode="auto">
                <a:xfrm>
                  <a:off x="5088" y="1632"/>
                  <a:ext cx="96" cy="48"/>
                  <a:chOff x="5088" y="1632"/>
                  <a:chExt cx="96" cy="48"/>
                </a:xfrm>
              </p:grpSpPr>
              <p:sp>
                <p:nvSpPr>
                  <p:cNvPr id="2132" name="Line 84"/>
                  <p:cNvSpPr>
                    <a:spLocks noChangeShapeType="1"/>
                  </p:cNvSpPr>
                  <p:nvPr/>
                </p:nvSpPr>
                <p:spPr bwMode="auto">
                  <a:xfrm>
                    <a:off x="5112" y="1632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2133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5088" y="1632"/>
                    <a:ext cx="72" cy="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lIns="91924" tIns="45962" rIns="91924" bIns="45962">
                    <a:spAutoFit/>
                  </a:bodyPr>
                  <a:lstStyle/>
                  <a:p>
                    <a:endParaRPr lang="ko-KR" altLang="en-US"/>
                  </a:p>
                </p:txBody>
              </p:sp>
            </p:grpSp>
          </p:grpSp>
          <p:sp>
            <p:nvSpPr>
              <p:cNvPr id="2134" name="Rectangle 86"/>
              <p:cNvSpPr>
                <a:spLocks noChangeArrowheads="1"/>
              </p:cNvSpPr>
              <p:nvPr/>
            </p:nvSpPr>
            <p:spPr bwMode="auto">
              <a:xfrm>
                <a:off x="5222" y="1594"/>
                <a:ext cx="313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$82AD</a:t>
                </a:r>
              </a:p>
            </p:txBody>
          </p:sp>
          <p:sp>
            <p:nvSpPr>
              <p:cNvPr id="2135" name="Rectangle 87"/>
              <p:cNvSpPr>
                <a:spLocks noChangeArrowheads="1"/>
              </p:cNvSpPr>
              <p:nvPr/>
            </p:nvSpPr>
            <p:spPr bwMode="auto">
              <a:xfrm>
                <a:off x="5222" y="1881"/>
                <a:ext cx="310" cy="1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$82AE</a:t>
                </a:r>
              </a:p>
            </p:txBody>
          </p:sp>
          <p:sp>
            <p:nvSpPr>
              <p:cNvPr id="2136" name="Rectangle 88"/>
              <p:cNvSpPr>
                <a:spLocks noChangeArrowheads="1"/>
              </p:cNvSpPr>
              <p:nvPr/>
            </p:nvSpPr>
            <p:spPr bwMode="auto">
              <a:xfrm>
                <a:off x="5222" y="2169"/>
                <a:ext cx="306" cy="1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$82AF</a:t>
                </a:r>
              </a:p>
            </p:txBody>
          </p:sp>
          <p:sp>
            <p:nvSpPr>
              <p:cNvPr id="2137" name="Rectangle 89"/>
              <p:cNvSpPr>
                <a:spLocks noChangeArrowheads="1"/>
              </p:cNvSpPr>
              <p:nvPr/>
            </p:nvSpPr>
            <p:spPr bwMode="auto">
              <a:xfrm>
                <a:off x="5222" y="1449"/>
                <a:ext cx="32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RHIGH</a:t>
                </a:r>
              </a:p>
            </p:txBody>
          </p:sp>
          <p:sp>
            <p:nvSpPr>
              <p:cNvPr id="2138" name="Rectangle 90"/>
              <p:cNvSpPr>
                <a:spLocks noChangeArrowheads="1"/>
              </p:cNvSpPr>
              <p:nvPr/>
            </p:nvSpPr>
            <p:spPr bwMode="auto">
              <a:xfrm>
                <a:off x="5222" y="1737"/>
                <a:ext cx="361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RINCAR</a:t>
                </a:r>
              </a:p>
            </p:txBody>
          </p:sp>
          <p:sp>
            <p:nvSpPr>
              <p:cNvPr id="2139" name="Rectangle 91"/>
              <p:cNvSpPr>
                <a:spLocks noChangeArrowheads="1"/>
              </p:cNvSpPr>
              <p:nvPr/>
            </p:nvSpPr>
            <p:spPr bwMode="auto">
              <a:xfrm>
                <a:off x="5222" y="2025"/>
                <a:ext cx="393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RONCAR</a:t>
                </a:r>
              </a:p>
            </p:txBody>
          </p:sp>
          <p:sp>
            <p:nvSpPr>
              <p:cNvPr id="2140" name="Rectangle 92"/>
              <p:cNvSpPr>
                <a:spLocks noChangeArrowheads="1"/>
              </p:cNvSpPr>
              <p:nvPr/>
            </p:nvSpPr>
            <p:spPr bwMode="auto">
              <a:xfrm>
                <a:off x="4838" y="1449"/>
                <a:ext cx="319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CIN-02</a:t>
                </a:r>
              </a:p>
            </p:txBody>
          </p:sp>
          <p:sp>
            <p:nvSpPr>
              <p:cNvPr id="2141" name="Rectangle 93"/>
              <p:cNvSpPr>
                <a:spLocks noChangeArrowheads="1"/>
              </p:cNvSpPr>
              <p:nvPr/>
            </p:nvSpPr>
            <p:spPr bwMode="auto">
              <a:xfrm>
                <a:off x="4838" y="1737"/>
                <a:ext cx="319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CIN-03</a:t>
                </a:r>
              </a:p>
            </p:txBody>
          </p:sp>
          <p:sp>
            <p:nvSpPr>
              <p:cNvPr id="2142" name="Rectangle 94"/>
              <p:cNvSpPr>
                <a:spLocks noChangeArrowheads="1"/>
              </p:cNvSpPr>
              <p:nvPr/>
            </p:nvSpPr>
            <p:spPr bwMode="auto">
              <a:xfrm>
                <a:off x="4838" y="2025"/>
                <a:ext cx="351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ONC-02</a:t>
                </a:r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 flipH="1">
                <a:off x="4800" y="1296"/>
                <a:ext cx="7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>
                <a:off x="4800" y="1296"/>
                <a:ext cx="0" cy="12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>
                <a:off x="4800" y="2496"/>
                <a:ext cx="7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46" name="Rectangle 98"/>
              <p:cNvSpPr>
                <a:spLocks noChangeArrowheads="1"/>
              </p:cNvSpPr>
              <p:nvPr/>
            </p:nvSpPr>
            <p:spPr bwMode="auto">
              <a:xfrm>
                <a:off x="3752" y="1467"/>
                <a:ext cx="244" cy="1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OFF</a:t>
                </a:r>
              </a:p>
            </p:txBody>
          </p:sp>
          <p:sp>
            <p:nvSpPr>
              <p:cNvPr id="2147" name="Rectangle 99"/>
              <p:cNvSpPr>
                <a:spLocks noChangeArrowheads="1"/>
              </p:cNvSpPr>
              <p:nvPr/>
            </p:nvSpPr>
            <p:spPr bwMode="auto">
              <a:xfrm>
                <a:off x="3782" y="2049"/>
                <a:ext cx="21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ON</a:t>
                </a:r>
              </a:p>
            </p:txBody>
          </p:sp>
          <p:sp>
            <p:nvSpPr>
              <p:cNvPr id="2148" name="Rectangle 100"/>
              <p:cNvSpPr>
                <a:spLocks noChangeArrowheads="1"/>
              </p:cNvSpPr>
              <p:nvPr/>
            </p:nvSpPr>
            <p:spPr bwMode="auto">
              <a:xfrm>
                <a:off x="4346" y="1467"/>
                <a:ext cx="390" cy="1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NORMAL</a:t>
                </a:r>
              </a:p>
            </p:txBody>
          </p:sp>
          <p:sp>
            <p:nvSpPr>
              <p:cNvPr id="2149" name="Rectangle 101"/>
              <p:cNvSpPr>
                <a:spLocks noChangeArrowheads="1"/>
              </p:cNvSpPr>
              <p:nvPr/>
            </p:nvSpPr>
            <p:spPr bwMode="auto">
              <a:xfrm>
                <a:off x="4358" y="1761"/>
                <a:ext cx="315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MAINT</a:t>
                </a:r>
              </a:p>
            </p:txBody>
          </p:sp>
          <p:sp>
            <p:nvSpPr>
              <p:cNvPr id="2150" name="Rectangle 102"/>
              <p:cNvSpPr>
                <a:spLocks noChangeArrowheads="1"/>
              </p:cNvSpPr>
              <p:nvPr/>
            </p:nvSpPr>
            <p:spPr bwMode="auto">
              <a:xfrm>
                <a:off x="4358" y="2049"/>
                <a:ext cx="315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MAINT</a:t>
                </a:r>
              </a:p>
            </p:txBody>
          </p:sp>
          <p:sp>
            <p:nvSpPr>
              <p:cNvPr id="2151" name="Rectangle 103"/>
              <p:cNvSpPr>
                <a:spLocks noChangeArrowheads="1"/>
              </p:cNvSpPr>
              <p:nvPr/>
            </p:nvSpPr>
            <p:spPr bwMode="auto">
              <a:xfrm>
                <a:off x="3508" y="1348"/>
                <a:ext cx="424" cy="10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2" name="Rectangle 104"/>
              <p:cNvSpPr>
                <a:spLocks noChangeArrowheads="1"/>
              </p:cNvSpPr>
              <p:nvPr/>
            </p:nvSpPr>
            <p:spPr bwMode="auto">
              <a:xfrm>
                <a:off x="4084" y="1348"/>
                <a:ext cx="424" cy="10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53" name="Rectangle 105"/>
              <p:cNvSpPr>
                <a:spLocks noChangeArrowheads="1"/>
              </p:cNvSpPr>
              <p:nvPr/>
            </p:nvSpPr>
            <p:spPr bwMode="auto">
              <a:xfrm>
                <a:off x="3446" y="2505"/>
                <a:ext cx="486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ON CAR SW</a:t>
                </a:r>
              </a:p>
            </p:txBody>
          </p:sp>
          <p:sp>
            <p:nvSpPr>
              <p:cNvPr id="2154" name="Rectangle 106"/>
              <p:cNvSpPr>
                <a:spLocks noChangeArrowheads="1"/>
              </p:cNvSpPr>
              <p:nvPr/>
            </p:nvSpPr>
            <p:spPr bwMode="auto">
              <a:xfrm>
                <a:off x="4070" y="2505"/>
                <a:ext cx="436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IN CAR </a:t>
                </a:r>
              </a:p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MAINT SW</a:t>
                </a:r>
              </a:p>
            </p:txBody>
          </p:sp>
          <p:sp>
            <p:nvSpPr>
              <p:cNvPr id="2155" name="Rectangle 107"/>
              <p:cNvSpPr>
                <a:spLocks noChangeArrowheads="1"/>
              </p:cNvSpPr>
              <p:nvPr/>
            </p:nvSpPr>
            <p:spPr bwMode="auto">
              <a:xfrm>
                <a:off x="3494" y="1450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2</a:t>
                </a:r>
              </a:p>
            </p:txBody>
          </p:sp>
          <p:sp>
            <p:nvSpPr>
              <p:cNvPr id="2156" name="Rectangle 108"/>
              <p:cNvSpPr>
                <a:spLocks noChangeArrowheads="1"/>
              </p:cNvSpPr>
              <p:nvPr/>
            </p:nvSpPr>
            <p:spPr bwMode="auto">
              <a:xfrm>
                <a:off x="3686" y="1450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1</a:t>
                </a:r>
              </a:p>
            </p:txBody>
          </p:sp>
          <p:sp>
            <p:nvSpPr>
              <p:cNvPr id="2157" name="Rectangle 109"/>
              <p:cNvSpPr>
                <a:spLocks noChangeArrowheads="1"/>
              </p:cNvSpPr>
              <p:nvPr/>
            </p:nvSpPr>
            <p:spPr bwMode="auto">
              <a:xfrm>
                <a:off x="3686" y="1737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3</a:t>
                </a:r>
              </a:p>
            </p:txBody>
          </p:sp>
          <p:sp>
            <p:nvSpPr>
              <p:cNvPr id="2158" name="Rectangle 110"/>
              <p:cNvSpPr>
                <a:spLocks noChangeArrowheads="1"/>
              </p:cNvSpPr>
              <p:nvPr/>
            </p:nvSpPr>
            <p:spPr bwMode="auto">
              <a:xfrm>
                <a:off x="4070" y="1450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2</a:t>
                </a:r>
              </a:p>
            </p:txBody>
          </p:sp>
          <p:sp>
            <p:nvSpPr>
              <p:cNvPr id="2159" name="Rectangle 111"/>
              <p:cNvSpPr>
                <a:spLocks noChangeArrowheads="1"/>
              </p:cNvSpPr>
              <p:nvPr/>
            </p:nvSpPr>
            <p:spPr bwMode="auto">
              <a:xfrm>
                <a:off x="4262" y="1450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3</a:t>
                </a:r>
              </a:p>
            </p:txBody>
          </p:sp>
          <p:sp>
            <p:nvSpPr>
              <p:cNvPr id="2160" name="Rectangle 112"/>
              <p:cNvSpPr>
                <a:spLocks noChangeArrowheads="1"/>
              </p:cNvSpPr>
              <p:nvPr/>
            </p:nvSpPr>
            <p:spPr bwMode="auto">
              <a:xfrm>
                <a:off x="4214" y="1737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1</a:t>
                </a:r>
              </a:p>
            </p:txBody>
          </p:sp>
          <p:sp>
            <p:nvSpPr>
              <p:cNvPr id="2161" name="Rectangle 113"/>
              <p:cNvSpPr>
                <a:spLocks noChangeArrowheads="1"/>
              </p:cNvSpPr>
              <p:nvPr/>
            </p:nvSpPr>
            <p:spPr bwMode="auto">
              <a:xfrm>
                <a:off x="3494" y="2025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5</a:t>
                </a:r>
              </a:p>
            </p:txBody>
          </p:sp>
          <p:sp>
            <p:nvSpPr>
              <p:cNvPr id="2162" name="Rectangle 114"/>
              <p:cNvSpPr>
                <a:spLocks noChangeArrowheads="1"/>
              </p:cNvSpPr>
              <p:nvPr/>
            </p:nvSpPr>
            <p:spPr bwMode="auto">
              <a:xfrm>
                <a:off x="3686" y="2025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6</a:t>
                </a:r>
              </a:p>
            </p:txBody>
          </p:sp>
          <p:sp>
            <p:nvSpPr>
              <p:cNvPr id="2163" name="Rectangle 115"/>
              <p:cNvSpPr>
                <a:spLocks noChangeArrowheads="1"/>
              </p:cNvSpPr>
              <p:nvPr/>
            </p:nvSpPr>
            <p:spPr bwMode="auto">
              <a:xfrm>
                <a:off x="3686" y="2313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4</a:t>
                </a:r>
              </a:p>
            </p:txBody>
          </p:sp>
          <p:sp>
            <p:nvSpPr>
              <p:cNvPr id="2164" name="Rectangle 116"/>
              <p:cNvSpPr>
                <a:spLocks noChangeArrowheads="1"/>
              </p:cNvSpPr>
              <p:nvPr/>
            </p:nvSpPr>
            <p:spPr bwMode="auto">
              <a:xfrm>
                <a:off x="4070" y="2025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5</a:t>
                </a:r>
              </a:p>
            </p:txBody>
          </p:sp>
          <p:sp>
            <p:nvSpPr>
              <p:cNvPr id="2165" name="Rectangle 117"/>
              <p:cNvSpPr>
                <a:spLocks noChangeArrowheads="1"/>
              </p:cNvSpPr>
              <p:nvPr/>
            </p:nvSpPr>
            <p:spPr bwMode="auto">
              <a:xfrm>
                <a:off x="4262" y="2025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4</a:t>
                </a:r>
              </a:p>
            </p:txBody>
          </p:sp>
          <p:sp>
            <p:nvSpPr>
              <p:cNvPr id="2166" name="Rectangle 118"/>
              <p:cNvSpPr>
                <a:spLocks noChangeArrowheads="1"/>
              </p:cNvSpPr>
              <p:nvPr/>
            </p:nvSpPr>
            <p:spPr bwMode="auto">
              <a:xfrm>
                <a:off x="4262" y="2313"/>
                <a:ext cx="152" cy="1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6</a:t>
                </a:r>
              </a:p>
            </p:txBody>
          </p:sp>
        </p:grpSp>
      </p:grpSp>
      <p:grpSp>
        <p:nvGrpSpPr>
          <p:cNvPr id="17" name="Group 119"/>
          <p:cNvGrpSpPr>
            <a:grpSpLocks/>
          </p:cNvGrpSpPr>
          <p:nvPr/>
        </p:nvGrpSpPr>
        <p:grpSpPr bwMode="auto">
          <a:xfrm>
            <a:off x="762000" y="2209800"/>
            <a:ext cx="533400" cy="152400"/>
            <a:chOff x="816" y="1392"/>
            <a:chExt cx="336" cy="96"/>
          </a:xfrm>
        </p:grpSpPr>
        <p:sp>
          <p:nvSpPr>
            <p:cNvPr id="2168" name="Line 120"/>
            <p:cNvSpPr>
              <a:spLocks noChangeShapeType="1"/>
            </p:cNvSpPr>
            <p:nvPr/>
          </p:nvSpPr>
          <p:spPr bwMode="auto">
            <a:xfrm>
              <a:off x="960" y="139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9" name="Line 121"/>
            <p:cNvSpPr>
              <a:spLocks noChangeShapeType="1"/>
            </p:cNvSpPr>
            <p:nvPr/>
          </p:nvSpPr>
          <p:spPr bwMode="auto">
            <a:xfrm>
              <a:off x="1008" y="139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0" name="Line 122"/>
            <p:cNvSpPr>
              <a:spLocks noChangeShapeType="1"/>
            </p:cNvSpPr>
            <p:nvPr/>
          </p:nvSpPr>
          <p:spPr bwMode="auto">
            <a:xfrm>
              <a:off x="816" y="14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1" name="Line 123"/>
            <p:cNvSpPr>
              <a:spLocks noChangeShapeType="1"/>
            </p:cNvSpPr>
            <p:nvPr/>
          </p:nvSpPr>
          <p:spPr bwMode="auto">
            <a:xfrm>
              <a:off x="1008" y="14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72" name="Line 124"/>
          <p:cNvSpPr>
            <a:spLocks noChangeShapeType="1"/>
          </p:cNvSpPr>
          <p:nvPr/>
        </p:nvSpPr>
        <p:spPr bwMode="auto">
          <a:xfrm>
            <a:off x="152400" y="1981200"/>
            <a:ext cx="0" cy="457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8" name="Group 125"/>
          <p:cNvGrpSpPr>
            <a:grpSpLocks/>
          </p:cNvGrpSpPr>
          <p:nvPr/>
        </p:nvGrpSpPr>
        <p:grpSpPr bwMode="auto">
          <a:xfrm>
            <a:off x="1371600" y="2743200"/>
            <a:ext cx="533400" cy="152400"/>
            <a:chOff x="816" y="1632"/>
            <a:chExt cx="336" cy="96"/>
          </a:xfrm>
        </p:grpSpPr>
        <p:sp>
          <p:nvSpPr>
            <p:cNvPr id="2174" name="Line 126"/>
            <p:cNvSpPr>
              <a:spLocks noChangeShapeType="1"/>
            </p:cNvSpPr>
            <p:nvPr/>
          </p:nvSpPr>
          <p:spPr bwMode="auto">
            <a:xfrm>
              <a:off x="960" y="163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5" name="Line 127"/>
            <p:cNvSpPr>
              <a:spLocks noChangeShapeType="1"/>
            </p:cNvSpPr>
            <p:nvPr/>
          </p:nvSpPr>
          <p:spPr bwMode="auto">
            <a:xfrm>
              <a:off x="1008" y="163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6" name="Line 128"/>
            <p:cNvSpPr>
              <a:spLocks noChangeShapeType="1"/>
            </p:cNvSpPr>
            <p:nvPr/>
          </p:nvSpPr>
          <p:spPr bwMode="auto">
            <a:xfrm>
              <a:off x="816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7" name="Line 129"/>
            <p:cNvSpPr>
              <a:spLocks noChangeShapeType="1"/>
            </p:cNvSpPr>
            <p:nvPr/>
          </p:nvSpPr>
          <p:spPr bwMode="auto">
            <a:xfrm>
              <a:off x="1008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9" name="Group 130"/>
          <p:cNvGrpSpPr>
            <a:grpSpLocks/>
          </p:cNvGrpSpPr>
          <p:nvPr/>
        </p:nvGrpSpPr>
        <p:grpSpPr bwMode="auto">
          <a:xfrm>
            <a:off x="2819400" y="2743200"/>
            <a:ext cx="533400" cy="152400"/>
            <a:chOff x="1968" y="1632"/>
            <a:chExt cx="336" cy="96"/>
          </a:xfrm>
        </p:grpSpPr>
        <p:sp>
          <p:nvSpPr>
            <p:cNvPr id="2179" name="Line 131"/>
            <p:cNvSpPr>
              <a:spLocks noChangeShapeType="1"/>
            </p:cNvSpPr>
            <p:nvPr/>
          </p:nvSpPr>
          <p:spPr bwMode="auto">
            <a:xfrm>
              <a:off x="2112" y="163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0" name="Line 132"/>
            <p:cNvSpPr>
              <a:spLocks noChangeShapeType="1"/>
            </p:cNvSpPr>
            <p:nvPr/>
          </p:nvSpPr>
          <p:spPr bwMode="auto">
            <a:xfrm>
              <a:off x="2160" y="163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1" name="Line 133"/>
            <p:cNvSpPr>
              <a:spLocks noChangeShapeType="1"/>
            </p:cNvSpPr>
            <p:nvPr/>
          </p:nvSpPr>
          <p:spPr bwMode="auto">
            <a:xfrm>
              <a:off x="1968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2" name="Line 134"/>
            <p:cNvSpPr>
              <a:spLocks noChangeShapeType="1"/>
            </p:cNvSpPr>
            <p:nvPr/>
          </p:nvSpPr>
          <p:spPr bwMode="auto">
            <a:xfrm>
              <a:off x="2160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83" name="Rectangle 135"/>
          <p:cNvSpPr>
            <a:spLocks noChangeArrowheads="1"/>
          </p:cNvSpPr>
          <p:nvPr/>
        </p:nvSpPr>
        <p:spPr bwMode="auto">
          <a:xfrm>
            <a:off x="158750" y="1898650"/>
            <a:ext cx="14351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TMC_Check(POWER_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READY_T,FINISH_STATE)</a:t>
            </a:r>
          </a:p>
        </p:txBody>
      </p:sp>
      <p:sp>
        <p:nvSpPr>
          <p:cNvPr id="2184" name="Line 136"/>
          <p:cNvSpPr>
            <a:spLocks noChangeShapeType="1"/>
          </p:cNvSpPr>
          <p:nvPr/>
        </p:nvSpPr>
        <p:spPr bwMode="auto">
          <a:xfrm>
            <a:off x="152400" y="22860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5" name="Rectangle 137"/>
          <p:cNvSpPr>
            <a:spLocks noChangeArrowheads="1"/>
          </p:cNvSpPr>
          <p:nvPr/>
        </p:nvSpPr>
        <p:spPr bwMode="auto">
          <a:xfrm>
            <a:off x="2438400" y="2514600"/>
            <a:ext cx="13493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CND_F_Op[CN_IN_CAR]</a:t>
            </a:r>
          </a:p>
        </p:txBody>
      </p:sp>
      <p:sp>
        <p:nvSpPr>
          <p:cNvPr id="2186" name="Rectangle 138"/>
          <p:cNvSpPr>
            <a:spLocks noChangeArrowheads="1"/>
          </p:cNvSpPr>
          <p:nvPr/>
        </p:nvSpPr>
        <p:spPr bwMode="auto">
          <a:xfrm>
            <a:off x="2362200" y="2971800"/>
            <a:ext cx="1400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CND_F_Op[CN_ON_CAR]</a:t>
            </a:r>
          </a:p>
        </p:txBody>
      </p:sp>
      <p:sp>
        <p:nvSpPr>
          <p:cNvPr id="2187" name="Line 139"/>
          <p:cNvSpPr>
            <a:spLocks noChangeShapeType="1"/>
          </p:cNvSpPr>
          <p:nvPr/>
        </p:nvSpPr>
        <p:spPr bwMode="auto">
          <a:xfrm>
            <a:off x="914400" y="2819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8" name="Line 140"/>
          <p:cNvSpPr>
            <a:spLocks noChangeShapeType="1"/>
          </p:cNvSpPr>
          <p:nvPr/>
        </p:nvSpPr>
        <p:spPr bwMode="auto">
          <a:xfrm>
            <a:off x="1828800" y="28194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9" name="Line 141"/>
          <p:cNvSpPr>
            <a:spLocks noChangeShapeType="1"/>
          </p:cNvSpPr>
          <p:nvPr/>
        </p:nvSpPr>
        <p:spPr bwMode="auto">
          <a:xfrm>
            <a:off x="1295400" y="22860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0" name="Line 142"/>
          <p:cNvSpPr>
            <a:spLocks noChangeShapeType="1"/>
          </p:cNvSpPr>
          <p:nvPr/>
        </p:nvSpPr>
        <p:spPr bwMode="auto">
          <a:xfrm>
            <a:off x="2209800" y="32766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1" name="Line 143"/>
          <p:cNvSpPr>
            <a:spLocks noChangeShapeType="1"/>
          </p:cNvSpPr>
          <p:nvPr/>
        </p:nvSpPr>
        <p:spPr bwMode="auto">
          <a:xfrm>
            <a:off x="3810000" y="28194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2" name="Line 144"/>
          <p:cNvSpPr>
            <a:spLocks noChangeShapeType="1"/>
          </p:cNvSpPr>
          <p:nvPr/>
        </p:nvSpPr>
        <p:spPr bwMode="auto">
          <a:xfrm>
            <a:off x="4876800" y="1981200"/>
            <a:ext cx="0" cy="457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3" name="Line 145"/>
          <p:cNvSpPr>
            <a:spLocks noChangeShapeType="1"/>
          </p:cNvSpPr>
          <p:nvPr/>
        </p:nvSpPr>
        <p:spPr bwMode="auto">
          <a:xfrm>
            <a:off x="2438400" y="22860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4" name="Rectangle 146"/>
          <p:cNvSpPr>
            <a:spLocks noChangeArrowheads="1"/>
          </p:cNvSpPr>
          <p:nvPr/>
        </p:nvSpPr>
        <p:spPr bwMode="auto">
          <a:xfrm>
            <a:off x="1066800" y="4648200"/>
            <a:ext cx="7620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input_err</a:t>
            </a:r>
          </a:p>
        </p:txBody>
      </p:sp>
      <p:sp>
        <p:nvSpPr>
          <p:cNvPr id="2195" name="Line 147"/>
          <p:cNvSpPr>
            <a:spLocks noChangeShapeType="1"/>
          </p:cNvSpPr>
          <p:nvPr/>
        </p:nvSpPr>
        <p:spPr bwMode="auto">
          <a:xfrm>
            <a:off x="1066800" y="43307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6" name="Line 148"/>
          <p:cNvSpPr>
            <a:spLocks noChangeShapeType="1"/>
          </p:cNvSpPr>
          <p:nvPr/>
        </p:nvSpPr>
        <p:spPr bwMode="auto">
          <a:xfrm>
            <a:off x="1828800" y="43307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7" name="Rectangle 149"/>
          <p:cNvSpPr>
            <a:spLocks noChangeArrowheads="1"/>
          </p:cNvSpPr>
          <p:nvPr/>
        </p:nvSpPr>
        <p:spPr bwMode="auto">
          <a:xfrm>
            <a:off x="1371600" y="5715000"/>
            <a:ext cx="1773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TMC_Check(OP_MODE_ERROR_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DETECT_T, FINISH_STATE)</a:t>
            </a:r>
          </a:p>
        </p:txBody>
      </p:sp>
      <p:sp>
        <p:nvSpPr>
          <p:cNvPr id="2198" name="Line 150"/>
          <p:cNvSpPr>
            <a:spLocks noChangeShapeType="1"/>
          </p:cNvSpPr>
          <p:nvPr/>
        </p:nvSpPr>
        <p:spPr bwMode="auto">
          <a:xfrm>
            <a:off x="152400" y="49657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9" name="Rectangle 151"/>
          <p:cNvSpPr>
            <a:spLocks noChangeArrowheads="1"/>
          </p:cNvSpPr>
          <p:nvPr/>
        </p:nvSpPr>
        <p:spPr bwMode="auto">
          <a:xfrm>
            <a:off x="4114800" y="5797550"/>
            <a:ext cx="673100" cy="444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0" name="Group 152"/>
          <p:cNvGrpSpPr>
            <a:grpSpLocks/>
          </p:cNvGrpSpPr>
          <p:nvPr/>
        </p:nvGrpSpPr>
        <p:grpSpPr bwMode="auto">
          <a:xfrm>
            <a:off x="1143000" y="4889500"/>
            <a:ext cx="533400" cy="152400"/>
            <a:chOff x="1752" y="2208"/>
            <a:chExt cx="336" cy="96"/>
          </a:xfrm>
        </p:grpSpPr>
        <p:sp>
          <p:nvSpPr>
            <p:cNvPr id="2201" name="Line 153"/>
            <p:cNvSpPr>
              <a:spLocks noChangeShapeType="1"/>
            </p:cNvSpPr>
            <p:nvPr/>
          </p:nvSpPr>
          <p:spPr bwMode="auto">
            <a:xfrm>
              <a:off x="1896" y="220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2" name="Line 154"/>
            <p:cNvSpPr>
              <a:spLocks noChangeShapeType="1"/>
            </p:cNvSpPr>
            <p:nvPr/>
          </p:nvSpPr>
          <p:spPr bwMode="auto">
            <a:xfrm>
              <a:off x="1944" y="220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3" name="Line 155"/>
            <p:cNvSpPr>
              <a:spLocks noChangeShapeType="1"/>
            </p:cNvSpPr>
            <p:nvPr/>
          </p:nvSpPr>
          <p:spPr bwMode="auto">
            <a:xfrm>
              <a:off x="1752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4" name="Line 156"/>
            <p:cNvSpPr>
              <a:spLocks noChangeShapeType="1"/>
            </p:cNvSpPr>
            <p:nvPr/>
          </p:nvSpPr>
          <p:spPr bwMode="auto">
            <a:xfrm>
              <a:off x="1944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05" name="Line 157"/>
          <p:cNvSpPr>
            <a:spLocks noChangeShapeType="1"/>
          </p:cNvSpPr>
          <p:nvPr/>
        </p:nvSpPr>
        <p:spPr bwMode="auto">
          <a:xfrm>
            <a:off x="1676400" y="6019800"/>
            <a:ext cx="320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6" name="Rectangle 158"/>
          <p:cNvSpPr>
            <a:spLocks noChangeArrowheads="1"/>
          </p:cNvSpPr>
          <p:nvPr/>
        </p:nvSpPr>
        <p:spPr bwMode="auto">
          <a:xfrm>
            <a:off x="4184650" y="5791200"/>
            <a:ext cx="6096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TCD 96</a:t>
            </a:r>
          </a:p>
        </p:txBody>
      </p:sp>
      <p:grpSp>
        <p:nvGrpSpPr>
          <p:cNvPr id="21" name="Group 159"/>
          <p:cNvGrpSpPr>
            <a:grpSpLocks/>
          </p:cNvGrpSpPr>
          <p:nvPr/>
        </p:nvGrpSpPr>
        <p:grpSpPr bwMode="auto">
          <a:xfrm>
            <a:off x="1905000" y="2209800"/>
            <a:ext cx="533400" cy="152400"/>
            <a:chOff x="1128" y="1440"/>
            <a:chExt cx="336" cy="96"/>
          </a:xfrm>
        </p:grpSpPr>
        <p:grpSp>
          <p:nvGrpSpPr>
            <p:cNvPr id="22" name="Group 160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0" name="Line 162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1" name="Line 163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2" name="Line 164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13" name="Line 165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3" name="Group 166"/>
          <p:cNvGrpSpPr>
            <a:grpSpLocks/>
          </p:cNvGrpSpPr>
          <p:nvPr/>
        </p:nvGrpSpPr>
        <p:grpSpPr bwMode="auto">
          <a:xfrm>
            <a:off x="3048000" y="2209800"/>
            <a:ext cx="533400" cy="152400"/>
            <a:chOff x="1128" y="1440"/>
            <a:chExt cx="336" cy="96"/>
          </a:xfrm>
        </p:grpSpPr>
        <p:grpSp>
          <p:nvGrpSpPr>
            <p:cNvPr id="24" name="Group 167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8" name="Line 170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20" name="Line 172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21" name="Line 173"/>
          <p:cNvSpPr>
            <a:spLocks noChangeShapeType="1"/>
          </p:cNvSpPr>
          <p:nvPr/>
        </p:nvSpPr>
        <p:spPr bwMode="auto">
          <a:xfrm>
            <a:off x="3581400" y="228600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2" name="Rectangle 174"/>
          <p:cNvSpPr>
            <a:spLocks noChangeArrowheads="1"/>
          </p:cNvSpPr>
          <p:nvPr/>
        </p:nvSpPr>
        <p:spPr bwMode="auto">
          <a:xfrm>
            <a:off x="1892300" y="198755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TCD 200</a:t>
            </a:r>
          </a:p>
        </p:txBody>
      </p:sp>
      <p:sp>
        <p:nvSpPr>
          <p:cNvPr id="2223" name="Rectangle 175"/>
          <p:cNvSpPr>
            <a:spLocks noChangeArrowheads="1"/>
          </p:cNvSpPr>
          <p:nvPr/>
        </p:nvSpPr>
        <p:spPr bwMode="auto">
          <a:xfrm>
            <a:off x="3009900" y="200660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TCD 202</a:t>
            </a:r>
          </a:p>
        </p:txBody>
      </p:sp>
      <p:sp>
        <p:nvSpPr>
          <p:cNvPr id="2224" name="Line 176"/>
          <p:cNvSpPr>
            <a:spLocks noChangeShapeType="1"/>
          </p:cNvSpPr>
          <p:nvPr/>
        </p:nvSpPr>
        <p:spPr bwMode="auto">
          <a:xfrm>
            <a:off x="152400" y="2819400"/>
            <a:ext cx="472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5" name="Line 177"/>
          <p:cNvSpPr>
            <a:spLocks noChangeShapeType="1"/>
          </p:cNvSpPr>
          <p:nvPr/>
        </p:nvSpPr>
        <p:spPr bwMode="auto">
          <a:xfrm>
            <a:off x="1066800" y="28194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6" name="Line 178"/>
          <p:cNvSpPr>
            <a:spLocks noChangeShapeType="1"/>
          </p:cNvSpPr>
          <p:nvPr/>
        </p:nvSpPr>
        <p:spPr bwMode="auto">
          <a:xfrm>
            <a:off x="2209800" y="2819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5" name="Group 179"/>
          <p:cNvGrpSpPr>
            <a:grpSpLocks/>
          </p:cNvGrpSpPr>
          <p:nvPr/>
        </p:nvGrpSpPr>
        <p:grpSpPr bwMode="auto">
          <a:xfrm>
            <a:off x="2819400" y="3200400"/>
            <a:ext cx="533400" cy="152400"/>
            <a:chOff x="1968" y="1632"/>
            <a:chExt cx="336" cy="96"/>
          </a:xfrm>
        </p:grpSpPr>
        <p:sp>
          <p:nvSpPr>
            <p:cNvPr id="2228" name="Line 180"/>
            <p:cNvSpPr>
              <a:spLocks noChangeShapeType="1"/>
            </p:cNvSpPr>
            <p:nvPr/>
          </p:nvSpPr>
          <p:spPr bwMode="auto">
            <a:xfrm>
              <a:off x="2112" y="163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29" name="Line 181"/>
            <p:cNvSpPr>
              <a:spLocks noChangeShapeType="1"/>
            </p:cNvSpPr>
            <p:nvPr/>
          </p:nvSpPr>
          <p:spPr bwMode="auto">
            <a:xfrm>
              <a:off x="2160" y="163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0" name="Line 182"/>
            <p:cNvSpPr>
              <a:spLocks noChangeShapeType="1"/>
            </p:cNvSpPr>
            <p:nvPr/>
          </p:nvSpPr>
          <p:spPr bwMode="auto">
            <a:xfrm>
              <a:off x="1968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1" name="Line 183"/>
            <p:cNvSpPr>
              <a:spLocks noChangeShapeType="1"/>
            </p:cNvSpPr>
            <p:nvPr/>
          </p:nvSpPr>
          <p:spPr bwMode="auto">
            <a:xfrm>
              <a:off x="2160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32" name="Line 184"/>
          <p:cNvSpPr>
            <a:spLocks noChangeShapeType="1"/>
          </p:cNvSpPr>
          <p:nvPr/>
        </p:nvSpPr>
        <p:spPr bwMode="auto">
          <a:xfrm>
            <a:off x="3352800" y="32766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6" name="Group 185"/>
          <p:cNvGrpSpPr>
            <a:grpSpLocks/>
          </p:cNvGrpSpPr>
          <p:nvPr/>
        </p:nvGrpSpPr>
        <p:grpSpPr bwMode="auto">
          <a:xfrm>
            <a:off x="1371600" y="3657600"/>
            <a:ext cx="533400" cy="152400"/>
            <a:chOff x="816" y="1632"/>
            <a:chExt cx="336" cy="96"/>
          </a:xfrm>
        </p:grpSpPr>
        <p:sp>
          <p:nvSpPr>
            <p:cNvPr id="2234" name="Line 186"/>
            <p:cNvSpPr>
              <a:spLocks noChangeShapeType="1"/>
            </p:cNvSpPr>
            <p:nvPr/>
          </p:nvSpPr>
          <p:spPr bwMode="auto">
            <a:xfrm>
              <a:off x="960" y="163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5" name="Line 187"/>
            <p:cNvSpPr>
              <a:spLocks noChangeShapeType="1"/>
            </p:cNvSpPr>
            <p:nvPr/>
          </p:nvSpPr>
          <p:spPr bwMode="auto">
            <a:xfrm>
              <a:off x="1008" y="163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6" name="Line 188"/>
            <p:cNvSpPr>
              <a:spLocks noChangeShapeType="1"/>
            </p:cNvSpPr>
            <p:nvPr/>
          </p:nvSpPr>
          <p:spPr bwMode="auto">
            <a:xfrm>
              <a:off x="816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7" name="Line 189"/>
            <p:cNvSpPr>
              <a:spLocks noChangeShapeType="1"/>
            </p:cNvSpPr>
            <p:nvPr/>
          </p:nvSpPr>
          <p:spPr bwMode="auto">
            <a:xfrm>
              <a:off x="1008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7" name="Group 190"/>
          <p:cNvGrpSpPr>
            <a:grpSpLocks/>
          </p:cNvGrpSpPr>
          <p:nvPr/>
        </p:nvGrpSpPr>
        <p:grpSpPr bwMode="auto">
          <a:xfrm>
            <a:off x="2819400" y="3657600"/>
            <a:ext cx="533400" cy="152400"/>
            <a:chOff x="1968" y="1632"/>
            <a:chExt cx="336" cy="96"/>
          </a:xfrm>
        </p:grpSpPr>
        <p:sp>
          <p:nvSpPr>
            <p:cNvPr id="2239" name="Line 191"/>
            <p:cNvSpPr>
              <a:spLocks noChangeShapeType="1"/>
            </p:cNvSpPr>
            <p:nvPr/>
          </p:nvSpPr>
          <p:spPr bwMode="auto">
            <a:xfrm>
              <a:off x="2112" y="163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0" name="Line 192"/>
            <p:cNvSpPr>
              <a:spLocks noChangeShapeType="1"/>
            </p:cNvSpPr>
            <p:nvPr/>
          </p:nvSpPr>
          <p:spPr bwMode="auto">
            <a:xfrm>
              <a:off x="2160" y="163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1" name="Line 193"/>
            <p:cNvSpPr>
              <a:spLocks noChangeShapeType="1"/>
            </p:cNvSpPr>
            <p:nvPr/>
          </p:nvSpPr>
          <p:spPr bwMode="auto">
            <a:xfrm>
              <a:off x="1968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2" name="Line 194"/>
            <p:cNvSpPr>
              <a:spLocks noChangeShapeType="1"/>
            </p:cNvSpPr>
            <p:nvPr/>
          </p:nvSpPr>
          <p:spPr bwMode="auto">
            <a:xfrm>
              <a:off x="2160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43" name="Line 195"/>
          <p:cNvSpPr>
            <a:spLocks noChangeShapeType="1"/>
          </p:cNvSpPr>
          <p:nvPr/>
        </p:nvSpPr>
        <p:spPr bwMode="auto">
          <a:xfrm>
            <a:off x="1066800" y="37338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44" name="Line 196"/>
          <p:cNvSpPr>
            <a:spLocks noChangeShapeType="1"/>
          </p:cNvSpPr>
          <p:nvPr/>
        </p:nvSpPr>
        <p:spPr bwMode="auto">
          <a:xfrm>
            <a:off x="1828800" y="37338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45" name="Line 197"/>
          <p:cNvSpPr>
            <a:spLocks noChangeShapeType="1"/>
          </p:cNvSpPr>
          <p:nvPr/>
        </p:nvSpPr>
        <p:spPr bwMode="auto">
          <a:xfrm>
            <a:off x="3352800" y="3733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46" name="Line 198"/>
          <p:cNvSpPr>
            <a:spLocks noChangeShapeType="1"/>
          </p:cNvSpPr>
          <p:nvPr/>
        </p:nvSpPr>
        <p:spPr bwMode="auto">
          <a:xfrm>
            <a:off x="2667000" y="43307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47" name="Line 199"/>
          <p:cNvSpPr>
            <a:spLocks noChangeShapeType="1"/>
          </p:cNvSpPr>
          <p:nvPr/>
        </p:nvSpPr>
        <p:spPr bwMode="auto">
          <a:xfrm>
            <a:off x="3505200" y="43307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48" name="Rectangle 200"/>
          <p:cNvSpPr>
            <a:spLocks noChangeArrowheads="1"/>
          </p:cNvSpPr>
          <p:nvPr/>
        </p:nvSpPr>
        <p:spPr bwMode="auto">
          <a:xfrm>
            <a:off x="4114800" y="2057400"/>
            <a:ext cx="673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49" name="Rectangle 201"/>
          <p:cNvSpPr>
            <a:spLocks noChangeArrowheads="1"/>
          </p:cNvSpPr>
          <p:nvPr/>
        </p:nvSpPr>
        <p:spPr bwMode="auto">
          <a:xfrm>
            <a:off x="4114800" y="2057400"/>
            <a:ext cx="6699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250" name="Rectangle 202"/>
          <p:cNvSpPr>
            <a:spLocks noChangeArrowheads="1"/>
          </p:cNvSpPr>
          <p:nvPr/>
        </p:nvSpPr>
        <p:spPr bwMode="auto">
          <a:xfrm>
            <a:off x="1066800" y="2514600"/>
            <a:ext cx="12303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CND_F_Op[CN_HIGH]</a:t>
            </a:r>
          </a:p>
        </p:txBody>
      </p:sp>
      <p:sp>
        <p:nvSpPr>
          <p:cNvPr id="2251" name="Rectangle 203"/>
          <p:cNvSpPr>
            <a:spLocks noChangeArrowheads="1"/>
          </p:cNvSpPr>
          <p:nvPr/>
        </p:nvSpPr>
        <p:spPr bwMode="auto">
          <a:xfrm>
            <a:off x="2362200" y="3429000"/>
            <a:ext cx="1400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CND_F_Op[CN_ON_CAR]</a:t>
            </a:r>
          </a:p>
        </p:txBody>
      </p:sp>
      <p:sp>
        <p:nvSpPr>
          <p:cNvPr id="2252" name="Rectangle 204"/>
          <p:cNvSpPr>
            <a:spLocks noChangeArrowheads="1"/>
          </p:cNvSpPr>
          <p:nvPr/>
        </p:nvSpPr>
        <p:spPr bwMode="auto">
          <a:xfrm>
            <a:off x="1012825" y="3429000"/>
            <a:ext cx="13493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CND_F_Op[CN_IN_CAR]</a:t>
            </a:r>
          </a:p>
        </p:txBody>
      </p:sp>
      <p:sp>
        <p:nvSpPr>
          <p:cNvPr id="2253" name="Rectangle 205"/>
          <p:cNvSpPr>
            <a:spLocks noChangeArrowheads="1"/>
          </p:cNvSpPr>
          <p:nvPr/>
        </p:nvSpPr>
        <p:spPr bwMode="auto">
          <a:xfrm>
            <a:off x="152400" y="2514600"/>
            <a:ext cx="6858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28" name="Group 206"/>
          <p:cNvGrpSpPr>
            <a:grpSpLocks/>
          </p:cNvGrpSpPr>
          <p:nvPr/>
        </p:nvGrpSpPr>
        <p:grpSpPr bwMode="auto">
          <a:xfrm>
            <a:off x="3200400" y="4254500"/>
            <a:ext cx="533400" cy="152400"/>
            <a:chOff x="1128" y="1440"/>
            <a:chExt cx="336" cy="96"/>
          </a:xfrm>
        </p:grpSpPr>
        <p:grpSp>
          <p:nvGrpSpPr>
            <p:cNvPr id="29" name="Group 207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56" name="Line 208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57" name="Line 209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58" name="Line 210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59" name="Line 211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60" name="Line 212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30" name="Group 213"/>
          <p:cNvGrpSpPr>
            <a:grpSpLocks/>
          </p:cNvGrpSpPr>
          <p:nvPr/>
        </p:nvGrpSpPr>
        <p:grpSpPr bwMode="auto">
          <a:xfrm>
            <a:off x="1295400" y="4254500"/>
            <a:ext cx="533400" cy="152400"/>
            <a:chOff x="1128" y="1440"/>
            <a:chExt cx="336" cy="96"/>
          </a:xfrm>
        </p:grpSpPr>
        <p:grpSp>
          <p:nvGrpSpPr>
            <p:cNvPr id="31" name="Group 214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63" name="Line 215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64" name="Line 216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65" name="Line 217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66" name="Line 218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67" name="Line 219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208" name="Group 220"/>
          <p:cNvGrpSpPr>
            <a:grpSpLocks/>
          </p:cNvGrpSpPr>
          <p:nvPr/>
        </p:nvGrpSpPr>
        <p:grpSpPr bwMode="auto">
          <a:xfrm>
            <a:off x="2209800" y="4254500"/>
            <a:ext cx="533400" cy="152400"/>
            <a:chOff x="1128" y="1440"/>
            <a:chExt cx="336" cy="96"/>
          </a:xfrm>
        </p:grpSpPr>
        <p:grpSp>
          <p:nvGrpSpPr>
            <p:cNvPr id="2214" name="Group 221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70" name="Line 222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71" name="Line 223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72" name="Line 224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73" name="Line 225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74" name="Line 226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75" name="Rectangle 227"/>
          <p:cNvSpPr>
            <a:spLocks noChangeArrowheads="1"/>
          </p:cNvSpPr>
          <p:nvPr/>
        </p:nvSpPr>
        <p:spPr bwMode="auto">
          <a:xfrm>
            <a:off x="1009650" y="4046538"/>
            <a:ext cx="123031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CND_F_Op[CN_HIGH]</a:t>
            </a:r>
          </a:p>
        </p:txBody>
      </p:sp>
      <p:sp>
        <p:nvSpPr>
          <p:cNvPr id="2276" name="Rectangle 228"/>
          <p:cNvSpPr>
            <a:spLocks noChangeArrowheads="1"/>
          </p:cNvSpPr>
          <p:nvPr/>
        </p:nvSpPr>
        <p:spPr bwMode="auto">
          <a:xfrm>
            <a:off x="1790700" y="4395788"/>
            <a:ext cx="13493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CND_F_Op[CN_IN_CAR]</a:t>
            </a:r>
          </a:p>
        </p:txBody>
      </p:sp>
      <p:sp>
        <p:nvSpPr>
          <p:cNvPr id="2277" name="Rectangle 229"/>
          <p:cNvSpPr>
            <a:spLocks noChangeArrowheads="1"/>
          </p:cNvSpPr>
          <p:nvPr/>
        </p:nvSpPr>
        <p:spPr bwMode="auto">
          <a:xfrm>
            <a:off x="2609850" y="4038600"/>
            <a:ext cx="1400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CND_F_Op[CN_ON_CAR]</a:t>
            </a:r>
          </a:p>
        </p:txBody>
      </p:sp>
      <p:sp>
        <p:nvSpPr>
          <p:cNvPr id="2278" name="Rectangle 230"/>
          <p:cNvSpPr>
            <a:spLocks noChangeArrowheads="1"/>
          </p:cNvSpPr>
          <p:nvPr/>
        </p:nvSpPr>
        <p:spPr bwMode="auto">
          <a:xfrm>
            <a:off x="3429000" y="4737100"/>
            <a:ext cx="13589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79" name="Line 231"/>
          <p:cNvSpPr>
            <a:spLocks noChangeShapeType="1"/>
          </p:cNvSpPr>
          <p:nvPr/>
        </p:nvSpPr>
        <p:spPr bwMode="auto">
          <a:xfrm>
            <a:off x="1600200" y="49657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80" name="Line 232"/>
          <p:cNvSpPr>
            <a:spLocks noChangeShapeType="1"/>
          </p:cNvSpPr>
          <p:nvPr/>
        </p:nvSpPr>
        <p:spPr bwMode="auto">
          <a:xfrm>
            <a:off x="152400" y="602615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215" name="Group 233"/>
          <p:cNvGrpSpPr>
            <a:grpSpLocks/>
          </p:cNvGrpSpPr>
          <p:nvPr/>
        </p:nvGrpSpPr>
        <p:grpSpPr bwMode="auto">
          <a:xfrm>
            <a:off x="1143000" y="5949950"/>
            <a:ext cx="533400" cy="152400"/>
            <a:chOff x="1752" y="2208"/>
            <a:chExt cx="336" cy="96"/>
          </a:xfrm>
        </p:grpSpPr>
        <p:sp>
          <p:nvSpPr>
            <p:cNvPr id="2282" name="Line 234"/>
            <p:cNvSpPr>
              <a:spLocks noChangeShapeType="1"/>
            </p:cNvSpPr>
            <p:nvPr/>
          </p:nvSpPr>
          <p:spPr bwMode="auto">
            <a:xfrm>
              <a:off x="1896" y="220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83" name="Line 235"/>
            <p:cNvSpPr>
              <a:spLocks noChangeShapeType="1"/>
            </p:cNvSpPr>
            <p:nvPr/>
          </p:nvSpPr>
          <p:spPr bwMode="auto">
            <a:xfrm>
              <a:off x="1944" y="220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84" name="Line 236"/>
            <p:cNvSpPr>
              <a:spLocks noChangeShapeType="1"/>
            </p:cNvSpPr>
            <p:nvPr/>
          </p:nvSpPr>
          <p:spPr bwMode="auto">
            <a:xfrm>
              <a:off x="1752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85" name="Line 237"/>
            <p:cNvSpPr>
              <a:spLocks noChangeShapeType="1"/>
            </p:cNvSpPr>
            <p:nvPr/>
          </p:nvSpPr>
          <p:spPr bwMode="auto">
            <a:xfrm>
              <a:off x="1944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86" name="Rectangle 238"/>
          <p:cNvSpPr>
            <a:spLocks noChangeArrowheads="1"/>
          </p:cNvSpPr>
          <p:nvPr/>
        </p:nvSpPr>
        <p:spPr bwMode="auto">
          <a:xfrm>
            <a:off x="3429000" y="4781550"/>
            <a:ext cx="1276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TMC_Start(OP_MODE_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287" name="Line 239"/>
          <p:cNvSpPr>
            <a:spLocks noChangeShapeType="1"/>
          </p:cNvSpPr>
          <p:nvPr/>
        </p:nvSpPr>
        <p:spPr bwMode="auto">
          <a:xfrm>
            <a:off x="4781550" y="4953000"/>
            <a:ext cx="95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88" name="Rectangle 240"/>
          <p:cNvSpPr>
            <a:spLocks noChangeArrowheads="1"/>
          </p:cNvSpPr>
          <p:nvPr/>
        </p:nvSpPr>
        <p:spPr bwMode="auto">
          <a:xfrm>
            <a:off x="1447800" y="2895600"/>
            <a:ext cx="4984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0x82AD</a:t>
            </a:r>
          </a:p>
        </p:txBody>
      </p:sp>
      <p:sp>
        <p:nvSpPr>
          <p:cNvPr id="2289" name="Rectangle 241"/>
          <p:cNvSpPr>
            <a:spLocks noChangeArrowheads="1"/>
          </p:cNvSpPr>
          <p:nvPr/>
        </p:nvSpPr>
        <p:spPr bwMode="auto">
          <a:xfrm>
            <a:off x="2514600" y="2819400"/>
            <a:ext cx="49371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0x82AE</a:t>
            </a:r>
          </a:p>
        </p:txBody>
      </p:sp>
      <p:sp>
        <p:nvSpPr>
          <p:cNvPr id="2290" name="Rectangle 242"/>
          <p:cNvSpPr>
            <a:spLocks noChangeArrowheads="1"/>
          </p:cNvSpPr>
          <p:nvPr/>
        </p:nvSpPr>
        <p:spPr bwMode="auto">
          <a:xfrm>
            <a:off x="2590800" y="32766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0x82AF</a:t>
            </a:r>
          </a:p>
        </p:txBody>
      </p:sp>
      <p:sp>
        <p:nvSpPr>
          <p:cNvPr id="2291" name="Rectangle 243"/>
          <p:cNvSpPr>
            <a:spLocks noChangeArrowheads="1"/>
          </p:cNvSpPr>
          <p:nvPr/>
        </p:nvSpPr>
        <p:spPr bwMode="auto">
          <a:xfrm>
            <a:off x="1066800" y="3733800"/>
            <a:ext cx="49371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0x82AE</a:t>
            </a:r>
          </a:p>
        </p:txBody>
      </p:sp>
      <p:sp>
        <p:nvSpPr>
          <p:cNvPr id="2292" name="Rectangle 244"/>
          <p:cNvSpPr>
            <a:spLocks noChangeArrowheads="1"/>
          </p:cNvSpPr>
          <p:nvPr/>
        </p:nvSpPr>
        <p:spPr bwMode="auto">
          <a:xfrm>
            <a:off x="2590800" y="37338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0x82AF</a:t>
            </a:r>
          </a:p>
        </p:txBody>
      </p:sp>
      <p:sp>
        <p:nvSpPr>
          <p:cNvPr id="2293" name="Rectangle 245"/>
          <p:cNvSpPr>
            <a:spLocks noChangeArrowheads="1"/>
          </p:cNvSpPr>
          <p:nvPr/>
        </p:nvSpPr>
        <p:spPr bwMode="auto">
          <a:xfrm>
            <a:off x="1006475" y="4325938"/>
            <a:ext cx="49847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0x82AD</a:t>
            </a:r>
          </a:p>
        </p:txBody>
      </p:sp>
      <p:sp>
        <p:nvSpPr>
          <p:cNvPr id="2294" name="Rectangle 246"/>
          <p:cNvSpPr>
            <a:spLocks noChangeArrowheads="1"/>
          </p:cNvSpPr>
          <p:nvPr/>
        </p:nvSpPr>
        <p:spPr bwMode="auto">
          <a:xfrm>
            <a:off x="2192338" y="4079875"/>
            <a:ext cx="49371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0x82AE</a:t>
            </a:r>
          </a:p>
        </p:txBody>
      </p:sp>
      <p:sp>
        <p:nvSpPr>
          <p:cNvPr id="2295" name="Rectangle 247"/>
          <p:cNvSpPr>
            <a:spLocks noChangeArrowheads="1"/>
          </p:cNvSpPr>
          <p:nvPr/>
        </p:nvSpPr>
        <p:spPr bwMode="auto">
          <a:xfrm>
            <a:off x="3468688" y="4329113"/>
            <a:ext cx="4889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0x82AF</a:t>
            </a:r>
          </a:p>
        </p:txBody>
      </p:sp>
      <p:grpSp>
        <p:nvGrpSpPr>
          <p:cNvPr id="2227" name="Group 248"/>
          <p:cNvGrpSpPr>
            <a:grpSpLocks/>
          </p:cNvGrpSpPr>
          <p:nvPr/>
        </p:nvGrpSpPr>
        <p:grpSpPr bwMode="auto">
          <a:xfrm>
            <a:off x="304800" y="2743200"/>
            <a:ext cx="533400" cy="152400"/>
            <a:chOff x="816" y="1392"/>
            <a:chExt cx="336" cy="96"/>
          </a:xfrm>
        </p:grpSpPr>
        <p:sp>
          <p:nvSpPr>
            <p:cNvPr id="2297" name="Line 249"/>
            <p:cNvSpPr>
              <a:spLocks noChangeShapeType="1"/>
            </p:cNvSpPr>
            <p:nvPr/>
          </p:nvSpPr>
          <p:spPr bwMode="auto">
            <a:xfrm>
              <a:off x="960" y="139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98" name="Line 250"/>
            <p:cNvSpPr>
              <a:spLocks noChangeShapeType="1"/>
            </p:cNvSpPr>
            <p:nvPr/>
          </p:nvSpPr>
          <p:spPr bwMode="auto">
            <a:xfrm>
              <a:off x="1008" y="139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99" name="Line 251"/>
            <p:cNvSpPr>
              <a:spLocks noChangeShapeType="1"/>
            </p:cNvSpPr>
            <p:nvPr/>
          </p:nvSpPr>
          <p:spPr bwMode="auto">
            <a:xfrm>
              <a:off x="816" y="14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00" name="Line 252"/>
            <p:cNvSpPr>
              <a:spLocks noChangeShapeType="1"/>
            </p:cNvSpPr>
            <p:nvPr/>
          </p:nvSpPr>
          <p:spPr bwMode="auto">
            <a:xfrm>
              <a:off x="1008" y="14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301" name="Rectangle 253"/>
          <p:cNvSpPr>
            <a:spLocks noChangeArrowheads="1"/>
          </p:cNvSpPr>
          <p:nvPr/>
        </p:nvSpPr>
        <p:spPr bwMode="auto">
          <a:xfrm>
            <a:off x="4114800" y="2590800"/>
            <a:ext cx="673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02" name="Rectangle 254"/>
          <p:cNvSpPr>
            <a:spLocks noChangeArrowheads="1"/>
          </p:cNvSpPr>
          <p:nvPr/>
        </p:nvSpPr>
        <p:spPr bwMode="auto">
          <a:xfrm>
            <a:off x="4114800" y="2590800"/>
            <a:ext cx="6699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input_err</a:t>
            </a:r>
          </a:p>
        </p:txBody>
      </p:sp>
      <p:sp>
        <p:nvSpPr>
          <p:cNvPr id="2303" name="Rectangle 255"/>
          <p:cNvSpPr>
            <a:spLocks noChangeArrowheads="1"/>
          </p:cNvSpPr>
          <p:nvPr/>
        </p:nvSpPr>
        <p:spPr bwMode="auto">
          <a:xfrm>
            <a:off x="4114800" y="4114800"/>
            <a:ext cx="673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04" name="Rectangle 256"/>
          <p:cNvSpPr>
            <a:spLocks noChangeArrowheads="1"/>
          </p:cNvSpPr>
          <p:nvPr/>
        </p:nvSpPr>
        <p:spPr bwMode="auto">
          <a:xfrm>
            <a:off x="4114800" y="4114800"/>
            <a:ext cx="6699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empty_err</a:t>
            </a:r>
          </a:p>
        </p:txBody>
      </p:sp>
      <p:sp>
        <p:nvSpPr>
          <p:cNvPr id="2305" name="Line 257"/>
          <p:cNvSpPr>
            <a:spLocks noChangeShapeType="1"/>
          </p:cNvSpPr>
          <p:nvPr/>
        </p:nvSpPr>
        <p:spPr bwMode="auto">
          <a:xfrm>
            <a:off x="152400" y="54991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233" name="Group 258"/>
          <p:cNvGrpSpPr>
            <a:grpSpLocks/>
          </p:cNvGrpSpPr>
          <p:nvPr/>
        </p:nvGrpSpPr>
        <p:grpSpPr bwMode="auto">
          <a:xfrm>
            <a:off x="1143000" y="5422900"/>
            <a:ext cx="533400" cy="152400"/>
            <a:chOff x="1752" y="2208"/>
            <a:chExt cx="336" cy="96"/>
          </a:xfrm>
        </p:grpSpPr>
        <p:sp>
          <p:nvSpPr>
            <p:cNvPr id="2307" name="Line 259"/>
            <p:cNvSpPr>
              <a:spLocks noChangeShapeType="1"/>
            </p:cNvSpPr>
            <p:nvPr/>
          </p:nvSpPr>
          <p:spPr bwMode="auto">
            <a:xfrm>
              <a:off x="1896" y="220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08" name="Line 260"/>
            <p:cNvSpPr>
              <a:spLocks noChangeShapeType="1"/>
            </p:cNvSpPr>
            <p:nvPr/>
          </p:nvSpPr>
          <p:spPr bwMode="auto">
            <a:xfrm>
              <a:off x="1944" y="220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09" name="Line 261"/>
            <p:cNvSpPr>
              <a:spLocks noChangeShapeType="1"/>
            </p:cNvSpPr>
            <p:nvPr/>
          </p:nvSpPr>
          <p:spPr bwMode="auto">
            <a:xfrm>
              <a:off x="1752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10" name="Line 262"/>
            <p:cNvSpPr>
              <a:spLocks noChangeShapeType="1"/>
            </p:cNvSpPr>
            <p:nvPr/>
          </p:nvSpPr>
          <p:spPr bwMode="auto">
            <a:xfrm>
              <a:off x="1944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311" name="Rectangle 263"/>
          <p:cNvSpPr>
            <a:spLocks noChangeArrowheads="1"/>
          </p:cNvSpPr>
          <p:nvPr/>
        </p:nvSpPr>
        <p:spPr bwMode="auto">
          <a:xfrm>
            <a:off x="3429000" y="5270500"/>
            <a:ext cx="13589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12" name="Line 264"/>
          <p:cNvSpPr>
            <a:spLocks noChangeShapeType="1"/>
          </p:cNvSpPr>
          <p:nvPr/>
        </p:nvSpPr>
        <p:spPr bwMode="auto">
          <a:xfrm>
            <a:off x="1600200" y="54991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13" name="Line 265"/>
          <p:cNvSpPr>
            <a:spLocks noChangeShapeType="1"/>
          </p:cNvSpPr>
          <p:nvPr/>
        </p:nvSpPr>
        <p:spPr bwMode="auto">
          <a:xfrm>
            <a:off x="4781550" y="5486400"/>
            <a:ext cx="95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14" name="Rectangle 266"/>
          <p:cNvSpPr>
            <a:spLocks noChangeArrowheads="1"/>
          </p:cNvSpPr>
          <p:nvPr/>
        </p:nvSpPr>
        <p:spPr bwMode="auto">
          <a:xfrm>
            <a:off x="3367088" y="5334000"/>
            <a:ext cx="14335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TMC_Start(MODE_INPUT_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315" name="Line 267"/>
          <p:cNvSpPr>
            <a:spLocks noChangeShapeType="1"/>
          </p:cNvSpPr>
          <p:nvPr/>
        </p:nvSpPr>
        <p:spPr bwMode="auto">
          <a:xfrm>
            <a:off x="990600" y="6019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16" name="Rectangle 268"/>
          <p:cNvSpPr>
            <a:spLocks noChangeArrowheads="1"/>
          </p:cNvSpPr>
          <p:nvPr/>
        </p:nvSpPr>
        <p:spPr bwMode="auto">
          <a:xfrm>
            <a:off x="2819400" y="4724400"/>
            <a:ext cx="7620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990 msec</a:t>
            </a:r>
          </a:p>
        </p:txBody>
      </p:sp>
      <p:sp>
        <p:nvSpPr>
          <p:cNvPr id="2317" name="Rectangle 269"/>
          <p:cNvSpPr>
            <a:spLocks noChangeArrowheads="1"/>
          </p:cNvSpPr>
          <p:nvPr/>
        </p:nvSpPr>
        <p:spPr bwMode="auto">
          <a:xfrm>
            <a:off x="2743200" y="5257800"/>
            <a:ext cx="7620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3060 msec</a:t>
            </a:r>
          </a:p>
        </p:txBody>
      </p:sp>
      <p:sp>
        <p:nvSpPr>
          <p:cNvPr id="2318" name="Rectangle 270"/>
          <p:cNvSpPr>
            <a:spLocks noChangeArrowheads="1"/>
          </p:cNvSpPr>
          <p:nvPr/>
        </p:nvSpPr>
        <p:spPr bwMode="auto">
          <a:xfrm>
            <a:off x="1066800" y="5181600"/>
            <a:ext cx="7620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empty_err</a:t>
            </a:r>
          </a:p>
        </p:txBody>
      </p:sp>
      <p:grpSp>
        <p:nvGrpSpPr>
          <p:cNvPr id="2238" name="Group 271"/>
          <p:cNvGrpSpPr>
            <a:grpSpLocks/>
          </p:cNvGrpSpPr>
          <p:nvPr/>
        </p:nvGrpSpPr>
        <p:grpSpPr bwMode="auto">
          <a:xfrm>
            <a:off x="1143000" y="6477000"/>
            <a:ext cx="533400" cy="152400"/>
            <a:chOff x="1752" y="2208"/>
            <a:chExt cx="336" cy="96"/>
          </a:xfrm>
        </p:grpSpPr>
        <p:sp>
          <p:nvSpPr>
            <p:cNvPr id="2320" name="Line 272"/>
            <p:cNvSpPr>
              <a:spLocks noChangeShapeType="1"/>
            </p:cNvSpPr>
            <p:nvPr/>
          </p:nvSpPr>
          <p:spPr bwMode="auto">
            <a:xfrm>
              <a:off x="1896" y="220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21" name="Line 273"/>
            <p:cNvSpPr>
              <a:spLocks noChangeShapeType="1"/>
            </p:cNvSpPr>
            <p:nvPr/>
          </p:nvSpPr>
          <p:spPr bwMode="auto">
            <a:xfrm>
              <a:off x="1944" y="220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22" name="Line 274"/>
            <p:cNvSpPr>
              <a:spLocks noChangeShapeType="1"/>
            </p:cNvSpPr>
            <p:nvPr/>
          </p:nvSpPr>
          <p:spPr bwMode="auto">
            <a:xfrm>
              <a:off x="1752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23" name="Line 275"/>
            <p:cNvSpPr>
              <a:spLocks noChangeShapeType="1"/>
            </p:cNvSpPr>
            <p:nvPr/>
          </p:nvSpPr>
          <p:spPr bwMode="auto">
            <a:xfrm>
              <a:off x="1944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324" name="Line 276"/>
          <p:cNvSpPr>
            <a:spLocks noChangeShapeType="1"/>
          </p:cNvSpPr>
          <p:nvPr/>
        </p:nvSpPr>
        <p:spPr bwMode="auto">
          <a:xfrm>
            <a:off x="990600" y="6553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25" name="Line 277"/>
          <p:cNvSpPr>
            <a:spLocks noChangeShapeType="1"/>
          </p:cNvSpPr>
          <p:nvPr/>
        </p:nvSpPr>
        <p:spPr bwMode="auto">
          <a:xfrm>
            <a:off x="3352800" y="6019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26" name="Rectangle 278"/>
          <p:cNvSpPr>
            <a:spLocks noChangeArrowheads="1"/>
          </p:cNvSpPr>
          <p:nvPr/>
        </p:nvSpPr>
        <p:spPr bwMode="auto">
          <a:xfrm>
            <a:off x="1447800" y="6172200"/>
            <a:ext cx="1930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TMC_Check(MODE_INPUT_ERROR_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DETECT_T, FINISH_STATE)</a:t>
            </a:r>
          </a:p>
        </p:txBody>
      </p:sp>
      <p:sp>
        <p:nvSpPr>
          <p:cNvPr id="2327" name="Rectangle 279"/>
          <p:cNvSpPr>
            <a:spLocks noChangeArrowheads="1"/>
          </p:cNvSpPr>
          <p:nvPr/>
        </p:nvSpPr>
        <p:spPr bwMode="auto">
          <a:xfrm>
            <a:off x="5014913" y="1081088"/>
            <a:ext cx="4349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P48V</a:t>
            </a:r>
          </a:p>
        </p:txBody>
      </p:sp>
      <p:sp>
        <p:nvSpPr>
          <p:cNvPr id="2328" name="Rectangle 280"/>
          <p:cNvSpPr>
            <a:spLocks noChangeArrowheads="1"/>
          </p:cNvSpPr>
          <p:nvPr/>
        </p:nvSpPr>
        <p:spPr bwMode="auto">
          <a:xfrm>
            <a:off x="7834313" y="1035050"/>
            <a:ext cx="59213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DCL-241</a:t>
            </a:r>
          </a:p>
        </p:txBody>
      </p:sp>
      <p:sp>
        <p:nvSpPr>
          <p:cNvPr id="2329" name="Oval 281"/>
          <p:cNvSpPr>
            <a:spLocks noChangeArrowheads="1"/>
          </p:cNvSpPr>
          <p:nvPr/>
        </p:nvSpPr>
        <p:spPr bwMode="auto">
          <a:xfrm>
            <a:off x="5656263" y="1468438"/>
            <a:ext cx="76200" cy="889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30" name="Oval 282"/>
          <p:cNvSpPr>
            <a:spLocks noChangeArrowheads="1"/>
          </p:cNvSpPr>
          <p:nvPr/>
        </p:nvSpPr>
        <p:spPr bwMode="auto">
          <a:xfrm>
            <a:off x="5918200" y="1468438"/>
            <a:ext cx="74613" cy="889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31" name="Oval 283"/>
          <p:cNvSpPr>
            <a:spLocks noChangeArrowheads="1"/>
          </p:cNvSpPr>
          <p:nvPr/>
        </p:nvSpPr>
        <p:spPr bwMode="auto">
          <a:xfrm>
            <a:off x="5918200" y="1671638"/>
            <a:ext cx="74613" cy="889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32" name="Line 284"/>
          <p:cNvSpPr>
            <a:spLocks noChangeShapeType="1"/>
          </p:cNvSpPr>
          <p:nvPr/>
        </p:nvSpPr>
        <p:spPr bwMode="auto">
          <a:xfrm>
            <a:off x="5738813" y="1512888"/>
            <a:ext cx="304800" cy="5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33" name="Line 285"/>
          <p:cNvSpPr>
            <a:spLocks noChangeShapeType="1"/>
          </p:cNvSpPr>
          <p:nvPr/>
        </p:nvSpPr>
        <p:spPr bwMode="auto">
          <a:xfrm>
            <a:off x="5738813" y="1512888"/>
            <a:ext cx="304800" cy="203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34" name="Line 286"/>
          <p:cNvSpPr>
            <a:spLocks noChangeShapeType="1"/>
          </p:cNvSpPr>
          <p:nvPr/>
        </p:nvSpPr>
        <p:spPr bwMode="auto">
          <a:xfrm>
            <a:off x="5564188" y="1512888"/>
            <a:ext cx="85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35" name="Line 287"/>
          <p:cNvSpPr>
            <a:spLocks noChangeShapeType="1"/>
          </p:cNvSpPr>
          <p:nvPr/>
        </p:nvSpPr>
        <p:spPr bwMode="auto">
          <a:xfrm>
            <a:off x="5183188" y="1325563"/>
            <a:ext cx="0" cy="1341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36" name="Line 288"/>
          <p:cNvSpPr>
            <a:spLocks noChangeShapeType="1"/>
          </p:cNvSpPr>
          <p:nvPr/>
        </p:nvSpPr>
        <p:spPr bwMode="auto">
          <a:xfrm flipH="1">
            <a:off x="5183188" y="1509713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37" name="Line 289"/>
          <p:cNvSpPr>
            <a:spLocks noChangeShapeType="1"/>
          </p:cNvSpPr>
          <p:nvPr/>
        </p:nvSpPr>
        <p:spPr bwMode="auto">
          <a:xfrm>
            <a:off x="5988050" y="1509713"/>
            <a:ext cx="2592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38" name="Line 290"/>
          <p:cNvSpPr>
            <a:spLocks noChangeShapeType="1"/>
          </p:cNvSpPr>
          <p:nvPr/>
        </p:nvSpPr>
        <p:spPr bwMode="auto">
          <a:xfrm>
            <a:off x="5956300" y="1757363"/>
            <a:ext cx="0" cy="209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39" name="Line 291"/>
          <p:cNvSpPr>
            <a:spLocks noChangeShapeType="1"/>
          </p:cNvSpPr>
          <p:nvPr/>
        </p:nvSpPr>
        <p:spPr bwMode="auto">
          <a:xfrm>
            <a:off x="5951538" y="1966913"/>
            <a:ext cx="2660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40" name="Line 292"/>
          <p:cNvSpPr>
            <a:spLocks noChangeShapeType="1"/>
          </p:cNvSpPr>
          <p:nvPr/>
        </p:nvSpPr>
        <p:spPr bwMode="auto">
          <a:xfrm>
            <a:off x="7088188" y="2362200"/>
            <a:ext cx="152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1924" tIns="45962" rIns="91924" bIns="45962">
            <a:spAutoFit/>
          </a:bodyPr>
          <a:lstStyle/>
          <a:p>
            <a:endParaRPr lang="ko-KR" altLang="en-US"/>
          </a:p>
        </p:txBody>
      </p:sp>
      <p:grpSp>
        <p:nvGrpSpPr>
          <p:cNvPr id="2254" name="Group 293"/>
          <p:cNvGrpSpPr>
            <a:grpSpLocks/>
          </p:cNvGrpSpPr>
          <p:nvPr/>
        </p:nvGrpSpPr>
        <p:grpSpPr bwMode="auto">
          <a:xfrm>
            <a:off x="7926388" y="1433513"/>
            <a:ext cx="152400" cy="152400"/>
            <a:chOff x="5088" y="1056"/>
            <a:chExt cx="96" cy="96"/>
          </a:xfrm>
        </p:grpSpPr>
        <p:grpSp>
          <p:nvGrpSpPr>
            <p:cNvPr id="2255" name="Group 294"/>
            <p:cNvGrpSpPr>
              <a:grpSpLocks/>
            </p:cNvGrpSpPr>
            <p:nvPr/>
          </p:nvGrpSpPr>
          <p:grpSpPr bwMode="auto">
            <a:xfrm>
              <a:off x="5088" y="1104"/>
              <a:ext cx="96" cy="48"/>
              <a:chOff x="5088" y="1104"/>
              <a:chExt cx="96" cy="48"/>
            </a:xfrm>
          </p:grpSpPr>
          <p:sp>
            <p:nvSpPr>
              <p:cNvPr id="2343" name="Line 295"/>
              <p:cNvSpPr>
                <a:spLocks noChangeShapeType="1"/>
              </p:cNvSpPr>
              <p:nvPr/>
            </p:nvSpPr>
            <p:spPr bwMode="auto">
              <a:xfrm flipV="1">
                <a:off x="5112" y="1104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4" name="Line 296"/>
              <p:cNvSpPr>
                <a:spLocks noChangeShapeType="1"/>
              </p:cNvSpPr>
              <p:nvPr/>
            </p:nvSpPr>
            <p:spPr bwMode="auto">
              <a:xfrm flipV="1">
                <a:off x="5088" y="1104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2261" name="Group 297"/>
            <p:cNvGrpSpPr>
              <a:grpSpLocks/>
            </p:cNvGrpSpPr>
            <p:nvPr/>
          </p:nvGrpSpPr>
          <p:grpSpPr bwMode="auto">
            <a:xfrm>
              <a:off x="5088" y="1056"/>
              <a:ext cx="96" cy="48"/>
              <a:chOff x="5088" y="1056"/>
              <a:chExt cx="96" cy="48"/>
            </a:xfrm>
          </p:grpSpPr>
          <p:sp>
            <p:nvSpPr>
              <p:cNvPr id="2346" name="Line 298"/>
              <p:cNvSpPr>
                <a:spLocks noChangeShapeType="1"/>
              </p:cNvSpPr>
              <p:nvPr/>
            </p:nvSpPr>
            <p:spPr bwMode="auto">
              <a:xfrm>
                <a:off x="5112" y="1056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47" name="Line 299"/>
              <p:cNvSpPr>
                <a:spLocks noChangeShapeType="1"/>
              </p:cNvSpPr>
              <p:nvPr/>
            </p:nvSpPr>
            <p:spPr bwMode="auto">
              <a:xfrm>
                <a:off x="5088" y="1056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</p:grpSp>
      </p:grpSp>
      <p:grpSp>
        <p:nvGrpSpPr>
          <p:cNvPr id="2262" name="Group 300"/>
          <p:cNvGrpSpPr>
            <a:grpSpLocks/>
          </p:cNvGrpSpPr>
          <p:nvPr/>
        </p:nvGrpSpPr>
        <p:grpSpPr bwMode="auto">
          <a:xfrm>
            <a:off x="7926388" y="1890713"/>
            <a:ext cx="152400" cy="152400"/>
            <a:chOff x="5088" y="1344"/>
            <a:chExt cx="96" cy="96"/>
          </a:xfrm>
        </p:grpSpPr>
        <p:grpSp>
          <p:nvGrpSpPr>
            <p:cNvPr id="2268" name="Group 301"/>
            <p:cNvGrpSpPr>
              <a:grpSpLocks/>
            </p:cNvGrpSpPr>
            <p:nvPr/>
          </p:nvGrpSpPr>
          <p:grpSpPr bwMode="auto">
            <a:xfrm>
              <a:off x="5088" y="1392"/>
              <a:ext cx="96" cy="48"/>
              <a:chOff x="5088" y="1392"/>
              <a:chExt cx="96" cy="48"/>
            </a:xfrm>
          </p:grpSpPr>
          <p:sp>
            <p:nvSpPr>
              <p:cNvPr id="2350" name="Line 302"/>
              <p:cNvSpPr>
                <a:spLocks noChangeShapeType="1"/>
              </p:cNvSpPr>
              <p:nvPr/>
            </p:nvSpPr>
            <p:spPr bwMode="auto">
              <a:xfrm flipV="1">
                <a:off x="5112" y="1392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1" name="Line 303"/>
              <p:cNvSpPr>
                <a:spLocks noChangeShapeType="1"/>
              </p:cNvSpPr>
              <p:nvPr/>
            </p:nvSpPr>
            <p:spPr bwMode="auto">
              <a:xfrm flipV="1">
                <a:off x="5088" y="1392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2269" name="Group 304"/>
            <p:cNvGrpSpPr>
              <a:grpSpLocks/>
            </p:cNvGrpSpPr>
            <p:nvPr/>
          </p:nvGrpSpPr>
          <p:grpSpPr bwMode="auto">
            <a:xfrm>
              <a:off x="5088" y="1344"/>
              <a:ext cx="96" cy="48"/>
              <a:chOff x="5088" y="1344"/>
              <a:chExt cx="96" cy="48"/>
            </a:xfrm>
          </p:grpSpPr>
          <p:sp>
            <p:nvSpPr>
              <p:cNvPr id="2353" name="Line 305"/>
              <p:cNvSpPr>
                <a:spLocks noChangeShapeType="1"/>
              </p:cNvSpPr>
              <p:nvPr/>
            </p:nvSpPr>
            <p:spPr bwMode="auto">
              <a:xfrm>
                <a:off x="5112" y="1344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4" name="Line 306"/>
              <p:cNvSpPr>
                <a:spLocks noChangeShapeType="1"/>
              </p:cNvSpPr>
              <p:nvPr/>
            </p:nvSpPr>
            <p:spPr bwMode="auto">
              <a:xfrm>
                <a:off x="5088" y="1344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</p:grpSp>
      </p:grpSp>
      <p:grpSp>
        <p:nvGrpSpPr>
          <p:cNvPr id="2281" name="Group 307"/>
          <p:cNvGrpSpPr>
            <a:grpSpLocks/>
          </p:cNvGrpSpPr>
          <p:nvPr/>
        </p:nvGrpSpPr>
        <p:grpSpPr bwMode="auto">
          <a:xfrm>
            <a:off x="7926388" y="2286000"/>
            <a:ext cx="152400" cy="152400"/>
            <a:chOff x="5088" y="1632"/>
            <a:chExt cx="96" cy="96"/>
          </a:xfrm>
        </p:grpSpPr>
        <p:grpSp>
          <p:nvGrpSpPr>
            <p:cNvPr id="2296" name="Group 308"/>
            <p:cNvGrpSpPr>
              <a:grpSpLocks/>
            </p:cNvGrpSpPr>
            <p:nvPr/>
          </p:nvGrpSpPr>
          <p:grpSpPr bwMode="auto">
            <a:xfrm>
              <a:off x="5088" y="1680"/>
              <a:ext cx="96" cy="48"/>
              <a:chOff x="5088" y="1680"/>
              <a:chExt cx="96" cy="48"/>
            </a:xfrm>
          </p:grpSpPr>
          <p:sp>
            <p:nvSpPr>
              <p:cNvPr id="2357" name="Line 309"/>
              <p:cNvSpPr>
                <a:spLocks noChangeShapeType="1"/>
              </p:cNvSpPr>
              <p:nvPr/>
            </p:nvSpPr>
            <p:spPr bwMode="auto">
              <a:xfrm flipV="1">
                <a:off x="5112" y="1680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58" name="Line 310"/>
              <p:cNvSpPr>
                <a:spLocks noChangeShapeType="1"/>
              </p:cNvSpPr>
              <p:nvPr/>
            </p:nvSpPr>
            <p:spPr bwMode="auto">
              <a:xfrm flipV="1">
                <a:off x="5088" y="1680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2306" name="Group 311"/>
            <p:cNvGrpSpPr>
              <a:grpSpLocks/>
            </p:cNvGrpSpPr>
            <p:nvPr/>
          </p:nvGrpSpPr>
          <p:grpSpPr bwMode="auto">
            <a:xfrm>
              <a:off x="5088" y="1632"/>
              <a:ext cx="96" cy="48"/>
              <a:chOff x="5088" y="1632"/>
              <a:chExt cx="96" cy="48"/>
            </a:xfrm>
          </p:grpSpPr>
          <p:sp>
            <p:nvSpPr>
              <p:cNvPr id="2360" name="Line 312"/>
              <p:cNvSpPr>
                <a:spLocks noChangeShapeType="1"/>
              </p:cNvSpPr>
              <p:nvPr/>
            </p:nvSpPr>
            <p:spPr bwMode="auto">
              <a:xfrm>
                <a:off x="5112" y="1632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361" name="Line 313"/>
              <p:cNvSpPr>
                <a:spLocks noChangeShapeType="1"/>
              </p:cNvSpPr>
              <p:nvPr/>
            </p:nvSpPr>
            <p:spPr bwMode="auto">
              <a:xfrm>
                <a:off x="5088" y="1632"/>
                <a:ext cx="7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1924" tIns="45962" rIns="91924" bIns="45962">
                <a:spAutoFit/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2362" name="Rectangle 314"/>
          <p:cNvSpPr>
            <a:spLocks noChangeArrowheads="1"/>
          </p:cNvSpPr>
          <p:nvPr/>
        </p:nvSpPr>
        <p:spPr bwMode="auto">
          <a:xfrm>
            <a:off x="8291513" y="1524000"/>
            <a:ext cx="49688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$82AD</a:t>
            </a:r>
          </a:p>
        </p:txBody>
      </p:sp>
      <p:sp>
        <p:nvSpPr>
          <p:cNvPr id="2363" name="Rectangle 315"/>
          <p:cNvSpPr>
            <a:spLocks noChangeArrowheads="1"/>
          </p:cNvSpPr>
          <p:nvPr/>
        </p:nvSpPr>
        <p:spPr bwMode="auto">
          <a:xfrm>
            <a:off x="8270875" y="2332038"/>
            <a:ext cx="49212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$82AE</a:t>
            </a:r>
          </a:p>
        </p:txBody>
      </p:sp>
      <p:sp>
        <p:nvSpPr>
          <p:cNvPr id="2364" name="Rectangle 316"/>
          <p:cNvSpPr>
            <a:spLocks noChangeArrowheads="1"/>
          </p:cNvSpPr>
          <p:nvPr/>
        </p:nvSpPr>
        <p:spPr bwMode="auto">
          <a:xfrm>
            <a:off x="8291513" y="1981200"/>
            <a:ext cx="4857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$82AF</a:t>
            </a:r>
          </a:p>
        </p:txBody>
      </p:sp>
      <p:sp>
        <p:nvSpPr>
          <p:cNvPr id="2365" name="Rectangle 317"/>
          <p:cNvSpPr>
            <a:spLocks noChangeArrowheads="1"/>
          </p:cNvSpPr>
          <p:nvPr/>
        </p:nvSpPr>
        <p:spPr bwMode="auto">
          <a:xfrm>
            <a:off x="8291513" y="1295400"/>
            <a:ext cx="511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RHIGH</a:t>
            </a:r>
          </a:p>
        </p:txBody>
      </p:sp>
      <p:sp>
        <p:nvSpPr>
          <p:cNvPr id="2366" name="Rectangle 318"/>
          <p:cNvSpPr>
            <a:spLocks noChangeArrowheads="1"/>
          </p:cNvSpPr>
          <p:nvPr/>
        </p:nvSpPr>
        <p:spPr bwMode="auto">
          <a:xfrm>
            <a:off x="8297863" y="2159000"/>
            <a:ext cx="57308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RINCAR</a:t>
            </a:r>
          </a:p>
        </p:txBody>
      </p:sp>
      <p:sp>
        <p:nvSpPr>
          <p:cNvPr id="2367" name="Rectangle 319"/>
          <p:cNvSpPr>
            <a:spLocks noChangeArrowheads="1"/>
          </p:cNvSpPr>
          <p:nvPr/>
        </p:nvSpPr>
        <p:spPr bwMode="auto">
          <a:xfrm>
            <a:off x="8291513" y="1752600"/>
            <a:ext cx="62388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RONCAR</a:t>
            </a:r>
          </a:p>
        </p:txBody>
      </p:sp>
      <p:sp>
        <p:nvSpPr>
          <p:cNvPr id="2368" name="Rectangle 320"/>
          <p:cNvSpPr>
            <a:spLocks noChangeArrowheads="1"/>
          </p:cNvSpPr>
          <p:nvPr/>
        </p:nvSpPr>
        <p:spPr bwMode="auto">
          <a:xfrm>
            <a:off x="7681913" y="1295400"/>
            <a:ext cx="50641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CIN-02</a:t>
            </a:r>
          </a:p>
        </p:txBody>
      </p:sp>
      <p:sp>
        <p:nvSpPr>
          <p:cNvPr id="2369" name="Rectangle 321"/>
          <p:cNvSpPr>
            <a:spLocks noChangeArrowheads="1"/>
          </p:cNvSpPr>
          <p:nvPr/>
        </p:nvSpPr>
        <p:spPr bwMode="auto">
          <a:xfrm>
            <a:off x="7696200" y="2133600"/>
            <a:ext cx="5064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CIN-03</a:t>
            </a:r>
          </a:p>
        </p:txBody>
      </p:sp>
      <p:sp>
        <p:nvSpPr>
          <p:cNvPr id="2370" name="Rectangle 322"/>
          <p:cNvSpPr>
            <a:spLocks noChangeArrowheads="1"/>
          </p:cNvSpPr>
          <p:nvPr/>
        </p:nvSpPr>
        <p:spPr bwMode="auto">
          <a:xfrm>
            <a:off x="7681913" y="1752600"/>
            <a:ext cx="55721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ONC-02</a:t>
            </a:r>
          </a:p>
        </p:txBody>
      </p:sp>
      <p:sp>
        <p:nvSpPr>
          <p:cNvPr id="2371" name="Line 323"/>
          <p:cNvSpPr>
            <a:spLocks noChangeShapeType="1"/>
          </p:cNvSpPr>
          <p:nvPr/>
        </p:nvSpPr>
        <p:spPr bwMode="auto">
          <a:xfrm flipH="1">
            <a:off x="7621588" y="1249363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72" name="Line 324"/>
          <p:cNvSpPr>
            <a:spLocks noChangeShapeType="1"/>
          </p:cNvSpPr>
          <p:nvPr/>
        </p:nvSpPr>
        <p:spPr bwMode="auto">
          <a:xfrm>
            <a:off x="7621588" y="1249363"/>
            <a:ext cx="0" cy="1265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73" name="Line 325"/>
          <p:cNvSpPr>
            <a:spLocks noChangeShapeType="1"/>
          </p:cNvSpPr>
          <p:nvPr/>
        </p:nvSpPr>
        <p:spPr bwMode="auto">
          <a:xfrm>
            <a:off x="7620000" y="25146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74" name="Rectangle 326"/>
          <p:cNvSpPr>
            <a:spLocks noChangeArrowheads="1"/>
          </p:cNvSpPr>
          <p:nvPr/>
        </p:nvSpPr>
        <p:spPr bwMode="auto">
          <a:xfrm>
            <a:off x="6248400" y="1295400"/>
            <a:ext cx="6191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NORMAL</a:t>
            </a:r>
          </a:p>
        </p:txBody>
      </p:sp>
      <p:sp>
        <p:nvSpPr>
          <p:cNvPr id="2375" name="Rectangle 327"/>
          <p:cNvSpPr>
            <a:spLocks noChangeArrowheads="1"/>
          </p:cNvSpPr>
          <p:nvPr/>
        </p:nvSpPr>
        <p:spPr bwMode="auto">
          <a:xfrm>
            <a:off x="6248400" y="1752600"/>
            <a:ext cx="11890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MAINT(INSPECTION)</a:t>
            </a:r>
          </a:p>
        </p:txBody>
      </p:sp>
      <p:sp>
        <p:nvSpPr>
          <p:cNvPr id="2376" name="Rectangle 328"/>
          <p:cNvSpPr>
            <a:spLocks noChangeArrowheads="1"/>
          </p:cNvSpPr>
          <p:nvPr/>
        </p:nvSpPr>
        <p:spPr bwMode="auto">
          <a:xfrm>
            <a:off x="5570538" y="1331913"/>
            <a:ext cx="673100" cy="1030287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  <a:miter lim="800000"/>
            <a:headEnd/>
            <a:tailEnd/>
          </a:ln>
          <a:effectLst/>
        </p:spPr>
        <p:txBody>
          <a:bodyPr lIns="91924" tIns="45962" rIns="91924" bIns="45962">
            <a:spAutoFit/>
          </a:bodyPr>
          <a:lstStyle/>
          <a:p>
            <a:endParaRPr lang="ko-KR" altLang="en-US"/>
          </a:p>
        </p:txBody>
      </p:sp>
      <p:sp>
        <p:nvSpPr>
          <p:cNvPr id="2377" name="Rectangle 329"/>
          <p:cNvSpPr>
            <a:spLocks noChangeArrowheads="1"/>
          </p:cNvSpPr>
          <p:nvPr/>
        </p:nvSpPr>
        <p:spPr bwMode="auto">
          <a:xfrm>
            <a:off x="5486400" y="2438400"/>
            <a:ext cx="7572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24" tIns="45962" rIns="91924" bIns="45962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T.O.C.I BOX</a:t>
            </a:r>
          </a:p>
        </p:txBody>
      </p:sp>
      <p:sp>
        <p:nvSpPr>
          <p:cNvPr id="2378" name="Line 330"/>
          <p:cNvSpPr>
            <a:spLocks noChangeShapeType="1"/>
          </p:cNvSpPr>
          <p:nvPr/>
        </p:nvSpPr>
        <p:spPr bwMode="auto">
          <a:xfrm>
            <a:off x="7086600" y="2362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79" name="Line 331"/>
          <p:cNvSpPr>
            <a:spLocks noChangeShapeType="1"/>
          </p:cNvSpPr>
          <p:nvPr/>
        </p:nvSpPr>
        <p:spPr bwMode="auto">
          <a:xfrm>
            <a:off x="7010400" y="2514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80" name="Line 332"/>
          <p:cNvSpPr>
            <a:spLocks noChangeShapeType="1"/>
          </p:cNvSpPr>
          <p:nvPr/>
        </p:nvSpPr>
        <p:spPr bwMode="auto">
          <a:xfrm>
            <a:off x="7042150" y="255905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81" name="Rectangle 333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97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ER_CDS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029200" y="1066800"/>
            <a:ext cx="391477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친 상황에서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Y2-03, CA-07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측정하여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0V±0.5V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검출되면 외부 조건은 정상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DOA-100(ANN)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(OLS)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나타내면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입력부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확인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DOA-100(ANN)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(CDS)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나타내면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CDS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정상임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만약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(CDS)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나타내면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CA-08(CDS)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DOLS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친 경우라면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CDS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있으므로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나와야 정상임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CA-08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48V LEVEL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나오면 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CDS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점검한다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endParaRPr lang="en-US" altLang="ko-KR">
              <a:solidFill>
                <a:srgbClr val="FF3300"/>
              </a:solidFill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2784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동작 후에도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CDS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신호가 입력되면 검출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81000" y="2286000"/>
            <a:ext cx="533400" cy="152400"/>
            <a:chOff x="240" y="1440"/>
            <a:chExt cx="336" cy="96"/>
          </a:xfrm>
        </p:grpSpPr>
        <p:sp>
          <p:nvSpPr>
            <p:cNvPr id="2069" name="Line 21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215900" y="1955800"/>
            <a:ext cx="849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Coil[SW_</a:t>
            </a:r>
          </a:p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GS_IS_STOP]</a:t>
            </a: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43000" y="2286000"/>
            <a:ext cx="533400" cy="152400"/>
            <a:chOff x="696" y="1440"/>
            <a:chExt cx="336" cy="96"/>
          </a:xfrm>
        </p:grpSpPr>
        <p:grpSp>
          <p:nvGrpSpPr>
            <p:cNvPr id="4" name="Group 27"/>
            <p:cNvGrpSpPr>
              <a:grpSpLocks/>
            </p:cNvGrpSpPr>
            <p:nvPr/>
          </p:nvGrpSpPr>
          <p:grpSpPr bwMode="auto">
            <a:xfrm>
              <a:off x="696" y="1440"/>
              <a:ext cx="336" cy="96"/>
              <a:chOff x="696" y="1440"/>
              <a:chExt cx="336" cy="96"/>
            </a:xfrm>
          </p:grpSpPr>
          <p:sp>
            <p:nvSpPr>
              <p:cNvPr id="2076" name="Line 28"/>
              <p:cNvSpPr>
                <a:spLocks noChangeShapeType="1"/>
              </p:cNvSpPr>
              <p:nvPr/>
            </p:nvSpPr>
            <p:spPr bwMode="auto">
              <a:xfrm>
                <a:off x="84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888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696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88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792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1009650" y="1955800"/>
            <a:ext cx="914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Coil[SW_FS_</a:t>
            </a:r>
          </a:p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MAINT]</a:t>
            </a:r>
          </a:p>
        </p:txBody>
      </p: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1981200" y="2286000"/>
            <a:ext cx="533400" cy="152400"/>
            <a:chOff x="1128" y="1440"/>
            <a:chExt cx="336" cy="96"/>
          </a:xfrm>
        </p:grpSpPr>
        <p:grpSp>
          <p:nvGrpSpPr>
            <p:cNvPr id="6" name="Group 35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084" name="Line 36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85" name="Line 37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86" name="Line 38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87" name="Line 39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88" name="Line 40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1838325" y="1962150"/>
            <a:ext cx="9477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IN_CAR]</a:t>
            </a:r>
          </a:p>
        </p:txBody>
      </p:sp>
      <p:sp>
        <p:nvSpPr>
          <p:cNvPr id="2090" name="Rectangle 42"/>
          <p:cNvSpPr>
            <a:spLocks noChangeArrowheads="1"/>
          </p:cNvSpPr>
          <p:nvPr/>
        </p:nvSpPr>
        <p:spPr bwMode="auto">
          <a:xfrm>
            <a:off x="2190750" y="2552700"/>
            <a:ext cx="846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Coil[DC_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CLOSE_CMD]</a:t>
            </a:r>
          </a:p>
        </p:txBody>
      </p: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990600" y="3505200"/>
            <a:ext cx="533400" cy="152400"/>
            <a:chOff x="1752" y="1440"/>
            <a:chExt cx="336" cy="96"/>
          </a:xfrm>
        </p:grpSpPr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3" name="Line 45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5" name="Line 47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533400" y="2590800"/>
            <a:ext cx="8016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Coil[SW_SV_</a:t>
            </a:r>
          </a:p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1ST_FIRE]</a:t>
            </a:r>
          </a:p>
        </p:txBody>
      </p:sp>
      <p:sp>
        <p:nvSpPr>
          <p:cNvPr id="2097" name="Rectangle 49"/>
          <p:cNvSpPr>
            <a:spLocks noChangeArrowheads="1"/>
          </p:cNvSpPr>
          <p:nvPr/>
        </p:nvSpPr>
        <p:spPr bwMode="auto">
          <a:xfrm>
            <a:off x="928688" y="3200400"/>
            <a:ext cx="723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SWD_O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[VO_R2OP]</a:t>
            </a:r>
          </a:p>
        </p:txBody>
      </p:sp>
      <p:sp>
        <p:nvSpPr>
          <p:cNvPr id="2098" name="Line 50"/>
          <p:cNvSpPr>
            <a:spLocks noChangeShapeType="1"/>
          </p:cNvSpPr>
          <p:nvPr/>
        </p:nvSpPr>
        <p:spPr bwMode="auto">
          <a:xfrm>
            <a:off x="152400" y="2057400"/>
            <a:ext cx="0" cy="403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9" name="Line 51"/>
          <p:cNvSpPr>
            <a:spLocks noChangeShapeType="1"/>
          </p:cNvSpPr>
          <p:nvPr/>
        </p:nvSpPr>
        <p:spPr bwMode="auto">
          <a:xfrm>
            <a:off x="152400" y="2362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0" name="Line 52"/>
          <p:cNvSpPr>
            <a:spLocks noChangeShapeType="1"/>
          </p:cNvSpPr>
          <p:nvPr/>
        </p:nvSpPr>
        <p:spPr bwMode="auto">
          <a:xfrm>
            <a:off x="762000" y="2362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1676400" y="2362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2" name="Line 54"/>
          <p:cNvSpPr>
            <a:spLocks noChangeShapeType="1"/>
          </p:cNvSpPr>
          <p:nvPr/>
        </p:nvSpPr>
        <p:spPr bwMode="auto">
          <a:xfrm>
            <a:off x="2514600" y="2362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3" name="Line 55"/>
          <p:cNvSpPr>
            <a:spLocks noChangeShapeType="1"/>
          </p:cNvSpPr>
          <p:nvPr/>
        </p:nvSpPr>
        <p:spPr bwMode="auto">
          <a:xfrm>
            <a:off x="3429000" y="23622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4" name="Line 56"/>
          <p:cNvSpPr>
            <a:spLocks noChangeShapeType="1"/>
          </p:cNvSpPr>
          <p:nvPr/>
        </p:nvSpPr>
        <p:spPr bwMode="auto">
          <a:xfrm>
            <a:off x="4876800" y="2057400"/>
            <a:ext cx="0" cy="403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5" name="Rectangle 57"/>
          <p:cNvSpPr>
            <a:spLocks noChangeArrowheads="1"/>
          </p:cNvSpPr>
          <p:nvPr/>
        </p:nvSpPr>
        <p:spPr bwMode="auto">
          <a:xfrm>
            <a:off x="381000" y="46624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457200" y="4876800"/>
            <a:ext cx="533400" cy="152400"/>
            <a:chOff x="288" y="3120"/>
            <a:chExt cx="336" cy="96"/>
          </a:xfrm>
        </p:grpSpPr>
        <p:sp>
          <p:nvSpPr>
            <p:cNvPr id="2107" name="Line 59"/>
            <p:cNvSpPr>
              <a:spLocks noChangeShapeType="1"/>
            </p:cNvSpPr>
            <p:nvPr/>
          </p:nvSpPr>
          <p:spPr bwMode="auto">
            <a:xfrm>
              <a:off x="432" y="312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8" name="Line 60"/>
            <p:cNvSpPr>
              <a:spLocks noChangeShapeType="1"/>
            </p:cNvSpPr>
            <p:nvPr/>
          </p:nvSpPr>
          <p:spPr bwMode="auto">
            <a:xfrm>
              <a:off x="480" y="312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9" name="Line 61"/>
            <p:cNvSpPr>
              <a:spLocks noChangeShapeType="1"/>
            </p:cNvSpPr>
            <p:nvPr/>
          </p:nvSpPr>
          <p:spPr bwMode="auto">
            <a:xfrm>
              <a:off x="288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0" name="Line 62"/>
            <p:cNvSpPr>
              <a:spLocks noChangeShapeType="1"/>
            </p:cNvSpPr>
            <p:nvPr/>
          </p:nvSpPr>
          <p:spPr bwMode="auto">
            <a:xfrm>
              <a:off x="480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1" name="Line 63"/>
          <p:cNvSpPr>
            <a:spLocks noChangeShapeType="1"/>
          </p:cNvSpPr>
          <p:nvPr/>
        </p:nvSpPr>
        <p:spPr bwMode="auto">
          <a:xfrm flipH="1">
            <a:off x="152400" y="4953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2" name="Line 64"/>
          <p:cNvSpPr>
            <a:spLocks noChangeShapeType="1"/>
          </p:cNvSpPr>
          <p:nvPr/>
        </p:nvSpPr>
        <p:spPr bwMode="auto">
          <a:xfrm>
            <a:off x="838200" y="49530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3" name="Line 65"/>
          <p:cNvSpPr>
            <a:spLocks noChangeShapeType="1"/>
          </p:cNvSpPr>
          <p:nvPr/>
        </p:nvSpPr>
        <p:spPr bwMode="auto">
          <a:xfrm>
            <a:off x="4800600" y="4953000"/>
            <a:ext cx="7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4" name="Rectangle 66"/>
          <p:cNvSpPr>
            <a:spLocks noChangeArrowheads="1"/>
          </p:cNvSpPr>
          <p:nvPr/>
        </p:nvSpPr>
        <p:spPr bwMode="auto">
          <a:xfrm>
            <a:off x="228600" y="4191000"/>
            <a:ext cx="1800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TMC_Check(R2CD_R2LD_</a:t>
            </a:r>
          </a:p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ERROR_DETECT_T,RUN_STATE)</a:t>
            </a:r>
          </a:p>
        </p:txBody>
      </p:sp>
      <p:sp>
        <p:nvSpPr>
          <p:cNvPr id="2115" name="Line 67"/>
          <p:cNvSpPr>
            <a:spLocks noChangeShapeType="1"/>
          </p:cNvSpPr>
          <p:nvPr/>
        </p:nvSpPr>
        <p:spPr bwMode="auto">
          <a:xfrm flipH="1">
            <a:off x="152400" y="5638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9" name="Group 68"/>
          <p:cNvGrpSpPr>
            <a:grpSpLocks/>
          </p:cNvGrpSpPr>
          <p:nvPr/>
        </p:nvGrpSpPr>
        <p:grpSpPr bwMode="auto">
          <a:xfrm>
            <a:off x="685800" y="5562600"/>
            <a:ext cx="533400" cy="152400"/>
            <a:chOff x="960" y="3456"/>
            <a:chExt cx="336" cy="96"/>
          </a:xfrm>
        </p:grpSpPr>
        <p:sp>
          <p:nvSpPr>
            <p:cNvPr id="2117" name="Line 69"/>
            <p:cNvSpPr>
              <a:spLocks noChangeShapeType="1"/>
            </p:cNvSpPr>
            <p:nvPr/>
          </p:nvSpPr>
          <p:spPr bwMode="auto">
            <a:xfrm>
              <a:off x="1104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8" name="Line 70"/>
            <p:cNvSpPr>
              <a:spLocks noChangeShapeType="1"/>
            </p:cNvSpPr>
            <p:nvPr/>
          </p:nvSpPr>
          <p:spPr bwMode="auto">
            <a:xfrm>
              <a:off x="1152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9" name="Line 71"/>
            <p:cNvSpPr>
              <a:spLocks noChangeShapeType="1"/>
            </p:cNvSpPr>
            <p:nvPr/>
          </p:nvSpPr>
          <p:spPr bwMode="auto">
            <a:xfrm>
              <a:off x="960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0" name="Line 72"/>
            <p:cNvSpPr>
              <a:spLocks noChangeShapeType="1"/>
            </p:cNvSpPr>
            <p:nvPr/>
          </p:nvSpPr>
          <p:spPr bwMode="auto">
            <a:xfrm>
              <a:off x="1152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1" name="Rectangle 73"/>
          <p:cNvSpPr>
            <a:spLocks noChangeArrowheads="1"/>
          </p:cNvSpPr>
          <p:nvPr/>
        </p:nvSpPr>
        <p:spPr bwMode="auto">
          <a:xfrm>
            <a:off x="1524000" y="5353050"/>
            <a:ext cx="8969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Coil[DC_DOLS]</a:t>
            </a:r>
          </a:p>
        </p:txBody>
      </p:sp>
      <p:grpSp>
        <p:nvGrpSpPr>
          <p:cNvPr id="10" name="Group 74"/>
          <p:cNvGrpSpPr>
            <a:grpSpLocks/>
          </p:cNvGrpSpPr>
          <p:nvPr/>
        </p:nvGrpSpPr>
        <p:grpSpPr bwMode="auto">
          <a:xfrm>
            <a:off x="1562100" y="5562600"/>
            <a:ext cx="533400" cy="152400"/>
            <a:chOff x="1512" y="3456"/>
            <a:chExt cx="336" cy="96"/>
          </a:xfrm>
        </p:grpSpPr>
        <p:sp>
          <p:nvSpPr>
            <p:cNvPr id="2123" name="Line 75"/>
            <p:cNvSpPr>
              <a:spLocks noChangeShapeType="1"/>
            </p:cNvSpPr>
            <p:nvPr/>
          </p:nvSpPr>
          <p:spPr bwMode="auto">
            <a:xfrm>
              <a:off x="1656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1704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1512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6" name="Line 78"/>
            <p:cNvSpPr>
              <a:spLocks noChangeShapeType="1"/>
            </p:cNvSpPr>
            <p:nvPr/>
          </p:nvSpPr>
          <p:spPr bwMode="auto">
            <a:xfrm>
              <a:off x="1704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1" name="Group 79"/>
          <p:cNvGrpSpPr>
            <a:grpSpLocks/>
          </p:cNvGrpSpPr>
          <p:nvPr/>
        </p:nvGrpSpPr>
        <p:grpSpPr bwMode="auto">
          <a:xfrm>
            <a:off x="2514600" y="5562600"/>
            <a:ext cx="533400" cy="152400"/>
            <a:chOff x="2064" y="3456"/>
            <a:chExt cx="336" cy="96"/>
          </a:xfrm>
        </p:grpSpPr>
        <p:sp>
          <p:nvSpPr>
            <p:cNvPr id="2128" name="Line 80"/>
            <p:cNvSpPr>
              <a:spLocks noChangeShapeType="1"/>
            </p:cNvSpPr>
            <p:nvPr/>
          </p:nvSpPr>
          <p:spPr bwMode="auto">
            <a:xfrm>
              <a:off x="2208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9" name="Line 81"/>
            <p:cNvSpPr>
              <a:spLocks noChangeShapeType="1"/>
            </p:cNvSpPr>
            <p:nvPr/>
          </p:nvSpPr>
          <p:spPr bwMode="auto">
            <a:xfrm>
              <a:off x="2256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0" name="Line 82"/>
            <p:cNvSpPr>
              <a:spLocks noChangeShapeType="1"/>
            </p:cNvSpPr>
            <p:nvPr/>
          </p:nvSpPr>
          <p:spPr bwMode="auto">
            <a:xfrm>
              <a:off x="2064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1" name="Line 83"/>
            <p:cNvSpPr>
              <a:spLocks noChangeShapeType="1"/>
            </p:cNvSpPr>
            <p:nvPr/>
          </p:nvSpPr>
          <p:spPr bwMode="auto">
            <a:xfrm>
              <a:off x="2256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32" name="Rectangle 84"/>
          <p:cNvSpPr>
            <a:spLocks noChangeArrowheads="1"/>
          </p:cNvSpPr>
          <p:nvPr/>
        </p:nvSpPr>
        <p:spPr bwMode="auto">
          <a:xfrm>
            <a:off x="2366963" y="5364163"/>
            <a:ext cx="9318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SWD_I[VI_CDS]</a:t>
            </a:r>
          </a:p>
        </p:txBody>
      </p:sp>
      <p:sp>
        <p:nvSpPr>
          <p:cNvPr id="2133" name="Line 85"/>
          <p:cNvSpPr>
            <a:spLocks noChangeShapeType="1"/>
          </p:cNvSpPr>
          <p:nvPr/>
        </p:nvSpPr>
        <p:spPr bwMode="auto">
          <a:xfrm>
            <a:off x="1143000" y="5638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4" name="Line 86"/>
          <p:cNvSpPr>
            <a:spLocks noChangeShapeType="1"/>
          </p:cNvSpPr>
          <p:nvPr/>
        </p:nvSpPr>
        <p:spPr bwMode="auto">
          <a:xfrm>
            <a:off x="2057400" y="5638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2" name="Group 87"/>
          <p:cNvGrpSpPr>
            <a:grpSpLocks/>
          </p:cNvGrpSpPr>
          <p:nvPr/>
        </p:nvGrpSpPr>
        <p:grpSpPr bwMode="auto">
          <a:xfrm>
            <a:off x="4114800" y="5410200"/>
            <a:ext cx="679450" cy="450850"/>
            <a:chOff x="2692" y="3360"/>
            <a:chExt cx="428" cy="284"/>
          </a:xfrm>
        </p:grpSpPr>
        <p:sp>
          <p:nvSpPr>
            <p:cNvPr id="2136" name="Rectangle 88"/>
            <p:cNvSpPr>
              <a:spLocks noChangeArrowheads="1"/>
            </p:cNvSpPr>
            <p:nvPr/>
          </p:nvSpPr>
          <p:spPr bwMode="auto">
            <a:xfrm>
              <a:off x="2692" y="3364"/>
              <a:ext cx="424" cy="2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2070" tIns="46035" rIns="92070" bIns="46035">
              <a:spAutoFit/>
            </a:bodyPr>
            <a:lstStyle/>
            <a:p>
              <a:endParaRPr lang="ko-KR" altLang="en-US"/>
            </a:p>
          </p:txBody>
        </p:sp>
        <p:sp>
          <p:nvSpPr>
            <p:cNvPr id="2137" name="Rectangle 89"/>
            <p:cNvSpPr>
              <a:spLocks noChangeArrowheads="1"/>
            </p:cNvSpPr>
            <p:nvPr/>
          </p:nvSpPr>
          <p:spPr bwMode="auto">
            <a:xfrm>
              <a:off x="2736" y="3360"/>
              <a:ext cx="384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0" tIns="46035" rIns="92070" bIns="46035">
              <a:spAutoFit/>
            </a:bodyPr>
            <a:lstStyle/>
            <a:p>
              <a:pPr latinLnBrk="0">
                <a:spcBef>
                  <a:spcPct val="50000"/>
                </a:spcBef>
              </a:pPr>
              <a:r>
                <a:rPr lang="en-US" altLang="ko-KR" sz="800">
                  <a:latin typeface="Arial" charset="0"/>
                  <a:ea typeface="굴림체" pitchFamily="49" charset="-127"/>
                </a:rPr>
                <a:t>TCD 97</a:t>
              </a:r>
            </a:p>
          </p:txBody>
        </p:sp>
      </p:grpSp>
      <p:sp>
        <p:nvSpPr>
          <p:cNvPr id="2138" name="Line 90"/>
          <p:cNvSpPr>
            <a:spLocks noChangeShapeType="1"/>
          </p:cNvSpPr>
          <p:nvPr/>
        </p:nvSpPr>
        <p:spPr bwMode="auto">
          <a:xfrm>
            <a:off x="3048000" y="56388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2735263" y="1974850"/>
            <a:ext cx="9477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ON_CAR]</a:t>
            </a:r>
          </a:p>
        </p:txBody>
      </p:sp>
      <p:grpSp>
        <p:nvGrpSpPr>
          <p:cNvPr id="13" name="Group 92"/>
          <p:cNvGrpSpPr>
            <a:grpSpLocks/>
          </p:cNvGrpSpPr>
          <p:nvPr/>
        </p:nvGrpSpPr>
        <p:grpSpPr bwMode="auto">
          <a:xfrm>
            <a:off x="2895600" y="2286000"/>
            <a:ext cx="533400" cy="152400"/>
            <a:chOff x="1128" y="1440"/>
            <a:chExt cx="336" cy="96"/>
          </a:xfrm>
        </p:grpSpPr>
        <p:grpSp>
          <p:nvGrpSpPr>
            <p:cNvPr id="14" name="Group 93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46" name="Line 98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47" name="Line 99"/>
          <p:cNvSpPr>
            <a:spLocks noChangeShapeType="1"/>
          </p:cNvSpPr>
          <p:nvPr/>
        </p:nvSpPr>
        <p:spPr bwMode="auto">
          <a:xfrm>
            <a:off x="4648200" y="2362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8" name="Line 100"/>
          <p:cNvSpPr>
            <a:spLocks noChangeShapeType="1"/>
          </p:cNvSpPr>
          <p:nvPr/>
        </p:nvSpPr>
        <p:spPr bwMode="auto">
          <a:xfrm>
            <a:off x="2895600" y="2971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5" name="Group 101"/>
          <p:cNvGrpSpPr>
            <a:grpSpLocks/>
          </p:cNvGrpSpPr>
          <p:nvPr/>
        </p:nvGrpSpPr>
        <p:grpSpPr bwMode="auto">
          <a:xfrm>
            <a:off x="2362200" y="2895600"/>
            <a:ext cx="533400" cy="152400"/>
            <a:chOff x="1128" y="1440"/>
            <a:chExt cx="336" cy="96"/>
          </a:xfrm>
        </p:grpSpPr>
        <p:grpSp>
          <p:nvGrpSpPr>
            <p:cNvPr id="16" name="Group 102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51" name="Line 103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2" name="Line 104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3" name="Line 105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4" name="Line 106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56" name="Line 108"/>
          <p:cNvSpPr>
            <a:spLocks noChangeShapeType="1"/>
          </p:cNvSpPr>
          <p:nvPr/>
        </p:nvSpPr>
        <p:spPr bwMode="auto">
          <a:xfrm>
            <a:off x="1981200" y="2971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7" name="Group 109"/>
          <p:cNvGrpSpPr>
            <a:grpSpLocks/>
          </p:cNvGrpSpPr>
          <p:nvPr/>
        </p:nvGrpSpPr>
        <p:grpSpPr bwMode="auto">
          <a:xfrm>
            <a:off x="1466850" y="2895600"/>
            <a:ext cx="533400" cy="152400"/>
            <a:chOff x="240" y="1440"/>
            <a:chExt cx="336" cy="96"/>
          </a:xfrm>
        </p:grpSpPr>
        <p:sp>
          <p:nvSpPr>
            <p:cNvPr id="2158" name="Line 110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1" name="Line 113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62" name="Rectangle 114"/>
          <p:cNvSpPr>
            <a:spLocks noChangeArrowheads="1"/>
          </p:cNvSpPr>
          <p:nvPr/>
        </p:nvSpPr>
        <p:spPr bwMode="auto">
          <a:xfrm>
            <a:off x="1327150" y="2559050"/>
            <a:ext cx="8572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Coil[SW_GS_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DOOR_ZONE]</a:t>
            </a:r>
          </a:p>
        </p:txBody>
      </p:sp>
      <p:sp>
        <p:nvSpPr>
          <p:cNvPr id="2163" name="Line 115"/>
          <p:cNvSpPr>
            <a:spLocks noChangeShapeType="1"/>
          </p:cNvSpPr>
          <p:nvPr/>
        </p:nvSpPr>
        <p:spPr bwMode="auto">
          <a:xfrm>
            <a:off x="1219200" y="2971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8" name="Group 116"/>
          <p:cNvGrpSpPr>
            <a:grpSpLocks/>
          </p:cNvGrpSpPr>
          <p:nvPr/>
        </p:nvGrpSpPr>
        <p:grpSpPr bwMode="auto">
          <a:xfrm>
            <a:off x="685800" y="2895600"/>
            <a:ext cx="533400" cy="152400"/>
            <a:chOff x="1128" y="1440"/>
            <a:chExt cx="336" cy="96"/>
          </a:xfrm>
        </p:grpSpPr>
        <p:grpSp>
          <p:nvGrpSpPr>
            <p:cNvPr id="19" name="Group 117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0" name="Line 122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71" name="Line 123"/>
          <p:cNvSpPr>
            <a:spLocks noChangeShapeType="1"/>
          </p:cNvSpPr>
          <p:nvPr/>
        </p:nvSpPr>
        <p:spPr bwMode="auto">
          <a:xfrm>
            <a:off x="533400" y="2971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2" name="Line 124"/>
          <p:cNvSpPr>
            <a:spLocks noChangeShapeType="1"/>
          </p:cNvSpPr>
          <p:nvPr/>
        </p:nvSpPr>
        <p:spPr bwMode="auto">
          <a:xfrm>
            <a:off x="533400" y="29718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3" name="Line 125"/>
          <p:cNvSpPr>
            <a:spLocks noChangeShapeType="1"/>
          </p:cNvSpPr>
          <p:nvPr/>
        </p:nvSpPr>
        <p:spPr bwMode="auto">
          <a:xfrm>
            <a:off x="533400" y="3581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4" name="Line 126"/>
          <p:cNvSpPr>
            <a:spLocks noChangeShapeType="1"/>
          </p:cNvSpPr>
          <p:nvPr/>
        </p:nvSpPr>
        <p:spPr bwMode="auto">
          <a:xfrm>
            <a:off x="533400" y="4114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0" name="Group 127"/>
          <p:cNvGrpSpPr>
            <a:grpSpLocks/>
          </p:cNvGrpSpPr>
          <p:nvPr/>
        </p:nvGrpSpPr>
        <p:grpSpPr bwMode="auto">
          <a:xfrm>
            <a:off x="685800" y="4038600"/>
            <a:ext cx="533400" cy="152400"/>
            <a:chOff x="1752" y="1440"/>
            <a:chExt cx="336" cy="96"/>
          </a:xfrm>
        </p:grpSpPr>
        <p:sp>
          <p:nvSpPr>
            <p:cNvPr id="2176" name="Line 128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7" name="Line 129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8" name="Line 130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9" name="Line 131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80" name="Line 132"/>
          <p:cNvSpPr>
            <a:spLocks noChangeShapeType="1"/>
          </p:cNvSpPr>
          <p:nvPr/>
        </p:nvSpPr>
        <p:spPr bwMode="auto">
          <a:xfrm>
            <a:off x="1447800" y="35814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1" name="Line 133"/>
          <p:cNvSpPr>
            <a:spLocks noChangeShapeType="1"/>
          </p:cNvSpPr>
          <p:nvPr/>
        </p:nvSpPr>
        <p:spPr bwMode="auto">
          <a:xfrm>
            <a:off x="2209800" y="3581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1" name="Group 134"/>
          <p:cNvGrpSpPr>
            <a:grpSpLocks/>
          </p:cNvGrpSpPr>
          <p:nvPr/>
        </p:nvGrpSpPr>
        <p:grpSpPr bwMode="auto">
          <a:xfrm>
            <a:off x="2360613" y="3505200"/>
            <a:ext cx="533400" cy="152400"/>
            <a:chOff x="1752" y="1440"/>
            <a:chExt cx="336" cy="96"/>
          </a:xfrm>
        </p:grpSpPr>
        <p:sp>
          <p:nvSpPr>
            <p:cNvPr id="2183" name="Line 135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4" name="Line 136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5" name="Line 137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6" name="Line 138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2" name="Group 139"/>
          <p:cNvGrpSpPr>
            <a:grpSpLocks/>
          </p:cNvGrpSpPr>
          <p:nvPr/>
        </p:nvGrpSpPr>
        <p:grpSpPr bwMode="auto">
          <a:xfrm>
            <a:off x="2360613" y="4038600"/>
            <a:ext cx="533400" cy="152400"/>
            <a:chOff x="1752" y="1440"/>
            <a:chExt cx="336" cy="96"/>
          </a:xfrm>
        </p:grpSpPr>
        <p:sp>
          <p:nvSpPr>
            <p:cNvPr id="2188" name="Line 140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9" name="Line 141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0" name="Line 142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1" name="Line 143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92" name="Line 144"/>
          <p:cNvSpPr>
            <a:spLocks noChangeShapeType="1"/>
          </p:cNvSpPr>
          <p:nvPr/>
        </p:nvSpPr>
        <p:spPr bwMode="auto">
          <a:xfrm>
            <a:off x="3124200" y="358140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3" name="Line 145"/>
          <p:cNvSpPr>
            <a:spLocks noChangeShapeType="1"/>
          </p:cNvSpPr>
          <p:nvPr/>
        </p:nvSpPr>
        <p:spPr bwMode="auto">
          <a:xfrm>
            <a:off x="2667000" y="3581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4" name="Line 146"/>
          <p:cNvSpPr>
            <a:spLocks noChangeShapeType="1"/>
          </p:cNvSpPr>
          <p:nvPr/>
        </p:nvSpPr>
        <p:spPr bwMode="auto">
          <a:xfrm>
            <a:off x="2667000" y="4114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5" name="Line 147"/>
          <p:cNvSpPr>
            <a:spLocks noChangeShapeType="1"/>
          </p:cNvSpPr>
          <p:nvPr/>
        </p:nvSpPr>
        <p:spPr bwMode="auto">
          <a:xfrm>
            <a:off x="3200400" y="3581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6" name="Rectangle 148"/>
          <p:cNvSpPr>
            <a:spLocks noChangeArrowheads="1"/>
          </p:cNvSpPr>
          <p:nvPr/>
        </p:nvSpPr>
        <p:spPr bwMode="auto">
          <a:xfrm>
            <a:off x="4114800" y="3359150"/>
            <a:ext cx="673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197" name="Rectangle 149"/>
          <p:cNvSpPr>
            <a:spLocks noChangeArrowheads="1"/>
          </p:cNvSpPr>
          <p:nvPr/>
        </p:nvSpPr>
        <p:spPr bwMode="auto">
          <a:xfrm>
            <a:off x="4135438" y="3352800"/>
            <a:ext cx="65881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198" name="Rectangle 150"/>
          <p:cNvSpPr>
            <a:spLocks noChangeArrowheads="1"/>
          </p:cNvSpPr>
          <p:nvPr/>
        </p:nvSpPr>
        <p:spPr bwMode="auto">
          <a:xfrm>
            <a:off x="2132013" y="3276600"/>
            <a:ext cx="91598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SWD_I[VI_LDS]</a:t>
            </a:r>
          </a:p>
        </p:txBody>
      </p:sp>
      <p:sp>
        <p:nvSpPr>
          <p:cNvPr id="2199" name="Rectangle 151"/>
          <p:cNvSpPr>
            <a:spLocks noChangeArrowheads="1"/>
          </p:cNvSpPr>
          <p:nvPr/>
        </p:nvSpPr>
        <p:spPr bwMode="auto">
          <a:xfrm>
            <a:off x="2286000" y="3810000"/>
            <a:ext cx="9318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SWD_I[VI_CDS]</a:t>
            </a:r>
          </a:p>
        </p:txBody>
      </p:sp>
      <p:sp>
        <p:nvSpPr>
          <p:cNvPr id="2200" name="Rectangle 152"/>
          <p:cNvSpPr>
            <a:spLocks noChangeArrowheads="1"/>
          </p:cNvSpPr>
          <p:nvPr/>
        </p:nvSpPr>
        <p:spPr bwMode="auto">
          <a:xfrm>
            <a:off x="1143000" y="3810000"/>
            <a:ext cx="9953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SWD_I[VI_DOLS]</a:t>
            </a:r>
          </a:p>
        </p:txBody>
      </p:sp>
      <p:sp>
        <p:nvSpPr>
          <p:cNvPr id="2201" name="Rectangle 153"/>
          <p:cNvSpPr>
            <a:spLocks noChangeArrowheads="1"/>
          </p:cNvSpPr>
          <p:nvPr/>
        </p:nvSpPr>
        <p:spPr bwMode="auto">
          <a:xfrm>
            <a:off x="3441700" y="4730750"/>
            <a:ext cx="135255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2" name="Rectangle 154"/>
          <p:cNvSpPr>
            <a:spLocks noChangeArrowheads="1"/>
          </p:cNvSpPr>
          <p:nvPr/>
        </p:nvSpPr>
        <p:spPr bwMode="auto">
          <a:xfrm>
            <a:off x="3429000" y="4724400"/>
            <a:ext cx="1371600" cy="39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TMC_Start(R2CD_R2LD_</a:t>
            </a:r>
          </a:p>
          <a:p>
            <a:pPr algn="ctr"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203" name="Rectangle 155"/>
          <p:cNvSpPr>
            <a:spLocks noChangeArrowheads="1"/>
          </p:cNvSpPr>
          <p:nvPr/>
        </p:nvSpPr>
        <p:spPr bwMode="auto">
          <a:xfrm>
            <a:off x="152400" y="5105400"/>
            <a:ext cx="14335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TMC_Check(R2CD_R2LD_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ERROR_DETECT_T,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FINISH_STATE)</a:t>
            </a:r>
          </a:p>
        </p:txBody>
      </p:sp>
      <p:sp>
        <p:nvSpPr>
          <p:cNvPr id="2204" name="Rectangle 156"/>
          <p:cNvSpPr>
            <a:spLocks noChangeArrowheads="1"/>
          </p:cNvSpPr>
          <p:nvPr/>
        </p:nvSpPr>
        <p:spPr bwMode="auto">
          <a:xfrm>
            <a:off x="644525" y="234632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0x925D</a:t>
            </a:r>
          </a:p>
        </p:txBody>
      </p:sp>
      <p:sp>
        <p:nvSpPr>
          <p:cNvPr id="2205" name="Rectangle 157"/>
          <p:cNvSpPr>
            <a:spLocks noChangeArrowheads="1"/>
          </p:cNvSpPr>
          <p:nvPr/>
        </p:nvSpPr>
        <p:spPr bwMode="auto">
          <a:xfrm>
            <a:off x="1425575" y="2344738"/>
            <a:ext cx="484188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0x929A</a:t>
            </a:r>
          </a:p>
        </p:txBody>
      </p:sp>
      <p:sp>
        <p:nvSpPr>
          <p:cNvPr id="2206" name="Rectangle 158"/>
          <p:cNvSpPr>
            <a:spLocks noChangeArrowheads="1"/>
          </p:cNvSpPr>
          <p:nvPr/>
        </p:nvSpPr>
        <p:spPr bwMode="auto">
          <a:xfrm>
            <a:off x="2273300" y="2338388"/>
            <a:ext cx="4937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0x82AE</a:t>
            </a:r>
          </a:p>
        </p:txBody>
      </p:sp>
      <p:sp>
        <p:nvSpPr>
          <p:cNvPr id="2207" name="Rectangle 159"/>
          <p:cNvSpPr>
            <a:spLocks noChangeArrowheads="1"/>
          </p:cNvSpPr>
          <p:nvPr/>
        </p:nvSpPr>
        <p:spPr bwMode="auto">
          <a:xfrm>
            <a:off x="3171825" y="2351088"/>
            <a:ext cx="4889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0x82AF</a:t>
            </a:r>
          </a:p>
        </p:txBody>
      </p:sp>
      <p:sp>
        <p:nvSpPr>
          <p:cNvPr id="2208" name="Rectangle 160"/>
          <p:cNvSpPr>
            <a:spLocks noChangeArrowheads="1"/>
          </p:cNvSpPr>
          <p:nvPr/>
        </p:nvSpPr>
        <p:spPr bwMode="auto">
          <a:xfrm>
            <a:off x="731838" y="3035300"/>
            <a:ext cx="4746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0x9274</a:t>
            </a:r>
          </a:p>
        </p:txBody>
      </p:sp>
      <p:sp>
        <p:nvSpPr>
          <p:cNvPr id="2209" name="Rectangle 161"/>
          <p:cNvSpPr>
            <a:spLocks noChangeArrowheads="1"/>
          </p:cNvSpPr>
          <p:nvPr/>
        </p:nvSpPr>
        <p:spPr bwMode="auto">
          <a:xfrm>
            <a:off x="1587500" y="30321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0x9250</a:t>
            </a:r>
          </a:p>
        </p:txBody>
      </p:sp>
      <p:sp>
        <p:nvSpPr>
          <p:cNvPr id="2210" name="Rectangle 162"/>
          <p:cNvSpPr>
            <a:spLocks noChangeArrowheads="1"/>
          </p:cNvSpPr>
          <p:nvPr/>
        </p:nvSpPr>
        <p:spPr bwMode="auto">
          <a:xfrm>
            <a:off x="2449513" y="3028950"/>
            <a:ext cx="484187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0x908E</a:t>
            </a:r>
          </a:p>
        </p:txBody>
      </p:sp>
      <p:sp>
        <p:nvSpPr>
          <p:cNvPr id="2211" name="Rectangle 163"/>
          <p:cNvSpPr>
            <a:spLocks noChangeArrowheads="1"/>
          </p:cNvSpPr>
          <p:nvPr/>
        </p:nvSpPr>
        <p:spPr bwMode="auto">
          <a:xfrm>
            <a:off x="1076325" y="3636963"/>
            <a:ext cx="47466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0x8083</a:t>
            </a:r>
          </a:p>
        </p:txBody>
      </p:sp>
      <p:sp>
        <p:nvSpPr>
          <p:cNvPr id="2212" name="Rectangle 164"/>
          <p:cNvSpPr>
            <a:spLocks noChangeArrowheads="1"/>
          </p:cNvSpPr>
          <p:nvPr/>
        </p:nvSpPr>
        <p:spPr bwMode="auto">
          <a:xfrm>
            <a:off x="2349500" y="364172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0x802C</a:t>
            </a:r>
          </a:p>
        </p:txBody>
      </p:sp>
      <p:sp>
        <p:nvSpPr>
          <p:cNvPr id="2213" name="Rectangle 165"/>
          <p:cNvSpPr>
            <a:spLocks noChangeArrowheads="1"/>
          </p:cNvSpPr>
          <p:nvPr/>
        </p:nvSpPr>
        <p:spPr bwMode="auto">
          <a:xfrm>
            <a:off x="2514600" y="419100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0x802B</a:t>
            </a:r>
          </a:p>
        </p:txBody>
      </p:sp>
      <p:sp>
        <p:nvSpPr>
          <p:cNvPr id="2214" name="Rectangle 166"/>
          <p:cNvSpPr>
            <a:spLocks noChangeArrowheads="1"/>
          </p:cNvSpPr>
          <p:nvPr/>
        </p:nvSpPr>
        <p:spPr bwMode="auto">
          <a:xfrm>
            <a:off x="1570038" y="5703888"/>
            <a:ext cx="484187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0x90A6</a:t>
            </a:r>
          </a:p>
        </p:txBody>
      </p:sp>
      <p:sp>
        <p:nvSpPr>
          <p:cNvPr id="2215" name="Rectangle 167"/>
          <p:cNvSpPr>
            <a:spLocks noChangeArrowheads="1"/>
          </p:cNvSpPr>
          <p:nvPr/>
        </p:nvSpPr>
        <p:spPr bwMode="auto">
          <a:xfrm>
            <a:off x="2538413" y="5700713"/>
            <a:ext cx="484187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0x802B</a:t>
            </a:r>
          </a:p>
        </p:txBody>
      </p:sp>
      <p:grpSp>
        <p:nvGrpSpPr>
          <p:cNvPr id="23" name="Group 168"/>
          <p:cNvGrpSpPr>
            <a:grpSpLocks/>
          </p:cNvGrpSpPr>
          <p:nvPr/>
        </p:nvGrpSpPr>
        <p:grpSpPr bwMode="auto">
          <a:xfrm>
            <a:off x="3886200" y="2286000"/>
            <a:ext cx="533400" cy="152400"/>
            <a:chOff x="1128" y="1440"/>
            <a:chExt cx="336" cy="96"/>
          </a:xfrm>
        </p:grpSpPr>
        <p:grpSp>
          <p:nvGrpSpPr>
            <p:cNvPr id="24" name="Group 169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18" name="Line 170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0" name="Line 172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1" name="Line 173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22" name="Line 174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23" name="Rectangle 175"/>
          <p:cNvSpPr>
            <a:spLocks noChangeArrowheads="1"/>
          </p:cNvSpPr>
          <p:nvPr/>
        </p:nvSpPr>
        <p:spPr bwMode="auto">
          <a:xfrm>
            <a:off x="3665538" y="2082800"/>
            <a:ext cx="102076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SWD_I[VI_RDMC]</a:t>
            </a:r>
          </a:p>
        </p:txBody>
      </p:sp>
      <p:sp>
        <p:nvSpPr>
          <p:cNvPr id="2224" name="Line 176"/>
          <p:cNvSpPr>
            <a:spLocks noChangeShapeType="1"/>
          </p:cNvSpPr>
          <p:nvPr/>
        </p:nvSpPr>
        <p:spPr bwMode="auto">
          <a:xfrm>
            <a:off x="4343400" y="2362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5" name="Rectangle 177"/>
          <p:cNvSpPr>
            <a:spLocks noChangeArrowheads="1"/>
          </p:cNvSpPr>
          <p:nvPr/>
        </p:nvSpPr>
        <p:spPr bwMode="auto">
          <a:xfrm>
            <a:off x="4168775" y="23463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0x8060</a:t>
            </a:r>
          </a:p>
        </p:txBody>
      </p:sp>
      <p:grpSp>
        <p:nvGrpSpPr>
          <p:cNvPr id="25" name="Group 178"/>
          <p:cNvGrpSpPr>
            <a:grpSpLocks/>
          </p:cNvGrpSpPr>
          <p:nvPr/>
        </p:nvGrpSpPr>
        <p:grpSpPr bwMode="auto">
          <a:xfrm>
            <a:off x="3124200" y="2895600"/>
            <a:ext cx="533400" cy="152400"/>
            <a:chOff x="1128" y="1440"/>
            <a:chExt cx="336" cy="96"/>
          </a:xfrm>
        </p:grpSpPr>
        <p:grpSp>
          <p:nvGrpSpPr>
            <p:cNvPr id="26" name="Group 179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28" name="Line 180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9" name="Line 181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0" name="Line 182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1" name="Line 183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32" name="Line 184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33" name="Line 185"/>
          <p:cNvSpPr>
            <a:spLocks noChangeShapeType="1"/>
          </p:cNvSpPr>
          <p:nvPr/>
        </p:nvSpPr>
        <p:spPr bwMode="auto">
          <a:xfrm>
            <a:off x="4343400" y="2971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34" name="Rectangle 186"/>
          <p:cNvSpPr>
            <a:spLocks noChangeArrowheads="1"/>
          </p:cNvSpPr>
          <p:nvPr/>
        </p:nvSpPr>
        <p:spPr bwMode="auto">
          <a:xfrm>
            <a:off x="3924300" y="268605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TCD 171</a:t>
            </a:r>
          </a:p>
        </p:txBody>
      </p:sp>
      <p:grpSp>
        <p:nvGrpSpPr>
          <p:cNvPr id="27" name="Group 187"/>
          <p:cNvGrpSpPr>
            <a:grpSpLocks/>
          </p:cNvGrpSpPr>
          <p:nvPr/>
        </p:nvGrpSpPr>
        <p:grpSpPr bwMode="auto">
          <a:xfrm>
            <a:off x="3962400" y="2895600"/>
            <a:ext cx="533400" cy="152400"/>
            <a:chOff x="1128" y="1440"/>
            <a:chExt cx="336" cy="96"/>
          </a:xfrm>
        </p:grpSpPr>
        <p:grpSp>
          <p:nvGrpSpPr>
            <p:cNvPr id="28" name="Group 188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37" name="Line 189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8" name="Line 190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40" name="Line 192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41" name="Line 193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42" name="Rectangle 194"/>
          <p:cNvSpPr>
            <a:spLocks noChangeArrowheads="1"/>
          </p:cNvSpPr>
          <p:nvPr/>
        </p:nvSpPr>
        <p:spPr bwMode="auto">
          <a:xfrm>
            <a:off x="3105150" y="269240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TCD 188</a:t>
            </a:r>
          </a:p>
        </p:txBody>
      </p:sp>
      <p:sp>
        <p:nvSpPr>
          <p:cNvPr id="2243" name="Line 195"/>
          <p:cNvSpPr>
            <a:spLocks noChangeShapeType="1"/>
          </p:cNvSpPr>
          <p:nvPr/>
        </p:nvSpPr>
        <p:spPr bwMode="auto">
          <a:xfrm>
            <a:off x="3657600" y="2971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9" name="Group 196"/>
          <p:cNvGrpSpPr>
            <a:grpSpLocks/>
          </p:cNvGrpSpPr>
          <p:nvPr/>
        </p:nvGrpSpPr>
        <p:grpSpPr bwMode="auto">
          <a:xfrm>
            <a:off x="1447800" y="4038600"/>
            <a:ext cx="533400" cy="152400"/>
            <a:chOff x="1752" y="1440"/>
            <a:chExt cx="336" cy="96"/>
          </a:xfrm>
        </p:grpSpPr>
        <p:sp>
          <p:nvSpPr>
            <p:cNvPr id="2245" name="Line 197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6" name="Line 198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7" name="Line 199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8" name="Line 200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49" name="Line 201"/>
          <p:cNvSpPr>
            <a:spLocks noChangeShapeType="1"/>
          </p:cNvSpPr>
          <p:nvPr/>
        </p:nvSpPr>
        <p:spPr bwMode="auto">
          <a:xfrm>
            <a:off x="1143000" y="41148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0" name="Line 202"/>
          <p:cNvSpPr>
            <a:spLocks noChangeShapeType="1"/>
          </p:cNvSpPr>
          <p:nvPr/>
        </p:nvSpPr>
        <p:spPr bwMode="auto">
          <a:xfrm>
            <a:off x="1905000" y="4114800"/>
            <a:ext cx="531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1" name="Rectangle 203"/>
          <p:cNvSpPr>
            <a:spLocks noChangeArrowheads="1"/>
          </p:cNvSpPr>
          <p:nvPr/>
        </p:nvSpPr>
        <p:spPr bwMode="auto">
          <a:xfrm>
            <a:off x="1676400" y="41148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0x802D</a:t>
            </a:r>
          </a:p>
        </p:txBody>
      </p:sp>
      <p:sp>
        <p:nvSpPr>
          <p:cNvPr id="2252" name="Rectangle 204"/>
          <p:cNvSpPr>
            <a:spLocks noChangeArrowheads="1"/>
          </p:cNvSpPr>
          <p:nvPr/>
        </p:nvSpPr>
        <p:spPr bwMode="auto">
          <a:xfrm>
            <a:off x="2819400" y="4724400"/>
            <a:ext cx="6270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990 msec</a:t>
            </a:r>
          </a:p>
        </p:txBody>
      </p:sp>
      <p:sp>
        <p:nvSpPr>
          <p:cNvPr id="2253" name="Rectangle 205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0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98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ER_LDS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2762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동작 후에도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LDS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신호가 입력되면 검출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39624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친 상황에서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Y2-03, CA-07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측정하여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0V±0.5V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검출되면 외부 조건은 정상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DOA-100(ANN)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(OLS)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나타내면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입력부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확인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DOA-100(ANN)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(LDS)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나타내면 정상임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만약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나타내면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AB-15(LDS)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전압을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DOLS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친 경우라면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LDS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있으므로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나와야 정상임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AB-15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48V LEVEL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나오면 승장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LDS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점검한다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52400" y="2057400"/>
            <a:ext cx="0" cy="403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4876800" y="2057400"/>
            <a:ext cx="0" cy="403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 flipH="1">
            <a:off x="152400" y="5638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685800" y="5562600"/>
            <a:ext cx="533400" cy="152400"/>
            <a:chOff x="960" y="3456"/>
            <a:chExt cx="336" cy="96"/>
          </a:xfrm>
        </p:grpSpPr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104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>
              <a:off x="1152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960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1152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1524000" y="5353050"/>
            <a:ext cx="8969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Coil[DC_DOLS]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562100" y="5562600"/>
            <a:ext cx="533400" cy="152400"/>
            <a:chOff x="1512" y="3456"/>
            <a:chExt cx="336" cy="96"/>
          </a:xfrm>
        </p:grpSpPr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>
              <a:off x="1656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>
              <a:off x="1704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1512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1704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2514600" y="5562600"/>
            <a:ext cx="533400" cy="152400"/>
            <a:chOff x="2064" y="3456"/>
            <a:chExt cx="336" cy="96"/>
          </a:xfrm>
        </p:grpSpPr>
        <p:sp>
          <p:nvSpPr>
            <p:cNvPr id="2084" name="Line 36"/>
            <p:cNvSpPr>
              <a:spLocks noChangeShapeType="1"/>
            </p:cNvSpPr>
            <p:nvPr/>
          </p:nvSpPr>
          <p:spPr bwMode="auto">
            <a:xfrm>
              <a:off x="2208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5" name="Line 37"/>
            <p:cNvSpPr>
              <a:spLocks noChangeShapeType="1"/>
            </p:cNvSpPr>
            <p:nvPr/>
          </p:nvSpPr>
          <p:spPr bwMode="auto">
            <a:xfrm>
              <a:off x="2256" y="345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6" name="Line 38"/>
            <p:cNvSpPr>
              <a:spLocks noChangeShapeType="1"/>
            </p:cNvSpPr>
            <p:nvPr/>
          </p:nvSpPr>
          <p:spPr bwMode="auto">
            <a:xfrm>
              <a:off x="2064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7" name="Line 39"/>
            <p:cNvSpPr>
              <a:spLocks noChangeShapeType="1"/>
            </p:cNvSpPr>
            <p:nvPr/>
          </p:nvSpPr>
          <p:spPr bwMode="auto">
            <a:xfrm>
              <a:off x="2256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2366963" y="5364163"/>
            <a:ext cx="91598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SWD_I[VI_LDS]</a:t>
            </a:r>
          </a:p>
        </p:txBody>
      </p:sp>
      <p:sp>
        <p:nvSpPr>
          <p:cNvPr id="2089" name="Line 41"/>
          <p:cNvSpPr>
            <a:spLocks noChangeShapeType="1"/>
          </p:cNvSpPr>
          <p:nvPr/>
        </p:nvSpPr>
        <p:spPr bwMode="auto">
          <a:xfrm>
            <a:off x="1143000" y="5638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0" name="Line 42"/>
          <p:cNvSpPr>
            <a:spLocks noChangeShapeType="1"/>
          </p:cNvSpPr>
          <p:nvPr/>
        </p:nvSpPr>
        <p:spPr bwMode="auto">
          <a:xfrm>
            <a:off x="2057400" y="5638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4114800" y="5410200"/>
            <a:ext cx="679450" cy="450850"/>
            <a:chOff x="2692" y="3360"/>
            <a:chExt cx="428" cy="284"/>
          </a:xfrm>
        </p:grpSpPr>
        <p:sp>
          <p:nvSpPr>
            <p:cNvPr id="2092" name="Rectangle 44"/>
            <p:cNvSpPr>
              <a:spLocks noChangeArrowheads="1"/>
            </p:cNvSpPr>
            <p:nvPr/>
          </p:nvSpPr>
          <p:spPr bwMode="auto">
            <a:xfrm>
              <a:off x="2692" y="3364"/>
              <a:ext cx="424" cy="2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2070" tIns="46035" rIns="92070" bIns="46035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3" name="Rectangle 45"/>
            <p:cNvSpPr>
              <a:spLocks noChangeArrowheads="1"/>
            </p:cNvSpPr>
            <p:nvPr/>
          </p:nvSpPr>
          <p:spPr bwMode="auto">
            <a:xfrm>
              <a:off x="2736" y="3360"/>
              <a:ext cx="384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0" tIns="46035" rIns="92070" bIns="46035">
              <a:spAutoFit/>
            </a:bodyPr>
            <a:lstStyle/>
            <a:p>
              <a:pPr latinLnBrk="0">
                <a:spcBef>
                  <a:spcPct val="50000"/>
                </a:spcBef>
              </a:pPr>
              <a:r>
                <a:rPr lang="en-US" altLang="ko-KR" sz="800">
                  <a:latin typeface="Arial" charset="0"/>
                  <a:ea typeface="굴림체" pitchFamily="49" charset="-127"/>
                </a:rPr>
                <a:t>TCD 98</a:t>
              </a:r>
            </a:p>
          </p:txBody>
        </p:sp>
      </p:grpSp>
      <p:sp>
        <p:nvSpPr>
          <p:cNvPr id="2094" name="Line 46"/>
          <p:cNvSpPr>
            <a:spLocks noChangeShapeType="1"/>
          </p:cNvSpPr>
          <p:nvPr/>
        </p:nvSpPr>
        <p:spPr bwMode="auto">
          <a:xfrm>
            <a:off x="3048000" y="56388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5" name="Rectangle 47"/>
          <p:cNvSpPr>
            <a:spLocks noChangeArrowheads="1"/>
          </p:cNvSpPr>
          <p:nvPr/>
        </p:nvSpPr>
        <p:spPr bwMode="auto">
          <a:xfrm>
            <a:off x="152400" y="5105400"/>
            <a:ext cx="14335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TMC_Check(R2CD_R2LD_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ERROR_DETECT_T,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FINISH_STATE)</a:t>
            </a:r>
          </a:p>
        </p:txBody>
      </p: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1566863" y="5688013"/>
            <a:ext cx="484187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0x90A6</a:t>
            </a:r>
          </a:p>
        </p:txBody>
      </p:sp>
      <p:sp>
        <p:nvSpPr>
          <p:cNvPr id="2097" name="Rectangle 49"/>
          <p:cNvSpPr>
            <a:spLocks noChangeArrowheads="1"/>
          </p:cNvSpPr>
          <p:nvPr/>
        </p:nvSpPr>
        <p:spPr bwMode="auto">
          <a:xfrm>
            <a:off x="2486025" y="5707063"/>
            <a:ext cx="4889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0x802C</a:t>
            </a:r>
          </a:p>
        </p:txBody>
      </p: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381000" y="2286000"/>
            <a:ext cx="533400" cy="152400"/>
            <a:chOff x="240" y="1440"/>
            <a:chExt cx="336" cy="96"/>
          </a:xfrm>
        </p:grpSpPr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0" name="Line 52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1" name="Line 53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2" name="Line 54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3" name="Rectangle 55"/>
          <p:cNvSpPr>
            <a:spLocks noChangeArrowheads="1"/>
          </p:cNvSpPr>
          <p:nvPr/>
        </p:nvSpPr>
        <p:spPr bwMode="auto">
          <a:xfrm>
            <a:off x="215900" y="1955800"/>
            <a:ext cx="849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Coil[SW_</a:t>
            </a:r>
          </a:p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GS_IS_STOP]</a:t>
            </a:r>
          </a:p>
        </p:txBody>
      </p:sp>
      <p:grpSp>
        <p:nvGrpSpPr>
          <p:cNvPr id="7" name="Group 56"/>
          <p:cNvGrpSpPr>
            <a:grpSpLocks/>
          </p:cNvGrpSpPr>
          <p:nvPr/>
        </p:nvGrpSpPr>
        <p:grpSpPr bwMode="auto">
          <a:xfrm>
            <a:off x="1143000" y="2286000"/>
            <a:ext cx="533400" cy="152400"/>
            <a:chOff x="696" y="1440"/>
            <a:chExt cx="336" cy="96"/>
          </a:xfrm>
        </p:grpSpPr>
        <p:grpSp>
          <p:nvGrpSpPr>
            <p:cNvPr id="8" name="Group 57"/>
            <p:cNvGrpSpPr>
              <a:grpSpLocks/>
            </p:cNvGrpSpPr>
            <p:nvPr/>
          </p:nvGrpSpPr>
          <p:grpSpPr bwMode="auto">
            <a:xfrm>
              <a:off x="696" y="1440"/>
              <a:ext cx="336" cy="96"/>
              <a:chOff x="696" y="1440"/>
              <a:chExt cx="336" cy="96"/>
            </a:xfrm>
          </p:grpSpPr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>
                <a:off x="84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>
                <a:off x="888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>
                <a:off x="696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>
                <a:off x="88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10" name="Line 62"/>
            <p:cNvSpPr>
              <a:spLocks noChangeShapeType="1"/>
            </p:cNvSpPr>
            <p:nvPr/>
          </p:nvSpPr>
          <p:spPr bwMode="auto">
            <a:xfrm flipV="1">
              <a:off x="792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1" name="Rectangle 63"/>
          <p:cNvSpPr>
            <a:spLocks noChangeArrowheads="1"/>
          </p:cNvSpPr>
          <p:nvPr/>
        </p:nvSpPr>
        <p:spPr bwMode="auto">
          <a:xfrm>
            <a:off x="1009650" y="1955800"/>
            <a:ext cx="914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Coil[SW_FS_</a:t>
            </a:r>
          </a:p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MAINT]</a:t>
            </a:r>
          </a:p>
        </p:txBody>
      </p:sp>
      <p:grpSp>
        <p:nvGrpSpPr>
          <p:cNvPr id="9" name="Group 64"/>
          <p:cNvGrpSpPr>
            <a:grpSpLocks/>
          </p:cNvGrpSpPr>
          <p:nvPr/>
        </p:nvGrpSpPr>
        <p:grpSpPr bwMode="auto">
          <a:xfrm>
            <a:off x="1981200" y="2286000"/>
            <a:ext cx="533400" cy="152400"/>
            <a:chOff x="1128" y="1440"/>
            <a:chExt cx="336" cy="96"/>
          </a:xfrm>
        </p:grpSpPr>
        <p:grpSp>
          <p:nvGrpSpPr>
            <p:cNvPr id="10" name="Group 65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18" name="Line 70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9" name="Rectangle 71"/>
          <p:cNvSpPr>
            <a:spLocks noChangeArrowheads="1"/>
          </p:cNvSpPr>
          <p:nvPr/>
        </p:nvSpPr>
        <p:spPr bwMode="auto">
          <a:xfrm>
            <a:off x="1838325" y="1962150"/>
            <a:ext cx="9477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IN_CAR]</a:t>
            </a:r>
          </a:p>
        </p:txBody>
      </p:sp>
      <p:sp>
        <p:nvSpPr>
          <p:cNvPr id="2120" name="Rectangle 72"/>
          <p:cNvSpPr>
            <a:spLocks noChangeArrowheads="1"/>
          </p:cNvSpPr>
          <p:nvPr/>
        </p:nvSpPr>
        <p:spPr bwMode="auto">
          <a:xfrm>
            <a:off x="2190750" y="2552700"/>
            <a:ext cx="846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Coil[DC_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CLOSE_CMD]</a:t>
            </a:r>
          </a:p>
        </p:txBody>
      </p:sp>
      <p:grpSp>
        <p:nvGrpSpPr>
          <p:cNvPr id="11" name="Group 73"/>
          <p:cNvGrpSpPr>
            <a:grpSpLocks/>
          </p:cNvGrpSpPr>
          <p:nvPr/>
        </p:nvGrpSpPr>
        <p:grpSpPr bwMode="auto">
          <a:xfrm>
            <a:off x="990600" y="3505200"/>
            <a:ext cx="533400" cy="152400"/>
            <a:chOff x="1752" y="1440"/>
            <a:chExt cx="336" cy="96"/>
          </a:xfrm>
        </p:grpSpPr>
        <p:sp>
          <p:nvSpPr>
            <p:cNvPr id="2122" name="Line 74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3" name="Line 75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6" name="Rectangle 78"/>
          <p:cNvSpPr>
            <a:spLocks noChangeArrowheads="1"/>
          </p:cNvSpPr>
          <p:nvPr/>
        </p:nvSpPr>
        <p:spPr bwMode="auto">
          <a:xfrm>
            <a:off x="533400" y="2590800"/>
            <a:ext cx="8016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Coil[SW_SV_</a:t>
            </a:r>
          </a:p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1ST_FIRE]</a:t>
            </a:r>
          </a:p>
        </p:txBody>
      </p:sp>
      <p:sp>
        <p:nvSpPr>
          <p:cNvPr id="2127" name="Rectangle 79"/>
          <p:cNvSpPr>
            <a:spLocks noChangeArrowheads="1"/>
          </p:cNvSpPr>
          <p:nvPr/>
        </p:nvSpPr>
        <p:spPr bwMode="auto">
          <a:xfrm>
            <a:off x="928688" y="3200400"/>
            <a:ext cx="723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SWD_O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[VO_R2OP]</a:t>
            </a:r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152400" y="2362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762000" y="2362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Line 82"/>
          <p:cNvSpPr>
            <a:spLocks noChangeShapeType="1"/>
          </p:cNvSpPr>
          <p:nvPr/>
        </p:nvSpPr>
        <p:spPr bwMode="auto">
          <a:xfrm>
            <a:off x="1676400" y="2362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1" name="Line 83"/>
          <p:cNvSpPr>
            <a:spLocks noChangeShapeType="1"/>
          </p:cNvSpPr>
          <p:nvPr/>
        </p:nvSpPr>
        <p:spPr bwMode="auto">
          <a:xfrm>
            <a:off x="2514600" y="2362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2" name="Line 84"/>
          <p:cNvSpPr>
            <a:spLocks noChangeShapeType="1"/>
          </p:cNvSpPr>
          <p:nvPr/>
        </p:nvSpPr>
        <p:spPr bwMode="auto">
          <a:xfrm>
            <a:off x="3429000" y="23622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3" name="Rectangle 85"/>
          <p:cNvSpPr>
            <a:spLocks noChangeArrowheads="1"/>
          </p:cNvSpPr>
          <p:nvPr/>
        </p:nvSpPr>
        <p:spPr bwMode="auto">
          <a:xfrm>
            <a:off x="381000" y="466248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12" name="Group 86"/>
          <p:cNvGrpSpPr>
            <a:grpSpLocks/>
          </p:cNvGrpSpPr>
          <p:nvPr/>
        </p:nvGrpSpPr>
        <p:grpSpPr bwMode="auto">
          <a:xfrm>
            <a:off x="457200" y="4876800"/>
            <a:ext cx="533400" cy="152400"/>
            <a:chOff x="288" y="3120"/>
            <a:chExt cx="336" cy="96"/>
          </a:xfrm>
        </p:grpSpPr>
        <p:sp>
          <p:nvSpPr>
            <p:cNvPr id="2135" name="Line 87"/>
            <p:cNvSpPr>
              <a:spLocks noChangeShapeType="1"/>
            </p:cNvSpPr>
            <p:nvPr/>
          </p:nvSpPr>
          <p:spPr bwMode="auto">
            <a:xfrm>
              <a:off x="432" y="312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6" name="Line 88"/>
            <p:cNvSpPr>
              <a:spLocks noChangeShapeType="1"/>
            </p:cNvSpPr>
            <p:nvPr/>
          </p:nvSpPr>
          <p:spPr bwMode="auto">
            <a:xfrm>
              <a:off x="480" y="312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7" name="Line 89"/>
            <p:cNvSpPr>
              <a:spLocks noChangeShapeType="1"/>
            </p:cNvSpPr>
            <p:nvPr/>
          </p:nvSpPr>
          <p:spPr bwMode="auto">
            <a:xfrm>
              <a:off x="288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8" name="Line 90"/>
            <p:cNvSpPr>
              <a:spLocks noChangeShapeType="1"/>
            </p:cNvSpPr>
            <p:nvPr/>
          </p:nvSpPr>
          <p:spPr bwMode="auto">
            <a:xfrm>
              <a:off x="480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39" name="Line 91"/>
          <p:cNvSpPr>
            <a:spLocks noChangeShapeType="1"/>
          </p:cNvSpPr>
          <p:nvPr/>
        </p:nvSpPr>
        <p:spPr bwMode="auto">
          <a:xfrm flipH="1">
            <a:off x="152400" y="4953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0" name="Line 92"/>
          <p:cNvSpPr>
            <a:spLocks noChangeShapeType="1"/>
          </p:cNvSpPr>
          <p:nvPr/>
        </p:nvSpPr>
        <p:spPr bwMode="auto">
          <a:xfrm>
            <a:off x="838200" y="49530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1" name="Line 93"/>
          <p:cNvSpPr>
            <a:spLocks noChangeShapeType="1"/>
          </p:cNvSpPr>
          <p:nvPr/>
        </p:nvSpPr>
        <p:spPr bwMode="auto">
          <a:xfrm>
            <a:off x="4800600" y="4953000"/>
            <a:ext cx="7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2" name="Rectangle 94"/>
          <p:cNvSpPr>
            <a:spLocks noChangeArrowheads="1"/>
          </p:cNvSpPr>
          <p:nvPr/>
        </p:nvSpPr>
        <p:spPr bwMode="auto">
          <a:xfrm>
            <a:off x="228600" y="4191000"/>
            <a:ext cx="1800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TMC_Check(R2CD_R2LD_</a:t>
            </a:r>
          </a:p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ERROR_DETECT_T,RUN_STATE)</a:t>
            </a:r>
          </a:p>
        </p:txBody>
      </p:sp>
      <p:sp>
        <p:nvSpPr>
          <p:cNvPr id="2143" name="Rectangle 95"/>
          <p:cNvSpPr>
            <a:spLocks noChangeArrowheads="1"/>
          </p:cNvSpPr>
          <p:nvPr/>
        </p:nvSpPr>
        <p:spPr bwMode="auto">
          <a:xfrm>
            <a:off x="2735263" y="1974850"/>
            <a:ext cx="9477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CND_F_Op[CN_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ON_CAR]</a:t>
            </a:r>
          </a:p>
        </p:txBody>
      </p:sp>
      <p:grpSp>
        <p:nvGrpSpPr>
          <p:cNvPr id="13" name="Group 96"/>
          <p:cNvGrpSpPr>
            <a:grpSpLocks/>
          </p:cNvGrpSpPr>
          <p:nvPr/>
        </p:nvGrpSpPr>
        <p:grpSpPr bwMode="auto">
          <a:xfrm>
            <a:off x="2895600" y="2286000"/>
            <a:ext cx="533400" cy="152400"/>
            <a:chOff x="1128" y="1440"/>
            <a:chExt cx="336" cy="96"/>
          </a:xfrm>
        </p:grpSpPr>
        <p:grpSp>
          <p:nvGrpSpPr>
            <p:cNvPr id="14" name="Group 97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50" name="Line 102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51" name="Line 103"/>
          <p:cNvSpPr>
            <a:spLocks noChangeShapeType="1"/>
          </p:cNvSpPr>
          <p:nvPr/>
        </p:nvSpPr>
        <p:spPr bwMode="auto">
          <a:xfrm>
            <a:off x="4648200" y="2362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2" name="Line 104"/>
          <p:cNvSpPr>
            <a:spLocks noChangeShapeType="1"/>
          </p:cNvSpPr>
          <p:nvPr/>
        </p:nvSpPr>
        <p:spPr bwMode="auto">
          <a:xfrm>
            <a:off x="2895600" y="2971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5" name="Group 105"/>
          <p:cNvGrpSpPr>
            <a:grpSpLocks/>
          </p:cNvGrpSpPr>
          <p:nvPr/>
        </p:nvGrpSpPr>
        <p:grpSpPr bwMode="auto">
          <a:xfrm>
            <a:off x="2362200" y="2895600"/>
            <a:ext cx="533400" cy="152400"/>
            <a:chOff x="1128" y="1440"/>
            <a:chExt cx="336" cy="96"/>
          </a:xfrm>
        </p:grpSpPr>
        <p:grpSp>
          <p:nvGrpSpPr>
            <p:cNvPr id="16" name="Group 106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55" name="Line 107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6" name="Line 108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7" name="Line 109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58" name="Line 110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60" name="Line 112"/>
          <p:cNvSpPr>
            <a:spLocks noChangeShapeType="1"/>
          </p:cNvSpPr>
          <p:nvPr/>
        </p:nvSpPr>
        <p:spPr bwMode="auto">
          <a:xfrm>
            <a:off x="1981200" y="2971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7" name="Group 113"/>
          <p:cNvGrpSpPr>
            <a:grpSpLocks/>
          </p:cNvGrpSpPr>
          <p:nvPr/>
        </p:nvGrpSpPr>
        <p:grpSpPr bwMode="auto">
          <a:xfrm>
            <a:off x="1466850" y="2895600"/>
            <a:ext cx="533400" cy="152400"/>
            <a:chOff x="240" y="1440"/>
            <a:chExt cx="336" cy="96"/>
          </a:xfrm>
        </p:grpSpPr>
        <p:sp>
          <p:nvSpPr>
            <p:cNvPr id="2162" name="Line 114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3" name="Line 115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4" name="Line 116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5" name="Line 117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66" name="Rectangle 118"/>
          <p:cNvSpPr>
            <a:spLocks noChangeArrowheads="1"/>
          </p:cNvSpPr>
          <p:nvPr/>
        </p:nvSpPr>
        <p:spPr bwMode="auto">
          <a:xfrm>
            <a:off x="1327150" y="2559050"/>
            <a:ext cx="8572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Coil[SW_GS_</a:t>
            </a:r>
          </a:p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DOOR_ZONE]</a:t>
            </a:r>
          </a:p>
        </p:txBody>
      </p:sp>
      <p:sp>
        <p:nvSpPr>
          <p:cNvPr id="2167" name="Line 119"/>
          <p:cNvSpPr>
            <a:spLocks noChangeShapeType="1"/>
          </p:cNvSpPr>
          <p:nvPr/>
        </p:nvSpPr>
        <p:spPr bwMode="auto">
          <a:xfrm>
            <a:off x="1219200" y="2971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8" name="Group 120"/>
          <p:cNvGrpSpPr>
            <a:grpSpLocks/>
          </p:cNvGrpSpPr>
          <p:nvPr/>
        </p:nvGrpSpPr>
        <p:grpSpPr bwMode="auto">
          <a:xfrm>
            <a:off x="685800" y="2895600"/>
            <a:ext cx="533400" cy="152400"/>
            <a:chOff x="1128" y="1440"/>
            <a:chExt cx="336" cy="96"/>
          </a:xfrm>
        </p:grpSpPr>
        <p:grpSp>
          <p:nvGrpSpPr>
            <p:cNvPr id="19" name="Group 121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4" name="Line 126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75" name="Line 127"/>
          <p:cNvSpPr>
            <a:spLocks noChangeShapeType="1"/>
          </p:cNvSpPr>
          <p:nvPr/>
        </p:nvSpPr>
        <p:spPr bwMode="auto">
          <a:xfrm>
            <a:off x="533400" y="2971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6" name="Line 128"/>
          <p:cNvSpPr>
            <a:spLocks noChangeShapeType="1"/>
          </p:cNvSpPr>
          <p:nvPr/>
        </p:nvSpPr>
        <p:spPr bwMode="auto">
          <a:xfrm>
            <a:off x="533400" y="29718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7" name="Line 129"/>
          <p:cNvSpPr>
            <a:spLocks noChangeShapeType="1"/>
          </p:cNvSpPr>
          <p:nvPr/>
        </p:nvSpPr>
        <p:spPr bwMode="auto">
          <a:xfrm>
            <a:off x="533400" y="3581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8" name="Line 130"/>
          <p:cNvSpPr>
            <a:spLocks noChangeShapeType="1"/>
          </p:cNvSpPr>
          <p:nvPr/>
        </p:nvSpPr>
        <p:spPr bwMode="auto">
          <a:xfrm>
            <a:off x="533400" y="4114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0" name="Group 131"/>
          <p:cNvGrpSpPr>
            <a:grpSpLocks/>
          </p:cNvGrpSpPr>
          <p:nvPr/>
        </p:nvGrpSpPr>
        <p:grpSpPr bwMode="auto">
          <a:xfrm>
            <a:off x="685800" y="4038600"/>
            <a:ext cx="533400" cy="152400"/>
            <a:chOff x="1752" y="1440"/>
            <a:chExt cx="336" cy="96"/>
          </a:xfrm>
        </p:grpSpPr>
        <p:sp>
          <p:nvSpPr>
            <p:cNvPr id="2180" name="Line 132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1" name="Line 133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2" name="Line 134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3" name="Line 135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84" name="Line 136"/>
          <p:cNvSpPr>
            <a:spLocks noChangeShapeType="1"/>
          </p:cNvSpPr>
          <p:nvPr/>
        </p:nvSpPr>
        <p:spPr bwMode="auto">
          <a:xfrm>
            <a:off x="1447800" y="35814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5" name="Line 137"/>
          <p:cNvSpPr>
            <a:spLocks noChangeShapeType="1"/>
          </p:cNvSpPr>
          <p:nvPr/>
        </p:nvSpPr>
        <p:spPr bwMode="auto">
          <a:xfrm>
            <a:off x="2209800" y="3581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1" name="Group 138"/>
          <p:cNvGrpSpPr>
            <a:grpSpLocks/>
          </p:cNvGrpSpPr>
          <p:nvPr/>
        </p:nvGrpSpPr>
        <p:grpSpPr bwMode="auto">
          <a:xfrm>
            <a:off x="2360613" y="3505200"/>
            <a:ext cx="533400" cy="152400"/>
            <a:chOff x="1752" y="1440"/>
            <a:chExt cx="336" cy="96"/>
          </a:xfrm>
        </p:grpSpPr>
        <p:sp>
          <p:nvSpPr>
            <p:cNvPr id="2187" name="Line 139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8" name="Line 140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9" name="Line 141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0" name="Line 142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2" name="Group 143"/>
          <p:cNvGrpSpPr>
            <a:grpSpLocks/>
          </p:cNvGrpSpPr>
          <p:nvPr/>
        </p:nvGrpSpPr>
        <p:grpSpPr bwMode="auto">
          <a:xfrm>
            <a:off x="2360613" y="4038600"/>
            <a:ext cx="533400" cy="152400"/>
            <a:chOff x="1752" y="1440"/>
            <a:chExt cx="336" cy="96"/>
          </a:xfrm>
        </p:grpSpPr>
        <p:sp>
          <p:nvSpPr>
            <p:cNvPr id="2192" name="Line 144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3" name="Line 145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4" name="Line 146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5" name="Line 147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96" name="Line 148"/>
          <p:cNvSpPr>
            <a:spLocks noChangeShapeType="1"/>
          </p:cNvSpPr>
          <p:nvPr/>
        </p:nvSpPr>
        <p:spPr bwMode="auto">
          <a:xfrm>
            <a:off x="3124200" y="358140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7" name="Line 149"/>
          <p:cNvSpPr>
            <a:spLocks noChangeShapeType="1"/>
          </p:cNvSpPr>
          <p:nvPr/>
        </p:nvSpPr>
        <p:spPr bwMode="auto">
          <a:xfrm>
            <a:off x="2667000" y="3581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8" name="Line 150"/>
          <p:cNvSpPr>
            <a:spLocks noChangeShapeType="1"/>
          </p:cNvSpPr>
          <p:nvPr/>
        </p:nvSpPr>
        <p:spPr bwMode="auto">
          <a:xfrm>
            <a:off x="2667000" y="4114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9" name="Line 151"/>
          <p:cNvSpPr>
            <a:spLocks noChangeShapeType="1"/>
          </p:cNvSpPr>
          <p:nvPr/>
        </p:nvSpPr>
        <p:spPr bwMode="auto">
          <a:xfrm>
            <a:off x="3200400" y="3581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0" name="Rectangle 152"/>
          <p:cNvSpPr>
            <a:spLocks noChangeArrowheads="1"/>
          </p:cNvSpPr>
          <p:nvPr/>
        </p:nvSpPr>
        <p:spPr bwMode="auto">
          <a:xfrm>
            <a:off x="4114800" y="3359150"/>
            <a:ext cx="673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201" name="Rectangle 153"/>
          <p:cNvSpPr>
            <a:spLocks noChangeArrowheads="1"/>
          </p:cNvSpPr>
          <p:nvPr/>
        </p:nvSpPr>
        <p:spPr bwMode="auto">
          <a:xfrm>
            <a:off x="4135438" y="3352800"/>
            <a:ext cx="65881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202" name="Rectangle 154"/>
          <p:cNvSpPr>
            <a:spLocks noChangeArrowheads="1"/>
          </p:cNvSpPr>
          <p:nvPr/>
        </p:nvSpPr>
        <p:spPr bwMode="auto">
          <a:xfrm>
            <a:off x="2132013" y="3276600"/>
            <a:ext cx="91598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SWD_I[VI_LDS]</a:t>
            </a:r>
          </a:p>
        </p:txBody>
      </p:sp>
      <p:sp>
        <p:nvSpPr>
          <p:cNvPr id="2203" name="Rectangle 155"/>
          <p:cNvSpPr>
            <a:spLocks noChangeArrowheads="1"/>
          </p:cNvSpPr>
          <p:nvPr/>
        </p:nvSpPr>
        <p:spPr bwMode="auto">
          <a:xfrm>
            <a:off x="2286000" y="3810000"/>
            <a:ext cx="9318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SWD_I[VI_CDS]</a:t>
            </a:r>
          </a:p>
        </p:txBody>
      </p:sp>
      <p:sp>
        <p:nvSpPr>
          <p:cNvPr id="2204" name="Rectangle 156"/>
          <p:cNvSpPr>
            <a:spLocks noChangeArrowheads="1"/>
          </p:cNvSpPr>
          <p:nvPr/>
        </p:nvSpPr>
        <p:spPr bwMode="auto">
          <a:xfrm>
            <a:off x="1143000" y="3810000"/>
            <a:ext cx="9953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SWD_I[VI_DOLS]</a:t>
            </a:r>
          </a:p>
        </p:txBody>
      </p:sp>
      <p:sp>
        <p:nvSpPr>
          <p:cNvPr id="2205" name="Rectangle 157"/>
          <p:cNvSpPr>
            <a:spLocks noChangeArrowheads="1"/>
          </p:cNvSpPr>
          <p:nvPr/>
        </p:nvSpPr>
        <p:spPr bwMode="auto">
          <a:xfrm>
            <a:off x="3441700" y="4730750"/>
            <a:ext cx="135255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6" name="Rectangle 158"/>
          <p:cNvSpPr>
            <a:spLocks noChangeArrowheads="1"/>
          </p:cNvSpPr>
          <p:nvPr/>
        </p:nvSpPr>
        <p:spPr bwMode="auto">
          <a:xfrm>
            <a:off x="3429000" y="4724400"/>
            <a:ext cx="1371600" cy="39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TMC_Start(R2CD_R2LD_</a:t>
            </a:r>
          </a:p>
          <a:p>
            <a:pPr algn="ctr"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207" name="Rectangle 159"/>
          <p:cNvSpPr>
            <a:spLocks noChangeArrowheads="1"/>
          </p:cNvSpPr>
          <p:nvPr/>
        </p:nvSpPr>
        <p:spPr bwMode="auto">
          <a:xfrm>
            <a:off x="644525" y="234632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0x925D</a:t>
            </a:r>
          </a:p>
        </p:txBody>
      </p:sp>
      <p:sp>
        <p:nvSpPr>
          <p:cNvPr id="2208" name="Rectangle 160"/>
          <p:cNvSpPr>
            <a:spLocks noChangeArrowheads="1"/>
          </p:cNvSpPr>
          <p:nvPr/>
        </p:nvSpPr>
        <p:spPr bwMode="auto">
          <a:xfrm>
            <a:off x="1425575" y="2344738"/>
            <a:ext cx="484188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0x929A</a:t>
            </a:r>
          </a:p>
        </p:txBody>
      </p:sp>
      <p:sp>
        <p:nvSpPr>
          <p:cNvPr id="2209" name="Rectangle 161"/>
          <p:cNvSpPr>
            <a:spLocks noChangeArrowheads="1"/>
          </p:cNvSpPr>
          <p:nvPr/>
        </p:nvSpPr>
        <p:spPr bwMode="auto">
          <a:xfrm>
            <a:off x="2273300" y="2338388"/>
            <a:ext cx="49371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0x82AE</a:t>
            </a:r>
          </a:p>
        </p:txBody>
      </p:sp>
      <p:sp>
        <p:nvSpPr>
          <p:cNvPr id="2210" name="Rectangle 162"/>
          <p:cNvSpPr>
            <a:spLocks noChangeArrowheads="1"/>
          </p:cNvSpPr>
          <p:nvPr/>
        </p:nvSpPr>
        <p:spPr bwMode="auto">
          <a:xfrm>
            <a:off x="3171825" y="2351088"/>
            <a:ext cx="4889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0x82AF</a:t>
            </a:r>
          </a:p>
        </p:txBody>
      </p:sp>
      <p:sp>
        <p:nvSpPr>
          <p:cNvPr id="2211" name="Rectangle 163"/>
          <p:cNvSpPr>
            <a:spLocks noChangeArrowheads="1"/>
          </p:cNvSpPr>
          <p:nvPr/>
        </p:nvSpPr>
        <p:spPr bwMode="auto">
          <a:xfrm>
            <a:off x="731838" y="3035300"/>
            <a:ext cx="4746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0x9274</a:t>
            </a:r>
          </a:p>
        </p:txBody>
      </p:sp>
      <p:sp>
        <p:nvSpPr>
          <p:cNvPr id="2212" name="Rectangle 164"/>
          <p:cNvSpPr>
            <a:spLocks noChangeArrowheads="1"/>
          </p:cNvSpPr>
          <p:nvPr/>
        </p:nvSpPr>
        <p:spPr bwMode="auto">
          <a:xfrm>
            <a:off x="1587500" y="30321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0x9250</a:t>
            </a:r>
          </a:p>
        </p:txBody>
      </p:sp>
      <p:sp>
        <p:nvSpPr>
          <p:cNvPr id="2213" name="Rectangle 165"/>
          <p:cNvSpPr>
            <a:spLocks noChangeArrowheads="1"/>
          </p:cNvSpPr>
          <p:nvPr/>
        </p:nvSpPr>
        <p:spPr bwMode="auto">
          <a:xfrm>
            <a:off x="2449513" y="3028950"/>
            <a:ext cx="484187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0x908E</a:t>
            </a:r>
          </a:p>
        </p:txBody>
      </p:sp>
      <p:sp>
        <p:nvSpPr>
          <p:cNvPr id="2214" name="Rectangle 166"/>
          <p:cNvSpPr>
            <a:spLocks noChangeArrowheads="1"/>
          </p:cNvSpPr>
          <p:nvPr/>
        </p:nvSpPr>
        <p:spPr bwMode="auto">
          <a:xfrm>
            <a:off x="1076325" y="3636963"/>
            <a:ext cx="47466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0x8083</a:t>
            </a:r>
          </a:p>
        </p:txBody>
      </p:sp>
      <p:sp>
        <p:nvSpPr>
          <p:cNvPr id="2215" name="Rectangle 167"/>
          <p:cNvSpPr>
            <a:spLocks noChangeArrowheads="1"/>
          </p:cNvSpPr>
          <p:nvPr/>
        </p:nvSpPr>
        <p:spPr bwMode="auto">
          <a:xfrm>
            <a:off x="2349500" y="364172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0x802C</a:t>
            </a:r>
          </a:p>
        </p:txBody>
      </p:sp>
      <p:sp>
        <p:nvSpPr>
          <p:cNvPr id="2216" name="Rectangle 168"/>
          <p:cNvSpPr>
            <a:spLocks noChangeArrowheads="1"/>
          </p:cNvSpPr>
          <p:nvPr/>
        </p:nvSpPr>
        <p:spPr bwMode="auto">
          <a:xfrm>
            <a:off x="2514600" y="419100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0x802B</a:t>
            </a:r>
          </a:p>
        </p:txBody>
      </p:sp>
      <p:grpSp>
        <p:nvGrpSpPr>
          <p:cNvPr id="23" name="Group 169"/>
          <p:cNvGrpSpPr>
            <a:grpSpLocks/>
          </p:cNvGrpSpPr>
          <p:nvPr/>
        </p:nvGrpSpPr>
        <p:grpSpPr bwMode="auto">
          <a:xfrm>
            <a:off x="3886200" y="2286000"/>
            <a:ext cx="533400" cy="152400"/>
            <a:chOff x="1128" y="1440"/>
            <a:chExt cx="336" cy="96"/>
          </a:xfrm>
        </p:grpSpPr>
        <p:grpSp>
          <p:nvGrpSpPr>
            <p:cNvPr id="24" name="Group 170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0" name="Line 172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1" name="Line 173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2" name="Line 174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23" name="Line 175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24" name="Rectangle 176"/>
          <p:cNvSpPr>
            <a:spLocks noChangeArrowheads="1"/>
          </p:cNvSpPr>
          <p:nvPr/>
        </p:nvSpPr>
        <p:spPr bwMode="auto">
          <a:xfrm>
            <a:off x="3665538" y="2082800"/>
            <a:ext cx="102076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SWD_I[VI_RDMC]</a:t>
            </a:r>
          </a:p>
        </p:txBody>
      </p:sp>
      <p:sp>
        <p:nvSpPr>
          <p:cNvPr id="2225" name="Line 177"/>
          <p:cNvSpPr>
            <a:spLocks noChangeShapeType="1"/>
          </p:cNvSpPr>
          <p:nvPr/>
        </p:nvSpPr>
        <p:spPr bwMode="auto">
          <a:xfrm>
            <a:off x="4343400" y="2362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6" name="Rectangle 178"/>
          <p:cNvSpPr>
            <a:spLocks noChangeArrowheads="1"/>
          </p:cNvSpPr>
          <p:nvPr/>
        </p:nvSpPr>
        <p:spPr bwMode="auto">
          <a:xfrm>
            <a:off x="4168775" y="234632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0x8060</a:t>
            </a:r>
          </a:p>
        </p:txBody>
      </p:sp>
      <p:grpSp>
        <p:nvGrpSpPr>
          <p:cNvPr id="25" name="Group 179"/>
          <p:cNvGrpSpPr>
            <a:grpSpLocks/>
          </p:cNvGrpSpPr>
          <p:nvPr/>
        </p:nvGrpSpPr>
        <p:grpSpPr bwMode="auto">
          <a:xfrm>
            <a:off x="3124200" y="2895600"/>
            <a:ext cx="533400" cy="152400"/>
            <a:chOff x="1128" y="1440"/>
            <a:chExt cx="336" cy="96"/>
          </a:xfrm>
        </p:grpSpPr>
        <p:grpSp>
          <p:nvGrpSpPr>
            <p:cNvPr id="26" name="Group 180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29" name="Line 181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0" name="Line 182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1" name="Line 183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2" name="Line 184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33" name="Line 185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34" name="Line 186"/>
          <p:cNvSpPr>
            <a:spLocks noChangeShapeType="1"/>
          </p:cNvSpPr>
          <p:nvPr/>
        </p:nvSpPr>
        <p:spPr bwMode="auto">
          <a:xfrm>
            <a:off x="4343400" y="2971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35" name="Rectangle 187"/>
          <p:cNvSpPr>
            <a:spLocks noChangeArrowheads="1"/>
          </p:cNvSpPr>
          <p:nvPr/>
        </p:nvSpPr>
        <p:spPr bwMode="auto">
          <a:xfrm>
            <a:off x="3924300" y="268605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TCD 171</a:t>
            </a:r>
          </a:p>
        </p:txBody>
      </p:sp>
      <p:grpSp>
        <p:nvGrpSpPr>
          <p:cNvPr id="27" name="Group 188"/>
          <p:cNvGrpSpPr>
            <a:grpSpLocks/>
          </p:cNvGrpSpPr>
          <p:nvPr/>
        </p:nvGrpSpPr>
        <p:grpSpPr bwMode="auto">
          <a:xfrm>
            <a:off x="3962400" y="2895600"/>
            <a:ext cx="533400" cy="152400"/>
            <a:chOff x="1128" y="1440"/>
            <a:chExt cx="336" cy="96"/>
          </a:xfrm>
        </p:grpSpPr>
        <p:grpSp>
          <p:nvGrpSpPr>
            <p:cNvPr id="28" name="Group 189"/>
            <p:cNvGrpSpPr>
              <a:grpSpLocks/>
            </p:cNvGrpSpPr>
            <p:nvPr/>
          </p:nvGrpSpPr>
          <p:grpSpPr bwMode="auto">
            <a:xfrm>
              <a:off x="1128" y="1440"/>
              <a:ext cx="336" cy="96"/>
              <a:chOff x="1128" y="1440"/>
              <a:chExt cx="336" cy="96"/>
            </a:xfrm>
          </p:grpSpPr>
          <p:sp>
            <p:nvSpPr>
              <p:cNvPr id="2238" name="Line 190"/>
              <p:cNvSpPr>
                <a:spLocks noChangeShapeType="1"/>
              </p:cNvSpPr>
              <p:nvPr/>
            </p:nvSpPr>
            <p:spPr bwMode="auto">
              <a:xfrm>
                <a:off x="1272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>
                <a:off x="132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40" name="Line 192"/>
              <p:cNvSpPr>
                <a:spLocks noChangeShapeType="1"/>
              </p:cNvSpPr>
              <p:nvPr/>
            </p:nvSpPr>
            <p:spPr bwMode="auto">
              <a:xfrm>
                <a:off x="112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41" name="Line 193"/>
              <p:cNvSpPr>
                <a:spLocks noChangeShapeType="1"/>
              </p:cNvSpPr>
              <p:nvPr/>
            </p:nvSpPr>
            <p:spPr bwMode="auto">
              <a:xfrm>
                <a:off x="132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42" name="Line 194"/>
            <p:cNvSpPr>
              <a:spLocks noChangeShapeType="1"/>
            </p:cNvSpPr>
            <p:nvPr/>
          </p:nvSpPr>
          <p:spPr bwMode="auto">
            <a:xfrm flipV="1">
              <a:off x="12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43" name="Rectangle 195"/>
          <p:cNvSpPr>
            <a:spLocks noChangeArrowheads="1"/>
          </p:cNvSpPr>
          <p:nvPr/>
        </p:nvSpPr>
        <p:spPr bwMode="auto">
          <a:xfrm>
            <a:off x="3105150" y="269240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TCD 188</a:t>
            </a:r>
          </a:p>
        </p:txBody>
      </p:sp>
      <p:sp>
        <p:nvSpPr>
          <p:cNvPr id="2244" name="Line 196"/>
          <p:cNvSpPr>
            <a:spLocks noChangeShapeType="1"/>
          </p:cNvSpPr>
          <p:nvPr/>
        </p:nvSpPr>
        <p:spPr bwMode="auto">
          <a:xfrm>
            <a:off x="3657600" y="2971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9" name="Group 197"/>
          <p:cNvGrpSpPr>
            <a:grpSpLocks/>
          </p:cNvGrpSpPr>
          <p:nvPr/>
        </p:nvGrpSpPr>
        <p:grpSpPr bwMode="auto">
          <a:xfrm>
            <a:off x="1447800" y="4038600"/>
            <a:ext cx="533400" cy="152400"/>
            <a:chOff x="1752" y="1440"/>
            <a:chExt cx="336" cy="96"/>
          </a:xfrm>
        </p:grpSpPr>
        <p:sp>
          <p:nvSpPr>
            <p:cNvPr id="2246" name="Line 198"/>
            <p:cNvSpPr>
              <a:spLocks noChangeShapeType="1"/>
            </p:cNvSpPr>
            <p:nvPr/>
          </p:nvSpPr>
          <p:spPr bwMode="auto">
            <a:xfrm>
              <a:off x="1896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7" name="Line 199"/>
            <p:cNvSpPr>
              <a:spLocks noChangeShapeType="1"/>
            </p:cNvSpPr>
            <p:nvPr/>
          </p:nvSpPr>
          <p:spPr bwMode="auto">
            <a:xfrm>
              <a:off x="194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8" name="Line 200"/>
            <p:cNvSpPr>
              <a:spLocks noChangeShapeType="1"/>
            </p:cNvSpPr>
            <p:nvPr/>
          </p:nvSpPr>
          <p:spPr bwMode="auto">
            <a:xfrm>
              <a:off x="175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9" name="Line 201"/>
            <p:cNvSpPr>
              <a:spLocks noChangeShapeType="1"/>
            </p:cNvSpPr>
            <p:nvPr/>
          </p:nvSpPr>
          <p:spPr bwMode="auto">
            <a:xfrm>
              <a:off x="1944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50" name="Line 202"/>
          <p:cNvSpPr>
            <a:spLocks noChangeShapeType="1"/>
          </p:cNvSpPr>
          <p:nvPr/>
        </p:nvSpPr>
        <p:spPr bwMode="auto">
          <a:xfrm>
            <a:off x="1143000" y="41148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1" name="Line 203"/>
          <p:cNvSpPr>
            <a:spLocks noChangeShapeType="1"/>
          </p:cNvSpPr>
          <p:nvPr/>
        </p:nvSpPr>
        <p:spPr bwMode="auto">
          <a:xfrm>
            <a:off x="1905000" y="4114800"/>
            <a:ext cx="531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2" name="Rectangle 204"/>
          <p:cNvSpPr>
            <a:spLocks noChangeArrowheads="1"/>
          </p:cNvSpPr>
          <p:nvPr/>
        </p:nvSpPr>
        <p:spPr bwMode="auto">
          <a:xfrm>
            <a:off x="1676400" y="41148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0x802D</a:t>
            </a:r>
          </a:p>
        </p:txBody>
      </p:sp>
      <p:sp>
        <p:nvSpPr>
          <p:cNvPr id="2253" name="Rectangle 205"/>
          <p:cNvSpPr>
            <a:spLocks noChangeArrowheads="1"/>
          </p:cNvSpPr>
          <p:nvPr/>
        </p:nvSpPr>
        <p:spPr bwMode="auto">
          <a:xfrm>
            <a:off x="2819400" y="4724400"/>
            <a:ext cx="6270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990 msec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9688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47625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74738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23138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60938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22963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35950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9213" y="1520825"/>
            <a:ext cx="4897437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36538" y="457200"/>
            <a:ext cx="6207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99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7938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60938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7938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86350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40613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8713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50938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ER_DUAL_INPUT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41338" y="898525"/>
            <a:ext cx="426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 동일 입력의 접점 상태가 연속하여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300 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동안 다르면 검출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37138" y="1143000"/>
            <a:ext cx="3962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ANN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KEYPAD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A42E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입력 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Trace Mode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TCD99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Trace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bit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의미는 좌측 그림과  같으며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bit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값이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 해당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입력 고장이므로 고장인 입력에 대하여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2544763" y="5267325"/>
            <a:ext cx="0" cy="2968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59" tIns="46029" rIns="92059" bIns="46029">
            <a:spAutoFit/>
          </a:bodyPr>
          <a:lstStyle/>
          <a:p>
            <a:endParaRPr lang="ko-KR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3089275" y="5267325"/>
            <a:ext cx="0" cy="2968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59" tIns="46029" rIns="92059" bIns="46029">
            <a:spAutoFit/>
          </a:bodyPr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1412875" y="5267325"/>
            <a:ext cx="0" cy="2968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59" tIns="46029" rIns="92059" bIns="46029">
            <a:spAutoFit/>
          </a:bodyPr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3667125" y="5267325"/>
            <a:ext cx="0" cy="2968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59" tIns="46029" rIns="92059" bIns="46029">
            <a:spAutoFit/>
          </a:bodyPr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868363" y="5268913"/>
            <a:ext cx="0" cy="296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59" tIns="46029" rIns="92059" bIns="46029">
            <a:spAutoFit/>
          </a:bodyPr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1982788" y="5268913"/>
            <a:ext cx="0" cy="296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59" tIns="46029" rIns="92059" bIns="46029">
            <a:spAutoFit/>
          </a:bodyPr>
          <a:lstStyle/>
          <a:p>
            <a:endParaRPr lang="ko-KR" altLang="en-US"/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>
            <a:off x="4221163" y="5268913"/>
            <a:ext cx="0" cy="296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59" tIns="46029" rIns="92059" bIns="46029">
            <a:spAutoFit/>
          </a:bodyPr>
          <a:lstStyle/>
          <a:p>
            <a:endParaRPr lang="ko-KR" altLang="en-US"/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236538" y="4876800"/>
            <a:ext cx="21209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59" tIns="46029" rIns="92059" bIns="46029">
            <a:spAutoFit/>
          </a:bodyPr>
          <a:lstStyle/>
          <a:p>
            <a:pPr latinLnBrk="0"/>
            <a:r>
              <a:rPr lang="ko-KR" altLang="en-US" sz="900">
                <a:latin typeface="Arial" charset="0"/>
                <a:ea typeface="굴림체" pitchFamily="49" charset="-127"/>
              </a:rPr>
              <a:t>이중입력 고장시의 </a:t>
            </a:r>
            <a:r>
              <a:rPr lang="en-US" altLang="ko-KR" sz="900">
                <a:latin typeface="Arial" charset="0"/>
                <a:ea typeface="굴림체" pitchFamily="49" charset="-127"/>
              </a:rPr>
              <a:t>Trace Data Format</a:t>
            </a:r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3730625" y="5241925"/>
            <a:ext cx="10064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59" tIns="46029" rIns="92059" bIns="46029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HIGH          </a:t>
            </a:r>
            <a:r>
              <a:rPr lang="ko-KR" altLang="en-US" sz="700">
                <a:latin typeface="Arial" charset="0"/>
                <a:ea typeface="굴림체" pitchFamily="49" charset="-127"/>
              </a:rPr>
              <a:t>기계실</a:t>
            </a:r>
            <a:endParaRPr lang="ko-KR" altLang="en-US" sz="800">
              <a:latin typeface="Arial" charset="0"/>
              <a:ea typeface="굴림체" pitchFamily="49" charset="-127"/>
            </a:endParaRPr>
          </a:p>
          <a:p>
            <a:pPr latinLnBrk="0"/>
            <a:r>
              <a:rPr lang="ko-KR" altLang="en-US" sz="800">
                <a:latin typeface="Arial" charset="0"/>
                <a:ea typeface="굴림체" pitchFamily="49" charset="-127"/>
              </a:rPr>
              <a:t>                   </a:t>
            </a:r>
            <a:r>
              <a:rPr lang="en-US" altLang="ko-KR" sz="900">
                <a:latin typeface="Arial" charset="0"/>
                <a:ea typeface="굴림체" pitchFamily="49" charset="-127"/>
              </a:rPr>
              <a:t>Maint</a:t>
            </a:r>
            <a:endParaRPr lang="en-US" altLang="ko-KR" sz="800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52400" y="1905000"/>
            <a:ext cx="4656138" cy="2514600"/>
            <a:chOff x="91" y="1200"/>
            <a:chExt cx="2933" cy="1584"/>
          </a:xfrm>
        </p:grpSpPr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>
              <a:off x="91" y="1200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>
              <a:off x="3024" y="1200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>
              <a:off x="91" y="1341"/>
              <a:ext cx="29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1" name="Rectangle 33"/>
            <p:cNvSpPr>
              <a:spLocks noChangeArrowheads="1"/>
            </p:cNvSpPr>
            <p:nvPr/>
          </p:nvSpPr>
          <p:spPr bwMode="auto">
            <a:xfrm>
              <a:off x="2544" y="1214"/>
              <a:ext cx="426" cy="2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2" name="Rectangle 34"/>
            <p:cNvSpPr>
              <a:spLocks noChangeArrowheads="1"/>
            </p:cNvSpPr>
            <p:nvPr/>
          </p:nvSpPr>
          <p:spPr bwMode="auto">
            <a:xfrm>
              <a:off x="129" y="1224"/>
              <a:ext cx="839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ko-KR" altLang="en-US" sz="800">
                  <a:latin typeface="Arial" charset="0"/>
                  <a:ea typeface="굴림체" pitchFamily="49" charset="-127"/>
                </a:rPr>
                <a:t>운전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CPU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입력의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bit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전개</a:t>
              </a:r>
            </a:p>
          </p:txBody>
        </p:sp>
        <p:sp>
          <p:nvSpPr>
            <p:cNvPr id="2083" name="Rectangle 35"/>
            <p:cNvSpPr>
              <a:spLocks noChangeArrowheads="1"/>
            </p:cNvSpPr>
            <p:nvPr/>
          </p:nvSpPr>
          <p:spPr bwMode="auto">
            <a:xfrm>
              <a:off x="2592" y="1224"/>
              <a:ext cx="341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main_in</a:t>
              </a:r>
            </a:p>
          </p:txBody>
        </p:sp>
        <p:sp>
          <p:nvSpPr>
            <p:cNvPr id="2084" name="Line 36"/>
            <p:cNvSpPr>
              <a:spLocks noChangeShapeType="1"/>
            </p:cNvSpPr>
            <p:nvPr/>
          </p:nvSpPr>
          <p:spPr bwMode="auto">
            <a:xfrm>
              <a:off x="91" y="1654"/>
              <a:ext cx="29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129" y="1537"/>
              <a:ext cx="839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ko-KR" altLang="en-US" sz="800">
                  <a:latin typeface="Arial" charset="0"/>
                  <a:ea typeface="굴림체" pitchFamily="49" charset="-127"/>
                </a:rPr>
                <a:t>속도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CPU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입력의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bit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전개</a:t>
              </a:r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2624" y="1537"/>
              <a:ext cx="284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inv_in</a:t>
              </a:r>
            </a:p>
          </p:txBody>
        </p:sp>
        <p:sp>
          <p:nvSpPr>
            <p:cNvPr id="2087" name="Rectangle 39"/>
            <p:cNvSpPr>
              <a:spLocks noChangeArrowheads="1"/>
            </p:cNvSpPr>
            <p:nvPr/>
          </p:nvSpPr>
          <p:spPr bwMode="auto">
            <a:xfrm>
              <a:off x="2544" y="1532"/>
              <a:ext cx="426" cy="2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8" name="Line 40"/>
            <p:cNvSpPr>
              <a:spLocks noChangeShapeType="1"/>
            </p:cNvSpPr>
            <p:nvPr/>
          </p:nvSpPr>
          <p:spPr bwMode="auto">
            <a:xfrm>
              <a:off x="91" y="1963"/>
              <a:ext cx="29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9" name="Rectangle 41"/>
            <p:cNvSpPr>
              <a:spLocks noChangeArrowheads="1"/>
            </p:cNvSpPr>
            <p:nvPr/>
          </p:nvSpPr>
          <p:spPr bwMode="auto">
            <a:xfrm>
              <a:off x="99" y="1838"/>
              <a:ext cx="341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main_in</a:t>
              </a:r>
            </a:p>
          </p:txBody>
        </p:sp>
        <p:grpSp>
          <p:nvGrpSpPr>
            <p:cNvPr id="3" name="Group 42"/>
            <p:cNvGrpSpPr>
              <a:grpSpLocks/>
            </p:cNvGrpSpPr>
            <p:nvPr/>
          </p:nvGrpSpPr>
          <p:grpSpPr bwMode="auto">
            <a:xfrm>
              <a:off x="400" y="1862"/>
              <a:ext cx="75" cy="76"/>
              <a:chOff x="360" y="1862"/>
              <a:chExt cx="75" cy="76"/>
            </a:xfrm>
          </p:grpSpPr>
          <p:sp>
            <p:nvSpPr>
              <p:cNvPr id="2091" name="Oval 43"/>
              <p:cNvSpPr>
                <a:spLocks noChangeArrowheads="1"/>
              </p:cNvSpPr>
              <p:nvPr/>
            </p:nvSpPr>
            <p:spPr bwMode="auto">
              <a:xfrm>
                <a:off x="362" y="1866"/>
                <a:ext cx="73" cy="7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05" tIns="46002" rIns="92005" bIns="4600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399" y="1862"/>
                <a:ext cx="0" cy="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05" tIns="46002" rIns="92005" bIns="4600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 flipH="1">
                <a:off x="360" y="1904"/>
                <a:ext cx="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05" tIns="46002" rIns="92005" bIns="46002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094" name="Rectangle 46"/>
            <p:cNvSpPr>
              <a:spLocks noChangeArrowheads="1"/>
            </p:cNvSpPr>
            <p:nvPr/>
          </p:nvSpPr>
          <p:spPr bwMode="auto">
            <a:xfrm>
              <a:off x="462" y="1838"/>
              <a:ext cx="284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inv_in</a:t>
              </a:r>
            </a:p>
          </p:txBody>
        </p:sp>
        <p:sp>
          <p:nvSpPr>
            <p:cNvPr id="2095" name="Rectangle 47"/>
            <p:cNvSpPr>
              <a:spLocks noChangeArrowheads="1"/>
            </p:cNvSpPr>
            <p:nvPr/>
          </p:nvSpPr>
          <p:spPr bwMode="auto">
            <a:xfrm>
              <a:off x="2179" y="1835"/>
              <a:ext cx="791" cy="2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6" name="Rectangle 48"/>
            <p:cNvSpPr>
              <a:spLocks noChangeArrowheads="1"/>
            </p:cNvSpPr>
            <p:nvPr/>
          </p:nvSpPr>
          <p:spPr bwMode="auto">
            <a:xfrm>
              <a:off x="2178" y="1845"/>
              <a:ext cx="7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ICD_Dual_Input_Error</a:t>
              </a:r>
            </a:p>
          </p:txBody>
        </p:sp>
        <p:sp>
          <p:nvSpPr>
            <p:cNvPr id="2097" name="Rectangle 49"/>
            <p:cNvSpPr>
              <a:spLocks noChangeArrowheads="1"/>
            </p:cNvSpPr>
            <p:nvPr/>
          </p:nvSpPr>
          <p:spPr bwMode="auto">
            <a:xfrm>
              <a:off x="2411" y="1957"/>
              <a:ext cx="29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en-US" altLang="ko-KR" sz="700">
                  <a:latin typeface="Arial" charset="0"/>
                  <a:ea typeface="굴림체" pitchFamily="49" charset="-127"/>
                </a:rPr>
                <a:t>0x8106</a:t>
              </a:r>
              <a:endParaRPr lang="en-US" altLang="ko-KR" sz="8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98" name="Line 50"/>
            <p:cNvSpPr>
              <a:spLocks noChangeShapeType="1"/>
            </p:cNvSpPr>
            <p:nvPr/>
          </p:nvSpPr>
          <p:spPr bwMode="auto">
            <a:xfrm>
              <a:off x="91" y="2307"/>
              <a:ext cx="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4" name="Group 51"/>
            <p:cNvGrpSpPr>
              <a:grpSpLocks/>
            </p:cNvGrpSpPr>
            <p:nvPr/>
          </p:nvGrpSpPr>
          <p:grpSpPr bwMode="auto">
            <a:xfrm>
              <a:off x="528" y="2263"/>
              <a:ext cx="34" cy="87"/>
              <a:chOff x="895" y="2263"/>
              <a:chExt cx="34" cy="87"/>
            </a:xfrm>
          </p:grpSpPr>
          <p:sp>
            <p:nvSpPr>
              <p:cNvPr id="2100" name="Line 52"/>
              <p:cNvSpPr>
                <a:spLocks noChangeShapeType="1"/>
              </p:cNvSpPr>
              <p:nvPr/>
            </p:nvSpPr>
            <p:spPr bwMode="auto">
              <a:xfrm>
                <a:off x="895" y="2263"/>
                <a:ext cx="0" cy="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05" tIns="46002" rIns="92005" bIns="4600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01" name="Line 53"/>
              <p:cNvSpPr>
                <a:spLocks noChangeShapeType="1"/>
              </p:cNvSpPr>
              <p:nvPr/>
            </p:nvSpPr>
            <p:spPr bwMode="auto">
              <a:xfrm>
                <a:off x="929" y="2263"/>
                <a:ext cx="0" cy="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05" tIns="46002" rIns="92005" bIns="46002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96" y="2112"/>
              <a:ext cx="7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ICD_Dual_Input_Error</a:t>
              </a:r>
            </a:p>
          </p:txBody>
        </p: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286" y="2305"/>
              <a:ext cx="32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0x8106</a:t>
              </a:r>
            </a:p>
          </p:txBody>
        </p:sp>
        <p:sp>
          <p:nvSpPr>
            <p:cNvPr id="2104" name="Line 56"/>
            <p:cNvSpPr>
              <a:spLocks noChangeShapeType="1"/>
            </p:cNvSpPr>
            <p:nvPr/>
          </p:nvSpPr>
          <p:spPr bwMode="auto">
            <a:xfrm>
              <a:off x="576" y="230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5" name="Rectangle 57"/>
            <p:cNvSpPr>
              <a:spLocks noChangeArrowheads="1"/>
            </p:cNvSpPr>
            <p:nvPr/>
          </p:nvSpPr>
          <p:spPr bwMode="auto">
            <a:xfrm>
              <a:off x="2640" y="2184"/>
              <a:ext cx="325" cy="2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6" name="Rectangle 58"/>
            <p:cNvSpPr>
              <a:spLocks noChangeArrowheads="1"/>
            </p:cNvSpPr>
            <p:nvPr/>
          </p:nvSpPr>
          <p:spPr bwMode="auto">
            <a:xfrm>
              <a:off x="2640" y="2184"/>
              <a:ext cx="337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TCD 99</a:t>
              </a:r>
            </a:p>
          </p:txBody>
        </p:sp>
        <p:sp>
          <p:nvSpPr>
            <p:cNvPr id="2107" name="Line 59"/>
            <p:cNvSpPr>
              <a:spLocks noChangeShapeType="1"/>
            </p:cNvSpPr>
            <p:nvPr/>
          </p:nvSpPr>
          <p:spPr bwMode="auto">
            <a:xfrm>
              <a:off x="1152" y="230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108" name="Line 60"/>
            <p:cNvSpPr>
              <a:spLocks noChangeShapeType="1"/>
            </p:cNvSpPr>
            <p:nvPr/>
          </p:nvSpPr>
          <p:spPr bwMode="auto">
            <a:xfrm>
              <a:off x="1192" y="2308"/>
              <a:ext cx="18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5" name="Group 61"/>
            <p:cNvGrpSpPr>
              <a:grpSpLocks/>
            </p:cNvGrpSpPr>
            <p:nvPr/>
          </p:nvGrpSpPr>
          <p:grpSpPr bwMode="auto">
            <a:xfrm>
              <a:off x="1152" y="2256"/>
              <a:ext cx="34" cy="87"/>
              <a:chOff x="895" y="2263"/>
              <a:chExt cx="34" cy="87"/>
            </a:xfrm>
          </p:grpSpPr>
          <p:sp>
            <p:nvSpPr>
              <p:cNvPr id="2110" name="Line 62"/>
              <p:cNvSpPr>
                <a:spLocks noChangeShapeType="1"/>
              </p:cNvSpPr>
              <p:nvPr/>
            </p:nvSpPr>
            <p:spPr bwMode="auto">
              <a:xfrm>
                <a:off x="895" y="2263"/>
                <a:ext cx="0" cy="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05" tIns="46002" rIns="92005" bIns="4600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1" name="Line 63"/>
              <p:cNvSpPr>
                <a:spLocks noChangeShapeType="1"/>
              </p:cNvSpPr>
              <p:nvPr/>
            </p:nvSpPr>
            <p:spPr bwMode="auto">
              <a:xfrm>
                <a:off x="929" y="2263"/>
                <a:ext cx="0" cy="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05" tIns="46002" rIns="92005" bIns="46002">
                <a:spAutoFit/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6" name="Group 64"/>
            <p:cNvGrpSpPr>
              <a:grpSpLocks/>
            </p:cNvGrpSpPr>
            <p:nvPr/>
          </p:nvGrpSpPr>
          <p:grpSpPr bwMode="auto">
            <a:xfrm>
              <a:off x="1152" y="2592"/>
              <a:ext cx="34" cy="87"/>
              <a:chOff x="895" y="2263"/>
              <a:chExt cx="34" cy="87"/>
            </a:xfrm>
          </p:grpSpPr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>
                <a:off x="895" y="2263"/>
                <a:ext cx="0" cy="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05" tIns="46002" rIns="92005" bIns="46002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929" y="2263"/>
                <a:ext cx="0" cy="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05" tIns="46002" rIns="92005" bIns="46002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115" name="Line 67"/>
            <p:cNvSpPr>
              <a:spLocks noChangeShapeType="1"/>
            </p:cNvSpPr>
            <p:nvPr/>
          </p:nvSpPr>
          <p:spPr bwMode="auto">
            <a:xfrm flipH="1">
              <a:off x="1104" y="2572"/>
              <a:ext cx="116" cy="1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6" name="Line 68"/>
            <p:cNvSpPr>
              <a:spLocks noChangeShapeType="1"/>
            </p:cNvSpPr>
            <p:nvPr/>
          </p:nvSpPr>
          <p:spPr bwMode="auto">
            <a:xfrm>
              <a:off x="1192" y="2628"/>
              <a:ext cx="18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7" name="Rectangle 69"/>
            <p:cNvSpPr>
              <a:spLocks noChangeArrowheads="1"/>
            </p:cNvSpPr>
            <p:nvPr/>
          </p:nvSpPr>
          <p:spPr bwMode="auto">
            <a:xfrm>
              <a:off x="2448" y="2496"/>
              <a:ext cx="517" cy="2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endParaRPr lang="ko-KR" altLang="en-US"/>
            </a:p>
          </p:txBody>
        </p:sp>
        <p:sp>
          <p:nvSpPr>
            <p:cNvPr id="2118" name="Rectangle 70"/>
            <p:cNvSpPr>
              <a:spLocks noChangeArrowheads="1"/>
            </p:cNvSpPr>
            <p:nvPr/>
          </p:nvSpPr>
          <p:spPr bwMode="auto">
            <a:xfrm>
              <a:off x="2448" y="2496"/>
              <a:ext cx="480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err_count ++</a:t>
              </a:r>
            </a:p>
          </p:txBody>
        </p:sp>
        <p:sp>
          <p:nvSpPr>
            <p:cNvPr id="2119" name="Rectangle 71"/>
            <p:cNvSpPr>
              <a:spLocks noChangeArrowheads="1"/>
            </p:cNvSpPr>
            <p:nvPr/>
          </p:nvSpPr>
          <p:spPr bwMode="auto">
            <a:xfrm>
              <a:off x="1004" y="2128"/>
              <a:ext cx="534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05" tIns="46002" rIns="92005" bIns="46002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err_count &gt;= 7</a:t>
              </a:r>
            </a:p>
          </p:txBody>
        </p:sp>
      </p:grpSp>
      <p:sp>
        <p:nvSpPr>
          <p:cNvPr id="2120" name="Rectangle 72"/>
          <p:cNvSpPr>
            <a:spLocks noChangeArrowheads="1"/>
          </p:cNvSpPr>
          <p:nvPr/>
        </p:nvSpPr>
        <p:spPr bwMode="auto">
          <a:xfrm>
            <a:off x="0" y="464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참조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grpSp>
        <p:nvGrpSpPr>
          <p:cNvPr id="7" name="Group 73"/>
          <p:cNvGrpSpPr>
            <a:grpSpLocks/>
          </p:cNvGrpSpPr>
          <p:nvPr/>
        </p:nvGrpSpPr>
        <p:grpSpPr bwMode="auto">
          <a:xfrm>
            <a:off x="258763" y="5073650"/>
            <a:ext cx="4525962" cy="1057275"/>
            <a:chOff x="158" y="3196"/>
            <a:chExt cx="2851" cy="666"/>
          </a:xfrm>
        </p:grpSpPr>
        <p:grpSp>
          <p:nvGrpSpPr>
            <p:cNvPr id="8" name="Group 74"/>
            <p:cNvGrpSpPr>
              <a:grpSpLocks/>
            </p:cNvGrpSpPr>
            <p:nvPr/>
          </p:nvGrpSpPr>
          <p:grpSpPr bwMode="auto">
            <a:xfrm>
              <a:off x="158" y="3196"/>
              <a:ext cx="2849" cy="310"/>
              <a:chOff x="158" y="3196"/>
              <a:chExt cx="2849" cy="310"/>
            </a:xfrm>
          </p:grpSpPr>
          <p:sp>
            <p:nvSpPr>
              <p:cNvPr id="2123" name="Rectangle 75"/>
              <p:cNvSpPr>
                <a:spLocks noChangeArrowheads="1"/>
              </p:cNvSpPr>
              <p:nvPr/>
            </p:nvSpPr>
            <p:spPr bwMode="auto">
              <a:xfrm>
                <a:off x="190" y="3317"/>
                <a:ext cx="2817" cy="18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4" name="Rectangle 76"/>
              <p:cNvSpPr>
                <a:spLocks noChangeArrowheads="1"/>
              </p:cNvSpPr>
              <p:nvPr/>
            </p:nvSpPr>
            <p:spPr bwMode="auto">
              <a:xfrm>
                <a:off x="158" y="3196"/>
                <a:ext cx="2762" cy="1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     b15             b14               b13              b12             b11              b10              b9               b8</a:t>
                </a:r>
              </a:p>
            </p:txBody>
          </p:sp>
        </p:grpSp>
        <p:grpSp>
          <p:nvGrpSpPr>
            <p:cNvPr id="9" name="Group 77"/>
            <p:cNvGrpSpPr>
              <a:grpSpLocks/>
            </p:cNvGrpSpPr>
            <p:nvPr/>
          </p:nvGrpSpPr>
          <p:grpSpPr bwMode="auto">
            <a:xfrm>
              <a:off x="192" y="3552"/>
              <a:ext cx="2817" cy="310"/>
              <a:chOff x="192" y="3600"/>
              <a:chExt cx="2817" cy="310"/>
            </a:xfrm>
          </p:grpSpPr>
          <p:sp>
            <p:nvSpPr>
              <p:cNvPr id="2126" name="Rectangle 78"/>
              <p:cNvSpPr>
                <a:spLocks noChangeArrowheads="1"/>
              </p:cNvSpPr>
              <p:nvPr/>
            </p:nvSpPr>
            <p:spPr bwMode="auto">
              <a:xfrm>
                <a:off x="192" y="3721"/>
                <a:ext cx="2817" cy="18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7" name="Line 79"/>
              <p:cNvSpPr>
                <a:spLocks noChangeShapeType="1"/>
              </p:cNvSpPr>
              <p:nvPr/>
            </p:nvSpPr>
            <p:spPr bwMode="auto">
              <a:xfrm>
                <a:off x="1632" y="3722"/>
                <a:ext cx="0" cy="1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>
                <a:off x="1975" y="3722"/>
                <a:ext cx="0" cy="1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29" name="Line 81"/>
              <p:cNvSpPr>
                <a:spLocks noChangeShapeType="1"/>
              </p:cNvSpPr>
              <p:nvPr/>
            </p:nvSpPr>
            <p:spPr bwMode="auto">
              <a:xfrm>
                <a:off x="919" y="3722"/>
                <a:ext cx="0" cy="1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>
                <a:off x="2339" y="3722"/>
                <a:ext cx="0" cy="1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>
                <a:off x="576" y="3723"/>
                <a:ext cx="0" cy="1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>
                <a:off x="1278" y="3723"/>
                <a:ext cx="0" cy="1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>
                <a:off x="2688" y="3723"/>
                <a:ext cx="0" cy="1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134" name="Rectangle 86"/>
              <p:cNvSpPr>
                <a:spLocks noChangeArrowheads="1"/>
              </p:cNvSpPr>
              <p:nvPr/>
            </p:nvSpPr>
            <p:spPr bwMode="auto">
              <a:xfrm>
                <a:off x="192" y="3600"/>
                <a:ext cx="2798" cy="1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     b7                 b6               b5                b4               b3                b2                b1                 b0</a:t>
                </a:r>
              </a:p>
            </p:txBody>
          </p:sp>
          <p:sp>
            <p:nvSpPr>
              <p:cNvPr id="2135" name="Rectangle 87"/>
              <p:cNvSpPr>
                <a:spLocks noChangeArrowheads="1"/>
              </p:cNvSpPr>
              <p:nvPr/>
            </p:nvSpPr>
            <p:spPr bwMode="auto">
              <a:xfrm>
                <a:off x="192" y="3744"/>
                <a:ext cx="2817" cy="1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59" tIns="46029" rIns="92059" bIns="46029">
                <a:spAutoFit/>
              </a:bodyPr>
              <a:lstStyle/>
              <a:p>
                <a:pPr latinLnBrk="0"/>
                <a:r>
                  <a:rPr lang="en-US" altLang="ko-KR" sz="800">
                    <a:latin typeface="Arial" charset="0"/>
                    <a:ea typeface="굴림체" pitchFamily="49" charset="-127"/>
                  </a:rPr>
                  <a:t>    SD1D          SD1U           LDC            DOLS          R2LD         C1BR           C1ST          R5SC</a:t>
                </a:r>
              </a:p>
            </p:txBody>
          </p:sp>
        </p:grpSp>
      </p:grpSp>
      <p:sp>
        <p:nvSpPr>
          <p:cNvPr id="2136" name="Rectangle 88"/>
          <p:cNvSpPr>
            <a:spLocks noChangeArrowheads="1"/>
          </p:cNvSpPr>
          <p:nvPr/>
        </p:nvSpPr>
        <p:spPr bwMode="auto">
          <a:xfrm>
            <a:off x="8232775" y="457200"/>
            <a:ext cx="8429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130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ER_WEIGHT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57213" y="855663"/>
            <a:ext cx="2044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>
                <a:latin typeface="Arial" charset="0"/>
                <a:ea typeface="굴림체" pitchFamily="49" charset="-127"/>
              </a:rPr>
              <a:t>부하장치 입력 값 이상 시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  <a:endParaRPr lang="ko-KR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123950"/>
            <a:ext cx="4029075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ko-KR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차동트랜스를 사용하는 경우    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이용하여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No Load Point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설정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(A61E)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와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Full Load Point(A62E)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설정을 다시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순서는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No Load Point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설정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Full Load Point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역순으로 할 때는 같은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발생 할 소지가 있다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카의 부하측정값 확인 모드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(A86E)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이용하여 채널 값이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정상적으로 나오는 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만약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값이 나오면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단선여부를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endParaRPr lang="en-US" altLang="ko-KR" sz="1000">
              <a:latin typeface="Arial" charset="0"/>
              <a:ea typeface="굴림체" pitchFamily="49" charset="-127"/>
            </a:endParaRP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2. Strain Gauge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사용하는 경우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이용하여 부하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 조정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(A64E)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그래도 설정한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부하량이 이상이 있으면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No Load Point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설정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(A61E), 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Full Load Point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설정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(A62E),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보상체인 부하 보정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(A63)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다시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카의 부하측정값 확인 모드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(A86E)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이용하여 채널 값이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정상적으로 나오는 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만약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값이 나오면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DCL-241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POT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이상 여부와 단선 여부를 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endParaRPr lang="ko-KR" altLang="ko-KR" sz="1000">
              <a:latin typeface="Arial" charset="0"/>
              <a:ea typeface="굴림체" pitchFamily="49" charset="-127"/>
            </a:endParaRPr>
          </a:p>
          <a:p>
            <a:r>
              <a:rPr lang="ko-KR" altLang="ko-KR" sz="1000">
                <a:latin typeface="Arial" charset="0"/>
                <a:ea typeface="굴림체" pitchFamily="49" charset="-127"/>
              </a:rPr>
              <a:t> * 채널 값은 ANN의 3행에서 표시됨.</a:t>
            </a:r>
          </a:p>
          <a:p>
            <a:r>
              <a:rPr lang="ko-KR" altLang="ko-KR" sz="1000">
                <a:latin typeface="Arial" charset="0"/>
                <a:ea typeface="굴림체" pitchFamily="49" charset="-127"/>
              </a:rPr>
              <a:t>   차동트랜스인 경우에는 채널 수에 따라 채널 1 ~ 4까지 표시되고,</a:t>
            </a:r>
          </a:p>
          <a:p>
            <a:r>
              <a:rPr lang="ko-KR" altLang="ko-KR" sz="1000">
                <a:latin typeface="Arial" charset="0"/>
                <a:ea typeface="굴림체" pitchFamily="49" charset="-127"/>
              </a:rPr>
              <a:t>   Strain Gauge인 경우에는 채널 1만 유효한 값임.</a:t>
            </a:r>
          </a:p>
          <a:p>
            <a:r>
              <a:rPr lang="ko-KR" altLang="ko-KR" sz="1000">
                <a:latin typeface="Arial" charset="0"/>
                <a:ea typeface="굴림체" pitchFamily="49" charset="-127"/>
              </a:rPr>
              <a:t> * Strain Gauge의 설정 방법은 설치메뉴얼을 참조.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550" y="1873250"/>
            <a:ext cx="4419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ko-KR" altLang="en-US" sz="1000">
                <a:latin typeface="Arial" charset="0"/>
                <a:ea typeface="굴림체" pitchFamily="49" charset="-127"/>
              </a:rPr>
              <a:t>부하장치의 입력 값을 이용하여 부하량을 계산한 값이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135%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초과하거나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-25%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미만이 경우가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이때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110%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이상의 부하량은 부하보상을 하기 위한 부하량을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110%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  <a:r>
              <a:rPr lang="en-US" altLang="ko-KR" sz="800">
                <a:latin typeface="Arial" charset="0"/>
                <a:ea typeface="굴림체" pitchFamily="49" charset="-127"/>
              </a:rPr>
              <a:t> 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0" y="39624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152400" y="4267200"/>
            <a:ext cx="4419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DOOR OPEN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대기한 후 고속 운전 불가 상태가 됨</a:t>
            </a:r>
            <a:r>
              <a:rPr lang="ko-KR" altLang="en-US" sz="800">
                <a:latin typeface="Arial" charset="0"/>
                <a:ea typeface="굴림체" pitchFamily="49" charset="-127"/>
              </a:rPr>
              <a:t>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132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15240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ER_OPEN_LOCK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4989513" y="1735138"/>
            <a:ext cx="4064000" cy="463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DOOR Sill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이물질로 인하여 구동이 안되는 경우 이물질을 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제거한다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기구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BOX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DMC CUT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NORMAL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위치에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OPEN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출력을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DOA-100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발생 중임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CA-01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측정하여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0.7V ± 0.1V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현재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TURN-ON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정상적으로 출력중임을 나타냄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잠시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R2LD RELAY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AB-15(LDS)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CA-08(CDS)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열리면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AB-15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CA-08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0V level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나와야 정상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동작 후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완전히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칠 때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DOA-100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입력이 정상임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경우 입력상태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BIT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CA-07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측정한다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0V±0.5V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검출되면 외부 조건은 정상이므로  결선확인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48V±10%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검출될 경우 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스위치의 접점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상태를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1) 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DMC_CUT2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시키고 전개 위치까지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 수동 개방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 상의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 여부를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2) 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LD5(OLS/CLS)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점등 여부를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RDZ Relay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정상적으로 동작하는지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도어 존에서는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Relay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점등 되고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도어 존 외에서는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소등 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33400" y="838200"/>
            <a:ext cx="16271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DOOR OPEN LOCK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52400" y="1944688"/>
            <a:ext cx="0" cy="4760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4876800" y="1905000"/>
            <a:ext cx="0" cy="480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152400" y="2286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762000" y="22860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184150" y="4994275"/>
            <a:ext cx="1490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TMC_Check(OPEN_LOCK_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DETECT_T,FINISH_STATE)</a:t>
            </a:r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>
            <a:off x="152400" y="3886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1447800" y="45720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4114800" y="6172200"/>
            <a:ext cx="6350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4144963" y="6208713"/>
            <a:ext cx="59213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TCD 132</a:t>
            </a:r>
          </a:p>
        </p:txBody>
      </p:sp>
      <p:sp>
        <p:nvSpPr>
          <p:cNvPr id="2078" name="Line 30"/>
          <p:cNvSpPr>
            <a:spLocks noChangeShapeType="1"/>
          </p:cNvSpPr>
          <p:nvPr/>
        </p:nvSpPr>
        <p:spPr bwMode="auto">
          <a:xfrm>
            <a:off x="1524000" y="2286000"/>
            <a:ext cx="78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9" name="Line 31"/>
          <p:cNvSpPr>
            <a:spLocks noChangeShapeType="1"/>
          </p:cNvSpPr>
          <p:nvPr/>
        </p:nvSpPr>
        <p:spPr bwMode="auto">
          <a:xfrm flipV="1">
            <a:off x="4495800" y="2286000"/>
            <a:ext cx="0" cy="349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0" name="Line 32"/>
          <p:cNvSpPr>
            <a:spLocks noChangeShapeType="1"/>
          </p:cNvSpPr>
          <p:nvPr/>
        </p:nvSpPr>
        <p:spPr bwMode="auto">
          <a:xfrm flipH="1">
            <a:off x="360363" y="2632075"/>
            <a:ext cx="41354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1" name="Line 33"/>
          <p:cNvSpPr>
            <a:spLocks noChangeShapeType="1"/>
          </p:cNvSpPr>
          <p:nvPr/>
        </p:nvSpPr>
        <p:spPr bwMode="auto">
          <a:xfrm>
            <a:off x="360363" y="2638425"/>
            <a:ext cx="0" cy="409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2" name="Line 34"/>
          <p:cNvSpPr>
            <a:spLocks noChangeShapeType="1"/>
          </p:cNvSpPr>
          <p:nvPr/>
        </p:nvSpPr>
        <p:spPr bwMode="auto">
          <a:xfrm flipH="1">
            <a:off x="347663" y="3060700"/>
            <a:ext cx="3762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3" name="Line 35"/>
          <p:cNvSpPr>
            <a:spLocks noChangeShapeType="1"/>
          </p:cNvSpPr>
          <p:nvPr/>
        </p:nvSpPr>
        <p:spPr bwMode="auto">
          <a:xfrm>
            <a:off x="914400" y="3060700"/>
            <a:ext cx="387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4037013" y="2843213"/>
            <a:ext cx="6350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5" name="Line 37"/>
          <p:cNvSpPr>
            <a:spLocks noChangeShapeType="1"/>
          </p:cNvSpPr>
          <p:nvPr/>
        </p:nvSpPr>
        <p:spPr bwMode="auto">
          <a:xfrm>
            <a:off x="3276600" y="3060700"/>
            <a:ext cx="1606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4002088" y="284003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3278188" y="3733800"/>
            <a:ext cx="1462087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8" name="Line 40"/>
          <p:cNvSpPr>
            <a:spLocks noChangeShapeType="1"/>
          </p:cNvSpPr>
          <p:nvPr/>
        </p:nvSpPr>
        <p:spPr bwMode="auto">
          <a:xfrm>
            <a:off x="838200" y="38862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228600" y="3581400"/>
            <a:ext cx="6508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90" name="Rectangle 42"/>
          <p:cNvSpPr>
            <a:spLocks noChangeArrowheads="1"/>
          </p:cNvSpPr>
          <p:nvPr/>
        </p:nvSpPr>
        <p:spPr bwMode="auto">
          <a:xfrm>
            <a:off x="2212975" y="232092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0x9082</a:t>
            </a:r>
          </a:p>
        </p:txBody>
      </p:sp>
      <p:sp>
        <p:nvSpPr>
          <p:cNvPr id="2091" name="Line 43"/>
          <p:cNvSpPr>
            <a:spLocks noChangeShapeType="1"/>
          </p:cNvSpPr>
          <p:nvPr/>
        </p:nvSpPr>
        <p:spPr bwMode="auto">
          <a:xfrm>
            <a:off x="2514600" y="2286000"/>
            <a:ext cx="952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2" name="Line 44"/>
          <p:cNvSpPr>
            <a:spLocks noChangeShapeType="1"/>
          </p:cNvSpPr>
          <p:nvPr/>
        </p:nvSpPr>
        <p:spPr bwMode="auto">
          <a:xfrm flipH="1">
            <a:off x="838200" y="4953000"/>
            <a:ext cx="2405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3" name="Line 45"/>
          <p:cNvSpPr>
            <a:spLocks noChangeShapeType="1"/>
          </p:cNvSpPr>
          <p:nvPr/>
        </p:nvSpPr>
        <p:spPr bwMode="auto">
          <a:xfrm>
            <a:off x="2514600" y="30480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4" name="Line 46"/>
          <p:cNvSpPr>
            <a:spLocks noChangeShapeType="1"/>
          </p:cNvSpPr>
          <p:nvPr/>
        </p:nvSpPr>
        <p:spPr bwMode="auto">
          <a:xfrm>
            <a:off x="2514600" y="34290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5" name="Line 47"/>
          <p:cNvSpPr>
            <a:spLocks noChangeShapeType="1"/>
          </p:cNvSpPr>
          <p:nvPr/>
        </p:nvSpPr>
        <p:spPr bwMode="auto">
          <a:xfrm>
            <a:off x="3124200" y="3429000"/>
            <a:ext cx="5984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222250" y="1866900"/>
            <a:ext cx="685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Coil[RS_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RUNNING]</a:t>
            </a:r>
          </a:p>
        </p:txBody>
      </p:sp>
      <p:sp>
        <p:nvSpPr>
          <p:cNvPr id="2097" name="Rectangle 49"/>
          <p:cNvSpPr>
            <a:spLocks noChangeArrowheads="1"/>
          </p:cNvSpPr>
          <p:nvPr/>
        </p:nvSpPr>
        <p:spPr bwMode="auto">
          <a:xfrm>
            <a:off x="1911350" y="1962150"/>
            <a:ext cx="8445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Coil[DC_DCO]</a:t>
            </a:r>
          </a:p>
        </p:txBody>
      </p:sp>
      <p:sp>
        <p:nvSpPr>
          <p:cNvPr id="2098" name="Rectangle 50"/>
          <p:cNvSpPr>
            <a:spLocks noChangeArrowheads="1"/>
          </p:cNvSpPr>
          <p:nvPr/>
        </p:nvSpPr>
        <p:spPr bwMode="auto">
          <a:xfrm>
            <a:off x="2921000" y="1854200"/>
            <a:ext cx="1041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Coil[SW_SS_48V_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DOWN_HOLD]</a:t>
            </a:r>
          </a:p>
        </p:txBody>
      </p:sp>
      <p:sp>
        <p:nvSpPr>
          <p:cNvPr id="2099" name="Line 51"/>
          <p:cNvSpPr>
            <a:spLocks noChangeShapeType="1"/>
          </p:cNvSpPr>
          <p:nvPr/>
        </p:nvSpPr>
        <p:spPr bwMode="auto">
          <a:xfrm>
            <a:off x="3429000" y="2286000"/>
            <a:ext cx="1047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0" name="Rectangle 52"/>
          <p:cNvSpPr>
            <a:spLocks noChangeArrowheads="1"/>
          </p:cNvSpPr>
          <p:nvPr/>
        </p:nvSpPr>
        <p:spPr bwMode="auto">
          <a:xfrm>
            <a:off x="228600" y="3124200"/>
            <a:ext cx="8683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ERD_Door_Err</a:t>
            </a:r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4724400" y="38862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2" name="Rectangle 54"/>
          <p:cNvSpPr>
            <a:spLocks noChangeArrowheads="1"/>
          </p:cNvSpPr>
          <p:nvPr/>
        </p:nvSpPr>
        <p:spPr bwMode="auto">
          <a:xfrm>
            <a:off x="341313" y="2300288"/>
            <a:ext cx="4889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0x91B0</a:t>
            </a:r>
          </a:p>
        </p:txBody>
      </p:sp>
      <p:sp>
        <p:nvSpPr>
          <p:cNvPr id="2103" name="Rectangle 55"/>
          <p:cNvSpPr>
            <a:spLocks noChangeArrowheads="1"/>
          </p:cNvSpPr>
          <p:nvPr/>
        </p:nvSpPr>
        <p:spPr bwMode="auto">
          <a:xfrm>
            <a:off x="1060450" y="1955800"/>
            <a:ext cx="8969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Coil[DC_DOLS]</a:t>
            </a:r>
          </a:p>
        </p:txBody>
      </p:sp>
      <p:sp>
        <p:nvSpPr>
          <p:cNvPr id="2104" name="Rectangle 56"/>
          <p:cNvSpPr>
            <a:spLocks noChangeArrowheads="1"/>
          </p:cNvSpPr>
          <p:nvPr/>
        </p:nvSpPr>
        <p:spPr bwMode="auto">
          <a:xfrm>
            <a:off x="1193800" y="2322513"/>
            <a:ext cx="6159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0x90A6</a:t>
            </a:r>
          </a:p>
        </p:txBody>
      </p:sp>
      <p:sp>
        <p:nvSpPr>
          <p:cNvPr id="2105" name="Line 57"/>
          <p:cNvSpPr>
            <a:spLocks noChangeShapeType="1"/>
          </p:cNvSpPr>
          <p:nvPr/>
        </p:nvSpPr>
        <p:spPr bwMode="auto">
          <a:xfrm>
            <a:off x="1447800" y="30607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6" name="Line 58"/>
          <p:cNvSpPr>
            <a:spLocks noChangeShapeType="1"/>
          </p:cNvSpPr>
          <p:nvPr/>
        </p:nvSpPr>
        <p:spPr bwMode="auto">
          <a:xfrm>
            <a:off x="3727450" y="3054350"/>
            <a:ext cx="0" cy="374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7" name="Rectangle 59"/>
          <p:cNvSpPr>
            <a:spLocks noChangeArrowheads="1"/>
          </p:cNvSpPr>
          <p:nvPr/>
        </p:nvSpPr>
        <p:spPr bwMode="auto">
          <a:xfrm>
            <a:off x="889000" y="2667000"/>
            <a:ext cx="920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Coil[A_AUTO_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DOOR_CLOSE]</a:t>
            </a:r>
          </a:p>
        </p:txBody>
      </p:sp>
      <p:sp>
        <p:nvSpPr>
          <p:cNvPr id="2108" name="Rectangle 60"/>
          <p:cNvSpPr>
            <a:spLocks noChangeArrowheads="1"/>
          </p:cNvSpPr>
          <p:nvPr/>
        </p:nvSpPr>
        <p:spPr bwMode="auto">
          <a:xfrm>
            <a:off x="1206500" y="31242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0x9050</a:t>
            </a:r>
          </a:p>
        </p:txBody>
      </p:sp>
      <p:sp>
        <p:nvSpPr>
          <p:cNvPr id="2109" name="Rectangle 61"/>
          <p:cNvSpPr>
            <a:spLocks noChangeArrowheads="1"/>
          </p:cNvSpPr>
          <p:nvPr/>
        </p:nvSpPr>
        <p:spPr bwMode="auto">
          <a:xfrm>
            <a:off x="1825625" y="3114675"/>
            <a:ext cx="615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0x9256</a:t>
            </a:r>
          </a:p>
        </p:txBody>
      </p:sp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1752600" y="2667000"/>
            <a:ext cx="8413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Coil[SW_GS_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OPEN_ZONE]</a:t>
            </a:r>
          </a:p>
        </p:txBody>
      </p:sp>
      <p:sp>
        <p:nvSpPr>
          <p:cNvPr id="2111" name="Rectangle 63"/>
          <p:cNvSpPr>
            <a:spLocks noChangeArrowheads="1"/>
          </p:cNvSpPr>
          <p:nvPr/>
        </p:nvSpPr>
        <p:spPr bwMode="auto">
          <a:xfrm>
            <a:off x="2598738" y="2781300"/>
            <a:ext cx="109696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SWD_O[VO_R2OP]</a:t>
            </a:r>
          </a:p>
        </p:txBody>
      </p:sp>
      <p:sp>
        <p:nvSpPr>
          <p:cNvPr id="2112" name="Rectangle 64"/>
          <p:cNvSpPr>
            <a:spLocks noChangeArrowheads="1"/>
          </p:cNvSpPr>
          <p:nvPr/>
        </p:nvSpPr>
        <p:spPr bwMode="auto">
          <a:xfrm>
            <a:off x="3046413" y="3103563"/>
            <a:ext cx="4826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0x8083</a:t>
            </a:r>
          </a:p>
        </p:txBody>
      </p:sp>
      <p:sp>
        <p:nvSpPr>
          <p:cNvPr id="2113" name="Rectangle 65"/>
          <p:cNvSpPr>
            <a:spLocks noChangeArrowheads="1"/>
          </p:cNvSpPr>
          <p:nvPr/>
        </p:nvSpPr>
        <p:spPr bwMode="auto">
          <a:xfrm>
            <a:off x="1722438" y="3429000"/>
            <a:ext cx="277018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TMC_Check(OPEN_LOCK_DETECT_T,FINISH_STATE)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1143000" y="2209800"/>
            <a:ext cx="533400" cy="152400"/>
            <a:chOff x="1512" y="1536"/>
            <a:chExt cx="336" cy="96"/>
          </a:xfrm>
        </p:grpSpPr>
        <p:grpSp>
          <p:nvGrpSpPr>
            <p:cNvPr id="3" name="Group 67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20" name="Line 72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73"/>
          <p:cNvGrpSpPr>
            <a:grpSpLocks/>
          </p:cNvGrpSpPr>
          <p:nvPr/>
        </p:nvGrpSpPr>
        <p:grpSpPr bwMode="auto">
          <a:xfrm>
            <a:off x="2133600" y="2209800"/>
            <a:ext cx="533400" cy="152400"/>
            <a:chOff x="1512" y="1536"/>
            <a:chExt cx="336" cy="96"/>
          </a:xfrm>
        </p:grpSpPr>
        <p:grpSp>
          <p:nvGrpSpPr>
            <p:cNvPr id="5" name="Group 74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4" name="Line 76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5" name="Line 77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6" name="Line 78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27" name="Line 79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80"/>
          <p:cNvGrpSpPr>
            <a:grpSpLocks/>
          </p:cNvGrpSpPr>
          <p:nvPr/>
        </p:nvGrpSpPr>
        <p:grpSpPr bwMode="auto">
          <a:xfrm>
            <a:off x="2908300" y="2209800"/>
            <a:ext cx="533400" cy="152400"/>
            <a:chOff x="1512" y="1536"/>
            <a:chExt cx="336" cy="96"/>
          </a:xfrm>
        </p:grpSpPr>
        <p:grpSp>
          <p:nvGrpSpPr>
            <p:cNvPr id="7" name="Group 81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34" name="Line 86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8" name="Group 87"/>
          <p:cNvGrpSpPr>
            <a:grpSpLocks/>
          </p:cNvGrpSpPr>
          <p:nvPr/>
        </p:nvGrpSpPr>
        <p:grpSpPr bwMode="auto">
          <a:xfrm>
            <a:off x="514350" y="2984500"/>
            <a:ext cx="533400" cy="152400"/>
            <a:chOff x="1512" y="1536"/>
            <a:chExt cx="336" cy="96"/>
          </a:xfrm>
        </p:grpSpPr>
        <p:grpSp>
          <p:nvGrpSpPr>
            <p:cNvPr id="9" name="Group 88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37" name="Line 89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8" name="Line 90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41" name="Line 93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0" name="Group 94"/>
          <p:cNvGrpSpPr>
            <a:grpSpLocks/>
          </p:cNvGrpSpPr>
          <p:nvPr/>
        </p:nvGrpSpPr>
        <p:grpSpPr bwMode="auto">
          <a:xfrm>
            <a:off x="2819400" y="3352800"/>
            <a:ext cx="533400" cy="152400"/>
            <a:chOff x="264" y="1536"/>
            <a:chExt cx="336" cy="96"/>
          </a:xfrm>
        </p:grpSpPr>
        <p:sp>
          <p:nvSpPr>
            <p:cNvPr id="2143" name="Line 95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4" name="Line 96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6" name="Line 98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1" name="Group 99"/>
          <p:cNvGrpSpPr>
            <a:grpSpLocks/>
          </p:cNvGrpSpPr>
          <p:nvPr/>
        </p:nvGrpSpPr>
        <p:grpSpPr bwMode="auto">
          <a:xfrm>
            <a:off x="2819400" y="2984500"/>
            <a:ext cx="533400" cy="152400"/>
            <a:chOff x="264" y="1536"/>
            <a:chExt cx="336" cy="96"/>
          </a:xfrm>
        </p:grpSpPr>
        <p:sp>
          <p:nvSpPr>
            <p:cNvPr id="2148" name="Line 100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9" name="Line 101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0" name="Line 102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" name="Line 103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2" name="Group 104"/>
          <p:cNvGrpSpPr>
            <a:grpSpLocks/>
          </p:cNvGrpSpPr>
          <p:nvPr/>
        </p:nvGrpSpPr>
        <p:grpSpPr bwMode="auto">
          <a:xfrm>
            <a:off x="1847850" y="2984500"/>
            <a:ext cx="533400" cy="152400"/>
            <a:chOff x="264" y="1536"/>
            <a:chExt cx="336" cy="96"/>
          </a:xfrm>
        </p:grpSpPr>
        <p:sp>
          <p:nvSpPr>
            <p:cNvPr id="2153" name="Line 105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4" name="Line 106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3" name="Group 109"/>
          <p:cNvGrpSpPr>
            <a:grpSpLocks/>
          </p:cNvGrpSpPr>
          <p:nvPr/>
        </p:nvGrpSpPr>
        <p:grpSpPr bwMode="auto">
          <a:xfrm>
            <a:off x="1079500" y="2984500"/>
            <a:ext cx="533400" cy="152400"/>
            <a:chOff x="264" y="1536"/>
            <a:chExt cx="336" cy="96"/>
          </a:xfrm>
        </p:grpSpPr>
        <p:sp>
          <p:nvSpPr>
            <p:cNvPr id="2158" name="Line 110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1" name="Line 113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62" name="Line 114"/>
          <p:cNvSpPr>
            <a:spLocks noChangeShapeType="1"/>
          </p:cNvSpPr>
          <p:nvPr/>
        </p:nvSpPr>
        <p:spPr bwMode="auto">
          <a:xfrm>
            <a:off x="2286000" y="30607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4" name="Group 115"/>
          <p:cNvGrpSpPr>
            <a:grpSpLocks/>
          </p:cNvGrpSpPr>
          <p:nvPr/>
        </p:nvGrpSpPr>
        <p:grpSpPr bwMode="auto">
          <a:xfrm>
            <a:off x="533400" y="5257800"/>
            <a:ext cx="533400" cy="152400"/>
            <a:chOff x="264" y="1536"/>
            <a:chExt cx="336" cy="96"/>
          </a:xfrm>
        </p:grpSpPr>
        <p:sp>
          <p:nvSpPr>
            <p:cNvPr id="2164" name="Line 116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5" name="Line 117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6" name="Line 118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7" name="Line 119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5" name="Group 120"/>
          <p:cNvGrpSpPr>
            <a:grpSpLocks/>
          </p:cNvGrpSpPr>
          <p:nvPr/>
        </p:nvGrpSpPr>
        <p:grpSpPr bwMode="auto">
          <a:xfrm>
            <a:off x="304800" y="3810000"/>
            <a:ext cx="533400" cy="152400"/>
            <a:chOff x="264" y="1536"/>
            <a:chExt cx="336" cy="96"/>
          </a:xfrm>
        </p:grpSpPr>
        <p:sp>
          <p:nvSpPr>
            <p:cNvPr id="2169" name="Line 121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0" name="Line 122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1" name="Line 123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2" name="Line 124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73" name="Rectangle 125"/>
          <p:cNvSpPr>
            <a:spLocks noChangeArrowheads="1"/>
          </p:cNvSpPr>
          <p:nvPr/>
        </p:nvSpPr>
        <p:spPr bwMode="auto">
          <a:xfrm>
            <a:off x="3136900" y="22860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0x923C</a:t>
            </a:r>
          </a:p>
        </p:txBody>
      </p:sp>
      <p:grpSp>
        <p:nvGrpSpPr>
          <p:cNvPr id="16" name="Group 126"/>
          <p:cNvGrpSpPr>
            <a:grpSpLocks/>
          </p:cNvGrpSpPr>
          <p:nvPr/>
        </p:nvGrpSpPr>
        <p:grpSpPr bwMode="auto">
          <a:xfrm>
            <a:off x="381000" y="2209800"/>
            <a:ext cx="533400" cy="152400"/>
            <a:chOff x="1512" y="1536"/>
            <a:chExt cx="336" cy="96"/>
          </a:xfrm>
        </p:grpSpPr>
        <p:grpSp>
          <p:nvGrpSpPr>
            <p:cNvPr id="17" name="Group 127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76" name="Line 128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9" name="Line 131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80" name="Line 132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8" name="Group 133"/>
          <p:cNvGrpSpPr>
            <a:grpSpLocks/>
          </p:cNvGrpSpPr>
          <p:nvPr/>
        </p:nvGrpSpPr>
        <p:grpSpPr bwMode="auto">
          <a:xfrm>
            <a:off x="1143000" y="3810000"/>
            <a:ext cx="533400" cy="152400"/>
            <a:chOff x="1512" y="1536"/>
            <a:chExt cx="336" cy="96"/>
          </a:xfrm>
        </p:grpSpPr>
        <p:grpSp>
          <p:nvGrpSpPr>
            <p:cNvPr id="19" name="Group 134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83" name="Line 135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4" name="Line 136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6" name="Line 138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87" name="Line 139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88" name="Line 140"/>
          <p:cNvSpPr>
            <a:spLocks noChangeShapeType="1"/>
          </p:cNvSpPr>
          <p:nvPr/>
        </p:nvSpPr>
        <p:spPr bwMode="auto">
          <a:xfrm>
            <a:off x="1905000" y="38862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9" name="Line 141"/>
          <p:cNvSpPr>
            <a:spLocks noChangeShapeType="1"/>
          </p:cNvSpPr>
          <p:nvPr/>
        </p:nvSpPr>
        <p:spPr bwMode="auto">
          <a:xfrm>
            <a:off x="1905000" y="4267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0" name="Line 142"/>
          <p:cNvSpPr>
            <a:spLocks noChangeShapeType="1"/>
          </p:cNvSpPr>
          <p:nvPr/>
        </p:nvSpPr>
        <p:spPr bwMode="auto">
          <a:xfrm>
            <a:off x="2514600" y="42672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1" name="Line 143"/>
          <p:cNvSpPr>
            <a:spLocks noChangeShapeType="1"/>
          </p:cNvSpPr>
          <p:nvPr/>
        </p:nvSpPr>
        <p:spPr bwMode="auto">
          <a:xfrm>
            <a:off x="3048000" y="3886200"/>
            <a:ext cx="0" cy="374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2" name="Rectangle 144"/>
          <p:cNvSpPr>
            <a:spLocks noChangeArrowheads="1"/>
          </p:cNvSpPr>
          <p:nvPr/>
        </p:nvSpPr>
        <p:spPr bwMode="auto">
          <a:xfrm>
            <a:off x="2436813" y="3941763"/>
            <a:ext cx="4826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0x8083</a:t>
            </a:r>
          </a:p>
        </p:txBody>
      </p:sp>
      <p:grpSp>
        <p:nvGrpSpPr>
          <p:cNvPr id="20" name="Group 145"/>
          <p:cNvGrpSpPr>
            <a:grpSpLocks/>
          </p:cNvGrpSpPr>
          <p:nvPr/>
        </p:nvGrpSpPr>
        <p:grpSpPr bwMode="auto">
          <a:xfrm>
            <a:off x="2133600" y="4191000"/>
            <a:ext cx="533400" cy="152400"/>
            <a:chOff x="264" y="1536"/>
            <a:chExt cx="336" cy="96"/>
          </a:xfrm>
        </p:grpSpPr>
        <p:sp>
          <p:nvSpPr>
            <p:cNvPr id="2194" name="Line 146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5" name="Line 147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6" name="Line 148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7" name="Line 149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1" name="Group 150"/>
          <p:cNvGrpSpPr>
            <a:grpSpLocks/>
          </p:cNvGrpSpPr>
          <p:nvPr/>
        </p:nvGrpSpPr>
        <p:grpSpPr bwMode="auto">
          <a:xfrm>
            <a:off x="2133600" y="3810000"/>
            <a:ext cx="533400" cy="152400"/>
            <a:chOff x="264" y="1536"/>
            <a:chExt cx="336" cy="96"/>
          </a:xfrm>
        </p:grpSpPr>
        <p:sp>
          <p:nvSpPr>
            <p:cNvPr id="2199" name="Line 151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0" name="Line 152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1" name="Line 153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2" name="Line 154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03" name="Rectangle 155"/>
          <p:cNvSpPr>
            <a:spLocks noChangeArrowheads="1"/>
          </p:cNvSpPr>
          <p:nvPr/>
        </p:nvSpPr>
        <p:spPr bwMode="auto">
          <a:xfrm>
            <a:off x="3352800" y="3708400"/>
            <a:ext cx="13049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ko-KR" altLang="ko-KR" sz="800">
                <a:latin typeface="Arial" charset="0"/>
                <a:ea typeface="굴림체" pitchFamily="49" charset="-127"/>
              </a:rPr>
              <a:t>(</a:t>
            </a:r>
            <a:r>
              <a:rPr lang="en-US" altLang="ko-KR" sz="800">
                <a:latin typeface="Arial" charset="0"/>
                <a:ea typeface="굴림체" pitchFamily="49" charset="-127"/>
              </a:rPr>
              <a:t>OPEN_LOCK_DETECT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_T).Spec =  4000</a:t>
            </a:r>
          </a:p>
        </p:txBody>
      </p:sp>
      <p:sp>
        <p:nvSpPr>
          <p:cNvPr id="2204" name="Rectangle 156"/>
          <p:cNvSpPr>
            <a:spLocks noChangeArrowheads="1"/>
          </p:cNvSpPr>
          <p:nvPr/>
        </p:nvSpPr>
        <p:spPr bwMode="auto">
          <a:xfrm>
            <a:off x="3276600" y="4419600"/>
            <a:ext cx="1462088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5" name="Line 157"/>
          <p:cNvSpPr>
            <a:spLocks noChangeShapeType="1"/>
          </p:cNvSpPr>
          <p:nvPr/>
        </p:nvSpPr>
        <p:spPr bwMode="auto">
          <a:xfrm>
            <a:off x="4724400" y="45720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2" name="Group 158"/>
          <p:cNvGrpSpPr>
            <a:grpSpLocks/>
          </p:cNvGrpSpPr>
          <p:nvPr/>
        </p:nvGrpSpPr>
        <p:grpSpPr bwMode="auto">
          <a:xfrm>
            <a:off x="1447800" y="4495800"/>
            <a:ext cx="533400" cy="152400"/>
            <a:chOff x="1512" y="1536"/>
            <a:chExt cx="336" cy="96"/>
          </a:xfrm>
        </p:grpSpPr>
        <p:grpSp>
          <p:nvGrpSpPr>
            <p:cNvPr id="23" name="Group 159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208" name="Line 160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0" name="Line 162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1" name="Line 163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12" name="Line 164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13" name="Line 165"/>
          <p:cNvSpPr>
            <a:spLocks noChangeShapeType="1"/>
          </p:cNvSpPr>
          <p:nvPr/>
        </p:nvSpPr>
        <p:spPr bwMode="auto">
          <a:xfrm>
            <a:off x="1447800" y="4419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14" name="Rectangle 166"/>
          <p:cNvSpPr>
            <a:spLocks noChangeArrowheads="1"/>
          </p:cNvSpPr>
          <p:nvPr/>
        </p:nvSpPr>
        <p:spPr bwMode="auto">
          <a:xfrm>
            <a:off x="1066800" y="3657600"/>
            <a:ext cx="2133600" cy="76200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endParaRPr lang="ko-KR" altLang="en-US"/>
          </a:p>
        </p:txBody>
      </p:sp>
      <p:sp>
        <p:nvSpPr>
          <p:cNvPr id="2215" name="Rectangle 167"/>
          <p:cNvSpPr>
            <a:spLocks noChangeArrowheads="1"/>
          </p:cNvSpPr>
          <p:nvPr/>
        </p:nvSpPr>
        <p:spPr bwMode="auto">
          <a:xfrm>
            <a:off x="3365500" y="4394200"/>
            <a:ext cx="13049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ko-KR" altLang="ko-KR" sz="800">
                <a:latin typeface="Arial" charset="0"/>
                <a:ea typeface="굴림체" pitchFamily="49" charset="-127"/>
              </a:rPr>
              <a:t>(</a:t>
            </a:r>
            <a:r>
              <a:rPr lang="en-US" altLang="ko-KR" sz="800">
                <a:latin typeface="Arial" charset="0"/>
                <a:ea typeface="굴림체" pitchFamily="49" charset="-127"/>
              </a:rPr>
              <a:t>OPEN_LOCK_DETECT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_T).Spec =  10000</a:t>
            </a:r>
          </a:p>
        </p:txBody>
      </p:sp>
      <p:sp>
        <p:nvSpPr>
          <p:cNvPr id="2216" name="Rectangle 168"/>
          <p:cNvSpPr>
            <a:spLocks noChangeArrowheads="1"/>
          </p:cNvSpPr>
          <p:nvPr/>
        </p:nvSpPr>
        <p:spPr bwMode="auto">
          <a:xfrm>
            <a:off x="3263900" y="4826000"/>
            <a:ext cx="1462088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17" name="Line 169"/>
          <p:cNvSpPr>
            <a:spLocks noChangeShapeType="1"/>
          </p:cNvSpPr>
          <p:nvPr/>
        </p:nvSpPr>
        <p:spPr bwMode="auto">
          <a:xfrm>
            <a:off x="4711700" y="49784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18" name="Rectangle 170"/>
          <p:cNvSpPr>
            <a:spLocks noChangeArrowheads="1"/>
          </p:cNvSpPr>
          <p:nvPr/>
        </p:nvSpPr>
        <p:spPr bwMode="auto">
          <a:xfrm>
            <a:off x="3470275" y="4800600"/>
            <a:ext cx="10779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TMC_Start(OPEN_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LOCK_DETECT_T)</a:t>
            </a:r>
          </a:p>
        </p:txBody>
      </p:sp>
      <p:sp>
        <p:nvSpPr>
          <p:cNvPr id="2219" name="Line 171"/>
          <p:cNvSpPr>
            <a:spLocks noChangeShapeType="1"/>
          </p:cNvSpPr>
          <p:nvPr/>
        </p:nvSpPr>
        <p:spPr bwMode="auto">
          <a:xfrm>
            <a:off x="838200" y="3886200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0" name="Line 172"/>
          <p:cNvSpPr>
            <a:spLocks noChangeShapeType="1"/>
          </p:cNvSpPr>
          <p:nvPr/>
        </p:nvSpPr>
        <p:spPr bwMode="auto">
          <a:xfrm flipH="1">
            <a:off x="914400" y="5334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1" name="Line 173"/>
          <p:cNvSpPr>
            <a:spLocks noChangeShapeType="1"/>
          </p:cNvSpPr>
          <p:nvPr/>
        </p:nvSpPr>
        <p:spPr bwMode="auto">
          <a:xfrm>
            <a:off x="152400" y="5334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2" name="Rectangle 174"/>
          <p:cNvSpPr>
            <a:spLocks noChangeArrowheads="1"/>
          </p:cNvSpPr>
          <p:nvPr/>
        </p:nvSpPr>
        <p:spPr bwMode="auto">
          <a:xfrm>
            <a:off x="3276600" y="5207000"/>
            <a:ext cx="1462088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3" name="Line 175"/>
          <p:cNvSpPr>
            <a:spLocks noChangeShapeType="1"/>
          </p:cNvSpPr>
          <p:nvPr/>
        </p:nvSpPr>
        <p:spPr bwMode="auto">
          <a:xfrm>
            <a:off x="4724400" y="53594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4" name="Rectangle 176"/>
          <p:cNvSpPr>
            <a:spLocks noChangeArrowheads="1"/>
          </p:cNvSpPr>
          <p:nvPr/>
        </p:nvSpPr>
        <p:spPr bwMode="auto">
          <a:xfrm>
            <a:off x="3482975" y="5181600"/>
            <a:ext cx="10779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TMC_Start(OPEN_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LOCK_DETECT_T)</a:t>
            </a:r>
          </a:p>
        </p:txBody>
      </p:sp>
      <p:grpSp>
        <p:nvGrpSpPr>
          <p:cNvPr id="24" name="Group 177"/>
          <p:cNvGrpSpPr>
            <a:grpSpLocks/>
          </p:cNvGrpSpPr>
          <p:nvPr/>
        </p:nvGrpSpPr>
        <p:grpSpPr bwMode="auto">
          <a:xfrm>
            <a:off x="1828800" y="5257800"/>
            <a:ext cx="533400" cy="152400"/>
            <a:chOff x="264" y="1536"/>
            <a:chExt cx="336" cy="96"/>
          </a:xfrm>
        </p:grpSpPr>
        <p:sp>
          <p:nvSpPr>
            <p:cNvPr id="2226" name="Line 178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27" name="Line 179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28" name="Line 180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29" name="Line 181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30" name="Rectangle 182"/>
          <p:cNvSpPr>
            <a:spLocks noChangeArrowheads="1"/>
          </p:cNvSpPr>
          <p:nvPr/>
        </p:nvSpPr>
        <p:spPr bwMode="auto">
          <a:xfrm>
            <a:off x="1765300" y="5060950"/>
            <a:ext cx="13414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Open_Trouble_Count &lt; 3</a:t>
            </a:r>
          </a:p>
        </p:txBody>
      </p:sp>
      <p:grpSp>
        <p:nvGrpSpPr>
          <p:cNvPr id="25" name="Group 183"/>
          <p:cNvGrpSpPr>
            <a:grpSpLocks/>
          </p:cNvGrpSpPr>
          <p:nvPr/>
        </p:nvGrpSpPr>
        <p:grpSpPr bwMode="auto">
          <a:xfrm>
            <a:off x="1981200" y="5715000"/>
            <a:ext cx="381000" cy="152400"/>
            <a:chOff x="1248" y="3360"/>
            <a:chExt cx="240" cy="96"/>
          </a:xfrm>
        </p:grpSpPr>
        <p:sp>
          <p:nvSpPr>
            <p:cNvPr id="2232" name="Line 184"/>
            <p:cNvSpPr>
              <a:spLocks noChangeShapeType="1"/>
            </p:cNvSpPr>
            <p:nvPr/>
          </p:nvSpPr>
          <p:spPr bwMode="auto">
            <a:xfrm>
              <a:off x="1296" y="336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3" name="Line 185"/>
            <p:cNvSpPr>
              <a:spLocks noChangeShapeType="1"/>
            </p:cNvSpPr>
            <p:nvPr/>
          </p:nvSpPr>
          <p:spPr bwMode="auto">
            <a:xfrm>
              <a:off x="1344" y="336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4" name="Line 186"/>
            <p:cNvSpPr>
              <a:spLocks noChangeShapeType="1"/>
            </p:cNvSpPr>
            <p:nvPr/>
          </p:nvSpPr>
          <p:spPr bwMode="auto">
            <a:xfrm>
              <a:off x="1344" y="340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5" name="Line 187"/>
            <p:cNvSpPr>
              <a:spLocks noChangeShapeType="1"/>
            </p:cNvSpPr>
            <p:nvPr/>
          </p:nvSpPr>
          <p:spPr bwMode="auto">
            <a:xfrm flipV="1">
              <a:off x="1248" y="336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36" name="Line 188"/>
          <p:cNvSpPr>
            <a:spLocks noChangeShapeType="1"/>
          </p:cNvSpPr>
          <p:nvPr/>
        </p:nvSpPr>
        <p:spPr bwMode="auto">
          <a:xfrm>
            <a:off x="2057400" y="54102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37" name="Line 189"/>
          <p:cNvSpPr>
            <a:spLocks noChangeShapeType="1"/>
          </p:cNvSpPr>
          <p:nvPr/>
        </p:nvSpPr>
        <p:spPr bwMode="auto">
          <a:xfrm>
            <a:off x="2362200" y="5791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38" name="Rectangle 190"/>
          <p:cNvSpPr>
            <a:spLocks noChangeArrowheads="1"/>
          </p:cNvSpPr>
          <p:nvPr/>
        </p:nvSpPr>
        <p:spPr bwMode="auto">
          <a:xfrm>
            <a:off x="3276600" y="5562600"/>
            <a:ext cx="1462088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39" name="Line 191"/>
          <p:cNvSpPr>
            <a:spLocks noChangeShapeType="1"/>
          </p:cNvSpPr>
          <p:nvPr/>
        </p:nvSpPr>
        <p:spPr bwMode="auto">
          <a:xfrm>
            <a:off x="4724400" y="578485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40" name="Rectangle 192"/>
          <p:cNvSpPr>
            <a:spLocks noChangeArrowheads="1"/>
          </p:cNvSpPr>
          <p:nvPr/>
        </p:nvSpPr>
        <p:spPr bwMode="auto">
          <a:xfrm>
            <a:off x="3349625" y="5556250"/>
            <a:ext cx="12858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Open_Trouble_Count++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TMC_Reset(OPEN_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LOCK_DETECT_T)</a:t>
            </a:r>
          </a:p>
        </p:txBody>
      </p:sp>
      <p:sp>
        <p:nvSpPr>
          <p:cNvPr id="2241" name="Line 193"/>
          <p:cNvSpPr>
            <a:spLocks noChangeShapeType="1"/>
          </p:cNvSpPr>
          <p:nvPr/>
        </p:nvSpPr>
        <p:spPr bwMode="auto">
          <a:xfrm flipH="1">
            <a:off x="1295400" y="6400800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42" name="Line 194"/>
          <p:cNvSpPr>
            <a:spLocks noChangeShapeType="1"/>
          </p:cNvSpPr>
          <p:nvPr/>
        </p:nvSpPr>
        <p:spPr bwMode="auto">
          <a:xfrm>
            <a:off x="1295400" y="5334000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6" name="Group 195"/>
          <p:cNvGrpSpPr>
            <a:grpSpLocks/>
          </p:cNvGrpSpPr>
          <p:nvPr/>
        </p:nvGrpSpPr>
        <p:grpSpPr bwMode="auto">
          <a:xfrm>
            <a:off x="1600200" y="6324600"/>
            <a:ext cx="533400" cy="152400"/>
            <a:chOff x="264" y="1536"/>
            <a:chExt cx="336" cy="96"/>
          </a:xfrm>
        </p:grpSpPr>
        <p:sp>
          <p:nvSpPr>
            <p:cNvPr id="2244" name="Line 196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5" name="Line 197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6" name="Line 198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7" name="Line 199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48" name="Rectangle 200"/>
          <p:cNvSpPr>
            <a:spLocks noChangeArrowheads="1"/>
          </p:cNvSpPr>
          <p:nvPr/>
        </p:nvSpPr>
        <p:spPr bwMode="auto">
          <a:xfrm>
            <a:off x="1454150" y="6121400"/>
            <a:ext cx="1400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Open_Trouble_Count &gt;= 3</a:t>
            </a:r>
          </a:p>
        </p:txBody>
      </p:sp>
      <p:sp>
        <p:nvSpPr>
          <p:cNvPr id="2249" name="Rectangle 201"/>
          <p:cNvSpPr>
            <a:spLocks noChangeArrowheads="1"/>
          </p:cNvSpPr>
          <p:nvPr/>
        </p:nvSpPr>
        <p:spPr bwMode="auto">
          <a:xfrm>
            <a:off x="5029200" y="914400"/>
            <a:ext cx="40020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r>
              <a:rPr lang="ko-KR" altLang="ko-KR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경과 후에도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신호가 입력되지 않는 현상이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반복되면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 LOCK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으로 검출한다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ko-KR" altLang="ko-KR" sz="1000">
                <a:latin typeface="Arial" charset="0"/>
                <a:ea typeface="굴림체" pitchFamily="49" charset="-127"/>
              </a:rPr>
              <a:t>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반복되는 동안 동일 층에서 계속하여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Close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 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Reopen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Open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시도한다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133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ER_OPEN_LOCK_3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8000" y="844550"/>
            <a:ext cx="3613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정지하였을 때 문이 열리지 않는 경우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(OPEN LOCK:TCD 132)</a:t>
            </a:r>
          </a:p>
          <a:p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가 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3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회 연속해서 검출될 때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143000"/>
            <a:ext cx="3962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TCD 132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조치사항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79388" y="1900238"/>
            <a:ext cx="450056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OPEN LOCK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(TCD 132)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발생하면 다른 층으로 이동하여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Open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재시도하게 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그러나 연속하여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 LOCK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계속 검출되면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OPEN LOCK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반복 고장을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Hall/Car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부름 등록이 안되고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정지 상태를 유지함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비상운전 시에는 탈출층으로 복귀함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134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13716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ER_CLOSE_LOCK</a:t>
            </a:r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>
            <a:off x="152400" y="1944688"/>
            <a:ext cx="0" cy="4684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 flipH="1">
            <a:off x="4876800" y="1905000"/>
            <a:ext cx="0" cy="472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1847850"/>
            <a:ext cx="920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Coil[A_AUTO_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DOOR_CLOSE]</a:t>
            </a: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52400" y="2255838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762000" y="2255838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1212850" y="5562600"/>
            <a:ext cx="15208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TMC_Check(CLOSE_LOCK_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DETECT_T,FINISH_STATE)</a:t>
            </a:r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152400" y="54102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2133600" y="59436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3505200" y="5715000"/>
            <a:ext cx="12446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4152900" y="624840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TCD 134</a:t>
            </a:r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>
            <a:off x="1676400" y="225425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Line 29"/>
          <p:cNvSpPr>
            <a:spLocks noChangeShapeType="1"/>
          </p:cNvSpPr>
          <p:nvPr/>
        </p:nvSpPr>
        <p:spPr bwMode="auto">
          <a:xfrm flipV="1">
            <a:off x="4619625" y="2257425"/>
            <a:ext cx="0" cy="33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8" name="Line 30"/>
          <p:cNvSpPr>
            <a:spLocks noChangeShapeType="1"/>
          </p:cNvSpPr>
          <p:nvPr/>
        </p:nvSpPr>
        <p:spPr bwMode="auto">
          <a:xfrm>
            <a:off x="381000" y="2590800"/>
            <a:ext cx="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9" name="Line 31"/>
          <p:cNvSpPr>
            <a:spLocks noChangeShapeType="1"/>
          </p:cNvSpPr>
          <p:nvPr/>
        </p:nvSpPr>
        <p:spPr bwMode="auto">
          <a:xfrm flipH="1">
            <a:off x="381000" y="2971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0" name="Line 32"/>
          <p:cNvSpPr>
            <a:spLocks noChangeShapeType="1"/>
          </p:cNvSpPr>
          <p:nvPr/>
        </p:nvSpPr>
        <p:spPr bwMode="auto">
          <a:xfrm>
            <a:off x="914400" y="2971800"/>
            <a:ext cx="165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4114800" y="2743200"/>
            <a:ext cx="6350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2" name="Line 34"/>
          <p:cNvSpPr>
            <a:spLocks noChangeShapeType="1"/>
          </p:cNvSpPr>
          <p:nvPr/>
        </p:nvSpPr>
        <p:spPr bwMode="auto">
          <a:xfrm>
            <a:off x="2819400" y="2971800"/>
            <a:ext cx="20494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382588" y="2722563"/>
            <a:ext cx="10795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SWD_O[VO_R2CL]</a:t>
            </a:r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2095500" y="2635250"/>
            <a:ext cx="9318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SWD_I[VI_CDS]</a:t>
            </a:r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830263" y="2949575"/>
            <a:ext cx="48260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0x8684</a:t>
            </a:r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2590800" y="2971800"/>
            <a:ext cx="615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0x802B</a:t>
            </a:r>
          </a:p>
        </p:txBody>
      </p:sp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4114800" y="2743200"/>
            <a:ext cx="6508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3505200" y="5181600"/>
            <a:ext cx="1235075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9" name="Line 41"/>
          <p:cNvSpPr>
            <a:spLocks noChangeShapeType="1"/>
          </p:cNvSpPr>
          <p:nvPr/>
        </p:nvSpPr>
        <p:spPr bwMode="auto">
          <a:xfrm>
            <a:off x="990600" y="5410200"/>
            <a:ext cx="251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0" name="Rectangle 42"/>
          <p:cNvSpPr>
            <a:spLocks noChangeArrowheads="1"/>
          </p:cNvSpPr>
          <p:nvPr/>
        </p:nvSpPr>
        <p:spPr bwMode="auto">
          <a:xfrm>
            <a:off x="381000" y="5181600"/>
            <a:ext cx="6508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91" name="Rectangle 43"/>
          <p:cNvSpPr>
            <a:spLocks noChangeArrowheads="1"/>
          </p:cNvSpPr>
          <p:nvPr/>
        </p:nvSpPr>
        <p:spPr bwMode="auto">
          <a:xfrm>
            <a:off x="3581400" y="5257800"/>
            <a:ext cx="1141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TMC_Start (CLOSE_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LOCK_DETECT_T)</a:t>
            </a:r>
          </a:p>
        </p:txBody>
      </p:sp>
      <p:sp>
        <p:nvSpPr>
          <p:cNvPr id="2092" name="Rectangle 44"/>
          <p:cNvSpPr>
            <a:spLocks noChangeArrowheads="1"/>
          </p:cNvSpPr>
          <p:nvPr/>
        </p:nvSpPr>
        <p:spPr bwMode="auto">
          <a:xfrm>
            <a:off x="449263" y="2268538"/>
            <a:ext cx="4889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0x9050</a:t>
            </a:r>
          </a:p>
        </p:txBody>
      </p: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3124200" y="2287588"/>
            <a:ext cx="4889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0x9082</a:t>
            </a:r>
          </a:p>
        </p:txBody>
      </p:sp>
      <p:sp>
        <p:nvSpPr>
          <p:cNvPr id="2094" name="Line 46"/>
          <p:cNvSpPr>
            <a:spLocks noChangeShapeType="1"/>
          </p:cNvSpPr>
          <p:nvPr/>
        </p:nvSpPr>
        <p:spPr bwMode="auto">
          <a:xfrm>
            <a:off x="2667000" y="225425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5" name="Line 47"/>
          <p:cNvSpPr>
            <a:spLocks noChangeShapeType="1"/>
          </p:cNvSpPr>
          <p:nvPr/>
        </p:nvSpPr>
        <p:spPr bwMode="auto">
          <a:xfrm flipH="1">
            <a:off x="1143000" y="59436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6" name="Line 48"/>
          <p:cNvSpPr>
            <a:spLocks noChangeShapeType="1"/>
          </p:cNvSpPr>
          <p:nvPr/>
        </p:nvSpPr>
        <p:spPr bwMode="auto">
          <a:xfrm>
            <a:off x="1447800" y="29718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7" name="Line 49"/>
          <p:cNvSpPr>
            <a:spLocks noChangeShapeType="1"/>
          </p:cNvSpPr>
          <p:nvPr/>
        </p:nvSpPr>
        <p:spPr bwMode="auto">
          <a:xfrm>
            <a:off x="1981200" y="3886200"/>
            <a:ext cx="742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8" name="Line 50"/>
          <p:cNvSpPr>
            <a:spLocks noChangeShapeType="1"/>
          </p:cNvSpPr>
          <p:nvPr/>
        </p:nvSpPr>
        <p:spPr bwMode="auto">
          <a:xfrm>
            <a:off x="2971800" y="3886200"/>
            <a:ext cx="769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2514600" y="3657600"/>
            <a:ext cx="915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SWD_I[VI_LDS]</a:t>
            </a:r>
          </a:p>
        </p:txBody>
      </p:sp>
      <p:sp>
        <p:nvSpPr>
          <p:cNvPr id="2100" name="Rectangle 52"/>
          <p:cNvSpPr>
            <a:spLocks noChangeArrowheads="1"/>
          </p:cNvSpPr>
          <p:nvPr/>
        </p:nvSpPr>
        <p:spPr bwMode="auto">
          <a:xfrm>
            <a:off x="2971800" y="3886200"/>
            <a:ext cx="615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0x802C</a:t>
            </a:r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381000" y="43434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2" name="Line 54"/>
          <p:cNvSpPr>
            <a:spLocks noChangeShapeType="1"/>
          </p:cNvSpPr>
          <p:nvPr/>
        </p:nvSpPr>
        <p:spPr bwMode="auto">
          <a:xfrm>
            <a:off x="1066800" y="4343400"/>
            <a:ext cx="1420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3" name="Line 55"/>
          <p:cNvSpPr>
            <a:spLocks noChangeShapeType="1"/>
          </p:cNvSpPr>
          <p:nvPr/>
        </p:nvSpPr>
        <p:spPr bwMode="auto">
          <a:xfrm>
            <a:off x="2895600" y="48006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4" name="Line 56"/>
          <p:cNvSpPr>
            <a:spLocks noChangeShapeType="1"/>
          </p:cNvSpPr>
          <p:nvPr/>
        </p:nvSpPr>
        <p:spPr bwMode="auto">
          <a:xfrm>
            <a:off x="3733800" y="297180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5" name="Line 57"/>
          <p:cNvSpPr>
            <a:spLocks noChangeShapeType="1"/>
          </p:cNvSpPr>
          <p:nvPr/>
        </p:nvSpPr>
        <p:spPr bwMode="auto">
          <a:xfrm>
            <a:off x="2667000" y="43434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6" name="Rectangle 58"/>
          <p:cNvSpPr>
            <a:spLocks noChangeArrowheads="1"/>
          </p:cNvSpPr>
          <p:nvPr/>
        </p:nvSpPr>
        <p:spPr bwMode="auto">
          <a:xfrm>
            <a:off x="2209800" y="411480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TCD 135</a:t>
            </a:r>
          </a:p>
        </p:txBody>
      </p:sp>
      <p:sp>
        <p:nvSpPr>
          <p:cNvPr id="2107" name="Rectangle 59"/>
          <p:cNvSpPr>
            <a:spLocks noChangeArrowheads="1"/>
          </p:cNvSpPr>
          <p:nvPr/>
        </p:nvSpPr>
        <p:spPr bwMode="auto">
          <a:xfrm>
            <a:off x="381000" y="3962400"/>
            <a:ext cx="15208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TMC_Check(CLOSE_LOCK_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DETECT_T,FINISH_STATE)</a:t>
            </a:r>
          </a:p>
        </p:txBody>
      </p:sp>
      <p:sp>
        <p:nvSpPr>
          <p:cNvPr id="2108" name="Rectangle 60"/>
          <p:cNvSpPr>
            <a:spLocks noChangeArrowheads="1"/>
          </p:cNvSpPr>
          <p:nvPr/>
        </p:nvSpPr>
        <p:spPr bwMode="auto">
          <a:xfrm>
            <a:off x="2076450" y="4519613"/>
            <a:ext cx="8969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Coil[DC_DOLS]</a:t>
            </a:r>
          </a:p>
        </p:txBody>
      </p:sp>
      <p:sp>
        <p:nvSpPr>
          <p:cNvPr id="2109" name="Rectangle 61"/>
          <p:cNvSpPr>
            <a:spLocks noChangeArrowheads="1"/>
          </p:cNvSpPr>
          <p:nvPr/>
        </p:nvSpPr>
        <p:spPr bwMode="auto">
          <a:xfrm>
            <a:off x="2514600" y="4800600"/>
            <a:ext cx="615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0x90A6</a:t>
            </a:r>
          </a:p>
        </p:txBody>
      </p:sp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3124200" y="4800600"/>
            <a:ext cx="615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0x9256</a:t>
            </a:r>
          </a:p>
        </p:txBody>
      </p:sp>
      <p:sp>
        <p:nvSpPr>
          <p:cNvPr id="2111" name="Rectangle 63"/>
          <p:cNvSpPr>
            <a:spLocks noChangeArrowheads="1"/>
          </p:cNvSpPr>
          <p:nvPr/>
        </p:nvSpPr>
        <p:spPr bwMode="auto">
          <a:xfrm>
            <a:off x="2895600" y="4419600"/>
            <a:ext cx="8413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Coil[SW_GS_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OPEN_ZONE]</a:t>
            </a:r>
          </a:p>
        </p:txBody>
      </p:sp>
      <p:sp>
        <p:nvSpPr>
          <p:cNvPr id="2112" name="Rectangle 64"/>
          <p:cNvSpPr>
            <a:spLocks noChangeArrowheads="1"/>
          </p:cNvSpPr>
          <p:nvPr/>
        </p:nvSpPr>
        <p:spPr bwMode="auto">
          <a:xfrm>
            <a:off x="4991100" y="1600200"/>
            <a:ext cx="4064000" cy="487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CLOSE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구동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DOOR Sill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이물질로 인하여 구동이 안되는 경우 이물질을 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제거한다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2. 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기구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BOX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DMC CUT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NORMAL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위치에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3. CLOSE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출력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DOA-100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CLOSE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발생 중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CA-02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측정하여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0.7V ± 0.1V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현재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TURN-ON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CLOSE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정상적으로 출력중임을 나타냄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잠시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R2LD RELAY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AB-15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CA-08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닫히면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AB-15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CA-08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모두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48V level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나와야 정상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5. DOA-100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(LDS), 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(CDS)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 확인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CLOSE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후 각각 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정상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6. 5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LDS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입력상태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BIT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AB-15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측정하고 승장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CDS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입력상태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BIT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CA-08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측정하고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CAR DOOR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7. DOA-100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(CLS)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(CLS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동작하면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표시됨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   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8. 7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입력상태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BIT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1) 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DMC_CUT2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시키고 전폐 위치까지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수동으로 닫은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(CLS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스위치가 동작되는 위치까지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CLS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 상의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 여부를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2) CLS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LD5(OLS/CLS)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점등 여부를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점등함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9. RDZ Relay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정상적으로 동작하는지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도어 존에서는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Relay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점등 되고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도어 존 외에서는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소등 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113" name="Rectangle 65"/>
          <p:cNvSpPr>
            <a:spLocks noChangeArrowheads="1"/>
          </p:cNvSpPr>
          <p:nvPr/>
        </p:nvSpPr>
        <p:spPr bwMode="auto">
          <a:xfrm>
            <a:off x="533400" y="838200"/>
            <a:ext cx="1697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DOOR CLOSE LOCK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</a:p>
        </p:txBody>
      </p:sp>
      <p:sp>
        <p:nvSpPr>
          <p:cNvPr id="2114" name="Rectangle 66"/>
          <p:cNvSpPr>
            <a:spLocks noChangeArrowheads="1"/>
          </p:cNvSpPr>
          <p:nvPr/>
        </p:nvSpPr>
        <p:spPr bwMode="auto">
          <a:xfrm>
            <a:off x="1054100" y="1860550"/>
            <a:ext cx="8572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Coil[SW_GS_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DOOR_ZONE]</a:t>
            </a:r>
          </a:p>
        </p:txBody>
      </p:sp>
      <p:sp>
        <p:nvSpPr>
          <p:cNvPr id="2115" name="Rectangle 67"/>
          <p:cNvSpPr>
            <a:spLocks noChangeArrowheads="1"/>
          </p:cNvSpPr>
          <p:nvPr/>
        </p:nvSpPr>
        <p:spPr bwMode="auto">
          <a:xfrm>
            <a:off x="2971800" y="1962150"/>
            <a:ext cx="8445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Coil[DC_DCO]</a:t>
            </a:r>
          </a:p>
        </p:txBody>
      </p:sp>
      <p:sp>
        <p:nvSpPr>
          <p:cNvPr id="2116" name="Line 68"/>
          <p:cNvSpPr>
            <a:spLocks noChangeShapeType="1"/>
          </p:cNvSpPr>
          <p:nvPr/>
        </p:nvSpPr>
        <p:spPr bwMode="auto">
          <a:xfrm>
            <a:off x="3657600" y="225425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7" name="Rectangle 69"/>
          <p:cNvSpPr>
            <a:spLocks noChangeArrowheads="1"/>
          </p:cNvSpPr>
          <p:nvPr/>
        </p:nvSpPr>
        <p:spPr bwMode="auto">
          <a:xfrm>
            <a:off x="3841750" y="1990725"/>
            <a:ext cx="8683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ERD_Door_Err</a:t>
            </a:r>
          </a:p>
        </p:txBody>
      </p:sp>
      <p:sp>
        <p:nvSpPr>
          <p:cNvPr id="2118" name="Line 70"/>
          <p:cNvSpPr>
            <a:spLocks noChangeShapeType="1"/>
          </p:cNvSpPr>
          <p:nvPr/>
        </p:nvSpPr>
        <p:spPr bwMode="auto">
          <a:xfrm flipH="1">
            <a:off x="1447800" y="3886200"/>
            <a:ext cx="5413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9" name="Line 71"/>
          <p:cNvSpPr>
            <a:spLocks noChangeShapeType="1"/>
          </p:cNvSpPr>
          <p:nvPr/>
        </p:nvSpPr>
        <p:spPr bwMode="auto">
          <a:xfrm>
            <a:off x="4724400" y="54102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0" name="Rectangle 72"/>
          <p:cNvSpPr>
            <a:spLocks noChangeArrowheads="1"/>
          </p:cNvSpPr>
          <p:nvPr/>
        </p:nvSpPr>
        <p:spPr bwMode="auto">
          <a:xfrm>
            <a:off x="1268413" y="2293938"/>
            <a:ext cx="4889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0x9250</a:t>
            </a:r>
          </a:p>
        </p:txBody>
      </p:sp>
      <p:grpSp>
        <p:nvGrpSpPr>
          <p:cNvPr id="2" name="Group 73"/>
          <p:cNvGrpSpPr>
            <a:grpSpLocks/>
          </p:cNvGrpSpPr>
          <p:nvPr/>
        </p:nvGrpSpPr>
        <p:grpSpPr bwMode="auto">
          <a:xfrm>
            <a:off x="292100" y="2178050"/>
            <a:ext cx="533400" cy="152400"/>
            <a:chOff x="264" y="1536"/>
            <a:chExt cx="336" cy="96"/>
          </a:xfrm>
        </p:grpSpPr>
        <p:sp>
          <p:nvSpPr>
            <p:cNvPr id="2122" name="Line 74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3" name="Line 75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3" name="Group 78"/>
          <p:cNvGrpSpPr>
            <a:grpSpLocks/>
          </p:cNvGrpSpPr>
          <p:nvPr/>
        </p:nvGrpSpPr>
        <p:grpSpPr bwMode="auto">
          <a:xfrm>
            <a:off x="3857625" y="2181225"/>
            <a:ext cx="533400" cy="152400"/>
            <a:chOff x="1512" y="1536"/>
            <a:chExt cx="336" cy="96"/>
          </a:xfrm>
        </p:grpSpPr>
        <p:grpSp>
          <p:nvGrpSpPr>
            <p:cNvPr id="4" name="Group 79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9" name="Line 81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0" name="Line 82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1" name="Line 83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32" name="Line 84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5" name="Group 85"/>
          <p:cNvGrpSpPr>
            <a:grpSpLocks/>
          </p:cNvGrpSpPr>
          <p:nvPr/>
        </p:nvGrpSpPr>
        <p:grpSpPr bwMode="auto">
          <a:xfrm>
            <a:off x="457200" y="5334000"/>
            <a:ext cx="533400" cy="152400"/>
            <a:chOff x="264" y="1536"/>
            <a:chExt cx="336" cy="96"/>
          </a:xfrm>
        </p:grpSpPr>
        <p:sp>
          <p:nvSpPr>
            <p:cNvPr id="2134" name="Line 86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5" name="Line 87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6" name="Line 88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7" name="Line 89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609600" y="2895600"/>
            <a:ext cx="533400" cy="152400"/>
            <a:chOff x="264" y="1536"/>
            <a:chExt cx="336" cy="96"/>
          </a:xfrm>
        </p:grpSpPr>
        <p:sp>
          <p:nvSpPr>
            <p:cNvPr id="2139" name="Line 91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0" name="Line 92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1" name="Line 93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2" name="Line 94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7" name="Group 95"/>
          <p:cNvGrpSpPr>
            <a:grpSpLocks/>
          </p:cNvGrpSpPr>
          <p:nvPr/>
        </p:nvGrpSpPr>
        <p:grpSpPr bwMode="auto">
          <a:xfrm>
            <a:off x="762000" y="4267200"/>
            <a:ext cx="533400" cy="152400"/>
            <a:chOff x="264" y="1536"/>
            <a:chExt cx="336" cy="96"/>
          </a:xfrm>
        </p:grpSpPr>
        <p:sp>
          <p:nvSpPr>
            <p:cNvPr id="2144" name="Line 96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6" name="Line 98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7" name="Line 99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8" name="Group 100"/>
          <p:cNvGrpSpPr>
            <a:grpSpLocks/>
          </p:cNvGrpSpPr>
          <p:nvPr/>
        </p:nvGrpSpPr>
        <p:grpSpPr bwMode="auto">
          <a:xfrm>
            <a:off x="1193800" y="2178050"/>
            <a:ext cx="533400" cy="152400"/>
            <a:chOff x="264" y="1536"/>
            <a:chExt cx="336" cy="96"/>
          </a:xfrm>
        </p:grpSpPr>
        <p:sp>
          <p:nvSpPr>
            <p:cNvPr id="2149" name="Line 101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0" name="Line 102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" name="Line 103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2" name="Line 104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9" name="Group 105"/>
          <p:cNvGrpSpPr>
            <a:grpSpLocks/>
          </p:cNvGrpSpPr>
          <p:nvPr/>
        </p:nvGrpSpPr>
        <p:grpSpPr bwMode="auto">
          <a:xfrm>
            <a:off x="2971800" y="4724400"/>
            <a:ext cx="533400" cy="152400"/>
            <a:chOff x="264" y="1536"/>
            <a:chExt cx="336" cy="96"/>
          </a:xfrm>
        </p:grpSpPr>
        <p:sp>
          <p:nvSpPr>
            <p:cNvPr id="2154" name="Line 106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7" name="Line 109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0" name="Group 110"/>
          <p:cNvGrpSpPr>
            <a:grpSpLocks/>
          </p:cNvGrpSpPr>
          <p:nvPr/>
        </p:nvGrpSpPr>
        <p:grpSpPr bwMode="auto">
          <a:xfrm>
            <a:off x="2286000" y="4267200"/>
            <a:ext cx="533400" cy="152400"/>
            <a:chOff x="264" y="1536"/>
            <a:chExt cx="336" cy="96"/>
          </a:xfrm>
        </p:grpSpPr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1" name="Line 113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2" name="Line 114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1" name="Group 115"/>
          <p:cNvGrpSpPr>
            <a:grpSpLocks/>
          </p:cNvGrpSpPr>
          <p:nvPr/>
        </p:nvGrpSpPr>
        <p:grpSpPr bwMode="auto">
          <a:xfrm>
            <a:off x="1600200" y="5867400"/>
            <a:ext cx="533400" cy="152400"/>
            <a:chOff x="264" y="1536"/>
            <a:chExt cx="336" cy="96"/>
          </a:xfrm>
        </p:grpSpPr>
        <p:sp>
          <p:nvSpPr>
            <p:cNvPr id="2164" name="Line 116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5" name="Line 117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6" name="Line 118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7" name="Line 119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2" name="Group 120"/>
          <p:cNvGrpSpPr>
            <a:grpSpLocks/>
          </p:cNvGrpSpPr>
          <p:nvPr/>
        </p:nvGrpSpPr>
        <p:grpSpPr bwMode="auto">
          <a:xfrm>
            <a:off x="3124200" y="2178050"/>
            <a:ext cx="533400" cy="152400"/>
            <a:chOff x="1512" y="1536"/>
            <a:chExt cx="336" cy="96"/>
          </a:xfrm>
        </p:grpSpPr>
        <p:grpSp>
          <p:nvGrpSpPr>
            <p:cNvPr id="13" name="Group 121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4" name="Line 126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4" name="Group 127"/>
          <p:cNvGrpSpPr>
            <a:grpSpLocks/>
          </p:cNvGrpSpPr>
          <p:nvPr/>
        </p:nvGrpSpPr>
        <p:grpSpPr bwMode="auto">
          <a:xfrm>
            <a:off x="2362200" y="2895600"/>
            <a:ext cx="533400" cy="152400"/>
            <a:chOff x="1512" y="1536"/>
            <a:chExt cx="336" cy="96"/>
          </a:xfrm>
        </p:grpSpPr>
        <p:grpSp>
          <p:nvGrpSpPr>
            <p:cNvPr id="15" name="Group 128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77" name="Line 129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8" name="Line 130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9" name="Line 131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0" name="Line 132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81" name="Line 133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6" name="Group 134"/>
          <p:cNvGrpSpPr>
            <a:grpSpLocks/>
          </p:cNvGrpSpPr>
          <p:nvPr/>
        </p:nvGrpSpPr>
        <p:grpSpPr bwMode="auto">
          <a:xfrm>
            <a:off x="2667000" y="3810000"/>
            <a:ext cx="533400" cy="152400"/>
            <a:chOff x="1512" y="1536"/>
            <a:chExt cx="336" cy="96"/>
          </a:xfrm>
        </p:grpSpPr>
        <p:grpSp>
          <p:nvGrpSpPr>
            <p:cNvPr id="17" name="Group 135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84" name="Line 136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5" name="Line 137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6" name="Line 138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88" name="Line 140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8" name="Group 141"/>
          <p:cNvGrpSpPr>
            <a:grpSpLocks/>
          </p:cNvGrpSpPr>
          <p:nvPr/>
        </p:nvGrpSpPr>
        <p:grpSpPr bwMode="auto">
          <a:xfrm>
            <a:off x="1676400" y="4724400"/>
            <a:ext cx="533400" cy="152400"/>
            <a:chOff x="1512" y="1536"/>
            <a:chExt cx="336" cy="96"/>
          </a:xfrm>
        </p:grpSpPr>
        <p:grpSp>
          <p:nvGrpSpPr>
            <p:cNvPr id="19" name="Group 142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91" name="Line 143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92" name="Line 144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93" name="Line 145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94" name="Line 146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95" name="Line 147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96" name="Line 148"/>
          <p:cNvSpPr>
            <a:spLocks noChangeShapeType="1"/>
          </p:cNvSpPr>
          <p:nvPr/>
        </p:nvSpPr>
        <p:spPr bwMode="auto">
          <a:xfrm>
            <a:off x="381000" y="2590800"/>
            <a:ext cx="4238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7" name="Rectangle 149"/>
          <p:cNvSpPr>
            <a:spLocks noChangeArrowheads="1"/>
          </p:cNvSpPr>
          <p:nvPr/>
        </p:nvSpPr>
        <p:spPr bwMode="auto">
          <a:xfrm>
            <a:off x="2254250" y="2300288"/>
            <a:ext cx="4889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0x91F2</a:t>
            </a:r>
          </a:p>
        </p:txBody>
      </p:sp>
      <p:sp>
        <p:nvSpPr>
          <p:cNvPr id="2198" name="Rectangle 150"/>
          <p:cNvSpPr>
            <a:spLocks noChangeArrowheads="1"/>
          </p:cNvSpPr>
          <p:nvPr/>
        </p:nvSpPr>
        <p:spPr bwMode="auto">
          <a:xfrm>
            <a:off x="1981200" y="1974850"/>
            <a:ext cx="9779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Coil[IS_ZERO_V]</a:t>
            </a:r>
          </a:p>
        </p:txBody>
      </p:sp>
      <p:grpSp>
        <p:nvGrpSpPr>
          <p:cNvPr id="20" name="Group 151"/>
          <p:cNvGrpSpPr>
            <a:grpSpLocks/>
          </p:cNvGrpSpPr>
          <p:nvPr/>
        </p:nvGrpSpPr>
        <p:grpSpPr bwMode="auto">
          <a:xfrm>
            <a:off x="2152650" y="2178050"/>
            <a:ext cx="533400" cy="152400"/>
            <a:chOff x="264" y="1536"/>
            <a:chExt cx="336" cy="96"/>
          </a:xfrm>
        </p:grpSpPr>
        <p:sp>
          <p:nvSpPr>
            <p:cNvPr id="2200" name="Line 152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1" name="Line 153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2" name="Line 154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3" name="Line 155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1" name="Group 156"/>
          <p:cNvGrpSpPr>
            <a:grpSpLocks/>
          </p:cNvGrpSpPr>
          <p:nvPr/>
        </p:nvGrpSpPr>
        <p:grpSpPr bwMode="auto">
          <a:xfrm>
            <a:off x="1828800" y="3352800"/>
            <a:ext cx="533400" cy="152400"/>
            <a:chOff x="1512" y="1536"/>
            <a:chExt cx="336" cy="96"/>
          </a:xfrm>
        </p:grpSpPr>
        <p:grpSp>
          <p:nvGrpSpPr>
            <p:cNvPr id="22" name="Group 157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206" name="Line 158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07" name="Line 159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08" name="Line 160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09" name="Line 161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10" name="Line 162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3" name="Group 163"/>
          <p:cNvGrpSpPr>
            <a:grpSpLocks/>
          </p:cNvGrpSpPr>
          <p:nvPr/>
        </p:nvGrpSpPr>
        <p:grpSpPr bwMode="auto">
          <a:xfrm>
            <a:off x="2667000" y="3352800"/>
            <a:ext cx="533400" cy="152400"/>
            <a:chOff x="1512" y="1536"/>
            <a:chExt cx="336" cy="96"/>
          </a:xfrm>
        </p:grpSpPr>
        <p:grpSp>
          <p:nvGrpSpPr>
            <p:cNvPr id="24" name="Group 164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213" name="Line 165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4" name="Line 166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5" name="Line 167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17" name="Line 169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18" name="Line 170"/>
          <p:cNvSpPr>
            <a:spLocks noChangeShapeType="1"/>
          </p:cNvSpPr>
          <p:nvPr/>
        </p:nvSpPr>
        <p:spPr bwMode="auto">
          <a:xfrm flipH="1">
            <a:off x="1447800" y="3429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19" name="Line 171"/>
          <p:cNvSpPr>
            <a:spLocks noChangeShapeType="1"/>
          </p:cNvSpPr>
          <p:nvPr/>
        </p:nvSpPr>
        <p:spPr bwMode="auto">
          <a:xfrm flipH="1">
            <a:off x="2362200" y="3429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0" name="Line 172"/>
          <p:cNvSpPr>
            <a:spLocks noChangeShapeType="1"/>
          </p:cNvSpPr>
          <p:nvPr/>
        </p:nvSpPr>
        <p:spPr bwMode="auto">
          <a:xfrm flipH="1">
            <a:off x="3124200" y="34290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1" name="Rectangle 173"/>
          <p:cNvSpPr>
            <a:spLocks noChangeArrowheads="1"/>
          </p:cNvSpPr>
          <p:nvPr/>
        </p:nvSpPr>
        <p:spPr bwMode="auto">
          <a:xfrm>
            <a:off x="1447800" y="3124200"/>
            <a:ext cx="9366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Coil[DC_F_CLS]</a:t>
            </a:r>
          </a:p>
        </p:txBody>
      </p:sp>
      <p:sp>
        <p:nvSpPr>
          <p:cNvPr id="2222" name="Rectangle 174"/>
          <p:cNvSpPr>
            <a:spLocks noChangeArrowheads="1"/>
          </p:cNvSpPr>
          <p:nvPr/>
        </p:nvSpPr>
        <p:spPr bwMode="auto">
          <a:xfrm>
            <a:off x="2438400" y="3124200"/>
            <a:ext cx="13223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Coil[SW_SV_2ND_FIRE]</a:t>
            </a:r>
          </a:p>
        </p:txBody>
      </p:sp>
      <p:sp>
        <p:nvSpPr>
          <p:cNvPr id="2223" name="Rectangle 175"/>
          <p:cNvSpPr>
            <a:spLocks noChangeArrowheads="1"/>
          </p:cNvSpPr>
          <p:nvPr/>
        </p:nvSpPr>
        <p:spPr bwMode="auto">
          <a:xfrm>
            <a:off x="2895600" y="3429000"/>
            <a:ext cx="615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0x9275</a:t>
            </a:r>
          </a:p>
        </p:txBody>
      </p:sp>
      <p:sp>
        <p:nvSpPr>
          <p:cNvPr id="2224" name="Rectangle 176"/>
          <p:cNvSpPr>
            <a:spLocks noChangeArrowheads="1"/>
          </p:cNvSpPr>
          <p:nvPr/>
        </p:nvSpPr>
        <p:spPr bwMode="auto">
          <a:xfrm>
            <a:off x="2133600" y="3429000"/>
            <a:ext cx="615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0x90B5</a:t>
            </a:r>
          </a:p>
        </p:txBody>
      </p:sp>
      <p:sp>
        <p:nvSpPr>
          <p:cNvPr id="2225" name="Line 177"/>
          <p:cNvSpPr>
            <a:spLocks noChangeShapeType="1"/>
          </p:cNvSpPr>
          <p:nvPr/>
        </p:nvSpPr>
        <p:spPr bwMode="auto">
          <a:xfrm>
            <a:off x="1447800" y="4343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6" name="Line 178"/>
          <p:cNvSpPr>
            <a:spLocks noChangeShapeType="1"/>
          </p:cNvSpPr>
          <p:nvPr/>
        </p:nvSpPr>
        <p:spPr bwMode="auto">
          <a:xfrm>
            <a:off x="3276600" y="48006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7" name="Rectangle 179"/>
          <p:cNvSpPr>
            <a:spLocks noChangeArrowheads="1"/>
          </p:cNvSpPr>
          <p:nvPr/>
        </p:nvSpPr>
        <p:spPr bwMode="auto">
          <a:xfrm>
            <a:off x="5010150" y="866775"/>
            <a:ext cx="4076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문열림 시간 완료 후  문닫힘 지령이 나가도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내에 문이  닫히지 않으면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하였다가 다시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Close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이때 다시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Close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하여도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상기와 같은 경우면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134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</a:p>
        </p:txBody>
      </p:sp>
      <p:sp>
        <p:nvSpPr>
          <p:cNvPr id="2228" name="Line 180"/>
          <p:cNvSpPr>
            <a:spLocks noChangeShapeType="1"/>
          </p:cNvSpPr>
          <p:nvPr/>
        </p:nvSpPr>
        <p:spPr bwMode="auto">
          <a:xfrm>
            <a:off x="4400550" y="2257425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5" name="Group 181"/>
          <p:cNvGrpSpPr>
            <a:grpSpLocks/>
          </p:cNvGrpSpPr>
          <p:nvPr/>
        </p:nvGrpSpPr>
        <p:grpSpPr bwMode="auto">
          <a:xfrm>
            <a:off x="2362200" y="4724400"/>
            <a:ext cx="533400" cy="152400"/>
            <a:chOff x="1512" y="1536"/>
            <a:chExt cx="336" cy="96"/>
          </a:xfrm>
        </p:grpSpPr>
        <p:grpSp>
          <p:nvGrpSpPr>
            <p:cNvPr id="26" name="Group 182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231" name="Line 183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2" name="Line 184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3" name="Line 185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35" name="Line 187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36" name="Line 188"/>
          <p:cNvSpPr>
            <a:spLocks noChangeShapeType="1"/>
          </p:cNvSpPr>
          <p:nvPr/>
        </p:nvSpPr>
        <p:spPr bwMode="auto">
          <a:xfrm flipH="1">
            <a:off x="1447800" y="4800600"/>
            <a:ext cx="336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37" name="Line 189"/>
          <p:cNvSpPr>
            <a:spLocks noChangeShapeType="1"/>
          </p:cNvSpPr>
          <p:nvPr/>
        </p:nvSpPr>
        <p:spPr bwMode="auto">
          <a:xfrm flipH="1">
            <a:off x="2209800" y="4800600"/>
            <a:ext cx="336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38" name="Rectangle 190"/>
          <p:cNvSpPr>
            <a:spLocks noChangeArrowheads="1"/>
          </p:cNvSpPr>
          <p:nvPr/>
        </p:nvSpPr>
        <p:spPr bwMode="auto">
          <a:xfrm>
            <a:off x="990600" y="4800600"/>
            <a:ext cx="1373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TMC_Check(FORCE_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OPEN_T,FINISH_STATE)</a:t>
            </a:r>
          </a:p>
        </p:txBody>
      </p:sp>
      <p:sp>
        <p:nvSpPr>
          <p:cNvPr id="2239" name="Rectangle 191"/>
          <p:cNvSpPr>
            <a:spLocks noChangeArrowheads="1"/>
          </p:cNvSpPr>
          <p:nvPr/>
        </p:nvSpPr>
        <p:spPr bwMode="auto">
          <a:xfrm>
            <a:off x="1752600" y="5133975"/>
            <a:ext cx="1778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NUGING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출력이 있는 경우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: 20 sec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                          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없는 경우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: 10 sec</a:t>
            </a:r>
          </a:p>
        </p:txBody>
      </p:sp>
      <p:sp>
        <p:nvSpPr>
          <p:cNvPr id="2240" name="Line 192"/>
          <p:cNvSpPr>
            <a:spLocks noChangeShapeType="1"/>
          </p:cNvSpPr>
          <p:nvPr/>
        </p:nvSpPr>
        <p:spPr bwMode="auto">
          <a:xfrm>
            <a:off x="1143000" y="5410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41" name="Rectangle 193"/>
          <p:cNvSpPr>
            <a:spLocks noChangeArrowheads="1"/>
          </p:cNvSpPr>
          <p:nvPr/>
        </p:nvSpPr>
        <p:spPr bwMode="auto">
          <a:xfrm>
            <a:off x="3505200" y="5715000"/>
            <a:ext cx="11144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close_lock_count ++</a:t>
            </a:r>
          </a:p>
        </p:txBody>
      </p:sp>
      <p:grpSp>
        <p:nvGrpSpPr>
          <p:cNvPr id="27" name="Group 194"/>
          <p:cNvGrpSpPr>
            <a:grpSpLocks/>
          </p:cNvGrpSpPr>
          <p:nvPr/>
        </p:nvGrpSpPr>
        <p:grpSpPr bwMode="auto">
          <a:xfrm>
            <a:off x="685800" y="6400800"/>
            <a:ext cx="533400" cy="152400"/>
            <a:chOff x="264" y="1536"/>
            <a:chExt cx="336" cy="96"/>
          </a:xfrm>
        </p:grpSpPr>
        <p:sp>
          <p:nvSpPr>
            <p:cNvPr id="2243" name="Line 195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4" name="Line 196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5" name="Line 197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46" name="Line 198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47" name="Line 199"/>
          <p:cNvSpPr>
            <a:spLocks noChangeShapeType="1"/>
          </p:cNvSpPr>
          <p:nvPr/>
        </p:nvSpPr>
        <p:spPr bwMode="auto">
          <a:xfrm>
            <a:off x="152400" y="6477000"/>
            <a:ext cx="472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48" name="Rectangle 200"/>
          <p:cNvSpPr>
            <a:spLocks noChangeArrowheads="1"/>
          </p:cNvSpPr>
          <p:nvPr/>
        </p:nvSpPr>
        <p:spPr bwMode="auto">
          <a:xfrm>
            <a:off x="457200" y="6172200"/>
            <a:ext cx="15240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close_lock_count &gt;= 2</a:t>
            </a:r>
          </a:p>
        </p:txBody>
      </p:sp>
      <p:sp>
        <p:nvSpPr>
          <p:cNvPr id="2249" name="Rectangle 201"/>
          <p:cNvSpPr>
            <a:spLocks noChangeArrowheads="1"/>
          </p:cNvSpPr>
          <p:nvPr/>
        </p:nvSpPr>
        <p:spPr bwMode="auto">
          <a:xfrm>
            <a:off x="4038600" y="6248400"/>
            <a:ext cx="7112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50" name="Rectangle 202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135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ER_CLOSE_LOCK_REPEAT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4324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DOOR CLOSE LOCK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 연속하여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조정가능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계속 검출됨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16843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TCD 134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조치사항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52400" y="1905000"/>
            <a:ext cx="3675063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ko-KR" sz="1000">
                <a:latin typeface="Arial" charset="0"/>
                <a:ea typeface="굴림체" pitchFamily="49" charset="-127"/>
              </a:rPr>
              <a:t>1.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CLOSE LOCK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고장이 연속하여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발생하였을 때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 횟수는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조정이 가능함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ko-KR" altLang="ko-KR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Address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0x0714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검출 횟수를 저장함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12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이하의 값은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간주함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*  TCD 134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CLOSE LOCK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발생한 경우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8" name="Rectangle 1196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59" name="Line 1196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60" name="Line 1196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61" name="Line 1196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62" name="Line 1196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63" name="Line 1196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64" name="Line 1196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65" name="Line 1196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66" name="Rectangle 1197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139</a:t>
            </a:r>
          </a:p>
        </p:txBody>
      </p:sp>
      <p:sp>
        <p:nvSpPr>
          <p:cNvPr id="16067" name="Rectangle 1197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[의미]</a:t>
            </a:r>
            <a:endParaRPr lang="ko-KR" altLang="en-US" sz="1000">
              <a:latin typeface="Arial" charset="0"/>
              <a:ea typeface="굴림체" pitchFamily="49" charset="-127"/>
            </a:endParaRPr>
          </a:p>
        </p:txBody>
      </p:sp>
      <p:sp>
        <p:nvSpPr>
          <p:cNvPr id="16068" name="Rectangle 1197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[조치사항]</a:t>
            </a:r>
          </a:p>
        </p:txBody>
      </p:sp>
      <p:sp>
        <p:nvSpPr>
          <p:cNvPr id="16069" name="Rectangle 1197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[설명]</a:t>
            </a:r>
          </a:p>
        </p:txBody>
      </p:sp>
      <p:sp>
        <p:nvSpPr>
          <p:cNvPr id="16070" name="Rectangle 1197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16071" name="Rectangle 1197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16072" name="Rectangle 1197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ko-KR" altLang="en-US" sz="1000">
                <a:latin typeface="Arial" charset="0"/>
                <a:ea typeface="굴림체" pitchFamily="49" charset="-127"/>
              </a:rPr>
              <a:t>● 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16073" name="Rectangle 11977"/>
          <p:cNvSpPr>
            <a:spLocks noChangeArrowheads="1"/>
          </p:cNvSpPr>
          <p:nvPr/>
        </p:nvSpPr>
        <p:spPr bwMode="auto">
          <a:xfrm>
            <a:off x="8393113" y="457200"/>
            <a:ext cx="415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PI-1</a:t>
            </a:r>
          </a:p>
        </p:txBody>
      </p:sp>
      <p:sp>
        <p:nvSpPr>
          <p:cNvPr id="16074" name="Rectangle 1197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ER_NUDGING</a:t>
            </a:r>
          </a:p>
        </p:txBody>
      </p:sp>
      <p:sp>
        <p:nvSpPr>
          <p:cNvPr id="16075" name="Rectangle 11979"/>
          <p:cNvSpPr>
            <a:spLocks noChangeArrowheads="1"/>
          </p:cNvSpPr>
          <p:nvPr/>
        </p:nvSpPr>
        <p:spPr bwMode="auto">
          <a:xfrm>
            <a:off x="533400" y="838200"/>
            <a:ext cx="4483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NUDGIG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검출되어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NUDGING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출력이 나간 후 30초 후에도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Close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되지 않은 상태 검출.</a:t>
            </a:r>
          </a:p>
        </p:txBody>
      </p:sp>
      <p:sp>
        <p:nvSpPr>
          <p:cNvPr id="16076" name="Line 11980"/>
          <p:cNvSpPr>
            <a:spLocks noChangeShapeType="1"/>
          </p:cNvSpPr>
          <p:nvPr/>
        </p:nvSpPr>
        <p:spPr bwMode="auto">
          <a:xfrm>
            <a:off x="152400" y="28194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77" name="Line 11981"/>
          <p:cNvSpPr>
            <a:spLocks noChangeShapeType="1"/>
          </p:cNvSpPr>
          <p:nvPr/>
        </p:nvSpPr>
        <p:spPr bwMode="auto">
          <a:xfrm>
            <a:off x="4876800" y="28194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78" name="Line 11982"/>
          <p:cNvSpPr>
            <a:spLocks noChangeShapeType="1"/>
          </p:cNvSpPr>
          <p:nvPr/>
        </p:nvSpPr>
        <p:spPr bwMode="auto">
          <a:xfrm>
            <a:off x="2362200" y="3200400"/>
            <a:ext cx="251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79" name="Rectangle 11983"/>
          <p:cNvSpPr>
            <a:spLocks noChangeArrowheads="1"/>
          </p:cNvSpPr>
          <p:nvPr/>
        </p:nvSpPr>
        <p:spPr bwMode="auto">
          <a:xfrm>
            <a:off x="4114800" y="2971800"/>
            <a:ext cx="6350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80" name="Rectangle 11984"/>
          <p:cNvSpPr>
            <a:spLocks noChangeArrowheads="1"/>
          </p:cNvSpPr>
          <p:nvPr/>
        </p:nvSpPr>
        <p:spPr bwMode="auto">
          <a:xfrm>
            <a:off x="152400" y="2787650"/>
            <a:ext cx="1744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TMC_Check(NUDGING_ERROR_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DETECT_TIMER,FINISH_STATE)</a:t>
            </a:r>
          </a:p>
        </p:txBody>
      </p:sp>
      <p:sp>
        <p:nvSpPr>
          <p:cNvPr id="16081" name="Rectangle 11985"/>
          <p:cNvSpPr>
            <a:spLocks noChangeArrowheads="1"/>
          </p:cNvSpPr>
          <p:nvPr/>
        </p:nvSpPr>
        <p:spPr bwMode="auto">
          <a:xfrm>
            <a:off x="4140200" y="2990850"/>
            <a:ext cx="5635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TCD139</a:t>
            </a:r>
          </a:p>
        </p:txBody>
      </p:sp>
      <p:sp>
        <p:nvSpPr>
          <p:cNvPr id="16082" name="Rectangle 11986"/>
          <p:cNvSpPr>
            <a:spLocks noChangeArrowheads="1"/>
          </p:cNvSpPr>
          <p:nvPr/>
        </p:nvSpPr>
        <p:spPr bwMode="auto">
          <a:xfrm>
            <a:off x="5029200" y="1143000"/>
            <a:ext cx="36179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>
                <a:latin typeface="Arial" charset="0"/>
                <a:ea typeface="굴림체" pitchFamily="49" charset="-127"/>
              </a:rPr>
              <a:t>1.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134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조치사항 참조.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2.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상태를 확인한다.(승장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Sill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이물질이 있는지 점검)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</a:p>
          <a:p>
            <a:endParaRPr lang="ko-KR" altLang="en-US" sz="1000">
              <a:latin typeface="Arial" charset="0"/>
              <a:ea typeface="굴림체" pitchFamily="49" charset="-127"/>
            </a:endParaRPr>
          </a:p>
        </p:txBody>
      </p:sp>
      <p:sp>
        <p:nvSpPr>
          <p:cNvPr id="16083" name="Rectangle 11987"/>
          <p:cNvSpPr>
            <a:spLocks noChangeArrowheads="1"/>
          </p:cNvSpPr>
          <p:nvPr/>
        </p:nvSpPr>
        <p:spPr bwMode="auto">
          <a:xfrm>
            <a:off x="152400" y="1905000"/>
            <a:ext cx="44831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NUDGIG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검출되어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NUDGING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출력이 나간 후 30초 후에도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Close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되지 않은 상태 검출.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CLOSE LOCK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고장(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TCD134)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먼저 검출된 후 검출됨.</a:t>
            </a:r>
          </a:p>
        </p:txBody>
      </p:sp>
      <p:grpSp>
        <p:nvGrpSpPr>
          <p:cNvPr id="2" name="Group 11988"/>
          <p:cNvGrpSpPr>
            <a:grpSpLocks/>
          </p:cNvGrpSpPr>
          <p:nvPr/>
        </p:nvGrpSpPr>
        <p:grpSpPr bwMode="auto">
          <a:xfrm>
            <a:off x="609600" y="3124200"/>
            <a:ext cx="533400" cy="152400"/>
            <a:chOff x="264" y="1536"/>
            <a:chExt cx="336" cy="96"/>
          </a:xfrm>
        </p:grpSpPr>
        <p:sp>
          <p:nvSpPr>
            <p:cNvPr id="16085" name="Line 11989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086" name="Line 11990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087" name="Line 11991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088" name="Line 11992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6089" name="Line 11993"/>
          <p:cNvSpPr>
            <a:spLocks noChangeShapeType="1"/>
          </p:cNvSpPr>
          <p:nvPr/>
        </p:nvSpPr>
        <p:spPr bwMode="auto">
          <a:xfrm>
            <a:off x="152400" y="3200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3" name="Group 11994"/>
          <p:cNvGrpSpPr>
            <a:grpSpLocks/>
          </p:cNvGrpSpPr>
          <p:nvPr/>
        </p:nvGrpSpPr>
        <p:grpSpPr bwMode="auto">
          <a:xfrm>
            <a:off x="2057400" y="3124200"/>
            <a:ext cx="533400" cy="152400"/>
            <a:chOff x="264" y="1536"/>
            <a:chExt cx="336" cy="96"/>
          </a:xfrm>
        </p:grpSpPr>
        <p:sp>
          <p:nvSpPr>
            <p:cNvPr id="16091" name="Line 11995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092" name="Line 11996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093" name="Line 11997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094" name="Line 11998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6095" name="Line 11999"/>
          <p:cNvSpPr>
            <a:spLocks noChangeShapeType="1"/>
          </p:cNvSpPr>
          <p:nvPr/>
        </p:nvSpPr>
        <p:spPr bwMode="auto">
          <a:xfrm>
            <a:off x="1143000" y="32004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096" name="Rectangle 12000"/>
          <p:cNvSpPr>
            <a:spLocks noChangeArrowheads="1"/>
          </p:cNvSpPr>
          <p:nvPr/>
        </p:nvSpPr>
        <p:spPr bwMode="auto">
          <a:xfrm>
            <a:off x="1949450" y="2908300"/>
            <a:ext cx="8969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Coil[DC_DOLS]</a:t>
            </a:r>
          </a:p>
        </p:txBody>
      </p:sp>
      <p:sp>
        <p:nvSpPr>
          <p:cNvPr id="16097" name="Rectangle 12001"/>
          <p:cNvSpPr>
            <a:spLocks noChangeArrowheads="1"/>
          </p:cNvSpPr>
          <p:nvPr/>
        </p:nvSpPr>
        <p:spPr bwMode="auto">
          <a:xfrm>
            <a:off x="2070100" y="325596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ko-KR" altLang="en-US" sz="700">
                <a:latin typeface="Arial" charset="0"/>
                <a:ea typeface="굴림체" pitchFamily="49" charset="-127"/>
              </a:rPr>
              <a:t>0</a:t>
            </a:r>
            <a:r>
              <a:rPr lang="en-US" altLang="ko-KR" sz="700">
                <a:latin typeface="Arial" charset="0"/>
                <a:ea typeface="굴림체" pitchFamily="49" charset="-127"/>
              </a:rPr>
              <a:t>x90A6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141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ER_RTC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20526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RTC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칩이 동작되지 않을 때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143000"/>
            <a:ext cx="40100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1.  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시간설정 모드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(A69E)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이용하여 시간설정을 다시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2.  Backup Battery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전압을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.(3.0V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 시 교체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3.  2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항이 정상이고 계속하여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발생하면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RTC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시간칩에 이상이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 있으므로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33350" y="1924050"/>
            <a:ext cx="445611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>
                <a:latin typeface="Arial" charset="0"/>
                <a:ea typeface="굴림체" pitchFamily="49" charset="-127"/>
              </a:rPr>
              <a:t>주기적으로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RTC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칩을 통해 시간을 읽을 때와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이용하여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RTC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칩의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시간설정을 할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RTC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칩의 이상으로 인하여 제대로 동작 되지 않을 때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E/L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운행에는 영향을 미치지 않음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145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ER_INV_DOOR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066800"/>
            <a:ext cx="4057650" cy="379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DOP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FUSE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단선되어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단선되어 있을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1) FUSE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용량이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인가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2) MAIN FFB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DOP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상의 도어 전원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LINE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EARTH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절연을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기구박스상의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DMC_CUT1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상태로 되어 있는지 </a:t>
            </a:r>
          </a:p>
          <a:p>
            <a:pPr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DCD-21x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전원 공급상태를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PJ1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8,17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전압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(AC93V ~ AC121V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</a:p>
          <a:p>
            <a:pPr>
              <a:lnSpc>
                <a:spcPct val="110000"/>
              </a:lnSpc>
            </a:pPr>
            <a:r>
              <a:rPr lang="ko-KR" altLang="ko-KR" sz="1000">
                <a:latin typeface="Arial" charset="0"/>
                <a:ea typeface="굴림체" pitchFamily="49" charset="-127"/>
              </a:rPr>
              <a:t>4.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DCD-21x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LD4(SAFE-OK)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점멸하고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점멸하고 있지 않은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-&gt; DCD-21X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DCD-21x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LD6(WDT)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점등 여부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소등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-&gt; DCD-21X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DCD-21x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PJ1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PJ3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전압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48V)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DC 48V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아닌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-&gt; DCD-21X 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OPB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DCL-241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DRIN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 48V)  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1) DC 48V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아닌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-&gt; DR(IN/OUT) CABLE ASY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결선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2) DC 48V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-&gt; DCL-241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 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33400" y="838200"/>
            <a:ext cx="417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DOOR CPU Watchdog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연속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RETRY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신호를 출력하였으나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DOOR CPU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정상적으로 복귀 되지 않을 때 검출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33350" y="1924050"/>
            <a:ext cx="4600575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카 통신을 통해 받은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Watchdog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있을 시 </a:t>
            </a:r>
            <a:r>
              <a:rPr lang="ko-KR" altLang="ko-KR" sz="1000">
                <a:latin typeface="Arial" charset="0"/>
                <a:ea typeface="굴림체" pitchFamily="49" charset="-127"/>
              </a:rPr>
              <a:t>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운전측에서는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DOOR CPU Retry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300 ms Hold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시키고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동안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CPU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Watchdog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신호의 정상 복귀 여부를 감시한다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만약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</a:t>
            </a:r>
            <a:r>
              <a:rPr lang="ko-KR" altLang="ko-KR" sz="1000">
                <a:latin typeface="Arial" charset="0"/>
                <a:ea typeface="굴림체" pitchFamily="49" charset="-127"/>
              </a:rPr>
              <a:t>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후에도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CPU Watchdog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신호가 정상 복귀되지 않을 시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다시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CPU Retry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신호를 출력하고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연속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발생하면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검출한다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검출되더라도 계속하여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Retry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신호는 출력되고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Watchdog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신호가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정상으로 복귀되었을 경우에는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Clear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146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ER_WATER_FULL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2400" y="1981200"/>
            <a:ext cx="40100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발생되어도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E/L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운행에는 지장이 없음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발생하면 에어컨을 작동시키지 않음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143000"/>
            <a:ext cx="22875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1. COOLER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만수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Sensor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533400" y="838200"/>
            <a:ext cx="4051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>
                <a:latin typeface="Arial" charset="0"/>
                <a:ea typeface="굴림체" pitchFamily="49" charset="-127"/>
              </a:rPr>
              <a:t>에어컨 배수 운전을 시작한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분이 지나도 만수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Sensor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계속 동작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될 때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147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1981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ER_OBS_DETECT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4953000" y="7620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52400" y="1981200"/>
            <a:ext cx="0" cy="441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4876800" y="1981200"/>
            <a:ext cx="0" cy="441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3657600" y="36576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4038600" y="3429000"/>
            <a:ext cx="7112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165100" y="1962150"/>
            <a:ext cx="9350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SPD_Function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.OBS_Operation</a:t>
            </a:r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4038600" y="3429000"/>
            <a:ext cx="6508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304800" y="2286000"/>
            <a:ext cx="533400" cy="152400"/>
            <a:chOff x="264" y="1536"/>
            <a:chExt cx="336" cy="96"/>
          </a:xfrm>
        </p:grpSpPr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7" name="Line 29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79" name="Line 31"/>
          <p:cNvSpPr>
            <a:spLocks noChangeShapeType="1"/>
          </p:cNvSpPr>
          <p:nvPr/>
        </p:nvSpPr>
        <p:spPr bwMode="auto">
          <a:xfrm>
            <a:off x="152400" y="23622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828800" y="2286000"/>
            <a:ext cx="533400" cy="152400"/>
            <a:chOff x="264" y="1536"/>
            <a:chExt cx="336" cy="96"/>
          </a:xfrm>
        </p:grpSpPr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3" name="Line 35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4" name="Line 36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5" name="Line 37"/>
          <p:cNvSpPr>
            <a:spLocks noChangeShapeType="1"/>
          </p:cNvSpPr>
          <p:nvPr/>
        </p:nvSpPr>
        <p:spPr bwMode="auto">
          <a:xfrm>
            <a:off x="838200" y="2362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1066800" y="1981200"/>
            <a:ext cx="685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Coil[RS_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RUNNING]</a:t>
            </a:r>
          </a:p>
        </p:txBody>
      </p:sp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1314450" y="234156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0x91B0</a:t>
            </a:r>
          </a:p>
        </p:txBody>
      </p: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1066800" y="2286000"/>
            <a:ext cx="533400" cy="152400"/>
            <a:chOff x="264" y="1536"/>
            <a:chExt cx="336" cy="96"/>
          </a:xfrm>
        </p:grpSpPr>
        <p:sp>
          <p:nvSpPr>
            <p:cNvPr id="2089" name="Line 41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457200" y="4191000"/>
            <a:ext cx="533400" cy="152400"/>
            <a:chOff x="264" y="1536"/>
            <a:chExt cx="336" cy="96"/>
          </a:xfrm>
        </p:grpSpPr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5" name="Line 47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7" name="Line 49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2743200" y="2286000"/>
            <a:ext cx="533400" cy="152400"/>
            <a:chOff x="264" y="1536"/>
            <a:chExt cx="336" cy="96"/>
          </a:xfrm>
        </p:grpSpPr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0" name="Line 52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1" name="Line 53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2" name="Line 54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7" name="Group 55"/>
          <p:cNvGrpSpPr>
            <a:grpSpLocks/>
          </p:cNvGrpSpPr>
          <p:nvPr/>
        </p:nvGrpSpPr>
        <p:grpSpPr bwMode="auto">
          <a:xfrm>
            <a:off x="2743200" y="2895600"/>
            <a:ext cx="533400" cy="152400"/>
            <a:chOff x="264" y="1536"/>
            <a:chExt cx="336" cy="96"/>
          </a:xfrm>
        </p:grpSpPr>
        <p:sp>
          <p:nvSpPr>
            <p:cNvPr id="2104" name="Line 56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5" name="Line 57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6" name="Line 58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7" name="Line 59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8" name="Group 60"/>
          <p:cNvGrpSpPr>
            <a:grpSpLocks/>
          </p:cNvGrpSpPr>
          <p:nvPr/>
        </p:nvGrpSpPr>
        <p:grpSpPr bwMode="auto">
          <a:xfrm>
            <a:off x="3810000" y="2895600"/>
            <a:ext cx="533400" cy="152400"/>
            <a:chOff x="264" y="1536"/>
            <a:chExt cx="336" cy="96"/>
          </a:xfrm>
        </p:grpSpPr>
        <p:sp>
          <p:nvSpPr>
            <p:cNvPr id="2109" name="Line 61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0" name="Line 62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1" name="Line 63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2" name="Line 64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3" name="Line 65"/>
          <p:cNvSpPr>
            <a:spLocks noChangeShapeType="1"/>
          </p:cNvSpPr>
          <p:nvPr/>
        </p:nvSpPr>
        <p:spPr bwMode="auto">
          <a:xfrm>
            <a:off x="1524000" y="2362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4" name="Line 66"/>
          <p:cNvSpPr>
            <a:spLocks noChangeShapeType="1"/>
          </p:cNvSpPr>
          <p:nvPr/>
        </p:nvSpPr>
        <p:spPr bwMode="auto">
          <a:xfrm>
            <a:off x="2362200" y="2362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5" name="Line 67"/>
          <p:cNvSpPr>
            <a:spLocks noChangeShapeType="1"/>
          </p:cNvSpPr>
          <p:nvPr/>
        </p:nvSpPr>
        <p:spPr bwMode="auto">
          <a:xfrm>
            <a:off x="4572000" y="2362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6" name="Line 68"/>
          <p:cNvSpPr>
            <a:spLocks noChangeShapeType="1"/>
          </p:cNvSpPr>
          <p:nvPr/>
        </p:nvSpPr>
        <p:spPr bwMode="auto">
          <a:xfrm>
            <a:off x="4267200" y="2362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7" name="Line 69"/>
          <p:cNvSpPr>
            <a:spLocks noChangeShapeType="1"/>
          </p:cNvSpPr>
          <p:nvPr/>
        </p:nvSpPr>
        <p:spPr bwMode="auto">
          <a:xfrm>
            <a:off x="4343400" y="2971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8" name="Line 70"/>
          <p:cNvSpPr>
            <a:spLocks noChangeShapeType="1"/>
          </p:cNvSpPr>
          <p:nvPr/>
        </p:nvSpPr>
        <p:spPr bwMode="auto">
          <a:xfrm>
            <a:off x="3200400" y="29718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9" name="Line 71"/>
          <p:cNvSpPr>
            <a:spLocks noChangeShapeType="1"/>
          </p:cNvSpPr>
          <p:nvPr/>
        </p:nvSpPr>
        <p:spPr bwMode="auto">
          <a:xfrm>
            <a:off x="1066800" y="29718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0" name="Line 72"/>
          <p:cNvSpPr>
            <a:spLocks noChangeShapeType="1"/>
          </p:cNvSpPr>
          <p:nvPr/>
        </p:nvSpPr>
        <p:spPr bwMode="auto">
          <a:xfrm>
            <a:off x="2133600" y="29718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1" name="Line 73"/>
          <p:cNvSpPr>
            <a:spLocks noChangeShapeType="1"/>
          </p:cNvSpPr>
          <p:nvPr/>
        </p:nvSpPr>
        <p:spPr bwMode="auto">
          <a:xfrm>
            <a:off x="381000" y="29718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2" name="Line 74"/>
          <p:cNvSpPr>
            <a:spLocks noChangeShapeType="1"/>
          </p:cNvSpPr>
          <p:nvPr/>
        </p:nvSpPr>
        <p:spPr bwMode="auto">
          <a:xfrm>
            <a:off x="381000" y="2971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9" name="Group 75"/>
          <p:cNvGrpSpPr>
            <a:grpSpLocks/>
          </p:cNvGrpSpPr>
          <p:nvPr/>
        </p:nvGrpSpPr>
        <p:grpSpPr bwMode="auto">
          <a:xfrm>
            <a:off x="1676400" y="2895600"/>
            <a:ext cx="533400" cy="152400"/>
            <a:chOff x="1512" y="1536"/>
            <a:chExt cx="336" cy="96"/>
          </a:xfrm>
        </p:grpSpPr>
        <p:grpSp>
          <p:nvGrpSpPr>
            <p:cNvPr id="10" name="Group 76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25" name="Line 77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6" name="Line 78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7" name="Line 79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8" name="Line 80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29" name="Line 81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1" name="Group 82"/>
          <p:cNvGrpSpPr>
            <a:grpSpLocks/>
          </p:cNvGrpSpPr>
          <p:nvPr/>
        </p:nvGrpSpPr>
        <p:grpSpPr bwMode="auto">
          <a:xfrm>
            <a:off x="609600" y="2895600"/>
            <a:ext cx="533400" cy="152400"/>
            <a:chOff x="1512" y="1536"/>
            <a:chExt cx="336" cy="96"/>
          </a:xfrm>
        </p:grpSpPr>
        <p:grpSp>
          <p:nvGrpSpPr>
            <p:cNvPr id="12" name="Group 83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32" name="Line 84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3" name="Line 85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4" name="Line 86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5" name="Line 87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36" name="Line 88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3" name="Group 89"/>
          <p:cNvGrpSpPr>
            <a:grpSpLocks/>
          </p:cNvGrpSpPr>
          <p:nvPr/>
        </p:nvGrpSpPr>
        <p:grpSpPr bwMode="auto">
          <a:xfrm>
            <a:off x="1371600" y="3581400"/>
            <a:ext cx="533400" cy="152400"/>
            <a:chOff x="1512" y="1536"/>
            <a:chExt cx="336" cy="96"/>
          </a:xfrm>
        </p:grpSpPr>
        <p:grpSp>
          <p:nvGrpSpPr>
            <p:cNvPr id="14" name="Group 90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39" name="Line 91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0" name="Line 92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1" name="Line 93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43" name="Line 95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5" name="Group 96"/>
          <p:cNvGrpSpPr>
            <a:grpSpLocks/>
          </p:cNvGrpSpPr>
          <p:nvPr/>
        </p:nvGrpSpPr>
        <p:grpSpPr bwMode="auto">
          <a:xfrm>
            <a:off x="2133600" y="3581400"/>
            <a:ext cx="533400" cy="152400"/>
            <a:chOff x="1512" y="1536"/>
            <a:chExt cx="336" cy="96"/>
          </a:xfrm>
        </p:grpSpPr>
        <p:grpSp>
          <p:nvGrpSpPr>
            <p:cNvPr id="16" name="Group 97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46" name="Line 98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7" name="Line 99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8" name="Line 100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9" name="Line 101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50" name="Line 102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51" name="Line 103"/>
          <p:cNvSpPr>
            <a:spLocks noChangeShapeType="1"/>
          </p:cNvSpPr>
          <p:nvPr/>
        </p:nvSpPr>
        <p:spPr bwMode="auto">
          <a:xfrm>
            <a:off x="381000" y="3657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2" name="Line 104"/>
          <p:cNvSpPr>
            <a:spLocks noChangeShapeType="1"/>
          </p:cNvSpPr>
          <p:nvPr/>
        </p:nvSpPr>
        <p:spPr bwMode="auto">
          <a:xfrm>
            <a:off x="1676400" y="36576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3" name="Rectangle 105"/>
          <p:cNvSpPr>
            <a:spLocks noChangeArrowheads="1"/>
          </p:cNvSpPr>
          <p:nvPr/>
        </p:nvSpPr>
        <p:spPr bwMode="auto">
          <a:xfrm>
            <a:off x="3505200" y="4038600"/>
            <a:ext cx="12446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4" name="Rectangle 106"/>
          <p:cNvSpPr>
            <a:spLocks noChangeArrowheads="1"/>
          </p:cNvSpPr>
          <p:nvPr/>
        </p:nvSpPr>
        <p:spPr bwMode="auto">
          <a:xfrm>
            <a:off x="3556000" y="4089400"/>
            <a:ext cx="1231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TMC_Resett(OBS_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LDC_ON_DETECT_T)</a:t>
            </a:r>
          </a:p>
        </p:txBody>
      </p:sp>
      <p:sp>
        <p:nvSpPr>
          <p:cNvPr id="2155" name="Line 107"/>
          <p:cNvSpPr>
            <a:spLocks noChangeShapeType="1"/>
          </p:cNvSpPr>
          <p:nvPr/>
        </p:nvSpPr>
        <p:spPr bwMode="auto">
          <a:xfrm>
            <a:off x="914400" y="42672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6" name="Line 108"/>
          <p:cNvSpPr>
            <a:spLocks noChangeShapeType="1"/>
          </p:cNvSpPr>
          <p:nvPr/>
        </p:nvSpPr>
        <p:spPr bwMode="auto">
          <a:xfrm>
            <a:off x="152400" y="42672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7" name="Rectangle 109"/>
          <p:cNvSpPr>
            <a:spLocks noChangeArrowheads="1"/>
          </p:cNvSpPr>
          <p:nvPr/>
        </p:nvSpPr>
        <p:spPr bwMode="auto">
          <a:xfrm>
            <a:off x="1676400" y="2070100"/>
            <a:ext cx="9779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2158" name="Rectangle 110"/>
          <p:cNvSpPr>
            <a:spLocks noChangeArrowheads="1"/>
          </p:cNvSpPr>
          <p:nvPr/>
        </p:nvSpPr>
        <p:spPr bwMode="auto">
          <a:xfrm>
            <a:off x="2654300" y="2082800"/>
            <a:ext cx="9890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SWD_I[VI_C1BR]</a:t>
            </a:r>
          </a:p>
        </p:txBody>
      </p:sp>
      <p:sp>
        <p:nvSpPr>
          <p:cNvPr id="2159" name="Rectangle 111"/>
          <p:cNvSpPr>
            <a:spLocks noChangeArrowheads="1"/>
          </p:cNvSpPr>
          <p:nvPr/>
        </p:nvSpPr>
        <p:spPr bwMode="auto">
          <a:xfrm>
            <a:off x="2470150" y="2686050"/>
            <a:ext cx="10779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Coil[SW_FS_HIGH]</a:t>
            </a:r>
          </a:p>
        </p:txBody>
      </p:sp>
      <p:sp>
        <p:nvSpPr>
          <p:cNvPr id="2160" name="Rectangle 112"/>
          <p:cNvSpPr>
            <a:spLocks noChangeArrowheads="1"/>
          </p:cNvSpPr>
          <p:nvPr/>
        </p:nvSpPr>
        <p:spPr bwMode="auto">
          <a:xfrm>
            <a:off x="3657600" y="2571750"/>
            <a:ext cx="930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Coil[SW_FS_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HIGH_DETECT]</a:t>
            </a:r>
          </a:p>
        </p:txBody>
      </p:sp>
      <p:sp>
        <p:nvSpPr>
          <p:cNvPr id="2161" name="Rectangle 113"/>
          <p:cNvSpPr>
            <a:spLocks noChangeArrowheads="1"/>
          </p:cNvSpPr>
          <p:nvPr/>
        </p:nvSpPr>
        <p:spPr bwMode="auto">
          <a:xfrm>
            <a:off x="1504950" y="2571750"/>
            <a:ext cx="936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Coil[SW_ALP_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DIR_DECISION]</a:t>
            </a:r>
          </a:p>
        </p:txBody>
      </p:sp>
      <p:sp>
        <p:nvSpPr>
          <p:cNvPr id="2162" name="Rectangle 114"/>
          <p:cNvSpPr>
            <a:spLocks noChangeArrowheads="1"/>
          </p:cNvSpPr>
          <p:nvPr/>
        </p:nvSpPr>
        <p:spPr bwMode="auto">
          <a:xfrm>
            <a:off x="1181100" y="3257550"/>
            <a:ext cx="793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Coil[AC_OP_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FHM_MODE]</a:t>
            </a:r>
          </a:p>
        </p:txBody>
      </p:sp>
      <p:sp>
        <p:nvSpPr>
          <p:cNvPr id="2163" name="Rectangle 115"/>
          <p:cNvSpPr>
            <a:spLocks noChangeArrowheads="1"/>
          </p:cNvSpPr>
          <p:nvPr/>
        </p:nvSpPr>
        <p:spPr bwMode="auto">
          <a:xfrm>
            <a:off x="2012950" y="3257550"/>
            <a:ext cx="7905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Coil[AC_OP_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ALP_MODE]</a:t>
            </a:r>
          </a:p>
        </p:txBody>
      </p:sp>
      <p:sp>
        <p:nvSpPr>
          <p:cNvPr id="2164" name="Rectangle 116"/>
          <p:cNvSpPr>
            <a:spLocks noChangeArrowheads="1"/>
          </p:cNvSpPr>
          <p:nvPr/>
        </p:nvSpPr>
        <p:spPr bwMode="auto">
          <a:xfrm>
            <a:off x="2774950" y="3251200"/>
            <a:ext cx="12779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Coil[AC_OP_LOWEST_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FLOOR_SLOW]</a:t>
            </a:r>
          </a:p>
        </p:txBody>
      </p:sp>
      <p:sp>
        <p:nvSpPr>
          <p:cNvPr id="2165" name="Rectangle 117"/>
          <p:cNvSpPr>
            <a:spLocks noChangeArrowheads="1"/>
          </p:cNvSpPr>
          <p:nvPr/>
        </p:nvSpPr>
        <p:spPr bwMode="auto">
          <a:xfrm>
            <a:off x="336550" y="2571750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Coil[AC_OP_FHM_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START_MODE]</a:t>
            </a:r>
          </a:p>
        </p:txBody>
      </p:sp>
      <p:sp>
        <p:nvSpPr>
          <p:cNvPr id="2166" name="Line 118"/>
          <p:cNvSpPr>
            <a:spLocks noChangeShapeType="1"/>
          </p:cNvSpPr>
          <p:nvPr/>
        </p:nvSpPr>
        <p:spPr bwMode="auto">
          <a:xfrm>
            <a:off x="2667000" y="36576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7" name="Group 119"/>
          <p:cNvGrpSpPr>
            <a:grpSpLocks/>
          </p:cNvGrpSpPr>
          <p:nvPr/>
        </p:nvGrpSpPr>
        <p:grpSpPr bwMode="auto">
          <a:xfrm>
            <a:off x="3200400" y="3581400"/>
            <a:ext cx="533400" cy="152400"/>
            <a:chOff x="1512" y="1536"/>
            <a:chExt cx="336" cy="96"/>
          </a:xfrm>
        </p:grpSpPr>
        <p:grpSp>
          <p:nvGrpSpPr>
            <p:cNvPr id="18" name="Group 120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0" name="Line 122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3" name="Line 125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74" name="Rectangle 126"/>
          <p:cNvSpPr>
            <a:spLocks noChangeArrowheads="1"/>
          </p:cNvSpPr>
          <p:nvPr/>
        </p:nvSpPr>
        <p:spPr bwMode="auto">
          <a:xfrm>
            <a:off x="2108200" y="234791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0x802A</a:t>
            </a:r>
          </a:p>
        </p:txBody>
      </p:sp>
      <p:sp>
        <p:nvSpPr>
          <p:cNvPr id="2175" name="Rectangle 127"/>
          <p:cNvSpPr>
            <a:spLocks noChangeArrowheads="1"/>
          </p:cNvSpPr>
          <p:nvPr/>
        </p:nvSpPr>
        <p:spPr bwMode="auto">
          <a:xfrm>
            <a:off x="3854450" y="302736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0x9297</a:t>
            </a:r>
          </a:p>
        </p:txBody>
      </p:sp>
      <p:sp>
        <p:nvSpPr>
          <p:cNvPr id="2176" name="Rectangle 128"/>
          <p:cNvSpPr>
            <a:spLocks noChangeArrowheads="1"/>
          </p:cNvSpPr>
          <p:nvPr/>
        </p:nvSpPr>
        <p:spPr bwMode="auto">
          <a:xfrm>
            <a:off x="2781300" y="302736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0x9296</a:t>
            </a:r>
          </a:p>
        </p:txBody>
      </p:sp>
      <p:sp>
        <p:nvSpPr>
          <p:cNvPr id="2177" name="Rectangle 129"/>
          <p:cNvSpPr>
            <a:spLocks noChangeArrowheads="1"/>
          </p:cNvSpPr>
          <p:nvPr/>
        </p:nvSpPr>
        <p:spPr bwMode="auto">
          <a:xfrm>
            <a:off x="1720850" y="302736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0x92BC</a:t>
            </a:r>
          </a:p>
        </p:txBody>
      </p:sp>
      <p:sp>
        <p:nvSpPr>
          <p:cNvPr id="2178" name="Rectangle 130"/>
          <p:cNvSpPr>
            <a:spLocks noChangeArrowheads="1"/>
          </p:cNvSpPr>
          <p:nvPr/>
        </p:nvSpPr>
        <p:spPr bwMode="auto">
          <a:xfrm>
            <a:off x="654050" y="302736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0x9032</a:t>
            </a:r>
          </a:p>
        </p:txBody>
      </p:sp>
      <p:sp>
        <p:nvSpPr>
          <p:cNvPr id="2179" name="Rectangle 131"/>
          <p:cNvSpPr>
            <a:spLocks noChangeArrowheads="1"/>
          </p:cNvSpPr>
          <p:nvPr/>
        </p:nvSpPr>
        <p:spPr bwMode="auto">
          <a:xfrm>
            <a:off x="1638300" y="363696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0x9031</a:t>
            </a:r>
          </a:p>
        </p:txBody>
      </p:sp>
      <p:sp>
        <p:nvSpPr>
          <p:cNvPr id="2180" name="Rectangle 132"/>
          <p:cNvSpPr>
            <a:spLocks noChangeArrowheads="1"/>
          </p:cNvSpPr>
          <p:nvPr/>
        </p:nvSpPr>
        <p:spPr bwMode="auto">
          <a:xfrm>
            <a:off x="2425700" y="363696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0x9041</a:t>
            </a:r>
          </a:p>
        </p:txBody>
      </p:sp>
      <p:sp>
        <p:nvSpPr>
          <p:cNvPr id="2181" name="Rectangle 133"/>
          <p:cNvSpPr>
            <a:spLocks noChangeArrowheads="1"/>
          </p:cNvSpPr>
          <p:nvPr/>
        </p:nvSpPr>
        <p:spPr bwMode="auto">
          <a:xfrm>
            <a:off x="3454400" y="3651250"/>
            <a:ext cx="52070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0x9040</a:t>
            </a:r>
          </a:p>
        </p:txBody>
      </p:sp>
      <p:sp>
        <p:nvSpPr>
          <p:cNvPr id="2182" name="Rectangle 134"/>
          <p:cNvSpPr>
            <a:spLocks noChangeArrowheads="1"/>
          </p:cNvSpPr>
          <p:nvPr/>
        </p:nvSpPr>
        <p:spPr bwMode="auto">
          <a:xfrm>
            <a:off x="3009900" y="234156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0x8029</a:t>
            </a:r>
          </a:p>
        </p:txBody>
      </p:sp>
      <p:sp>
        <p:nvSpPr>
          <p:cNvPr id="2183" name="Rectangle 135"/>
          <p:cNvSpPr>
            <a:spLocks noChangeArrowheads="1"/>
          </p:cNvSpPr>
          <p:nvPr/>
        </p:nvSpPr>
        <p:spPr bwMode="auto">
          <a:xfrm>
            <a:off x="533400" y="3962400"/>
            <a:ext cx="6508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184" name="Line 136"/>
          <p:cNvSpPr>
            <a:spLocks noChangeShapeType="1"/>
          </p:cNvSpPr>
          <p:nvPr/>
        </p:nvSpPr>
        <p:spPr bwMode="auto">
          <a:xfrm>
            <a:off x="2438400" y="42672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5" name="Rectangle 137"/>
          <p:cNvSpPr>
            <a:spLocks noChangeArrowheads="1"/>
          </p:cNvSpPr>
          <p:nvPr/>
        </p:nvSpPr>
        <p:spPr bwMode="auto">
          <a:xfrm>
            <a:off x="4114800" y="5257800"/>
            <a:ext cx="6350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6" name="Rectangle 138"/>
          <p:cNvSpPr>
            <a:spLocks noChangeArrowheads="1"/>
          </p:cNvSpPr>
          <p:nvPr/>
        </p:nvSpPr>
        <p:spPr bwMode="auto">
          <a:xfrm>
            <a:off x="4140200" y="5276850"/>
            <a:ext cx="5635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TCD147</a:t>
            </a:r>
          </a:p>
        </p:txBody>
      </p:sp>
      <p:sp>
        <p:nvSpPr>
          <p:cNvPr id="2187" name="Line 139"/>
          <p:cNvSpPr>
            <a:spLocks noChangeShapeType="1"/>
          </p:cNvSpPr>
          <p:nvPr/>
        </p:nvSpPr>
        <p:spPr bwMode="auto">
          <a:xfrm>
            <a:off x="4743450" y="4267200"/>
            <a:ext cx="133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8" name="Line 140"/>
          <p:cNvSpPr>
            <a:spLocks noChangeShapeType="1"/>
          </p:cNvSpPr>
          <p:nvPr/>
        </p:nvSpPr>
        <p:spPr bwMode="auto">
          <a:xfrm>
            <a:off x="1447800" y="48768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9" name="Line 141"/>
          <p:cNvSpPr>
            <a:spLocks noChangeShapeType="1"/>
          </p:cNvSpPr>
          <p:nvPr/>
        </p:nvSpPr>
        <p:spPr bwMode="auto">
          <a:xfrm>
            <a:off x="1447800" y="4267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0" name="Rectangle 142"/>
          <p:cNvSpPr>
            <a:spLocks noChangeArrowheads="1"/>
          </p:cNvSpPr>
          <p:nvPr/>
        </p:nvSpPr>
        <p:spPr bwMode="auto">
          <a:xfrm>
            <a:off x="3505200" y="4648200"/>
            <a:ext cx="12446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1" name="Line 143"/>
          <p:cNvSpPr>
            <a:spLocks noChangeShapeType="1"/>
          </p:cNvSpPr>
          <p:nvPr/>
        </p:nvSpPr>
        <p:spPr bwMode="auto">
          <a:xfrm>
            <a:off x="4756150" y="4876800"/>
            <a:ext cx="133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2" name="Rectangle 144"/>
          <p:cNvSpPr>
            <a:spLocks noChangeArrowheads="1"/>
          </p:cNvSpPr>
          <p:nvPr/>
        </p:nvSpPr>
        <p:spPr bwMode="auto">
          <a:xfrm>
            <a:off x="3517900" y="4705350"/>
            <a:ext cx="1225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TMC_Start(OBS_</a:t>
            </a:r>
          </a:p>
          <a:p>
            <a:r>
              <a:rPr lang="en-US" altLang="ko-KR" sz="800">
                <a:latin typeface="Arial" charset="0"/>
                <a:ea typeface="굴림체" pitchFamily="49" charset="-127"/>
              </a:rPr>
              <a:t>LDC_ON_DETECT_T)</a:t>
            </a:r>
          </a:p>
        </p:txBody>
      </p:sp>
      <p:grpSp>
        <p:nvGrpSpPr>
          <p:cNvPr id="19" name="Group 145"/>
          <p:cNvGrpSpPr>
            <a:grpSpLocks/>
          </p:cNvGrpSpPr>
          <p:nvPr/>
        </p:nvGrpSpPr>
        <p:grpSpPr bwMode="auto">
          <a:xfrm>
            <a:off x="838200" y="5410200"/>
            <a:ext cx="533400" cy="152400"/>
            <a:chOff x="264" y="1536"/>
            <a:chExt cx="336" cy="96"/>
          </a:xfrm>
        </p:grpSpPr>
        <p:sp>
          <p:nvSpPr>
            <p:cNvPr id="2194" name="Line 146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5" name="Line 147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6" name="Line 148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7" name="Line 149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98" name="Line 150"/>
          <p:cNvSpPr>
            <a:spLocks noChangeShapeType="1"/>
          </p:cNvSpPr>
          <p:nvPr/>
        </p:nvSpPr>
        <p:spPr bwMode="auto">
          <a:xfrm>
            <a:off x="152400" y="54864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9" name="Line 151"/>
          <p:cNvSpPr>
            <a:spLocks noChangeShapeType="1"/>
          </p:cNvSpPr>
          <p:nvPr/>
        </p:nvSpPr>
        <p:spPr bwMode="auto">
          <a:xfrm>
            <a:off x="1295400" y="54864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0" name="Rectangle 152"/>
          <p:cNvSpPr>
            <a:spLocks noChangeArrowheads="1"/>
          </p:cNvSpPr>
          <p:nvPr/>
        </p:nvSpPr>
        <p:spPr bwMode="auto">
          <a:xfrm>
            <a:off x="1320800" y="3987800"/>
            <a:ext cx="17716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SWD_I[VI_LDC] == old_LDC_state</a:t>
            </a:r>
          </a:p>
        </p:txBody>
      </p:sp>
      <p:sp>
        <p:nvSpPr>
          <p:cNvPr id="2201" name="Rectangle 153"/>
          <p:cNvSpPr>
            <a:spLocks noChangeArrowheads="1"/>
          </p:cNvSpPr>
          <p:nvPr/>
        </p:nvSpPr>
        <p:spPr bwMode="auto">
          <a:xfrm>
            <a:off x="285750" y="5086350"/>
            <a:ext cx="160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TMC_Check(OBS_LDC_ON_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DETECT_T,FINISH_STATE)</a:t>
            </a:r>
          </a:p>
        </p:txBody>
      </p:sp>
      <p:sp>
        <p:nvSpPr>
          <p:cNvPr id="2202" name="Rectangle 154"/>
          <p:cNvSpPr>
            <a:spLocks noChangeArrowheads="1"/>
          </p:cNvSpPr>
          <p:nvPr/>
        </p:nvSpPr>
        <p:spPr bwMode="auto">
          <a:xfrm>
            <a:off x="1822450" y="430371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0x8025</a:t>
            </a:r>
          </a:p>
        </p:txBody>
      </p:sp>
      <p:sp>
        <p:nvSpPr>
          <p:cNvPr id="2203" name="Rectangle 155"/>
          <p:cNvSpPr>
            <a:spLocks noChangeArrowheads="1"/>
          </p:cNvSpPr>
          <p:nvPr/>
        </p:nvSpPr>
        <p:spPr bwMode="auto">
          <a:xfrm>
            <a:off x="5013325" y="1003300"/>
            <a:ext cx="3754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HOLD Type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안전을 끊고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E/L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기동 불가 상태가 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204" name="Rectangle 156"/>
          <p:cNvSpPr>
            <a:spLocks noChangeArrowheads="1"/>
          </p:cNvSpPr>
          <p:nvPr/>
        </p:nvSpPr>
        <p:spPr bwMode="auto">
          <a:xfrm>
            <a:off x="533400" y="838200"/>
            <a:ext cx="33559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>
                <a:latin typeface="Arial" charset="0"/>
                <a:ea typeface="굴림체" pitchFamily="49" charset="-127"/>
              </a:rPr>
              <a:t>고속 모드에서 주행 중일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LDC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신호가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20~45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동안 계속하여 유지되는 것을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 시간은 층고에 따라 달라짐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205" name="Rectangle 157"/>
          <p:cNvSpPr>
            <a:spLocks noChangeArrowheads="1"/>
          </p:cNvSpPr>
          <p:nvPr/>
        </p:nvSpPr>
        <p:spPr bwMode="auto">
          <a:xfrm>
            <a:off x="5013325" y="2212975"/>
            <a:ext cx="39624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1. 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RESET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버튼을 이용하여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RESET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시킨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저속으로 카를 움직인다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2. 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</a:t>
            </a:r>
            <a:r>
              <a:rPr lang="ko-KR" altLang="en-US" sz="8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RDZ  RELAY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카가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ZONE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지날 때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RELAY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적색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소등하고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ZONE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이외의 지역에는 점등하는지를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3. 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</a:t>
            </a:r>
            <a:r>
              <a:rPr lang="ko-KR" altLang="en-US" sz="8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RDZ RELAY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바르게 장착 되어 있는지를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확인한다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승강로의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POSI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고장인지를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이상이 있으면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POSI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grpSp>
        <p:nvGrpSpPr>
          <p:cNvPr id="20" name="Group 158"/>
          <p:cNvGrpSpPr>
            <a:grpSpLocks/>
          </p:cNvGrpSpPr>
          <p:nvPr/>
        </p:nvGrpSpPr>
        <p:grpSpPr bwMode="auto">
          <a:xfrm>
            <a:off x="533400" y="3581400"/>
            <a:ext cx="533400" cy="152400"/>
            <a:chOff x="264" y="1536"/>
            <a:chExt cx="336" cy="96"/>
          </a:xfrm>
        </p:grpSpPr>
        <p:sp>
          <p:nvSpPr>
            <p:cNvPr id="2207" name="Line 159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8" name="Line 160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9" name="Line 161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0" name="Line 162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11" name="Line 163"/>
          <p:cNvSpPr>
            <a:spLocks noChangeShapeType="1"/>
          </p:cNvSpPr>
          <p:nvPr/>
        </p:nvSpPr>
        <p:spPr bwMode="auto">
          <a:xfrm>
            <a:off x="1066800" y="3657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12" name="Rectangle 164"/>
          <p:cNvSpPr>
            <a:spLocks noChangeArrowheads="1"/>
          </p:cNvSpPr>
          <p:nvPr/>
        </p:nvSpPr>
        <p:spPr bwMode="auto">
          <a:xfrm>
            <a:off x="469900" y="3263900"/>
            <a:ext cx="6715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Coil[IS_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CUR_V_0]</a:t>
            </a:r>
          </a:p>
        </p:txBody>
      </p:sp>
      <p:sp>
        <p:nvSpPr>
          <p:cNvPr id="2213" name="Rectangle 165"/>
          <p:cNvSpPr>
            <a:spLocks noChangeArrowheads="1"/>
          </p:cNvSpPr>
          <p:nvPr/>
        </p:nvSpPr>
        <p:spPr bwMode="auto">
          <a:xfrm>
            <a:off x="787400" y="364331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0x9E8</a:t>
            </a:r>
          </a:p>
        </p:txBody>
      </p:sp>
      <p:grpSp>
        <p:nvGrpSpPr>
          <p:cNvPr id="21" name="Group 166"/>
          <p:cNvGrpSpPr>
            <a:grpSpLocks/>
          </p:cNvGrpSpPr>
          <p:nvPr/>
        </p:nvGrpSpPr>
        <p:grpSpPr bwMode="auto">
          <a:xfrm>
            <a:off x="3733800" y="2286000"/>
            <a:ext cx="533400" cy="152400"/>
            <a:chOff x="1512" y="1536"/>
            <a:chExt cx="336" cy="96"/>
          </a:xfrm>
        </p:grpSpPr>
        <p:grpSp>
          <p:nvGrpSpPr>
            <p:cNvPr id="22" name="Group 167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216" name="Line 168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7" name="Line 169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8" name="Line 170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19" name="Line 171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20" name="Line 172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21" name="Line 173"/>
          <p:cNvSpPr>
            <a:spLocks noChangeShapeType="1"/>
          </p:cNvSpPr>
          <p:nvPr/>
        </p:nvSpPr>
        <p:spPr bwMode="auto">
          <a:xfrm>
            <a:off x="3276600" y="23622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22" name="Rectangle 174"/>
          <p:cNvSpPr>
            <a:spLocks noChangeArrowheads="1"/>
          </p:cNvSpPr>
          <p:nvPr/>
        </p:nvSpPr>
        <p:spPr bwMode="auto">
          <a:xfrm>
            <a:off x="3600450" y="1981200"/>
            <a:ext cx="1339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Coil[AC_OP_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SAFETY_DRIVE_MODE]</a:t>
            </a:r>
          </a:p>
        </p:txBody>
      </p:sp>
      <p:sp>
        <p:nvSpPr>
          <p:cNvPr id="2223" name="Rectangle 175"/>
          <p:cNvSpPr>
            <a:spLocks noChangeArrowheads="1"/>
          </p:cNvSpPr>
          <p:nvPr/>
        </p:nvSpPr>
        <p:spPr bwMode="auto">
          <a:xfrm>
            <a:off x="4000500" y="2335213"/>
            <a:ext cx="520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0x9033</a:t>
            </a:r>
          </a:p>
        </p:txBody>
      </p:sp>
      <p:grpSp>
        <p:nvGrpSpPr>
          <p:cNvPr id="23" name="Group 176"/>
          <p:cNvGrpSpPr>
            <a:grpSpLocks/>
          </p:cNvGrpSpPr>
          <p:nvPr/>
        </p:nvGrpSpPr>
        <p:grpSpPr bwMode="auto">
          <a:xfrm>
            <a:off x="1905000" y="4191000"/>
            <a:ext cx="533400" cy="152400"/>
            <a:chOff x="1512" y="1536"/>
            <a:chExt cx="336" cy="96"/>
          </a:xfrm>
        </p:grpSpPr>
        <p:grpSp>
          <p:nvGrpSpPr>
            <p:cNvPr id="24" name="Group 177"/>
            <p:cNvGrpSpPr>
              <a:grpSpLocks/>
            </p:cNvGrpSpPr>
            <p:nvPr/>
          </p:nvGrpSpPr>
          <p:grpSpPr bwMode="auto">
            <a:xfrm>
              <a:off x="1512" y="1536"/>
              <a:ext cx="336" cy="96"/>
              <a:chOff x="1512" y="1536"/>
              <a:chExt cx="336" cy="96"/>
            </a:xfrm>
          </p:grpSpPr>
          <p:sp>
            <p:nvSpPr>
              <p:cNvPr id="2226" name="Line 178"/>
              <p:cNvSpPr>
                <a:spLocks noChangeShapeType="1"/>
              </p:cNvSpPr>
              <p:nvPr/>
            </p:nvSpPr>
            <p:spPr bwMode="auto">
              <a:xfrm>
                <a:off x="1656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7" name="Line 179"/>
              <p:cNvSpPr>
                <a:spLocks noChangeShapeType="1"/>
              </p:cNvSpPr>
              <p:nvPr/>
            </p:nvSpPr>
            <p:spPr bwMode="auto">
              <a:xfrm>
                <a:off x="1704" y="153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8" name="Line 180"/>
              <p:cNvSpPr>
                <a:spLocks noChangeShapeType="1"/>
              </p:cNvSpPr>
              <p:nvPr/>
            </p:nvSpPr>
            <p:spPr bwMode="auto">
              <a:xfrm>
                <a:off x="1512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29" name="Line 181"/>
              <p:cNvSpPr>
                <a:spLocks noChangeShapeType="1"/>
              </p:cNvSpPr>
              <p:nvPr/>
            </p:nvSpPr>
            <p:spPr bwMode="auto">
              <a:xfrm>
                <a:off x="1704" y="158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30" name="Line 182"/>
            <p:cNvSpPr>
              <a:spLocks noChangeShapeType="1"/>
            </p:cNvSpPr>
            <p:nvPr/>
          </p:nvSpPr>
          <p:spPr bwMode="auto">
            <a:xfrm flipV="1">
              <a:off x="1608" y="153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5" name="Group 183"/>
          <p:cNvGrpSpPr>
            <a:grpSpLocks/>
          </p:cNvGrpSpPr>
          <p:nvPr/>
        </p:nvGrpSpPr>
        <p:grpSpPr bwMode="auto">
          <a:xfrm>
            <a:off x="838200" y="6019800"/>
            <a:ext cx="533400" cy="152400"/>
            <a:chOff x="264" y="1536"/>
            <a:chExt cx="336" cy="96"/>
          </a:xfrm>
        </p:grpSpPr>
        <p:sp>
          <p:nvSpPr>
            <p:cNvPr id="2232" name="Line 184"/>
            <p:cNvSpPr>
              <a:spLocks noChangeShapeType="1"/>
            </p:cNvSpPr>
            <p:nvPr/>
          </p:nvSpPr>
          <p:spPr bwMode="auto">
            <a:xfrm>
              <a:off x="408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3" name="Line 185"/>
            <p:cNvSpPr>
              <a:spLocks noChangeShapeType="1"/>
            </p:cNvSpPr>
            <p:nvPr/>
          </p:nvSpPr>
          <p:spPr bwMode="auto">
            <a:xfrm>
              <a:off x="456" y="1536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4" name="Line 186"/>
            <p:cNvSpPr>
              <a:spLocks noChangeShapeType="1"/>
            </p:cNvSpPr>
            <p:nvPr/>
          </p:nvSpPr>
          <p:spPr bwMode="auto">
            <a:xfrm>
              <a:off x="264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5" name="Line 187"/>
            <p:cNvSpPr>
              <a:spLocks noChangeShapeType="1"/>
            </p:cNvSpPr>
            <p:nvPr/>
          </p:nvSpPr>
          <p:spPr bwMode="auto">
            <a:xfrm>
              <a:off x="456" y="15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36" name="Line 188"/>
          <p:cNvSpPr>
            <a:spLocks noChangeShapeType="1"/>
          </p:cNvSpPr>
          <p:nvPr/>
        </p:nvSpPr>
        <p:spPr bwMode="auto">
          <a:xfrm>
            <a:off x="152400" y="60960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37" name="Line 189"/>
          <p:cNvSpPr>
            <a:spLocks noChangeShapeType="1"/>
          </p:cNvSpPr>
          <p:nvPr/>
        </p:nvSpPr>
        <p:spPr bwMode="auto">
          <a:xfrm>
            <a:off x="1295400" y="60960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38" name="Rectangle 190"/>
          <p:cNvSpPr>
            <a:spLocks noChangeArrowheads="1"/>
          </p:cNvSpPr>
          <p:nvPr/>
        </p:nvSpPr>
        <p:spPr bwMode="auto">
          <a:xfrm>
            <a:off x="3810000" y="5867400"/>
            <a:ext cx="9398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39" name="Rectangle 191"/>
          <p:cNvSpPr>
            <a:spLocks noChangeArrowheads="1"/>
          </p:cNvSpPr>
          <p:nvPr/>
        </p:nvSpPr>
        <p:spPr bwMode="auto">
          <a:xfrm>
            <a:off x="520700" y="5810250"/>
            <a:ext cx="9207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SWD_I[VI_LDC]</a:t>
            </a:r>
          </a:p>
        </p:txBody>
      </p:sp>
      <p:sp>
        <p:nvSpPr>
          <p:cNvPr id="2240" name="Rectangle 192"/>
          <p:cNvSpPr>
            <a:spLocks noChangeArrowheads="1"/>
          </p:cNvSpPr>
          <p:nvPr/>
        </p:nvSpPr>
        <p:spPr bwMode="auto">
          <a:xfrm>
            <a:off x="3886200" y="5867400"/>
            <a:ext cx="777875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r>
              <a:rPr lang="ko-KR" altLang="ko-KR" sz="800">
                <a:latin typeface="Arial" charset="0"/>
                <a:ea typeface="굴림체" pitchFamily="49" charset="-127"/>
              </a:rPr>
              <a:t>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old_LDC_state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150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ER_SD1D_OS</a:t>
            </a:r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33400" y="838200"/>
            <a:ext cx="41386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SD1D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 위치에서 제한속도를 초과하면 검출되고 비상정지를 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52400" y="1905000"/>
            <a:ext cx="4724400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강제 감속 조건이 검출된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Coil[SV_FORCE_DECEL] = ON )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&gt;&gt;  SD1D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동작되는 시점에서 실제 속도가 속도 지령치 보다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 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큰 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  경우가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 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Over Speed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실제 속도가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30</a:t>
            </a:r>
            <a:r>
              <a:rPr lang="ko-KR" altLang="ko-KR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이하인 경우에는 검출 안함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강제 감속 조건이 검출되지 않은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Coil[SV_FORCE_DECEL] = OFF )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1)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60m/min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</a:t>
            </a:r>
          </a:p>
          <a:p>
            <a:pPr>
              <a:spcBef>
                <a:spcPct val="50000"/>
              </a:spcBef>
            </a:pPr>
            <a:r>
              <a:rPr lang="ko-KR" altLang="ko-KR" sz="1000">
                <a:latin typeface="Arial" charset="0"/>
                <a:ea typeface="굴림체" pitchFamily="49" charset="-127"/>
              </a:rPr>
              <a:t>   &gt;&gt;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SD1D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동작되는 시점에서 실제 속도가 아래 정격 속도에 따른 제한 속도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 보다 큰 경우에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Over Speed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533400" y="3810000"/>
            <a:ext cx="3657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533400" y="41148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1447800" y="3810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2362200" y="3810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Text Box 26"/>
          <p:cNvSpPr txBox="1">
            <a:spLocks noChangeArrowheads="1"/>
          </p:cNvSpPr>
          <p:nvPr/>
        </p:nvSpPr>
        <p:spPr bwMode="auto">
          <a:xfrm>
            <a:off x="635000" y="4146550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제한 속도</a:t>
            </a:r>
          </a:p>
        </p:txBody>
      </p:sp>
      <p:sp>
        <p:nvSpPr>
          <p:cNvPr id="2075" name="Text Box 27"/>
          <p:cNvSpPr txBox="1">
            <a:spLocks noChangeArrowheads="1"/>
          </p:cNvSpPr>
          <p:nvPr/>
        </p:nvSpPr>
        <p:spPr bwMode="auto">
          <a:xfrm>
            <a:off x="615950" y="3848100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정격 속도</a:t>
            </a:r>
          </a:p>
        </p:txBody>
      </p:sp>
      <p:sp>
        <p:nvSpPr>
          <p:cNvPr id="2076" name="Text Box 28"/>
          <p:cNvSpPr txBox="1">
            <a:spLocks noChangeArrowheads="1"/>
          </p:cNvSpPr>
          <p:nvPr/>
        </p:nvSpPr>
        <p:spPr bwMode="auto">
          <a:xfrm>
            <a:off x="2484438" y="3841750"/>
            <a:ext cx="704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90 m/min</a:t>
            </a:r>
          </a:p>
        </p:txBody>
      </p:sp>
      <p:sp>
        <p:nvSpPr>
          <p:cNvPr id="2077" name="Text Box 29"/>
          <p:cNvSpPr txBox="1">
            <a:spLocks noChangeArrowheads="1"/>
          </p:cNvSpPr>
          <p:nvPr/>
        </p:nvSpPr>
        <p:spPr bwMode="auto">
          <a:xfrm>
            <a:off x="3379788" y="3840163"/>
            <a:ext cx="819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105 m/min</a:t>
            </a:r>
          </a:p>
        </p:txBody>
      </p:sp>
      <p:sp>
        <p:nvSpPr>
          <p:cNvPr id="2078" name="Text Box 30"/>
          <p:cNvSpPr txBox="1">
            <a:spLocks noChangeArrowheads="1"/>
          </p:cNvSpPr>
          <p:nvPr/>
        </p:nvSpPr>
        <p:spPr bwMode="auto">
          <a:xfrm>
            <a:off x="3300413" y="4133850"/>
            <a:ext cx="879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102.0 m/min</a:t>
            </a:r>
          </a:p>
        </p:txBody>
      </p:sp>
      <p:sp>
        <p:nvSpPr>
          <p:cNvPr id="2079" name="Text Box 31"/>
          <p:cNvSpPr txBox="1">
            <a:spLocks noChangeArrowheads="1"/>
          </p:cNvSpPr>
          <p:nvPr/>
        </p:nvSpPr>
        <p:spPr bwMode="auto">
          <a:xfrm>
            <a:off x="2457450" y="4140200"/>
            <a:ext cx="850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87.0 m/min</a:t>
            </a:r>
          </a:p>
        </p:txBody>
      </p:sp>
      <p:sp>
        <p:nvSpPr>
          <p:cNvPr id="2080" name="Line 32"/>
          <p:cNvSpPr>
            <a:spLocks noChangeShapeType="1"/>
          </p:cNvSpPr>
          <p:nvPr/>
        </p:nvSpPr>
        <p:spPr bwMode="auto">
          <a:xfrm>
            <a:off x="3276600" y="3810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1" name="Text Box 33"/>
          <p:cNvSpPr txBox="1">
            <a:spLocks noChangeArrowheads="1"/>
          </p:cNvSpPr>
          <p:nvPr/>
        </p:nvSpPr>
        <p:spPr bwMode="auto">
          <a:xfrm>
            <a:off x="1549400" y="3844925"/>
            <a:ext cx="736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60 m/min</a:t>
            </a:r>
          </a:p>
        </p:txBody>
      </p:sp>
      <p:sp>
        <p:nvSpPr>
          <p:cNvPr id="2082" name="Text Box 34"/>
          <p:cNvSpPr txBox="1">
            <a:spLocks noChangeArrowheads="1"/>
          </p:cNvSpPr>
          <p:nvPr/>
        </p:nvSpPr>
        <p:spPr bwMode="auto">
          <a:xfrm>
            <a:off x="1550988" y="4144963"/>
            <a:ext cx="8112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57.6 m/min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5029200" y="1219200"/>
            <a:ext cx="3962400" cy="2301875"/>
            <a:chOff x="3168" y="672"/>
            <a:chExt cx="2496" cy="1450"/>
          </a:xfrm>
        </p:grpSpPr>
        <p:sp>
          <p:nvSpPr>
            <p:cNvPr id="2084" name="Rectangle 36"/>
            <p:cNvSpPr>
              <a:spLocks noChangeArrowheads="1"/>
            </p:cNvSpPr>
            <p:nvPr/>
          </p:nvSpPr>
          <p:spPr bwMode="auto">
            <a:xfrm>
              <a:off x="3168" y="672"/>
              <a:ext cx="2496" cy="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0" tIns="46035" rIns="92070" bIns="46035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>
                  <a:latin typeface="Arial" charset="0"/>
                  <a:ea typeface="굴림체" pitchFamily="49" charset="-127"/>
                </a:rPr>
                <a:t>1. DOWN 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방향 수동 운전 시 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SD1D 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스위치를 치는 순간에  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HA-02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의</a:t>
              </a:r>
            </a:p>
            <a:p>
              <a:pPr>
                <a:spcBef>
                  <a:spcPct val="50000"/>
                </a:spcBef>
              </a:pPr>
              <a:r>
                <a:rPr lang="ko-KR" altLang="en-US" sz="1000">
                  <a:latin typeface="Arial" charset="0"/>
                  <a:ea typeface="굴림체" pitchFamily="49" charset="-127"/>
                </a:rPr>
                <a:t>    전압 확인한다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.  48V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에서  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0V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로 바뀌면 정상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1000">
                  <a:latin typeface="Arial" charset="0"/>
                  <a:ea typeface="굴림체" pitchFamily="49" charset="-127"/>
                </a:rPr>
                <a:t>2. MEMORY READ MODE (A21E)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에서 스위치를  치는 순간에 </a:t>
              </a:r>
            </a:p>
            <a:p>
              <a:pPr>
                <a:spcBef>
                  <a:spcPct val="50000"/>
                </a:spcBef>
              </a:pPr>
              <a:r>
                <a:rPr lang="ko-KR" altLang="en-US" sz="1000">
                  <a:latin typeface="Arial" charset="0"/>
                  <a:ea typeface="굴림체" pitchFamily="49" charset="-127"/>
                </a:rPr>
                <a:t>    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0x8023H 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번지의   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DATA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가 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0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에서 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1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로 바뀌면  정상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.  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1000">
                  <a:latin typeface="Arial" charset="0"/>
                  <a:ea typeface="굴림체" pitchFamily="49" charset="-127"/>
                </a:rPr>
                <a:t>3. SD1D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의 설치 위치를 확인하여 정상이 아니면 아래의 위치로 </a:t>
              </a:r>
            </a:p>
            <a:p>
              <a:pPr>
                <a:spcBef>
                  <a:spcPct val="50000"/>
                </a:spcBef>
              </a:pPr>
              <a:r>
                <a:rPr lang="ko-KR" altLang="en-US" sz="1000">
                  <a:latin typeface="Arial" charset="0"/>
                  <a:ea typeface="굴림체" pitchFamily="49" charset="-127"/>
                </a:rPr>
                <a:t>    조정한다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.</a:t>
              </a:r>
            </a:p>
            <a:p>
              <a:pPr>
                <a:spcBef>
                  <a:spcPct val="50000"/>
                </a:spcBef>
              </a:pPr>
              <a:endParaRPr lang="en-US" altLang="ko-KR" sz="1000">
                <a:latin typeface="Arial" charset="0"/>
                <a:ea typeface="굴림체" pitchFamily="49" charset="-127"/>
              </a:endParaRPr>
            </a:p>
            <a:p>
              <a:pPr>
                <a:spcBef>
                  <a:spcPct val="50000"/>
                </a:spcBef>
              </a:pPr>
              <a:endParaRPr lang="en-US" altLang="ko-KR" sz="1000">
                <a:latin typeface="Arial" charset="0"/>
                <a:ea typeface="굴림체" pitchFamily="49" charset="-127"/>
              </a:endParaRPr>
            </a:p>
            <a:p>
              <a:pPr>
                <a:spcBef>
                  <a:spcPct val="50000"/>
                </a:spcBef>
              </a:pPr>
              <a:endParaRPr lang="en-US" altLang="ko-KR" sz="1000">
                <a:latin typeface="Arial" charset="0"/>
                <a:ea typeface="굴림체" pitchFamily="49" charset="-127"/>
              </a:endParaRPr>
            </a:p>
            <a:p>
              <a:pPr>
                <a:spcBef>
                  <a:spcPct val="50000"/>
                </a:spcBef>
              </a:pPr>
              <a:r>
                <a:rPr lang="en-US" altLang="ko-KR" sz="1000">
                  <a:latin typeface="Arial" charset="0"/>
                  <a:ea typeface="굴림체" pitchFamily="49" charset="-127"/>
                </a:rPr>
                <a:t>  * 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위의 설치 위치는 최하층 착상 레벨에서 스위치까지의 거리임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. </a:t>
              </a:r>
            </a:p>
          </p:txBody>
        </p:sp>
        <p:grpSp>
          <p:nvGrpSpPr>
            <p:cNvPr id="3" name="Group 37"/>
            <p:cNvGrpSpPr>
              <a:grpSpLocks/>
            </p:cNvGrpSpPr>
            <p:nvPr/>
          </p:nvGrpSpPr>
          <p:grpSpPr bwMode="auto">
            <a:xfrm>
              <a:off x="3303" y="1567"/>
              <a:ext cx="2256" cy="384"/>
              <a:chOff x="3303" y="1567"/>
              <a:chExt cx="2256" cy="384"/>
            </a:xfrm>
          </p:grpSpPr>
          <p:sp>
            <p:nvSpPr>
              <p:cNvPr id="2086" name="Rectangle 38"/>
              <p:cNvSpPr>
                <a:spLocks noChangeArrowheads="1"/>
              </p:cNvSpPr>
              <p:nvPr/>
            </p:nvSpPr>
            <p:spPr bwMode="auto">
              <a:xfrm>
                <a:off x="3303" y="1567"/>
                <a:ext cx="2256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7" name="Line 39"/>
              <p:cNvSpPr>
                <a:spLocks noChangeShapeType="1"/>
              </p:cNvSpPr>
              <p:nvPr/>
            </p:nvSpPr>
            <p:spPr bwMode="auto">
              <a:xfrm>
                <a:off x="3303" y="1759"/>
                <a:ext cx="22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8" name="Line 40"/>
              <p:cNvSpPr>
                <a:spLocks noChangeShapeType="1"/>
              </p:cNvSpPr>
              <p:nvPr/>
            </p:nvSpPr>
            <p:spPr bwMode="auto">
              <a:xfrm>
                <a:off x="3859" y="1567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89" name="Line 41"/>
              <p:cNvSpPr>
                <a:spLocks noChangeShapeType="1"/>
              </p:cNvSpPr>
              <p:nvPr/>
            </p:nvSpPr>
            <p:spPr bwMode="auto">
              <a:xfrm>
                <a:off x="4983" y="1567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0" name="Text Box 42"/>
              <p:cNvSpPr txBox="1">
                <a:spLocks noChangeArrowheads="1"/>
              </p:cNvSpPr>
              <p:nvPr/>
            </p:nvSpPr>
            <p:spPr bwMode="auto">
              <a:xfrm>
                <a:off x="3352" y="1774"/>
                <a:ext cx="460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1000">
                    <a:latin typeface="Arial" charset="0"/>
                    <a:ea typeface="굴림체" pitchFamily="49" charset="-127"/>
                  </a:rPr>
                  <a:t>설치 위치</a:t>
                </a:r>
              </a:p>
            </p:txBody>
          </p:sp>
          <p:sp>
            <p:nvSpPr>
              <p:cNvPr id="2091" name="Text Box 43"/>
              <p:cNvSpPr txBox="1">
                <a:spLocks noChangeArrowheads="1"/>
              </p:cNvSpPr>
              <p:nvPr/>
            </p:nvSpPr>
            <p:spPr bwMode="auto">
              <a:xfrm>
                <a:off x="3355" y="1591"/>
                <a:ext cx="460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1000">
                    <a:latin typeface="Arial" charset="0"/>
                    <a:ea typeface="굴림체" pitchFamily="49" charset="-127"/>
                  </a:rPr>
                  <a:t>정격 속도</a:t>
                </a:r>
              </a:p>
            </p:txBody>
          </p:sp>
          <p:sp>
            <p:nvSpPr>
              <p:cNvPr id="2092" name="Text Box 44"/>
              <p:cNvSpPr txBox="1">
                <a:spLocks noChangeArrowheads="1"/>
              </p:cNvSpPr>
              <p:nvPr/>
            </p:nvSpPr>
            <p:spPr bwMode="auto">
              <a:xfrm>
                <a:off x="4475" y="1595"/>
                <a:ext cx="462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>
                    <a:latin typeface="Arial" charset="0"/>
                    <a:ea typeface="굴림체" pitchFamily="49" charset="-127"/>
                  </a:rPr>
                  <a:t>90 m/min</a:t>
                </a:r>
              </a:p>
            </p:txBody>
          </p:sp>
          <p:sp>
            <p:nvSpPr>
              <p:cNvPr id="2093" name="Text Box 45"/>
              <p:cNvSpPr txBox="1">
                <a:spLocks noChangeArrowheads="1"/>
              </p:cNvSpPr>
              <p:nvPr/>
            </p:nvSpPr>
            <p:spPr bwMode="auto">
              <a:xfrm>
                <a:off x="5019" y="1591"/>
                <a:ext cx="522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>
                    <a:latin typeface="Arial" charset="0"/>
                    <a:ea typeface="굴림체" pitchFamily="49" charset="-127"/>
                  </a:rPr>
                  <a:t>105 m/min</a:t>
                </a:r>
              </a:p>
            </p:txBody>
          </p:sp>
          <p:sp>
            <p:nvSpPr>
              <p:cNvPr id="2094" name="Text Box 46"/>
              <p:cNvSpPr txBox="1">
                <a:spLocks noChangeArrowheads="1"/>
              </p:cNvSpPr>
              <p:nvPr/>
            </p:nvSpPr>
            <p:spPr bwMode="auto">
              <a:xfrm>
                <a:off x="4992" y="1776"/>
                <a:ext cx="55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>
                    <a:latin typeface="Arial" charset="0"/>
                    <a:ea typeface="굴림체" pitchFamily="49" charset="-127"/>
                  </a:rPr>
                  <a:t> 1800 m/min</a:t>
                </a:r>
              </a:p>
            </p:txBody>
          </p:sp>
          <p:sp>
            <p:nvSpPr>
              <p:cNvPr id="2095" name="Text Box 47"/>
              <p:cNvSpPr txBox="1">
                <a:spLocks noChangeArrowheads="1"/>
              </p:cNvSpPr>
              <p:nvPr/>
            </p:nvSpPr>
            <p:spPr bwMode="auto">
              <a:xfrm>
                <a:off x="4422" y="1775"/>
                <a:ext cx="53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>
                    <a:latin typeface="Arial" charset="0"/>
                    <a:ea typeface="굴림체" pitchFamily="49" charset="-127"/>
                  </a:rPr>
                  <a:t>   1400 mm</a:t>
                </a:r>
              </a:p>
            </p:txBody>
          </p:sp>
          <p:sp>
            <p:nvSpPr>
              <p:cNvPr id="2096" name="Line 48"/>
              <p:cNvSpPr>
                <a:spLocks noChangeShapeType="1"/>
              </p:cNvSpPr>
              <p:nvPr/>
            </p:nvSpPr>
            <p:spPr bwMode="auto">
              <a:xfrm>
                <a:off x="4407" y="1567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097" name="Text Box 49"/>
              <p:cNvSpPr txBox="1">
                <a:spLocks noChangeArrowheads="1"/>
              </p:cNvSpPr>
              <p:nvPr/>
            </p:nvSpPr>
            <p:spPr bwMode="auto">
              <a:xfrm>
                <a:off x="3930" y="1588"/>
                <a:ext cx="45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>
                    <a:latin typeface="Arial" charset="0"/>
                    <a:ea typeface="굴림체" pitchFamily="49" charset="-127"/>
                  </a:rPr>
                  <a:t>60 m/min</a:t>
                </a:r>
              </a:p>
            </p:txBody>
          </p:sp>
          <p:sp>
            <p:nvSpPr>
              <p:cNvPr id="2098" name="Text Box 50"/>
              <p:cNvSpPr txBox="1">
                <a:spLocks noChangeArrowheads="1"/>
              </p:cNvSpPr>
              <p:nvPr/>
            </p:nvSpPr>
            <p:spPr bwMode="auto">
              <a:xfrm>
                <a:off x="3851" y="1784"/>
                <a:ext cx="572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1397" tIns="45698" rIns="91397" bIns="45698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>
                    <a:latin typeface="Arial" charset="0"/>
                    <a:ea typeface="굴림체" pitchFamily="49" charset="-127"/>
                  </a:rPr>
                  <a:t> 1000 m/min</a:t>
                </a:r>
              </a:p>
            </p:txBody>
          </p:sp>
        </p:grpSp>
      </p:grpSp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228600" y="4575175"/>
            <a:ext cx="4513263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ko-KR" sz="1000">
                <a:latin typeface="Arial" charset="0"/>
                <a:ea typeface="굴림체" pitchFamily="49" charset="-127"/>
              </a:rPr>
              <a:t>  2)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90m/min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이상인 경우</a:t>
            </a:r>
          </a:p>
          <a:p>
            <a:pPr>
              <a:spcBef>
                <a:spcPct val="50000"/>
              </a:spcBef>
            </a:pPr>
            <a:r>
              <a:rPr lang="ko-KR" altLang="ko-KR" sz="1000">
                <a:latin typeface="Arial" charset="0"/>
                <a:ea typeface="굴림체" pitchFamily="49" charset="-127"/>
              </a:rPr>
              <a:t>   &gt;&gt;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SD1D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동작되는 시점에서 실제 속도가 위의 정격 속도에 따른 제한 속도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 보다 큰 경우가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Over Speed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151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ER_SD2D_OS</a:t>
            </a:r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41386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SD2D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 위치에서 제한속도를 초과하면 검출되고 비상정지를 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3962400" cy="230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DOWN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방향 수동 운전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SD2D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치는 순간에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HA-03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전압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48V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바뀌면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MEMORY READ MODE (A21E)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스위치를  치는 순간에 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0x8024H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번지의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바뀌면 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SD2D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설치 위치를 확인하여 정상이 아니면 아래의 위치로 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조정한다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spcBef>
                <a:spcPct val="50000"/>
              </a:spcBef>
            </a:pPr>
            <a:endParaRPr lang="en-US" altLang="ko-KR" sz="1000">
              <a:latin typeface="Arial" charset="0"/>
              <a:ea typeface="굴림체" pitchFamily="49" charset="-127"/>
            </a:endParaRPr>
          </a:p>
          <a:p>
            <a:pPr>
              <a:spcBef>
                <a:spcPct val="50000"/>
              </a:spcBef>
            </a:pPr>
            <a:endParaRPr lang="en-US" altLang="ko-KR" sz="1000">
              <a:latin typeface="Arial" charset="0"/>
              <a:ea typeface="굴림체" pitchFamily="49" charset="-127"/>
            </a:endParaRPr>
          </a:p>
          <a:p>
            <a:pPr>
              <a:spcBef>
                <a:spcPct val="50000"/>
              </a:spcBef>
            </a:pPr>
            <a:endParaRPr lang="en-US" altLang="ko-KR" sz="1000">
              <a:latin typeface="Arial" charset="0"/>
              <a:ea typeface="굴림체" pitchFamily="49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*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위의 설치 위치는 최하층 착상 레벨에서 스위치까지의 거리임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52400" y="1905000"/>
            <a:ext cx="47244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강제 감속 조건이 검출된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Coil[SV_FORCE_DECEL] = ON )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&gt;&gt;  SD2D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동작되는 시점에서 실제 속도가 속도 지령치 보다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 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큰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  경우가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 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Over Speed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실제 속도가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30</a:t>
            </a:r>
            <a:r>
              <a:rPr lang="ko-KR" altLang="ko-KR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이상인 경우에는 검출 안함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강제 감속 조건이 검출되지 않은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Coil[SV_FORCE_DECEL] = OFF )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&gt;&gt;  SD2D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동작되는 시점에서 실제 속도가 아래 정격 속도에 따른 제한 속도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 보다 큰 경우가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Over Speed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533400" y="3581400"/>
            <a:ext cx="3352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533400" y="38862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1447800" y="3581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2590800" y="3581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Text Box 26"/>
          <p:cNvSpPr txBox="1">
            <a:spLocks noChangeArrowheads="1"/>
          </p:cNvSpPr>
          <p:nvPr/>
        </p:nvSpPr>
        <p:spPr bwMode="auto">
          <a:xfrm>
            <a:off x="635000" y="3917950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제한 속도</a:t>
            </a:r>
          </a:p>
        </p:txBody>
      </p:sp>
      <p:sp>
        <p:nvSpPr>
          <p:cNvPr id="2075" name="Text Box 27"/>
          <p:cNvSpPr txBox="1">
            <a:spLocks noChangeArrowheads="1"/>
          </p:cNvSpPr>
          <p:nvPr/>
        </p:nvSpPr>
        <p:spPr bwMode="auto">
          <a:xfrm>
            <a:off x="615950" y="3619500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정격 속도</a:t>
            </a:r>
          </a:p>
        </p:txBody>
      </p:sp>
      <p:sp>
        <p:nvSpPr>
          <p:cNvPr id="2076" name="Text Box 28"/>
          <p:cNvSpPr txBox="1">
            <a:spLocks noChangeArrowheads="1"/>
          </p:cNvSpPr>
          <p:nvPr/>
        </p:nvSpPr>
        <p:spPr bwMode="auto">
          <a:xfrm>
            <a:off x="1695450" y="361315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90 m/min</a:t>
            </a:r>
          </a:p>
        </p:txBody>
      </p:sp>
      <p:sp>
        <p:nvSpPr>
          <p:cNvPr id="2077" name="Text Box 29"/>
          <p:cNvSpPr txBox="1">
            <a:spLocks noChangeArrowheads="1"/>
          </p:cNvSpPr>
          <p:nvPr/>
        </p:nvSpPr>
        <p:spPr bwMode="auto">
          <a:xfrm>
            <a:off x="2857500" y="3619500"/>
            <a:ext cx="781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105 m/min</a:t>
            </a:r>
          </a:p>
        </p:txBody>
      </p:sp>
      <p:sp>
        <p:nvSpPr>
          <p:cNvPr id="2078" name="Text Box 30"/>
          <p:cNvSpPr txBox="1">
            <a:spLocks noChangeArrowheads="1"/>
          </p:cNvSpPr>
          <p:nvPr/>
        </p:nvSpPr>
        <p:spPr bwMode="auto">
          <a:xfrm>
            <a:off x="2794000" y="3905250"/>
            <a:ext cx="879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102.6 m/min</a:t>
            </a:r>
          </a:p>
        </p:txBody>
      </p:sp>
      <p:sp>
        <p:nvSpPr>
          <p:cNvPr id="2079" name="Text Box 31"/>
          <p:cNvSpPr txBox="1">
            <a:spLocks noChangeArrowheads="1"/>
          </p:cNvSpPr>
          <p:nvPr/>
        </p:nvSpPr>
        <p:spPr bwMode="auto">
          <a:xfrm>
            <a:off x="1593850" y="3911600"/>
            <a:ext cx="850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87.6 m/min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5248275" y="2466975"/>
            <a:ext cx="3352800" cy="609600"/>
            <a:chOff x="3312" y="1440"/>
            <a:chExt cx="2112" cy="384"/>
          </a:xfrm>
        </p:grpSpPr>
        <p:sp>
          <p:nvSpPr>
            <p:cNvPr id="2081" name="Rectangle 33"/>
            <p:cNvSpPr>
              <a:spLocks noChangeArrowheads="1"/>
            </p:cNvSpPr>
            <p:nvPr/>
          </p:nvSpPr>
          <p:spPr bwMode="auto">
            <a:xfrm>
              <a:off x="3312" y="1440"/>
              <a:ext cx="2112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1407" tIns="45703" rIns="91407" bIns="4570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3312" y="1632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91407" tIns="45703" rIns="91407" bIns="4570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3" name="Line 35"/>
            <p:cNvSpPr>
              <a:spLocks noChangeShapeType="1"/>
            </p:cNvSpPr>
            <p:nvPr/>
          </p:nvSpPr>
          <p:spPr bwMode="auto">
            <a:xfrm>
              <a:off x="3888" y="144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91407" tIns="45703" rIns="91407" bIns="4570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4" name="Line 36"/>
            <p:cNvSpPr>
              <a:spLocks noChangeShapeType="1"/>
            </p:cNvSpPr>
            <p:nvPr/>
          </p:nvSpPr>
          <p:spPr bwMode="auto">
            <a:xfrm>
              <a:off x="4608" y="144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91407" tIns="45703" rIns="91407" bIns="45703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5" name="Text Box 37"/>
            <p:cNvSpPr txBox="1">
              <a:spLocks noChangeArrowheads="1"/>
            </p:cNvSpPr>
            <p:nvPr/>
          </p:nvSpPr>
          <p:spPr bwMode="auto">
            <a:xfrm>
              <a:off x="3376" y="1652"/>
              <a:ext cx="4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1407" tIns="45703" rIns="91407" bIns="45703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000">
                  <a:latin typeface="Arial" charset="0"/>
                  <a:ea typeface="굴림체" pitchFamily="49" charset="-127"/>
                </a:rPr>
                <a:t>설치 위치</a:t>
              </a:r>
            </a:p>
          </p:txBody>
        </p:sp>
        <p:sp>
          <p:nvSpPr>
            <p:cNvPr id="2086" name="Text Box 38"/>
            <p:cNvSpPr txBox="1">
              <a:spLocks noChangeArrowheads="1"/>
            </p:cNvSpPr>
            <p:nvPr/>
          </p:nvSpPr>
          <p:spPr bwMode="auto">
            <a:xfrm>
              <a:off x="3364" y="1464"/>
              <a:ext cx="4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1407" tIns="45703" rIns="91407" bIns="45703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000">
                  <a:latin typeface="Arial" charset="0"/>
                  <a:ea typeface="굴림체" pitchFamily="49" charset="-127"/>
                </a:rPr>
                <a:t>정격 속도</a:t>
              </a:r>
            </a:p>
          </p:txBody>
        </p:sp>
        <p:sp>
          <p:nvSpPr>
            <p:cNvPr id="2087" name="Text Box 39"/>
            <p:cNvSpPr txBox="1">
              <a:spLocks noChangeArrowheads="1"/>
            </p:cNvSpPr>
            <p:nvPr/>
          </p:nvSpPr>
          <p:spPr bwMode="auto">
            <a:xfrm>
              <a:off x="4044" y="1460"/>
              <a:ext cx="4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1407" tIns="45703" rIns="91407" bIns="45703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>
                  <a:latin typeface="Arial" charset="0"/>
                  <a:ea typeface="굴림체" pitchFamily="49" charset="-127"/>
                </a:rPr>
                <a:t>90 m/min</a:t>
              </a:r>
            </a:p>
          </p:txBody>
        </p:sp>
        <p:sp>
          <p:nvSpPr>
            <p:cNvPr id="2088" name="Text Box 40"/>
            <p:cNvSpPr txBox="1">
              <a:spLocks noChangeArrowheads="1"/>
            </p:cNvSpPr>
            <p:nvPr/>
          </p:nvSpPr>
          <p:spPr bwMode="auto">
            <a:xfrm>
              <a:off x="4776" y="1464"/>
              <a:ext cx="4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1407" tIns="45703" rIns="91407" bIns="45703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>
                  <a:latin typeface="Arial" charset="0"/>
                  <a:ea typeface="굴림체" pitchFamily="49" charset="-127"/>
                </a:rPr>
                <a:t>105 m/min</a:t>
              </a:r>
            </a:p>
          </p:txBody>
        </p:sp>
        <p:sp>
          <p:nvSpPr>
            <p:cNvPr id="2089" name="Text Box 41"/>
            <p:cNvSpPr txBox="1">
              <a:spLocks noChangeArrowheads="1"/>
            </p:cNvSpPr>
            <p:nvPr/>
          </p:nvSpPr>
          <p:spPr bwMode="auto">
            <a:xfrm>
              <a:off x="4736" y="1644"/>
              <a:ext cx="5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1407" tIns="45703" rIns="91407" bIns="45703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>
                  <a:latin typeface="Arial" charset="0"/>
                  <a:ea typeface="굴림체" pitchFamily="49" charset="-127"/>
                </a:rPr>
                <a:t> 2700 m/min</a:t>
              </a:r>
            </a:p>
          </p:txBody>
        </p:sp>
        <p:sp>
          <p:nvSpPr>
            <p:cNvPr id="2090" name="Text Box 42"/>
            <p:cNvSpPr txBox="1">
              <a:spLocks noChangeArrowheads="1"/>
            </p:cNvSpPr>
            <p:nvPr/>
          </p:nvSpPr>
          <p:spPr bwMode="auto">
            <a:xfrm>
              <a:off x="3980" y="1648"/>
              <a:ext cx="5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1407" tIns="45703" rIns="91407" bIns="45703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>
                  <a:latin typeface="Arial" charset="0"/>
                  <a:ea typeface="굴림체" pitchFamily="49" charset="-127"/>
                </a:rPr>
                <a:t>   2000 mm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157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ER_SD1U_OS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41386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SD1U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 위치에서 제한속도를 초과하면 검출되고 비상정지를 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066800"/>
            <a:ext cx="3962400" cy="230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UP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방향 수동 운전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SD1U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치는 순간에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HA-06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전압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48V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바뀌면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MEMORY READ MODE (A21E)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스위치를  치는 순간에 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0x8021H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번지의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바뀌면 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SD1U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설치 위치를 확인하여 정상이 아니면 아래의 위치로 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조정한다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spcBef>
                <a:spcPct val="50000"/>
              </a:spcBef>
            </a:pPr>
            <a:endParaRPr lang="en-US" altLang="ko-KR" sz="1000">
              <a:latin typeface="Arial" charset="0"/>
              <a:ea typeface="굴림체" pitchFamily="49" charset="-127"/>
            </a:endParaRPr>
          </a:p>
          <a:p>
            <a:pPr>
              <a:spcBef>
                <a:spcPct val="50000"/>
              </a:spcBef>
            </a:pPr>
            <a:endParaRPr lang="en-US" altLang="ko-KR" sz="1000">
              <a:latin typeface="Arial" charset="0"/>
              <a:ea typeface="굴림체" pitchFamily="49" charset="-127"/>
            </a:endParaRPr>
          </a:p>
          <a:p>
            <a:pPr>
              <a:spcBef>
                <a:spcPct val="50000"/>
              </a:spcBef>
            </a:pPr>
            <a:endParaRPr lang="en-US" altLang="ko-KR" sz="1000">
              <a:latin typeface="Arial" charset="0"/>
              <a:ea typeface="굴림체" pitchFamily="49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*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위의 설치 위치는 최하층 착상 레벨에서 스위치까지의 거리임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210175" y="2495550"/>
            <a:ext cx="3581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5210175" y="280035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6092825" y="249555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7877175" y="249555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5287963" y="2824163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설치 위치</a:t>
            </a:r>
          </a:p>
        </p:txBody>
      </p:sp>
      <p:sp>
        <p:nvSpPr>
          <p:cNvPr id="2073" name="Text Box 25"/>
          <p:cNvSpPr txBox="1">
            <a:spLocks noChangeArrowheads="1"/>
          </p:cNvSpPr>
          <p:nvPr/>
        </p:nvSpPr>
        <p:spPr bwMode="auto">
          <a:xfrm>
            <a:off x="5292725" y="2533650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정격 속도</a:t>
            </a:r>
          </a:p>
        </p:txBody>
      </p:sp>
      <p:sp>
        <p:nvSpPr>
          <p:cNvPr id="2074" name="Text Box 26"/>
          <p:cNvSpPr txBox="1">
            <a:spLocks noChangeArrowheads="1"/>
          </p:cNvSpPr>
          <p:nvPr/>
        </p:nvSpPr>
        <p:spPr bwMode="auto">
          <a:xfrm>
            <a:off x="7070725" y="2540000"/>
            <a:ext cx="704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90 m/min</a:t>
            </a:r>
          </a:p>
        </p:txBody>
      </p:sp>
      <p:sp>
        <p:nvSpPr>
          <p:cNvPr id="2075" name="Text Box 27"/>
          <p:cNvSpPr txBox="1">
            <a:spLocks noChangeArrowheads="1"/>
          </p:cNvSpPr>
          <p:nvPr/>
        </p:nvSpPr>
        <p:spPr bwMode="auto">
          <a:xfrm>
            <a:off x="7962900" y="2533650"/>
            <a:ext cx="781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105 m/min</a:t>
            </a:r>
          </a:p>
        </p:txBody>
      </p:sp>
      <p:sp>
        <p:nvSpPr>
          <p:cNvPr id="2076" name="Text Box 28"/>
          <p:cNvSpPr txBox="1">
            <a:spLocks noChangeArrowheads="1"/>
          </p:cNvSpPr>
          <p:nvPr/>
        </p:nvSpPr>
        <p:spPr bwMode="auto">
          <a:xfrm>
            <a:off x="7900988" y="2827338"/>
            <a:ext cx="889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1800 m/min</a:t>
            </a:r>
          </a:p>
        </p:txBody>
      </p:sp>
      <p:sp>
        <p:nvSpPr>
          <p:cNvPr id="2077" name="Text Box 29"/>
          <p:cNvSpPr txBox="1">
            <a:spLocks noChangeArrowheads="1"/>
          </p:cNvSpPr>
          <p:nvPr/>
        </p:nvSpPr>
        <p:spPr bwMode="auto">
          <a:xfrm>
            <a:off x="6986588" y="2825750"/>
            <a:ext cx="850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1400 mm</a:t>
            </a:r>
          </a:p>
        </p:txBody>
      </p:sp>
      <p:sp>
        <p:nvSpPr>
          <p:cNvPr id="2078" name="Line 30"/>
          <p:cNvSpPr>
            <a:spLocks noChangeShapeType="1"/>
          </p:cNvSpPr>
          <p:nvPr/>
        </p:nvSpPr>
        <p:spPr bwMode="auto">
          <a:xfrm>
            <a:off x="6962775" y="249555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9" name="Text Box 31"/>
          <p:cNvSpPr txBox="1">
            <a:spLocks noChangeArrowheads="1"/>
          </p:cNvSpPr>
          <p:nvPr/>
        </p:nvSpPr>
        <p:spPr bwMode="auto">
          <a:xfrm>
            <a:off x="6167438" y="2528888"/>
            <a:ext cx="723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60 m/min</a:t>
            </a:r>
          </a:p>
        </p:txBody>
      </p:sp>
      <p:sp>
        <p:nvSpPr>
          <p:cNvPr id="2080" name="Text Box 32"/>
          <p:cNvSpPr txBox="1">
            <a:spLocks noChangeArrowheads="1"/>
          </p:cNvSpPr>
          <p:nvPr/>
        </p:nvSpPr>
        <p:spPr bwMode="auto">
          <a:xfrm>
            <a:off x="6099175" y="2840038"/>
            <a:ext cx="8985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1000 m/min</a:t>
            </a:r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152400" y="1905000"/>
            <a:ext cx="4724400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강제 감속 조건이 검출된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Coil[SV_FORCE_DECEL] = ON )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&gt;&gt;  SD1U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동작되는 시점에서 실제 속도가 속도 지령치 보다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 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큰 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  경우가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 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Over Speed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실제 속도가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30</a:t>
            </a:r>
            <a:r>
              <a:rPr lang="ko-KR" altLang="ko-KR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이하인 경우에는 검출 안함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강제 감속 조건이 검출되지 않은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Coil[SV_FORCE_DECEL] = OFF )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1)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60m/min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 경우</a:t>
            </a:r>
          </a:p>
          <a:p>
            <a:pPr>
              <a:spcBef>
                <a:spcPct val="50000"/>
              </a:spcBef>
            </a:pPr>
            <a:r>
              <a:rPr lang="ko-KR" altLang="ko-KR" sz="1000">
                <a:latin typeface="Arial" charset="0"/>
                <a:ea typeface="굴림체" pitchFamily="49" charset="-127"/>
              </a:rPr>
              <a:t>   &gt;&gt;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SD1U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동작되는 시점에서 실제 속도가 아래 정격 속도에 따른 제한 속도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 보다 큰 경우에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Over Speed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533400" y="3810000"/>
            <a:ext cx="3657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3" name="Line 35"/>
          <p:cNvSpPr>
            <a:spLocks noChangeShapeType="1"/>
          </p:cNvSpPr>
          <p:nvPr/>
        </p:nvSpPr>
        <p:spPr bwMode="auto">
          <a:xfrm>
            <a:off x="533400" y="41148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4" name="Line 36"/>
          <p:cNvSpPr>
            <a:spLocks noChangeShapeType="1"/>
          </p:cNvSpPr>
          <p:nvPr/>
        </p:nvSpPr>
        <p:spPr bwMode="auto">
          <a:xfrm>
            <a:off x="1447800" y="3810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5" name="Line 37"/>
          <p:cNvSpPr>
            <a:spLocks noChangeShapeType="1"/>
          </p:cNvSpPr>
          <p:nvPr/>
        </p:nvSpPr>
        <p:spPr bwMode="auto">
          <a:xfrm>
            <a:off x="2362200" y="3810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6" name="Text Box 38"/>
          <p:cNvSpPr txBox="1">
            <a:spLocks noChangeArrowheads="1"/>
          </p:cNvSpPr>
          <p:nvPr/>
        </p:nvSpPr>
        <p:spPr bwMode="auto">
          <a:xfrm>
            <a:off x="635000" y="4146550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제한 속도</a:t>
            </a:r>
          </a:p>
        </p:txBody>
      </p:sp>
      <p:sp>
        <p:nvSpPr>
          <p:cNvPr id="2087" name="Text Box 39"/>
          <p:cNvSpPr txBox="1">
            <a:spLocks noChangeArrowheads="1"/>
          </p:cNvSpPr>
          <p:nvPr/>
        </p:nvSpPr>
        <p:spPr bwMode="auto">
          <a:xfrm>
            <a:off x="615950" y="3848100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정격 속도</a:t>
            </a:r>
          </a:p>
        </p:txBody>
      </p:sp>
      <p:sp>
        <p:nvSpPr>
          <p:cNvPr id="2088" name="Text Box 40"/>
          <p:cNvSpPr txBox="1">
            <a:spLocks noChangeArrowheads="1"/>
          </p:cNvSpPr>
          <p:nvPr/>
        </p:nvSpPr>
        <p:spPr bwMode="auto">
          <a:xfrm>
            <a:off x="2484438" y="3841750"/>
            <a:ext cx="704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90 m/min</a:t>
            </a:r>
          </a:p>
        </p:txBody>
      </p:sp>
      <p:sp>
        <p:nvSpPr>
          <p:cNvPr id="2089" name="Text Box 41"/>
          <p:cNvSpPr txBox="1">
            <a:spLocks noChangeArrowheads="1"/>
          </p:cNvSpPr>
          <p:nvPr/>
        </p:nvSpPr>
        <p:spPr bwMode="auto">
          <a:xfrm>
            <a:off x="3379788" y="3840163"/>
            <a:ext cx="819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105 m/min</a:t>
            </a:r>
          </a:p>
        </p:txBody>
      </p:sp>
      <p:sp>
        <p:nvSpPr>
          <p:cNvPr id="2090" name="Text Box 42"/>
          <p:cNvSpPr txBox="1">
            <a:spLocks noChangeArrowheads="1"/>
          </p:cNvSpPr>
          <p:nvPr/>
        </p:nvSpPr>
        <p:spPr bwMode="auto">
          <a:xfrm>
            <a:off x="3300413" y="4133850"/>
            <a:ext cx="879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102.0 m/min</a:t>
            </a:r>
          </a:p>
        </p:txBody>
      </p:sp>
      <p:sp>
        <p:nvSpPr>
          <p:cNvPr id="2091" name="Text Box 43"/>
          <p:cNvSpPr txBox="1">
            <a:spLocks noChangeArrowheads="1"/>
          </p:cNvSpPr>
          <p:nvPr/>
        </p:nvSpPr>
        <p:spPr bwMode="auto">
          <a:xfrm>
            <a:off x="2457450" y="4140200"/>
            <a:ext cx="850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87.0 m/min</a:t>
            </a:r>
          </a:p>
        </p:txBody>
      </p:sp>
      <p:sp>
        <p:nvSpPr>
          <p:cNvPr id="2092" name="Line 44"/>
          <p:cNvSpPr>
            <a:spLocks noChangeShapeType="1"/>
          </p:cNvSpPr>
          <p:nvPr/>
        </p:nvSpPr>
        <p:spPr bwMode="auto">
          <a:xfrm>
            <a:off x="3276600" y="3810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3" name="Text Box 45"/>
          <p:cNvSpPr txBox="1">
            <a:spLocks noChangeArrowheads="1"/>
          </p:cNvSpPr>
          <p:nvPr/>
        </p:nvSpPr>
        <p:spPr bwMode="auto">
          <a:xfrm>
            <a:off x="1549400" y="3844925"/>
            <a:ext cx="736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60 m/min</a:t>
            </a:r>
          </a:p>
        </p:txBody>
      </p:sp>
      <p:sp>
        <p:nvSpPr>
          <p:cNvPr id="2094" name="Text Box 46"/>
          <p:cNvSpPr txBox="1">
            <a:spLocks noChangeArrowheads="1"/>
          </p:cNvSpPr>
          <p:nvPr/>
        </p:nvSpPr>
        <p:spPr bwMode="auto">
          <a:xfrm>
            <a:off x="1550988" y="4144963"/>
            <a:ext cx="8112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57.6 m/min</a:t>
            </a:r>
          </a:p>
        </p:txBody>
      </p:sp>
      <p:sp>
        <p:nvSpPr>
          <p:cNvPr id="2095" name="Rectangle 47"/>
          <p:cNvSpPr>
            <a:spLocks noChangeArrowheads="1"/>
          </p:cNvSpPr>
          <p:nvPr/>
        </p:nvSpPr>
        <p:spPr bwMode="auto">
          <a:xfrm>
            <a:off x="228600" y="4575175"/>
            <a:ext cx="4513263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ko-KR" sz="1000">
                <a:latin typeface="Arial" charset="0"/>
                <a:ea typeface="굴림체" pitchFamily="49" charset="-127"/>
              </a:rPr>
              <a:t>  2)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90m/min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이상인 경우</a:t>
            </a:r>
          </a:p>
          <a:p>
            <a:pPr>
              <a:spcBef>
                <a:spcPct val="50000"/>
              </a:spcBef>
            </a:pPr>
            <a:r>
              <a:rPr lang="ko-KR" altLang="ko-KR" sz="1000">
                <a:latin typeface="Arial" charset="0"/>
                <a:ea typeface="굴림체" pitchFamily="49" charset="-127"/>
              </a:rPr>
              <a:t>   &gt;&gt;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SD1U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동작되는 시점에서 실제 속도가 위의 정격 속도에 따른 제한 속도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 보다 큰 경우가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Over Speed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158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ER_SD2U_OS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41386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SD2U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 위치에서 제한속도를 초과하면 검출되고 비상정지를 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066800"/>
            <a:ext cx="3962400" cy="230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UP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방향 수동 운전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SD2U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치는 순간에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HA-07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전압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48V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바뀌면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MEMORY READ MODE (A21E)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스위치를  치는 순간에 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0x8022H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번지의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바뀌면 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SD2U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설치 위치를 확인하여 정상이 아니면 아래의 위치로 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조정한다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spcBef>
                <a:spcPct val="50000"/>
              </a:spcBef>
            </a:pPr>
            <a:endParaRPr lang="en-US" altLang="ko-KR" sz="1000">
              <a:latin typeface="Arial" charset="0"/>
              <a:ea typeface="굴림체" pitchFamily="49" charset="-127"/>
            </a:endParaRPr>
          </a:p>
          <a:p>
            <a:pPr>
              <a:spcBef>
                <a:spcPct val="50000"/>
              </a:spcBef>
            </a:pPr>
            <a:endParaRPr lang="en-US" altLang="ko-KR" sz="1000">
              <a:latin typeface="Arial" charset="0"/>
              <a:ea typeface="굴림체" pitchFamily="49" charset="-127"/>
            </a:endParaRPr>
          </a:p>
          <a:p>
            <a:pPr>
              <a:spcBef>
                <a:spcPct val="50000"/>
              </a:spcBef>
            </a:pPr>
            <a:endParaRPr lang="en-US" altLang="ko-KR" sz="1000">
              <a:latin typeface="Arial" charset="0"/>
              <a:ea typeface="굴림체" pitchFamily="49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*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표의 설치 위치는 최하층 착상 레벨에서 스위치까지의 거리임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1905000"/>
            <a:ext cx="47244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강제 감속 조건이 검출된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Coil[SV_FORCE_DECEL] = ON )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&gt;&gt;  SD2U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동작되는 시점에서 실제 속도가 속도지령치보다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 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큰 경우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  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 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Over Speed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실제 속도가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30</a:t>
            </a:r>
            <a:r>
              <a:rPr lang="ko-KR" altLang="ko-KR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이상인 경우에는 검출 안함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강제 감속 조건이 검출되지 않은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 Coil[SV_FORCE_DECEL] = OFF )</a:t>
            </a:r>
          </a:p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&gt;&gt;  SD2U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동작되는 시점에서 실제 속도가 아래 정격 속도에 따른 제한 속도</a:t>
            </a:r>
          </a:p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    보다 큰 경우가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150msec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Over Speed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533400" y="3581400"/>
            <a:ext cx="3352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533400" y="38862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1447800" y="3581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2590800" y="3581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Text Box 25"/>
          <p:cNvSpPr txBox="1">
            <a:spLocks noChangeArrowheads="1"/>
          </p:cNvSpPr>
          <p:nvPr/>
        </p:nvSpPr>
        <p:spPr bwMode="auto">
          <a:xfrm>
            <a:off x="635000" y="3917950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제한 속도</a:t>
            </a:r>
          </a:p>
        </p:txBody>
      </p:sp>
      <p:sp>
        <p:nvSpPr>
          <p:cNvPr id="2074" name="Text Box 26"/>
          <p:cNvSpPr txBox="1">
            <a:spLocks noChangeArrowheads="1"/>
          </p:cNvSpPr>
          <p:nvPr/>
        </p:nvSpPr>
        <p:spPr bwMode="auto">
          <a:xfrm>
            <a:off x="615950" y="3619500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정격 속도</a:t>
            </a:r>
          </a:p>
        </p:txBody>
      </p:sp>
      <p:sp>
        <p:nvSpPr>
          <p:cNvPr id="2075" name="Text Box 27"/>
          <p:cNvSpPr txBox="1">
            <a:spLocks noChangeArrowheads="1"/>
          </p:cNvSpPr>
          <p:nvPr/>
        </p:nvSpPr>
        <p:spPr bwMode="auto">
          <a:xfrm>
            <a:off x="1676400" y="3613150"/>
            <a:ext cx="704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90 m/min</a:t>
            </a:r>
          </a:p>
        </p:txBody>
      </p:sp>
      <p:sp>
        <p:nvSpPr>
          <p:cNvPr id="2076" name="Text Box 28"/>
          <p:cNvSpPr txBox="1">
            <a:spLocks noChangeArrowheads="1"/>
          </p:cNvSpPr>
          <p:nvPr/>
        </p:nvSpPr>
        <p:spPr bwMode="auto">
          <a:xfrm>
            <a:off x="2838450" y="3619500"/>
            <a:ext cx="781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105 m/min</a:t>
            </a:r>
          </a:p>
        </p:txBody>
      </p:sp>
      <p:sp>
        <p:nvSpPr>
          <p:cNvPr id="2077" name="Text Box 29"/>
          <p:cNvSpPr txBox="1">
            <a:spLocks noChangeArrowheads="1"/>
          </p:cNvSpPr>
          <p:nvPr/>
        </p:nvSpPr>
        <p:spPr bwMode="auto">
          <a:xfrm>
            <a:off x="2794000" y="3905250"/>
            <a:ext cx="879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102.6 m/min</a:t>
            </a:r>
          </a:p>
        </p:txBody>
      </p:sp>
      <p:sp>
        <p:nvSpPr>
          <p:cNvPr id="2078" name="Text Box 30"/>
          <p:cNvSpPr txBox="1">
            <a:spLocks noChangeArrowheads="1"/>
          </p:cNvSpPr>
          <p:nvPr/>
        </p:nvSpPr>
        <p:spPr bwMode="auto">
          <a:xfrm>
            <a:off x="1593850" y="3911600"/>
            <a:ext cx="850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87.6 m/min</a:t>
            </a:r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5276850" y="2486025"/>
            <a:ext cx="3352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0" name="Line 32"/>
          <p:cNvSpPr>
            <a:spLocks noChangeShapeType="1"/>
          </p:cNvSpPr>
          <p:nvPr/>
        </p:nvSpPr>
        <p:spPr bwMode="auto">
          <a:xfrm>
            <a:off x="5276850" y="2790825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1" name="Line 33"/>
          <p:cNvSpPr>
            <a:spLocks noChangeShapeType="1"/>
          </p:cNvSpPr>
          <p:nvPr/>
        </p:nvSpPr>
        <p:spPr bwMode="auto">
          <a:xfrm>
            <a:off x="6191250" y="24860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2" name="Line 34"/>
          <p:cNvSpPr>
            <a:spLocks noChangeShapeType="1"/>
          </p:cNvSpPr>
          <p:nvPr/>
        </p:nvSpPr>
        <p:spPr bwMode="auto">
          <a:xfrm>
            <a:off x="7334250" y="24860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3" name="Text Box 35"/>
          <p:cNvSpPr txBox="1">
            <a:spLocks noChangeArrowheads="1"/>
          </p:cNvSpPr>
          <p:nvPr/>
        </p:nvSpPr>
        <p:spPr bwMode="auto">
          <a:xfrm>
            <a:off x="5378450" y="2822575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설치 위치</a:t>
            </a:r>
          </a:p>
        </p:txBody>
      </p:sp>
      <p:sp>
        <p:nvSpPr>
          <p:cNvPr id="2084" name="Text Box 36"/>
          <p:cNvSpPr txBox="1">
            <a:spLocks noChangeArrowheads="1"/>
          </p:cNvSpPr>
          <p:nvPr/>
        </p:nvSpPr>
        <p:spPr bwMode="auto">
          <a:xfrm>
            <a:off x="5359400" y="2524125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>
                <a:latin typeface="Arial" charset="0"/>
                <a:ea typeface="굴림체" pitchFamily="49" charset="-127"/>
              </a:rPr>
              <a:t>정격 속도</a:t>
            </a:r>
          </a:p>
        </p:txBody>
      </p:sp>
      <p:sp>
        <p:nvSpPr>
          <p:cNvPr id="2085" name="Text Box 37"/>
          <p:cNvSpPr txBox="1">
            <a:spLocks noChangeArrowheads="1"/>
          </p:cNvSpPr>
          <p:nvPr/>
        </p:nvSpPr>
        <p:spPr bwMode="auto">
          <a:xfrm>
            <a:off x="6438900" y="2517775"/>
            <a:ext cx="714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90 m/min</a:t>
            </a:r>
          </a:p>
        </p:txBody>
      </p:sp>
      <p:sp>
        <p:nvSpPr>
          <p:cNvPr id="2086" name="Text Box 38"/>
          <p:cNvSpPr txBox="1">
            <a:spLocks noChangeArrowheads="1"/>
          </p:cNvSpPr>
          <p:nvPr/>
        </p:nvSpPr>
        <p:spPr bwMode="auto">
          <a:xfrm>
            <a:off x="7600950" y="2524125"/>
            <a:ext cx="781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105 m/min</a:t>
            </a:r>
          </a:p>
        </p:txBody>
      </p:sp>
      <p:sp>
        <p:nvSpPr>
          <p:cNvPr id="2087" name="Text Box 39"/>
          <p:cNvSpPr txBox="1">
            <a:spLocks noChangeArrowheads="1"/>
          </p:cNvSpPr>
          <p:nvPr/>
        </p:nvSpPr>
        <p:spPr bwMode="auto">
          <a:xfrm>
            <a:off x="7537450" y="2809875"/>
            <a:ext cx="908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2700 m/min</a:t>
            </a:r>
          </a:p>
        </p:txBody>
      </p:sp>
      <p:sp>
        <p:nvSpPr>
          <p:cNvPr id="2088" name="Text Box 40"/>
          <p:cNvSpPr txBox="1">
            <a:spLocks noChangeArrowheads="1"/>
          </p:cNvSpPr>
          <p:nvPr/>
        </p:nvSpPr>
        <p:spPr bwMode="auto">
          <a:xfrm>
            <a:off x="6337300" y="2816225"/>
            <a:ext cx="850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>
                <a:latin typeface="Arial" charset="0"/>
                <a:ea typeface="굴림체" pitchFamily="49" charset="-127"/>
              </a:rPr>
              <a:t>   2000 mm</a:t>
            </a:r>
          </a:p>
        </p:txBody>
      </p: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90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164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9144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ER_ESTOP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407511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급정지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10m/min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이상의 속도에서 갑자기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RUN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STOP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으로 이행하였음을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R/E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관련된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의한 급정지를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52400" y="1981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4876800" y="1981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2198688" y="2084388"/>
            <a:ext cx="108585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Coil[IS_CUR_V_10]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282575" y="2089150"/>
            <a:ext cx="5826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run_stop</a:t>
            </a:r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979488" y="2089150"/>
            <a:ext cx="108743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Coil[RS_RUNNING]</a:t>
            </a:r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152400" y="2362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>
            <a:off x="762000" y="23622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 flipV="1">
            <a:off x="2971800" y="2362200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4114800" y="2133600"/>
            <a:ext cx="6350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4133850" y="215265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164</a:t>
            </a:r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2455863" y="2557463"/>
            <a:ext cx="53498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92</a:t>
            </a:r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2441575" y="3013075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93</a:t>
            </a:r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2465388" y="3459163"/>
            <a:ext cx="53498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94</a:t>
            </a:r>
          </a:p>
        </p:txBody>
      </p:sp>
      <p:sp>
        <p:nvSpPr>
          <p:cNvPr id="2081" name="Line 33"/>
          <p:cNvSpPr>
            <a:spLocks noChangeShapeType="1"/>
          </p:cNvSpPr>
          <p:nvPr/>
        </p:nvSpPr>
        <p:spPr bwMode="auto">
          <a:xfrm>
            <a:off x="152400" y="4191000"/>
            <a:ext cx="113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2" name="Line 34"/>
          <p:cNvSpPr>
            <a:spLocks noChangeShapeType="1"/>
          </p:cNvSpPr>
          <p:nvPr/>
        </p:nvSpPr>
        <p:spPr bwMode="auto">
          <a:xfrm>
            <a:off x="1676400" y="4191000"/>
            <a:ext cx="320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4114800" y="3962400"/>
            <a:ext cx="6350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1079500" y="3913188"/>
            <a:ext cx="10874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Coil[RS_RUNNING]</a:t>
            </a:r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4154488" y="3963988"/>
            <a:ext cx="58261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run_stop</a:t>
            </a:r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1244600" y="241935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0x91B0</a:t>
            </a:r>
          </a:p>
        </p:txBody>
      </p:sp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1371600" y="4249738"/>
            <a:ext cx="484188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0x91B0</a:t>
            </a:r>
          </a:p>
        </p:txBody>
      </p: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2719388" y="2351088"/>
            <a:ext cx="493712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0x91EE</a:t>
            </a:r>
          </a:p>
        </p:txBody>
      </p: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5064125" y="1223963"/>
            <a:ext cx="4003675" cy="314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주행 중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MAINT(Inspection)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스위치를 조작하였는가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?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주기판 내의 스위치 및 커넥터들의 접촉 불량이 있는지를 </a:t>
            </a:r>
          </a:p>
          <a:p>
            <a:pPr latinLnBrk="0">
              <a:lnSpc>
                <a:spcPct val="110000"/>
              </a:lnSpc>
            </a:pPr>
            <a:r>
              <a:rPr lang="ko-KR" altLang="en-US" sz="1000">
                <a:latin typeface="Arial" charset="0"/>
                <a:ea typeface="굴림체" pitchFamily="49" charset="-127"/>
              </a:rPr>
              <a:t>   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3. R/E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단선 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4. LDS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CDS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스위치가 정상적으로 동작하는지를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  </a:t>
            </a:r>
          </a:p>
          <a:p>
            <a:pPr latinLnBrk="0"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5. R5SC RELAY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6. ALARM 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7. 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SYS1 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점멸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>
              <a:lnSpc>
                <a:spcPct val="110000"/>
              </a:lnSpc>
            </a:pPr>
            <a:r>
              <a:rPr lang="en-US" altLang="ko-KR" sz="1000">
                <a:latin typeface="Arial" charset="0"/>
                <a:ea typeface="굴림체" pitchFamily="49" charset="-127"/>
              </a:rPr>
              <a:t>8. 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SYS2 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점멸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>
              <a:lnSpc>
                <a:spcPct val="110000"/>
              </a:lnSpc>
            </a:pPr>
            <a:r>
              <a:rPr lang="en-US" altLang="ko-KR" sz="1000">
                <a:latin typeface="Arial" charset="0"/>
              </a:rPr>
              <a:t>9. </a:t>
            </a:r>
            <a:r>
              <a:rPr lang="ko-KR" altLang="en-US" sz="1000">
                <a:latin typeface="Arial" charset="0"/>
              </a:rPr>
              <a:t>안전계통 </a:t>
            </a:r>
            <a:r>
              <a:rPr lang="en-US" altLang="ko-KR" sz="1000">
                <a:latin typeface="Arial" charset="0"/>
              </a:rPr>
              <a:t>S/W(man-hole, pit, SCS)</a:t>
            </a:r>
            <a:r>
              <a:rPr lang="ko-KR" altLang="en-US" sz="1000">
                <a:latin typeface="Arial" charset="0"/>
              </a:rPr>
              <a:t>를 확인한다</a:t>
            </a:r>
            <a:endParaRPr lang="ko-KR" altLang="en-US">
              <a:solidFill>
                <a:srgbClr val="FF3300"/>
              </a:solidFill>
            </a:endParaRPr>
          </a:p>
          <a:p>
            <a:pPr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*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이상의 속도에서 급정지한 경우에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LOG Table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보기 모드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(A42E)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Trace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화면에서   급정지 원인을 알 수 있음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* 5m/min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10m/min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미만의 속도에서 급정지한 경우에는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A28E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모드로 급정지 원인을 확인 할 수 있음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1219200" y="2286000"/>
            <a:ext cx="533400" cy="152400"/>
            <a:chOff x="264" y="1488"/>
            <a:chExt cx="336" cy="96"/>
          </a:xfrm>
        </p:grpSpPr>
        <p:grpSp>
          <p:nvGrpSpPr>
            <p:cNvPr id="3" name="Group 43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4" name="Line 46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381000" y="2286000"/>
            <a:ext cx="533400" cy="152400"/>
            <a:chOff x="720" y="1488"/>
            <a:chExt cx="336" cy="96"/>
          </a:xfrm>
        </p:grpSpPr>
        <p:sp>
          <p:nvSpPr>
            <p:cNvPr id="2098" name="Line 50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0" name="Line 52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1" name="Line 53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2" name="Line 54"/>
          <p:cNvSpPr>
            <a:spLocks noChangeShapeType="1"/>
          </p:cNvSpPr>
          <p:nvPr/>
        </p:nvSpPr>
        <p:spPr bwMode="auto">
          <a:xfrm>
            <a:off x="1676400" y="23622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2438400" y="2286000"/>
            <a:ext cx="533400" cy="152400"/>
            <a:chOff x="720" y="1488"/>
            <a:chExt cx="336" cy="96"/>
          </a:xfrm>
        </p:grpSpPr>
        <p:sp>
          <p:nvSpPr>
            <p:cNvPr id="2104" name="Line 56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5" name="Line 57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6" name="Line 58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7" name="Line 59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60"/>
          <p:cNvGrpSpPr>
            <a:grpSpLocks/>
          </p:cNvGrpSpPr>
          <p:nvPr/>
        </p:nvGrpSpPr>
        <p:grpSpPr bwMode="auto">
          <a:xfrm>
            <a:off x="2438400" y="2743200"/>
            <a:ext cx="533400" cy="152400"/>
            <a:chOff x="720" y="1488"/>
            <a:chExt cx="336" cy="96"/>
          </a:xfrm>
        </p:grpSpPr>
        <p:sp>
          <p:nvSpPr>
            <p:cNvPr id="2109" name="Line 61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0" name="Line 62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1" name="Line 63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2" name="Line 64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2438400" y="3200400"/>
            <a:ext cx="533400" cy="152400"/>
            <a:chOff x="720" y="1488"/>
            <a:chExt cx="336" cy="96"/>
          </a:xfrm>
        </p:grpSpPr>
        <p:sp>
          <p:nvSpPr>
            <p:cNvPr id="2114" name="Line 66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5" name="Line 67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6" name="Line 68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7" name="Line 69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8" name="Group 70"/>
          <p:cNvGrpSpPr>
            <a:grpSpLocks/>
          </p:cNvGrpSpPr>
          <p:nvPr/>
        </p:nvGrpSpPr>
        <p:grpSpPr bwMode="auto">
          <a:xfrm>
            <a:off x="2438400" y="3657600"/>
            <a:ext cx="533400" cy="152400"/>
            <a:chOff x="720" y="1488"/>
            <a:chExt cx="336" cy="96"/>
          </a:xfrm>
        </p:grpSpPr>
        <p:sp>
          <p:nvSpPr>
            <p:cNvPr id="2119" name="Line 71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0" name="Line 72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1" name="Line 73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2" name="Line 74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3" name="Line 75"/>
          <p:cNvSpPr>
            <a:spLocks noChangeShapeType="1"/>
          </p:cNvSpPr>
          <p:nvPr/>
        </p:nvSpPr>
        <p:spPr bwMode="auto">
          <a:xfrm>
            <a:off x="2057400" y="28194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4" name="Line 76"/>
          <p:cNvSpPr>
            <a:spLocks noChangeShapeType="1"/>
          </p:cNvSpPr>
          <p:nvPr/>
        </p:nvSpPr>
        <p:spPr bwMode="auto">
          <a:xfrm>
            <a:off x="3429000" y="2362200"/>
            <a:ext cx="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5" name="Line 77"/>
          <p:cNvSpPr>
            <a:spLocks noChangeShapeType="1"/>
          </p:cNvSpPr>
          <p:nvPr/>
        </p:nvSpPr>
        <p:spPr bwMode="auto">
          <a:xfrm>
            <a:off x="2057400" y="2362200"/>
            <a:ext cx="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6" name="Line 78"/>
          <p:cNvSpPr>
            <a:spLocks noChangeShapeType="1"/>
          </p:cNvSpPr>
          <p:nvPr/>
        </p:nvSpPr>
        <p:spPr bwMode="auto">
          <a:xfrm>
            <a:off x="2057400" y="32766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7" name="Line 79"/>
          <p:cNvSpPr>
            <a:spLocks noChangeShapeType="1"/>
          </p:cNvSpPr>
          <p:nvPr/>
        </p:nvSpPr>
        <p:spPr bwMode="auto">
          <a:xfrm>
            <a:off x="2057400" y="37338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2971800" y="28194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2971800" y="32766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Line 82"/>
          <p:cNvSpPr>
            <a:spLocks noChangeShapeType="1"/>
          </p:cNvSpPr>
          <p:nvPr/>
        </p:nvSpPr>
        <p:spPr bwMode="auto">
          <a:xfrm>
            <a:off x="2971800" y="3733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9" name="Group 83"/>
          <p:cNvGrpSpPr>
            <a:grpSpLocks/>
          </p:cNvGrpSpPr>
          <p:nvPr/>
        </p:nvGrpSpPr>
        <p:grpSpPr bwMode="auto">
          <a:xfrm>
            <a:off x="1219200" y="4114800"/>
            <a:ext cx="533400" cy="152400"/>
            <a:chOff x="720" y="1488"/>
            <a:chExt cx="336" cy="96"/>
          </a:xfrm>
        </p:grpSpPr>
        <p:sp>
          <p:nvSpPr>
            <p:cNvPr id="2132" name="Line 84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3" name="Line 85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4" name="Line 86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5" name="Line 87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90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168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1965325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ER_SPEED_DEVIATION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38131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지령 속도와 검출 속도가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30m/min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이상의 차이를 보일 때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41900" y="2209800"/>
            <a:ext cx="4051300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TCD 60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참조하여 제어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현장과 일치하는지를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Brake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개방 불량 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Rotary Encoder(AD Connect)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단선여부를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단선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92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조치사항을 참조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Car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CWT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Balance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.(0.45 ~ 0.55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범위에 있어야 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.)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</a:t>
            </a: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 flipH="1">
            <a:off x="177800" y="1879600"/>
            <a:ext cx="3175" cy="452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 flipH="1">
            <a:off x="4806950" y="1879600"/>
            <a:ext cx="6350" cy="452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152400" y="1911350"/>
            <a:ext cx="10858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Coil[IS_CUR_V_15]</a:t>
            </a:r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1217613" y="1893888"/>
            <a:ext cx="1096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Coil[IS_CMD_V_15]</a:t>
            </a:r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4044950" y="320833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>
            <a:off x="177800" y="2209800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4038600" y="3200400"/>
            <a:ext cx="6350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3733800" y="5638800"/>
            <a:ext cx="973138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3771900" y="5656263"/>
            <a:ext cx="9525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speed_err_count</a:t>
            </a:r>
          </a:p>
        </p:txBody>
      </p:sp>
      <p:sp>
        <p:nvSpPr>
          <p:cNvPr id="2078" name="Line 30"/>
          <p:cNvSpPr>
            <a:spLocks noChangeShapeType="1"/>
          </p:cNvSpPr>
          <p:nvPr/>
        </p:nvSpPr>
        <p:spPr bwMode="auto">
          <a:xfrm>
            <a:off x="990600" y="2209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9" name="Line 31"/>
          <p:cNvSpPr>
            <a:spLocks noChangeShapeType="1"/>
          </p:cNvSpPr>
          <p:nvPr/>
        </p:nvSpPr>
        <p:spPr bwMode="auto">
          <a:xfrm>
            <a:off x="1905000" y="22098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0" name="Line 32"/>
          <p:cNvSpPr>
            <a:spLocks noChangeShapeType="1"/>
          </p:cNvSpPr>
          <p:nvPr/>
        </p:nvSpPr>
        <p:spPr bwMode="auto">
          <a:xfrm>
            <a:off x="2971800" y="22098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1" name="Line 33"/>
          <p:cNvSpPr>
            <a:spLocks noChangeShapeType="1"/>
          </p:cNvSpPr>
          <p:nvPr/>
        </p:nvSpPr>
        <p:spPr bwMode="auto">
          <a:xfrm>
            <a:off x="4038600" y="22098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2" name="Line 34"/>
          <p:cNvSpPr>
            <a:spLocks noChangeShapeType="1"/>
          </p:cNvSpPr>
          <p:nvPr/>
        </p:nvSpPr>
        <p:spPr bwMode="auto">
          <a:xfrm>
            <a:off x="1066800" y="34290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3416300" y="1919288"/>
            <a:ext cx="11684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Coil[SV_DDLP_CMD]</a:t>
            </a:r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3009900" y="3055938"/>
            <a:ext cx="10239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Coil[RS_FAST_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RUN_COMMAND]</a:t>
            </a:r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2284413" y="1920875"/>
            <a:ext cx="109061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SWD_O[VO_C1BR]</a:t>
            </a:r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328613" y="3141663"/>
            <a:ext cx="98901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SWD_I[VI_C1BR]</a:t>
            </a:r>
          </a:p>
        </p:txBody>
      </p:sp>
      <p:sp>
        <p:nvSpPr>
          <p:cNvPr id="2087" name="Line 39"/>
          <p:cNvSpPr>
            <a:spLocks noChangeShapeType="1"/>
          </p:cNvSpPr>
          <p:nvPr/>
        </p:nvSpPr>
        <p:spPr bwMode="auto">
          <a:xfrm flipH="1">
            <a:off x="3657600" y="3429000"/>
            <a:ext cx="1158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8" name="Line 40"/>
          <p:cNvSpPr>
            <a:spLocks noChangeShapeType="1"/>
          </p:cNvSpPr>
          <p:nvPr/>
        </p:nvSpPr>
        <p:spPr bwMode="auto">
          <a:xfrm>
            <a:off x="4419600" y="22098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9" name="Line 41"/>
          <p:cNvSpPr>
            <a:spLocks noChangeShapeType="1"/>
          </p:cNvSpPr>
          <p:nvPr/>
        </p:nvSpPr>
        <p:spPr bwMode="auto">
          <a:xfrm flipH="1">
            <a:off x="4038600" y="28194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0" name="Line 42"/>
          <p:cNvSpPr>
            <a:spLocks noChangeShapeType="1"/>
          </p:cNvSpPr>
          <p:nvPr/>
        </p:nvSpPr>
        <p:spPr bwMode="auto">
          <a:xfrm>
            <a:off x="393700" y="28194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1" name="Line 43"/>
          <p:cNvSpPr>
            <a:spLocks noChangeShapeType="1"/>
          </p:cNvSpPr>
          <p:nvPr/>
        </p:nvSpPr>
        <p:spPr bwMode="auto">
          <a:xfrm>
            <a:off x="381000" y="3429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2" name="Rectangle 44"/>
          <p:cNvSpPr>
            <a:spLocks noChangeArrowheads="1"/>
          </p:cNvSpPr>
          <p:nvPr/>
        </p:nvSpPr>
        <p:spPr bwMode="auto">
          <a:xfrm>
            <a:off x="419100" y="2254250"/>
            <a:ext cx="4984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0x91EC</a:t>
            </a:r>
          </a:p>
        </p:txBody>
      </p: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1430338" y="2255838"/>
            <a:ext cx="484187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0x91E4</a:t>
            </a:r>
          </a:p>
        </p:txBody>
      </p:sp>
      <p:sp>
        <p:nvSpPr>
          <p:cNvPr id="2094" name="Rectangle 46"/>
          <p:cNvSpPr>
            <a:spLocks noChangeArrowheads="1"/>
          </p:cNvSpPr>
          <p:nvPr/>
        </p:nvSpPr>
        <p:spPr bwMode="auto">
          <a:xfrm>
            <a:off x="3606800" y="2243138"/>
            <a:ext cx="47466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0x9206</a:t>
            </a:r>
          </a:p>
        </p:txBody>
      </p:sp>
      <p:sp>
        <p:nvSpPr>
          <p:cNvPr id="2095" name="Rectangle 47"/>
          <p:cNvSpPr>
            <a:spLocks noChangeArrowheads="1"/>
          </p:cNvSpPr>
          <p:nvPr/>
        </p:nvSpPr>
        <p:spPr bwMode="auto">
          <a:xfrm>
            <a:off x="2508250" y="2262188"/>
            <a:ext cx="47466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0x8080</a:t>
            </a:r>
          </a:p>
        </p:txBody>
      </p: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1487488" y="34988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0x802C</a:t>
            </a:r>
          </a:p>
        </p:txBody>
      </p:sp>
      <p:sp>
        <p:nvSpPr>
          <p:cNvPr id="2097" name="Rectangle 49"/>
          <p:cNvSpPr>
            <a:spLocks noChangeArrowheads="1"/>
          </p:cNvSpPr>
          <p:nvPr/>
        </p:nvSpPr>
        <p:spPr bwMode="auto">
          <a:xfrm>
            <a:off x="2220913" y="3473450"/>
            <a:ext cx="484187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0x802B</a:t>
            </a:r>
          </a:p>
        </p:txBody>
      </p:sp>
      <p:sp>
        <p:nvSpPr>
          <p:cNvPr id="2098" name="Rectangle 50"/>
          <p:cNvSpPr>
            <a:spLocks noChangeArrowheads="1"/>
          </p:cNvSpPr>
          <p:nvPr/>
        </p:nvSpPr>
        <p:spPr bwMode="auto">
          <a:xfrm>
            <a:off x="339725" y="391953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931863" y="3811588"/>
            <a:ext cx="16970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abs(SVD_Cmd_V - SVD_Cur_V) 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&gt;= 30</a:t>
            </a:r>
          </a:p>
        </p:txBody>
      </p:sp>
      <p:sp>
        <p:nvSpPr>
          <p:cNvPr id="2100" name="Line 52"/>
          <p:cNvSpPr>
            <a:spLocks noChangeShapeType="1"/>
          </p:cNvSpPr>
          <p:nvPr/>
        </p:nvSpPr>
        <p:spPr bwMode="auto">
          <a:xfrm>
            <a:off x="177800" y="4191000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838200" y="41910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2" name="Line 54"/>
          <p:cNvSpPr>
            <a:spLocks noChangeShapeType="1"/>
          </p:cNvSpPr>
          <p:nvPr/>
        </p:nvSpPr>
        <p:spPr bwMode="auto">
          <a:xfrm>
            <a:off x="1524000" y="4191000"/>
            <a:ext cx="32686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3" name="Line 55"/>
          <p:cNvSpPr>
            <a:spLocks noChangeShapeType="1"/>
          </p:cNvSpPr>
          <p:nvPr/>
        </p:nvSpPr>
        <p:spPr bwMode="auto">
          <a:xfrm>
            <a:off x="188913" y="5867400"/>
            <a:ext cx="504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4" name="Line 56"/>
          <p:cNvSpPr>
            <a:spLocks noChangeShapeType="1"/>
          </p:cNvSpPr>
          <p:nvPr/>
        </p:nvSpPr>
        <p:spPr bwMode="auto">
          <a:xfrm>
            <a:off x="990600" y="5867400"/>
            <a:ext cx="3816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5" name="Rectangle 57"/>
          <p:cNvSpPr>
            <a:spLocks noChangeArrowheads="1"/>
          </p:cNvSpPr>
          <p:nvPr/>
        </p:nvSpPr>
        <p:spPr bwMode="auto">
          <a:xfrm>
            <a:off x="3751263" y="3962400"/>
            <a:ext cx="962025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6" name="Rectangle 58"/>
          <p:cNvSpPr>
            <a:spLocks noChangeArrowheads="1"/>
          </p:cNvSpPr>
          <p:nvPr/>
        </p:nvSpPr>
        <p:spPr bwMode="auto">
          <a:xfrm>
            <a:off x="3748088" y="3983038"/>
            <a:ext cx="9525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speed_err_count</a:t>
            </a:r>
          </a:p>
        </p:txBody>
      </p:sp>
      <p:sp>
        <p:nvSpPr>
          <p:cNvPr id="2107" name="Rectangle 59"/>
          <p:cNvSpPr>
            <a:spLocks noChangeArrowheads="1"/>
          </p:cNvSpPr>
          <p:nvPr/>
        </p:nvSpPr>
        <p:spPr bwMode="auto">
          <a:xfrm>
            <a:off x="3319463" y="5673725"/>
            <a:ext cx="3905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=0</a:t>
            </a:r>
          </a:p>
        </p:txBody>
      </p:sp>
      <p:sp>
        <p:nvSpPr>
          <p:cNvPr id="2108" name="Rectangle 60"/>
          <p:cNvSpPr>
            <a:spLocks noChangeArrowheads="1"/>
          </p:cNvSpPr>
          <p:nvPr/>
        </p:nvSpPr>
        <p:spPr bwMode="auto">
          <a:xfrm>
            <a:off x="2630488" y="3962400"/>
            <a:ext cx="11049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speed_err_count ++</a:t>
            </a:r>
          </a:p>
        </p:txBody>
      </p:sp>
      <p:sp>
        <p:nvSpPr>
          <p:cNvPr id="2109" name="Rectangle 61"/>
          <p:cNvSpPr>
            <a:spLocks noChangeArrowheads="1"/>
          </p:cNvSpPr>
          <p:nvPr/>
        </p:nvSpPr>
        <p:spPr bwMode="auto">
          <a:xfrm>
            <a:off x="2590800" y="4419600"/>
            <a:ext cx="11255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speed_err_count &gt; 3</a:t>
            </a:r>
          </a:p>
        </p:txBody>
      </p:sp>
      <p:sp>
        <p:nvSpPr>
          <p:cNvPr id="2110" name="Line 62"/>
          <p:cNvSpPr>
            <a:spLocks noChangeShapeType="1"/>
          </p:cNvSpPr>
          <p:nvPr/>
        </p:nvSpPr>
        <p:spPr bwMode="auto">
          <a:xfrm flipH="1">
            <a:off x="2940050" y="2819400"/>
            <a:ext cx="793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1" name="Line 63"/>
          <p:cNvSpPr>
            <a:spLocks noChangeShapeType="1"/>
          </p:cNvSpPr>
          <p:nvPr/>
        </p:nvSpPr>
        <p:spPr bwMode="auto">
          <a:xfrm flipH="1">
            <a:off x="1981200" y="2819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2" name="Line 64"/>
          <p:cNvSpPr>
            <a:spLocks noChangeShapeType="1"/>
          </p:cNvSpPr>
          <p:nvPr/>
        </p:nvSpPr>
        <p:spPr bwMode="auto">
          <a:xfrm flipH="1">
            <a:off x="1143000" y="2819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3" name="Rectangle 65"/>
          <p:cNvSpPr>
            <a:spLocks noChangeArrowheads="1"/>
          </p:cNvSpPr>
          <p:nvPr/>
        </p:nvSpPr>
        <p:spPr bwMode="auto">
          <a:xfrm>
            <a:off x="3124200" y="2533650"/>
            <a:ext cx="12731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Coil[SV_INV_SW_FAIL]</a:t>
            </a:r>
          </a:p>
        </p:txBody>
      </p:sp>
      <p:sp>
        <p:nvSpPr>
          <p:cNvPr id="2114" name="Rectangle 66"/>
          <p:cNvSpPr>
            <a:spLocks noChangeArrowheads="1"/>
          </p:cNvSpPr>
          <p:nvPr/>
        </p:nvSpPr>
        <p:spPr bwMode="auto">
          <a:xfrm>
            <a:off x="565150" y="2533650"/>
            <a:ext cx="9779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2115" name="Rectangle 67"/>
          <p:cNvSpPr>
            <a:spLocks noChangeArrowheads="1"/>
          </p:cNvSpPr>
          <p:nvPr/>
        </p:nvSpPr>
        <p:spPr bwMode="auto">
          <a:xfrm>
            <a:off x="1517650" y="2533650"/>
            <a:ext cx="9890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SWD_I[VI_R5SC]</a:t>
            </a:r>
          </a:p>
        </p:txBody>
      </p:sp>
      <p:sp>
        <p:nvSpPr>
          <p:cNvPr id="2116" name="Rectangle 68"/>
          <p:cNvSpPr>
            <a:spLocks noChangeArrowheads="1"/>
          </p:cNvSpPr>
          <p:nvPr/>
        </p:nvSpPr>
        <p:spPr bwMode="auto">
          <a:xfrm>
            <a:off x="2590800" y="254635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164</a:t>
            </a:r>
          </a:p>
        </p:txBody>
      </p:sp>
      <p:sp>
        <p:nvSpPr>
          <p:cNvPr id="2117" name="Line 69"/>
          <p:cNvSpPr>
            <a:spLocks noChangeShapeType="1"/>
          </p:cNvSpPr>
          <p:nvPr/>
        </p:nvSpPr>
        <p:spPr bwMode="auto">
          <a:xfrm flipH="1">
            <a:off x="393700" y="2819400"/>
            <a:ext cx="292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8" name="Line 70"/>
          <p:cNvSpPr>
            <a:spLocks noChangeShapeType="1"/>
          </p:cNvSpPr>
          <p:nvPr/>
        </p:nvSpPr>
        <p:spPr bwMode="auto">
          <a:xfrm flipV="1">
            <a:off x="1905000" y="3429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9" name="Line 71"/>
          <p:cNvSpPr>
            <a:spLocks noChangeShapeType="1"/>
          </p:cNvSpPr>
          <p:nvPr/>
        </p:nvSpPr>
        <p:spPr bwMode="auto">
          <a:xfrm>
            <a:off x="2743200" y="34290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0" name="Rectangle 72"/>
          <p:cNvSpPr>
            <a:spLocks noChangeArrowheads="1"/>
          </p:cNvSpPr>
          <p:nvPr/>
        </p:nvSpPr>
        <p:spPr bwMode="auto">
          <a:xfrm>
            <a:off x="1230313" y="3141663"/>
            <a:ext cx="91598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SWD_I[VI_LDS]</a:t>
            </a:r>
          </a:p>
        </p:txBody>
      </p:sp>
      <p:sp>
        <p:nvSpPr>
          <p:cNvPr id="2121" name="Rectangle 73"/>
          <p:cNvSpPr>
            <a:spLocks noChangeArrowheads="1"/>
          </p:cNvSpPr>
          <p:nvPr/>
        </p:nvSpPr>
        <p:spPr bwMode="auto">
          <a:xfrm>
            <a:off x="2043113" y="3141663"/>
            <a:ext cx="9318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SWD_I[VI_CDS]</a:t>
            </a:r>
          </a:p>
        </p:txBody>
      </p:sp>
      <p:sp>
        <p:nvSpPr>
          <p:cNvPr id="2122" name="Rectangle 74"/>
          <p:cNvSpPr>
            <a:spLocks noChangeArrowheads="1"/>
          </p:cNvSpPr>
          <p:nvPr/>
        </p:nvSpPr>
        <p:spPr bwMode="auto">
          <a:xfrm>
            <a:off x="3033713" y="3486150"/>
            <a:ext cx="484187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0x91B1</a:t>
            </a:r>
          </a:p>
        </p:txBody>
      </p:sp>
      <p:sp>
        <p:nvSpPr>
          <p:cNvPr id="2123" name="Rectangle 75"/>
          <p:cNvSpPr>
            <a:spLocks noChangeArrowheads="1"/>
          </p:cNvSpPr>
          <p:nvPr/>
        </p:nvSpPr>
        <p:spPr bwMode="auto">
          <a:xfrm>
            <a:off x="762000" y="2882900"/>
            <a:ext cx="49530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0x802A</a:t>
            </a:r>
          </a:p>
        </p:txBody>
      </p:sp>
      <p:sp>
        <p:nvSpPr>
          <p:cNvPr id="2124" name="Rectangle 76"/>
          <p:cNvSpPr>
            <a:spLocks noChangeArrowheads="1"/>
          </p:cNvSpPr>
          <p:nvPr/>
        </p:nvSpPr>
        <p:spPr bwMode="auto">
          <a:xfrm>
            <a:off x="1720850" y="2870200"/>
            <a:ext cx="52070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0x8001</a:t>
            </a:r>
          </a:p>
        </p:txBody>
      </p:sp>
      <p:sp>
        <p:nvSpPr>
          <p:cNvPr id="2125" name="Rectangle 77"/>
          <p:cNvSpPr>
            <a:spLocks noChangeArrowheads="1"/>
          </p:cNvSpPr>
          <p:nvPr/>
        </p:nvSpPr>
        <p:spPr bwMode="auto">
          <a:xfrm>
            <a:off x="609600" y="3492500"/>
            <a:ext cx="53340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0x8029</a:t>
            </a:r>
          </a:p>
        </p:txBody>
      </p:sp>
      <p:sp>
        <p:nvSpPr>
          <p:cNvPr id="2126" name="Line 78"/>
          <p:cNvSpPr>
            <a:spLocks noChangeShapeType="1"/>
          </p:cNvSpPr>
          <p:nvPr/>
        </p:nvSpPr>
        <p:spPr bwMode="auto">
          <a:xfrm>
            <a:off x="1676400" y="4189413"/>
            <a:ext cx="0" cy="534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7" name="Line 79"/>
          <p:cNvSpPr>
            <a:spLocks noChangeShapeType="1"/>
          </p:cNvSpPr>
          <p:nvPr/>
        </p:nvSpPr>
        <p:spPr bwMode="auto">
          <a:xfrm>
            <a:off x="1676400" y="47244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1981200" y="47244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1905000" y="47244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Rectangle 82"/>
          <p:cNvSpPr>
            <a:spLocks noChangeArrowheads="1"/>
          </p:cNvSpPr>
          <p:nvPr/>
        </p:nvSpPr>
        <p:spPr bwMode="auto">
          <a:xfrm>
            <a:off x="3663950" y="28892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0x9210</a:t>
            </a:r>
          </a:p>
        </p:txBody>
      </p:sp>
      <p:sp>
        <p:nvSpPr>
          <p:cNvPr id="2131" name="Rectangle 83"/>
          <p:cNvSpPr>
            <a:spLocks noChangeArrowheads="1"/>
          </p:cNvSpPr>
          <p:nvPr/>
        </p:nvSpPr>
        <p:spPr bwMode="auto">
          <a:xfrm>
            <a:off x="4038600" y="4495800"/>
            <a:ext cx="657225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2" name="Rectangle 84"/>
          <p:cNvSpPr>
            <a:spLocks noChangeArrowheads="1"/>
          </p:cNvSpPr>
          <p:nvPr/>
        </p:nvSpPr>
        <p:spPr bwMode="auto">
          <a:xfrm>
            <a:off x="4038600" y="5029200"/>
            <a:ext cx="657225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3" name="Line 85"/>
          <p:cNvSpPr>
            <a:spLocks noChangeShapeType="1"/>
          </p:cNvSpPr>
          <p:nvPr/>
        </p:nvSpPr>
        <p:spPr bwMode="auto">
          <a:xfrm>
            <a:off x="2209800" y="5257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4" name="Rectangle 86"/>
          <p:cNvSpPr>
            <a:spLocks noChangeArrowheads="1"/>
          </p:cNvSpPr>
          <p:nvPr/>
        </p:nvSpPr>
        <p:spPr bwMode="auto">
          <a:xfrm>
            <a:off x="4083050" y="450850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168</a:t>
            </a:r>
          </a:p>
        </p:txBody>
      </p:sp>
      <p:sp>
        <p:nvSpPr>
          <p:cNvPr id="2135" name="Rectangle 87"/>
          <p:cNvSpPr>
            <a:spLocks noChangeArrowheads="1"/>
          </p:cNvSpPr>
          <p:nvPr/>
        </p:nvSpPr>
        <p:spPr bwMode="auto">
          <a:xfrm>
            <a:off x="4064000" y="503555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168</a:t>
            </a:r>
          </a:p>
        </p:txBody>
      </p:sp>
      <p:sp>
        <p:nvSpPr>
          <p:cNvPr id="2136" name="Rectangle 88"/>
          <p:cNvSpPr>
            <a:spLocks noChangeArrowheads="1"/>
          </p:cNvSpPr>
          <p:nvPr/>
        </p:nvSpPr>
        <p:spPr bwMode="auto">
          <a:xfrm>
            <a:off x="1663700" y="4362450"/>
            <a:ext cx="9064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SVD_Cmd_V &lt; 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SVD_Cur_V</a:t>
            </a:r>
          </a:p>
        </p:txBody>
      </p:sp>
      <p:sp>
        <p:nvSpPr>
          <p:cNvPr id="2137" name="Rectangle 89"/>
          <p:cNvSpPr>
            <a:spLocks noChangeArrowheads="1"/>
          </p:cNvSpPr>
          <p:nvPr/>
        </p:nvSpPr>
        <p:spPr bwMode="auto">
          <a:xfrm>
            <a:off x="2451100" y="4883150"/>
            <a:ext cx="11826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speed_err_count &gt; 12</a:t>
            </a:r>
          </a:p>
        </p:txBody>
      </p:sp>
      <p:sp>
        <p:nvSpPr>
          <p:cNvPr id="2138" name="Line 90"/>
          <p:cNvSpPr>
            <a:spLocks noChangeShapeType="1"/>
          </p:cNvSpPr>
          <p:nvPr/>
        </p:nvSpPr>
        <p:spPr bwMode="auto">
          <a:xfrm>
            <a:off x="3041650" y="4724400"/>
            <a:ext cx="1758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9" name="Line 91"/>
          <p:cNvSpPr>
            <a:spLocks noChangeShapeType="1"/>
          </p:cNvSpPr>
          <p:nvPr/>
        </p:nvSpPr>
        <p:spPr bwMode="auto">
          <a:xfrm>
            <a:off x="3054350" y="5257800"/>
            <a:ext cx="174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" name="Group 92"/>
          <p:cNvGrpSpPr>
            <a:grpSpLocks/>
          </p:cNvGrpSpPr>
          <p:nvPr/>
        </p:nvGrpSpPr>
        <p:grpSpPr bwMode="auto">
          <a:xfrm>
            <a:off x="3581400" y="2133600"/>
            <a:ext cx="533400" cy="152400"/>
            <a:chOff x="264" y="1488"/>
            <a:chExt cx="336" cy="96"/>
          </a:xfrm>
        </p:grpSpPr>
        <p:grpSp>
          <p:nvGrpSpPr>
            <p:cNvPr id="3" name="Group 93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142" name="Line 94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3" name="Line 95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4" name="Line 96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5" name="Line 97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46" name="Line 98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99"/>
          <p:cNvGrpSpPr>
            <a:grpSpLocks/>
          </p:cNvGrpSpPr>
          <p:nvPr/>
        </p:nvGrpSpPr>
        <p:grpSpPr bwMode="auto">
          <a:xfrm>
            <a:off x="457200" y="2133600"/>
            <a:ext cx="533400" cy="152400"/>
            <a:chOff x="720" y="1488"/>
            <a:chExt cx="336" cy="96"/>
          </a:xfrm>
        </p:grpSpPr>
        <p:sp>
          <p:nvSpPr>
            <p:cNvPr id="2148" name="Line 100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9" name="Line 101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0" name="Line 102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" name="Line 103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5" name="Group 104"/>
          <p:cNvGrpSpPr>
            <a:grpSpLocks/>
          </p:cNvGrpSpPr>
          <p:nvPr/>
        </p:nvGrpSpPr>
        <p:grpSpPr bwMode="auto">
          <a:xfrm>
            <a:off x="1447800" y="2133600"/>
            <a:ext cx="533400" cy="152400"/>
            <a:chOff x="720" y="1488"/>
            <a:chExt cx="336" cy="96"/>
          </a:xfrm>
        </p:grpSpPr>
        <p:sp>
          <p:nvSpPr>
            <p:cNvPr id="2153" name="Line 105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4" name="Line 106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109"/>
          <p:cNvGrpSpPr>
            <a:grpSpLocks/>
          </p:cNvGrpSpPr>
          <p:nvPr/>
        </p:nvGrpSpPr>
        <p:grpSpPr bwMode="auto">
          <a:xfrm>
            <a:off x="2514600" y="2133600"/>
            <a:ext cx="533400" cy="152400"/>
            <a:chOff x="720" y="1488"/>
            <a:chExt cx="336" cy="96"/>
          </a:xfrm>
        </p:grpSpPr>
        <p:sp>
          <p:nvSpPr>
            <p:cNvPr id="2158" name="Line 110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1" name="Line 113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7" name="Group 114"/>
          <p:cNvGrpSpPr>
            <a:grpSpLocks/>
          </p:cNvGrpSpPr>
          <p:nvPr/>
        </p:nvGrpSpPr>
        <p:grpSpPr bwMode="auto">
          <a:xfrm>
            <a:off x="3581400" y="2743200"/>
            <a:ext cx="533400" cy="152400"/>
            <a:chOff x="264" y="1488"/>
            <a:chExt cx="336" cy="96"/>
          </a:xfrm>
        </p:grpSpPr>
        <p:grpSp>
          <p:nvGrpSpPr>
            <p:cNvPr id="8" name="Group 115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164" name="Line 116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5" name="Line 117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68" name="Line 120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9" name="Group 121"/>
          <p:cNvGrpSpPr>
            <a:grpSpLocks/>
          </p:cNvGrpSpPr>
          <p:nvPr/>
        </p:nvGrpSpPr>
        <p:grpSpPr bwMode="auto">
          <a:xfrm>
            <a:off x="2514600" y="2743200"/>
            <a:ext cx="533400" cy="152400"/>
            <a:chOff x="264" y="1488"/>
            <a:chExt cx="336" cy="96"/>
          </a:xfrm>
        </p:grpSpPr>
        <p:grpSp>
          <p:nvGrpSpPr>
            <p:cNvPr id="10" name="Group 122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171" name="Line 123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2" name="Line 124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3" name="Line 125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74" name="Line 126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5" name="Line 127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1" name="Group 128"/>
          <p:cNvGrpSpPr>
            <a:grpSpLocks/>
          </p:cNvGrpSpPr>
          <p:nvPr/>
        </p:nvGrpSpPr>
        <p:grpSpPr bwMode="auto">
          <a:xfrm>
            <a:off x="609600" y="2743200"/>
            <a:ext cx="533400" cy="152400"/>
            <a:chOff x="720" y="1488"/>
            <a:chExt cx="336" cy="96"/>
          </a:xfrm>
        </p:grpSpPr>
        <p:sp>
          <p:nvSpPr>
            <p:cNvPr id="2177" name="Line 129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8" name="Line 130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9" name="Line 131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0" name="Line 132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2" name="Group 133"/>
          <p:cNvGrpSpPr>
            <a:grpSpLocks/>
          </p:cNvGrpSpPr>
          <p:nvPr/>
        </p:nvGrpSpPr>
        <p:grpSpPr bwMode="auto">
          <a:xfrm>
            <a:off x="1600200" y="2743200"/>
            <a:ext cx="533400" cy="152400"/>
            <a:chOff x="720" y="1488"/>
            <a:chExt cx="336" cy="96"/>
          </a:xfrm>
        </p:grpSpPr>
        <p:sp>
          <p:nvSpPr>
            <p:cNvPr id="2182" name="Line 134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3" name="Line 135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4" name="Line 136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5" name="Line 137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3" name="Group 138"/>
          <p:cNvGrpSpPr>
            <a:grpSpLocks/>
          </p:cNvGrpSpPr>
          <p:nvPr/>
        </p:nvGrpSpPr>
        <p:grpSpPr bwMode="auto">
          <a:xfrm>
            <a:off x="609600" y="3352800"/>
            <a:ext cx="533400" cy="152400"/>
            <a:chOff x="720" y="1488"/>
            <a:chExt cx="336" cy="96"/>
          </a:xfrm>
        </p:grpSpPr>
        <p:sp>
          <p:nvSpPr>
            <p:cNvPr id="2187" name="Line 139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8" name="Line 140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89" name="Line 141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0" name="Line 142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4" name="Group 143"/>
          <p:cNvGrpSpPr>
            <a:grpSpLocks/>
          </p:cNvGrpSpPr>
          <p:nvPr/>
        </p:nvGrpSpPr>
        <p:grpSpPr bwMode="auto">
          <a:xfrm>
            <a:off x="1447800" y="3352800"/>
            <a:ext cx="533400" cy="152400"/>
            <a:chOff x="720" y="1488"/>
            <a:chExt cx="336" cy="96"/>
          </a:xfrm>
        </p:grpSpPr>
        <p:sp>
          <p:nvSpPr>
            <p:cNvPr id="2192" name="Line 144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3" name="Line 145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4" name="Line 146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5" name="Line 147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5" name="Group 148"/>
          <p:cNvGrpSpPr>
            <a:grpSpLocks/>
          </p:cNvGrpSpPr>
          <p:nvPr/>
        </p:nvGrpSpPr>
        <p:grpSpPr bwMode="auto">
          <a:xfrm>
            <a:off x="2209800" y="3352800"/>
            <a:ext cx="533400" cy="152400"/>
            <a:chOff x="720" y="1488"/>
            <a:chExt cx="336" cy="96"/>
          </a:xfrm>
        </p:grpSpPr>
        <p:sp>
          <p:nvSpPr>
            <p:cNvPr id="2197" name="Line 149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8" name="Line 150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99" name="Line 151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0" name="Line 152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6" name="Group 153"/>
          <p:cNvGrpSpPr>
            <a:grpSpLocks/>
          </p:cNvGrpSpPr>
          <p:nvPr/>
        </p:nvGrpSpPr>
        <p:grpSpPr bwMode="auto">
          <a:xfrm>
            <a:off x="3200400" y="3352800"/>
            <a:ext cx="533400" cy="152400"/>
            <a:chOff x="720" y="1488"/>
            <a:chExt cx="336" cy="96"/>
          </a:xfrm>
        </p:grpSpPr>
        <p:sp>
          <p:nvSpPr>
            <p:cNvPr id="2202" name="Line 154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3" name="Line 155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4" name="Line 156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5" name="Line 157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7" name="Group 158"/>
          <p:cNvGrpSpPr>
            <a:grpSpLocks/>
          </p:cNvGrpSpPr>
          <p:nvPr/>
        </p:nvGrpSpPr>
        <p:grpSpPr bwMode="auto">
          <a:xfrm>
            <a:off x="381000" y="4114800"/>
            <a:ext cx="533400" cy="152400"/>
            <a:chOff x="720" y="1488"/>
            <a:chExt cx="336" cy="96"/>
          </a:xfrm>
        </p:grpSpPr>
        <p:sp>
          <p:nvSpPr>
            <p:cNvPr id="2207" name="Line 159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8" name="Line 160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09" name="Line 161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0" name="Line 162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8" name="Group 163"/>
          <p:cNvGrpSpPr>
            <a:grpSpLocks/>
          </p:cNvGrpSpPr>
          <p:nvPr/>
        </p:nvGrpSpPr>
        <p:grpSpPr bwMode="auto">
          <a:xfrm>
            <a:off x="1219200" y="4114800"/>
            <a:ext cx="533400" cy="152400"/>
            <a:chOff x="720" y="1488"/>
            <a:chExt cx="336" cy="96"/>
          </a:xfrm>
        </p:grpSpPr>
        <p:sp>
          <p:nvSpPr>
            <p:cNvPr id="2212" name="Line 164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3" name="Line 165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4" name="Line 166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5" name="Line 167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9" name="Group 168"/>
          <p:cNvGrpSpPr>
            <a:grpSpLocks/>
          </p:cNvGrpSpPr>
          <p:nvPr/>
        </p:nvGrpSpPr>
        <p:grpSpPr bwMode="auto">
          <a:xfrm>
            <a:off x="2743200" y="4648200"/>
            <a:ext cx="533400" cy="152400"/>
            <a:chOff x="720" y="1488"/>
            <a:chExt cx="336" cy="96"/>
          </a:xfrm>
        </p:grpSpPr>
        <p:sp>
          <p:nvSpPr>
            <p:cNvPr id="2217" name="Line 169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8" name="Line 170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19" name="Line 171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20" name="Line 172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0" name="Group 173"/>
          <p:cNvGrpSpPr>
            <a:grpSpLocks/>
          </p:cNvGrpSpPr>
          <p:nvPr/>
        </p:nvGrpSpPr>
        <p:grpSpPr bwMode="auto">
          <a:xfrm>
            <a:off x="2743200" y="5181600"/>
            <a:ext cx="533400" cy="152400"/>
            <a:chOff x="720" y="1488"/>
            <a:chExt cx="336" cy="96"/>
          </a:xfrm>
        </p:grpSpPr>
        <p:sp>
          <p:nvSpPr>
            <p:cNvPr id="2222" name="Line 174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23" name="Line 175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24" name="Line 176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25" name="Line 177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1" name="Group 178"/>
          <p:cNvGrpSpPr>
            <a:grpSpLocks/>
          </p:cNvGrpSpPr>
          <p:nvPr/>
        </p:nvGrpSpPr>
        <p:grpSpPr bwMode="auto">
          <a:xfrm>
            <a:off x="1676400" y="4648200"/>
            <a:ext cx="533400" cy="152400"/>
            <a:chOff x="720" y="1488"/>
            <a:chExt cx="336" cy="96"/>
          </a:xfrm>
        </p:grpSpPr>
        <p:sp>
          <p:nvSpPr>
            <p:cNvPr id="2227" name="Line 179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28" name="Line 180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29" name="Line 181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0" name="Line 182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2" name="Group 183"/>
          <p:cNvGrpSpPr>
            <a:grpSpLocks/>
          </p:cNvGrpSpPr>
          <p:nvPr/>
        </p:nvGrpSpPr>
        <p:grpSpPr bwMode="auto">
          <a:xfrm>
            <a:off x="1828800" y="5181600"/>
            <a:ext cx="381000" cy="152400"/>
            <a:chOff x="864" y="3072"/>
            <a:chExt cx="240" cy="96"/>
          </a:xfrm>
        </p:grpSpPr>
        <p:sp>
          <p:nvSpPr>
            <p:cNvPr id="2232" name="Line 184"/>
            <p:cNvSpPr>
              <a:spLocks noChangeShapeType="1"/>
            </p:cNvSpPr>
            <p:nvPr/>
          </p:nvSpPr>
          <p:spPr bwMode="auto">
            <a:xfrm>
              <a:off x="912" y="307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3" name="Line 185"/>
            <p:cNvSpPr>
              <a:spLocks noChangeShapeType="1"/>
            </p:cNvSpPr>
            <p:nvPr/>
          </p:nvSpPr>
          <p:spPr bwMode="auto">
            <a:xfrm>
              <a:off x="960" y="3072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4" name="Line 186"/>
            <p:cNvSpPr>
              <a:spLocks noChangeShapeType="1"/>
            </p:cNvSpPr>
            <p:nvPr/>
          </p:nvSpPr>
          <p:spPr bwMode="auto">
            <a:xfrm>
              <a:off x="960" y="31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35" name="Line 187"/>
            <p:cNvSpPr>
              <a:spLocks noChangeShapeType="1"/>
            </p:cNvSpPr>
            <p:nvPr/>
          </p:nvSpPr>
          <p:spPr bwMode="auto">
            <a:xfrm flipV="1">
              <a:off x="864" y="3072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3" name="Group 188"/>
          <p:cNvGrpSpPr>
            <a:grpSpLocks/>
          </p:cNvGrpSpPr>
          <p:nvPr/>
        </p:nvGrpSpPr>
        <p:grpSpPr bwMode="auto">
          <a:xfrm>
            <a:off x="533400" y="5791200"/>
            <a:ext cx="533400" cy="152400"/>
            <a:chOff x="264" y="1488"/>
            <a:chExt cx="336" cy="96"/>
          </a:xfrm>
        </p:grpSpPr>
        <p:grpSp>
          <p:nvGrpSpPr>
            <p:cNvPr id="24" name="Group 189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238" name="Line 190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39" name="Line 191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40" name="Line 192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41" name="Line 193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242" name="Line 194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243" name="Rectangle 195"/>
          <p:cNvSpPr>
            <a:spLocks noChangeArrowheads="1"/>
          </p:cNvSpPr>
          <p:nvPr/>
        </p:nvSpPr>
        <p:spPr bwMode="auto">
          <a:xfrm>
            <a:off x="485775" y="5595938"/>
            <a:ext cx="6508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244" name="Rectangle 196"/>
          <p:cNvSpPr>
            <a:spLocks noChangeArrowheads="1"/>
          </p:cNvSpPr>
          <p:nvPr/>
        </p:nvSpPr>
        <p:spPr bwMode="auto">
          <a:xfrm>
            <a:off x="5029200" y="1066800"/>
            <a:ext cx="40020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지령치 보다 속도 피드백치가 큰 경우에는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540msec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지속되면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검출하고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지령치 보다 속도 피드백치가 작은 경우는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2160msec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지속되면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  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196850" y="457200"/>
            <a:ext cx="717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170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1981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ER_DIRECTION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4953000" y="7620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1974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운전방향 이상을 검출하였을 때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72063" y="2265363"/>
            <a:ext cx="3995737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DIR 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점등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DIR 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점등 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DIR JUMPER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바꾸어 준다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보수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(MAINT)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운전으로 전환하여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UP/DOWN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운전을  실시하여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운전방향의 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/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역 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반대일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DIR JUMPER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바꾸어 준다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재운전 시에는 반드시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RESET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실시하여야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SPEC1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BIT8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6.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그래도 안되면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MOTOR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출력선의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상을 바꾸어 준다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52400" y="1981200"/>
            <a:ext cx="0" cy="426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4876800" y="1981200"/>
            <a:ext cx="0" cy="4276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261938" y="1997075"/>
            <a:ext cx="103981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Coil[IS_CUR_V_8]</a:t>
            </a:r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1428750" y="2019300"/>
            <a:ext cx="11430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Coil[RS_RUNNING]</a:t>
            </a:r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4006850" y="2063750"/>
            <a:ext cx="6858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 flipV="1">
            <a:off x="152400" y="2282825"/>
            <a:ext cx="460375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3962400" y="2057400"/>
            <a:ext cx="762000" cy="4810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>
            <a:off x="152400" y="51816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Line 29"/>
          <p:cNvSpPr>
            <a:spLocks noChangeShapeType="1"/>
          </p:cNvSpPr>
          <p:nvPr/>
        </p:nvSpPr>
        <p:spPr bwMode="auto">
          <a:xfrm>
            <a:off x="2209800" y="5181600"/>
            <a:ext cx="266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4057650" y="4953000"/>
            <a:ext cx="682625" cy="4810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4121150" y="4964113"/>
            <a:ext cx="5842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TCD170</a:t>
            </a:r>
          </a:p>
        </p:txBody>
      </p:sp>
      <p:sp>
        <p:nvSpPr>
          <p:cNvPr id="2080" name="Line 32"/>
          <p:cNvSpPr>
            <a:spLocks noChangeShapeType="1"/>
          </p:cNvSpPr>
          <p:nvPr/>
        </p:nvSpPr>
        <p:spPr bwMode="auto">
          <a:xfrm>
            <a:off x="1066800" y="2286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1" name="Line 33"/>
          <p:cNvSpPr>
            <a:spLocks noChangeShapeType="1"/>
          </p:cNvSpPr>
          <p:nvPr/>
        </p:nvSpPr>
        <p:spPr bwMode="auto">
          <a:xfrm>
            <a:off x="2133600" y="22860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520700" y="2344738"/>
            <a:ext cx="5048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0x91EA</a:t>
            </a:r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1343025" y="2341563"/>
            <a:ext cx="509588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0x91B0</a:t>
            </a:r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304800" y="2889250"/>
            <a:ext cx="6858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85" name="Line 37"/>
          <p:cNvSpPr>
            <a:spLocks noChangeShapeType="1"/>
          </p:cNvSpPr>
          <p:nvPr/>
        </p:nvSpPr>
        <p:spPr bwMode="auto">
          <a:xfrm>
            <a:off x="152400" y="32004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6" name="Line 38"/>
          <p:cNvSpPr>
            <a:spLocks noChangeShapeType="1"/>
          </p:cNvSpPr>
          <p:nvPr/>
        </p:nvSpPr>
        <p:spPr bwMode="auto">
          <a:xfrm>
            <a:off x="762000" y="32004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7" name="Line 39"/>
          <p:cNvSpPr>
            <a:spLocks noChangeShapeType="1"/>
          </p:cNvSpPr>
          <p:nvPr/>
        </p:nvSpPr>
        <p:spPr bwMode="auto">
          <a:xfrm>
            <a:off x="2362200" y="32004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8" name="Line 40"/>
          <p:cNvSpPr>
            <a:spLocks noChangeShapeType="1"/>
          </p:cNvSpPr>
          <p:nvPr/>
        </p:nvSpPr>
        <p:spPr bwMode="auto">
          <a:xfrm>
            <a:off x="838200" y="4419600"/>
            <a:ext cx="266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3505200" y="2963863"/>
            <a:ext cx="1219200" cy="4810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0" name="Rectangle 42"/>
          <p:cNvSpPr>
            <a:spLocks noChangeArrowheads="1"/>
          </p:cNvSpPr>
          <p:nvPr/>
        </p:nvSpPr>
        <p:spPr bwMode="auto">
          <a:xfrm>
            <a:off x="3505200" y="3048000"/>
            <a:ext cx="1219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TMC_Start(DIR_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091" name="Rectangle 43"/>
          <p:cNvSpPr>
            <a:spLocks noChangeArrowheads="1"/>
          </p:cNvSpPr>
          <p:nvPr/>
        </p:nvSpPr>
        <p:spPr bwMode="auto">
          <a:xfrm>
            <a:off x="155575" y="4884738"/>
            <a:ext cx="13414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SWD_Emergency_Call</a:t>
            </a:r>
          </a:p>
        </p:txBody>
      </p:sp>
      <p:sp>
        <p:nvSpPr>
          <p:cNvPr id="2092" name="Rectangle 44"/>
          <p:cNvSpPr>
            <a:spLocks noChangeArrowheads="1"/>
          </p:cNvSpPr>
          <p:nvPr/>
        </p:nvSpPr>
        <p:spPr bwMode="auto">
          <a:xfrm>
            <a:off x="965200" y="2913063"/>
            <a:ext cx="10795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Coil[RS_UP_RUN]</a:t>
            </a:r>
          </a:p>
        </p:txBody>
      </p:sp>
      <p:sp>
        <p:nvSpPr>
          <p:cNvPr id="2093" name="Line 45"/>
          <p:cNvSpPr>
            <a:spLocks noChangeShapeType="1"/>
          </p:cNvSpPr>
          <p:nvPr/>
        </p:nvSpPr>
        <p:spPr bwMode="auto">
          <a:xfrm>
            <a:off x="1600200" y="3200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4" name="Rectangle 46"/>
          <p:cNvSpPr>
            <a:spLocks noChangeArrowheads="1"/>
          </p:cNvSpPr>
          <p:nvPr/>
        </p:nvSpPr>
        <p:spPr bwMode="auto">
          <a:xfrm>
            <a:off x="1428750" y="3182938"/>
            <a:ext cx="5048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0x91AE</a:t>
            </a:r>
          </a:p>
        </p:txBody>
      </p:sp>
      <p:sp>
        <p:nvSpPr>
          <p:cNvPr id="2095" name="Rectangle 47"/>
          <p:cNvSpPr>
            <a:spLocks noChangeArrowheads="1"/>
          </p:cNvSpPr>
          <p:nvPr/>
        </p:nvSpPr>
        <p:spPr bwMode="auto">
          <a:xfrm>
            <a:off x="2054225" y="2914650"/>
            <a:ext cx="9112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enco_diff &lt; 0</a:t>
            </a:r>
          </a:p>
        </p:txBody>
      </p: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908050" y="3770313"/>
            <a:ext cx="122078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Coil[RS_DOWN_RUN]</a:t>
            </a:r>
          </a:p>
        </p:txBody>
      </p:sp>
      <p:sp>
        <p:nvSpPr>
          <p:cNvPr id="2097" name="Line 49"/>
          <p:cNvSpPr>
            <a:spLocks noChangeShapeType="1"/>
          </p:cNvSpPr>
          <p:nvPr/>
        </p:nvSpPr>
        <p:spPr bwMode="auto">
          <a:xfrm>
            <a:off x="1600200" y="40386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8" name="Rectangle 50"/>
          <p:cNvSpPr>
            <a:spLocks noChangeArrowheads="1"/>
          </p:cNvSpPr>
          <p:nvPr/>
        </p:nvSpPr>
        <p:spPr bwMode="auto">
          <a:xfrm>
            <a:off x="1289050" y="4084638"/>
            <a:ext cx="5048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0x91AF</a:t>
            </a:r>
          </a:p>
        </p:txBody>
      </p:sp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2063750" y="3771900"/>
            <a:ext cx="9207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enco_diff &gt; 0</a:t>
            </a:r>
          </a:p>
        </p:txBody>
      </p:sp>
      <p:sp>
        <p:nvSpPr>
          <p:cNvPr id="2100" name="Line 52"/>
          <p:cNvSpPr>
            <a:spLocks noChangeShapeType="1"/>
          </p:cNvSpPr>
          <p:nvPr/>
        </p:nvSpPr>
        <p:spPr bwMode="auto">
          <a:xfrm flipH="1">
            <a:off x="914400" y="40386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 flipV="1">
            <a:off x="609600" y="32004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2" name="Line 54"/>
          <p:cNvSpPr>
            <a:spLocks noChangeShapeType="1"/>
          </p:cNvSpPr>
          <p:nvPr/>
        </p:nvSpPr>
        <p:spPr bwMode="auto">
          <a:xfrm flipH="1">
            <a:off x="2819400" y="3187700"/>
            <a:ext cx="3175" cy="850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3" name="Line 55"/>
          <p:cNvSpPr>
            <a:spLocks noChangeShapeType="1"/>
          </p:cNvSpPr>
          <p:nvPr/>
        </p:nvSpPr>
        <p:spPr bwMode="auto">
          <a:xfrm>
            <a:off x="2438400" y="40386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4" name="Rectangle 56"/>
          <p:cNvSpPr>
            <a:spLocks noChangeArrowheads="1"/>
          </p:cNvSpPr>
          <p:nvPr/>
        </p:nvSpPr>
        <p:spPr bwMode="auto">
          <a:xfrm>
            <a:off x="3505200" y="4191000"/>
            <a:ext cx="1219200" cy="4810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5" name="Rectangle 57"/>
          <p:cNvSpPr>
            <a:spLocks noChangeArrowheads="1"/>
          </p:cNvSpPr>
          <p:nvPr/>
        </p:nvSpPr>
        <p:spPr bwMode="auto">
          <a:xfrm>
            <a:off x="3505200" y="4267200"/>
            <a:ext cx="1211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TMC_Reset(DIR_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106" name="Line 58"/>
          <p:cNvSpPr>
            <a:spLocks noChangeShapeType="1"/>
          </p:cNvSpPr>
          <p:nvPr/>
        </p:nvSpPr>
        <p:spPr bwMode="auto">
          <a:xfrm>
            <a:off x="990600" y="5181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7" name="Rectangle 59"/>
          <p:cNvSpPr>
            <a:spLocks noChangeArrowheads="1"/>
          </p:cNvSpPr>
          <p:nvPr/>
        </p:nvSpPr>
        <p:spPr bwMode="auto">
          <a:xfrm>
            <a:off x="1395413" y="4767263"/>
            <a:ext cx="15509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TMC_Check((DIR_ERROR_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DETECT_T, FINISH_STATE)</a:t>
            </a:r>
          </a:p>
        </p:txBody>
      </p:sp>
      <p:sp>
        <p:nvSpPr>
          <p:cNvPr id="2108" name="Rectangle 60"/>
          <p:cNvSpPr>
            <a:spLocks noChangeArrowheads="1"/>
          </p:cNvSpPr>
          <p:nvPr/>
        </p:nvSpPr>
        <p:spPr bwMode="auto">
          <a:xfrm>
            <a:off x="3276600" y="5562600"/>
            <a:ext cx="1466850" cy="4810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9" name="Rectangle 61"/>
          <p:cNvSpPr>
            <a:spLocks noChangeArrowheads="1"/>
          </p:cNvSpPr>
          <p:nvPr/>
        </p:nvSpPr>
        <p:spPr bwMode="auto">
          <a:xfrm>
            <a:off x="3241675" y="5618163"/>
            <a:ext cx="1514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ICC_Set_Sys_Output_Port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(RE_DIR_ERROR, ON)</a:t>
            </a:r>
          </a:p>
        </p:txBody>
      </p:sp>
      <p:sp>
        <p:nvSpPr>
          <p:cNvPr id="2110" name="Line 62"/>
          <p:cNvSpPr>
            <a:spLocks noChangeShapeType="1"/>
          </p:cNvSpPr>
          <p:nvPr/>
        </p:nvSpPr>
        <p:spPr bwMode="auto">
          <a:xfrm flipH="1">
            <a:off x="4743450" y="5791200"/>
            <a:ext cx="133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1" name="Line 63"/>
          <p:cNvSpPr>
            <a:spLocks noChangeShapeType="1"/>
          </p:cNvSpPr>
          <p:nvPr/>
        </p:nvSpPr>
        <p:spPr bwMode="auto">
          <a:xfrm>
            <a:off x="2403475" y="5178425"/>
            <a:ext cx="3175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2" name="Line 64"/>
          <p:cNvSpPr>
            <a:spLocks noChangeShapeType="1"/>
          </p:cNvSpPr>
          <p:nvPr/>
        </p:nvSpPr>
        <p:spPr bwMode="auto">
          <a:xfrm flipH="1">
            <a:off x="2413000" y="5791200"/>
            <a:ext cx="86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3" name="Line 65"/>
          <p:cNvSpPr>
            <a:spLocks noChangeShapeType="1"/>
          </p:cNvSpPr>
          <p:nvPr/>
        </p:nvSpPr>
        <p:spPr bwMode="auto">
          <a:xfrm>
            <a:off x="4724400" y="3200400"/>
            <a:ext cx="158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4" name="Line 66"/>
          <p:cNvSpPr>
            <a:spLocks noChangeShapeType="1"/>
          </p:cNvSpPr>
          <p:nvPr/>
        </p:nvSpPr>
        <p:spPr bwMode="auto">
          <a:xfrm>
            <a:off x="4724400" y="4419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5" name="Rectangle 67"/>
          <p:cNvSpPr>
            <a:spLocks noChangeArrowheads="1"/>
          </p:cNvSpPr>
          <p:nvPr/>
        </p:nvSpPr>
        <p:spPr bwMode="auto">
          <a:xfrm>
            <a:off x="5105400" y="990600"/>
            <a:ext cx="1636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DIR LED(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적색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점등됨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533400" y="5105400"/>
            <a:ext cx="533400" cy="152400"/>
            <a:chOff x="264" y="1488"/>
            <a:chExt cx="336" cy="96"/>
          </a:xfrm>
        </p:grpSpPr>
        <p:grpSp>
          <p:nvGrpSpPr>
            <p:cNvPr id="3" name="Group 69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22" name="Line 74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75"/>
          <p:cNvGrpSpPr>
            <a:grpSpLocks/>
          </p:cNvGrpSpPr>
          <p:nvPr/>
        </p:nvGrpSpPr>
        <p:grpSpPr bwMode="auto">
          <a:xfrm>
            <a:off x="533400" y="2209800"/>
            <a:ext cx="533400" cy="152400"/>
            <a:chOff x="720" y="1488"/>
            <a:chExt cx="336" cy="96"/>
          </a:xfrm>
        </p:grpSpPr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6" name="Line 78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7" name="Line 79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5" name="Group 80"/>
          <p:cNvGrpSpPr>
            <a:grpSpLocks/>
          </p:cNvGrpSpPr>
          <p:nvPr/>
        </p:nvGrpSpPr>
        <p:grpSpPr bwMode="auto">
          <a:xfrm>
            <a:off x="1676400" y="2209800"/>
            <a:ext cx="533400" cy="152400"/>
            <a:chOff x="720" y="1488"/>
            <a:chExt cx="336" cy="96"/>
          </a:xfrm>
        </p:grpSpPr>
        <p:sp>
          <p:nvSpPr>
            <p:cNvPr id="2129" name="Line 81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0" name="Line 82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1" name="Line 83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2" name="Line 84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85"/>
          <p:cNvGrpSpPr>
            <a:grpSpLocks/>
          </p:cNvGrpSpPr>
          <p:nvPr/>
        </p:nvGrpSpPr>
        <p:grpSpPr bwMode="auto">
          <a:xfrm>
            <a:off x="381000" y="3124200"/>
            <a:ext cx="533400" cy="152400"/>
            <a:chOff x="720" y="1488"/>
            <a:chExt cx="336" cy="96"/>
          </a:xfrm>
        </p:grpSpPr>
        <p:sp>
          <p:nvSpPr>
            <p:cNvPr id="2134" name="Line 86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5" name="Line 87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6" name="Line 88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7" name="Line 89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7" name="Group 90"/>
          <p:cNvGrpSpPr>
            <a:grpSpLocks/>
          </p:cNvGrpSpPr>
          <p:nvPr/>
        </p:nvGrpSpPr>
        <p:grpSpPr bwMode="auto">
          <a:xfrm>
            <a:off x="1981200" y="3124200"/>
            <a:ext cx="533400" cy="152400"/>
            <a:chOff x="720" y="1488"/>
            <a:chExt cx="336" cy="96"/>
          </a:xfrm>
        </p:grpSpPr>
        <p:sp>
          <p:nvSpPr>
            <p:cNvPr id="2139" name="Line 91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0" name="Line 92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1" name="Line 93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2" name="Line 94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8" name="Group 95"/>
          <p:cNvGrpSpPr>
            <a:grpSpLocks/>
          </p:cNvGrpSpPr>
          <p:nvPr/>
        </p:nvGrpSpPr>
        <p:grpSpPr bwMode="auto">
          <a:xfrm>
            <a:off x="1143000" y="3124200"/>
            <a:ext cx="533400" cy="152400"/>
            <a:chOff x="720" y="1488"/>
            <a:chExt cx="336" cy="96"/>
          </a:xfrm>
        </p:grpSpPr>
        <p:sp>
          <p:nvSpPr>
            <p:cNvPr id="2144" name="Line 96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6" name="Line 98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7" name="Line 99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48" name="Line 100"/>
          <p:cNvSpPr>
            <a:spLocks noChangeShapeType="1"/>
          </p:cNvSpPr>
          <p:nvPr/>
        </p:nvSpPr>
        <p:spPr bwMode="auto">
          <a:xfrm flipV="1">
            <a:off x="914400" y="32004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9" name="Group 101"/>
          <p:cNvGrpSpPr>
            <a:grpSpLocks/>
          </p:cNvGrpSpPr>
          <p:nvPr/>
        </p:nvGrpSpPr>
        <p:grpSpPr bwMode="auto">
          <a:xfrm>
            <a:off x="1981200" y="3962400"/>
            <a:ext cx="533400" cy="152400"/>
            <a:chOff x="720" y="1488"/>
            <a:chExt cx="336" cy="96"/>
          </a:xfrm>
        </p:grpSpPr>
        <p:sp>
          <p:nvSpPr>
            <p:cNvPr id="2150" name="Line 102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1" name="Line 103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2" name="Line 104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3" name="Line 105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0" name="Group 106"/>
          <p:cNvGrpSpPr>
            <a:grpSpLocks/>
          </p:cNvGrpSpPr>
          <p:nvPr/>
        </p:nvGrpSpPr>
        <p:grpSpPr bwMode="auto">
          <a:xfrm>
            <a:off x="1143000" y="3962400"/>
            <a:ext cx="533400" cy="152400"/>
            <a:chOff x="720" y="1488"/>
            <a:chExt cx="336" cy="96"/>
          </a:xfrm>
        </p:grpSpPr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7" name="Line 109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8" name="Line 110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1" name="Group 111"/>
          <p:cNvGrpSpPr>
            <a:grpSpLocks/>
          </p:cNvGrpSpPr>
          <p:nvPr/>
        </p:nvGrpSpPr>
        <p:grpSpPr bwMode="auto">
          <a:xfrm>
            <a:off x="533400" y="4343400"/>
            <a:ext cx="381000" cy="152400"/>
            <a:chOff x="1920" y="1728"/>
            <a:chExt cx="240" cy="96"/>
          </a:xfrm>
        </p:grpSpPr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1968" y="172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1" name="Line 113"/>
            <p:cNvSpPr>
              <a:spLocks noChangeShapeType="1"/>
            </p:cNvSpPr>
            <p:nvPr/>
          </p:nvSpPr>
          <p:spPr bwMode="auto">
            <a:xfrm>
              <a:off x="2016" y="172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2" name="Line 114"/>
            <p:cNvSpPr>
              <a:spLocks noChangeShapeType="1"/>
            </p:cNvSpPr>
            <p:nvPr/>
          </p:nvSpPr>
          <p:spPr bwMode="auto">
            <a:xfrm>
              <a:off x="2016" y="177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3" name="Line 115"/>
            <p:cNvSpPr>
              <a:spLocks noChangeShapeType="1"/>
            </p:cNvSpPr>
            <p:nvPr/>
          </p:nvSpPr>
          <p:spPr bwMode="auto">
            <a:xfrm flipV="1">
              <a:off x="1920" y="172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2" name="Group 116"/>
          <p:cNvGrpSpPr>
            <a:grpSpLocks/>
          </p:cNvGrpSpPr>
          <p:nvPr/>
        </p:nvGrpSpPr>
        <p:grpSpPr bwMode="auto">
          <a:xfrm>
            <a:off x="1676400" y="5105400"/>
            <a:ext cx="533400" cy="152400"/>
            <a:chOff x="264" y="1488"/>
            <a:chExt cx="336" cy="96"/>
          </a:xfrm>
        </p:grpSpPr>
        <p:grpSp>
          <p:nvGrpSpPr>
            <p:cNvPr id="13" name="Group 117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166" name="Line 118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7" name="Line 119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8" name="Line 120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9" name="Line 121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70" name="Line 122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71" name="Rectangle 123"/>
          <p:cNvSpPr>
            <a:spLocks noChangeArrowheads="1"/>
          </p:cNvSpPr>
          <p:nvPr/>
        </p:nvSpPr>
        <p:spPr bwMode="auto">
          <a:xfrm>
            <a:off x="3429000" y="2743200"/>
            <a:ext cx="7810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540 msec</a:t>
            </a:r>
          </a:p>
        </p:txBody>
      </p:sp>
      <p:sp>
        <p:nvSpPr>
          <p:cNvPr id="2172" name="Rectangle 124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533400" y="838200"/>
            <a:ext cx="1304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동기위치 이상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152400" y="2286000"/>
            <a:ext cx="4360863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복전이 된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NVRAM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체크하여 특정 번지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(0x0592~3, 0x23D4~5)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읽어서  미리 예약된 값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(0x55AA)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아니고  다를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NVRAM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이상으로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보고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NVRAM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Clear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따라서 위치 정보를 잃어 버리고 동기위치 이상을 검출한다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(TCD 140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함께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52400" y="4191000"/>
            <a:ext cx="4289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복전이 된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정전에 의한 비상정지 직전의 속도가 정격 속도의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1.25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배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이상이면 동기위치 이상을 검출한다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28600" y="3200400"/>
            <a:ext cx="4495800" cy="692150"/>
            <a:chOff x="96" y="1628"/>
            <a:chExt cx="2832" cy="436"/>
          </a:xfrm>
        </p:grpSpPr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384" y="1824"/>
              <a:ext cx="336" cy="96"/>
              <a:chOff x="720" y="1488"/>
              <a:chExt cx="336" cy="96"/>
            </a:xfrm>
          </p:grpSpPr>
          <p:sp>
            <p:nvSpPr>
              <p:cNvPr id="2057" name="Line 9"/>
              <p:cNvSpPr>
                <a:spLocks noChangeShapeType="1"/>
              </p:cNvSpPr>
              <p:nvPr/>
            </p:nvSpPr>
            <p:spPr bwMode="auto">
              <a:xfrm>
                <a:off x="8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58" name="Line 10"/>
              <p:cNvSpPr>
                <a:spLocks noChangeShapeType="1"/>
              </p:cNvSpPr>
              <p:nvPr/>
            </p:nvSpPr>
            <p:spPr bwMode="auto">
              <a:xfrm>
                <a:off x="912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59" name="Line 11"/>
              <p:cNvSpPr>
                <a:spLocks noChangeShapeType="1"/>
              </p:cNvSpPr>
              <p:nvPr/>
            </p:nvSpPr>
            <p:spPr bwMode="auto">
              <a:xfrm>
                <a:off x="720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60" name="Line 12"/>
              <p:cNvSpPr>
                <a:spLocks noChangeShapeType="1"/>
              </p:cNvSpPr>
              <p:nvPr/>
            </p:nvSpPr>
            <p:spPr bwMode="auto">
              <a:xfrm>
                <a:off x="91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61" name="Rectangle 13"/>
            <p:cNvSpPr>
              <a:spLocks noChangeArrowheads="1"/>
            </p:cNvSpPr>
            <p:nvPr/>
          </p:nvSpPr>
          <p:spPr bwMode="auto">
            <a:xfrm>
              <a:off x="101" y="1628"/>
              <a:ext cx="98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0" tIns="46035" rIns="92070" bIns="46035">
              <a:spAutoFit/>
            </a:bodyPr>
            <a:lstStyle/>
            <a:p>
              <a:pPr algn="ctr"/>
              <a:r>
                <a:rPr lang="en-US" altLang="ko-KR" sz="800">
                  <a:latin typeface="Arial" charset="0"/>
                  <a:ea typeface="굴림체" pitchFamily="49" charset="-127"/>
                </a:rPr>
                <a:t>BRD_Posi_Compen _Request</a:t>
              </a:r>
            </a:p>
            <a:p>
              <a:pPr algn="ctr"/>
              <a:r>
                <a:rPr lang="en-US" altLang="ko-KR" sz="800">
                  <a:latin typeface="Arial" charset="0"/>
                  <a:ea typeface="굴림체" pitchFamily="49" charset="-127"/>
                </a:rPr>
                <a:t>  &amp; EF_BRAM_CLEAR</a:t>
              </a:r>
            </a:p>
          </p:txBody>
        </p:sp>
        <p:sp>
          <p:nvSpPr>
            <p:cNvPr id="2062" name="Rectangle 14"/>
            <p:cNvSpPr>
              <a:spLocks noChangeArrowheads="1"/>
            </p:cNvSpPr>
            <p:nvPr/>
          </p:nvSpPr>
          <p:spPr bwMode="auto">
            <a:xfrm>
              <a:off x="1074" y="1700"/>
              <a:ext cx="534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0" tIns="46035" rIns="92070" bIns="46035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SWD_I[VI_UL]</a:t>
              </a:r>
            </a:p>
          </p:txBody>
        </p:sp>
        <p:sp>
          <p:nvSpPr>
            <p:cNvPr id="2063" name="Line 15"/>
            <p:cNvSpPr>
              <a:spLocks noChangeShapeType="1"/>
            </p:cNvSpPr>
            <p:nvPr/>
          </p:nvSpPr>
          <p:spPr bwMode="auto">
            <a:xfrm>
              <a:off x="96" y="187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64" name="Line 16"/>
            <p:cNvSpPr>
              <a:spLocks noChangeShapeType="1"/>
            </p:cNvSpPr>
            <p:nvPr/>
          </p:nvSpPr>
          <p:spPr bwMode="auto">
            <a:xfrm>
              <a:off x="720" y="1872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65" name="Line 17"/>
            <p:cNvSpPr>
              <a:spLocks noChangeShapeType="1"/>
            </p:cNvSpPr>
            <p:nvPr/>
          </p:nvSpPr>
          <p:spPr bwMode="auto">
            <a:xfrm>
              <a:off x="1344" y="1872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>
              <a:off x="96" y="1680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928" y="1680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68" name="Rectangle 20"/>
            <p:cNvSpPr>
              <a:spLocks noChangeArrowheads="1"/>
            </p:cNvSpPr>
            <p:nvPr/>
          </p:nvSpPr>
          <p:spPr bwMode="auto">
            <a:xfrm>
              <a:off x="390" y="1902"/>
              <a:ext cx="308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0" tIns="46035" rIns="92070" bIns="46035">
              <a:spAutoFit/>
            </a:bodyPr>
            <a:lstStyle/>
            <a:p>
              <a:endParaRPr lang="ko-KR" altLang="ko-KR" sz="700">
                <a:latin typeface="Arial" charset="0"/>
                <a:ea typeface="굴림체" pitchFamily="49" charset="-127"/>
              </a:endParaRPr>
            </a:p>
          </p:txBody>
        </p:sp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1632" y="1824"/>
              <a:ext cx="336" cy="96"/>
              <a:chOff x="1272" y="1488"/>
              <a:chExt cx="336" cy="96"/>
            </a:xfrm>
          </p:grpSpPr>
          <p:grpSp>
            <p:nvGrpSpPr>
              <p:cNvPr id="5" name="Group 22"/>
              <p:cNvGrpSpPr>
                <a:grpSpLocks/>
              </p:cNvGrpSpPr>
              <p:nvPr/>
            </p:nvGrpSpPr>
            <p:grpSpPr bwMode="auto">
              <a:xfrm>
                <a:off x="1272" y="1488"/>
                <a:ext cx="336" cy="96"/>
                <a:chOff x="1272" y="1488"/>
                <a:chExt cx="336" cy="96"/>
              </a:xfrm>
            </p:grpSpPr>
            <p:sp>
              <p:nvSpPr>
                <p:cNvPr id="2071" name="Line 23"/>
                <p:cNvSpPr>
                  <a:spLocks noChangeShapeType="1"/>
                </p:cNvSpPr>
                <p:nvPr/>
              </p:nvSpPr>
              <p:spPr bwMode="auto">
                <a:xfrm>
                  <a:off x="1416" y="1488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072" name="Line 24"/>
                <p:cNvSpPr>
                  <a:spLocks noChangeShapeType="1"/>
                </p:cNvSpPr>
                <p:nvPr/>
              </p:nvSpPr>
              <p:spPr bwMode="auto">
                <a:xfrm>
                  <a:off x="1464" y="1488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073" name="Line 25"/>
                <p:cNvSpPr>
                  <a:spLocks noChangeShapeType="1"/>
                </p:cNvSpPr>
                <p:nvPr/>
              </p:nvSpPr>
              <p:spPr bwMode="auto">
                <a:xfrm>
                  <a:off x="1272" y="1536"/>
                  <a:ext cx="14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074" name="Line 26"/>
                <p:cNvSpPr>
                  <a:spLocks noChangeShapeType="1"/>
                </p:cNvSpPr>
                <p:nvPr/>
              </p:nvSpPr>
              <p:spPr bwMode="auto">
                <a:xfrm>
                  <a:off x="1464" y="1536"/>
                  <a:ext cx="14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2075" name="Line 27"/>
              <p:cNvSpPr>
                <a:spLocks noChangeShapeType="1"/>
              </p:cNvSpPr>
              <p:nvPr/>
            </p:nvSpPr>
            <p:spPr bwMode="auto">
              <a:xfrm flipV="1">
                <a:off x="1368" y="1488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6" name="Group 28"/>
            <p:cNvGrpSpPr>
              <a:grpSpLocks/>
            </p:cNvGrpSpPr>
            <p:nvPr/>
          </p:nvGrpSpPr>
          <p:grpSpPr bwMode="auto">
            <a:xfrm>
              <a:off x="1056" y="1824"/>
              <a:ext cx="336" cy="96"/>
              <a:chOff x="1272" y="1488"/>
              <a:chExt cx="336" cy="96"/>
            </a:xfrm>
          </p:grpSpPr>
          <p:grpSp>
            <p:nvGrpSpPr>
              <p:cNvPr id="7" name="Group 29"/>
              <p:cNvGrpSpPr>
                <a:grpSpLocks/>
              </p:cNvGrpSpPr>
              <p:nvPr/>
            </p:nvGrpSpPr>
            <p:grpSpPr bwMode="auto">
              <a:xfrm>
                <a:off x="1272" y="1488"/>
                <a:ext cx="336" cy="96"/>
                <a:chOff x="1272" y="1488"/>
                <a:chExt cx="336" cy="96"/>
              </a:xfrm>
            </p:grpSpPr>
            <p:sp>
              <p:nvSpPr>
                <p:cNvPr id="2078" name="Line 30"/>
                <p:cNvSpPr>
                  <a:spLocks noChangeShapeType="1"/>
                </p:cNvSpPr>
                <p:nvPr/>
              </p:nvSpPr>
              <p:spPr bwMode="auto">
                <a:xfrm>
                  <a:off x="1416" y="1488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079" name="Line 31"/>
                <p:cNvSpPr>
                  <a:spLocks noChangeShapeType="1"/>
                </p:cNvSpPr>
                <p:nvPr/>
              </p:nvSpPr>
              <p:spPr bwMode="auto">
                <a:xfrm>
                  <a:off x="1464" y="1488"/>
                  <a:ext cx="0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080" name="Line 32"/>
                <p:cNvSpPr>
                  <a:spLocks noChangeShapeType="1"/>
                </p:cNvSpPr>
                <p:nvPr/>
              </p:nvSpPr>
              <p:spPr bwMode="auto">
                <a:xfrm>
                  <a:off x="1272" y="1536"/>
                  <a:ext cx="14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081" name="Line 33"/>
                <p:cNvSpPr>
                  <a:spLocks noChangeShapeType="1"/>
                </p:cNvSpPr>
                <p:nvPr/>
              </p:nvSpPr>
              <p:spPr bwMode="auto">
                <a:xfrm>
                  <a:off x="1464" y="1536"/>
                  <a:ext cx="14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 flipV="1">
                <a:off x="1368" y="1488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83" name="Line 35"/>
            <p:cNvSpPr>
              <a:spLocks noChangeShapeType="1"/>
            </p:cNvSpPr>
            <p:nvPr/>
          </p:nvSpPr>
          <p:spPr bwMode="auto">
            <a:xfrm>
              <a:off x="1968" y="1872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4" name="Rectangle 36"/>
            <p:cNvSpPr>
              <a:spLocks noChangeArrowheads="1"/>
            </p:cNvSpPr>
            <p:nvPr/>
          </p:nvSpPr>
          <p:spPr bwMode="auto">
            <a:xfrm>
              <a:off x="2284" y="1868"/>
              <a:ext cx="59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0" tIns="46035" rIns="92070" bIns="46035">
              <a:spAutoFit/>
            </a:bodyPr>
            <a:lstStyle/>
            <a:p>
              <a:r>
                <a:rPr lang="en-US" altLang="ko-KR" sz="700">
                  <a:latin typeface="Arial" charset="0"/>
                  <a:ea typeface="굴림체" pitchFamily="49" charset="-127"/>
                </a:rPr>
                <a:t>EF_BRAM_CLEAR</a:t>
              </a:r>
              <a:endParaRPr lang="en-US" altLang="ko-KR" sz="800"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2304" y="1728"/>
              <a:ext cx="56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2376" y="1737"/>
              <a:ext cx="4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0" tIns="46035" rIns="92070" bIns="46035">
              <a:spAutoFit/>
            </a:bodyPr>
            <a:lstStyle/>
            <a:p>
              <a:pPr algn="ctr"/>
              <a:r>
                <a:rPr lang="en-US" altLang="ko-KR" sz="800">
                  <a:latin typeface="Arial" charset="0"/>
                  <a:ea typeface="굴림체" pitchFamily="49" charset="-127"/>
                </a:rPr>
                <a:t>TCD 171</a:t>
              </a:r>
            </a:p>
          </p:txBody>
        </p:sp>
        <p:sp>
          <p:nvSpPr>
            <p:cNvPr id="2087" name="Rectangle 39"/>
            <p:cNvSpPr>
              <a:spLocks noChangeArrowheads="1"/>
            </p:cNvSpPr>
            <p:nvPr/>
          </p:nvSpPr>
          <p:spPr bwMode="auto">
            <a:xfrm>
              <a:off x="1582" y="1708"/>
              <a:ext cx="534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0" tIns="46035" rIns="92070" bIns="46035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SWD_I[VI_DL]</a:t>
              </a:r>
            </a:p>
          </p:txBody>
        </p:sp>
        <p:sp>
          <p:nvSpPr>
            <p:cNvPr id="2088" name="Rectangle 40"/>
            <p:cNvSpPr>
              <a:spLocks noChangeArrowheads="1"/>
            </p:cNvSpPr>
            <p:nvPr/>
          </p:nvSpPr>
          <p:spPr bwMode="auto">
            <a:xfrm>
              <a:off x="1054" y="1906"/>
              <a:ext cx="308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0" tIns="46035" rIns="92070" bIns="46035">
              <a:spAutoFit/>
            </a:bodyPr>
            <a:lstStyle/>
            <a:p>
              <a:r>
                <a:rPr lang="en-US" altLang="ko-KR" sz="700">
                  <a:latin typeface="Arial" charset="0"/>
                  <a:ea typeface="굴림체" pitchFamily="49" charset="-127"/>
                </a:rPr>
                <a:t>0x8003</a:t>
              </a:r>
            </a:p>
          </p:txBody>
        </p:sp>
        <p:sp>
          <p:nvSpPr>
            <p:cNvPr id="2089" name="Rectangle 41"/>
            <p:cNvSpPr>
              <a:spLocks noChangeArrowheads="1"/>
            </p:cNvSpPr>
            <p:nvPr/>
          </p:nvSpPr>
          <p:spPr bwMode="auto">
            <a:xfrm>
              <a:off x="1646" y="1902"/>
              <a:ext cx="308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0" tIns="46035" rIns="92070" bIns="46035">
              <a:spAutoFit/>
            </a:bodyPr>
            <a:lstStyle/>
            <a:p>
              <a:r>
                <a:rPr lang="en-US" altLang="ko-KR" sz="700">
                  <a:latin typeface="Arial" charset="0"/>
                  <a:ea typeface="굴림체" pitchFamily="49" charset="-127"/>
                </a:rPr>
                <a:t>0x8004</a:t>
              </a:r>
            </a:p>
          </p:txBody>
        </p:sp>
      </p:grpSp>
      <p:sp>
        <p:nvSpPr>
          <p:cNvPr id="2090" name="Rectangle 42"/>
          <p:cNvSpPr>
            <a:spLocks noChangeArrowheads="1"/>
          </p:cNvSpPr>
          <p:nvPr/>
        </p:nvSpPr>
        <p:spPr bwMode="auto">
          <a:xfrm>
            <a:off x="590550" y="4629150"/>
            <a:ext cx="31067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Limit_v = 1.25 * PGD_F_V_To_Tick * SVD_Contract_Speed / 60</a:t>
            </a:r>
          </a:p>
        </p:txBody>
      </p: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685800" y="5181600"/>
            <a:ext cx="533400" cy="152400"/>
            <a:chOff x="720" y="1488"/>
            <a:chExt cx="336" cy="96"/>
          </a:xfrm>
        </p:grpSpPr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3" name="Line 45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5" name="Line 47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266700" y="4857750"/>
            <a:ext cx="1357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BRD_PF_Control.Velocity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&gt;  limit_v</a:t>
            </a:r>
          </a:p>
        </p:txBody>
      </p:sp>
      <p:sp>
        <p:nvSpPr>
          <p:cNvPr id="2097" name="Rectangle 49"/>
          <p:cNvSpPr>
            <a:spLocks noChangeArrowheads="1"/>
          </p:cNvSpPr>
          <p:nvPr/>
        </p:nvSpPr>
        <p:spPr bwMode="auto">
          <a:xfrm>
            <a:off x="1781175" y="4984750"/>
            <a:ext cx="8477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SWD_I[VI_UL]</a:t>
            </a:r>
          </a:p>
        </p:txBody>
      </p:sp>
      <p:sp>
        <p:nvSpPr>
          <p:cNvPr id="2098" name="Line 50"/>
          <p:cNvSpPr>
            <a:spLocks noChangeShapeType="1"/>
          </p:cNvSpPr>
          <p:nvPr/>
        </p:nvSpPr>
        <p:spPr bwMode="auto">
          <a:xfrm>
            <a:off x="228600" y="5257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9" name="Line 51"/>
          <p:cNvSpPr>
            <a:spLocks noChangeShapeType="1"/>
          </p:cNvSpPr>
          <p:nvPr/>
        </p:nvSpPr>
        <p:spPr bwMode="auto">
          <a:xfrm>
            <a:off x="1219200" y="5257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0" name="Line 52"/>
          <p:cNvSpPr>
            <a:spLocks noChangeShapeType="1"/>
          </p:cNvSpPr>
          <p:nvPr/>
        </p:nvSpPr>
        <p:spPr bwMode="auto">
          <a:xfrm>
            <a:off x="2209800" y="52578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228600" y="48006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2" name="Line 54"/>
          <p:cNvSpPr>
            <a:spLocks noChangeShapeType="1"/>
          </p:cNvSpPr>
          <p:nvPr/>
        </p:nvSpPr>
        <p:spPr bwMode="auto">
          <a:xfrm>
            <a:off x="4724400" y="4800600"/>
            <a:ext cx="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3" name="Rectangle 55"/>
          <p:cNvSpPr>
            <a:spLocks noChangeArrowheads="1"/>
          </p:cNvSpPr>
          <p:nvPr/>
        </p:nvSpPr>
        <p:spPr bwMode="auto">
          <a:xfrm>
            <a:off x="695325" y="530542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endParaRPr lang="ko-KR" altLang="ko-KR" sz="700">
              <a:latin typeface="Arial" charset="0"/>
              <a:ea typeface="굴림체" pitchFamily="49" charset="-127"/>
            </a:endParaRPr>
          </a:p>
        </p:txBody>
      </p:sp>
      <p:grpSp>
        <p:nvGrpSpPr>
          <p:cNvPr id="9" name="Group 56"/>
          <p:cNvGrpSpPr>
            <a:grpSpLocks/>
          </p:cNvGrpSpPr>
          <p:nvPr/>
        </p:nvGrpSpPr>
        <p:grpSpPr bwMode="auto">
          <a:xfrm>
            <a:off x="2667000" y="5181600"/>
            <a:ext cx="533400" cy="152400"/>
            <a:chOff x="1272" y="1488"/>
            <a:chExt cx="336" cy="96"/>
          </a:xfrm>
        </p:grpSpPr>
        <p:grpSp>
          <p:nvGrpSpPr>
            <p:cNvPr id="10" name="Group 57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8" name="Line 60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9" name="Line 61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10" name="Line 62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1" name="Group 63"/>
          <p:cNvGrpSpPr>
            <a:grpSpLocks/>
          </p:cNvGrpSpPr>
          <p:nvPr/>
        </p:nvGrpSpPr>
        <p:grpSpPr bwMode="auto">
          <a:xfrm>
            <a:off x="1752600" y="5181600"/>
            <a:ext cx="533400" cy="152400"/>
            <a:chOff x="1272" y="1488"/>
            <a:chExt cx="336" cy="96"/>
          </a:xfrm>
        </p:grpSpPr>
        <p:grpSp>
          <p:nvGrpSpPr>
            <p:cNvPr id="12" name="Group 64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6" name="Line 68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17" name="Line 69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8" name="Line 70"/>
          <p:cNvSpPr>
            <a:spLocks noChangeShapeType="1"/>
          </p:cNvSpPr>
          <p:nvPr/>
        </p:nvSpPr>
        <p:spPr bwMode="auto">
          <a:xfrm>
            <a:off x="3200400" y="5257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9" name="Rectangle 71"/>
          <p:cNvSpPr>
            <a:spLocks noChangeArrowheads="1"/>
          </p:cNvSpPr>
          <p:nvPr/>
        </p:nvSpPr>
        <p:spPr bwMode="auto">
          <a:xfrm>
            <a:off x="3702050" y="6242050"/>
            <a:ext cx="8667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EF_PF_OVER_V</a:t>
            </a:r>
            <a:endParaRPr lang="en-US" altLang="ko-KR" sz="800">
              <a:latin typeface="Arial" charset="0"/>
              <a:ea typeface="굴림체" pitchFamily="49" charset="-127"/>
            </a:endParaRPr>
          </a:p>
        </p:txBody>
      </p:sp>
      <p:sp>
        <p:nvSpPr>
          <p:cNvPr id="2120" name="Rectangle 72"/>
          <p:cNvSpPr>
            <a:spLocks noChangeArrowheads="1"/>
          </p:cNvSpPr>
          <p:nvPr/>
        </p:nvSpPr>
        <p:spPr bwMode="auto">
          <a:xfrm>
            <a:off x="3733800" y="6019800"/>
            <a:ext cx="9017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1" name="Rectangle 73"/>
          <p:cNvSpPr>
            <a:spLocks noChangeArrowheads="1"/>
          </p:cNvSpPr>
          <p:nvPr/>
        </p:nvSpPr>
        <p:spPr bwMode="auto">
          <a:xfrm>
            <a:off x="3848100" y="6034088"/>
            <a:ext cx="65405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TCD 171</a:t>
            </a:r>
          </a:p>
        </p:txBody>
      </p:sp>
      <p:sp>
        <p:nvSpPr>
          <p:cNvPr id="2122" name="Rectangle 74"/>
          <p:cNvSpPr>
            <a:spLocks noChangeArrowheads="1"/>
          </p:cNvSpPr>
          <p:nvPr/>
        </p:nvSpPr>
        <p:spPr bwMode="auto">
          <a:xfrm>
            <a:off x="2587625" y="4997450"/>
            <a:ext cx="8477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SWD_I[VI_DL]</a:t>
            </a:r>
          </a:p>
        </p:txBody>
      </p:sp>
      <p:sp>
        <p:nvSpPr>
          <p:cNvPr id="2123" name="Rectangle 75"/>
          <p:cNvSpPr>
            <a:spLocks noChangeArrowheads="1"/>
          </p:cNvSpPr>
          <p:nvPr/>
        </p:nvSpPr>
        <p:spPr bwMode="auto">
          <a:xfrm>
            <a:off x="1749425" y="531177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0x8003</a:t>
            </a:r>
          </a:p>
        </p:txBody>
      </p:sp>
      <p:sp>
        <p:nvSpPr>
          <p:cNvPr id="2124" name="Rectangle 76"/>
          <p:cNvSpPr>
            <a:spLocks noChangeArrowheads="1"/>
          </p:cNvSpPr>
          <p:nvPr/>
        </p:nvSpPr>
        <p:spPr bwMode="auto">
          <a:xfrm>
            <a:off x="2689225" y="5305425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0x8004</a:t>
            </a:r>
          </a:p>
        </p:txBody>
      </p:sp>
      <p:sp>
        <p:nvSpPr>
          <p:cNvPr id="2125" name="Rectangle 77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6" name="Line 78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7" name="Line 79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0" name="Line 82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1" name="Rectangle 83"/>
          <p:cNvSpPr>
            <a:spLocks noChangeArrowheads="1"/>
          </p:cNvSpPr>
          <p:nvPr/>
        </p:nvSpPr>
        <p:spPr bwMode="auto">
          <a:xfrm>
            <a:off x="139700" y="450850"/>
            <a:ext cx="846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171(1)</a:t>
            </a:r>
          </a:p>
        </p:txBody>
      </p:sp>
      <p:sp>
        <p:nvSpPr>
          <p:cNvPr id="2132" name="Rectangle 8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133" name="Rectangle 8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134" name="Rectangle 8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135" name="Rectangle 8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ER_DIGITAL_FL</a:t>
            </a:r>
          </a:p>
        </p:txBody>
      </p:sp>
      <p:sp>
        <p:nvSpPr>
          <p:cNvPr id="2136" name="Line 88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7" name="Rectangle 89"/>
          <p:cNvSpPr>
            <a:spLocks noChangeArrowheads="1"/>
          </p:cNvSpPr>
          <p:nvPr/>
        </p:nvSpPr>
        <p:spPr bwMode="auto">
          <a:xfrm>
            <a:off x="152400" y="1981200"/>
            <a:ext cx="3870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ko-KR" altLang="en-US" sz="1000">
                <a:latin typeface="Arial" charset="0"/>
                <a:ea typeface="굴림체" pitchFamily="49" charset="-127"/>
              </a:rPr>
              <a:t>동기위치 이상 검출은 아래의 경우와 가지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가지 경우에 검출된다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138" name="Rectangle 90"/>
          <p:cNvSpPr>
            <a:spLocks noChangeArrowheads="1"/>
          </p:cNvSpPr>
          <p:nvPr/>
        </p:nvSpPr>
        <p:spPr bwMode="auto">
          <a:xfrm>
            <a:off x="5029200" y="3048000"/>
            <a:ext cx="4114800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제어반의 상태가 정상이고 외부의 원인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의하여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정지했다면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ACD=0B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나타내면 자동으로 최하층으로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이동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ACD=27(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자동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으로 전환된다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자동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MODE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아니면서  수동운전이 되는 경우 라면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가까운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ZONE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으로  수동 운전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카 및 제어반의 상태를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점검한다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제어반의 전원을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했을 때에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171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발생하면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상기 발생원인 추적 방법에 따라 추적하여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7, 5, 4 Bit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Set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된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경우에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1) 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Backup Battery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정상인지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2)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 체크하여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3.0V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Backup Battery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교환한다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상기 발생원인 추적 방법에 따라 추적하여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 Bit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Set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된 경우에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SDS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관련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TCD(150, 151, 157, 158)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동시 발생여부를 확인하고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관련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조치사항을 따른다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상기 발생원인 추적 방법에 따라 추적하여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 Bit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Set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된 경우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1) POSI OFF(TCD 114)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 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POSI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고장에 의해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Interrupt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발생하지 않아 위치보정을 하지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못하여 위치오차가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500mm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차이가 날 수 있음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2) POWER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된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Brake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개방하여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움직이지는 않았는가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?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140" name="Rectangle 92"/>
          <p:cNvSpPr>
            <a:spLocks noChangeArrowheads="1"/>
          </p:cNvSpPr>
          <p:nvPr/>
        </p:nvSpPr>
        <p:spPr bwMode="auto">
          <a:xfrm>
            <a:off x="5029200" y="1143000"/>
            <a:ext cx="35909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000" u="sng">
                <a:latin typeface="Arial" charset="0"/>
                <a:ea typeface="굴림체" pitchFamily="49" charset="-127"/>
              </a:rPr>
              <a:t>*</a:t>
            </a:r>
            <a:r>
              <a:rPr lang="ko-KR" altLang="en-US" sz="1000" u="sng">
                <a:latin typeface="Arial" charset="0"/>
                <a:ea typeface="굴림체" pitchFamily="49" charset="-127"/>
              </a:rPr>
              <a:t>동기위치 이상 검출 시 발생원인 추적 방법</a:t>
            </a:r>
            <a:endParaRPr lang="ko-KR" altLang="en-US" sz="1000">
              <a:latin typeface="Arial" charset="0"/>
              <a:ea typeface="굴림체" pitchFamily="49" charset="-127"/>
            </a:endParaRP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LOG TABLE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보기 모드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(A42E)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이용한다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Trace Data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표시화면에서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171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대한 부가 정보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13~16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4Byte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Bit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데이터로 변환하여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141" name="Rectangle 93"/>
          <p:cNvSpPr>
            <a:spLocks noChangeArrowheads="1"/>
          </p:cNvSpPr>
          <p:nvPr/>
        </p:nvSpPr>
        <p:spPr bwMode="auto">
          <a:xfrm>
            <a:off x="5105400" y="1905000"/>
            <a:ext cx="29019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Set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된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Bit</a:t>
            </a:r>
            <a:r>
              <a:rPr lang="ko-KR" altLang="en-US" sz="800">
                <a:latin typeface="Arial" charset="0"/>
                <a:ea typeface="굴림체" pitchFamily="49" charset="-127"/>
              </a:rPr>
              <a:t>가 동기 위치 고장의 원인을 나타냄</a:t>
            </a:r>
            <a:r>
              <a:rPr lang="en-US" altLang="ko-KR" sz="800">
                <a:latin typeface="Arial" charset="0"/>
                <a:ea typeface="굴림체" pitchFamily="49" charset="-127"/>
              </a:rPr>
              <a:t>(7~0 Bit</a:t>
            </a:r>
            <a:r>
              <a:rPr lang="ko-KR" altLang="en-US" sz="800">
                <a:latin typeface="Arial" charset="0"/>
                <a:ea typeface="굴림체" pitchFamily="49" charset="-127"/>
              </a:rPr>
              <a:t>만 유효</a:t>
            </a:r>
            <a:r>
              <a:rPr lang="en-US" altLang="ko-KR" sz="800">
                <a:latin typeface="Arial" charset="0"/>
                <a:ea typeface="굴림체" pitchFamily="49" charset="-127"/>
              </a:rPr>
              <a:t>)</a:t>
            </a:r>
          </a:p>
        </p:txBody>
      </p:sp>
      <p:grpSp>
        <p:nvGrpSpPr>
          <p:cNvPr id="13" name="Group 94"/>
          <p:cNvGrpSpPr>
            <a:grpSpLocks/>
          </p:cNvGrpSpPr>
          <p:nvPr/>
        </p:nvGrpSpPr>
        <p:grpSpPr bwMode="auto">
          <a:xfrm>
            <a:off x="5029200" y="2133600"/>
            <a:ext cx="3951288" cy="688975"/>
            <a:chOff x="3192" y="2784"/>
            <a:chExt cx="2489" cy="434"/>
          </a:xfrm>
        </p:grpSpPr>
        <p:sp>
          <p:nvSpPr>
            <p:cNvPr id="2143" name="Line 95"/>
            <p:cNvSpPr>
              <a:spLocks noChangeShapeType="1"/>
            </p:cNvSpPr>
            <p:nvPr/>
          </p:nvSpPr>
          <p:spPr bwMode="auto">
            <a:xfrm>
              <a:off x="3216" y="2784"/>
              <a:ext cx="2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4" name="Line 96"/>
            <p:cNvSpPr>
              <a:spLocks noChangeShapeType="1"/>
            </p:cNvSpPr>
            <p:nvPr/>
          </p:nvSpPr>
          <p:spPr bwMode="auto">
            <a:xfrm>
              <a:off x="3216" y="2928"/>
              <a:ext cx="2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>
              <a:off x="3216" y="3216"/>
              <a:ext cx="2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6" name="Rectangle 98"/>
            <p:cNvSpPr>
              <a:spLocks noChangeArrowheads="1"/>
            </p:cNvSpPr>
            <p:nvPr/>
          </p:nvSpPr>
          <p:spPr bwMode="auto">
            <a:xfrm>
              <a:off x="5404" y="2928"/>
              <a:ext cx="277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Level</a:t>
              </a:r>
            </a:p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500mm</a:t>
              </a:r>
            </a:p>
            <a:p>
              <a:pPr algn="ctr"/>
              <a:r>
                <a:rPr lang="ko-KR" altLang="en-US" sz="600">
                  <a:latin typeface="Arial" charset="0"/>
                  <a:ea typeface="굴림체" pitchFamily="49" charset="-127"/>
                </a:rPr>
                <a:t>오차</a:t>
              </a:r>
            </a:p>
            <a:p>
              <a:pPr algn="ctr"/>
              <a:r>
                <a:rPr lang="ko-KR" altLang="en-US" sz="600">
                  <a:latin typeface="Arial" charset="0"/>
                  <a:ea typeface="굴림체" pitchFamily="49" charset="-127"/>
                </a:rPr>
                <a:t>검출</a:t>
              </a:r>
            </a:p>
          </p:txBody>
        </p:sp>
        <p:sp>
          <p:nvSpPr>
            <p:cNvPr id="2147" name="Line 99"/>
            <p:cNvSpPr>
              <a:spLocks noChangeShapeType="1"/>
            </p:cNvSpPr>
            <p:nvPr/>
          </p:nvSpPr>
          <p:spPr bwMode="auto">
            <a:xfrm>
              <a:off x="5664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8" name="Line 100"/>
            <p:cNvSpPr>
              <a:spLocks noChangeShapeType="1"/>
            </p:cNvSpPr>
            <p:nvPr/>
          </p:nvSpPr>
          <p:spPr bwMode="auto">
            <a:xfrm>
              <a:off x="5424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9" name="Rectangle 101"/>
            <p:cNvSpPr>
              <a:spLocks noChangeArrowheads="1"/>
            </p:cNvSpPr>
            <p:nvPr/>
          </p:nvSpPr>
          <p:spPr bwMode="auto">
            <a:xfrm>
              <a:off x="5237" y="2929"/>
              <a:ext cx="132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endParaRPr lang="en-US" altLang="ko-KR" sz="600">
                <a:latin typeface="Arial" charset="0"/>
                <a:ea typeface="굴림체" pitchFamily="49" charset="-127"/>
              </a:endParaRPr>
            </a:p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-</a:t>
              </a:r>
            </a:p>
          </p:txBody>
        </p:sp>
        <p:sp>
          <p:nvSpPr>
            <p:cNvPr id="2150" name="Rectangle 102"/>
            <p:cNvSpPr>
              <a:spLocks noChangeArrowheads="1"/>
            </p:cNvSpPr>
            <p:nvPr/>
          </p:nvSpPr>
          <p:spPr bwMode="auto">
            <a:xfrm>
              <a:off x="4997" y="2925"/>
              <a:ext cx="132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endParaRPr lang="en-US" altLang="ko-KR" sz="600">
                <a:latin typeface="Arial" charset="0"/>
                <a:ea typeface="굴림체" pitchFamily="49" charset="-127"/>
              </a:endParaRPr>
            </a:p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-</a:t>
              </a:r>
            </a:p>
          </p:txBody>
        </p:sp>
        <p:sp>
          <p:nvSpPr>
            <p:cNvPr id="2151" name="Rectangle 103"/>
            <p:cNvSpPr>
              <a:spLocks noChangeArrowheads="1"/>
            </p:cNvSpPr>
            <p:nvPr/>
          </p:nvSpPr>
          <p:spPr bwMode="auto">
            <a:xfrm>
              <a:off x="4760" y="2964"/>
              <a:ext cx="132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-</a:t>
              </a:r>
            </a:p>
          </p:txBody>
        </p:sp>
        <p:sp>
          <p:nvSpPr>
            <p:cNvPr id="2152" name="Rectangle 104"/>
            <p:cNvSpPr>
              <a:spLocks noChangeArrowheads="1"/>
            </p:cNvSpPr>
            <p:nvPr/>
          </p:nvSpPr>
          <p:spPr bwMode="auto">
            <a:xfrm>
              <a:off x="4456" y="2953"/>
              <a:ext cx="260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600">
                  <a:latin typeface="Arial" charset="0"/>
                  <a:ea typeface="굴림체" pitchFamily="49" charset="-127"/>
                </a:rPr>
                <a:t>정전시</a:t>
              </a:r>
            </a:p>
            <a:p>
              <a:pPr algn="ctr"/>
              <a:r>
                <a:rPr lang="ko-KR" altLang="en-US" sz="600">
                  <a:latin typeface="Arial" charset="0"/>
                  <a:ea typeface="굴림체" pitchFamily="49" charset="-127"/>
                </a:rPr>
                <a:t>속도</a:t>
              </a:r>
            </a:p>
            <a:p>
              <a:pPr algn="ctr"/>
              <a:r>
                <a:rPr lang="ko-KR" altLang="en-US" sz="600">
                  <a:latin typeface="Arial" charset="0"/>
                  <a:ea typeface="굴림체" pitchFamily="49" charset="-127"/>
                </a:rPr>
                <a:t>이상</a:t>
              </a:r>
            </a:p>
          </p:txBody>
        </p:sp>
        <p:sp>
          <p:nvSpPr>
            <p:cNvPr id="2153" name="Rectangle 105"/>
            <p:cNvSpPr>
              <a:spLocks noChangeArrowheads="1"/>
            </p:cNvSpPr>
            <p:nvPr/>
          </p:nvSpPr>
          <p:spPr bwMode="auto">
            <a:xfrm>
              <a:off x="4212" y="2961"/>
              <a:ext cx="260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600">
                  <a:latin typeface="Arial" charset="0"/>
                  <a:ea typeface="굴림체" pitchFamily="49" charset="-127"/>
                </a:rPr>
                <a:t>정전시</a:t>
              </a:r>
            </a:p>
            <a:p>
              <a:pPr algn="ctr"/>
              <a:r>
                <a:rPr lang="ko-KR" altLang="en-US" sz="600">
                  <a:latin typeface="Arial" charset="0"/>
                  <a:ea typeface="굴림체" pitchFamily="49" charset="-127"/>
                </a:rPr>
                <a:t>방향</a:t>
              </a:r>
            </a:p>
            <a:p>
              <a:pPr algn="ctr"/>
              <a:r>
                <a:rPr lang="ko-KR" altLang="en-US" sz="600">
                  <a:latin typeface="Arial" charset="0"/>
                  <a:ea typeface="굴림체" pitchFamily="49" charset="-127"/>
                </a:rPr>
                <a:t>이상</a:t>
              </a:r>
            </a:p>
          </p:txBody>
        </p:sp>
        <p:sp>
          <p:nvSpPr>
            <p:cNvPr id="2154" name="Rectangle 106"/>
            <p:cNvSpPr>
              <a:spLocks noChangeArrowheads="1"/>
            </p:cNvSpPr>
            <p:nvPr/>
          </p:nvSpPr>
          <p:spPr bwMode="auto">
            <a:xfrm>
              <a:off x="3972" y="2960"/>
              <a:ext cx="256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SDS</a:t>
              </a:r>
            </a:p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Over</a:t>
              </a:r>
            </a:p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Speed</a:t>
              </a:r>
            </a:p>
          </p:txBody>
        </p:sp>
        <p:sp>
          <p:nvSpPr>
            <p:cNvPr id="2155" name="Rectangle 107"/>
            <p:cNvSpPr>
              <a:spLocks noChangeArrowheads="1"/>
            </p:cNvSpPr>
            <p:nvPr/>
          </p:nvSpPr>
          <p:spPr bwMode="auto">
            <a:xfrm>
              <a:off x="3727" y="2960"/>
              <a:ext cx="277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Backup</a:t>
              </a:r>
            </a:p>
            <a:p>
              <a:pPr algn="ctr"/>
              <a:r>
                <a:rPr lang="en-US" altLang="ko-KR" sz="600">
                  <a:latin typeface="Arial" charset="0"/>
                  <a:ea typeface="굴림체" pitchFamily="49" charset="-127"/>
                </a:rPr>
                <a:t>RAM</a:t>
              </a:r>
            </a:p>
            <a:p>
              <a:pPr algn="ctr"/>
              <a:r>
                <a:rPr lang="ko-KR" altLang="en-US" sz="600">
                  <a:latin typeface="Arial" charset="0"/>
                  <a:ea typeface="굴림체" pitchFamily="49" charset="-127"/>
                </a:rPr>
                <a:t>이상</a:t>
              </a:r>
            </a:p>
          </p:txBody>
        </p:sp>
        <p:sp>
          <p:nvSpPr>
            <p:cNvPr id="2156" name="Line 108"/>
            <p:cNvSpPr>
              <a:spLocks noChangeShapeType="1"/>
            </p:cNvSpPr>
            <p:nvPr/>
          </p:nvSpPr>
          <p:spPr bwMode="auto">
            <a:xfrm>
              <a:off x="5184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7" name="Line 109"/>
            <p:cNvSpPr>
              <a:spLocks noChangeShapeType="1"/>
            </p:cNvSpPr>
            <p:nvPr/>
          </p:nvSpPr>
          <p:spPr bwMode="auto">
            <a:xfrm>
              <a:off x="4944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8" name="Line 110"/>
            <p:cNvSpPr>
              <a:spLocks noChangeShapeType="1"/>
            </p:cNvSpPr>
            <p:nvPr/>
          </p:nvSpPr>
          <p:spPr bwMode="auto">
            <a:xfrm>
              <a:off x="4704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9" name="Line 111"/>
            <p:cNvSpPr>
              <a:spLocks noChangeShapeType="1"/>
            </p:cNvSpPr>
            <p:nvPr/>
          </p:nvSpPr>
          <p:spPr bwMode="auto">
            <a:xfrm>
              <a:off x="4464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0" name="Line 112"/>
            <p:cNvSpPr>
              <a:spLocks noChangeShapeType="1"/>
            </p:cNvSpPr>
            <p:nvPr/>
          </p:nvSpPr>
          <p:spPr bwMode="auto">
            <a:xfrm>
              <a:off x="4224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1" name="Line 113"/>
            <p:cNvSpPr>
              <a:spLocks noChangeShapeType="1"/>
            </p:cNvSpPr>
            <p:nvPr/>
          </p:nvSpPr>
          <p:spPr bwMode="auto">
            <a:xfrm>
              <a:off x="3984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2" name="Line 114"/>
            <p:cNvSpPr>
              <a:spLocks noChangeShapeType="1"/>
            </p:cNvSpPr>
            <p:nvPr/>
          </p:nvSpPr>
          <p:spPr bwMode="auto">
            <a:xfrm>
              <a:off x="3744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3" name="Line 115"/>
            <p:cNvSpPr>
              <a:spLocks noChangeShapeType="1"/>
            </p:cNvSpPr>
            <p:nvPr/>
          </p:nvSpPr>
          <p:spPr bwMode="auto">
            <a:xfrm>
              <a:off x="3552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4" name="Line 116"/>
            <p:cNvSpPr>
              <a:spLocks noChangeShapeType="1"/>
            </p:cNvSpPr>
            <p:nvPr/>
          </p:nvSpPr>
          <p:spPr bwMode="auto">
            <a:xfrm>
              <a:off x="3360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5" name="Line 117"/>
            <p:cNvSpPr>
              <a:spLocks noChangeShapeType="1"/>
            </p:cNvSpPr>
            <p:nvPr/>
          </p:nvSpPr>
          <p:spPr bwMode="auto">
            <a:xfrm>
              <a:off x="3216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6" name="Line 118"/>
            <p:cNvSpPr>
              <a:spLocks noChangeShapeType="1"/>
            </p:cNvSpPr>
            <p:nvPr/>
          </p:nvSpPr>
          <p:spPr bwMode="auto">
            <a:xfrm>
              <a:off x="3456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7" name="Line 119"/>
            <p:cNvSpPr>
              <a:spLocks noChangeShapeType="1"/>
            </p:cNvSpPr>
            <p:nvPr/>
          </p:nvSpPr>
          <p:spPr bwMode="auto">
            <a:xfrm>
              <a:off x="3648" y="278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8" name="Rectangle 120"/>
            <p:cNvSpPr>
              <a:spLocks noChangeArrowheads="1"/>
            </p:cNvSpPr>
            <p:nvPr/>
          </p:nvSpPr>
          <p:spPr bwMode="auto">
            <a:xfrm>
              <a:off x="3192" y="2792"/>
              <a:ext cx="188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15</a:t>
              </a:r>
            </a:p>
          </p:txBody>
        </p:sp>
        <p:sp>
          <p:nvSpPr>
            <p:cNvPr id="2169" name="Rectangle 121"/>
            <p:cNvSpPr>
              <a:spLocks noChangeArrowheads="1"/>
            </p:cNvSpPr>
            <p:nvPr/>
          </p:nvSpPr>
          <p:spPr bwMode="auto">
            <a:xfrm>
              <a:off x="3800" y="2796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7</a:t>
              </a:r>
            </a:p>
          </p:txBody>
        </p:sp>
        <p:sp>
          <p:nvSpPr>
            <p:cNvPr id="2170" name="Rectangle 122"/>
            <p:cNvSpPr>
              <a:spLocks noChangeArrowheads="1"/>
            </p:cNvSpPr>
            <p:nvPr/>
          </p:nvSpPr>
          <p:spPr bwMode="auto">
            <a:xfrm>
              <a:off x="4036" y="2796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6</a:t>
              </a:r>
            </a:p>
          </p:txBody>
        </p:sp>
        <p:sp>
          <p:nvSpPr>
            <p:cNvPr id="2171" name="Rectangle 123"/>
            <p:cNvSpPr>
              <a:spLocks noChangeArrowheads="1"/>
            </p:cNvSpPr>
            <p:nvPr/>
          </p:nvSpPr>
          <p:spPr bwMode="auto">
            <a:xfrm>
              <a:off x="4276" y="2788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5</a:t>
              </a:r>
            </a:p>
          </p:txBody>
        </p:sp>
        <p:sp>
          <p:nvSpPr>
            <p:cNvPr id="2172" name="Rectangle 124"/>
            <p:cNvSpPr>
              <a:spLocks noChangeArrowheads="1"/>
            </p:cNvSpPr>
            <p:nvPr/>
          </p:nvSpPr>
          <p:spPr bwMode="auto">
            <a:xfrm>
              <a:off x="4520" y="2788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4</a:t>
              </a:r>
            </a:p>
          </p:txBody>
        </p:sp>
        <p:sp>
          <p:nvSpPr>
            <p:cNvPr id="2173" name="Rectangle 125"/>
            <p:cNvSpPr>
              <a:spLocks noChangeArrowheads="1"/>
            </p:cNvSpPr>
            <p:nvPr/>
          </p:nvSpPr>
          <p:spPr bwMode="auto">
            <a:xfrm>
              <a:off x="4764" y="2796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3</a:t>
              </a:r>
            </a:p>
          </p:txBody>
        </p:sp>
        <p:sp>
          <p:nvSpPr>
            <p:cNvPr id="2174" name="Rectangle 126"/>
            <p:cNvSpPr>
              <a:spLocks noChangeArrowheads="1"/>
            </p:cNvSpPr>
            <p:nvPr/>
          </p:nvSpPr>
          <p:spPr bwMode="auto">
            <a:xfrm>
              <a:off x="5000" y="2788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2</a:t>
              </a:r>
            </a:p>
          </p:txBody>
        </p:sp>
        <p:sp>
          <p:nvSpPr>
            <p:cNvPr id="2175" name="Rectangle 127"/>
            <p:cNvSpPr>
              <a:spLocks noChangeArrowheads="1"/>
            </p:cNvSpPr>
            <p:nvPr/>
          </p:nvSpPr>
          <p:spPr bwMode="auto">
            <a:xfrm>
              <a:off x="5236" y="2792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1</a:t>
              </a:r>
            </a:p>
          </p:txBody>
        </p:sp>
        <p:sp>
          <p:nvSpPr>
            <p:cNvPr id="2176" name="Rectangle 128"/>
            <p:cNvSpPr>
              <a:spLocks noChangeArrowheads="1"/>
            </p:cNvSpPr>
            <p:nvPr/>
          </p:nvSpPr>
          <p:spPr bwMode="auto">
            <a:xfrm>
              <a:off x="5472" y="2792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0</a:t>
              </a:r>
            </a:p>
          </p:txBody>
        </p:sp>
        <p:sp>
          <p:nvSpPr>
            <p:cNvPr id="2177" name="Rectangle 129"/>
            <p:cNvSpPr>
              <a:spLocks noChangeArrowheads="1"/>
            </p:cNvSpPr>
            <p:nvPr/>
          </p:nvSpPr>
          <p:spPr bwMode="auto">
            <a:xfrm>
              <a:off x="3220" y="3008"/>
              <a:ext cx="137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-</a:t>
              </a:r>
            </a:p>
          </p:txBody>
        </p:sp>
        <p:sp>
          <p:nvSpPr>
            <p:cNvPr id="2178" name="Rectangle 130"/>
            <p:cNvSpPr>
              <a:spLocks noChangeArrowheads="1"/>
            </p:cNvSpPr>
            <p:nvPr/>
          </p:nvSpPr>
          <p:spPr bwMode="auto">
            <a:xfrm>
              <a:off x="3428" y="2788"/>
              <a:ext cx="15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800">
                  <a:latin typeface="Arial" charset="0"/>
                  <a:ea typeface="굴림체" pitchFamily="49" charset="-127"/>
                </a:rPr>
                <a:t>..</a:t>
              </a:r>
            </a:p>
          </p:txBody>
        </p:sp>
      </p:grpSp>
      <p:sp>
        <p:nvSpPr>
          <p:cNvPr id="2179" name="Rectangle 131"/>
          <p:cNvSpPr>
            <a:spLocks noChangeArrowheads="1"/>
          </p:cNvSpPr>
          <p:nvPr/>
        </p:nvSpPr>
        <p:spPr bwMode="auto">
          <a:xfrm>
            <a:off x="3429000" y="3124200"/>
            <a:ext cx="12731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* EF_BRAM_CLEAR : 0x80</a:t>
            </a:r>
          </a:p>
        </p:txBody>
      </p:sp>
      <p:sp>
        <p:nvSpPr>
          <p:cNvPr id="2180" name="Rectangle 132"/>
          <p:cNvSpPr>
            <a:spLocks noChangeArrowheads="1"/>
          </p:cNvSpPr>
          <p:nvPr/>
        </p:nvSpPr>
        <p:spPr bwMode="auto">
          <a:xfrm>
            <a:off x="3505200" y="5715000"/>
            <a:ext cx="11953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* EF_PF_OVER_V : 0x10</a:t>
            </a:r>
          </a:p>
        </p:txBody>
      </p:sp>
      <p:sp>
        <p:nvSpPr>
          <p:cNvPr id="2181" name="Rectangle 133"/>
          <p:cNvSpPr>
            <a:spLocks noChangeArrowheads="1"/>
          </p:cNvSpPr>
          <p:nvPr/>
        </p:nvSpPr>
        <p:spPr bwMode="auto">
          <a:xfrm>
            <a:off x="900113" y="5848350"/>
            <a:ext cx="1157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BRD_PF_Control.Dir 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== UP</a:t>
            </a:r>
          </a:p>
        </p:txBody>
      </p:sp>
      <p:sp>
        <p:nvSpPr>
          <p:cNvPr id="2182" name="Line 134"/>
          <p:cNvSpPr>
            <a:spLocks noChangeShapeType="1"/>
          </p:cNvSpPr>
          <p:nvPr/>
        </p:nvSpPr>
        <p:spPr bwMode="auto">
          <a:xfrm>
            <a:off x="609600" y="6248400"/>
            <a:ext cx="6715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83" name="Line 135"/>
          <p:cNvSpPr>
            <a:spLocks noChangeShapeType="1"/>
          </p:cNvSpPr>
          <p:nvPr/>
        </p:nvSpPr>
        <p:spPr bwMode="auto">
          <a:xfrm>
            <a:off x="1662113" y="6248400"/>
            <a:ext cx="647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4" name="Group 136"/>
          <p:cNvGrpSpPr>
            <a:grpSpLocks/>
          </p:cNvGrpSpPr>
          <p:nvPr/>
        </p:nvGrpSpPr>
        <p:grpSpPr bwMode="auto">
          <a:xfrm>
            <a:off x="1204913" y="6172200"/>
            <a:ext cx="533400" cy="152400"/>
            <a:chOff x="1272" y="1488"/>
            <a:chExt cx="336" cy="96"/>
          </a:xfrm>
        </p:grpSpPr>
        <p:grpSp>
          <p:nvGrpSpPr>
            <p:cNvPr id="15" name="Group 137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2186" name="Line 138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8" name="Line 140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9" name="Line 141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90" name="Line 142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6" name="Group 143"/>
          <p:cNvGrpSpPr>
            <a:grpSpLocks/>
          </p:cNvGrpSpPr>
          <p:nvPr/>
        </p:nvGrpSpPr>
        <p:grpSpPr bwMode="auto">
          <a:xfrm>
            <a:off x="2309813" y="6172200"/>
            <a:ext cx="533400" cy="152400"/>
            <a:chOff x="1272" y="1488"/>
            <a:chExt cx="336" cy="96"/>
          </a:xfrm>
        </p:grpSpPr>
        <p:grpSp>
          <p:nvGrpSpPr>
            <p:cNvPr id="17" name="Group 144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2193" name="Line 145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94" name="Line 146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95" name="Line 147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96" name="Line 148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97" name="Line 149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98" name="Rectangle 150"/>
          <p:cNvSpPr>
            <a:spLocks noChangeArrowheads="1"/>
          </p:cNvSpPr>
          <p:nvPr/>
        </p:nvSpPr>
        <p:spPr bwMode="auto">
          <a:xfrm>
            <a:off x="2043113" y="5854700"/>
            <a:ext cx="1157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BRD_PF_Control.Dir 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== DN</a:t>
            </a:r>
          </a:p>
        </p:txBody>
      </p:sp>
      <p:sp>
        <p:nvSpPr>
          <p:cNvPr id="2199" name="Line 151"/>
          <p:cNvSpPr>
            <a:spLocks noChangeShapeType="1"/>
          </p:cNvSpPr>
          <p:nvPr/>
        </p:nvSpPr>
        <p:spPr bwMode="auto">
          <a:xfrm>
            <a:off x="3505200" y="52578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0" name="Line 152"/>
          <p:cNvSpPr>
            <a:spLocks noChangeShapeType="1"/>
          </p:cNvSpPr>
          <p:nvPr/>
        </p:nvSpPr>
        <p:spPr bwMode="auto">
          <a:xfrm>
            <a:off x="609600" y="5715000"/>
            <a:ext cx="289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1" name="Line 153"/>
          <p:cNvSpPr>
            <a:spLocks noChangeShapeType="1"/>
          </p:cNvSpPr>
          <p:nvPr/>
        </p:nvSpPr>
        <p:spPr bwMode="auto">
          <a:xfrm>
            <a:off x="609600" y="5715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2" name="Line 154"/>
          <p:cNvSpPr>
            <a:spLocks noChangeShapeType="1"/>
          </p:cNvSpPr>
          <p:nvPr/>
        </p:nvSpPr>
        <p:spPr bwMode="auto">
          <a:xfrm>
            <a:off x="2819400" y="6248400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3" name="Line 155"/>
          <p:cNvSpPr>
            <a:spLocks noChangeShapeType="1"/>
          </p:cNvSpPr>
          <p:nvPr/>
        </p:nvSpPr>
        <p:spPr bwMode="auto">
          <a:xfrm>
            <a:off x="8229600" y="3937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4" name="Rectangle 156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533400" y="838200"/>
            <a:ext cx="1304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동기위치 이상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52400" y="2057400"/>
            <a:ext cx="3967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복전이 된 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NVRAM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있는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POWER 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직전의 방향 정보가 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STOP, UP, DOWN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아닐 때 동기위치 이상을 검출한다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304800" y="2660650"/>
            <a:ext cx="11572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BRD_PF_Control.Dir 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== UP</a:t>
            </a: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889000" y="3683000"/>
            <a:ext cx="8477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SWD_I[VI_UL]</a:t>
            </a:r>
          </a:p>
        </p:txBody>
      </p:sp>
      <p:sp>
        <p:nvSpPr>
          <p:cNvPr id="3080" name="Line 8"/>
          <p:cNvSpPr>
            <a:spLocks noChangeShapeType="1"/>
          </p:cNvSpPr>
          <p:nvPr/>
        </p:nvSpPr>
        <p:spPr bwMode="auto">
          <a:xfrm>
            <a:off x="228600" y="30607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81" name="Line 9"/>
          <p:cNvSpPr>
            <a:spLocks noChangeShapeType="1"/>
          </p:cNvSpPr>
          <p:nvPr/>
        </p:nvSpPr>
        <p:spPr bwMode="auto">
          <a:xfrm>
            <a:off x="1066800" y="3060700"/>
            <a:ext cx="647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>
            <a:off x="1485900" y="39751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83" name="Line 11"/>
          <p:cNvSpPr>
            <a:spLocks noChangeShapeType="1"/>
          </p:cNvSpPr>
          <p:nvPr/>
        </p:nvSpPr>
        <p:spPr bwMode="auto">
          <a:xfrm>
            <a:off x="228600" y="2603500"/>
            <a:ext cx="0" cy="1739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84" name="Line 12"/>
          <p:cNvSpPr>
            <a:spLocks noChangeShapeType="1"/>
          </p:cNvSpPr>
          <p:nvPr/>
        </p:nvSpPr>
        <p:spPr bwMode="auto">
          <a:xfrm>
            <a:off x="4724400" y="25146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2095500" y="3898900"/>
            <a:ext cx="533400" cy="152400"/>
            <a:chOff x="1272" y="1488"/>
            <a:chExt cx="336" cy="96"/>
          </a:xfrm>
        </p:grpSpPr>
        <p:grpSp>
          <p:nvGrpSpPr>
            <p:cNvPr id="3" name="Group 14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3087" name="Line 15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088" name="Line 16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089" name="Line 17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090" name="Line 18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1028700" y="3898900"/>
            <a:ext cx="533400" cy="152400"/>
            <a:chOff x="1272" y="1488"/>
            <a:chExt cx="336" cy="96"/>
          </a:xfrm>
        </p:grpSpPr>
        <p:grpSp>
          <p:nvGrpSpPr>
            <p:cNvPr id="5" name="Group 21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3094" name="Line 22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095" name="Line 23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096" name="Line 24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097" name="Line 25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3099" name="Rectangle 27"/>
          <p:cNvSpPr>
            <a:spLocks noChangeArrowheads="1"/>
          </p:cNvSpPr>
          <p:nvPr/>
        </p:nvSpPr>
        <p:spPr bwMode="auto">
          <a:xfrm>
            <a:off x="3867150" y="3968750"/>
            <a:ext cx="66040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EF_PF_DIR</a:t>
            </a:r>
            <a:endParaRPr lang="en-US" altLang="ko-KR" sz="800">
              <a:latin typeface="Arial" charset="0"/>
              <a:ea typeface="굴림체" pitchFamily="49" charset="-127"/>
            </a:endParaRPr>
          </a:p>
        </p:txBody>
      </p:sp>
      <p:sp>
        <p:nvSpPr>
          <p:cNvPr id="3100" name="Rectangle 28"/>
          <p:cNvSpPr>
            <a:spLocks noChangeArrowheads="1"/>
          </p:cNvSpPr>
          <p:nvPr/>
        </p:nvSpPr>
        <p:spPr bwMode="auto">
          <a:xfrm>
            <a:off x="3740150" y="3746500"/>
            <a:ext cx="9017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01" name="Rectangle 29"/>
          <p:cNvSpPr>
            <a:spLocks noChangeArrowheads="1"/>
          </p:cNvSpPr>
          <p:nvPr/>
        </p:nvSpPr>
        <p:spPr bwMode="auto">
          <a:xfrm>
            <a:off x="3854450" y="3760788"/>
            <a:ext cx="65405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TCD 171</a:t>
            </a:r>
          </a:p>
        </p:txBody>
      </p:sp>
      <p:sp>
        <p:nvSpPr>
          <p:cNvPr id="3102" name="Rectangle 30"/>
          <p:cNvSpPr>
            <a:spLocks noChangeArrowheads="1"/>
          </p:cNvSpPr>
          <p:nvPr/>
        </p:nvSpPr>
        <p:spPr bwMode="auto">
          <a:xfrm>
            <a:off x="1936750" y="3694113"/>
            <a:ext cx="84772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SWD_I[VI_DL]</a:t>
            </a:r>
          </a:p>
        </p:txBody>
      </p: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609600" y="2984500"/>
            <a:ext cx="533400" cy="152400"/>
            <a:chOff x="1272" y="1488"/>
            <a:chExt cx="336" cy="96"/>
          </a:xfrm>
        </p:grpSpPr>
        <p:grpSp>
          <p:nvGrpSpPr>
            <p:cNvPr id="7" name="Group 32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3105" name="Line 33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06" name="Line 34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07" name="Line 35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08" name="Line 36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3109" name="Line 37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1714500" y="2984500"/>
            <a:ext cx="533400" cy="152400"/>
            <a:chOff x="1272" y="1488"/>
            <a:chExt cx="336" cy="96"/>
          </a:xfrm>
        </p:grpSpPr>
        <p:grpSp>
          <p:nvGrpSpPr>
            <p:cNvPr id="9" name="Group 39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3112" name="Line 40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13" name="Line 41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14" name="Line 42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15" name="Line 43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3116" name="Line 44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3117" name="Line 45"/>
          <p:cNvSpPr>
            <a:spLocks noChangeShapeType="1"/>
          </p:cNvSpPr>
          <p:nvPr/>
        </p:nvSpPr>
        <p:spPr bwMode="auto">
          <a:xfrm>
            <a:off x="2247900" y="30607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0" name="Group 46"/>
          <p:cNvGrpSpPr>
            <a:grpSpLocks/>
          </p:cNvGrpSpPr>
          <p:nvPr/>
        </p:nvGrpSpPr>
        <p:grpSpPr bwMode="auto">
          <a:xfrm>
            <a:off x="2781300" y="2984500"/>
            <a:ext cx="533400" cy="152400"/>
            <a:chOff x="1272" y="1488"/>
            <a:chExt cx="336" cy="96"/>
          </a:xfrm>
        </p:grpSpPr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3120" name="Line 48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21" name="Line 49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22" name="Line 50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23" name="Line 51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3124" name="Line 52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3125" name="Line 53"/>
          <p:cNvSpPr>
            <a:spLocks noChangeShapeType="1"/>
          </p:cNvSpPr>
          <p:nvPr/>
        </p:nvSpPr>
        <p:spPr bwMode="auto">
          <a:xfrm>
            <a:off x="3238500" y="30607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26" name="Line 54"/>
          <p:cNvSpPr>
            <a:spLocks noChangeShapeType="1"/>
          </p:cNvSpPr>
          <p:nvPr/>
        </p:nvSpPr>
        <p:spPr bwMode="auto">
          <a:xfrm>
            <a:off x="3771900" y="30607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27" name="Line 55"/>
          <p:cNvSpPr>
            <a:spLocks noChangeShapeType="1"/>
          </p:cNvSpPr>
          <p:nvPr/>
        </p:nvSpPr>
        <p:spPr bwMode="auto">
          <a:xfrm>
            <a:off x="533400" y="3441700"/>
            <a:ext cx="3238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28" name="Line 56"/>
          <p:cNvSpPr>
            <a:spLocks noChangeShapeType="1"/>
          </p:cNvSpPr>
          <p:nvPr/>
        </p:nvSpPr>
        <p:spPr bwMode="auto">
          <a:xfrm>
            <a:off x="533400" y="34417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29" name="Line 57"/>
          <p:cNvSpPr>
            <a:spLocks noChangeShapeType="1"/>
          </p:cNvSpPr>
          <p:nvPr/>
        </p:nvSpPr>
        <p:spPr bwMode="auto">
          <a:xfrm>
            <a:off x="533400" y="3975100"/>
            <a:ext cx="571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30" name="Line 58"/>
          <p:cNvSpPr>
            <a:spLocks noChangeShapeType="1"/>
          </p:cNvSpPr>
          <p:nvPr/>
        </p:nvSpPr>
        <p:spPr bwMode="auto">
          <a:xfrm>
            <a:off x="2476500" y="3975100"/>
            <a:ext cx="2254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31" name="Rectangle 59"/>
          <p:cNvSpPr>
            <a:spLocks noChangeArrowheads="1"/>
          </p:cNvSpPr>
          <p:nvPr/>
        </p:nvSpPr>
        <p:spPr bwMode="auto">
          <a:xfrm>
            <a:off x="1447800" y="2667000"/>
            <a:ext cx="11572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BRD_PF_Control.Dir 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== DN</a:t>
            </a:r>
          </a:p>
        </p:txBody>
      </p:sp>
      <p:sp>
        <p:nvSpPr>
          <p:cNvPr id="3132" name="Rectangle 60"/>
          <p:cNvSpPr>
            <a:spLocks noChangeArrowheads="1"/>
          </p:cNvSpPr>
          <p:nvPr/>
        </p:nvSpPr>
        <p:spPr bwMode="auto">
          <a:xfrm>
            <a:off x="2565400" y="2673350"/>
            <a:ext cx="11572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BRD_PF_Control.Dir 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== STOP</a:t>
            </a:r>
          </a:p>
        </p:txBody>
      </p:sp>
      <p:sp>
        <p:nvSpPr>
          <p:cNvPr id="3133" name="Rectangle 61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34" name="Line 62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35" name="Line 63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36" name="Line 64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37" name="Line 65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38" name="Line 66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39" name="Rectangle 67"/>
          <p:cNvSpPr>
            <a:spLocks noChangeArrowheads="1"/>
          </p:cNvSpPr>
          <p:nvPr/>
        </p:nvSpPr>
        <p:spPr bwMode="auto">
          <a:xfrm>
            <a:off x="139700" y="450850"/>
            <a:ext cx="846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171(2)</a:t>
            </a:r>
          </a:p>
        </p:txBody>
      </p:sp>
      <p:sp>
        <p:nvSpPr>
          <p:cNvPr id="3140" name="Rectangle 68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3141" name="Rectangle 69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3142" name="Rectangle 70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3143" name="Rectangle 71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ER_DIGITAL_FL</a:t>
            </a:r>
          </a:p>
        </p:txBody>
      </p:sp>
      <p:sp>
        <p:nvSpPr>
          <p:cNvPr id="3144" name="Line 72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45" name="Rectangle 73"/>
          <p:cNvSpPr>
            <a:spLocks noChangeArrowheads="1"/>
          </p:cNvSpPr>
          <p:nvPr/>
        </p:nvSpPr>
        <p:spPr bwMode="auto">
          <a:xfrm>
            <a:off x="3733800" y="3505200"/>
            <a:ext cx="98901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* EF_PF_DIR : 0x20</a:t>
            </a:r>
          </a:p>
        </p:txBody>
      </p:sp>
      <p:sp>
        <p:nvSpPr>
          <p:cNvPr id="3146" name="Rectangle 74"/>
          <p:cNvSpPr>
            <a:spLocks noChangeArrowheads="1"/>
          </p:cNvSpPr>
          <p:nvPr/>
        </p:nvSpPr>
        <p:spPr bwMode="auto">
          <a:xfrm>
            <a:off x="2101850" y="40259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0x8004</a:t>
            </a:r>
          </a:p>
        </p:txBody>
      </p:sp>
      <p:sp>
        <p:nvSpPr>
          <p:cNvPr id="3147" name="Rectangle 75"/>
          <p:cNvSpPr>
            <a:spLocks noChangeArrowheads="1"/>
          </p:cNvSpPr>
          <p:nvPr/>
        </p:nvSpPr>
        <p:spPr bwMode="auto">
          <a:xfrm>
            <a:off x="1047750" y="40195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0x8003</a:t>
            </a:r>
          </a:p>
        </p:txBody>
      </p:sp>
      <p:sp>
        <p:nvSpPr>
          <p:cNvPr id="3148" name="Rectangle 76"/>
          <p:cNvSpPr>
            <a:spLocks noChangeArrowheads="1"/>
          </p:cNvSpPr>
          <p:nvPr/>
        </p:nvSpPr>
        <p:spPr bwMode="auto">
          <a:xfrm>
            <a:off x="152400" y="4800600"/>
            <a:ext cx="43259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4. TCD 150, 151, 157, 158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발생하면 동시에 동기위치 이상을 검출한다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(SDS Over Speed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3149" name="Line 77"/>
          <p:cNvSpPr>
            <a:spLocks noChangeShapeType="1"/>
          </p:cNvSpPr>
          <p:nvPr/>
        </p:nvSpPr>
        <p:spPr bwMode="auto">
          <a:xfrm>
            <a:off x="228600" y="54864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50" name="Rectangle 78"/>
          <p:cNvSpPr>
            <a:spLocks noChangeArrowheads="1"/>
          </p:cNvSpPr>
          <p:nvPr/>
        </p:nvSpPr>
        <p:spPr bwMode="auto">
          <a:xfrm>
            <a:off x="3898900" y="5797550"/>
            <a:ext cx="7048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EF_SDS_OS</a:t>
            </a:r>
            <a:endParaRPr lang="en-US" altLang="ko-KR" sz="800">
              <a:latin typeface="Arial" charset="0"/>
              <a:ea typeface="굴림체" pitchFamily="49" charset="-127"/>
            </a:endParaRPr>
          </a:p>
        </p:txBody>
      </p:sp>
      <p:sp>
        <p:nvSpPr>
          <p:cNvPr id="3151" name="Line 79"/>
          <p:cNvSpPr>
            <a:spLocks noChangeShapeType="1"/>
          </p:cNvSpPr>
          <p:nvPr/>
        </p:nvSpPr>
        <p:spPr bwMode="auto">
          <a:xfrm flipH="1">
            <a:off x="4724400" y="54864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52" name="Line 80"/>
          <p:cNvSpPr>
            <a:spLocks noChangeShapeType="1"/>
          </p:cNvSpPr>
          <p:nvPr/>
        </p:nvSpPr>
        <p:spPr bwMode="auto">
          <a:xfrm>
            <a:off x="228600" y="57912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2" name="Group 81"/>
          <p:cNvGrpSpPr>
            <a:grpSpLocks/>
          </p:cNvGrpSpPr>
          <p:nvPr/>
        </p:nvGrpSpPr>
        <p:grpSpPr bwMode="auto">
          <a:xfrm>
            <a:off x="457200" y="5715000"/>
            <a:ext cx="533400" cy="152400"/>
            <a:chOff x="720" y="1488"/>
            <a:chExt cx="336" cy="96"/>
          </a:xfrm>
        </p:grpSpPr>
        <p:sp>
          <p:nvSpPr>
            <p:cNvPr id="3154" name="Line 82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55" name="Line 83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56" name="Line 84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57" name="Line 85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3" name="Group 86"/>
          <p:cNvGrpSpPr>
            <a:grpSpLocks/>
          </p:cNvGrpSpPr>
          <p:nvPr/>
        </p:nvGrpSpPr>
        <p:grpSpPr bwMode="auto">
          <a:xfrm>
            <a:off x="1600200" y="5715000"/>
            <a:ext cx="533400" cy="152400"/>
            <a:chOff x="720" y="1488"/>
            <a:chExt cx="336" cy="96"/>
          </a:xfrm>
        </p:grpSpPr>
        <p:sp>
          <p:nvSpPr>
            <p:cNvPr id="3159" name="Line 87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60" name="Line 88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61" name="Line 89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62" name="Line 90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3163" name="Line 91"/>
          <p:cNvSpPr>
            <a:spLocks noChangeShapeType="1"/>
          </p:cNvSpPr>
          <p:nvPr/>
        </p:nvSpPr>
        <p:spPr bwMode="auto">
          <a:xfrm>
            <a:off x="914400" y="57912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64" name="Line 92"/>
          <p:cNvSpPr>
            <a:spLocks noChangeShapeType="1"/>
          </p:cNvSpPr>
          <p:nvPr/>
        </p:nvSpPr>
        <p:spPr bwMode="auto">
          <a:xfrm>
            <a:off x="2133600" y="57912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65" name="Line 93"/>
          <p:cNvSpPr>
            <a:spLocks noChangeShapeType="1"/>
          </p:cNvSpPr>
          <p:nvPr/>
        </p:nvSpPr>
        <p:spPr bwMode="auto">
          <a:xfrm>
            <a:off x="2819400" y="5791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66" name="Line 94"/>
          <p:cNvSpPr>
            <a:spLocks noChangeShapeType="1"/>
          </p:cNvSpPr>
          <p:nvPr/>
        </p:nvSpPr>
        <p:spPr bwMode="auto">
          <a:xfrm flipV="1">
            <a:off x="3429000" y="579120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67" name="Rectangle 95"/>
          <p:cNvSpPr>
            <a:spLocks noChangeArrowheads="1"/>
          </p:cNvSpPr>
          <p:nvPr/>
        </p:nvSpPr>
        <p:spPr bwMode="auto">
          <a:xfrm>
            <a:off x="3870325" y="5559425"/>
            <a:ext cx="7493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68" name="Rectangle 96"/>
          <p:cNvSpPr>
            <a:spLocks noChangeArrowheads="1"/>
          </p:cNvSpPr>
          <p:nvPr/>
        </p:nvSpPr>
        <p:spPr bwMode="auto">
          <a:xfrm>
            <a:off x="3921125" y="5561013"/>
            <a:ext cx="65405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TCD 171</a:t>
            </a:r>
          </a:p>
        </p:txBody>
      </p:sp>
      <p:sp>
        <p:nvSpPr>
          <p:cNvPr id="3169" name="Rectangle 97"/>
          <p:cNvSpPr>
            <a:spLocks noChangeArrowheads="1"/>
          </p:cNvSpPr>
          <p:nvPr/>
        </p:nvSpPr>
        <p:spPr bwMode="auto">
          <a:xfrm>
            <a:off x="381000" y="5513388"/>
            <a:ext cx="7239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*check_out</a:t>
            </a:r>
          </a:p>
        </p:txBody>
      </p:sp>
      <p:sp>
        <p:nvSpPr>
          <p:cNvPr id="3170" name="Rectangle 98"/>
          <p:cNvSpPr>
            <a:spLocks noChangeArrowheads="1"/>
          </p:cNvSpPr>
          <p:nvPr/>
        </p:nvSpPr>
        <p:spPr bwMode="auto">
          <a:xfrm>
            <a:off x="1341438" y="5530850"/>
            <a:ext cx="108426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ERD_SD_OS_Mem</a:t>
            </a:r>
          </a:p>
        </p:txBody>
      </p:sp>
      <p:sp>
        <p:nvSpPr>
          <p:cNvPr id="3171" name="Rectangle 99"/>
          <p:cNvSpPr>
            <a:spLocks noChangeArrowheads="1"/>
          </p:cNvSpPr>
          <p:nvPr/>
        </p:nvSpPr>
        <p:spPr bwMode="auto">
          <a:xfrm>
            <a:off x="228600" y="5257800"/>
            <a:ext cx="21336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*check_out :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이전 페이지와 같은 접점</a:t>
            </a:r>
            <a:r>
              <a:rPr lang="en-US" altLang="ko-KR" sz="8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3172" name="Rectangle 100"/>
          <p:cNvSpPr>
            <a:spLocks noChangeArrowheads="1"/>
          </p:cNvSpPr>
          <p:nvPr/>
        </p:nvSpPr>
        <p:spPr bwMode="auto">
          <a:xfrm>
            <a:off x="3657600" y="5334000"/>
            <a:ext cx="10334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* EF_SDS_OS : 0x40</a:t>
            </a:r>
          </a:p>
        </p:txBody>
      </p:sp>
      <p:sp>
        <p:nvSpPr>
          <p:cNvPr id="3173" name="Line 101"/>
          <p:cNvSpPr>
            <a:spLocks noChangeShapeType="1"/>
          </p:cNvSpPr>
          <p:nvPr/>
        </p:nvSpPr>
        <p:spPr bwMode="auto">
          <a:xfrm>
            <a:off x="82296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4" name="Rectangle 102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03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4109" name="Rectangle 13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4110" name="Rectangle 14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ER_DIGITAL_FL</a:t>
            </a:r>
          </a:p>
        </p:txBody>
      </p:sp>
      <p:sp>
        <p:nvSpPr>
          <p:cNvPr id="4111" name="Rectangle 15"/>
          <p:cNvSpPr>
            <a:spLocks noChangeArrowheads="1"/>
          </p:cNvSpPr>
          <p:nvPr/>
        </p:nvSpPr>
        <p:spPr bwMode="auto">
          <a:xfrm>
            <a:off x="533400" y="838200"/>
            <a:ext cx="1304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동기위치 이상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4112" name="Rectangle 16"/>
          <p:cNvSpPr>
            <a:spLocks noChangeArrowheads="1"/>
          </p:cNvSpPr>
          <p:nvPr/>
        </p:nvSpPr>
        <p:spPr bwMode="auto">
          <a:xfrm>
            <a:off x="200025" y="2362200"/>
            <a:ext cx="10048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Coil[SW_GS_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POWER_READY]</a:t>
            </a:r>
          </a:p>
        </p:txBody>
      </p:sp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1212850" y="2463800"/>
            <a:ext cx="9207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800">
                <a:latin typeface="Arial" charset="0"/>
                <a:ea typeface="굴림체" pitchFamily="49" charset="-127"/>
              </a:rPr>
              <a:t>SWD_I[VI_LDC]</a:t>
            </a:r>
          </a:p>
        </p:txBody>
      </p:sp>
      <p:sp>
        <p:nvSpPr>
          <p:cNvPr id="4114" name="Line 18"/>
          <p:cNvSpPr>
            <a:spLocks noChangeShapeType="1"/>
          </p:cNvSpPr>
          <p:nvPr/>
        </p:nvSpPr>
        <p:spPr bwMode="auto">
          <a:xfrm>
            <a:off x="152400" y="276225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15" name="Line 19"/>
          <p:cNvSpPr>
            <a:spLocks noChangeShapeType="1"/>
          </p:cNvSpPr>
          <p:nvPr/>
        </p:nvSpPr>
        <p:spPr bwMode="auto">
          <a:xfrm>
            <a:off x="914400" y="2762250"/>
            <a:ext cx="647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16" name="Line 20"/>
          <p:cNvSpPr>
            <a:spLocks noChangeShapeType="1"/>
          </p:cNvSpPr>
          <p:nvPr/>
        </p:nvSpPr>
        <p:spPr bwMode="auto">
          <a:xfrm>
            <a:off x="152400" y="2400300"/>
            <a:ext cx="0" cy="2876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17" name="Rectangle 21"/>
          <p:cNvSpPr>
            <a:spLocks noChangeArrowheads="1"/>
          </p:cNvSpPr>
          <p:nvPr/>
        </p:nvSpPr>
        <p:spPr bwMode="auto">
          <a:xfrm>
            <a:off x="457200" y="28575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endParaRPr lang="ko-KR" altLang="ko-KR" sz="700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533400" y="3905250"/>
            <a:ext cx="533400" cy="152400"/>
            <a:chOff x="1272" y="1488"/>
            <a:chExt cx="336" cy="96"/>
          </a:xfrm>
        </p:grpSpPr>
        <p:grpSp>
          <p:nvGrpSpPr>
            <p:cNvPr id="3" name="Group 23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120" name="Line 24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21" name="Line 25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22" name="Line 26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23" name="Line 27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124" name="Line 28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125" name="Rectangle 29"/>
          <p:cNvSpPr>
            <a:spLocks noChangeArrowheads="1"/>
          </p:cNvSpPr>
          <p:nvPr/>
        </p:nvSpPr>
        <p:spPr bwMode="auto">
          <a:xfrm>
            <a:off x="3962400" y="4591050"/>
            <a:ext cx="7397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EF_ZONE500</a:t>
            </a:r>
            <a:endParaRPr lang="en-US" altLang="ko-KR" sz="800">
              <a:latin typeface="Arial" charset="0"/>
              <a:ea typeface="굴림체" pitchFamily="49" charset="-127"/>
            </a:endParaRPr>
          </a:p>
        </p:txBody>
      </p:sp>
      <p:sp>
        <p:nvSpPr>
          <p:cNvPr id="4126" name="Rectangle 30"/>
          <p:cNvSpPr>
            <a:spLocks noChangeArrowheads="1"/>
          </p:cNvSpPr>
          <p:nvPr/>
        </p:nvSpPr>
        <p:spPr bwMode="auto">
          <a:xfrm>
            <a:off x="4064000" y="3759200"/>
            <a:ext cx="6477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27" name="Rectangle 31"/>
          <p:cNvSpPr>
            <a:spLocks noChangeArrowheads="1"/>
          </p:cNvSpPr>
          <p:nvPr/>
        </p:nvSpPr>
        <p:spPr bwMode="auto">
          <a:xfrm>
            <a:off x="4064000" y="3767138"/>
            <a:ext cx="65405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4128" name="Rectangle 32"/>
          <p:cNvSpPr>
            <a:spLocks noChangeArrowheads="1"/>
          </p:cNvSpPr>
          <p:nvPr/>
        </p:nvSpPr>
        <p:spPr bwMode="auto">
          <a:xfrm>
            <a:off x="3060700" y="3568700"/>
            <a:ext cx="9937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Coil[SV_FORCE_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DECEL]</a:t>
            </a: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2438400" y="2686050"/>
            <a:ext cx="533400" cy="152400"/>
            <a:chOff x="1272" y="1488"/>
            <a:chExt cx="336" cy="96"/>
          </a:xfrm>
        </p:grpSpPr>
        <p:grpSp>
          <p:nvGrpSpPr>
            <p:cNvPr id="5" name="Group 34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131" name="Line 35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32" name="Line 36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33" name="Line 37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34" name="Line 38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135" name="Line 39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40"/>
          <p:cNvGrpSpPr>
            <a:grpSpLocks/>
          </p:cNvGrpSpPr>
          <p:nvPr/>
        </p:nvGrpSpPr>
        <p:grpSpPr bwMode="auto">
          <a:xfrm>
            <a:off x="3581400" y="3219450"/>
            <a:ext cx="533400" cy="152400"/>
            <a:chOff x="1272" y="1488"/>
            <a:chExt cx="336" cy="96"/>
          </a:xfrm>
        </p:grpSpPr>
        <p:grpSp>
          <p:nvGrpSpPr>
            <p:cNvPr id="7" name="Group 41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138" name="Line 42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39" name="Line 43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40" name="Line 44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41" name="Line 45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142" name="Line 46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143" name="Line 47"/>
          <p:cNvSpPr>
            <a:spLocks noChangeShapeType="1"/>
          </p:cNvSpPr>
          <p:nvPr/>
        </p:nvSpPr>
        <p:spPr bwMode="auto">
          <a:xfrm>
            <a:off x="2971800" y="276225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44" name="Line 48"/>
          <p:cNvSpPr>
            <a:spLocks noChangeShapeType="1"/>
          </p:cNvSpPr>
          <p:nvPr/>
        </p:nvSpPr>
        <p:spPr bwMode="auto">
          <a:xfrm>
            <a:off x="4267200" y="276225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45" name="Line 49"/>
          <p:cNvSpPr>
            <a:spLocks noChangeShapeType="1"/>
          </p:cNvSpPr>
          <p:nvPr/>
        </p:nvSpPr>
        <p:spPr bwMode="auto">
          <a:xfrm>
            <a:off x="381000" y="39814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46" name="Rectangle 50"/>
          <p:cNvSpPr>
            <a:spLocks noChangeArrowheads="1"/>
          </p:cNvSpPr>
          <p:nvPr/>
        </p:nvSpPr>
        <p:spPr bwMode="auto">
          <a:xfrm>
            <a:off x="3273425" y="2489200"/>
            <a:ext cx="9779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SWD_I[VI_C1ST]</a:t>
            </a:r>
          </a:p>
        </p:txBody>
      </p:sp>
      <p:sp>
        <p:nvSpPr>
          <p:cNvPr id="4147" name="Rectangle 51"/>
          <p:cNvSpPr>
            <a:spLocks noChangeArrowheads="1"/>
          </p:cNvSpPr>
          <p:nvPr/>
        </p:nvSpPr>
        <p:spPr bwMode="auto">
          <a:xfrm>
            <a:off x="2232025" y="2489200"/>
            <a:ext cx="10874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Coil[RS_RUNNING]</a:t>
            </a:r>
          </a:p>
        </p:txBody>
      </p:sp>
      <p:sp>
        <p:nvSpPr>
          <p:cNvPr id="4148" name="Line 52"/>
          <p:cNvSpPr>
            <a:spLocks noChangeShapeType="1"/>
          </p:cNvSpPr>
          <p:nvPr/>
        </p:nvSpPr>
        <p:spPr bwMode="auto">
          <a:xfrm>
            <a:off x="4800600" y="2381250"/>
            <a:ext cx="0" cy="281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8" name="Group 53"/>
          <p:cNvGrpSpPr>
            <a:grpSpLocks/>
          </p:cNvGrpSpPr>
          <p:nvPr/>
        </p:nvGrpSpPr>
        <p:grpSpPr bwMode="auto">
          <a:xfrm>
            <a:off x="381000" y="2686050"/>
            <a:ext cx="533400" cy="152400"/>
            <a:chOff x="720" y="1488"/>
            <a:chExt cx="336" cy="96"/>
          </a:xfrm>
        </p:grpSpPr>
        <p:sp>
          <p:nvSpPr>
            <p:cNvPr id="4150" name="Line 54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151" name="Line 55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152" name="Line 56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153" name="Line 57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9" name="Group 58"/>
          <p:cNvGrpSpPr>
            <a:grpSpLocks/>
          </p:cNvGrpSpPr>
          <p:nvPr/>
        </p:nvGrpSpPr>
        <p:grpSpPr bwMode="auto">
          <a:xfrm>
            <a:off x="1371600" y="2686050"/>
            <a:ext cx="533400" cy="152400"/>
            <a:chOff x="720" y="1488"/>
            <a:chExt cx="336" cy="96"/>
          </a:xfrm>
        </p:grpSpPr>
        <p:sp>
          <p:nvSpPr>
            <p:cNvPr id="4155" name="Line 59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156" name="Line 60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157" name="Line 61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158" name="Line 62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159" name="Line 63"/>
          <p:cNvSpPr>
            <a:spLocks noChangeShapeType="1"/>
          </p:cNvSpPr>
          <p:nvPr/>
        </p:nvSpPr>
        <p:spPr bwMode="auto">
          <a:xfrm>
            <a:off x="1828800" y="276225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0" name="Group 64"/>
          <p:cNvGrpSpPr>
            <a:grpSpLocks/>
          </p:cNvGrpSpPr>
          <p:nvPr/>
        </p:nvGrpSpPr>
        <p:grpSpPr bwMode="auto">
          <a:xfrm>
            <a:off x="2286000" y="3219450"/>
            <a:ext cx="533400" cy="152400"/>
            <a:chOff x="1272" y="1488"/>
            <a:chExt cx="336" cy="96"/>
          </a:xfrm>
        </p:grpSpPr>
        <p:grpSp>
          <p:nvGrpSpPr>
            <p:cNvPr id="11" name="Group 65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162" name="Line 66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63" name="Line 67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64" name="Line 68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65" name="Line 69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166" name="Line 70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2" name="Group 71"/>
          <p:cNvGrpSpPr>
            <a:grpSpLocks/>
          </p:cNvGrpSpPr>
          <p:nvPr/>
        </p:nvGrpSpPr>
        <p:grpSpPr bwMode="auto">
          <a:xfrm>
            <a:off x="1524000" y="3219450"/>
            <a:ext cx="533400" cy="152400"/>
            <a:chOff x="1272" y="1488"/>
            <a:chExt cx="336" cy="96"/>
          </a:xfrm>
        </p:grpSpPr>
        <p:grpSp>
          <p:nvGrpSpPr>
            <p:cNvPr id="13" name="Group 72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169" name="Line 73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70" name="Line 74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71" name="Line 75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72" name="Line 76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173" name="Line 77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174" name="Line 78"/>
          <p:cNvSpPr>
            <a:spLocks noChangeShapeType="1"/>
          </p:cNvSpPr>
          <p:nvPr/>
        </p:nvSpPr>
        <p:spPr bwMode="auto">
          <a:xfrm>
            <a:off x="3886200" y="27622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75" name="Line 79"/>
          <p:cNvSpPr>
            <a:spLocks noChangeShapeType="1"/>
          </p:cNvSpPr>
          <p:nvPr/>
        </p:nvSpPr>
        <p:spPr bwMode="auto">
          <a:xfrm>
            <a:off x="2819400" y="329565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76" name="Rectangle 80"/>
          <p:cNvSpPr>
            <a:spLocks noChangeArrowheads="1"/>
          </p:cNvSpPr>
          <p:nvPr/>
        </p:nvSpPr>
        <p:spPr bwMode="auto">
          <a:xfrm>
            <a:off x="3392488" y="3022600"/>
            <a:ext cx="53498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TCD 78</a:t>
            </a:r>
          </a:p>
        </p:txBody>
      </p:sp>
      <p:sp>
        <p:nvSpPr>
          <p:cNvPr id="4177" name="Line 81"/>
          <p:cNvSpPr>
            <a:spLocks noChangeShapeType="1"/>
          </p:cNvSpPr>
          <p:nvPr/>
        </p:nvSpPr>
        <p:spPr bwMode="auto">
          <a:xfrm>
            <a:off x="2057400" y="32956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78" name="Rectangle 82"/>
          <p:cNvSpPr>
            <a:spLocks noChangeArrowheads="1"/>
          </p:cNvSpPr>
          <p:nvPr/>
        </p:nvSpPr>
        <p:spPr bwMode="auto">
          <a:xfrm>
            <a:off x="2895600" y="3022600"/>
            <a:ext cx="534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TCD 79</a:t>
            </a:r>
          </a:p>
        </p:txBody>
      </p:sp>
      <p:sp>
        <p:nvSpPr>
          <p:cNvPr id="4179" name="Line 83"/>
          <p:cNvSpPr>
            <a:spLocks noChangeShapeType="1"/>
          </p:cNvSpPr>
          <p:nvPr/>
        </p:nvSpPr>
        <p:spPr bwMode="auto">
          <a:xfrm>
            <a:off x="1143000" y="32956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80" name="Line 84"/>
          <p:cNvSpPr>
            <a:spLocks noChangeShapeType="1"/>
          </p:cNvSpPr>
          <p:nvPr/>
        </p:nvSpPr>
        <p:spPr bwMode="auto">
          <a:xfrm>
            <a:off x="381000" y="329565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4" name="Group 85"/>
          <p:cNvGrpSpPr>
            <a:grpSpLocks/>
          </p:cNvGrpSpPr>
          <p:nvPr/>
        </p:nvGrpSpPr>
        <p:grpSpPr bwMode="auto">
          <a:xfrm>
            <a:off x="609600" y="3219450"/>
            <a:ext cx="533400" cy="152400"/>
            <a:chOff x="1272" y="1488"/>
            <a:chExt cx="336" cy="96"/>
          </a:xfrm>
        </p:grpSpPr>
        <p:grpSp>
          <p:nvGrpSpPr>
            <p:cNvPr id="15" name="Group 86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183" name="Line 87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84" name="Line 88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85" name="Line 89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86" name="Line 90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187" name="Line 91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188" name="Rectangle 92"/>
          <p:cNvSpPr>
            <a:spLocks noChangeArrowheads="1"/>
          </p:cNvSpPr>
          <p:nvPr/>
        </p:nvSpPr>
        <p:spPr bwMode="auto">
          <a:xfrm>
            <a:off x="1695450" y="301625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TCD 164</a:t>
            </a:r>
          </a:p>
        </p:txBody>
      </p:sp>
      <p:sp>
        <p:nvSpPr>
          <p:cNvPr id="4189" name="Rectangle 93"/>
          <p:cNvSpPr>
            <a:spLocks noChangeArrowheads="1"/>
          </p:cNvSpPr>
          <p:nvPr/>
        </p:nvSpPr>
        <p:spPr bwMode="auto">
          <a:xfrm>
            <a:off x="177800" y="3016250"/>
            <a:ext cx="14970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Coil[AC_OP_MAINT_MODE]</a:t>
            </a:r>
          </a:p>
        </p:txBody>
      </p:sp>
      <p:sp>
        <p:nvSpPr>
          <p:cNvPr id="4190" name="Rectangle 94"/>
          <p:cNvSpPr>
            <a:spLocks noChangeArrowheads="1"/>
          </p:cNvSpPr>
          <p:nvPr/>
        </p:nvSpPr>
        <p:spPr bwMode="auto">
          <a:xfrm>
            <a:off x="374650" y="3568700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Coil[AC_OP_FHM_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START_MODE]</a:t>
            </a:r>
          </a:p>
        </p:txBody>
      </p:sp>
      <p:grpSp>
        <p:nvGrpSpPr>
          <p:cNvPr id="16" name="Group 95"/>
          <p:cNvGrpSpPr>
            <a:grpSpLocks/>
          </p:cNvGrpSpPr>
          <p:nvPr/>
        </p:nvGrpSpPr>
        <p:grpSpPr bwMode="auto">
          <a:xfrm>
            <a:off x="1447800" y="3905250"/>
            <a:ext cx="533400" cy="152400"/>
            <a:chOff x="1272" y="1488"/>
            <a:chExt cx="336" cy="96"/>
          </a:xfrm>
        </p:grpSpPr>
        <p:grpSp>
          <p:nvGrpSpPr>
            <p:cNvPr id="17" name="Group 96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193" name="Line 97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94" name="Line 98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95" name="Line 99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96" name="Line 100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197" name="Line 101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8" name="Group 102"/>
          <p:cNvGrpSpPr>
            <a:grpSpLocks/>
          </p:cNvGrpSpPr>
          <p:nvPr/>
        </p:nvGrpSpPr>
        <p:grpSpPr bwMode="auto">
          <a:xfrm>
            <a:off x="3276600" y="3905250"/>
            <a:ext cx="533400" cy="152400"/>
            <a:chOff x="1272" y="1488"/>
            <a:chExt cx="336" cy="96"/>
          </a:xfrm>
        </p:grpSpPr>
        <p:grpSp>
          <p:nvGrpSpPr>
            <p:cNvPr id="19" name="Group 103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200" name="Line 104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01" name="Line 105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02" name="Line 106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03" name="Line 107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204" name="Line 108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205" name="Line 109"/>
          <p:cNvSpPr>
            <a:spLocks noChangeShapeType="1"/>
          </p:cNvSpPr>
          <p:nvPr/>
        </p:nvSpPr>
        <p:spPr bwMode="auto">
          <a:xfrm>
            <a:off x="1066800" y="39814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06" name="Line 110"/>
          <p:cNvSpPr>
            <a:spLocks noChangeShapeType="1"/>
          </p:cNvSpPr>
          <p:nvPr/>
        </p:nvSpPr>
        <p:spPr bwMode="auto">
          <a:xfrm>
            <a:off x="1981200" y="398145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07" name="Line 111"/>
          <p:cNvSpPr>
            <a:spLocks noChangeShapeType="1"/>
          </p:cNvSpPr>
          <p:nvPr/>
        </p:nvSpPr>
        <p:spPr bwMode="auto">
          <a:xfrm>
            <a:off x="3733800" y="398145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08" name="Rectangle 112"/>
          <p:cNvSpPr>
            <a:spLocks noChangeArrowheads="1"/>
          </p:cNvSpPr>
          <p:nvPr/>
        </p:nvSpPr>
        <p:spPr bwMode="auto">
          <a:xfrm>
            <a:off x="1397000" y="3581400"/>
            <a:ext cx="793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Coil[AC_OP_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FHM_MODE]</a:t>
            </a:r>
          </a:p>
        </p:txBody>
      </p:sp>
      <p:sp>
        <p:nvSpPr>
          <p:cNvPr id="4209" name="Rectangle 113"/>
          <p:cNvSpPr>
            <a:spLocks noChangeArrowheads="1"/>
          </p:cNvSpPr>
          <p:nvPr/>
        </p:nvSpPr>
        <p:spPr bwMode="auto">
          <a:xfrm>
            <a:off x="2120900" y="3575050"/>
            <a:ext cx="1041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Coil[SW_SS_48V_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DOWN_HOLD]</a:t>
            </a:r>
          </a:p>
        </p:txBody>
      </p:sp>
      <p:grpSp>
        <p:nvGrpSpPr>
          <p:cNvPr id="20" name="Group 114"/>
          <p:cNvGrpSpPr>
            <a:grpSpLocks/>
          </p:cNvGrpSpPr>
          <p:nvPr/>
        </p:nvGrpSpPr>
        <p:grpSpPr bwMode="auto">
          <a:xfrm>
            <a:off x="3352800" y="2686050"/>
            <a:ext cx="533400" cy="152400"/>
            <a:chOff x="1272" y="1488"/>
            <a:chExt cx="336" cy="96"/>
          </a:xfrm>
        </p:grpSpPr>
        <p:grpSp>
          <p:nvGrpSpPr>
            <p:cNvPr id="21" name="Group 115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212" name="Line 116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13" name="Line 117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14" name="Line 118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15" name="Line 119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216" name="Line 120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217" name="Line 121"/>
          <p:cNvSpPr>
            <a:spLocks noChangeShapeType="1"/>
          </p:cNvSpPr>
          <p:nvPr/>
        </p:nvSpPr>
        <p:spPr bwMode="auto">
          <a:xfrm>
            <a:off x="3962400" y="329565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18" name="Line 122"/>
          <p:cNvSpPr>
            <a:spLocks noChangeShapeType="1"/>
          </p:cNvSpPr>
          <p:nvPr/>
        </p:nvSpPr>
        <p:spPr bwMode="auto">
          <a:xfrm>
            <a:off x="381000" y="32956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2" name="Group 123"/>
          <p:cNvGrpSpPr>
            <a:grpSpLocks/>
          </p:cNvGrpSpPr>
          <p:nvPr/>
        </p:nvGrpSpPr>
        <p:grpSpPr bwMode="auto">
          <a:xfrm>
            <a:off x="2286000" y="3905250"/>
            <a:ext cx="533400" cy="152400"/>
            <a:chOff x="1272" y="1488"/>
            <a:chExt cx="336" cy="96"/>
          </a:xfrm>
        </p:grpSpPr>
        <p:grpSp>
          <p:nvGrpSpPr>
            <p:cNvPr id="23" name="Group 124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221" name="Line 125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22" name="Line 126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23" name="Line 127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24" name="Line 128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225" name="Line 129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226" name="Line 130"/>
          <p:cNvSpPr>
            <a:spLocks noChangeShapeType="1"/>
          </p:cNvSpPr>
          <p:nvPr/>
        </p:nvSpPr>
        <p:spPr bwMode="auto">
          <a:xfrm>
            <a:off x="2819400" y="398145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27" name="Line 131"/>
          <p:cNvSpPr>
            <a:spLocks noChangeShapeType="1"/>
          </p:cNvSpPr>
          <p:nvPr/>
        </p:nvSpPr>
        <p:spPr bwMode="auto">
          <a:xfrm>
            <a:off x="152400" y="45910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4" name="Group 132"/>
          <p:cNvGrpSpPr>
            <a:grpSpLocks/>
          </p:cNvGrpSpPr>
          <p:nvPr/>
        </p:nvGrpSpPr>
        <p:grpSpPr bwMode="auto">
          <a:xfrm>
            <a:off x="381000" y="4514850"/>
            <a:ext cx="533400" cy="152400"/>
            <a:chOff x="720" y="1488"/>
            <a:chExt cx="336" cy="96"/>
          </a:xfrm>
        </p:grpSpPr>
        <p:sp>
          <p:nvSpPr>
            <p:cNvPr id="4229" name="Line 133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230" name="Line 134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231" name="Line 135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232" name="Line 136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5" name="Group 137"/>
          <p:cNvGrpSpPr>
            <a:grpSpLocks/>
          </p:cNvGrpSpPr>
          <p:nvPr/>
        </p:nvGrpSpPr>
        <p:grpSpPr bwMode="auto">
          <a:xfrm>
            <a:off x="1295400" y="4514850"/>
            <a:ext cx="533400" cy="152400"/>
            <a:chOff x="720" y="1488"/>
            <a:chExt cx="336" cy="96"/>
          </a:xfrm>
        </p:grpSpPr>
        <p:sp>
          <p:nvSpPr>
            <p:cNvPr id="4234" name="Line 138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235" name="Line 139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236" name="Line 140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237" name="Line 141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6" name="Group 142"/>
          <p:cNvGrpSpPr>
            <a:grpSpLocks/>
          </p:cNvGrpSpPr>
          <p:nvPr/>
        </p:nvGrpSpPr>
        <p:grpSpPr bwMode="auto">
          <a:xfrm>
            <a:off x="2133600" y="4514850"/>
            <a:ext cx="533400" cy="152400"/>
            <a:chOff x="1272" y="1488"/>
            <a:chExt cx="336" cy="96"/>
          </a:xfrm>
        </p:grpSpPr>
        <p:grpSp>
          <p:nvGrpSpPr>
            <p:cNvPr id="27" name="Group 143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240" name="Line 144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41" name="Line 145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42" name="Line 146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43" name="Line 147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244" name="Line 148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28" name="Group 149"/>
          <p:cNvGrpSpPr>
            <a:grpSpLocks/>
          </p:cNvGrpSpPr>
          <p:nvPr/>
        </p:nvGrpSpPr>
        <p:grpSpPr bwMode="auto">
          <a:xfrm>
            <a:off x="2971800" y="4514850"/>
            <a:ext cx="533400" cy="152400"/>
            <a:chOff x="1272" y="1488"/>
            <a:chExt cx="336" cy="96"/>
          </a:xfrm>
        </p:grpSpPr>
        <p:grpSp>
          <p:nvGrpSpPr>
            <p:cNvPr id="29" name="Group 150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247" name="Line 151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48" name="Line 152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49" name="Line 153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50" name="Line 154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251" name="Line 155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252" name="Line 156"/>
          <p:cNvSpPr>
            <a:spLocks noChangeShapeType="1"/>
          </p:cNvSpPr>
          <p:nvPr/>
        </p:nvSpPr>
        <p:spPr bwMode="auto">
          <a:xfrm>
            <a:off x="914400" y="45910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53" name="Line 157"/>
          <p:cNvSpPr>
            <a:spLocks noChangeShapeType="1"/>
          </p:cNvSpPr>
          <p:nvPr/>
        </p:nvSpPr>
        <p:spPr bwMode="auto">
          <a:xfrm>
            <a:off x="1828800" y="45910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54" name="Line 158"/>
          <p:cNvSpPr>
            <a:spLocks noChangeShapeType="1"/>
          </p:cNvSpPr>
          <p:nvPr/>
        </p:nvSpPr>
        <p:spPr bwMode="auto">
          <a:xfrm>
            <a:off x="2590800" y="459105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55" name="Line 159"/>
          <p:cNvSpPr>
            <a:spLocks noChangeShapeType="1"/>
          </p:cNvSpPr>
          <p:nvPr/>
        </p:nvSpPr>
        <p:spPr bwMode="auto">
          <a:xfrm>
            <a:off x="3429000" y="459105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56" name="Rectangle 160"/>
          <p:cNvSpPr>
            <a:spLocks noChangeArrowheads="1"/>
          </p:cNvSpPr>
          <p:nvPr/>
        </p:nvSpPr>
        <p:spPr bwMode="auto">
          <a:xfrm>
            <a:off x="3962400" y="4368800"/>
            <a:ext cx="7493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57" name="Rectangle 161"/>
          <p:cNvSpPr>
            <a:spLocks noChangeArrowheads="1"/>
          </p:cNvSpPr>
          <p:nvPr/>
        </p:nvSpPr>
        <p:spPr bwMode="auto">
          <a:xfrm>
            <a:off x="4013200" y="4370388"/>
            <a:ext cx="65405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TCD 171</a:t>
            </a:r>
          </a:p>
        </p:txBody>
      </p:sp>
      <p:sp>
        <p:nvSpPr>
          <p:cNvPr id="4258" name="Rectangle 162"/>
          <p:cNvSpPr>
            <a:spLocks noChangeArrowheads="1"/>
          </p:cNvSpPr>
          <p:nvPr/>
        </p:nvSpPr>
        <p:spPr bwMode="auto">
          <a:xfrm>
            <a:off x="368300" y="4319588"/>
            <a:ext cx="65405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4259" name="Rectangle 163"/>
          <p:cNvSpPr>
            <a:spLocks noChangeArrowheads="1"/>
          </p:cNvSpPr>
          <p:nvPr/>
        </p:nvSpPr>
        <p:spPr bwMode="auto">
          <a:xfrm>
            <a:off x="1152525" y="4197350"/>
            <a:ext cx="8572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Coil[SW_GS_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DOOR_ZONE]</a:t>
            </a:r>
          </a:p>
        </p:txBody>
      </p:sp>
      <p:sp>
        <p:nvSpPr>
          <p:cNvPr id="4260" name="Rectangle 164"/>
          <p:cNvSpPr>
            <a:spLocks noChangeArrowheads="1"/>
          </p:cNvSpPr>
          <p:nvPr/>
        </p:nvSpPr>
        <p:spPr bwMode="auto">
          <a:xfrm>
            <a:off x="2066925" y="4197350"/>
            <a:ext cx="6715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Coil[IS_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CUR_V_0]</a:t>
            </a:r>
          </a:p>
        </p:txBody>
      </p:sp>
      <p:sp>
        <p:nvSpPr>
          <p:cNvPr id="4261" name="Rectangle 165"/>
          <p:cNvSpPr>
            <a:spLocks noChangeArrowheads="1"/>
          </p:cNvSpPr>
          <p:nvPr/>
        </p:nvSpPr>
        <p:spPr bwMode="auto">
          <a:xfrm>
            <a:off x="2862263" y="4197350"/>
            <a:ext cx="723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Coil[IS_</a:t>
            </a:r>
          </a:p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ZONE_500]</a:t>
            </a:r>
          </a:p>
        </p:txBody>
      </p:sp>
      <p:sp>
        <p:nvSpPr>
          <p:cNvPr id="4262" name="Rectangle 166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4263" name="Rectangle 167"/>
          <p:cNvSpPr>
            <a:spLocks noChangeArrowheads="1"/>
          </p:cNvSpPr>
          <p:nvPr/>
        </p:nvSpPr>
        <p:spPr bwMode="auto">
          <a:xfrm>
            <a:off x="139700" y="450850"/>
            <a:ext cx="846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171(3)</a:t>
            </a:r>
          </a:p>
        </p:txBody>
      </p:sp>
      <p:sp>
        <p:nvSpPr>
          <p:cNvPr id="4264" name="Rectangle 168"/>
          <p:cNvSpPr>
            <a:spLocks noChangeArrowheads="1"/>
          </p:cNvSpPr>
          <p:nvPr/>
        </p:nvSpPr>
        <p:spPr bwMode="auto">
          <a:xfrm>
            <a:off x="76200" y="1981200"/>
            <a:ext cx="40655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착상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R/E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오차가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500mm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이상이면 동기위치 이상을 검출한다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4265" name="Rectangle 169"/>
          <p:cNvSpPr>
            <a:spLocks noChangeArrowheads="1"/>
          </p:cNvSpPr>
          <p:nvPr/>
        </p:nvSpPr>
        <p:spPr bwMode="auto">
          <a:xfrm>
            <a:off x="3429000" y="280035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0x802A</a:t>
            </a:r>
          </a:p>
        </p:txBody>
      </p:sp>
      <p:sp>
        <p:nvSpPr>
          <p:cNvPr id="4266" name="Rectangle 170"/>
          <p:cNvSpPr>
            <a:spLocks noChangeArrowheads="1"/>
          </p:cNvSpPr>
          <p:nvPr/>
        </p:nvSpPr>
        <p:spPr bwMode="auto">
          <a:xfrm>
            <a:off x="3810000" y="4876800"/>
            <a:ext cx="98901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* EF_PF_DIR : 0x01</a:t>
            </a:r>
          </a:p>
        </p:txBody>
      </p:sp>
      <p:sp>
        <p:nvSpPr>
          <p:cNvPr id="4267" name="Rectangle 171"/>
          <p:cNvSpPr>
            <a:spLocks noChangeArrowheads="1"/>
          </p:cNvSpPr>
          <p:nvPr/>
        </p:nvSpPr>
        <p:spPr bwMode="auto">
          <a:xfrm>
            <a:off x="2457450" y="281305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0x91B0</a:t>
            </a:r>
          </a:p>
        </p:txBody>
      </p:sp>
      <p:sp>
        <p:nvSpPr>
          <p:cNvPr id="4268" name="Rectangle 172"/>
          <p:cNvSpPr>
            <a:spLocks noChangeArrowheads="1"/>
          </p:cNvSpPr>
          <p:nvPr/>
        </p:nvSpPr>
        <p:spPr bwMode="auto">
          <a:xfrm>
            <a:off x="3308350" y="40259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0x921D</a:t>
            </a:r>
          </a:p>
        </p:txBody>
      </p:sp>
      <p:sp>
        <p:nvSpPr>
          <p:cNvPr id="4269" name="Rectangle 173"/>
          <p:cNvSpPr>
            <a:spLocks noChangeArrowheads="1"/>
          </p:cNvSpPr>
          <p:nvPr/>
        </p:nvSpPr>
        <p:spPr bwMode="auto">
          <a:xfrm>
            <a:off x="1327150" y="46418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0x9250</a:t>
            </a:r>
          </a:p>
        </p:txBody>
      </p:sp>
      <p:sp>
        <p:nvSpPr>
          <p:cNvPr id="4270" name="Rectangle 174"/>
          <p:cNvSpPr>
            <a:spLocks noChangeArrowheads="1"/>
          </p:cNvSpPr>
          <p:nvPr/>
        </p:nvSpPr>
        <p:spPr bwMode="auto">
          <a:xfrm>
            <a:off x="2286000" y="40322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0x923C</a:t>
            </a:r>
          </a:p>
        </p:txBody>
      </p:sp>
      <p:sp>
        <p:nvSpPr>
          <p:cNvPr id="4271" name="Rectangle 175"/>
          <p:cNvSpPr>
            <a:spLocks noChangeArrowheads="1"/>
          </p:cNvSpPr>
          <p:nvPr/>
        </p:nvSpPr>
        <p:spPr bwMode="auto">
          <a:xfrm>
            <a:off x="1492250" y="40322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0x9031</a:t>
            </a:r>
          </a:p>
        </p:txBody>
      </p:sp>
      <p:sp>
        <p:nvSpPr>
          <p:cNvPr id="4272" name="Rectangle 176"/>
          <p:cNvSpPr>
            <a:spLocks noChangeArrowheads="1"/>
          </p:cNvSpPr>
          <p:nvPr/>
        </p:nvSpPr>
        <p:spPr bwMode="auto">
          <a:xfrm>
            <a:off x="571500" y="40449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0x9032</a:t>
            </a:r>
          </a:p>
        </p:txBody>
      </p:sp>
      <p:sp>
        <p:nvSpPr>
          <p:cNvPr id="4273" name="Rectangle 177"/>
          <p:cNvSpPr>
            <a:spLocks noChangeArrowheads="1"/>
          </p:cNvSpPr>
          <p:nvPr/>
        </p:nvSpPr>
        <p:spPr bwMode="auto">
          <a:xfrm>
            <a:off x="2159000" y="464820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0x91E8</a:t>
            </a:r>
          </a:p>
        </p:txBody>
      </p:sp>
      <p:sp>
        <p:nvSpPr>
          <p:cNvPr id="4274" name="Rectangle 178"/>
          <p:cNvSpPr>
            <a:spLocks noChangeArrowheads="1"/>
          </p:cNvSpPr>
          <p:nvPr/>
        </p:nvSpPr>
        <p:spPr bwMode="auto">
          <a:xfrm>
            <a:off x="2990850" y="46545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0x9190</a:t>
            </a:r>
          </a:p>
        </p:txBody>
      </p:sp>
      <p:sp>
        <p:nvSpPr>
          <p:cNvPr id="4275" name="Rectangle 179"/>
          <p:cNvSpPr>
            <a:spLocks noChangeArrowheads="1"/>
          </p:cNvSpPr>
          <p:nvPr/>
        </p:nvSpPr>
        <p:spPr bwMode="auto">
          <a:xfrm>
            <a:off x="1422400" y="28067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0x8025</a:t>
            </a:r>
          </a:p>
        </p:txBody>
      </p:sp>
      <p:sp>
        <p:nvSpPr>
          <p:cNvPr id="4276" name="Rectangle 180"/>
          <p:cNvSpPr>
            <a:spLocks noChangeArrowheads="1"/>
          </p:cNvSpPr>
          <p:nvPr/>
        </p:nvSpPr>
        <p:spPr bwMode="auto">
          <a:xfrm>
            <a:off x="647700" y="33464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700">
                <a:latin typeface="Arial" charset="0"/>
                <a:ea typeface="굴림체" pitchFamily="49" charset="-127"/>
              </a:rPr>
              <a:t>0x9030</a:t>
            </a:r>
          </a:p>
        </p:txBody>
      </p:sp>
      <p:grpSp>
        <p:nvGrpSpPr>
          <p:cNvPr id="30" name="Group 181"/>
          <p:cNvGrpSpPr>
            <a:grpSpLocks/>
          </p:cNvGrpSpPr>
          <p:nvPr/>
        </p:nvGrpSpPr>
        <p:grpSpPr bwMode="auto">
          <a:xfrm>
            <a:off x="2971800" y="3219450"/>
            <a:ext cx="533400" cy="152400"/>
            <a:chOff x="1272" y="1488"/>
            <a:chExt cx="336" cy="96"/>
          </a:xfrm>
        </p:grpSpPr>
        <p:grpSp>
          <p:nvGrpSpPr>
            <p:cNvPr id="31" name="Group 182"/>
            <p:cNvGrpSpPr>
              <a:grpSpLocks/>
            </p:cNvGrpSpPr>
            <p:nvPr/>
          </p:nvGrpSpPr>
          <p:grpSpPr bwMode="auto">
            <a:xfrm>
              <a:off x="1272" y="1488"/>
              <a:ext cx="336" cy="96"/>
              <a:chOff x="1272" y="1488"/>
              <a:chExt cx="336" cy="96"/>
            </a:xfrm>
          </p:grpSpPr>
          <p:sp>
            <p:nvSpPr>
              <p:cNvPr id="4279" name="Line 183"/>
              <p:cNvSpPr>
                <a:spLocks noChangeShapeType="1"/>
              </p:cNvSpPr>
              <p:nvPr/>
            </p:nvSpPr>
            <p:spPr bwMode="auto">
              <a:xfrm>
                <a:off x="141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80" name="Line 184"/>
              <p:cNvSpPr>
                <a:spLocks noChangeShapeType="1"/>
              </p:cNvSpPr>
              <p:nvPr/>
            </p:nvSpPr>
            <p:spPr bwMode="auto">
              <a:xfrm>
                <a:off x="1464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81" name="Line 185"/>
              <p:cNvSpPr>
                <a:spLocks noChangeShapeType="1"/>
              </p:cNvSpPr>
              <p:nvPr/>
            </p:nvSpPr>
            <p:spPr bwMode="auto">
              <a:xfrm>
                <a:off x="1272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82" name="Line 186"/>
              <p:cNvSpPr>
                <a:spLocks noChangeShapeType="1"/>
              </p:cNvSpPr>
              <p:nvPr/>
            </p:nvSpPr>
            <p:spPr bwMode="auto">
              <a:xfrm>
                <a:off x="14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283" name="Line 187"/>
            <p:cNvSpPr>
              <a:spLocks noChangeShapeType="1"/>
            </p:cNvSpPr>
            <p:nvPr/>
          </p:nvSpPr>
          <p:spPr bwMode="auto">
            <a:xfrm flipV="1">
              <a:off x="1368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284" name="Line 188"/>
          <p:cNvSpPr>
            <a:spLocks noChangeShapeType="1"/>
          </p:cNvSpPr>
          <p:nvPr/>
        </p:nvSpPr>
        <p:spPr bwMode="auto">
          <a:xfrm>
            <a:off x="3448050" y="329565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85" name="Rectangle 189"/>
          <p:cNvSpPr>
            <a:spLocks noChangeArrowheads="1"/>
          </p:cNvSpPr>
          <p:nvPr/>
        </p:nvSpPr>
        <p:spPr bwMode="auto">
          <a:xfrm>
            <a:off x="2309813" y="3016250"/>
            <a:ext cx="59213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/>
            <a:r>
              <a:rPr lang="en-US" altLang="ko-KR" sz="800">
                <a:latin typeface="Arial" charset="0"/>
                <a:ea typeface="굴림체" pitchFamily="49" charset="-127"/>
              </a:rPr>
              <a:t>TCD 114</a:t>
            </a:r>
          </a:p>
        </p:txBody>
      </p:sp>
      <p:sp>
        <p:nvSpPr>
          <p:cNvPr id="4286" name="Rectangle 190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6527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177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49313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ER_ESTOP_REPEAT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037138" y="1112838"/>
            <a:ext cx="375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ANN (A42E) -  Err Log Table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확인하여 최근 다발한  고장을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찾아 조치한다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426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고속주행이 금지되는 고장이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분 이내에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발생하면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52400" y="2667000"/>
            <a:ext cx="0" cy="251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4876800" y="2667000"/>
            <a:ext cx="0" cy="251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152400" y="3048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838200" y="30480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1157288" y="2663825"/>
            <a:ext cx="10398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Coil[EM_EO_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FAST_RUN_CUT]</a:t>
            </a:r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3505200" y="2819400"/>
            <a:ext cx="12192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3581400" y="3352800"/>
            <a:ext cx="11064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E_Stop_10M_Count</a:t>
            </a:r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1905000" y="3048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3200400" y="3352800"/>
            <a:ext cx="3000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+1</a:t>
            </a:r>
          </a:p>
        </p:txBody>
      </p:sp>
      <p:sp>
        <p:nvSpPr>
          <p:cNvPr id="2077" name="Line 29"/>
          <p:cNvSpPr>
            <a:spLocks noChangeShapeType="1"/>
          </p:cNvSpPr>
          <p:nvPr/>
        </p:nvSpPr>
        <p:spPr bwMode="auto">
          <a:xfrm>
            <a:off x="3048000" y="3048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3505200" y="3352800"/>
            <a:ext cx="12192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3683000" y="2844800"/>
            <a:ext cx="9652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E_Stop_Count[9]</a:t>
            </a:r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3200400" y="2819400"/>
            <a:ext cx="3000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+1</a:t>
            </a:r>
          </a:p>
        </p:txBody>
      </p:sp>
      <p:sp>
        <p:nvSpPr>
          <p:cNvPr id="2081" name="Line 33"/>
          <p:cNvSpPr>
            <a:spLocks noChangeShapeType="1"/>
          </p:cNvSpPr>
          <p:nvPr/>
        </p:nvSpPr>
        <p:spPr bwMode="auto">
          <a:xfrm>
            <a:off x="152400" y="41910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2" name="Line 34"/>
          <p:cNvSpPr>
            <a:spLocks noChangeShapeType="1"/>
          </p:cNvSpPr>
          <p:nvPr/>
        </p:nvSpPr>
        <p:spPr bwMode="auto">
          <a:xfrm>
            <a:off x="1752600" y="4191000"/>
            <a:ext cx="3124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4038600" y="3962400"/>
            <a:ext cx="6858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4068763" y="3973513"/>
            <a:ext cx="59213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177</a:t>
            </a:r>
          </a:p>
        </p:txBody>
      </p:sp>
      <p:sp>
        <p:nvSpPr>
          <p:cNvPr id="2085" name="Line 37"/>
          <p:cNvSpPr>
            <a:spLocks noChangeShapeType="1"/>
          </p:cNvSpPr>
          <p:nvPr/>
        </p:nvSpPr>
        <p:spPr bwMode="auto">
          <a:xfrm>
            <a:off x="152400" y="47244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6" name="Line 38"/>
          <p:cNvSpPr>
            <a:spLocks noChangeShapeType="1"/>
          </p:cNvSpPr>
          <p:nvPr/>
        </p:nvSpPr>
        <p:spPr bwMode="auto">
          <a:xfrm>
            <a:off x="1752600" y="4724400"/>
            <a:ext cx="3124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3810000" y="4495800"/>
            <a:ext cx="9144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673100" y="4457700"/>
            <a:ext cx="16319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Coil[EM_EO_FAST_RUN_CUT]</a:t>
            </a:r>
          </a:p>
        </p:txBody>
      </p: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3810000" y="4495800"/>
            <a:ext cx="9413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old_fast_run_cut</a:t>
            </a:r>
          </a:p>
        </p:txBody>
      </p:sp>
      <p:sp>
        <p:nvSpPr>
          <p:cNvPr id="2090" name="Rectangle 42"/>
          <p:cNvSpPr>
            <a:spLocks noChangeArrowheads="1"/>
          </p:cNvSpPr>
          <p:nvPr/>
        </p:nvSpPr>
        <p:spPr bwMode="auto">
          <a:xfrm>
            <a:off x="2209800" y="2654300"/>
            <a:ext cx="890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Coil[AC_OP_</a:t>
            </a:r>
          </a:p>
          <a:p>
            <a:pPr algn="ctr" latinLnBrk="0"/>
            <a:r>
              <a:rPr lang="en-US" altLang="ko-KR" sz="800">
                <a:latin typeface="Arial" charset="0"/>
                <a:ea typeface="굴림체" pitchFamily="49" charset="-127"/>
              </a:rPr>
              <a:t>MAINT_MODE]</a:t>
            </a:r>
          </a:p>
        </p:txBody>
      </p:sp>
      <p:sp>
        <p:nvSpPr>
          <p:cNvPr id="2091" name="Rectangle 43"/>
          <p:cNvSpPr>
            <a:spLocks noChangeArrowheads="1"/>
          </p:cNvSpPr>
          <p:nvPr/>
        </p:nvSpPr>
        <p:spPr bwMode="auto">
          <a:xfrm>
            <a:off x="233363" y="2781300"/>
            <a:ext cx="94138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old_fast_run_cut</a:t>
            </a:r>
          </a:p>
        </p:txBody>
      </p:sp>
      <p:sp>
        <p:nvSpPr>
          <p:cNvPr id="2092" name="Line 44"/>
          <p:cNvSpPr>
            <a:spLocks noChangeShapeType="1"/>
          </p:cNvSpPr>
          <p:nvPr/>
        </p:nvSpPr>
        <p:spPr bwMode="auto">
          <a:xfrm>
            <a:off x="3048000" y="35814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661988" y="3906838"/>
            <a:ext cx="139541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E_Stop_10M_Count &gt;= 12</a:t>
            </a:r>
          </a:p>
        </p:txBody>
      </p:sp>
      <p:sp>
        <p:nvSpPr>
          <p:cNvPr id="2094" name="Rectangle 46"/>
          <p:cNvSpPr>
            <a:spLocks noChangeArrowheads="1"/>
          </p:cNvSpPr>
          <p:nvPr/>
        </p:nvSpPr>
        <p:spPr bwMode="auto">
          <a:xfrm>
            <a:off x="1433513" y="3092450"/>
            <a:ext cx="479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0x90F4</a:t>
            </a:r>
          </a:p>
        </p:txBody>
      </p:sp>
      <p:sp>
        <p:nvSpPr>
          <p:cNvPr id="2095" name="Rectangle 47"/>
          <p:cNvSpPr>
            <a:spLocks noChangeArrowheads="1"/>
          </p:cNvSpPr>
          <p:nvPr/>
        </p:nvSpPr>
        <p:spPr bwMode="auto">
          <a:xfrm>
            <a:off x="1246188" y="4781550"/>
            <a:ext cx="479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0x90F4</a:t>
            </a:r>
          </a:p>
        </p:txBody>
      </p: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2381250" y="3101975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0x9030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457200" y="2971800"/>
            <a:ext cx="533400" cy="152400"/>
            <a:chOff x="264" y="1488"/>
            <a:chExt cx="336" cy="96"/>
          </a:xfrm>
        </p:grpSpPr>
        <p:grpSp>
          <p:nvGrpSpPr>
            <p:cNvPr id="3" name="Group 50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099" name="Line 51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0" name="Line 52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1" name="Line 53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03" name="Line 55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56"/>
          <p:cNvGrpSpPr>
            <a:grpSpLocks/>
          </p:cNvGrpSpPr>
          <p:nvPr/>
        </p:nvGrpSpPr>
        <p:grpSpPr bwMode="auto">
          <a:xfrm>
            <a:off x="1371600" y="2971800"/>
            <a:ext cx="533400" cy="152400"/>
            <a:chOff x="720" y="1488"/>
            <a:chExt cx="336" cy="96"/>
          </a:xfrm>
        </p:grpSpPr>
        <p:sp>
          <p:nvSpPr>
            <p:cNvPr id="2105" name="Line 57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6" name="Line 58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7" name="Line 59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8" name="Line 60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9" name="Rectangle 61"/>
          <p:cNvSpPr>
            <a:spLocks noChangeArrowheads="1"/>
          </p:cNvSpPr>
          <p:nvPr/>
        </p:nvSpPr>
        <p:spPr bwMode="auto">
          <a:xfrm>
            <a:off x="76200" y="1905000"/>
            <a:ext cx="472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Hold Type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고장으로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Zone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Open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R5SC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 기동이 금지된다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2362200" y="2971800"/>
            <a:ext cx="533400" cy="152400"/>
            <a:chOff x="264" y="1488"/>
            <a:chExt cx="336" cy="96"/>
          </a:xfrm>
        </p:grpSpPr>
        <p:grpSp>
          <p:nvGrpSpPr>
            <p:cNvPr id="6" name="Group 63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16" name="Line 68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7" name="Line 69"/>
          <p:cNvSpPr>
            <a:spLocks noChangeShapeType="1"/>
          </p:cNvSpPr>
          <p:nvPr/>
        </p:nvSpPr>
        <p:spPr bwMode="auto">
          <a:xfrm>
            <a:off x="2819400" y="30480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7" name="Group 70"/>
          <p:cNvGrpSpPr>
            <a:grpSpLocks/>
          </p:cNvGrpSpPr>
          <p:nvPr/>
        </p:nvGrpSpPr>
        <p:grpSpPr bwMode="auto">
          <a:xfrm>
            <a:off x="1219200" y="4114800"/>
            <a:ext cx="533400" cy="152400"/>
            <a:chOff x="720" y="1488"/>
            <a:chExt cx="336" cy="96"/>
          </a:xfrm>
        </p:grpSpPr>
        <p:sp>
          <p:nvSpPr>
            <p:cNvPr id="2119" name="Line 71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0" name="Line 72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1" name="Line 73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2" name="Line 74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8" name="Group 75"/>
          <p:cNvGrpSpPr>
            <a:grpSpLocks/>
          </p:cNvGrpSpPr>
          <p:nvPr/>
        </p:nvGrpSpPr>
        <p:grpSpPr bwMode="auto">
          <a:xfrm>
            <a:off x="1219200" y="4648200"/>
            <a:ext cx="533400" cy="152400"/>
            <a:chOff x="720" y="1488"/>
            <a:chExt cx="336" cy="96"/>
          </a:xfrm>
        </p:grpSpPr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6" name="Line 78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7" name="Line 79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8" name="Rectangle 80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23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178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ER_S_DRIVE_REPEAT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30511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구출운전이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분 이내에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발생하면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143000"/>
            <a:ext cx="370522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Door Zone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외에 정지하는 원인을 찾는다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주행 중에  비상 정지하는 경우는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Log Table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참조한다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착상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Zone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못 미치거나 지나쳐서 정지하는 경우는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착상 제어용 파라메터 설정이 바르게 되어 있는지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확인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(  Pgc_Gain </a:t>
            </a:r>
            <a:r>
              <a:rPr lang="en-US" altLang="ko-KR" sz="1000">
                <a:latin typeface="Arial" charset="0"/>
                <a:ea typeface="굴림체" pitchFamily="49" charset="-127"/>
                <a:sym typeface="Symbol" pitchFamily="18" charset="2"/>
              </a:rPr>
              <a:t>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ADDR:0x0212 )</a:t>
            </a: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52400" y="2514600"/>
            <a:ext cx="0" cy="3124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4876800" y="2514600"/>
            <a:ext cx="0" cy="3276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1416050" y="3235325"/>
            <a:ext cx="3794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tmp</a:t>
            </a:r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3048000" y="40386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3581400" y="3810000"/>
            <a:ext cx="11430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3595688" y="3830638"/>
            <a:ext cx="105251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S_Drv_10M_Count</a:t>
            </a:r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3355975" y="3309938"/>
            <a:ext cx="3000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+1</a:t>
            </a:r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 flipH="1">
            <a:off x="3048000" y="3505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3581400" y="3276600"/>
            <a:ext cx="11430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3736975" y="3289300"/>
            <a:ext cx="9112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S_Drv_Count[9]</a:t>
            </a:r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3338513" y="3835400"/>
            <a:ext cx="30003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+1</a:t>
            </a:r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3810000" y="4419600"/>
            <a:ext cx="9144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4062413" y="5116513"/>
            <a:ext cx="59213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178</a:t>
            </a:r>
          </a:p>
        </p:txBody>
      </p:sp>
      <p:sp>
        <p:nvSpPr>
          <p:cNvPr id="2081" name="Line 33"/>
          <p:cNvSpPr>
            <a:spLocks noChangeShapeType="1"/>
          </p:cNvSpPr>
          <p:nvPr/>
        </p:nvSpPr>
        <p:spPr bwMode="auto">
          <a:xfrm>
            <a:off x="1524000" y="4648200"/>
            <a:ext cx="334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2" name="Line 34"/>
          <p:cNvSpPr>
            <a:spLocks noChangeShapeType="1"/>
          </p:cNvSpPr>
          <p:nvPr/>
        </p:nvSpPr>
        <p:spPr bwMode="auto">
          <a:xfrm>
            <a:off x="2895600" y="5334000"/>
            <a:ext cx="198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4006850" y="5105400"/>
            <a:ext cx="71755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1085850" y="4378325"/>
            <a:ext cx="3540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tmp</a:t>
            </a:r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3810000" y="4419600"/>
            <a:ext cx="9286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old_safety_drive</a:t>
            </a:r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1789113" y="3243263"/>
            <a:ext cx="149701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Coil[AC_OP_MAINT_MODE]</a:t>
            </a:r>
          </a:p>
        </p:txBody>
      </p:sp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252413" y="3213100"/>
            <a:ext cx="92868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old_safety_drive</a:t>
            </a:r>
          </a:p>
        </p:txBody>
      </p: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152400" y="5410200"/>
            <a:ext cx="12842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S_Drv_10M_Count &gt;= 6</a:t>
            </a:r>
          </a:p>
        </p:txBody>
      </p:sp>
      <p:sp>
        <p:nvSpPr>
          <p:cNvPr id="2089" name="Line 41"/>
          <p:cNvSpPr>
            <a:spLocks noChangeShapeType="1"/>
          </p:cNvSpPr>
          <p:nvPr/>
        </p:nvSpPr>
        <p:spPr bwMode="auto">
          <a:xfrm>
            <a:off x="152400" y="28194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0" name="Line 42"/>
          <p:cNvSpPr>
            <a:spLocks noChangeShapeType="1"/>
          </p:cNvSpPr>
          <p:nvPr/>
        </p:nvSpPr>
        <p:spPr bwMode="auto">
          <a:xfrm>
            <a:off x="1371600" y="2819400"/>
            <a:ext cx="35067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1" name="Rectangle 43"/>
          <p:cNvSpPr>
            <a:spLocks noChangeArrowheads="1"/>
          </p:cNvSpPr>
          <p:nvPr/>
        </p:nvSpPr>
        <p:spPr bwMode="auto">
          <a:xfrm>
            <a:off x="4038600" y="2590800"/>
            <a:ext cx="685800" cy="454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2" name="Rectangle 44"/>
          <p:cNvSpPr>
            <a:spLocks noChangeArrowheads="1"/>
          </p:cNvSpPr>
          <p:nvPr/>
        </p:nvSpPr>
        <p:spPr bwMode="auto">
          <a:xfrm>
            <a:off x="166688" y="2546350"/>
            <a:ext cx="217011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Coil[SW_FS_SAFETY_DRIVE_DETECT]</a:t>
            </a:r>
          </a:p>
        </p:txBody>
      </p: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2254250" y="35687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0x9030</a:t>
            </a:r>
          </a:p>
        </p:txBody>
      </p:sp>
      <p:sp>
        <p:nvSpPr>
          <p:cNvPr id="2094" name="Rectangle 46"/>
          <p:cNvSpPr>
            <a:spLocks noChangeArrowheads="1"/>
          </p:cNvSpPr>
          <p:nvPr/>
        </p:nvSpPr>
        <p:spPr bwMode="auto">
          <a:xfrm>
            <a:off x="4216400" y="2593975"/>
            <a:ext cx="3810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tmp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57200" y="3429000"/>
            <a:ext cx="533400" cy="152400"/>
            <a:chOff x="264" y="1488"/>
            <a:chExt cx="336" cy="96"/>
          </a:xfrm>
        </p:grpSpPr>
        <p:grpSp>
          <p:nvGrpSpPr>
            <p:cNvPr id="3" name="Group 48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097" name="Line 49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8" name="Line 50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9" name="Line 51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0" name="Line 52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01" name="Line 53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914400" y="2743200"/>
            <a:ext cx="533400" cy="152400"/>
            <a:chOff x="720" y="1488"/>
            <a:chExt cx="336" cy="96"/>
          </a:xfrm>
        </p:grpSpPr>
        <p:sp>
          <p:nvSpPr>
            <p:cNvPr id="2103" name="Line 55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4" name="Line 56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5" name="Line 57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6" name="Line 58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7" name="Rectangle 59"/>
          <p:cNvSpPr>
            <a:spLocks noChangeArrowheads="1"/>
          </p:cNvSpPr>
          <p:nvPr/>
        </p:nvSpPr>
        <p:spPr bwMode="auto">
          <a:xfrm>
            <a:off x="152400" y="1905000"/>
            <a:ext cx="449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Hold Type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고장으로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Zone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Open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R5SC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하여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기동이 금지된다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1295400" y="3429000"/>
            <a:ext cx="533400" cy="152400"/>
            <a:chOff x="720" y="1488"/>
            <a:chExt cx="336" cy="96"/>
          </a:xfrm>
        </p:grpSpPr>
        <p:sp>
          <p:nvSpPr>
            <p:cNvPr id="2109" name="Line 61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0" name="Line 62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1" name="Line 63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2" name="Line 64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3" name="Rectangle 65"/>
          <p:cNvSpPr>
            <a:spLocks noChangeArrowheads="1"/>
          </p:cNvSpPr>
          <p:nvPr/>
        </p:nvSpPr>
        <p:spPr bwMode="auto">
          <a:xfrm>
            <a:off x="933450" y="2867025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0x92A8</a:t>
            </a:r>
          </a:p>
        </p:txBody>
      </p:sp>
      <p:sp>
        <p:nvSpPr>
          <p:cNvPr id="2114" name="Line 66"/>
          <p:cNvSpPr>
            <a:spLocks noChangeShapeType="1"/>
          </p:cNvSpPr>
          <p:nvPr/>
        </p:nvSpPr>
        <p:spPr bwMode="auto">
          <a:xfrm>
            <a:off x="152400" y="3505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6" name="Group 67"/>
          <p:cNvGrpSpPr>
            <a:grpSpLocks/>
          </p:cNvGrpSpPr>
          <p:nvPr/>
        </p:nvGrpSpPr>
        <p:grpSpPr bwMode="auto">
          <a:xfrm>
            <a:off x="2209800" y="3429000"/>
            <a:ext cx="533400" cy="152400"/>
            <a:chOff x="264" y="1488"/>
            <a:chExt cx="336" cy="96"/>
          </a:xfrm>
        </p:grpSpPr>
        <p:grpSp>
          <p:nvGrpSpPr>
            <p:cNvPr id="7" name="Group 68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117" name="Line 69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8" name="Line 70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9" name="Line 71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21" name="Line 73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2" name="Line 74"/>
          <p:cNvSpPr>
            <a:spLocks noChangeShapeType="1"/>
          </p:cNvSpPr>
          <p:nvPr/>
        </p:nvSpPr>
        <p:spPr bwMode="auto">
          <a:xfrm>
            <a:off x="838200" y="35052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3" name="Line 75"/>
          <p:cNvSpPr>
            <a:spLocks noChangeShapeType="1"/>
          </p:cNvSpPr>
          <p:nvPr/>
        </p:nvSpPr>
        <p:spPr bwMode="auto">
          <a:xfrm>
            <a:off x="1752600" y="35052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4" name="Line 76"/>
          <p:cNvSpPr>
            <a:spLocks noChangeShapeType="1"/>
          </p:cNvSpPr>
          <p:nvPr/>
        </p:nvSpPr>
        <p:spPr bwMode="auto">
          <a:xfrm>
            <a:off x="2667000" y="3505200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8" name="Group 77"/>
          <p:cNvGrpSpPr>
            <a:grpSpLocks/>
          </p:cNvGrpSpPr>
          <p:nvPr/>
        </p:nvGrpSpPr>
        <p:grpSpPr bwMode="auto">
          <a:xfrm>
            <a:off x="990600" y="4572000"/>
            <a:ext cx="533400" cy="152400"/>
            <a:chOff x="720" y="1488"/>
            <a:chExt cx="336" cy="96"/>
          </a:xfrm>
        </p:grpSpPr>
        <p:sp>
          <p:nvSpPr>
            <p:cNvPr id="2126" name="Line 78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7" name="Line 79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8" name="Line 80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9" name="Line 81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30" name="Line 82"/>
          <p:cNvSpPr>
            <a:spLocks noChangeShapeType="1"/>
          </p:cNvSpPr>
          <p:nvPr/>
        </p:nvSpPr>
        <p:spPr bwMode="auto">
          <a:xfrm>
            <a:off x="152400" y="46482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9" name="Group 83"/>
          <p:cNvGrpSpPr>
            <a:grpSpLocks/>
          </p:cNvGrpSpPr>
          <p:nvPr/>
        </p:nvGrpSpPr>
        <p:grpSpPr bwMode="auto">
          <a:xfrm>
            <a:off x="457200" y="5257800"/>
            <a:ext cx="533400" cy="152400"/>
            <a:chOff x="720" y="1488"/>
            <a:chExt cx="336" cy="96"/>
          </a:xfrm>
        </p:grpSpPr>
        <p:sp>
          <p:nvSpPr>
            <p:cNvPr id="2132" name="Line 84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3" name="Line 85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4" name="Line 86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5" name="Line 87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0" name="Group 88"/>
          <p:cNvGrpSpPr>
            <a:grpSpLocks/>
          </p:cNvGrpSpPr>
          <p:nvPr/>
        </p:nvGrpSpPr>
        <p:grpSpPr bwMode="auto">
          <a:xfrm>
            <a:off x="1447800" y="5257800"/>
            <a:ext cx="533400" cy="152400"/>
            <a:chOff x="720" y="1488"/>
            <a:chExt cx="336" cy="96"/>
          </a:xfrm>
        </p:grpSpPr>
        <p:sp>
          <p:nvSpPr>
            <p:cNvPr id="2137" name="Line 89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8" name="Line 90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9" name="Line 91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0" name="Line 92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1" name="Group 93"/>
          <p:cNvGrpSpPr>
            <a:grpSpLocks/>
          </p:cNvGrpSpPr>
          <p:nvPr/>
        </p:nvGrpSpPr>
        <p:grpSpPr bwMode="auto">
          <a:xfrm>
            <a:off x="2514600" y="5257800"/>
            <a:ext cx="533400" cy="152400"/>
            <a:chOff x="720" y="1488"/>
            <a:chExt cx="336" cy="96"/>
          </a:xfrm>
        </p:grpSpPr>
        <p:sp>
          <p:nvSpPr>
            <p:cNvPr id="2142" name="Line 94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3" name="Line 95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4" name="Line 96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46" name="Line 98"/>
          <p:cNvSpPr>
            <a:spLocks noChangeShapeType="1"/>
          </p:cNvSpPr>
          <p:nvPr/>
        </p:nvSpPr>
        <p:spPr bwMode="auto">
          <a:xfrm>
            <a:off x="152400" y="53340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7" name="Line 99"/>
          <p:cNvSpPr>
            <a:spLocks noChangeShapeType="1"/>
          </p:cNvSpPr>
          <p:nvPr/>
        </p:nvSpPr>
        <p:spPr bwMode="auto">
          <a:xfrm>
            <a:off x="990600" y="53340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8" name="Line 100"/>
          <p:cNvSpPr>
            <a:spLocks noChangeShapeType="1"/>
          </p:cNvSpPr>
          <p:nvPr/>
        </p:nvSpPr>
        <p:spPr bwMode="auto">
          <a:xfrm>
            <a:off x="1828800" y="5334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9" name="Rectangle 101"/>
          <p:cNvSpPr>
            <a:spLocks noChangeArrowheads="1"/>
          </p:cNvSpPr>
          <p:nvPr/>
        </p:nvSpPr>
        <p:spPr bwMode="auto">
          <a:xfrm>
            <a:off x="1066800" y="5054600"/>
            <a:ext cx="12954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Coil[SW_GS_IS_STOP]</a:t>
            </a:r>
          </a:p>
        </p:txBody>
      </p:sp>
      <p:sp>
        <p:nvSpPr>
          <p:cNvPr id="2150" name="Rectangle 102"/>
          <p:cNvSpPr>
            <a:spLocks noChangeArrowheads="1"/>
          </p:cNvSpPr>
          <p:nvPr/>
        </p:nvSpPr>
        <p:spPr bwMode="auto">
          <a:xfrm>
            <a:off x="2470150" y="5060950"/>
            <a:ext cx="9906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SWD_I[VI_LDC]</a:t>
            </a:r>
          </a:p>
        </p:txBody>
      </p:sp>
      <p:sp>
        <p:nvSpPr>
          <p:cNvPr id="2151" name="Rectangle 103"/>
          <p:cNvSpPr>
            <a:spLocks noChangeArrowheads="1"/>
          </p:cNvSpPr>
          <p:nvPr/>
        </p:nvSpPr>
        <p:spPr bwMode="auto">
          <a:xfrm>
            <a:off x="1454150" y="53911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0x925D</a:t>
            </a:r>
          </a:p>
        </p:txBody>
      </p:sp>
      <p:sp>
        <p:nvSpPr>
          <p:cNvPr id="2152" name="Rectangle 104"/>
          <p:cNvSpPr>
            <a:spLocks noChangeArrowheads="1"/>
          </p:cNvSpPr>
          <p:nvPr/>
        </p:nvSpPr>
        <p:spPr bwMode="auto">
          <a:xfrm>
            <a:off x="2527300" y="539115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0x8025</a:t>
            </a:r>
          </a:p>
        </p:txBody>
      </p:sp>
      <p:sp>
        <p:nvSpPr>
          <p:cNvPr id="2153" name="Rectangle 105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08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182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ER_OVER_DUTY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0" y="29718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4414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Brake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개방 횟수를 카운트하여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시간에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180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이상인 경우에 발생함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228600" y="1905000"/>
            <a:ext cx="457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E/L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운행에는 지장이 없으나 일정 시간 동안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약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분간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기동을 금지하여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Brake Coil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보호한다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31763" y="3267075"/>
            <a:ext cx="3733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Door Zone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내에서 정지한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분간 대기함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5029200" y="1143000"/>
            <a:ext cx="373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Door Zone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내에서 정지한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분간 대기한 후 자동으로 정상운전으로 복귀함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711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184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ER_FORCE_DECEL_REPEAT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4414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강제 감속이 연속하여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발생하면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371600"/>
            <a:ext cx="3733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endParaRPr lang="ko-KR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5029200" y="1143000"/>
            <a:ext cx="3810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Slow Down S/W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정상적으로 작동하는지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Slow Down S/W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제대로 설치 되어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graphicFrame>
        <p:nvGraphicFramePr>
          <p:cNvPr id="2070" name="Object 22"/>
          <p:cNvGraphicFramePr>
            <a:graphicFrameLocks noChangeAspect="1"/>
          </p:cNvGraphicFramePr>
          <p:nvPr/>
        </p:nvGraphicFramePr>
        <p:xfrm>
          <a:off x="5181600" y="1600200"/>
          <a:ext cx="3057525" cy="523875"/>
        </p:xfrm>
        <a:graphic>
          <a:graphicData uri="http://schemas.openxmlformats.org/presentationml/2006/ole">
            <p:oleObj spid="_x0000_s4098" name="워크시트" r:id="rId3" imgW="3057739" imgH="524166" progId="Excel.Sheet.8">
              <p:embed/>
            </p:oleObj>
          </a:graphicData>
        </a:graphic>
      </p:graphicFrame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5029200" y="2209800"/>
            <a:ext cx="373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위의 설치 위치와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50 mm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차이가 난다면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Slow Down  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S/W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설치 위치를 재조정한다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155575" y="1917700"/>
            <a:ext cx="47212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SDS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동작했을 때 착상까지 남은 거리가 설치 위치보다 클 때 강제 감속을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하여 최상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층에  착상한다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이러한 강제 감속이 연속하여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발생하면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184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발생하고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Zone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 고속 운전을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Cut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하고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Hold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시킨다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90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188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415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PI-1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ER_OLS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37750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OLS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검출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CLS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CDS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동작된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OLS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연속하여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500msec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동작될 때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143000"/>
            <a:ext cx="41148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DCD-210 B/D(DOOR B/D)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정상동작 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CDS(13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), CLS(14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), OLS(15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입력 신호를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(BIT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동작된 상태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DOOR  Close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된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DOC-111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CA-07,  DOM-100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Y2-03, DCD-210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PJ1-13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핀의 전압을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동작    시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0V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OLS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미동작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48V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위의 핀 중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되는 지점에서 결선이 된 것이므로 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결선여부를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09600" y="2209800"/>
            <a:ext cx="533400" cy="152400"/>
            <a:chOff x="240" y="1440"/>
            <a:chExt cx="336" cy="96"/>
          </a:xfrm>
        </p:grpSpPr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420688" y="2006600"/>
            <a:ext cx="93186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SWD_I[VI_CDS]</a:t>
            </a:r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838200" y="2971800"/>
            <a:ext cx="533400" cy="152400"/>
            <a:chOff x="696" y="1440"/>
            <a:chExt cx="336" cy="96"/>
          </a:xfrm>
        </p:grpSpPr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696" y="1440"/>
              <a:ext cx="336" cy="96"/>
              <a:chOff x="696" y="1440"/>
              <a:chExt cx="336" cy="96"/>
            </a:xfrm>
          </p:grpSpPr>
          <p:sp>
            <p:nvSpPr>
              <p:cNvPr id="2077" name="Line 29"/>
              <p:cNvSpPr>
                <a:spLocks noChangeShapeType="1"/>
              </p:cNvSpPr>
              <p:nvPr/>
            </p:nvSpPr>
            <p:spPr bwMode="auto">
              <a:xfrm>
                <a:off x="84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78" name="Line 30"/>
              <p:cNvSpPr>
                <a:spLocks noChangeShapeType="1"/>
              </p:cNvSpPr>
              <p:nvPr/>
            </p:nvSpPr>
            <p:spPr bwMode="auto">
              <a:xfrm>
                <a:off x="888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79" name="Line 31"/>
              <p:cNvSpPr>
                <a:spLocks noChangeShapeType="1"/>
              </p:cNvSpPr>
              <p:nvPr/>
            </p:nvSpPr>
            <p:spPr bwMode="auto">
              <a:xfrm>
                <a:off x="696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88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 flipV="1">
              <a:off x="792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1638300" y="1993900"/>
            <a:ext cx="9398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Coil[DC_F_CLS]</a:t>
            </a:r>
          </a:p>
        </p:txBody>
      </p:sp>
      <p:sp>
        <p:nvSpPr>
          <p:cNvPr id="2083" name="Line 35"/>
          <p:cNvSpPr>
            <a:spLocks noChangeShapeType="1"/>
          </p:cNvSpPr>
          <p:nvPr/>
        </p:nvSpPr>
        <p:spPr bwMode="auto">
          <a:xfrm>
            <a:off x="152400" y="1981200"/>
            <a:ext cx="0" cy="396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4" name="Line 36"/>
          <p:cNvSpPr>
            <a:spLocks noChangeShapeType="1"/>
          </p:cNvSpPr>
          <p:nvPr/>
        </p:nvSpPr>
        <p:spPr bwMode="auto">
          <a:xfrm>
            <a:off x="152400" y="22860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5" name="Line 37"/>
          <p:cNvSpPr>
            <a:spLocks noChangeShapeType="1"/>
          </p:cNvSpPr>
          <p:nvPr/>
        </p:nvSpPr>
        <p:spPr bwMode="auto">
          <a:xfrm>
            <a:off x="4876800" y="1981200"/>
            <a:ext cx="0" cy="396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6" name="Line 38"/>
          <p:cNvSpPr>
            <a:spLocks noChangeShapeType="1"/>
          </p:cNvSpPr>
          <p:nvPr/>
        </p:nvSpPr>
        <p:spPr bwMode="auto">
          <a:xfrm>
            <a:off x="4038600" y="22860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4114800" y="2819400"/>
            <a:ext cx="673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4135438" y="2813050"/>
            <a:ext cx="65881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>
              <a:spcBef>
                <a:spcPct val="50000"/>
              </a:spcBef>
            </a:pPr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895350" y="226060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0x802B</a:t>
            </a:r>
          </a:p>
        </p:txBody>
      </p: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1828800" y="2209800"/>
            <a:ext cx="533400" cy="152400"/>
            <a:chOff x="240" y="1440"/>
            <a:chExt cx="336" cy="96"/>
          </a:xfrm>
        </p:grpSpPr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3" name="Line 45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5" name="Line 47"/>
          <p:cNvSpPr>
            <a:spLocks noChangeShapeType="1"/>
          </p:cNvSpPr>
          <p:nvPr/>
        </p:nvSpPr>
        <p:spPr bwMode="auto">
          <a:xfrm>
            <a:off x="1066800" y="22860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>
            <a:off x="3200400" y="2209800"/>
            <a:ext cx="533400" cy="152400"/>
            <a:chOff x="240" y="1440"/>
            <a:chExt cx="336" cy="96"/>
          </a:xfrm>
        </p:grpSpPr>
        <p:sp>
          <p:nvSpPr>
            <p:cNvPr id="2097" name="Line 49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8" name="Line 50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0" name="Line 52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2286000" y="22860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2" name="Line 54"/>
          <p:cNvSpPr>
            <a:spLocks noChangeShapeType="1"/>
          </p:cNvSpPr>
          <p:nvPr/>
        </p:nvSpPr>
        <p:spPr bwMode="auto">
          <a:xfrm>
            <a:off x="3657600" y="2286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3" name="Rectangle 55"/>
          <p:cNvSpPr>
            <a:spLocks noChangeArrowheads="1"/>
          </p:cNvSpPr>
          <p:nvPr/>
        </p:nvSpPr>
        <p:spPr bwMode="auto">
          <a:xfrm>
            <a:off x="3003550" y="2006600"/>
            <a:ext cx="10223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SWD_I[VI_DOLS]</a:t>
            </a:r>
          </a:p>
        </p:txBody>
      </p:sp>
      <p:sp>
        <p:nvSpPr>
          <p:cNvPr id="2104" name="Rectangle 56"/>
          <p:cNvSpPr>
            <a:spLocks noChangeArrowheads="1"/>
          </p:cNvSpPr>
          <p:nvPr/>
        </p:nvSpPr>
        <p:spPr bwMode="auto">
          <a:xfrm>
            <a:off x="2114550" y="225425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0x90B5</a:t>
            </a:r>
          </a:p>
        </p:txBody>
      </p:sp>
      <p:sp>
        <p:nvSpPr>
          <p:cNvPr id="2105" name="Rectangle 57"/>
          <p:cNvSpPr>
            <a:spLocks noChangeArrowheads="1"/>
          </p:cNvSpPr>
          <p:nvPr/>
        </p:nvSpPr>
        <p:spPr bwMode="auto">
          <a:xfrm>
            <a:off x="3454400" y="226695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0x802D</a:t>
            </a:r>
          </a:p>
        </p:txBody>
      </p:sp>
      <p:sp>
        <p:nvSpPr>
          <p:cNvPr id="2106" name="Line 58"/>
          <p:cNvSpPr>
            <a:spLocks noChangeShapeType="1"/>
          </p:cNvSpPr>
          <p:nvPr/>
        </p:nvSpPr>
        <p:spPr bwMode="auto">
          <a:xfrm>
            <a:off x="533400" y="25908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7" name="Line 59"/>
          <p:cNvSpPr>
            <a:spLocks noChangeShapeType="1"/>
          </p:cNvSpPr>
          <p:nvPr/>
        </p:nvSpPr>
        <p:spPr bwMode="auto">
          <a:xfrm>
            <a:off x="533400" y="25908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8" name="Line 60"/>
          <p:cNvSpPr>
            <a:spLocks noChangeShapeType="1"/>
          </p:cNvSpPr>
          <p:nvPr/>
        </p:nvSpPr>
        <p:spPr bwMode="auto">
          <a:xfrm>
            <a:off x="533400" y="3048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9" name="Line 61"/>
          <p:cNvSpPr>
            <a:spLocks noChangeShapeType="1"/>
          </p:cNvSpPr>
          <p:nvPr/>
        </p:nvSpPr>
        <p:spPr bwMode="auto">
          <a:xfrm>
            <a:off x="1371600" y="30480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7" name="Group 62"/>
          <p:cNvGrpSpPr>
            <a:grpSpLocks/>
          </p:cNvGrpSpPr>
          <p:nvPr/>
        </p:nvGrpSpPr>
        <p:grpSpPr bwMode="auto">
          <a:xfrm>
            <a:off x="1981200" y="2971800"/>
            <a:ext cx="533400" cy="152400"/>
            <a:chOff x="696" y="1440"/>
            <a:chExt cx="336" cy="96"/>
          </a:xfrm>
        </p:grpSpPr>
        <p:grpSp>
          <p:nvGrpSpPr>
            <p:cNvPr id="8" name="Group 63"/>
            <p:cNvGrpSpPr>
              <a:grpSpLocks/>
            </p:cNvGrpSpPr>
            <p:nvPr/>
          </p:nvGrpSpPr>
          <p:grpSpPr bwMode="auto">
            <a:xfrm>
              <a:off x="696" y="1440"/>
              <a:ext cx="336" cy="96"/>
              <a:chOff x="696" y="1440"/>
              <a:chExt cx="336" cy="96"/>
            </a:xfrm>
          </p:grpSpPr>
          <p:sp>
            <p:nvSpPr>
              <p:cNvPr id="2112" name="Line 64"/>
              <p:cNvSpPr>
                <a:spLocks noChangeShapeType="1"/>
              </p:cNvSpPr>
              <p:nvPr/>
            </p:nvSpPr>
            <p:spPr bwMode="auto">
              <a:xfrm>
                <a:off x="84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3" name="Line 65"/>
              <p:cNvSpPr>
                <a:spLocks noChangeShapeType="1"/>
              </p:cNvSpPr>
              <p:nvPr/>
            </p:nvSpPr>
            <p:spPr bwMode="auto">
              <a:xfrm>
                <a:off x="888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4" name="Line 66"/>
              <p:cNvSpPr>
                <a:spLocks noChangeShapeType="1"/>
              </p:cNvSpPr>
              <p:nvPr/>
            </p:nvSpPr>
            <p:spPr bwMode="auto">
              <a:xfrm>
                <a:off x="696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5" name="Line 67"/>
              <p:cNvSpPr>
                <a:spLocks noChangeShapeType="1"/>
              </p:cNvSpPr>
              <p:nvPr/>
            </p:nvSpPr>
            <p:spPr bwMode="auto">
              <a:xfrm>
                <a:off x="88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16" name="Line 68"/>
            <p:cNvSpPr>
              <a:spLocks noChangeShapeType="1"/>
            </p:cNvSpPr>
            <p:nvPr/>
          </p:nvSpPr>
          <p:spPr bwMode="auto">
            <a:xfrm flipV="1">
              <a:off x="792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7" name="Line 69"/>
          <p:cNvSpPr>
            <a:spLocks noChangeShapeType="1"/>
          </p:cNvSpPr>
          <p:nvPr/>
        </p:nvSpPr>
        <p:spPr bwMode="auto">
          <a:xfrm>
            <a:off x="2514600" y="30480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9" name="Group 70"/>
          <p:cNvGrpSpPr>
            <a:grpSpLocks/>
          </p:cNvGrpSpPr>
          <p:nvPr/>
        </p:nvGrpSpPr>
        <p:grpSpPr bwMode="auto">
          <a:xfrm>
            <a:off x="3124200" y="2971800"/>
            <a:ext cx="533400" cy="152400"/>
            <a:chOff x="696" y="1440"/>
            <a:chExt cx="336" cy="96"/>
          </a:xfrm>
        </p:grpSpPr>
        <p:grpSp>
          <p:nvGrpSpPr>
            <p:cNvPr id="10" name="Group 71"/>
            <p:cNvGrpSpPr>
              <a:grpSpLocks/>
            </p:cNvGrpSpPr>
            <p:nvPr/>
          </p:nvGrpSpPr>
          <p:grpSpPr bwMode="auto">
            <a:xfrm>
              <a:off x="696" y="1440"/>
              <a:ext cx="336" cy="96"/>
              <a:chOff x="696" y="1440"/>
              <a:chExt cx="336" cy="96"/>
            </a:xfrm>
          </p:grpSpPr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>
                <a:off x="84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>
                <a:off x="888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2" name="Line 74"/>
              <p:cNvSpPr>
                <a:spLocks noChangeShapeType="1"/>
              </p:cNvSpPr>
              <p:nvPr/>
            </p:nvSpPr>
            <p:spPr bwMode="auto">
              <a:xfrm>
                <a:off x="696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>
                <a:off x="88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 flipV="1">
              <a:off x="792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5" name="Line 77"/>
          <p:cNvSpPr>
            <a:spLocks noChangeShapeType="1"/>
          </p:cNvSpPr>
          <p:nvPr/>
        </p:nvSpPr>
        <p:spPr bwMode="auto">
          <a:xfrm>
            <a:off x="3657600" y="30480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6" name="Rectangle 78"/>
          <p:cNvSpPr>
            <a:spLocks noChangeArrowheads="1"/>
          </p:cNvSpPr>
          <p:nvPr/>
        </p:nvSpPr>
        <p:spPr bwMode="auto">
          <a:xfrm>
            <a:off x="577850" y="2774950"/>
            <a:ext cx="10223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SWD_I[VI_RDMC]</a:t>
            </a:r>
          </a:p>
        </p:txBody>
      </p:sp>
      <p:sp>
        <p:nvSpPr>
          <p:cNvPr id="2127" name="Rectangle 79"/>
          <p:cNvSpPr>
            <a:spLocks noChangeArrowheads="1"/>
          </p:cNvSpPr>
          <p:nvPr/>
        </p:nvSpPr>
        <p:spPr bwMode="auto">
          <a:xfrm>
            <a:off x="1784350" y="2768600"/>
            <a:ext cx="10223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ERD_Door_Err</a:t>
            </a:r>
          </a:p>
        </p:txBody>
      </p:sp>
      <p:sp>
        <p:nvSpPr>
          <p:cNvPr id="2128" name="Rectangle 80"/>
          <p:cNvSpPr>
            <a:spLocks noChangeArrowheads="1"/>
          </p:cNvSpPr>
          <p:nvPr/>
        </p:nvSpPr>
        <p:spPr bwMode="auto">
          <a:xfrm>
            <a:off x="3175000" y="2781300"/>
            <a:ext cx="5524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TCD97</a:t>
            </a:r>
          </a:p>
        </p:txBody>
      </p:sp>
      <p:sp>
        <p:nvSpPr>
          <p:cNvPr id="2129" name="Rectangle 81"/>
          <p:cNvSpPr>
            <a:spLocks noChangeArrowheads="1"/>
          </p:cNvSpPr>
          <p:nvPr/>
        </p:nvSpPr>
        <p:spPr bwMode="auto">
          <a:xfrm>
            <a:off x="1111250" y="30226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0x8060</a:t>
            </a:r>
          </a:p>
        </p:txBody>
      </p:sp>
      <p:grpSp>
        <p:nvGrpSpPr>
          <p:cNvPr id="11" name="Group 82"/>
          <p:cNvGrpSpPr>
            <a:grpSpLocks/>
          </p:cNvGrpSpPr>
          <p:nvPr/>
        </p:nvGrpSpPr>
        <p:grpSpPr bwMode="auto">
          <a:xfrm>
            <a:off x="838200" y="3581400"/>
            <a:ext cx="533400" cy="152400"/>
            <a:chOff x="240" y="1440"/>
            <a:chExt cx="336" cy="96"/>
          </a:xfrm>
        </p:grpSpPr>
        <p:sp>
          <p:nvSpPr>
            <p:cNvPr id="2131" name="Line 83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2" name="Line 84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3" name="Line 85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34" name="Line 86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35" name="Rectangle 87"/>
          <p:cNvSpPr>
            <a:spLocks noChangeArrowheads="1"/>
          </p:cNvSpPr>
          <p:nvPr/>
        </p:nvSpPr>
        <p:spPr bwMode="auto">
          <a:xfrm>
            <a:off x="812800" y="3371850"/>
            <a:ext cx="6508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check_out</a:t>
            </a:r>
          </a:p>
        </p:txBody>
      </p:sp>
      <p:sp>
        <p:nvSpPr>
          <p:cNvPr id="2136" name="Line 88"/>
          <p:cNvSpPr>
            <a:spLocks noChangeShapeType="1"/>
          </p:cNvSpPr>
          <p:nvPr/>
        </p:nvSpPr>
        <p:spPr bwMode="auto">
          <a:xfrm>
            <a:off x="152400" y="3657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7" name="Line 89"/>
          <p:cNvSpPr>
            <a:spLocks noChangeShapeType="1"/>
          </p:cNvSpPr>
          <p:nvPr/>
        </p:nvSpPr>
        <p:spPr bwMode="auto">
          <a:xfrm>
            <a:off x="1371600" y="3657600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38" name="Rectangle 90"/>
          <p:cNvSpPr>
            <a:spLocks noChangeArrowheads="1"/>
          </p:cNvSpPr>
          <p:nvPr/>
        </p:nvSpPr>
        <p:spPr bwMode="auto">
          <a:xfrm>
            <a:off x="3581400" y="3429000"/>
            <a:ext cx="12065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3625850" y="3498850"/>
            <a:ext cx="1212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TMC_Start(OLS_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ERROR_DETECT_T)</a:t>
            </a:r>
          </a:p>
        </p:txBody>
      </p:sp>
      <p:sp>
        <p:nvSpPr>
          <p:cNvPr id="2140" name="Line 92"/>
          <p:cNvSpPr>
            <a:spLocks noChangeShapeType="1"/>
          </p:cNvSpPr>
          <p:nvPr/>
        </p:nvSpPr>
        <p:spPr bwMode="auto">
          <a:xfrm>
            <a:off x="4800600" y="3657600"/>
            <a:ext cx="7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2" name="Group 93"/>
          <p:cNvGrpSpPr>
            <a:grpSpLocks/>
          </p:cNvGrpSpPr>
          <p:nvPr/>
        </p:nvGrpSpPr>
        <p:grpSpPr bwMode="auto">
          <a:xfrm>
            <a:off x="685800" y="4114800"/>
            <a:ext cx="533400" cy="152400"/>
            <a:chOff x="240" y="1440"/>
            <a:chExt cx="336" cy="96"/>
          </a:xfrm>
        </p:grpSpPr>
        <p:sp>
          <p:nvSpPr>
            <p:cNvPr id="2142" name="Line 94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3" name="Line 95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4" name="Line 96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46" name="Rectangle 98"/>
          <p:cNvSpPr>
            <a:spLocks noChangeArrowheads="1"/>
          </p:cNvSpPr>
          <p:nvPr/>
        </p:nvSpPr>
        <p:spPr bwMode="auto">
          <a:xfrm>
            <a:off x="260350" y="3803650"/>
            <a:ext cx="1490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TMC_Check(OLS_ERROR_</a:t>
            </a:r>
          </a:p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DETECT_T,FINISH_STATE)</a:t>
            </a:r>
          </a:p>
        </p:txBody>
      </p:sp>
      <p:sp>
        <p:nvSpPr>
          <p:cNvPr id="2147" name="Line 99"/>
          <p:cNvSpPr>
            <a:spLocks noChangeShapeType="1"/>
          </p:cNvSpPr>
          <p:nvPr/>
        </p:nvSpPr>
        <p:spPr bwMode="auto">
          <a:xfrm>
            <a:off x="152400" y="4191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8" name="Line 100"/>
          <p:cNvSpPr>
            <a:spLocks noChangeShapeType="1"/>
          </p:cNvSpPr>
          <p:nvPr/>
        </p:nvSpPr>
        <p:spPr bwMode="auto">
          <a:xfrm>
            <a:off x="2286000" y="41910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49" name="Rectangle 101"/>
          <p:cNvSpPr>
            <a:spLocks noChangeArrowheads="1"/>
          </p:cNvSpPr>
          <p:nvPr/>
        </p:nvSpPr>
        <p:spPr bwMode="auto">
          <a:xfrm>
            <a:off x="4114800" y="3962400"/>
            <a:ext cx="673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150" name="Rectangle 102"/>
          <p:cNvSpPr>
            <a:spLocks noChangeArrowheads="1"/>
          </p:cNvSpPr>
          <p:nvPr/>
        </p:nvSpPr>
        <p:spPr bwMode="auto">
          <a:xfrm>
            <a:off x="4114800" y="3962400"/>
            <a:ext cx="6032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188</a:t>
            </a:r>
          </a:p>
        </p:txBody>
      </p:sp>
      <p:grpSp>
        <p:nvGrpSpPr>
          <p:cNvPr id="13" name="Group 103"/>
          <p:cNvGrpSpPr>
            <a:grpSpLocks/>
          </p:cNvGrpSpPr>
          <p:nvPr/>
        </p:nvGrpSpPr>
        <p:grpSpPr bwMode="auto">
          <a:xfrm>
            <a:off x="1752600" y="4114800"/>
            <a:ext cx="533400" cy="152400"/>
            <a:chOff x="240" y="1440"/>
            <a:chExt cx="336" cy="96"/>
          </a:xfrm>
        </p:grpSpPr>
        <p:sp>
          <p:nvSpPr>
            <p:cNvPr id="2152" name="Line 104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3" name="Line 105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4" name="Line 106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55" name="Line 107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56" name="Line 108"/>
          <p:cNvSpPr>
            <a:spLocks noChangeShapeType="1"/>
          </p:cNvSpPr>
          <p:nvPr/>
        </p:nvSpPr>
        <p:spPr bwMode="auto">
          <a:xfrm>
            <a:off x="1219200" y="4191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7" name="Rectangle 109"/>
          <p:cNvSpPr>
            <a:spLocks noChangeArrowheads="1"/>
          </p:cNvSpPr>
          <p:nvPr/>
        </p:nvSpPr>
        <p:spPr bwMode="auto">
          <a:xfrm>
            <a:off x="1765300" y="3911600"/>
            <a:ext cx="15113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Coil[SW_GS_DOOR_ZONE]</a:t>
            </a:r>
          </a:p>
        </p:txBody>
      </p:sp>
      <p:sp>
        <p:nvSpPr>
          <p:cNvPr id="2158" name="Rectangle 110"/>
          <p:cNvSpPr>
            <a:spLocks noChangeArrowheads="1"/>
          </p:cNvSpPr>
          <p:nvPr/>
        </p:nvSpPr>
        <p:spPr bwMode="auto">
          <a:xfrm>
            <a:off x="2044700" y="41656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0x9250</a:t>
            </a:r>
          </a:p>
        </p:txBody>
      </p:sp>
      <p:sp>
        <p:nvSpPr>
          <p:cNvPr id="2159" name="Line 111"/>
          <p:cNvSpPr>
            <a:spLocks noChangeShapeType="1"/>
          </p:cNvSpPr>
          <p:nvPr/>
        </p:nvSpPr>
        <p:spPr bwMode="auto">
          <a:xfrm>
            <a:off x="914400" y="47244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0" name="Line 112"/>
          <p:cNvSpPr>
            <a:spLocks noChangeShapeType="1"/>
          </p:cNvSpPr>
          <p:nvPr/>
        </p:nvSpPr>
        <p:spPr bwMode="auto">
          <a:xfrm>
            <a:off x="990600" y="47244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1" name="Line 113"/>
          <p:cNvSpPr>
            <a:spLocks noChangeShapeType="1"/>
          </p:cNvSpPr>
          <p:nvPr/>
        </p:nvSpPr>
        <p:spPr bwMode="auto">
          <a:xfrm>
            <a:off x="990600" y="48006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2" name="Line 114"/>
          <p:cNvSpPr>
            <a:spLocks noChangeShapeType="1"/>
          </p:cNvSpPr>
          <p:nvPr/>
        </p:nvSpPr>
        <p:spPr bwMode="auto">
          <a:xfrm flipV="1">
            <a:off x="838200" y="4724400"/>
            <a:ext cx="228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3" name="Line 115"/>
          <p:cNvSpPr>
            <a:spLocks noChangeShapeType="1"/>
          </p:cNvSpPr>
          <p:nvPr/>
        </p:nvSpPr>
        <p:spPr bwMode="auto">
          <a:xfrm>
            <a:off x="914400" y="4191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4" name="Line 116"/>
          <p:cNvSpPr>
            <a:spLocks noChangeShapeType="1"/>
          </p:cNvSpPr>
          <p:nvPr/>
        </p:nvSpPr>
        <p:spPr bwMode="auto">
          <a:xfrm>
            <a:off x="1219200" y="4800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4" name="Group 117"/>
          <p:cNvGrpSpPr>
            <a:grpSpLocks/>
          </p:cNvGrpSpPr>
          <p:nvPr/>
        </p:nvGrpSpPr>
        <p:grpSpPr bwMode="auto">
          <a:xfrm>
            <a:off x="1524000" y="4724400"/>
            <a:ext cx="533400" cy="152400"/>
            <a:chOff x="240" y="1440"/>
            <a:chExt cx="336" cy="96"/>
          </a:xfrm>
        </p:grpSpPr>
        <p:sp>
          <p:nvSpPr>
            <p:cNvPr id="2166" name="Line 118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7" name="Line 119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8" name="Line 120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69" name="Line 121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5" name="Group 122"/>
          <p:cNvGrpSpPr>
            <a:grpSpLocks/>
          </p:cNvGrpSpPr>
          <p:nvPr/>
        </p:nvGrpSpPr>
        <p:grpSpPr bwMode="auto">
          <a:xfrm>
            <a:off x="2743200" y="4724400"/>
            <a:ext cx="533400" cy="152400"/>
            <a:chOff x="240" y="1440"/>
            <a:chExt cx="336" cy="96"/>
          </a:xfrm>
        </p:grpSpPr>
        <p:sp>
          <p:nvSpPr>
            <p:cNvPr id="2171" name="Line 123"/>
            <p:cNvSpPr>
              <a:spLocks noChangeShapeType="1"/>
            </p:cNvSpPr>
            <p:nvPr/>
          </p:nvSpPr>
          <p:spPr bwMode="auto">
            <a:xfrm>
              <a:off x="38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2" name="Line 124"/>
            <p:cNvSpPr>
              <a:spLocks noChangeShapeType="1"/>
            </p:cNvSpPr>
            <p:nvPr/>
          </p:nvSpPr>
          <p:spPr bwMode="auto">
            <a:xfrm>
              <a:off x="432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3" name="Line 125"/>
            <p:cNvSpPr>
              <a:spLocks noChangeShapeType="1"/>
            </p:cNvSpPr>
            <p:nvPr/>
          </p:nvSpPr>
          <p:spPr bwMode="auto">
            <a:xfrm>
              <a:off x="24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74" name="Line 126"/>
            <p:cNvSpPr>
              <a:spLocks noChangeShapeType="1"/>
            </p:cNvSpPr>
            <p:nvPr/>
          </p:nvSpPr>
          <p:spPr bwMode="auto">
            <a:xfrm>
              <a:off x="432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75" name="Line 127"/>
          <p:cNvSpPr>
            <a:spLocks noChangeShapeType="1"/>
          </p:cNvSpPr>
          <p:nvPr/>
        </p:nvSpPr>
        <p:spPr bwMode="auto">
          <a:xfrm>
            <a:off x="2057400" y="4800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6" name="Line 128"/>
          <p:cNvSpPr>
            <a:spLocks noChangeShapeType="1"/>
          </p:cNvSpPr>
          <p:nvPr/>
        </p:nvSpPr>
        <p:spPr bwMode="auto">
          <a:xfrm>
            <a:off x="3276600" y="4800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7" name="Line 129"/>
          <p:cNvSpPr>
            <a:spLocks noChangeShapeType="1"/>
          </p:cNvSpPr>
          <p:nvPr/>
        </p:nvSpPr>
        <p:spPr bwMode="auto">
          <a:xfrm>
            <a:off x="3581400" y="48006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6" name="Group 130"/>
          <p:cNvGrpSpPr>
            <a:grpSpLocks/>
          </p:cNvGrpSpPr>
          <p:nvPr/>
        </p:nvGrpSpPr>
        <p:grpSpPr bwMode="auto">
          <a:xfrm>
            <a:off x="2819400" y="5486400"/>
            <a:ext cx="533400" cy="152400"/>
            <a:chOff x="696" y="1440"/>
            <a:chExt cx="336" cy="96"/>
          </a:xfrm>
        </p:grpSpPr>
        <p:grpSp>
          <p:nvGrpSpPr>
            <p:cNvPr id="17" name="Group 131"/>
            <p:cNvGrpSpPr>
              <a:grpSpLocks/>
            </p:cNvGrpSpPr>
            <p:nvPr/>
          </p:nvGrpSpPr>
          <p:grpSpPr bwMode="auto">
            <a:xfrm>
              <a:off x="696" y="1440"/>
              <a:ext cx="336" cy="96"/>
              <a:chOff x="696" y="1440"/>
              <a:chExt cx="336" cy="96"/>
            </a:xfrm>
          </p:grpSpPr>
          <p:sp>
            <p:nvSpPr>
              <p:cNvPr id="2180" name="Line 132"/>
              <p:cNvSpPr>
                <a:spLocks noChangeShapeType="1"/>
              </p:cNvSpPr>
              <p:nvPr/>
            </p:nvSpPr>
            <p:spPr bwMode="auto">
              <a:xfrm>
                <a:off x="84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1" name="Line 133"/>
              <p:cNvSpPr>
                <a:spLocks noChangeShapeType="1"/>
              </p:cNvSpPr>
              <p:nvPr/>
            </p:nvSpPr>
            <p:spPr bwMode="auto">
              <a:xfrm>
                <a:off x="888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2" name="Line 134"/>
              <p:cNvSpPr>
                <a:spLocks noChangeShapeType="1"/>
              </p:cNvSpPr>
              <p:nvPr/>
            </p:nvSpPr>
            <p:spPr bwMode="auto">
              <a:xfrm>
                <a:off x="696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3" name="Line 135"/>
              <p:cNvSpPr>
                <a:spLocks noChangeShapeType="1"/>
              </p:cNvSpPr>
              <p:nvPr/>
            </p:nvSpPr>
            <p:spPr bwMode="auto">
              <a:xfrm>
                <a:off x="88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84" name="Line 136"/>
            <p:cNvSpPr>
              <a:spLocks noChangeShapeType="1"/>
            </p:cNvSpPr>
            <p:nvPr/>
          </p:nvSpPr>
          <p:spPr bwMode="auto">
            <a:xfrm flipV="1">
              <a:off x="792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8" name="Group 137"/>
          <p:cNvGrpSpPr>
            <a:grpSpLocks/>
          </p:cNvGrpSpPr>
          <p:nvPr/>
        </p:nvGrpSpPr>
        <p:grpSpPr bwMode="auto">
          <a:xfrm>
            <a:off x="1676400" y="5486400"/>
            <a:ext cx="533400" cy="152400"/>
            <a:chOff x="696" y="1440"/>
            <a:chExt cx="336" cy="96"/>
          </a:xfrm>
        </p:grpSpPr>
        <p:grpSp>
          <p:nvGrpSpPr>
            <p:cNvPr id="19" name="Group 138"/>
            <p:cNvGrpSpPr>
              <a:grpSpLocks/>
            </p:cNvGrpSpPr>
            <p:nvPr/>
          </p:nvGrpSpPr>
          <p:grpSpPr bwMode="auto">
            <a:xfrm>
              <a:off x="696" y="1440"/>
              <a:ext cx="336" cy="96"/>
              <a:chOff x="696" y="1440"/>
              <a:chExt cx="336" cy="96"/>
            </a:xfrm>
          </p:grpSpPr>
          <p:sp>
            <p:nvSpPr>
              <p:cNvPr id="2187" name="Line 139"/>
              <p:cNvSpPr>
                <a:spLocks noChangeShapeType="1"/>
              </p:cNvSpPr>
              <p:nvPr/>
            </p:nvSpPr>
            <p:spPr bwMode="auto">
              <a:xfrm>
                <a:off x="840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8" name="Line 140"/>
              <p:cNvSpPr>
                <a:spLocks noChangeShapeType="1"/>
              </p:cNvSpPr>
              <p:nvPr/>
            </p:nvSpPr>
            <p:spPr bwMode="auto">
              <a:xfrm>
                <a:off x="888" y="144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89" name="Line 141"/>
              <p:cNvSpPr>
                <a:spLocks noChangeShapeType="1"/>
              </p:cNvSpPr>
              <p:nvPr/>
            </p:nvSpPr>
            <p:spPr bwMode="auto">
              <a:xfrm>
                <a:off x="696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90" name="Line 142"/>
              <p:cNvSpPr>
                <a:spLocks noChangeShapeType="1"/>
              </p:cNvSpPr>
              <p:nvPr/>
            </p:nvSpPr>
            <p:spPr bwMode="auto">
              <a:xfrm>
                <a:off x="888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91" name="Line 143"/>
            <p:cNvSpPr>
              <a:spLocks noChangeShapeType="1"/>
            </p:cNvSpPr>
            <p:nvPr/>
          </p:nvSpPr>
          <p:spPr bwMode="auto">
            <a:xfrm flipV="1">
              <a:off x="792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92" name="Line 144"/>
          <p:cNvSpPr>
            <a:spLocks noChangeShapeType="1"/>
          </p:cNvSpPr>
          <p:nvPr/>
        </p:nvSpPr>
        <p:spPr bwMode="auto">
          <a:xfrm>
            <a:off x="1219200" y="51054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3" name="Line 145"/>
          <p:cNvSpPr>
            <a:spLocks noChangeShapeType="1"/>
          </p:cNvSpPr>
          <p:nvPr/>
        </p:nvSpPr>
        <p:spPr bwMode="auto">
          <a:xfrm>
            <a:off x="1219200" y="5105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4" name="Line 146"/>
          <p:cNvSpPr>
            <a:spLocks noChangeShapeType="1"/>
          </p:cNvSpPr>
          <p:nvPr/>
        </p:nvSpPr>
        <p:spPr bwMode="auto">
          <a:xfrm>
            <a:off x="1219200" y="55626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5" name="Line 147"/>
          <p:cNvSpPr>
            <a:spLocks noChangeShapeType="1"/>
          </p:cNvSpPr>
          <p:nvPr/>
        </p:nvSpPr>
        <p:spPr bwMode="auto">
          <a:xfrm>
            <a:off x="2209800" y="55626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6" name="Line 148"/>
          <p:cNvSpPr>
            <a:spLocks noChangeShapeType="1"/>
          </p:cNvSpPr>
          <p:nvPr/>
        </p:nvSpPr>
        <p:spPr bwMode="auto">
          <a:xfrm>
            <a:off x="3352800" y="5562600"/>
            <a:ext cx="152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97" name="Rectangle 149"/>
          <p:cNvSpPr>
            <a:spLocks noChangeArrowheads="1"/>
          </p:cNvSpPr>
          <p:nvPr/>
        </p:nvSpPr>
        <p:spPr bwMode="auto">
          <a:xfrm>
            <a:off x="4114800" y="5334000"/>
            <a:ext cx="673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198" name="Rectangle 150"/>
          <p:cNvSpPr>
            <a:spLocks noChangeArrowheads="1"/>
          </p:cNvSpPr>
          <p:nvPr/>
        </p:nvSpPr>
        <p:spPr bwMode="auto">
          <a:xfrm>
            <a:off x="4114800" y="5334000"/>
            <a:ext cx="6032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188</a:t>
            </a:r>
          </a:p>
        </p:txBody>
      </p:sp>
      <p:sp>
        <p:nvSpPr>
          <p:cNvPr id="2199" name="Rectangle 151"/>
          <p:cNvSpPr>
            <a:spLocks noChangeArrowheads="1"/>
          </p:cNvSpPr>
          <p:nvPr/>
        </p:nvSpPr>
        <p:spPr bwMode="auto">
          <a:xfrm>
            <a:off x="3886200" y="5334000"/>
            <a:ext cx="1524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200" name="Rectangle 152"/>
          <p:cNvSpPr>
            <a:spLocks noChangeArrowheads="1"/>
          </p:cNvSpPr>
          <p:nvPr/>
        </p:nvSpPr>
        <p:spPr bwMode="auto">
          <a:xfrm>
            <a:off x="3841750" y="5334000"/>
            <a:ext cx="2286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R</a:t>
            </a:r>
          </a:p>
        </p:txBody>
      </p:sp>
      <p:sp>
        <p:nvSpPr>
          <p:cNvPr id="2201" name="Rectangle 153"/>
          <p:cNvSpPr>
            <a:spLocks noChangeArrowheads="1"/>
          </p:cNvSpPr>
          <p:nvPr/>
        </p:nvSpPr>
        <p:spPr bwMode="auto">
          <a:xfrm>
            <a:off x="1284288" y="4521200"/>
            <a:ext cx="93186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SWD_I[VI_CDS]</a:t>
            </a:r>
          </a:p>
        </p:txBody>
      </p:sp>
      <p:sp>
        <p:nvSpPr>
          <p:cNvPr id="2202" name="Rectangle 154"/>
          <p:cNvSpPr>
            <a:spLocks noChangeArrowheads="1"/>
          </p:cNvSpPr>
          <p:nvPr/>
        </p:nvSpPr>
        <p:spPr bwMode="auto">
          <a:xfrm>
            <a:off x="2514600" y="4521200"/>
            <a:ext cx="9398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Coil[DC_F_CLS]</a:t>
            </a:r>
          </a:p>
        </p:txBody>
      </p:sp>
      <p:sp>
        <p:nvSpPr>
          <p:cNvPr id="2203" name="Rectangle 155"/>
          <p:cNvSpPr>
            <a:spLocks noChangeArrowheads="1"/>
          </p:cNvSpPr>
          <p:nvPr/>
        </p:nvSpPr>
        <p:spPr bwMode="auto">
          <a:xfrm>
            <a:off x="1435100" y="5276850"/>
            <a:ext cx="10223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SWD_I[VI_DOLS]</a:t>
            </a:r>
          </a:p>
        </p:txBody>
      </p:sp>
      <p:sp>
        <p:nvSpPr>
          <p:cNvPr id="2204" name="Rectangle 156"/>
          <p:cNvSpPr>
            <a:spLocks noChangeArrowheads="1"/>
          </p:cNvSpPr>
          <p:nvPr/>
        </p:nvSpPr>
        <p:spPr bwMode="auto">
          <a:xfrm>
            <a:off x="2825750" y="5295900"/>
            <a:ext cx="5524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eaLnBrk="0" latinLnBrk="0" hangingPunct="0"/>
            <a:r>
              <a:rPr lang="en-US" altLang="ko-KR" sz="800">
                <a:latin typeface="Arial" charset="0"/>
                <a:ea typeface="굴림체" pitchFamily="49" charset="-127"/>
              </a:rPr>
              <a:t>TCD97</a:t>
            </a:r>
          </a:p>
        </p:txBody>
      </p:sp>
      <p:sp>
        <p:nvSpPr>
          <p:cNvPr id="2205" name="Rectangle 157"/>
          <p:cNvSpPr>
            <a:spLocks noChangeArrowheads="1"/>
          </p:cNvSpPr>
          <p:nvPr/>
        </p:nvSpPr>
        <p:spPr bwMode="auto">
          <a:xfrm>
            <a:off x="1797050" y="476250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0x802B</a:t>
            </a:r>
          </a:p>
        </p:txBody>
      </p:sp>
      <p:sp>
        <p:nvSpPr>
          <p:cNvPr id="2206" name="Rectangle 158"/>
          <p:cNvSpPr>
            <a:spLocks noChangeArrowheads="1"/>
          </p:cNvSpPr>
          <p:nvPr/>
        </p:nvSpPr>
        <p:spPr bwMode="auto">
          <a:xfrm>
            <a:off x="1955800" y="5537200"/>
            <a:ext cx="4889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0x802D</a:t>
            </a:r>
          </a:p>
        </p:txBody>
      </p:sp>
      <p:sp>
        <p:nvSpPr>
          <p:cNvPr id="2207" name="Rectangle 159"/>
          <p:cNvSpPr>
            <a:spLocks noChangeArrowheads="1"/>
          </p:cNvSpPr>
          <p:nvPr/>
        </p:nvSpPr>
        <p:spPr bwMode="auto">
          <a:xfrm>
            <a:off x="3016250" y="4768850"/>
            <a:ext cx="484188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0x90B5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196850" y="457200"/>
            <a:ext cx="717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191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ER_DOOR_COMMAND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2324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DOOR OPEN/CLOSE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동시 지령 검출 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066800"/>
            <a:ext cx="3995738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DOC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PIN(OPEN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(CLOSE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전압을 아래와 같이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                   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발생 시               지령 차단 시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CA-1 (OPEN)               0.7±0.1V                   48V±10%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CA-2 (CLOSE)             0.7±0.1V                   48V±10%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*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지령의 확인 방법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ANN.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행의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13,14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OPEN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발생시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1’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14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CLOSE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 발생시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1’ 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OPEN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CLOSE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차단되었는데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48V±10%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아닌 경우의 조치 사항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1) DOC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커넥터를 빼고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1,2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EARTH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절연을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2)  1)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항에서 이상이 없으면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불량임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3. 1,2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항에서 이상이 없을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DCD-210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불량이므로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1905000"/>
            <a:ext cx="416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DOOR OPEN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CLOSE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지령이 동시에 입력될 경우에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B/D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에서 검출하여 카 통신으로 운전측에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발생을 알린다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196850" y="457200"/>
            <a:ext cx="717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192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ER_DOOR_POSI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1847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위치 검출기 고장 검출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143000"/>
            <a:ext cx="3995738" cy="451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( SBD1 DOOR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적용시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endParaRPr lang="en-US" altLang="ko-KR" sz="1000" b="1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DCD-21x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JN2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결선을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        JN2-1     JN2-2     JN2-3     JN2-4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 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적색        백색        녹색       흑색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DCD-21x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JN2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전원 전압을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1) JN2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PIN(GND)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15V±10%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정상임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2) 15V±10%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아닌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JN2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커넥터를 빼고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DCD-210 B/D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상에서 전압을 재 측정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3) 2)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항에서 측정한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15V±10%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엔코더 불량임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4) 2)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항에서 측정한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15V±10%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아니면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DCD-210 B/D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불량임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DCD-21x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JN2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신호 전압을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1) JN2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PIN(GND)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신호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 전압을 측정하면서 도어 모터를 손으로 극 저속으로 돌려본다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멈춘 상태에서 전압을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 측정하여  측정 전압이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15V±10%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미만이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이상씩  검출되면 로터리 엔코더의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상은 정상임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2) 1)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항과 같은 방법으로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JN2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 신호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이상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 유무를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3) 1), 2)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항이 정상인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DCD-21x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불량임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CLS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OLS Switch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정상적으로 동작하는지 확인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Switch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(SAV1,MAV1,DAV1,HAV1 Door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적용시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endParaRPr lang="en-US" altLang="ko-KR" sz="1000" b="1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1. Door Thermal,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전압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,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전류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check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할 것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2. PCB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교환 할 것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.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1905000"/>
            <a:ext cx="4433888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( SBD1 Door 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적용시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용 로터리 엔코더가 고장나거나 단선되었을 경우 발생한다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 시점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1) 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저속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Mode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일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도어 전개 후에 검출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&amp;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정지한다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2) DOOR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고속 개폐중인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즉시 검출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&amp;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정지한다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검출하여 카 통신으로 운전측에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발생을 알린다</a:t>
            </a:r>
          </a:p>
          <a:p>
            <a:pPr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(SAV1,MAV1,DAV1,HAV1 Door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적용시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endParaRPr lang="en-US" altLang="ko-KR" sz="1000" b="1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Door PCB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Door Thermal,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저전압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,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과전압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,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과전류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발생시</a:t>
            </a:r>
          </a:p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Error TCD 192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발생함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196850" y="457200"/>
            <a:ext cx="717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193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ER_DOOR_VOLTAGE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1431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전압 이상 검출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3995738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DCD-21x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PJ1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전원 전압을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PJ1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전압이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AC110V±20%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 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정상임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항의 확인 결과가 정상인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DCD-21x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불량임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항의 확인 결과가 비정상인 경우 아래의 사항을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1) MAIN FFB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380V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전원 전압을 측정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323V ~ 418V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정상임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2) 1)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항의 확인 결과가 정상인 경우 제어 트랜스 불량임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1905000"/>
            <a:ext cx="48101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DCD-21x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입력 전압이 일정 이상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이거나 일정 이하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저전압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일 경우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검출하여 카 통신으로 운전측에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발생을 알린다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1)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저전압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AC 77V (110V -30%)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검출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과전압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AC 154V (110V +40%)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검출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196850" y="457200"/>
            <a:ext cx="717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194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ER_DOOR_MOTOR_THERMAL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1431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 과열 검출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029200" y="1066800"/>
            <a:ext cx="3995738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실제로 도어 모터가 과열되어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 과열 발생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FRAME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온도는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100 ℃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이상이 되므로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실제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과열 상황인지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* </a:t>
            </a:r>
            <a:r>
              <a:rPr lang="ko-KR" altLang="en-US" sz="1000" b="1" u="sng">
                <a:latin typeface="Arial" charset="0"/>
                <a:ea typeface="굴림체" pitchFamily="49" charset="-127"/>
              </a:rPr>
              <a:t>주의</a:t>
            </a:r>
            <a:r>
              <a:rPr lang="en-US" altLang="ko-KR" sz="1000" b="1" u="sng">
                <a:latin typeface="Arial" charset="0"/>
                <a:ea typeface="굴림체" pitchFamily="49" charset="-127"/>
              </a:rPr>
              <a:t>!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: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실제 과열 상황의 경우 화상을 입을 수 있으므로 </a:t>
            </a:r>
          </a:p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                   주의 요망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항에서 실제 과열 상황일 경우 아래의 조치를 취한다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1)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도어의 개폐를 방해하는 방해물이 있는 경우 이를 찾아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제거한다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2) TCD 191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조치 사항 중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1,2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항에 해당하는 부분을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참고하여 조치한다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*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주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 과열은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1),2)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항이 복합된 고장인 경우에만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발생 가능하다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실제 과열 상황이 아닌 경우 전원을 끈 상태에서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DCD-21x B/D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PJ2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PLUG HOUSING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뽑은 후에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4,5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단락 여부를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1)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단락 되어 있는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DCD-21x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불량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2) OPEN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있는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 불량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1905000"/>
            <a:ext cx="41354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도어 모터 내부의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COIL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온도가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130℃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 상승했을 경우에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B/D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에서 검출하여 카 통신으로 운전측에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발생을 알린다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196850" y="457200"/>
            <a:ext cx="717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195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415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PI-1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ER_DOOR_OC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1270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DOOR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과전류 검출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066800"/>
            <a:ext cx="3995738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DCD-210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PJ2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커넥터를 뽑은 후에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PLUG HOUSING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모터측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아래 사항을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1) PJ2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1,2,3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 출력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EARTH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절연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2) PJ2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1,2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저항치 확인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50W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모터의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17.6Ω±10%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80W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모터의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10Ω±10%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3) 2)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항과 같은 방법으로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1,3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 및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2,3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저항치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확인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가지 항목 중 한가지라도 만족 안되면 모터 불량임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2.  1.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항의 확인 결과가 정상인 경우의 확인 사항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전원을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상태에서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1) PJ2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1,2,3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모터 출력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EARTH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절연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2) PJ2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1,2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2,3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1,3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간의 절연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3. 2.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항의 확인 결과가 불만족일 경우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이물질이 끼어 있거나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기구박스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FRAME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SHORT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있는지 확인하고 정상일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DCD-210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1905000"/>
            <a:ext cx="219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152400" y="1981200"/>
            <a:ext cx="457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DCD-210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인버터 부에 과전류가 흐른 경우에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DOOR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검출하여 카 통신으로 운전측에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발생을 알린다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192088" y="4572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TCD 199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3438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393113" y="457200"/>
            <a:ext cx="512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Si210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ER_PCB_PROTECT_FAIL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0" y="53340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5575" y="1917700"/>
            <a:ext cx="4721225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8" rIns="91434" bIns="45718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PCB PROTECTION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모드가 동작되는 중에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승인 불허 사항이 발생하였음을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의미함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endParaRPr lang="en-US" altLang="ko-KR" sz="1000">
              <a:latin typeface="Arial" charset="0"/>
              <a:ea typeface="굴림체" pitchFamily="49" charset="-127"/>
            </a:endParaRP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Software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주기로 승인번호와 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PCB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있는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데이터와 비교하여 아래의 조건 중 하나라도 만족이 안되면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endParaRPr lang="en-US" altLang="ko-KR" sz="1000">
              <a:latin typeface="Arial" charset="0"/>
              <a:ea typeface="굴림체" pitchFamily="49" charset="-127"/>
            </a:endParaRP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1.  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저장된 암호화된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Main LON Neuron ID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  현재 통신을 통해 읽은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Main LON Neuron ID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암호화 한 데이터가 다를 경우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2. 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저장된 암호화된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DCL-241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Car LON Neuron ID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  현재 통신을 통해 읽은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Car LON Neuron ID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암호화 한 데이터가 다를 경우</a:t>
            </a:r>
          </a:p>
          <a:p>
            <a:endParaRPr lang="ko-KR" altLang="en-US" sz="1000">
              <a:latin typeface="Arial" charset="0"/>
              <a:ea typeface="굴림체" pitchFamily="49" charset="-127"/>
            </a:endParaRP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</a:t>
            </a:r>
          </a:p>
          <a:p>
            <a:endParaRPr lang="ko-KR" altLang="en-US" sz="1000">
              <a:latin typeface="Arial" charset="0"/>
              <a:ea typeface="굴림체" pitchFamily="49" charset="-127"/>
            </a:endParaRP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*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저장된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PCB PROTECTION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관련 데이터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Password(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보수원 사번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	          :  6 Byte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    PCB_Protection(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승인번호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           : 9 Byte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암호화 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Main LON Neuron ID    : 6 Byte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암호화 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Car LON Neuron ID      : 6 Byte </a:t>
            </a:r>
          </a:p>
          <a:p>
            <a:endParaRPr lang="en-US" altLang="ko-KR" sz="1000">
              <a:latin typeface="Arial" charset="0"/>
              <a:ea typeface="굴림체" pitchFamily="49" charset="-127"/>
            </a:endParaRP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*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위에서 사번과 승인번호는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Neuron ID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암호화 하기 위하여 사용됨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533400" y="838200"/>
            <a:ext cx="4360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PCB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보안 승인이 실패한 경우에 발생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DOC-1xx B/D, DCL-241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교체하거나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깨어진 경우에 발생함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180975" y="5638800"/>
            <a:ext cx="3375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ko-KR" altLang="en-US" sz="1000">
                <a:latin typeface="Arial" charset="0"/>
                <a:ea typeface="굴림체" pitchFamily="49" charset="-127"/>
              </a:rPr>
              <a:t>보수 운전 모드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(ACD=04)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전환되고 자동운전이 불허됨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5006975" y="1116013"/>
            <a:ext cx="3987800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1. 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DCL-241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 한 후에 승인 작업을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하였는가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?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만약 상기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교체 후 승인 작업을 하지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않았다면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HPC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이용하여 승인작업을 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2. 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 이상이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만약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ROM Write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안 되면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(TCD 76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정상적으로 승인</a:t>
            </a:r>
          </a:p>
          <a:p>
            <a:r>
              <a:rPr lang="ko-KR" altLang="en-US" sz="1000">
                <a:latin typeface="Arial" charset="0"/>
                <a:ea typeface="굴림체" pitchFamily="49" charset="-127"/>
              </a:rPr>
              <a:t>    작업이 불가능하므로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 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90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200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ER_CNET_SYNC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0" y="5713413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488950" y="854075"/>
            <a:ext cx="3190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Main LON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186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간에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DPRAM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통신이 수행되지 않음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5029200" y="1143000"/>
            <a:ext cx="4038600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RESET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 후 계속하여 같은 현상이 발생하면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ROM(OS ROM)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Main LON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제대로 꽂혀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항을 조치하여도 같은 현상이 발생하면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운전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ROM(OS ROM)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Main LON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교체한다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항을 조치하여도 같은 현상이 발생하면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128588" y="1905000"/>
            <a:ext cx="475456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i186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SYSTEM INPUT PORT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BIT(DPRAM READY:0x10)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High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상태이고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Token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Pass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되지 않은 상태가 연속하여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주기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(180ms)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이상이면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Main LON CPU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동작되지 않을 때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(i186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SYSTEM INPUT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PORT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BIT(CNET_CPU_ERR:0x04)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High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상태이면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152400" y="6019800"/>
            <a:ext cx="1987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4" tIns="45718" rIns="91434" bIns="45718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LON 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소등됨</a:t>
            </a:r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152400" y="3048000"/>
            <a:ext cx="0" cy="2286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4876800" y="3048000"/>
            <a:ext cx="0" cy="2286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>
            <a:off x="152400" y="3886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152400" y="3581400"/>
            <a:ext cx="14779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*SYS_INPUT_PORT &amp; 0x10</a:t>
            </a:r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>
            <a:off x="2133600" y="38862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4114800" y="3638550"/>
            <a:ext cx="609600" cy="476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4114800" y="3657600"/>
            <a:ext cx="6159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err_count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1600200" y="3810000"/>
            <a:ext cx="533400" cy="152400"/>
            <a:chOff x="264" y="1488"/>
            <a:chExt cx="336" cy="96"/>
          </a:xfrm>
        </p:grpSpPr>
        <p:grpSp>
          <p:nvGrpSpPr>
            <p:cNvPr id="3" name="Group 32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081" name="Line 33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83" name="Line 35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84" name="Line 36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85" name="Line 37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1625600" y="3949700"/>
            <a:ext cx="474663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0x9300</a:t>
            </a:r>
          </a:p>
        </p:txBody>
      </p: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457200" y="3810000"/>
            <a:ext cx="533400" cy="152400"/>
            <a:chOff x="720" y="1488"/>
            <a:chExt cx="336" cy="96"/>
          </a:xfrm>
        </p:grpSpPr>
        <p:sp>
          <p:nvSpPr>
            <p:cNvPr id="2088" name="Line 40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9" name="Line 41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2" name="Line 44"/>
          <p:cNvSpPr>
            <a:spLocks noChangeShapeType="1"/>
          </p:cNvSpPr>
          <p:nvPr/>
        </p:nvSpPr>
        <p:spPr bwMode="auto">
          <a:xfrm>
            <a:off x="990600" y="38862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1600200" y="3581400"/>
            <a:ext cx="13477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Coil[VALID_186_TOKEN]</a:t>
            </a:r>
          </a:p>
        </p:txBody>
      </p:sp>
      <p:sp>
        <p:nvSpPr>
          <p:cNvPr id="2094" name="Line 46"/>
          <p:cNvSpPr>
            <a:spLocks noChangeShapeType="1"/>
          </p:cNvSpPr>
          <p:nvPr/>
        </p:nvSpPr>
        <p:spPr bwMode="auto">
          <a:xfrm>
            <a:off x="152400" y="32766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685800" y="3200400"/>
            <a:ext cx="533400" cy="152400"/>
            <a:chOff x="720" y="1488"/>
            <a:chExt cx="336" cy="96"/>
          </a:xfrm>
        </p:grpSpPr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7" name="Line 49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8" name="Line 50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0" name="Rectangle 52"/>
          <p:cNvSpPr>
            <a:spLocks noChangeArrowheads="1"/>
          </p:cNvSpPr>
          <p:nvPr/>
        </p:nvSpPr>
        <p:spPr bwMode="auto">
          <a:xfrm>
            <a:off x="196850" y="3003550"/>
            <a:ext cx="14605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I186EC_Port3_Input &amp; 0x20</a:t>
            </a:r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1219200" y="32766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2" name="Rectangle 54"/>
          <p:cNvSpPr>
            <a:spLocks noChangeArrowheads="1"/>
          </p:cNvSpPr>
          <p:nvPr/>
        </p:nvSpPr>
        <p:spPr bwMode="auto">
          <a:xfrm>
            <a:off x="3460750" y="3048000"/>
            <a:ext cx="1263650" cy="476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3" name="Rectangle 55"/>
          <p:cNvSpPr>
            <a:spLocks noChangeArrowheads="1"/>
          </p:cNvSpPr>
          <p:nvPr/>
        </p:nvSpPr>
        <p:spPr bwMode="auto">
          <a:xfrm>
            <a:off x="3435350" y="3073400"/>
            <a:ext cx="13477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Coil[VALID_186_TOKEN]</a:t>
            </a:r>
          </a:p>
        </p:txBody>
      </p:sp>
      <p:sp>
        <p:nvSpPr>
          <p:cNvPr id="2104" name="Rectangle 56"/>
          <p:cNvSpPr>
            <a:spLocks noChangeArrowheads="1"/>
          </p:cNvSpPr>
          <p:nvPr/>
        </p:nvSpPr>
        <p:spPr bwMode="auto">
          <a:xfrm>
            <a:off x="3886200" y="3657600"/>
            <a:ext cx="2857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+1</a:t>
            </a:r>
          </a:p>
        </p:txBody>
      </p:sp>
      <p:sp>
        <p:nvSpPr>
          <p:cNvPr id="2105" name="Line 57"/>
          <p:cNvSpPr>
            <a:spLocks noChangeShapeType="1"/>
          </p:cNvSpPr>
          <p:nvPr/>
        </p:nvSpPr>
        <p:spPr bwMode="auto">
          <a:xfrm>
            <a:off x="2286000" y="3886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6" name="Group 58"/>
          <p:cNvGrpSpPr>
            <a:grpSpLocks/>
          </p:cNvGrpSpPr>
          <p:nvPr/>
        </p:nvGrpSpPr>
        <p:grpSpPr bwMode="auto">
          <a:xfrm>
            <a:off x="2590800" y="4419600"/>
            <a:ext cx="533400" cy="152400"/>
            <a:chOff x="720" y="1488"/>
            <a:chExt cx="336" cy="96"/>
          </a:xfrm>
        </p:grpSpPr>
        <p:sp>
          <p:nvSpPr>
            <p:cNvPr id="2107" name="Line 59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8" name="Line 60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9" name="Line 61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0" name="Line 62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11" name="Line 63"/>
          <p:cNvSpPr>
            <a:spLocks noChangeShapeType="1"/>
          </p:cNvSpPr>
          <p:nvPr/>
        </p:nvSpPr>
        <p:spPr bwMode="auto">
          <a:xfrm>
            <a:off x="2286000" y="4495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2" name="Line 64"/>
          <p:cNvSpPr>
            <a:spLocks noChangeShapeType="1"/>
          </p:cNvSpPr>
          <p:nvPr/>
        </p:nvSpPr>
        <p:spPr bwMode="auto">
          <a:xfrm>
            <a:off x="3124200" y="449580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3" name="Rectangle 65"/>
          <p:cNvSpPr>
            <a:spLocks noChangeArrowheads="1"/>
          </p:cNvSpPr>
          <p:nvPr/>
        </p:nvSpPr>
        <p:spPr bwMode="auto">
          <a:xfrm>
            <a:off x="4114800" y="4267200"/>
            <a:ext cx="609600" cy="476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4" name="Rectangle 66"/>
          <p:cNvSpPr>
            <a:spLocks noChangeArrowheads="1"/>
          </p:cNvSpPr>
          <p:nvPr/>
        </p:nvSpPr>
        <p:spPr bwMode="auto">
          <a:xfrm>
            <a:off x="4114800" y="428625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200</a:t>
            </a:r>
          </a:p>
        </p:txBody>
      </p:sp>
      <p:sp>
        <p:nvSpPr>
          <p:cNvPr id="2115" name="Rectangle 67"/>
          <p:cNvSpPr>
            <a:spLocks noChangeArrowheads="1"/>
          </p:cNvSpPr>
          <p:nvPr/>
        </p:nvSpPr>
        <p:spPr bwMode="auto">
          <a:xfrm>
            <a:off x="2463800" y="4222750"/>
            <a:ext cx="7889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err_count &gt; 5</a:t>
            </a:r>
          </a:p>
        </p:txBody>
      </p:sp>
      <p:sp>
        <p:nvSpPr>
          <p:cNvPr id="2116" name="Line 68"/>
          <p:cNvSpPr>
            <a:spLocks noChangeShapeType="1"/>
          </p:cNvSpPr>
          <p:nvPr/>
        </p:nvSpPr>
        <p:spPr bwMode="auto">
          <a:xfrm>
            <a:off x="152400" y="5029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7" name="Group 69"/>
          <p:cNvGrpSpPr>
            <a:grpSpLocks/>
          </p:cNvGrpSpPr>
          <p:nvPr/>
        </p:nvGrpSpPr>
        <p:grpSpPr bwMode="auto">
          <a:xfrm>
            <a:off x="457200" y="4953000"/>
            <a:ext cx="533400" cy="152400"/>
            <a:chOff x="720" y="1488"/>
            <a:chExt cx="336" cy="96"/>
          </a:xfrm>
        </p:grpSpPr>
        <p:sp>
          <p:nvSpPr>
            <p:cNvPr id="2118" name="Line 70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19" name="Line 71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0" name="Line 72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21" name="Line 73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22" name="Line 74"/>
          <p:cNvSpPr>
            <a:spLocks noChangeShapeType="1"/>
          </p:cNvSpPr>
          <p:nvPr/>
        </p:nvSpPr>
        <p:spPr bwMode="auto">
          <a:xfrm>
            <a:off x="990600" y="50292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23" name="Rectangle 75"/>
          <p:cNvSpPr>
            <a:spLocks noChangeArrowheads="1"/>
          </p:cNvSpPr>
          <p:nvPr/>
        </p:nvSpPr>
        <p:spPr bwMode="auto">
          <a:xfrm>
            <a:off x="228600" y="4724400"/>
            <a:ext cx="147796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*SYS_INPUT_PORT &amp; 0x04</a:t>
            </a:r>
          </a:p>
        </p:txBody>
      </p:sp>
      <p:sp>
        <p:nvSpPr>
          <p:cNvPr id="2124" name="Line 76"/>
          <p:cNvSpPr>
            <a:spLocks noChangeShapeType="1"/>
          </p:cNvSpPr>
          <p:nvPr/>
        </p:nvSpPr>
        <p:spPr bwMode="auto">
          <a:xfrm>
            <a:off x="3429000" y="44958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90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202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ER_CNET_COM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0" y="4267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33400" y="838200"/>
            <a:ext cx="2628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Main OPB( OPB  ID = 1 )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통신 이상</a:t>
            </a: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52400" y="1981200"/>
            <a:ext cx="0" cy="736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4876800" y="1981200"/>
            <a:ext cx="0" cy="738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152400" y="22860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609600" y="1981200"/>
            <a:ext cx="16224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CND_OPB_Node_State &amp; 0x01</a:t>
            </a:r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1600200" y="2286000"/>
            <a:ext cx="3276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4038600" y="2038350"/>
            <a:ext cx="685800" cy="476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4114800" y="2057400"/>
            <a:ext cx="5921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202</a:t>
            </a:r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177800" y="2946400"/>
            <a:ext cx="4724400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*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카통신 보드의 통신 이상은</a:t>
            </a:r>
            <a:r>
              <a:rPr lang="en-US" altLang="ko-KR" sz="800">
                <a:latin typeface="Arial" charset="0"/>
                <a:ea typeface="굴림체" pitchFamily="49" charset="-127"/>
              </a:rPr>
              <a:t>(TCD 202)  MAIN LON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에서 검출하여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DPRAM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에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write</a:t>
            </a:r>
            <a:r>
              <a:rPr lang="ko-KR" altLang="en-US" sz="800">
                <a:latin typeface="Arial" charset="0"/>
                <a:ea typeface="굴림체" pitchFamily="49" charset="-127"/>
              </a:rPr>
              <a:t>하며 해당 데이터를  읽어 저장한  변수가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CND_OPB_Node_State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이다</a:t>
            </a:r>
            <a:r>
              <a:rPr lang="en-US" altLang="ko-KR" sz="8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  </a:t>
            </a:r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5105400" y="1143000"/>
            <a:ext cx="3998913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LON LED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점멸 상태 확인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0.06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주기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DCL-24x 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점멸 상태 확인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정상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0.2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주기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LON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통신용 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(SC)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바르게 연결 되어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DCL-24x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OPB  ID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되어 있는지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(DIP 1 ‘ON’)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DCL-24x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내에 종단저항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(DIP 8)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설정되어 있는지  확인한다</a:t>
            </a:r>
            <a:r>
              <a:rPr lang="en-US" altLang="ko-KR" sz="9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6. SC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1,2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PIN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양단간의 저항을 측정한다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10 </a:t>
            </a:r>
            <a:r>
              <a:rPr lang="en-US" altLang="ko-KR" sz="1000">
                <a:latin typeface="Arial" charset="0"/>
                <a:ea typeface="굴림체" pitchFamily="49" charset="-127"/>
                <a:sym typeface="Symbol" pitchFamily="18" charset="2"/>
              </a:rPr>
              <a:t>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정도 나오면 정상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저항 값이 나오지 않으면 단선 확인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7. DOC-1xx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Main LON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DCL-24x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ROM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8. DCL-24x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9. DOC-1xx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152400" y="4572000"/>
            <a:ext cx="30289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4" tIns="45718" rIns="91434" bIns="45718">
            <a:spAutoFit/>
          </a:bodyPr>
          <a:lstStyle/>
          <a:p>
            <a:r>
              <a:rPr lang="en-US" altLang="ko-KR" sz="1000">
                <a:latin typeface="Arial" charset="0"/>
                <a:ea typeface="굴림체" pitchFamily="49" charset="-127"/>
              </a:rPr>
              <a:t>DOC-1xx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LON 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1.2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주기로 점멸하거나 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DCL-24x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LED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1.2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주기로 점멸</a:t>
            </a:r>
          </a:p>
          <a:p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143000" y="2209800"/>
            <a:ext cx="533400" cy="152400"/>
            <a:chOff x="264" y="1488"/>
            <a:chExt cx="336" cy="96"/>
          </a:xfrm>
        </p:grpSpPr>
        <p:grpSp>
          <p:nvGrpSpPr>
            <p:cNvPr id="3" name="Group 31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080" name="Line 32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81" name="Line 33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82" name="Line 34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83" name="Line 35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84" name="Line 36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90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211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ER_OTHER_CAR1_COM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2425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병렬 운전 시 타호기와의 통신이상 검출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>
            <a:off x="4953000" y="2090738"/>
            <a:ext cx="0" cy="1363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1905000"/>
            <a:ext cx="4724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병렬 운전 시 상대 호기와의 데이터 전송은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90ms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마다 이루어 지며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 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이상 상대 호기로부터  데이터의 전송이 없을 때 발생한다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G/A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타호기로의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TxFail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연속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회 발생하였을 경우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5029200" y="1066800"/>
            <a:ext cx="4038600" cy="128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병렬운전 사양인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SPEC1(DIP S/W)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번이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ON’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으로 되어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있어야 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단독운전 사양의 경우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OFF’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되어 있을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호기간 통신 라인의 결선을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통신라인은 트위스트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Shield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선 일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종단 저항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(HJP-SH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점퍼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처리 되었는지 확인 할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아래의 그림처럼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호기에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Line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연결되어 있는 경우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호기의 종단저항을 처리하지 않고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호기만 종단 저항을 처리한다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endParaRPr lang="en-US" altLang="ko-KR" sz="800">
              <a:latin typeface="Arial" charset="0"/>
              <a:ea typeface="굴림체" pitchFamily="49" charset="-127"/>
            </a:endParaRP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5924550" y="3268663"/>
            <a:ext cx="785813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6248400" y="3886200"/>
            <a:ext cx="935038" cy="84138"/>
            <a:chOff x="3627" y="2125"/>
            <a:chExt cx="291" cy="84"/>
          </a:xfrm>
        </p:grpSpPr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3627" y="2125"/>
              <a:ext cx="54" cy="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 flipH="1">
              <a:off x="3864" y="2125"/>
              <a:ext cx="54" cy="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>
              <a:off x="3678" y="2209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6000750" y="3802063"/>
            <a:ext cx="762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7037388" y="3614738"/>
            <a:ext cx="3095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SL</a:t>
            </a:r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6076950" y="3040063"/>
            <a:ext cx="15906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1</a:t>
            </a:r>
            <a:r>
              <a:rPr lang="ko-KR" altLang="en-US" sz="800">
                <a:latin typeface="Arial" charset="0"/>
                <a:ea typeface="굴림체" pitchFamily="49" charset="-127"/>
              </a:rPr>
              <a:t>호기                              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2</a:t>
            </a:r>
            <a:r>
              <a:rPr lang="ko-KR" altLang="en-US" sz="800">
                <a:latin typeface="Arial" charset="0"/>
                <a:ea typeface="굴림체" pitchFamily="49" charset="-127"/>
              </a:rPr>
              <a:t>호기</a:t>
            </a:r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6088063" y="3562350"/>
            <a:ext cx="114300" cy="25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079" name="Line 31"/>
          <p:cNvSpPr>
            <a:spLocks noChangeShapeType="1"/>
          </p:cNvSpPr>
          <p:nvPr/>
        </p:nvSpPr>
        <p:spPr bwMode="auto">
          <a:xfrm flipV="1">
            <a:off x="6111875" y="3467100"/>
            <a:ext cx="0" cy="90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080" name="Line 32"/>
          <p:cNvSpPr>
            <a:spLocks noChangeShapeType="1"/>
          </p:cNvSpPr>
          <p:nvPr/>
        </p:nvSpPr>
        <p:spPr bwMode="auto">
          <a:xfrm flipV="1">
            <a:off x="6170613" y="3470275"/>
            <a:ext cx="0" cy="90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6013450" y="3462338"/>
            <a:ext cx="115888" cy="682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082" name="Line 34"/>
          <p:cNvSpPr>
            <a:spLocks noChangeShapeType="1"/>
          </p:cNvSpPr>
          <p:nvPr/>
        </p:nvSpPr>
        <p:spPr bwMode="auto">
          <a:xfrm>
            <a:off x="6013450" y="3486150"/>
            <a:ext cx="1222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0" tIns="46035" rIns="92070" bIns="46035">
            <a:spAutoFit/>
          </a:bodyPr>
          <a:lstStyle/>
          <a:p>
            <a:endParaRPr lang="ko-KR" altLang="en-US"/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5937250" y="3287713"/>
            <a:ext cx="5461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HJP SH</a:t>
            </a:r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7162800" y="3352800"/>
            <a:ext cx="546100" cy="300038"/>
            <a:chOff x="3999" y="1827"/>
            <a:chExt cx="344" cy="189"/>
          </a:xfrm>
        </p:grpSpPr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4094" y="2000"/>
              <a:ext cx="72" cy="1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0" tIns="46035" rIns="92070" bIns="46035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6" name="Line 38"/>
            <p:cNvSpPr>
              <a:spLocks noChangeShapeType="1"/>
            </p:cNvSpPr>
            <p:nvPr/>
          </p:nvSpPr>
          <p:spPr bwMode="auto">
            <a:xfrm flipV="1">
              <a:off x="4109" y="1940"/>
              <a:ext cx="0" cy="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70" tIns="46035" rIns="92070" bIns="46035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7" name="Line 39"/>
            <p:cNvSpPr>
              <a:spLocks noChangeShapeType="1"/>
            </p:cNvSpPr>
            <p:nvPr/>
          </p:nvSpPr>
          <p:spPr bwMode="auto">
            <a:xfrm flipV="1">
              <a:off x="4146" y="1942"/>
              <a:ext cx="0" cy="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70" tIns="46035" rIns="92070" bIns="46035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8" name="Rectangle 40"/>
            <p:cNvSpPr>
              <a:spLocks noChangeArrowheads="1"/>
            </p:cNvSpPr>
            <p:nvPr/>
          </p:nvSpPr>
          <p:spPr bwMode="auto">
            <a:xfrm>
              <a:off x="4092" y="1941"/>
              <a:ext cx="73" cy="4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0" tIns="46035" rIns="92070" bIns="46035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9" name="Line 41"/>
            <p:cNvSpPr>
              <a:spLocks noChangeShapeType="1"/>
            </p:cNvSpPr>
            <p:nvPr/>
          </p:nvSpPr>
          <p:spPr bwMode="auto">
            <a:xfrm>
              <a:off x="4091" y="1952"/>
              <a:ext cx="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70" tIns="46035" rIns="92070" bIns="46035">
              <a:spAutoFit/>
            </a:bodyPr>
            <a:lstStyle/>
            <a:p>
              <a:endParaRPr lang="ko-KR" altLang="en-US"/>
            </a:p>
          </p:txBody>
        </p:sp>
        <p:sp>
          <p:nvSpPr>
            <p:cNvPr id="2090" name="Rectangle 42"/>
            <p:cNvSpPr>
              <a:spLocks noChangeArrowheads="1"/>
            </p:cNvSpPr>
            <p:nvPr/>
          </p:nvSpPr>
          <p:spPr bwMode="auto">
            <a:xfrm>
              <a:off x="3999" y="1827"/>
              <a:ext cx="344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0" tIns="46035" rIns="92070" bIns="46035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HJP SH</a:t>
              </a:r>
            </a:p>
          </p:txBody>
        </p:sp>
      </p:grpSp>
      <p:sp>
        <p:nvSpPr>
          <p:cNvPr id="2091" name="Rectangle 43"/>
          <p:cNvSpPr>
            <a:spLocks noChangeArrowheads="1"/>
          </p:cNvSpPr>
          <p:nvPr/>
        </p:nvSpPr>
        <p:spPr bwMode="auto">
          <a:xfrm>
            <a:off x="7067550" y="3268663"/>
            <a:ext cx="785813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2" name="Rectangle 44"/>
          <p:cNvSpPr>
            <a:spLocks noChangeArrowheads="1"/>
          </p:cNvSpPr>
          <p:nvPr/>
        </p:nvSpPr>
        <p:spPr bwMode="auto">
          <a:xfrm>
            <a:off x="7143750" y="3802063"/>
            <a:ext cx="762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5867400" y="3624263"/>
            <a:ext cx="3254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SH</a:t>
            </a:r>
          </a:p>
        </p:txBody>
      </p:sp>
      <p:sp>
        <p:nvSpPr>
          <p:cNvPr id="2094" name="Line 46"/>
          <p:cNvSpPr>
            <a:spLocks noChangeShapeType="1"/>
          </p:cNvSpPr>
          <p:nvPr/>
        </p:nvSpPr>
        <p:spPr bwMode="auto">
          <a:xfrm>
            <a:off x="6010275" y="3878263"/>
            <a:ext cx="617538" cy="455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5" name="Line 47"/>
          <p:cNvSpPr>
            <a:spLocks noChangeShapeType="1"/>
          </p:cNvSpPr>
          <p:nvPr/>
        </p:nvSpPr>
        <p:spPr bwMode="auto">
          <a:xfrm>
            <a:off x="6632575" y="4567238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6" name="Line 48"/>
          <p:cNvSpPr>
            <a:spLocks noChangeShapeType="1"/>
          </p:cNvSpPr>
          <p:nvPr/>
        </p:nvSpPr>
        <p:spPr bwMode="auto">
          <a:xfrm>
            <a:off x="6642100" y="5540375"/>
            <a:ext cx="0" cy="185738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7" name="Line 49"/>
          <p:cNvSpPr>
            <a:spLocks noChangeShapeType="1"/>
          </p:cNvSpPr>
          <p:nvPr/>
        </p:nvSpPr>
        <p:spPr bwMode="auto">
          <a:xfrm>
            <a:off x="6635750" y="6022975"/>
            <a:ext cx="128588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8" name="Line 50"/>
          <p:cNvSpPr>
            <a:spLocks noChangeShapeType="1"/>
          </p:cNvSpPr>
          <p:nvPr/>
        </p:nvSpPr>
        <p:spPr bwMode="auto">
          <a:xfrm>
            <a:off x="6646863" y="5845175"/>
            <a:ext cx="0" cy="185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6619875" y="4318000"/>
            <a:ext cx="271463" cy="287338"/>
            <a:chOff x="3284" y="2486"/>
            <a:chExt cx="171" cy="181"/>
          </a:xfrm>
        </p:grpSpPr>
        <p:grpSp>
          <p:nvGrpSpPr>
            <p:cNvPr id="5" name="Group 52"/>
            <p:cNvGrpSpPr>
              <a:grpSpLocks/>
            </p:cNvGrpSpPr>
            <p:nvPr/>
          </p:nvGrpSpPr>
          <p:grpSpPr bwMode="auto">
            <a:xfrm>
              <a:off x="3284" y="2492"/>
              <a:ext cx="81" cy="159"/>
              <a:chOff x="3289" y="2311"/>
              <a:chExt cx="81" cy="159"/>
            </a:xfrm>
          </p:grpSpPr>
          <p:sp>
            <p:nvSpPr>
              <p:cNvPr id="2101" name="Line 53"/>
              <p:cNvSpPr>
                <a:spLocks noChangeShapeType="1"/>
              </p:cNvSpPr>
              <p:nvPr/>
            </p:nvSpPr>
            <p:spPr bwMode="auto">
              <a:xfrm>
                <a:off x="3289" y="231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2" name="Line 54"/>
              <p:cNvSpPr>
                <a:spLocks noChangeShapeType="1"/>
              </p:cNvSpPr>
              <p:nvPr/>
            </p:nvSpPr>
            <p:spPr bwMode="auto">
              <a:xfrm flipV="1">
                <a:off x="3289" y="2389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3364" y="2486"/>
              <a:ext cx="91" cy="1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56"/>
          <p:cNvGrpSpPr>
            <a:grpSpLocks/>
          </p:cNvGrpSpPr>
          <p:nvPr/>
        </p:nvGrpSpPr>
        <p:grpSpPr bwMode="auto">
          <a:xfrm>
            <a:off x="6626225" y="5181600"/>
            <a:ext cx="271463" cy="287338"/>
            <a:chOff x="3284" y="2486"/>
            <a:chExt cx="171" cy="181"/>
          </a:xfrm>
        </p:grpSpPr>
        <p:grpSp>
          <p:nvGrpSpPr>
            <p:cNvPr id="7" name="Group 57"/>
            <p:cNvGrpSpPr>
              <a:grpSpLocks/>
            </p:cNvGrpSpPr>
            <p:nvPr/>
          </p:nvGrpSpPr>
          <p:grpSpPr bwMode="auto">
            <a:xfrm>
              <a:off x="3284" y="2492"/>
              <a:ext cx="81" cy="159"/>
              <a:chOff x="3289" y="2311"/>
              <a:chExt cx="81" cy="159"/>
            </a:xfrm>
          </p:grpSpPr>
          <p:sp>
            <p:nvSpPr>
              <p:cNvPr id="2106" name="Line 58"/>
              <p:cNvSpPr>
                <a:spLocks noChangeShapeType="1"/>
              </p:cNvSpPr>
              <p:nvPr/>
            </p:nvSpPr>
            <p:spPr bwMode="auto">
              <a:xfrm>
                <a:off x="3289" y="231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07" name="Line 59"/>
              <p:cNvSpPr>
                <a:spLocks noChangeShapeType="1"/>
              </p:cNvSpPr>
              <p:nvPr/>
            </p:nvSpPr>
            <p:spPr bwMode="auto">
              <a:xfrm flipV="1">
                <a:off x="3289" y="2389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08" name="Rectangle 60"/>
            <p:cNvSpPr>
              <a:spLocks noChangeArrowheads="1"/>
            </p:cNvSpPr>
            <p:nvPr/>
          </p:nvSpPr>
          <p:spPr bwMode="auto">
            <a:xfrm>
              <a:off x="3364" y="2486"/>
              <a:ext cx="91" cy="1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9" name="Rectangle 61"/>
          <p:cNvSpPr>
            <a:spLocks noChangeArrowheads="1"/>
          </p:cNvSpPr>
          <p:nvPr/>
        </p:nvSpPr>
        <p:spPr bwMode="auto">
          <a:xfrm>
            <a:off x="6759575" y="6010275"/>
            <a:ext cx="144463" cy="2873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6653213" y="4113213"/>
            <a:ext cx="6143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DHG-160</a:t>
            </a:r>
          </a:p>
        </p:txBody>
      </p:sp>
      <p:sp>
        <p:nvSpPr>
          <p:cNvPr id="2111" name="Rectangle 63"/>
          <p:cNvSpPr>
            <a:spLocks noChangeArrowheads="1"/>
          </p:cNvSpPr>
          <p:nvPr/>
        </p:nvSpPr>
        <p:spPr bwMode="auto">
          <a:xfrm>
            <a:off x="6691313" y="4976813"/>
            <a:ext cx="6143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DHG-160</a:t>
            </a:r>
          </a:p>
        </p:txBody>
      </p:sp>
      <p:sp>
        <p:nvSpPr>
          <p:cNvPr id="2112" name="Rectangle 64"/>
          <p:cNvSpPr>
            <a:spLocks noChangeArrowheads="1"/>
          </p:cNvSpPr>
          <p:nvPr/>
        </p:nvSpPr>
        <p:spPr bwMode="auto">
          <a:xfrm>
            <a:off x="6691313" y="5808663"/>
            <a:ext cx="6143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DHG-160</a:t>
            </a:r>
          </a:p>
        </p:txBody>
      </p:sp>
      <p:grpSp>
        <p:nvGrpSpPr>
          <p:cNvPr id="8" name="Group 65"/>
          <p:cNvGrpSpPr>
            <a:grpSpLocks/>
          </p:cNvGrpSpPr>
          <p:nvPr/>
        </p:nvGrpSpPr>
        <p:grpSpPr bwMode="auto">
          <a:xfrm flipH="1">
            <a:off x="6343650" y="4310063"/>
            <a:ext cx="369888" cy="287337"/>
            <a:chOff x="4708" y="3464"/>
            <a:chExt cx="231" cy="181"/>
          </a:xfrm>
        </p:grpSpPr>
        <p:grpSp>
          <p:nvGrpSpPr>
            <p:cNvPr id="9" name="Group 66"/>
            <p:cNvGrpSpPr>
              <a:grpSpLocks/>
            </p:cNvGrpSpPr>
            <p:nvPr/>
          </p:nvGrpSpPr>
          <p:grpSpPr bwMode="auto">
            <a:xfrm>
              <a:off x="4848" y="3464"/>
              <a:ext cx="91" cy="181"/>
              <a:chOff x="3788" y="2542"/>
              <a:chExt cx="91" cy="181"/>
            </a:xfrm>
          </p:grpSpPr>
          <p:sp>
            <p:nvSpPr>
              <p:cNvPr id="2115" name="Rectangle 67"/>
              <p:cNvSpPr>
                <a:spLocks noChangeArrowheads="1"/>
              </p:cNvSpPr>
              <p:nvPr/>
            </p:nvSpPr>
            <p:spPr bwMode="auto">
              <a:xfrm>
                <a:off x="3788" y="2542"/>
                <a:ext cx="91" cy="1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6" name="AutoShape 68"/>
              <p:cNvSpPr>
                <a:spLocks noChangeArrowheads="1"/>
              </p:cNvSpPr>
              <p:nvPr/>
            </p:nvSpPr>
            <p:spPr bwMode="auto">
              <a:xfrm>
                <a:off x="3809" y="2560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17" name="AutoShape 69"/>
              <p:cNvSpPr>
                <a:spLocks noChangeArrowheads="1"/>
              </p:cNvSpPr>
              <p:nvPr/>
            </p:nvSpPr>
            <p:spPr bwMode="auto">
              <a:xfrm rot="10800000" flipH="1">
                <a:off x="3809" y="2644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18" name="Line 70"/>
            <p:cNvSpPr>
              <a:spLocks noChangeShapeType="1"/>
            </p:cNvSpPr>
            <p:nvPr/>
          </p:nvSpPr>
          <p:spPr bwMode="auto">
            <a:xfrm>
              <a:off x="4708" y="3552"/>
              <a:ext cx="1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0" name="Group 71"/>
          <p:cNvGrpSpPr>
            <a:grpSpLocks/>
          </p:cNvGrpSpPr>
          <p:nvPr/>
        </p:nvGrpSpPr>
        <p:grpSpPr bwMode="auto">
          <a:xfrm flipH="1">
            <a:off x="6391275" y="5173663"/>
            <a:ext cx="369888" cy="287337"/>
            <a:chOff x="4708" y="3464"/>
            <a:chExt cx="231" cy="181"/>
          </a:xfrm>
        </p:grpSpPr>
        <p:grpSp>
          <p:nvGrpSpPr>
            <p:cNvPr id="11" name="Group 72"/>
            <p:cNvGrpSpPr>
              <a:grpSpLocks/>
            </p:cNvGrpSpPr>
            <p:nvPr/>
          </p:nvGrpSpPr>
          <p:grpSpPr bwMode="auto">
            <a:xfrm>
              <a:off x="4848" y="3464"/>
              <a:ext cx="91" cy="181"/>
              <a:chOff x="3788" y="2542"/>
              <a:chExt cx="91" cy="181"/>
            </a:xfrm>
          </p:grpSpPr>
          <p:sp>
            <p:nvSpPr>
              <p:cNvPr id="2121" name="Rectangle 73"/>
              <p:cNvSpPr>
                <a:spLocks noChangeArrowheads="1"/>
              </p:cNvSpPr>
              <p:nvPr/>
            </p:nvSpPr>
            <p:spPr bwMode="auto">
              <a:xfrm>
                <a:off x="3788" y="2542"/>
                <a:ext cx="91" cy="1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2" name="AutoShape 74"/>
              <p:cNvSpPr>
                <a:spLocks noChangeArrowheads="1"/>
              </p:cNvSpPr>
              <p:nvPr/>
            </p:nvSpPr>
            <p:spPr bwMode="auto">
              <a:xfrm>
                <a:off x="3809" y="2560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3" name="AutoShape 75"/>
              <p:cNvSpPr>
                <a:spLocks noChangeArrowheads="1"/>
              </p:cNvSpPr>
              <p:nvPr/>
            </p:nvSpPr>
            <p:spPr bwMode="auto">
              <a:xfrm rot="10800000" flipH="1">
                <a:off x="3809" y="2644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24" name="Line 76"/>
            <p:cNvSpPr>
              <a:spLocks noChangeShapeType="1"/>
            </p:cNvSpPr>
            <p:nvPr/>
          </p:nvSpPr>
          <p:spPr bwMode="auto">
            <a:xfrm>
              <a:off x="4708" y="3552"/>
              <a:ext cx="1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2" name="Group 77"/>
          <p:cNvGrpSpPr>
            <a:grpSpLocks/>
          </p:cNvGrpSpPr>
          <p:nvPr/>
        </p:nvGrpSpPr>
        <p:grpSpPr bwMode="auto">
          <a:xfrm flipH="1">
            <a:off x="6388100" y="6037263"/>
            <a:ext cx="369888" cy="287337"/>
            <a:chOff x="4708" y="3464"/>
            <a:chExt cx="231" cy="181"/>
          </a:xfrm>
        </p:grpSpPr>
        <p:grpSp>
          <p:nvGrpSpPr>
            <p:cNvPr id="13" name="Group 78"/>
            <p:cNvGrpSpPr>
              <a:grpSpLocks/>
            </p:cNvGrpSpPr>
            <p:nvPr/>
          </p:nvGrpSpPr>
          <p:grpSpPr bwMode="auto">
            <a:xfrm>
              <a:off x="4848" y="3464"/>
              <a:ext cx="91" cy="181"/>
              <a:chOff x="3788" y="2542"/>
              <a:chExt cx="91" cy="181"/>
            </a:xfrm>
          </p:grpSpPr>
          <p:sp>
            <p:nvSpPr>
              <p:cNvPr id="2127" name="Rectangle 79"/>
              <p:cNvSpPr>
                <a:spLocks noChangeArrowheads="1"/>
              </p:cNvSpPr>
              <p:nvPr/>
            </p:nvSpPr>
            <p:spPr bwMode="auto">
              <a:xfrm>
                <a:off x="3788" y="2542"/>
                <a:ext cx="91" cy="1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8" name="AutoShape 80"/>
              <p:cNvSpPr>
                <a:spLocks noChangeArrowheads="1"/>
              </p:cNvSpPr>
              <p:nvPr/>
            </p:nvSpPr>
            <p:spPr bwMode="auto">
              <a:xfrm>
                <a:off x="3809" y="2560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29" name="AutoShape 81"/>
              <p:cNvSpPr>
                <a:spLocks noChangeArrowheads="1"/>
              </p:cNvSpPr>
              <p:nvPr/>
            </p:nvSpPr>
            <p:spPr bwMode="auto">
              <a:xfrm rot="10800000" flipH="1">
                <a:off x="3809" y="2644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30" name="Line 82"/>
            <p:cNvSpPr>
              <a:spLocks noChangeShapeType="1"/>
            </p:cNvSpPr>
            <p:nvPr/>
          </p:nvSpPr>
          <p:spPr bwMode="auto">
            <a:xfrm>
              <a:off x="4708" y="3552"/>
              <a:ext cx="1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4" name="Group 83"/>
          <p:cNvGrpSpPr>
            <a:grpSpLocks/>
          </p:cNvGrpSpPr>
          <p:nvPr/>
        </p:nvGrpSpPr>
        <p:grpSpPr bwMode="auto">
          <a:xfrm>
            <a:off x="6905625" y="4308475"/>
            <a:ext cx="366713" cy="287338"/>
            <a:chOff x="4708" y="3464"/>
            <a:chExt cx="231" cy="181"/>
          </a:xfrm>
        </p:grpSpPr>
        <p:grpSp>
          <p:nvGrpSpPr>
            <p:cNvPr id="15" name="Group 84"/>
            <p:cNvGrpSpPr>
              <a:grpSpLocks/>
            </p:cNvGrpSpPr>
            <p:nvPr/>
          </p:nvGrpSpPr>
          <p:grpSpPr bwMode="auto">
            <a:xfrm>
              <a:off x="4848" y="3464"/>
              <a:ext cx="91" cy="181"/>
              <a:chOff x="3788" y="2542"/>
              <a:chExt cx="91" cy="181"/>
            </a:xfrm>
          </p:grpSpPr>
          <p:sp>
            <p:nvSpPr>
              <p:cNvPr id="2133" name="Rectangle 85"/>
              <p:cNvSpPr>
                <a:spLocks noChangeArrowheads="1"/>
              </p:cNvSpPr>
              <p:nvPr/>
            </p:nvSpPr>
            <p:spPr bwMode="auto">
              <a:xfrm>
                <a:off x="3788" y="2542"/>
                <a:ext cx="91" cy="1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4" name="AutoShape 86"/>
              <p:cNvSpPr>
                <a:spLocks noChangeArrowheads="1"/>
              </p:cNvSpPr>
              <p:nvPr/>
            </p:nvSpPr>
            <p:spPr bwMode="auto">
              <a:xfrm>
                <a:off x="3809" y="2560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35" name="AutoShape 87"/>
              <p:cNvSpPr>
                <a:spLocks noChangeArrowheads="1"/>
              </p:cNvSpPr>
              <p:nvPr/>
            </p:nvSpPr>
            <p:spPr bwMode="auto">
              <a:xfrm rot="10800000" flipH="1">
                <a:off x="3809" y="2644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36" name="Line 88"/>
            <p:cNvSpPr>
              <a:spLocks noChangeShapeType="1"/>
            </p:cNvSpPr>
            <p:nvPr/>
          </p:nvSpPr>
          <p:spPr bwMode="auto">
            <a:xfrm>
              <a:off x="4708" y="3552"/>
              <a:ext cx="1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6" name="Group 89"/>
          <p:cNvGrpSpPr>
            <a:grpSpLocks/>
          </p:cNvGrpSpPr>
          <p:nvPr/>
        </p:nvGrpSpPr>
        <p:grpSpPr bwMode="auto">
          <a:xfrm>
            <a:off x="6915150" y="5168900"/>
            <a:ext cx="366713" cy="287338"/>
            <a:chOff x="4708" y="3464"/>
            <a:chExt cx="231" cy="181"/>
          </a:xfrm>
        </p:grpSpPr>
        <p:grpSp>
          <p:nvGrpSpPr>
            <p:cNvPr id="17" name="Group 90"/>
            <p:cNvGrpSpPr>
              <a:grpSpLocks/>
            </p:cNvGrpSpPr>
            <p:nvPr/>
          </p:nvGrpSpPr>
          <p:grpSpPr bwMode="auto">
            <a:xfrm>
              <a:off x="4848" y="3464"/>
              <a:ext cx="91" cy="181"/>
              <a:chOff x="3788" y="2542"/>
              <a:chExt cx="91" cy="181"/>
            </a:xfrm>
          </p:grpSpPr>
          <p:sp>
            <p:nvSpPr>
              <p:cNvPr id="2139" name="Rectangle 91"/>
              <p:cNvSpPr>
                <a:spLocks noChangeArrowheads="1"/>
              </p:cNvSpPr>
              <p:nvPr/>
            </p:nvSpPr>
            <p:spPr bwMode="auto">
              <a:xfrm>
                <a:off x="3788" y="2542"/>
                <a:ext cx="91" cy="1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0" name="AutoShape 92"/>
              <p:cNvSpPr>
                <a:spLocks noChangeArrowheads="1"/>
              </p:cNvSpPr>
              <p:nvPr/>
            </p:nvSpPr>
            <p:spPr bwMode="auto">
              <a:xfrm>
                <a:off x="3809" y="2560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1" name="AutoShape 93"/>
              <p:cNvSpPr>
                <a:spLocks noChangeArrowheads="1"/>
              </p:cNvSpPr>
              <p:nvPr/>
            </p:nvSpPr>
            <p:spPr bwMode="auto">
              <a:xfrm rot="10800000" flipH="1">
                <a:off x="3809" y="2644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42" name="Line 94"/>
            <p:cNvSpPr>
              <a:spLocks noChangeShapeType="1"/>
            </p:cNvSpPr>
            <p:nvPr/>
          </p:nvSpPr>
          <p:spPr bwMode="auto">
            <a:xfrm>
              <a:off x="4708" y="3552"/>
              <a:ext cx="1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8" name="Group 95"/>
          <p:cNvGrpSpPr>
            <a:grpSpLocks/>
          </p:cNvGrpSpPr>
          <p:nvPr/>
        </p:nvGrpSpPr>
        <p:grpSpPr bwMode="auto">
          <a:xfrm>
            <a:off x="6924675" y="6029325"/>
            <a:ext cx="366713" cy="287338"/>
            <a:chOff x="4708" y="3464"/>
            <a:chExt cx="231" cy="181"/>
          </a:xfrm>
        </p:grpSpPr>
        <p:grpSp>
          <p:nvGrpSpPr>
            <p:cNvPr id="19" name="Group 96"/>
            <p:cNvGrpSpPr>
              <a:grpSpLocks/>
            </p:cNvGrpSpPr>
            <p:nvPr/>
          </p:nvGrpSpPr>
          <p:grpSpPr bwMode="auto">
            <a:xfrm>
              <a:off x="4848" y="3464"/>
              <a:ext cx="91" cy="181"/>
              <a:chOff x="3788" y="2542"/>
              <a:chExt cx="91" cy="181"/>
            </a:xfrm>
          </p:grpSpPr>
          <p:sp>
            <p:nvSpPr>
              <p:cNvPr id="2145" name="Rectangle 97"/>
              <p:cNvSpPr>
                <a:spLocks noChangeArrowheads="1"/>
              </p:cNvSpPr>
              <p:nvPr/>
            </p:nvSpPr>
            <p:spPr bwMode="auto">
              <a:xfrm>
                <a:off x="3788" y="2542"/>
                <a:ext cx="91" cy="1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6" name="AutoShape 98"/>
              <p:cNvSpPr>
                <a:spLocks noChangeArrowheads="1"/>
              </p:cNvSpPr>
              <p:nvPr/>
            </p:nvSpPr>
            <p:spPr bwMode="auto">
              <a:xfrm>
                <a:off x="3809" y="2560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47" name="AutoShape 99"/>
              <p:cNvSpPr>
                <a:spLocks noChangeArrowheads="1"/>
              </p:cNvSpPr>
              <p:nvPr/>
            </p:nvSpPr>
            <p:spPr bwMode="auto">
              <a:xfrm rot="10800000" flipH="1">
                <a:off x="3809" y="2644"/>
                <a:ext cx="52" cy="52"/>
              </a:xfrm>
              <a:prstGeom prst="triangle">
                <a:avLst>
                  <a:gd name="adj" fmla="val 4999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48" name="Line 100"/>
            <p:cNvSpPr>
              <a:spLocks noChangeShapeType="1"/>
            </p:cNvSpPr>
            <p:nvPr/>
          </p:nvSpPr>
          <p:spPr bwMode="auto">
            <a:xfrm>
              <a:off x="4708" y="3552"/>
              <a:ext cx="1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49" name="Rectangle 101"/>
          <p:cNvSpPr>
            <a:spLocks noChangeArrowheads="1"/>
          </p:cNvSpPr>
          <p:nvPr/>
        </p:nvSpPr>
        <p:spPr bwMode="auto">
          <a:xfrm>
            <a:off x="6229350" y="3802063"/>
            <a:ext cx="762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0" name="Rectangle 102"/>
          <p:cNvSpPr>
            <a:spLocks noChangeArrowheads="1"/>
          </p:cNvSpPr>
          <p:nvPr/>
        </p:nvSpPr>
        <p:spPr bwMode="auto">
          <a:xfrm>
            <a:off x="6096000" y="3624263"/>
            <a:ext cx="30956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SL</a:t>
            </a:r>
          </a:p>
        </p:txBody>
      </p:sp>
      <p:sp>
        <p:nvSpPr>
          <p:cNvPr id="2151" name="Line 103"/>
          <p:cNvSpPr>
            <a:spLocks noChangeShapeType="1"/>
          </p:cNvSpPr>
          <p:nvPr/>
        </p:nvSpPr>
        <p:spPr bwMode="auto">
          <a:xfrm>
            <a:off x="6076950" y="38354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2" name="Rectangle 104"/>
          <p:cNvSpPr>
            <a:spLocks noChangeArrowheads="1"/>
          </p:cNvSpPr>
          <p:nvPr/>
        </p:nvSpPr>
        <p:spPr bwMode="auto">
          <a:xfrm>
            <a:off x="7372350" y="3802063"/>
            <a:ext cx="762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3" name="Rectangle 105"/>
          <p:cNvSpPr>
            <a:spLocks noChangeArrowheads="1"/>
          </p:cNvSpPr>
          <p:nvPr/>
        </p:nvSpPr>
        <p:spPr bwMode="auto">
          <a:xfrm>
            <a:off x="7239000" y="3624263"/>
            <a:ext cx="3254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SH</a:t>
            </a:r>
          </a:p>
        </p:txBody>
      </p:sp>
      <p:sp>
        <p:nvSpPr>
          <p:cNvPr id="2154" name="Line 106"/>
          <p:cNvSpPr>
            <a:spLocks noChangeShapeType="1"/>
          </p:cNvSpPr>
          <p:nvPr/>
        </p:nvSpPr>
        <p:spPr bwMode="auto">
          <a:xfrm>
            <a:off x="7219950" y="38354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5" name="Rectangle 107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90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217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ER_HALL_BT_JAM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29162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Hall Button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지속적으로 눌려져 있는 상태 검출 </a:t>
            </a:r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>
            <a:off x="4953000" y="2090738"/>
            <a:ext cx="0" cy="1363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" y="1905000"/>
            <a:ext cx="472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Hall Button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지정한 시간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(Default :180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동안 연속하여 계속 눌려져 있으면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217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검출함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5029200" y="1066800"/>
            <a:ext cx="40386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Button Jam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발생층의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Button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A21E’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이용하여 발생층의 정보를 확인할 수 있음</a:t>
            </a:r>
          </a:p>
          <a:p>
            <a:pPr latinLnBrk="0"/>
            <a:endParaRPr lang="ko-KR" altLang="en-US" sz="1000">
              <a:latin typeface="Arial" charset="0"/>
              <a:ea typeface="굴림체" pitchFamily="49" charset="-127"/>
            </a:endParaRP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이상이 있을 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Button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교체한다</a:t>
            </a:r>
          </a:p>
          <a:p>
            <a:pPr latinLnBrk="0"/>
            <a:endParaRPr lang="en-US" altLang="ko-KR" sz="800">
              <a:latin typeface="Arial" charset="0"/>
              <a:ea typeface="굴림체" pitchFamily="49" charset="-127"/>
            </a:endParaRPr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152400" y="23622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4800600" y="23622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290513" y="2400300"/>
            <a:ext cx="16954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Button_Jam_Detect[0][UP_INDX]</a:t>
            </a:r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152400" y="2667000"/>
            <a:ext cx="404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3886200" y="2438400"/>
            <a:ext cx="715963" cy="4429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3124200" y="26670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3962400" y="2455863"/>
            <a:ext cx="5921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217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33400" y="2590800"/>
            <a:ext cx="533400" cy="152400"/>
            <a:chOff x="720" y="1488"/>
            <a:chExt cx="336" cy="96"/>
          </a:xfrm>
        </p:grpSpPr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2" name="Line 34"/>
          <p:cNvSpPr>
            <a:spLocks noChangeShapeType="1"/>
          </p:cNvSpPr>
          <p:nvPr/>
        </p:nvSpPr>
        <p:spPr bwMode="auto">
          <a:xfrm>
            <a:off x="1066800" y="26670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3" name="Line 35"/>
          <p:cNvSpPr>
            <a:spLocks noChangeShapeType="1"/>
          </p:cNvSpPr>
          <p:nvPr/>
        </p:nvSpPr>
        <p:spPr bwMode="auto">
          <a:xfrm>
            <a:off x="2133600" y="26670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4" name="Line 36"/>
          <p:cNvSpPr>
            <a:spLocks noChangeShapeType="1"/>
          </p:cNvSpPr>
          <p:nvPr/>
        </p:nvSpPr>
        <p:spPr bwMode="auto">
          <a:xfrm>
            <a:off x="152400" y="3200400"/>
            <a:ext cx="404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533400" y="3124200"/>
            <a:ext cx="533400" cy="152400"/>
            <a:chOff x="720" y="1488"/>
            <a:chExt cx="336" cy="96"/>
          </a:xfrm>
        </p:grpSpPr>
        <p:sp>
          <p:nvSpPr>
            <p:cNvPr id="2086" name="Line 38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7" name="Line 39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8" name="Line 40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9" name="Line 41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0" name="Line 42"/>
          <p:cNvSpPr>
            <a:spLocks noChangeShapeType="1"/>
          </p:cNvSpPr>
          <p:nvPr/>
        </p:nvSpPr>
        <p:spPr bwMode="auto">
          <a:xfrm>
            <a:off x="1066800" y="32004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1" name="Rectangle 43"/>
          <p:cNvSpPr>
            <a:spLocks noChangeArrowheads="1"/>
          </p:cNvSpPr>
          <p:nvPr/>
        </p:nvSpPr>
        <p:spPr bwMode="auto">
          <a:xfrm>
            <a:off x="304800" y="2895600"/>
            <a:ext cx="1700213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Button_Jam_Detect[0][DN_INDX]</a:t>
            </a:r>
          </a:p>
        </p:txBody>
      </p:sp>
      <p:sp>
        <p:nvSpPr>
          <p:cNvPr id="2092" name="Line 44"/>
          <p:cNvSpPr>
            <a:spLocks noChangeShapeType="1"/>
          </p:cNvSpPr>
          <p:nvPr/>
        </p:nvSpPr>
        <p:spPr bwMode="auto">
          <a:xfrm>
            <a:off x="2209800" y="2667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533400" y="4038600"/>
            <a:ext cx="35052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2043" tIns="46021" rIns="92043" bIns="46021">
            <a:spAutoFit/>
          </a:bodyPr>
          <a:lstStyle/>
          <a:p>
            <a:endParaRPr lang="ko-KR" altLang="en-US"/>
          </a:p>
        </p:txBody>
      </p:sp>
      <p:sp>
        <p:nvSpPr>
          <p:cNvPr id="2094" name="Line 46"/>
          <p:cNvSpPr>
            <a:spLocks noChangeShapeType="1"/>
          </p:cNvSpPr>
          <p:nvPr/>
        </p:nvSpPr>
        <p:spPr bwMode="auto">
          <a:xfrm>
            <a:off x="1485900" y="4041775"/>
            <a:ext cx="0" cy="2054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43" tIns="46021" rIns="92043" bIns="46021">
            <a:spAutoFit/>
          </a:bodyPr>
          <a:lstStyle/>
          <a:p>
            <a:endParaRPr lang="ko-KR" altLang="en-US"/>
          </a:p>
        </p:txBody>
      </p:sp>
      <p:sp>
        <p:nvSpPr>
          <p:cNvPr id="2095" name="Line 47"/>
          <p:cNvSpPr>
            <a:spLocks noChangeShapeType="1"/>
          </p:cNvSpPr>
          <p:nvPr/>
        </p:nvSpPr>
        <p:spPr bwMode="auto">
          <a:xfrm>
            <a:off x="533400" y="42672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43" tIns="46021" rIns="92043" bIns="46021">
            <a:spAutoFit/>
          </a:bodyPr>
          <a:lstStyle/>
          <a:p>
            <a:endParaRPr lang="ko-KR" altLang="en-US"/>
          </a:p>
        </p:txBody>
      </p:sp>
      <p:sp>
        <p:nvSpPr>
          <p:cNvPr id="2096" name="Line 48"/>
          <p:cNvSpPr>
            <a:spLocks noChangeShapeType="1"/>
          </p:cNvSpPr>
          <p:nvPr/>
        </p:nvSpPr>
        <p:spPr bwMode="auto">
          <a:xfrm>
            <a:off x="533400" y="44958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43" tIns="46021" rIns="92043" bIns="46021">
            <a:spAutoFit/>
          </a:bodyPr>
          <a:lstStyle/>
          <a:p>
            <a:endParaRPr lang="ko-KR" altLang="en-US"/>
          </a:p>
        </p:txBody>
      </p:sp>
      <p:sp>
        <p:nvSpPr>
          <p:cNvPr id="2097" name="Line 49"/>
          <p:cNvSpPr>
            <a:spLocks noChangeShapeType="1"/>
          </p:cNvSpPr>
          <p:nvPr/>
        </p:nvSpPr>
        <p:spPr bwMode="auto">
          <a:xfrm>
            <a:off x="533400" y="47244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43" tIns="46021" rIns="92043" bIns="46021">
            <a:spAutoFit/>
          </a:bodyPr>
          <a:lstStyle/>
          <a:p>
            <a:endParaRPr lang="ko-KR" altLang="en-US"/>
          </a:p>
        </p:txBody>
      </p:sp>
      <p:sp>
        <p:nvSpPr>
          <p:cNvPr id="2098" name="Line 50"/>
          <p:cNvSpPr>
            <a:spLocks noChangeShapeType="1"/>
          </p:cNvSpPr>
          <p:nvPr/>
        </p:nvSpPr>
        <p:spPr bwMode="auto">
          <a:xfrm>
            <a:off x="533400" y="49530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43" tIns="46021" rIns="92043" bIns="46021">
            <a:spAutoFit/>
          </a:bodyPr>
          <a:lstStyle/>
          <a:p>
            <a:endParaRPr lang="ko-KR" altLang="en-US"/>
          </a:p>
        </p:txBody>
      </p:sp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730250" y="4060825"/>
            <a:ext cx="21780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43" tIns="46021" rIns="92043" bIns="46021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Address                                    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   구     분</a:t>
            </a:r>
          </a:p>
        </p:txBody>
      </p:sp>
      <p:sp>
        <p:nvSpPr>
          <p:cNvPr id="2100" name="Rectangle 52"/>
          <p:cNvSpPr>
            <a:spLocks noChangeArrowheads="1"/>
          </p:cNvSpPr>
          <p:nvPr/>
        </p:nvSpPr>
        <p:spPr bwMode="auto">
          <a:xfrm>
            <a:off x="685800" y="4267200"/>
            <a:ext cx="30432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43" tIns="46021" rIns="92043" bIns="46021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 0x9954               1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~   8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UP Button ( 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층은 각 비트로 대응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101" name="Rectangle 53"/>
          <p:cNvSpPr>
            <a:spLocks noChangeArrowheads="1"/>
          </p:cNvSpPr>
          <p:nvPr/>
        </p:nvSpPr>
        <p:spPr bwMode="auto">
          <a:xfrm>
            <a:off x="685800" y="4495800"/>
            <a:ext cx="30432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43" tIns="46021" rIns="92043" bIns="46021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 0x9955               9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~ 16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UP Button ( 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층은 각 비트로 대응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102" name="Rectangle 54"/>
          <p:cNvSpPr>
            <a:spLocks noChangeArrowheads="1"/>
          </p:cNvSpPr>
          <p:nvPr/>
        </p:nvSpPr>
        <p:spPr bwMode="auto">
          <a:xfrm>
            <a:off x="685800" y="4724400"/>
            <a:ext cx="31003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43" tIns="46021" rIns="92043" bIns="46021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 0x9956               17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~ 24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UP Button ( 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층은 각 비트로 대응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103" name="Rectangle 55"/>
          <p:cNvSpPr>
            <a:spLocks noChangeArrowheads="1"/>
          </p:cNvSpPr>
          <p:nvPr/>
        </p:nvSpPr>
        <p:spPr bwMode="auto">
          <a:xfrm>
            <a:off x="685800" y="4953000"/>
            <a:ext cx="310038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43" tIns="46021" rIns="92043" bIns="46021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 0x9957               25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~ 32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UP Button ( 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층은 각 비트로 대응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104" name="Rectangle 56"/>
          <p:cNvSpPr>
            <a:spLocks noChangeArrowheads="1"/>
          </p:cNvSpPr>
          <p:nvPr/>
        </p:nvSpPr>
        <p:spPr bwMode="auto">
          <a:xfrm>
            <a:off x="542925" y="3784600"/>
            <a:ext cx="1238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43" tIns="46021" rIns="92043" bIns="46021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Button Jam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발생층</a:t>
            </a:r>
          </a:p>
        </p:txBody>
      </p:sp>
      <p:sp>
        <p:nvSpPr>
          <p:cNvPr id="2105" name="Line 57"/>
          <p:cNvSpPr>
            <a:spLocks noChangeShapeType="1"/>
          </p:cNvSpPr>
          <p:nvPr/>
        </p:nvSpPr>
        <p:spPr bwMode="auto">
          <a:xfrm>
            <a:off x="533400" y="51816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43" tIns="46021" rIns="92043" bIns="46021">
            <a:spAutoFit/>
          </a:bodyPr>
          <a:lstStyle/>
          <a:p>
            <a:endParaRPr lang="ko-KR" altLang="en-US"/>
          </a:p>
        </p:txBody>
      </p:sp>
      <p:sp>
        <p:nvSpPr>
          <p:cNvPr id="2106" name="Line 58"/>
          <p:cNvSpPr>
            <a:spLocks noChangeShapeType="1"/>
          </p:cNvSpPr>
          <p:nvPr/>
        </p:nvSpPr>
        <p:spPr bwMode="auto">
          <a:xfrm>
            <a:off x="533400" y="54102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43" tIns="46021" rIns="92043" bIns="46021">
            <a:spAutoFit/>
          </a:bodyPr>
          <a:lstStyle/>
          <a:p>
            <a:endParaRPr lang="ko-KR" altLang="en-US"/>
          </a:p>
        </p:txBody>
      </p:sp>
      <p:sp>
        <p:nvSpPr>
          <p:cNvPr id="2107" name="Line 59"/>
          <p:cNvSpPr>
            <a:spLocks noChangeShapeType="1"/>
          </p:cNvSpPr>
          <p:nvPr/>
        </p:nvSpPr>
        <p:spPr bwMode="auto">
          <a:xfrm>
            <a:off x="533400" y="56388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43" tIns="46021" rIns="92043" bIns="46021">
            <a:spAutoFit/>
          </a:bodyPr>
          <a:lstStyle/>
          <a:p>
            <a:endParaRPr lang="ko-KR" altLang="en-US"/>
          </a:p>
        </p:txBody>
      </p:sp>
      <p:sp>
        <p:nvSpPr>
          <p:cNvPr id="2108" name="Line 60"/>
          <p:cNvSpPr>
            <a:spLocks noChangeShapeType="1"/>
          </p:cNvSpPr>
          <p:nvPr/>
        </p:nvSpPr>
        <p:spPr bwMode="auto">
          <a:xfrm>
            <a:off x="533400" y="58674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43" tIns="46021" rIns="92043" bIns="46021">
            <a:spAutoFit/>
          </a:bodyPr>
          <a:lstStyle/>
          <a:p>
            <a:endParaRPr lang="ko-KR" altLang="en-US"/>
          </a:p>
        </p:txBody>
      </p:sp>
      <p:sp>
        <p:nvSpPr>
          <p:cNvPr id="2109" name="Rectangle 61"/>
          <p:cNvSpPr>
            <a:spLocks noChangeArrowheads="1"/>
          </p:cNvSpPr>
          <p:nvPr/>
        </p:nvSpPr>
        <p:spPr bwMode="auto">
          <a:xfrm>
            <a:off x="685800" y="5195888"/>
            <a:ext cx="31654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43" tIns="46021" rIns="92043" bIns="46021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 0x9958               1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~ 8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DOWN Button ( 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층은 각 비트로 대응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685800" y="5424488"/>
            <a:ext cx="322262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43" tIns="46021" rIns="92043" bIns="46021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 0x9959               9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~ 16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DOWN Button ( 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층은 각 비트로 대응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111" name="Rectangle 63"/>
          <p:cNvSpPr>
            <a:spLocks noChangeArrowheads="1"/>
          </p:cNvSpPr>
          <p:nvPr/>
        </p:nvSpPr>
        <p:spPr bwMode="auto">
          <a:xfrm>
            <a:off x="685800" y="5653088"/>
            <a:ext cx="329088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43" tIns="46021" rIns="92043" bIns="46021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 0x995A               17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~ 24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DOWN Button ( 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층은 각 비트로 대응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112" name="Rectangle 64"/>
          <p:cNvSpPr>
            <a:spLocks noChangeArrowheads="1"/>
          </p:cNvSpPr>
          <p:nvPr/>
        </p:nvSpPr>
        <p:spPr bwMode="auto">
          <a:xfrm>
            <a:off x="671513" y="5881688"/>
            <a:ext cx="329088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43" tIns="46021" rIns="92043" bIns="46021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 0x995B               25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~ 32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DOWN Button (  </a:t>
            </a:r>
            <a:r>
              <a:rPr lang="ko-KR" altLang="en-US" sz="800">
                <a:latin typeface="Arial" charset="0"/>
                <a:ea typeface="굴림체" pitchFamily="49" charset="-127"/>
              </a:rPr>
              <a:t>층은 각 비트로 대응 </a:t>
            </a:r>
            <a:r>
              <a:rPr lang="en-US" altLang="ko-KR" sz="800">
                <a:latin typeface="Arial" charset="0"/>
                <a:ea typeface="굴림체" pitchFamily="49" charset="-127"/>
              </a:rPr>
              <a:t>)</a:t>
            </a:r>
          </a:p>
        </p:txBody>
      </p:sp>
      <p:sp>
        <p:nvSpPr>
          <p:cNvPr id="2113" name="Rectangle 65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90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223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ER_HALL_CPU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3133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개 이상의 통신 이상이 발생한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>
            <a:off x="152400" y="1905000"/>
            <a:ext cx="0" cy="736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4800600" y="1905000"/>
            <a:ext cx="0" cy="7445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290513" y="1943100"/>
            <a:ext cx="109696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HND_Fail_Node[ 0 ]</a:t>
            </a:r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152400" y="2209800"/>
            <a:ext cx="404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3886200" y="1981200"/>
            <a:ext cx="715963" cy="4429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3124200" y="22098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3962400" y="1998663"/>
            <a:ext cx="5921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223</a:t>
            </a:r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552450" y="2268538"/>
            <a:ext cx="474663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700">
                <a:latin typeface="Arial" charset="0"/>
                <a:ea typeface="굴림체" pitchFamily="49" charset="-127"/>
              </a:rPr>
              <a:t>0x8762</a:t>
            </a:r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5029200" y="1143000"/>
            <a:ext cx="3886200" cy="359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ANN - A21E(MEMORY READ MODE)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통신이 되지 않는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층을 확인하여 해당 층의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예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통신이 되는 않는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확인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ANN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보드 상에서 하기와 같이 입력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K: A21E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ADDR:DAT  K : 8762E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8762=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x02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(0000 00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1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    절대층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2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층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    만약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8762 =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x30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(00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11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0000)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        절대층 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5,6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층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 이상을 보고자 할 때는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ANN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보드의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KEY-PAD ‘0’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 입력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DOP-1xxXHA MIC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연결되어 있음을 확인하고 고장 해당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층의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플러그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3-4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핀 사이의 전압이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DC24V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인지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해당 층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ID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바르게 설정되어 있는지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해당 층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1-2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핀 사이의 저항이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 ± 0.5 </a:t>
            </a:r>
            <a:r>
              <a:rPr lang="en-US" altLang="ko-KR" sz="1000">
                <a:latin typeface="Arial" charset="0"/>
                <a:ea typeface="굴림체" pitchFamily="49" charset="-127"/>
                <a:sym typeface="Symbol" pitchFamily="18" charset="2"/>
              </a:rPr>
              <a:t>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일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저항이 제대로 안 나오면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펄스트랜스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위치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PT1)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고장임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해당 층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3-4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핀 사이의 저항이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무한대이면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교체한다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685800" y="3581400"/>
            <a:ext cx="3276600" cy="1463675"/>
            <a:chOff x="192" y="2352"/>
            <a:chExt cx="2064" cy="922"/>
          </a:xfrm>
        </p:grpSpPr>
        <p:sp>
          <p:nvSpPr>
            <p:cNvPr id="2077" name="Rectangle 29"/>
            <p:cNvSpPr>
              <a:spLocks noChangeArrowheads="1"/>
            </p:cNvSpPr>
            <p:nvPr/>
          </p:nvSpPr>
          <p:spPr bwMode="auto">
            <a:xfrm>
              <a:off x="192" y="2352"/>
              <a:ext cx="2064" cy="7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>
              <a:off x="792" y="2354"/>
              <a:ext cx="0" cy="7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endParaRPr lang="ko-KR" altLang="en-US"/>
            </a:p>
          </p:txBody>
        </p:sp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>
              <a:off x="192" y="2496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>
              <a:off x="192" y="2640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192" y="2784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192" y="2928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endParaRPr lang="ko-KR" altLang="en-US"/>
            </a:p>
          </p:txBody>
        </p:sp>
        <p:sp>
          <p:nvSpPr>
            <p:cNvPr id="2083" name="Rectangle 35"/>
            <p:cNvSpPr>
              <a:spLocks noChangeArrowheads="1"/>
            </p:cNvSpPr>
            <p:nvPr/>
          </p:nvSpPr>
          <p:spPr bwMode="auto">
            <a:xfrm>
              <a:off x="316" y="2366"/>
              <a:ext cx="137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Address                                    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    구     분</a:t>
              </a:r>
            </a:p>
          </p:txBody>
        </p:sp>
        <p:sp>
          <p:nvSpPr>
            <p:cNvPr id="2084" name="Rectangle 36"/>
            <p:cNvSpPr>
              <a:spLocks noChangeArrowheads="1"/>
            </p:cNvSpPr>
            <p:nvPr/>
          </p:nvSpPr>
          <p:spPr bwMode="auto">
            <a:xfrm>
              <a:off x="288" y="2496"/>
              <a:ext cx="1767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0x8762                        1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~   8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 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( 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층은 각 비트로 대응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)</a:t>
              </a:r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295" y="2640"/>
              <a:ext cx="1749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0x8763                       9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~ 16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 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( 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층은 각 비트로 대응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)</a:t>
              </a:r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295" y="2784"/>
              <a:ext cx="1749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0x8764                     17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~ 24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 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( 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층은 각 비트로 대응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)</a:t>
              </a:r>
            </a:p>
          </p:txBody>
        </p:sp>
        <p:sp>
          <p:nvSpPr>
            <p:cNvPr id="2087" name="Rectangle 39"/>
            <p:cNvSpPr>
              <a:spLocks noChangeArrowheads="1"/>
            </p:cNvSpPr>
            <p:nvPr/>
          </p:nvSpPr>
          <p:spPr bwMode="auto">
            <a:xfrm>
              <a:off x="295" y="2928"/>
              <a:ext cx="1749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pPr latinLnBrk="0"/>
              <a:r>
                <a:rPr lang="en-US" altLang="ko-KR" sz="800">
                  <a:latin typeface="Arial" charset="0"/>
                  <a:ea typeface="굴림체" pitchFamily="49" charset="-127"/>
                </a:rPr>
                <a:t>0x8765                     25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~ 32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 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(  </a:t>
              </a:r>
              <a:r>
                <a:rPr lang="ko-KR" altLang="en-US" sz="800">
                  <a:latin typeface="Arial" charset="0"/>
                  <a:ea typeface="굴림체" pitchFamily="49" charset="-127"/>
                </a:rPr>
                <a:t>층은 각 비트로 대응 </a:t>
              </a:r>
              <a:r>
                <a:rPr lang="en-US" altLang="ko-KR" sz="800">
                  <a:latin typeface="Arial" charset="0"/>
                  <a:ea typeface="굴림체" pitchFamily="49" charset="-127"/>
                </a:rPr>
                <a:t>)</a:t>
              </a:r>
            </a:p>
          </p:txBody>
        </p:sp>
        <p:sp>
          <p:nvSpPr>
            <p:cNvPr id="2088" name="Rectangle 40"/>
            <p:cNvSpPr>
              <a:spLocks noChangeArrowheads="1"/>
            </p:cNvSpPr>
            <p:nvPr/>
          </p:nvSpPr>
          <p:spPr bwMode="auto">
            <a:xfrm>
              <a:off x="192" y="3120"/>
              <a:ext cx="204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43" tIns="46021" rIns="92043" bIns="46021">
              <a:spAutoFit/>
            </a:bodyPr>
            <a:lstStyle/>
            <a:p>
              <a:pPr latinLnBrk="0"/>
              <a:r>
                <a:rPr lang="ko-KR" altLang="en-US" sz="1000">
                  <a:latin typeface="Arial" charset="0"/>
                  <a:ea typeface="굴림체" pitchFamily="49" charset="-127"/>
                </a:rPr>
                <a:t>예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) ADDR:0x8762 - DATA:0x04 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면 </a:t>
              </a:r>
              <a:r>
                <a:rPr lang="en-US" altLang="ko-KR" sz="1000">
                  <a:latin typeface="Arial" charset="0"/>
                  <a:ea typeface="굴림체" pitchFamily="49" charset="-127"/>
                </a:rPr>
                <a:t>3</a:t>
              </a:r>
              <a:r>
                <a:rPr lang="ko-KR" altLang="en-US" sz="1000">
                  <a:latin typeface="Arial" charset="0"/>
                  <a:ea typeface="굴림체" pitchFamily="49" charset="-127"/>
                </a:rPr>
                <a:t>층의 홀보드 고장  </a:t>
              </a:r>
            </a:p>
          </p:txBody>
        </p:sp>
      </p:grp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533400" y="2133600"/>
            <a:ext cx="533400" cy="152400"/>
            <a:chOff x="720" y="1488"/>
            <a:chExt cx="336" cy="96"/>
          </a:xfrm>
        </p:grpSpPr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93" name="Line 45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4" name="Line 46"/>
          <p:cNvSpPr>
            <a:spLocks noChangeShapeType="1"/>
          </p:cNvSpPr>
          <p:nvPr/>
        </p:nvSpPr>
        <p:spPr bwMode="auto">
          <a:xfrm>
            <a:off x="1066800" y="22098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5" name="Line 47"/>
          <p:cNvSpPr>
            <a:spLocks noChangeShapeType="1"/>
          </p:cNvSpPr>
          <p:nvPr/>
        </p:nvSpPr>
        <p:spPr bwMode="auto">
          <a:xfrm>
            <a:off x="2133600" y="22098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152400" y="2819400"/>
            <a:ext cx="454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4" tIns="45718" rIns="91434" bIns="45718">
            <a:spAutoFit/>
          </a:bodyPr>
          <a:lstStyle/>
          <a:p>
            <a:r>
              <a:rPr lang="ko-KR" altLang="en-US" sz="1000">
                <a:latin typeface="Arial" charset="0"/>
                <a:ea typeface="굴림체" pitchFamily="49" charset="-127"/>
              </a:rPr>
              <a:t>해당 층의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로의 송신 실패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(TxFail)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발생하면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HND_Fail_Node</a:t>
            </a:r>
          </a:p>
          <a:p>
            <a:r>
              <a:rPr lang="en-US" altLang="ko-KR" sz="1000">
                <a:latin typeface="Arial" charset="0"/>
                <a:ea typeface="굴림체" pitchFamily="49" charset="-127"/>
              </a:rPr>
              <a:t>(32Bit)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해당비트를  ‘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1’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Set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97" name="Rectangle 49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90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TCD 224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의미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777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설명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27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Arial" charset="0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●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○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ER_HALL_COM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0" y="5638800"/>
            <a:ext cx="523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[</a:t>
            </a:r>
            <a:r>
              <a:rPr lang="ko-KR" altLang="en-US" sz="1000" b="1">
                <a:latin typeface="Arial" charset="0"/>
                <a:ea typeface="굴림체" pitchFamily="49" charset="-127"/>
              </a:rPr>
              <a:t>현상</a:t>
            </a:r>
            <a:r>
              <a:rPr lang="en-US" altLang="ko-KR" sz="1000" b="1">
                <a:latin typeface="Arial" charset="0"/>
                <a:ea typeface="굴림체" pitchFamily="49" charset="-127"/>
              </a:rPr>
              <a:t>]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457200" y="838200"/>
            <a:ext cx="3514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승장에 설치된 전 층의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와의 통신 이상 검출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143000"/>
            <a:ext cx="4038600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HJP-SH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점퍼 설정 상태를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DOP-1xx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XHA MIC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 연결되어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DOC-1xx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 홀 통신 커넥터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연결되었는지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최하층 분기박스 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120 </a:t>
            </a:r>
            <a:r>
              <a:rPr lang="en-US" altLang="ko-KR" sz="1000">
                <a:latin typeface="Arial" charset="0"/>
                <a:ea typeface="굴림체" pitchFamily="49" charset="-127"/>
                <a:sym typeface="Symbol" pitchFamily="18" charset="2"/>
              </a:rPr>
              <a:t>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종단 저항이 연결되어 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 DOP-1xx B/D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내의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XHA MIC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분리하고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DC24V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이상유무를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체크한다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1) 1 ~ 8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  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XHA 3-4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간 전압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DC24V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일 것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2) 9 ~ 16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XHA 5-6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간 전압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DC24V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일 것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3) 17 ~ 24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XHA 7-8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간 전압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DC24V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일 것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4) 25 ~ 32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층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:  TB2(Terminal Block) 5-6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번 간 전압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DC24V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일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52400" y="5943600"/>
            <a:ext cx="4724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TCD 224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발생시 운전 모드가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ACD 26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전환되어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Backup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운전을 하게 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152400" y="3124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4800600" y="3124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284163" y="3143250"/>
            <a:ext cx="9715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Normal_Floor[ 0 ]</a:t>
            </a:r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152400" y="3429000"/>
            <a:ext cx="404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3886200" y="3200400"/>
            <a:ext cx="715963" cy="4429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3124200" y="34290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3879850" y="3217863"/>
            <a:ext cx="7064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check_floor</a:t>
            </a:r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1281113" y="3151188"/>
            <a:ext cx="110807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NCD_P_SVC_Fl[ 0 ]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533400" y="3352800"/>
            <a:ext cx="533400" cy="152400"/>
            <a:chOff x="720" y="1488"/>
            <a:chExt cx="336" cy="96"/>
          </a:xfrm>
        </p:grpSpPr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3" name="Line 35"/>
          <p:cNvSpPr>
            <a:spLocks noChangeShapeType="1"/>
          </p:cNvSpPr>
          <p:nvPr/>
        </p:nvSpPr>
        <p:spPr bwMode="auto">
          <a:xfrm>
            <a:off x="1066800" y="3429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4" name="Line 36"/>
          <p:cNvSpPr>
            <a:spLocks noChangeShapeType="1"/>
          </p:cNvSpPr>
          <p:nvPr/>
        </p:nvSpPr>
        <p:spPr bwMode="auto">
          <a:xfrm>
            <a:off x="2133600" y="34290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360363" y="3759200"/>
            <a:ext cx="70643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check_floor</a:t>
            </a:r>
          </a:p>
        </p:txBody>
      </p:sp>
      <p:sp>
        <p:nvSpPr>
          <p:cNvPr id="2086" name="Line 38"/>
          <p:cNvSpPr>
            <a:spLocks noChangeShapeType="1"/>
          </p:cNvSpPr>
          <p:nvPr/>
        </p:nvSpPr>
        <p:spPr bwMode="auto">
          <a:xfrm>
            <a:off x="152400" y="4038600"/>
            <a:ext cx="404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3886200" y="3810000"/>
            <a:ext cx="715963" cy="4429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8" name="Line 40"/>
          <p:cNvSpPr>
            <a:spLocks noChangeShapeType="1"/>
          </p:cNvSpPr>
          <p:nvPr/>
        </p:nvSpPr>
        <p:spPr bwMode="auto">
          <a:xfrm>
            <a:off x="3124200" y="40386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3962400" y="3827463"/>
            <a:ext cx="5921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224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457200" y="3962400"/>
            <a:ext cx="533400" cy="152400"/>
            <a:chOff x="264" y="1488"/>
            <a:chExt cx="336" cy="96"/>
          </a:xfrm>
        </p:grpSpPr>
        <p:grpSp>
          <p:nvGrpSpPr>
            <p:cNvPr id="4" name="Group 43"/>
            <p:cNvGrpSpPr>
              <a:grpSpLocks/>
            </p:cNvGrpSpPr>
            <p:nvPr/>
          </p:nvGrpSpPr>
          <p:grpSpPr bwMode="auto">
            <a:xfrm>
              <a:off x="264" y="1488"/>
              <a:ext cx="336" cy="96"/>
              <a:chOff x="264" y="1488"/>
              <a:chExt cx="336" cy="96"/>
            </a:xfrm>
          </p:grpSpPr>
          <p:sp>
            <p:nvSpPr>
              <p:cNvPr id="2092" name="Line 44"/>
              <p:cNvSpPr>
                <a:spLocks noChangeShapeType="1"/>
              </p:cNvSpPr>
              <p:nvPr/>
            </p:nvSpPr>
            <p:spPr bwMode="auto">
              <a:xfrm>
                <a:off x="408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3" name="Line 45"/>
              <p:cNvSpPr>
                <a:spLocks noChangeShapeType="1"/>
              </p:cNvSpPr>
              <p:nvPr/>
            </p:nvSpPr>
            <p:spPr bwMode="auto">
              <a:xfrm>
                <a:off x="456" y="148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4" name="Line 46"/>
              <p:cNvSpPr>
                <a:spLocks noChangeShapeType="1"/>
              </p:cNvSpPr>
              <p:nvPr/>
            </p:nvSpPr>
            <p:spPr bwMode="auto">
              <a:xfrm>
                <a:off x="264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95" name="Line 47"/>
              <p:cNvSpPr>
                <a:spLocks noChangeShapeType="1"/>
              </p:cNvSpPr>
              <p:nvPr/>
            </p:nvSpPr>
            <p:spPr bwMode="auto">
              <a:xfrm>
                <a:off x="456" y="153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 flipV="1">
              <a:off x="360" y="148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97" name="Line 49"/>
          <p:cNvSpPr>
            <a:spLocks noChangeShapeType="1"/>
          </p:cNvSpPr>
          <p:nvPr/>
        </p:nvSpPr>
        <p:spPr bwMode="auto">
          <a:xfrm>
            <a:off x="990600" y="40386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1600200" y="3352800"/>
            <a:ext cx="533400" cy="152400"/>
            <a:chOff x="720" y="1488"/>
            <a:chExt cx="336" cy="96"/>
          </a:xfrm>
        </p:grpSpPr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0" name="Line 52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1" name="Line 53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2" name="Line 54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6" name="Group 55"/>
          <p:cNvGrpSpPr>
            <a:grpSpLocks/>
          </p:cNvGrpSpPr>
          <p:nvPr/>
        </p:nvGrpSpPr>
        <p:grpSpPr bwMode="auto">
          <a:xfrm>
            <a:off x="533400" y="4572000"/>
            <a:ext cx="533400" cy="152400"/>
            <a:chOff x="720" y="1488"/>
            <a:chExt cx="336" cy="96"/>
          </a:xfrm>
        </p:grpSpPr>
        <p:sp>
          <p:nvSpPr>
            <p:cNvPr id="2104" name="Line 56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5" name="Line 57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6" name="Line 58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07" name="Line 59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08" name="Line 60"/>
          <p:cNvSpPr>
            <a:spLocks noChangeShapeType="1"/>
          </p:cNvSpPr>
          <p:nvPr/>
        </p:nvSpPr>
        <p:spPr bwMode="auto">
          <a:xfrm>
            <a:off x="152400" y="4648200"/>
            <a:ext cx="404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09" name="Rectangle 61"/>
          <p:cNvSpPr>
            <a:spLocks noChangeArrowheads="1"/>
          </p:cNvSpPr>
          <p:nvPr/>
        </p:nvSpPr>
        <p:spPr bwMode="auto">
          <a:xfrm>
            <a:off x="188913" y="4375150"/>
            <a:ext cx="186848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H_Data_Receive_Wait_Counter == 0</a:t>
            </a:r>
          </a:p>
        </p:txBody>
      </p:sp>
      <p:sp>
        <p:nvSpPr>
          <p:cNvPr id="2110" name="Line 62"/>
          <p:cNvSpPr>
            <a:spLocks noChangeShapeType="1"/>
          </p:cNvSpPr>
          <p:nvPr/>
        </p:nvSpPr>
        <p:spPr bwMode="auto">
          <a:xfrm>
            <a:off x="1066800" y="46482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1" name="Line 63"/>
          <p:cNvSpPr>
            <a:spLocks noChangeShapeType="1"/>
          </p:cNvSpPr>
          <p:nvPr/>
        </p:nvSpPr>
        <p:spPr bwMode="auto">
          <a:xfrm>
            <a:off x="2438400" y="4038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12" name="Rectangle 64"/>
          <p:cNvSpPr>
            <a:spLocks noChangeArrowheads="1"/>
          </p:cNvSpPr>
          <p:nvPr/>
        </p:nvSpPr>
        <p:spPr bwMode="auto">
          <a:xfrm>
            <a:off x="76200" y="1981200"/>
            <a:ext cx="490378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승장에 설치된 층의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Hall Station B/D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와의 통신 이상으로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G/A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쪽에서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TxFail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주기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(360 msec)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연속 검출된 층이 전 층인 경우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224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발생한다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G/A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이상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Receive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없으면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224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발생한다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초기 시와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Receive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있는 경우에는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H_Data_Receive_Wait_Counter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값을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111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세트하고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90 msec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마다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G/A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로부터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수신이 없으면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씩 감소시킨다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결국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H_Data_Receive_Wait_Counter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값이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</p:txBody>
      </p:sp>
      <p:sp>
        <p:nvSpPr>
          <p:cNvPr id="2113" name="Rectangle 65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28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TCD 237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65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000" b="1">
                <a:latin typeface="굴림체" pitchFamily="49" charset="-127"/>
                <a:ea typeface="굴림체" pitchFamily="49" charset="-127"/>
              </a:rPr>
              <a:t>의미</a:t>
            </a:r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]</a:t>
            </a:r>
            <a:endParaRPr lang="en-US" altLang="ko-KR" sz="100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819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000" b="1">
                <a:latin typeface="굴림체" pitchFamily="49" charset="-127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65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000" b="1">
                <a:latin typeface="굴림체" pitchFamily="49" charset="-127"/>
                <a:ea typeface="굴림체" pitchFamily="49" charset="-127"/>
              </a:rPr>
              <a:t>설명</a:t>
            </a:r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굴림체" pitchFamily="49" charset="-127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굴림체" pitchFamily="49" charset="-127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● 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운전 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○ 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속도 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ER_CRT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CRT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감시반과 통신 이상 시 발생하는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2400" y="1905000"/>
            <a:ext cx="4800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CRT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감시반으로부터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초 이상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Receive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없으면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 237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발생한다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초기 시와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Receive Data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있는 경우에는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CRT_Comm_Error_Counter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값을 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88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 세트하고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90 msec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마다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G/A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로부터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Data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수신이 없으면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1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씩 감소 시킨다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결국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, CRT_Comm_Error_Counter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의 값이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0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..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143000"/>
            <a:ext cx="3997325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감시반 적용 현장인지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(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만약 감시반 적용 현장이 아닌 곳에서 관련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SPEC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Set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되어 </a:t>
            </a:r>
          </a:p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    있으면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ERROR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를 검출함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 Crt_Id                ADDR:0x0002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        Crt_Operation   ADDR:0x0020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감시반과의 통신 라인의 결선을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.(SM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커넥터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)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통신라인은 트위스트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Shield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선 일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종단 저항이 처리 되었는지 확인한다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     (HJP-SL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점퍼가 연결되어 있을 것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.)</a:t>
            </a:r>
          </a:p>
          <a:p>
            <a:pPr latinLnBrk="0"/>
            <a:endParaRPr lang="en-US" altLang="ko-KR" sz="800">
              <a:latin typeface="Arial" charset="0"/>
              <a:ea typeface="굴림체" pitchFamily="49" charset="-127"/>
            </a:endParaRP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52400" y="31242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4800600" y="31242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152400" y="34290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3886200" y="3200400"/>
            <a:ext cx="715963" cy="4429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3124200" y="34290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3962400" y="3217863"/>
            <a:ext cx="592138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TCD 237</a:t>
            </a:r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1371600" y="3429000"/>
            <a:ext cx="198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914400" y="3352800"/>
            <a:ext cx="533400" cy="152400"/>
            <a:chOff x="720" y="1488"/>
            <a:chExt cx="336" cy="96"/>
          </a:xfrm>
        </p:grpSpPr>
        <p:sp>
          <p:nvSpPr>
            <p:cNvPr id="2077" name="Line 29"/>
            <p:cNvSpPr>
              <a:spLocks noChangeShapeType="1"/>
            </p:cNvSpPr>
            <p:nvPr/>
          </p:nvSpPr>
          <p:spPr bwMode="auto">
            <a:xfrm>
              <a:off x="864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>
              <a:off x="912" y="14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79" name="Line 31"/>
            <p:cNvSpPr>
              <a:spLocks noChangeShapeType="1"/>
            </p:cNvSpPr>
            <p:nvPr/>
          </p:nvSpPr>
          <p:spPr bwMode="auto">
            <a:xfrm>
              <a:off x="7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>
              <a:off x="912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454025" y="3155950"/>
            <a:ext cx="16827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800">
                <a:latin typeface="Arial" charset="0"/>
                <a:ea typeface="굴림체" pitchFamily="49" charset="-127"/>
              </a:rPr>
              <a:t>CRT_Comm_Error_Counter == 0</a:t>
            </a:r>
          </a:p>
        </p:txBody>
      </p: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1750" y="381000"/>
            <a:ext cx="9067800" cy="6426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39688" y="762000"/>
            <a:ext cx="9048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066800" y="38100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315200" y="381000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4953000" y="387350"/>
            <a:ext cx="3175" cy="6413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5915025" y="387350"/>
            <a:ext cx="0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8228013" y="3889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41275" y="1520825"/>
            <a:ext cx="489743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" y="457200"/>
            <a:ext cx="685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TCD 238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38200"/>
            <a:ext cx="565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000" b="1">
                <a:latin typeface="굴림체" pitchFamily="49" charset="-127"/>
                <a:ea typeface="굴림체" pitchFamily="49" charset="-127"/>
              </a:rPr>
              <a:t>의미</a:t>
            </a:r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]</a:t>
            </a:r>
            <a:endParaRPr lang="en-US" altLang="ko-KR" sz="100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953000" y="838200"/>
            <a:ext cx="819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000" b="1">
                <a:latin typeface="굴림체" pitchFamily="49" charset="-127"/>
                <a:ea typeface="굴림체" pitchFamily="49" charset="-127"/>
              </a:rPr>
              <a:t>조치사항</a:t>
            </a:r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]</a:t>
            </a: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1600200"/>
            <a:ext cx="565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[</a:t>
            </a:r>
            <a:r>
              <a:rPr lang="ko-KR" altLang="en-US" sz="1000" b="1">
                <a:latin typeface="굴림체" pitchFamily="49" charset="-127"/>
                <a:ea typeface="굴림체" pitchFamily="49" charset="-127"/>
              </a:rPr>
              <a:t>설명</a:t>
            </a:r>
            <a:r>
              <a:rPr lang="en-US" altLang="ko-KR" sz="1000" b="1">
                <a:latin typeface="굴림체" pitchFamily="49" charset="-127"/>
                <a:ea typeface="굴림체" pitchFamily="49" charset="-127"/>
              </a:rPr>
              <a:t>]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5078413" y="457200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굴림체" pitchFamily="49" charset="-127"/>
                <a:ea typeface="굴림체" pitchFamily="49" charset="-127"/>
              </a:rPr>
              <a:t>검출 장소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7432675" y="439738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ko-KR" altLang="en-US" sz="1000" b="1">
                <a:latin typeface="굴림체" pitchFamily="49" charset="-127"/>
                <a:ea typeface="굴림체" pitchFamily="49" charset="-127"/>
              </a:rPr>
              <a:t>적용 구분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200775" y="3810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● 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운전 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CPU</a:t>
            </a:r>
          </a:p>
          <a:p>
            <a:pPr latinLnBrk="0"/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○ </a:t>
            </a:r>
            <a:r>
              <a:rPr lang="ko-KR" altLang="en-US" sz="1000">
                <a:latin typeface="굴림체" pitchFamily="49" charset="-127"/>
                <a:ea typeface="굴림체" pitchFamily="49" charset="-127"/>
              </a:rPr>
              <a:t>속도 </a:t>
            </a:r>
            <a:r>
              <a:rPr lang="en-US" altLang="ko-KR" sz="1000">
                <a:latin typeface="굴림체" pitchFamily="49" charset="-127"/>
                <a:ea typeface="굴림체" pitchFamily="49" charset="-127"/>
              </a:rPr>
              <a:t>CPU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143000" y="457200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/>
              <a:t>ER_DES_ERR</a:t>
            </a:r>
            <a:endParaRPr lang="en-US" altLang="ko-KR"/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33400" y="838200"/>
            <a:ext cx="3657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DES PCB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에서 발생되는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52400" y="1905000"/>
            <a:ext cx="48006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ko-KR" altLang="en-US" sz="1000">
                <a:latin typeface="Arial" charset="0"/>
                <a:ea typeface="굴림체" pitchFamily="49" charset="-127"/>
              </a:rPr>
              <a:t>다음 경우에 </a:t>
            </a:r>
            <a:r>
              <a:rPr lang="en-US" altLang="ko-KR" sz="1000">
                <a:latin typeface="Arial" charset="0"/>
                <a:ea typeface="굴림체" pitchFamily="49" charset="-127"/>
              </a:rPr>
              <a:t>TCD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가 발생함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1.DES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파라미터 이상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2.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속도 이상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3.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온도 이상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4.LCD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5.OVER SPEED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검출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6.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통신이상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7.BATTERY FAULT</a:t>
            </a:r>
          </a:p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8.DIRECTION 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이상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5029200" y="1143000"/>
            <a:ext cx="3997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0" tIns="46035" rIns="92070" bIns="46035">
            <a:spAutoFit/>
          </a:bodyPr>
          <a:lstStyle/>
          <a:p>
            <a:pPr latinLnBrk="0"/>
            <a:r>
              <a:rPr lang="en-US" altLang="ko-KR" sz="1000">
                <a:latin typeface="Arial" charset="0"/>
                <a:ea typeface="굴림체" pitchFamily="49" charset="-127"/>
              </a:rPr>
              <a:t>1.DES PCB MANUAL</a:t>
            </a:r>
            <a:r>
              <a:rPr lang="ko-KR" altLang="en-US" sz="1000">
                <a:latin typeface="Arial" charset="0"/>
                <a:ea typeface="굴림체" pitchFamily="49" charset="-127"/>
              </a:rPr>
              <a:t>을 참조한다</a:t>
            </a:r>
            <a:endParaRPr lang="ko-KR" altLang="en-US" sz="800">
              <a:latin typeface="Arial" charset="0"/>
              <a:ea typeface="굴림체" pitchFamily="49" charset="-127"/>
            </a:endParaRPr>
          </a:p>
          <a:p>
            <a:pPr latinLnBrk="0"/>
            <a:endParaRPr lang="en-US" altLang="ko-KR" sz="1000">
              <a:latin typeface="Arial" charset="0"/>
              <a:ea typeface="굴림체" pitchFamily="49" charset="-127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8224838" y="457200"/>
            <a:ext cx="842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0" tIns="46035" rIns="92070" bIns="46035">
            <a:spAutoFit/>
          </a:bodyPr>
          <a:lstStyle/>
          <a:p>
            <a:pPr latinLnBrk="0"/>
            <a:r>
              <a:rPr lang="en-US" altLang="ko-KR" sz="1000" b="1">
                <a:latin typeface="Arial" charset="0"/>
                <a:ea typeface="굴림체" pitchFamily="49" charset="-127"/>
              </a:rPr>
              <a:t>Si220GeN2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테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19373</Words>
  <Application>Microsoft PowerPoint</Application>
  <PresentationFormat>화면 슬라이드 쇼(4:3)</PresentationFormat>
  <Paragraphs>3894</Paragraphs>
  <Slides>91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91</vt:i4>
      </vt:variant>
    </vt:vector>
  </HeadingPairs>
  <TitlesOfParts>
    <vt:vector size="99" baseType="lpstr">
      <vt:lpstr>Times New Roman</vt:lpstr>
      <vt:lpstr>굴림</vt:lpstr>
      <vt:lpstr>Arial</vt:lpstr>
      <vt:lpstr>굴림체</vt:lpstr>
      <vt:lpstr>바탕체</vt:lpstr>
      <vt:lpstr>Office 테마</vt:lpstr>
      <vt:lpstr>VISIO</vt:lpstr>
      <vt:lpstr>Microsoft Excel 워크시트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creator>권성찬</dc:creator>
  <cp:lastModifiedBy>pc-49</cp:lastModifiedBy>
  <cp:revision>5</cp:revision>
  <dcterms:created xsi:type="dcterms:W3CDTF">2003-01-16T07:44:32Z</dcterms:created>
  <dcterms:modified xsi:type="dcterms:W3CDTF">2017-12-19T12:41:54Z</dcterms:modified>
</cp:coreProperties>
</file>